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sldIdLst>
    <p:sldId id="369" r:id="rId5"/>
    <p:sldId id="371" r:id="rId6"/>
    <p:sldId id="378" r:id="rId7"/>
    <p:sldId id="379" r:id="rId8"/>
    <p:sldId id="383" r:id="rId9"/>
    <p:sldId id="382" r:id="rId10"/>
    <p:sldId id="391" r:id="rId11"/>
    <p:sldId id="384" r:id="rId12"/>
    <p:sldId id="381" r:id="rId13"/>
    <p:sldId id="386" r:id="rId14"/>
    <p:sldId id="387" r:id="rId15"/>
    <p:sldId id="392" r:id="rId16"/>
    <p:sldId id="393" r:id="rId17"/>
    <p:sldId id="394" r:id="rId18"/>
    <p:sldId id="395" r:id="rId19"/>
    <p:sldId id="396" r:id="rId20"/>
    <p:sldId id="397" r:id="rId21"/>
    <p:sldId id="398" r:id="rId22"/>
  </p:sldIdLst>
  <p:sldSz cx="12192000" cy="6858000"/>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210" userDrawn="1">
          <p15:clr>
            <a:srgbClr val="A4A3A4"/>
          </p15:clr>
        </p15:guide>
        <p15:guide id="4" pos="302" userDrawn="1">
          <p15:clr>
            <a:srgbClr val="A4A3A4"/>
          </p15:clr>
        </p15:guide>
        <p15:guide id="5" orient="horz" pos="4110" userDrawn="1">
          <p15:clr>
            <a:srgbClr val="A4A3A4"/>
          </p15:clr>
        </p15:guide>
        <p15:guide id="6" pos="7378" userDrawn="1">
          <p15:clr>
            <a:srgbClr val="A4A3A4"/>
          </p15:clr>
        </p15:guide>
        <p15:guide id="7" pos="34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8C3B"/>
    <a:srgbClr val="FDB913"/>
    <a:srgbClr val="F13045"/>
    <a:srgbClr val="00AEEF"/>
    <a:srgbClr val="004882"/>
    <a:srgbClr val="EB2127"/>
    <a:srgbClr val="022A79"/>
    <a:srgbClr val="3D90A1"/>
    <a:srgbClr val="3B7FAE"/>
    <a:srgbClr val="3FA2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4660"/>
  </p:normalViewPr>
  <p:slideViewPr>
    <p:cSldViewPr snapToGrid="0">
      <p:cViewPr varScale="1">
        <p:scale>
          <a:sx n="110" d="100"/>
          <a:sy n="110" d="100"/>
        </p:scale>
        <p:origin x="516" y="138"/>
      </p:cViewPr>
      <p:guideLst>
        <p:guide orient="horz" pos="2160"/>
        <p:guide pos="3840"/>
        <p:guide orient="horz" pos="210"/>
        <p:guide pos="302"/>
        <p:guide orient="horz" pos="4110"/>
        <p:guide pos="7378"/>
        <p:guide pos="3472"/>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FDAE1-2562-4F77-BAB3-E31F6A1EC240}" type="datetimeFigureOut">
              <a:rPr lang="pt-PT" smtClean="0"/>
              <a:t>2022.04.01</a:t>
            </a:fld>
            <a:endParaRPr lang="pt-P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P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7F111D-02C1-492D-BBF2-B5EB538E9FA4}" type="slidenum">
              <a:rPr lang="pt-PT" smtClean="0"/>
              <a:t>‹#›</a:t>
            </a:fld>
            <a:endParaRPr lang="pt-PT"/>
          </a:p>
        </p:txBody>
      </p:sp>
    </p:spTree>
    <p:extLst>
      <p:ext uri="{BB962C8B-B14F-4D97-AF65-F5344CB8AC3E}">
        <p14:creationId xmlns:p14="http://schemas.microsoft.com/office/powerpoint/2010/main" val="38514778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53623875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816367"/>
      </p:ext>
    </p:extLst>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2.svg"/><Relationship Id="rId18" Type="http://schemas.openxmlformats.org/officeDocument/2006/relationships/image" Target="../media/image17.png"/><Relationship Id="rId3" Type="http://schemas.openxmlformats.org/officeDocument/2006/relationships/image" Target="../media/image1.png"/><Relationship Id="rId21" Type="http://schemas.openxmlformats.org/officeDocument/2006/relationships/image" Target="../media/image20.png"/><Relationship Id="rId7" Type="http://schemas.openxmlformats.org/officeDocument/2006/relationships/image" Target="../media/image4.sv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image" Target="../media/image2.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svg"/><Relationship Id="rId5" Type="http://schemas.openxmlformats.org/officeDocument/2006/relationships/image" Target="../media/image10.png"/><Relationship Id="rId15" Type="http://schemas.openxmlformats.org/officeDocument/2006/relationships/image" Target="../media/image14.png"/><Relationship Id="rId10" Type="http://schemas.openxmlformats.org/officeDocument/2006/relationships/image" Target="../media/image7.png"/><Relationship Id="rId19" Type="http://schemas.openxmlformats.org/officeDocument/2006/relationships/image" Target="../media/image18.png"/><Relationship Id="rId4" Type="http://schemas.openxmlformats.org/officeDocument/2006/relationships/image" Target="../media/image9.png"/><Relationship Id="rId9" Type="http://schemas.openxmlformats.org/officeDocument/2006/relationships/image" Target="../media/image6.sv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32.png"/><Relationship Id="rId18" Type="http://schemas.openxmlformats.org/officeDocument/2006/relationships/image" Target="../media/image37.sv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svg"/><Relationship Id="rId17" Type="http://schemas.openxmlformats.org/officeDocument/2006/relationships/image" Target="../media/image36.png"/><Relationship Id="rId2" Type="http://schemas.openxmlformats.org/officeDocument/2006/relationships/image" Target="../media/image21.png"/><Relationship Id="rId16" Type="http://schemas.openxmlformats.org/officeDocument/2006/relationships/image" Target="../media/image35.svg"/><Relationship Id="rId1" Type="http://schemas.openxmlformats.org/officeDocument/2006/relationships/slideLayout" Target="../slideLayouts/slideLayout1.xml"/><Relationship Id="rId6" Type="http://schemas.openxmlformats.org/officeDocument/2006/relationships/image" Target="../media/image25.svg"/><Relationship Id="rId11" Type="http://schemas.openxmlformats.org/officeDocument/2006/relationships/image" Target="../media/image30.png"/><Relationship Id="rId5" Type="http://schemas.openxmlformats.org/officeDocument/2006/relationships/image" Target="../media/image24.png"/><Relationship Id="rId15" Type="http://schemas.openxmlformats.org/officeDocument/2006/relationships/image" Target="../media/image34.png"/><Relationship Id="rId10" Type="http://schemas.openxmlformats.org/officeDocument/2006/relationships/image" Target="../media/image29.svg"/><Relationship Id="rId19" Type="http://schemas.openxmlformats.org/officeDocument/2006/relationships/image" Target="../media/image38.pn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image" Target="../media/image33.svg"/></Relationships>
</file>

<file path=ppt/slides/_rels/slide4.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28.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40.png"/><Relationship Id="rId11" Type="http://schemas.openxmlformats.org/officeDocument/2006/relationships/image" Target="../media/image45.sv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29.svg"/><Relationship Id="rId9" Type="http://schemas.openxmlformats.org/officeDocument/2006/relationships/image" Target="../media/image43.png"/></Relationships>
</file>

<file path=ppt/slides/_rels/slide5.xml.rels><?xml version="1.0" encoding="UTF-8" standalone="yes"?>
<Relationships xmlns="http://schemas.openxmlformats.org/package/2006/relationships"><Relationship Id="rId8" Type="http://schemas.openxmlformats.org/officeDocument/2006/relationships/image" Target="../media/image50.svg"/><Relationship Id="rId13" Type="http://schemas.openxmlformats.org/officeDocument/2006/relationships/image" Target="../media/image55.png"/><Relationship Id="rId3" Type="http://schemas.openxmlformats.org/officeDocument/2006/relationships/image" Target="../media/image28.png"/><Relationship Id="rId7" Type="http://schemas.openxmlformats.org/officeDocument/2006/relationships/image" Target="../media/image49.png"/><Relationship Id="rId12" Type="http://schemas.openxmlformats.org/officeDocument/2006/relationships/image" Target="../media/image54.svg"/><Relationship Id="rId2" Type="http://schemas.openxmlformats.org/officeDocument/2006/relationships/image" Target="../media/image2.png"/><Relationship Id="rId16" Type="http://schemas.openxmlformats.org/officeDocument/2006/relationships/image" Target="../media/image58.svg"/><Relationship Id="rId1" Type="http://schemas.openxmlformats.org/officeDocument/2006/relationships/slideLayout" Target="../slideLayouts/slideLayout1.xml"/><Relationship Id="rId6" Type="http://schemas.openxmlformats.org/officeDocument/2006/relationships/image" Target="../media/image48.svg"/><Relationship Id="rId11" Type="http://schemas.openxmlformats.org/officeDocument/2006/relationships/image" Target="../media/image53.png"/><Relationship Id="rId5" Type="http://schemas.openxmlformats.org/officeDocument/2006/relationships/image" Target="../media/image47.png"/><Relationship Id="rId15" Type="http://schemas.openxmlformats.org/officeDocument/2006/relationships/image" Target="../media/image57.png"/><Relationship Id="rId10" Type="http://schemas.openxmlformats.org/officeDocument/2006/relationships/image" Target="../media/image52.svg"/><Relationship Id="rId4" Type="http://schemas.openxmlformats.org/officeDocument/2006/relationships/image" Target="../media/image29.svg"/><Relationship Id="rId9" Type="http://schemas.openxmlformats.org/officeDocument/2006/relationships/image" Target="../media/image51.png"/><Relationship Id="rId14" Type="http://schemas.openxmlformats.org/officeDocument/2006/relationships/image" Target="../media/image56.svg"/></Relationships>
</file>

<file path=ppt/slides/_rels/slide6.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29.svg"/><Relationship Id="rId7" Type="http://schemas.openxmlformats.org/officeDocument/2006/relationships/image" Target="../media/image62.png"/><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61.png"/><Relationship Id="rId11" Type="http://schemas.openxmlformats.org/officeDocument/2006/relationships/image" Target="../media/image2.png"/><Relationship Id="rId5" Type="http://schemas.openxmlformats.org/officeDocument/2006/relationships/image" Target="../media/image6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1.png"/><Relationship Id="rId1" Type="http://schemas.openxmlformats.org/officeDocument/2006/relationships/slideLayout" Target="../slideLayouts/slideLayout1.xml"/><Relationship Id="rId4" Type="http://schemas.openxmlformats.org/officeDocument/2006/relationships/image" Target="../media/image29.sv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9.svg"/></Relationships>
</file>

<file path=ppt/slides/_rels/slide9.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28.png"/><Relationship Id="rId7" Type="http://schemas.openxmlformats.org/officeDocument/2006/relationships/image" Target="../media/image36.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29.svg"/></Relationships>
</file>

<file path=ppt/slides/_rels/slide10.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28.png"/><Relationship Id="rId7" Type="http://schemas.openxmlformats.org/officeDocument/2006/relationships/image" Target="../media/image70.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29.svg"/></Relationships>
</file>

<file path=ppt/slides/_rels/slide11.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28.png"/><Relationship Id="rId7" Type="http://schemas.openxmlformats.org/officeDocument/2006/relationships/image" Target="../media/image70.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29.svg"/><Relationship Id="rId9" Type="http://schemas.openxmlformats.org/officeDocument/2006/relationships/image" Target="../media/image72.png"/></Relationships>
</file>

<file path=ppt/slides/_rels/slide12.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28.png"/><Relationship Id="rId7" Type="http://schemas.openxmlformats.org/officeDocument/2006/relationships/image" Target="../media/image70.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29.svg"/><Relationship Id="rId9" Type="http://schemas.openxmlformats.org/officeDocument/2006/relationships/image" Target="../media/image73.png"/></Relationships>
</file>

<file path=ppt/slides/_rels/slide13.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28.png"/><Relationship Id="rId7" Type="http://schemas.openxmlformats.org/officeDocument/2006/relationships/image" Target="../media/image70.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29.svg"/><Relationship Id="rId9" Type="http://schemas.openxmlformats.org/officeDocument/2006/relationships/image" Target="../media/image74.png"/></Relationships>
</file>

<file path=ppt/slides/_rels/slide14.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28.png"/><Relationship Id="rId7" Type="http://schemas.openxmlformats.org/officeDocument/2006/relationships/image" Target="../media/image70.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29.svg"/><Relationship Id="rId9" Type="http://schemas.openxmlformats.org/officeDocument/2006/relationships/image" Target="../media/image75.png"/></Relationships>
</file>

<file path=ppt/slides/_rels/slide15.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28.png"/><Relationship Id="rId7" Type="http://schemas.openxmlformats.org/officeDocument/2006/relationships/image" Target="../media/image70.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29.svg"/></Relationships>
</file>

<file path=ppt/slides/_rels/slide16.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image" Target="../media/image28.png"/><Relationship Id="rId7" Type="http://schemas.openxmlformats.org/officeDocument/2006/relationships/image" Target="../media/image68.png"/><Relationship Id="rId2"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67.png"/><Relationship Id="rId5" Type="http://schemas.openxmlformats.org/officeDocument/2006/relationships/image" Target="../media/image70.png"/><Relationship Id="rId4" Type="http://schemas.openxmlformats.org/officeDocument/2006/relationships/image" Target="../media/image29.svg"/></Relationships>
</file>

<file path=ppt/slides/_rels/slide1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70.png"/><Relationship Id="rId4" Type="http://schemas.openxmlformats.org/officeDocument/2006/relationships/image" Target="../media/image2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Fundo">
            <a:extLst>
              <a:ext uri="{FF2B5EF4-FFF2-40B4-BE49-F238E27FC236}">
                <a16:creationId xmlns:a16="http://schemas.microsoft.com/office/drawing/2014/main" id="{CA9950E3-2C99-4EDA-A5B8-2F1323FEF1B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52270" y="10666074"/>
            <a:ext cx="13296540" cy="7479303"/>
          </a:xfrm>
          <a:prstGeom prst="rect">
            <a:avLst/>
          </a:prstGeom>
        </p:spPr>
      </p:pic>
      <p:pic>
        <p:nvPicPr>
          <p:cNvPr id="15" name="Picture 14" descr="Shape, circle&#10;&#10;Description automatically generated">
            <a:extLst>
              <a:ext uri="{FF2B5EF4-FFF2-40B4-BE49-F238E27FC236}">
                <a16:creationId xmlns:a16="http://schemas.microsoft.com/office/drawing/2014/main" id="{96048631-5349-4AD5-90BE-532998A0261A}"/>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5" name="Rectangle 24">
            <a:extLst>
              <a:ext uri="{FF2B5EF4-FFF2-40B4-BE49-F238E27FC236}">
                <a16:creationId xmlns:a16="http://schemas.microsoft.com/office/drawing/2014/main" id="{994DCBB9-15D5-42CA-867A-B6DF865D1949}"/>
              </a:ext>
            </a:extLst>
          </p:cNvPr>
          <p:cNvSpPr/>
          <p:nvPr/>
        </p:nvSpPr>
        <p:spPr>
          <a:xfrm>
            <a:off x="0" y="7277675"/>
            <a:ext cx="12191999" cy="4325601"/>
          </a:xfrm>
          <a:prstGeom prst="rect">
            <a:avLst/>
          </a:prstGeom>
          <a:gradFill>
            <a:gsLst>
              <a:gs pos="100000">
                <a:schemeClr val="tx1">
                  <a:alpha val="0"/>
                </a:schemeClr>
              </a:gs>
              <a:gs pos="67000">
                <a:srgbClr val="000000"/>
              </a:gs>
              <a:gs pos="88000">
                <a:schemeClr val="tx1"/>
              </a:gs>
              <a:gs pos="0">
                <a:schemeClr val="tx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F57A5E4E-9201-45CE-9688-4EF478B805F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02180" y="2526701"/>
            <a:ext cx="5741906" cy="1804599"/>
          </a:xfrm>
          <a:prstGeom prst="rect">
            <a:avLst/>
          </a:prstGeom>
        </p:spPr>
      </p:pic>
      <p:pic>
        <p:nvPicPr>
          <p:cNvPr id="17" name="Graphic 16">
            <a:extLst>
              <a:ext uri="{FF2B5EF4-FFF2-40B4-BE49-F238E27FC236}">
                <a16:creationId xmlns:a16="http://schemas.microsoft.com/office/drawing/2014/main" id="{E6DAF075-11FB-4EF4-A639-99ECE0FC0E5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197406" y="2876648"/>
            <a:ext cx="197112" cy="197112"/>
          </a:xfrm>
          <a:prstGeom prst="rect">
            <a:avLst/>
          </a:prstGeom>
        </p:spPr>
      </p:pic>
      <p:pic>
        <p:nvPicPr>
          <p:cNvPr id="3" name="Graphic 2">
            <a:extLst>
              <a:ext uri="{FF2B5EF4-FFF2-40B4-BE49-F238E27FC236}">
                <a16:creationId xmlns:a16="http://schemas.microsoft.com/office/drawing/2014/main" id="{30FD5ECE-295F-48FF-B569-972BBF8EF4B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12617" y="2706255"/>
            <a:ext cx="4139360" cy="1445490"/>
          </a:xfrm>
          <a:prstGeom prst="rect">
            <a:avLst/>
          </a:prstGeom>
        </p:spPr>
      </p:pic>
      <p:sp>
        <p:nvSpPr>
          <p:cNvPr id="5" name="Rectangle 4">
            <a:extLst>
              <a:ext uri="{FF2B5EF4-FFF2-40B4-BE49-F238E27FC236}">
                <a16:creationId xmlns:a16="http://schemas.microsoft.com/office/drawing/2014/main" id="{F2536AD1-FDBA-4717-998F-95479D0788AA}"/>
              </a:ext>
            </a:extLst>
          </p:cNvPr>
          <p:cNvSpPr/>
          <p:nvPr/>
        </p:nvSpPr>
        <p:spPr>
          <a:xfrm rot="16200000">
            <a:off x="11214424" y="5971539"/>
            <a:ext cx="1495922" cy="276999"/>
          </a:xfrm>
          <a:prstGeom prst="rect">
            <a:avLst/>
          </a:prstGeom>
        </p:spPr>
        <p:txBody>
          <a:bodyPr wrap="none">
            <a:spAutoFit/>
          </a:bodyPr>
          <a:lstStyle/>
          <a:p>
            <a:r>
              <a:rPr lang="pt-PT" sz="1200" dirty="0">
                <a:solidFill>
                  <a:schemeClr val="bg1"/>
                </a:solidFill>
              </a:rPr>
              <a:t>MG/MAR22/EM/005</a:t>
            </a:r>
          </a:p>
        </p:txBody>
      </p:sp>
    </p:spTree>
    <p:extLst>
      <p:ext uri="{BB962C8B-B14F-4D97-AF65-F5344CB8AC3E}">
        <p14:creationId xmlns:p14="http://schemas.microsoft.com/office/powerpoint/2010/main" val="168774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par>
                                <p:cTn id="8" presetID="63" presetClass="path" presetSubtype="0" decel="100000" fill="hold" nodeType="withEffect">
                                  <p:stCondLst>
                                    <p:cond delay="0"/>
                                  </p:stCondLst>
                                  <p:childTnLst>
                                    <p:animMotion origin="layout" path="M 5E-6 0 L 0.04649 0 " pathEditMode="relative" rAng="0" ptsTypes="AA">
                                      <p:cBhvr>
                                        <p:cTn id="9" dur="750" spd="-100000" fill="hold"/>
                                        <p:tgtEl>
                                          <p:spTgt spid="3"/>
                                        </p:tgtEl>
                                        <p:attrNameLst>
                                          <p:attrName>ppt_x</p:attrName>
                                          <p:attrName>ppt_y</p:attrName>
                                        </p:attrNameLst>
                                      </p:cBhvr>
                                      <p:rCtr x="2318" y="0"/>
                                    </p:animMotion>
                                  </p:childTnLst>
                                </p:cTn>
                              </p:par>
                              <p:par>
                                <p:cTn id="10" presetID="17" presetClass="entr" presetSubtype="8" fill="hold" nodeType="withEffect">
                                  <p:stCondLst>
                                    <p:cond delay="250"/>
                                  </p:stCondLst>
                                  <p:childTnLst>
                                    <p:set>
                                      <p:cBhvr>
                                        <p:cTn id="11" dur="1" fill="hold">
                                          <p:stCondLst>
                                            <p:cond delay="0"/>
                                          </p:stCondLst>
                                        </p:cTn>
                                        <p:tgtEl>
                                          <p:spTgt spid="22"/>
                                        </p:tgtEl>
                                        <p:attrNameLst>
                                          <p:attrName>style.visibility</p:attrName>
                                        </p:attrNameLst>
                                      </p:cBhvr>
                                      <p:to>
                                        <p:strVal val="visible"/>
                                      </p:to>
                                    </p:set>
                                    <p:anim calcmode="lin" valueType="num">
                                      <p:cBhvr>
                                        <p:cTn id="12" dur="500" fill="hold"/>
                                        <p:tgtEl>
                                          <p:spTgt spid="22"/>
                                        </p:tgtEl>
                                        <p:attrNameLst>
                                          <p:attrName>ppt_x</p:attrName>
                                        </p:attrNameLst>
                                      </p:cBhvr>
                                      <p:tavLst>
                                        <p:tav tm="0">
                                          <p:val>
                                            <p:strVal val="#ppt_x-#ppt_w/2"/>
                                          </p:val>
                                        </p:tav>
                                        <p:tav tm="100000">
                                          <p:val>
                                            <p:strVal val="#ppt_x"/>
                                          </p:val>
                                        </p:tav>
                                      </p:tavLst>
                                    </p:anim>
                                    <p:anim calcmode="lin" valueType="num">
                                      <p:cBhvr>
                                        <p:cTn id="13" dur="500" fill="hold"/>
                                        <p:tgtEl>
                                          <p:spTgt spid="22"/>
                                        </p:tgtEl>
                                        <p:attrNameLst>
                                          <p:attrName>ppt_y</p:attrName>
                                        </p:attrNameLst>
                                      </p:cBhvr>
                                      <p:tavLst>
                                        <p:tav tm="0">
                                          <p:val>
                                            <p:strVal val="#ppt_y"/>
                                          </p:val>
                                        </p:tav>
                                        <p:tav tm="100000">
                                          <p:val>
                                            <p:strVal val="#ppt_y"/>
                                          </p:val>
                                        </p:tav>
                                      </p:tavLst>
                                    </p:anim>
                                    <p:anim calcmode="lin" valueType="num">
                                      <p:cBhvr>
                                        <p:cTn id="14" dur="500" fill="hold"/>
                                        <p:tgtEl>
                                          <p:spTgt spid="22"/>
                                        </p:tgtEl>
                                        <p:attrNameLst>
                                          <p:attrName>ppt_w</p:attrName>
                                        </p:attrNameLst>
                                      </p:cBhvr>
                                      <p:tavLst>
                                        <p:tav tm="0">
                                          <p:val>
                                            <p:fltVal val="0"/>
                                          </p:val>
                                        </p:tav>
                                        <p:tav tm="100000">
                                          <p:val>
                                            <p:strVal val="#ppt_w"/>
                                          </p:val>
                                        </p:tav>
                                      </p:tavLst>
                                    </p:anim>
                                    <p:anim calcmode="lin" valueType="num">
                                      <p:cBhvr>
                                        <p:cTn id="15" dur="500" fill="hold"/>
                                        <p:tgtEl>
                                          <p:spTgt spid="22"/>
                                        </p:tgtEl>
                                        <p:attrNameLst>
                                          <p:attrName>ppt_h</p:attrName>
                                        </p:attrNameLst>
                                      </p:cBhvr>
                                      <p:tavLst>
                                        <p:tav tm="0">
                                          <p:val>
                                            <p:strVal val="#ppt_h"/>
                                          </p:val>
                                        </p:tav>
                                        <p:tav tm="100000">
                                          <p:val>
                                            <p:strVal val="#ppt_h"/>
                                          </p:val>
                                        </p:tav>
                                      </p:tavLst>
                                    </p:anim>
                                  </p:childTnLst>
                                </p:cTn>
                              </p:par>
                              <p:par>
                                <p:cTn id="16" presetID="10" presetClass="entr" presetSubtype="0" fill="hold" nodeType="withEffect">
                                  <p:stCondLst>
                                    <p:cond delay="50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par>
                                <p:cTn id="19" presetID="6" presetClass="emph" presetSubtype="0" decel="100000" fill="hold" nodeType="withEffect">
                                  <p:stCondLst>
                                    <p:cond delay="0"/>
                                  </p:stCondLst>
                                  <p:childTnLst>
                                    <p:animScale>
                                      <p:cBhvr>
                                        <p:cTn id="20" dur="1000" fill="hold"/>
                                        <p:tgtEl>
                                          <p:spTgt spid="26"/>
                                        </p:tgtEl>
                                      </p:cBhvr>
                                      <p:by x="91700" y="917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 name="Picture 57" descr="Shape, circle&#10;&#10;Description automatically generated">
            <a:extLst>
              <a:ext uri="{FF2B5EF4-FFF2-40B4-BE49-F238E27FC236}">
                <a16:creationId xmlns:a16="http://schemas.microsoft.com/office/drawing/2014/main" id="{CA101175-0B70-4917-8C58-1D8E2B872EDC}"/>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18" name="Fundo">
            <a:extLst>
              <a:ext uri="{FF2B5EF4-FFF2-40B4-BE49-F238E27FC236}">
                <a16:creationId xmlns:a16="http://schemas.microsoft.com/office/drawing/2014/main" id="{B37C6FC2-A7BD-46A2-9738-5DADD4B3FE8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52270" y="-310652"/>
            <a:ext cx="13296540" cy="7479303"/>
          </a:xfrm>
          <a:prstGeom prst="rect">
            <a:avLst/>
          </a:prstGeom>
        </p:spPr>
      </p:pic>
      <p:pic>
        <p:nvPicPr>
          <p:cNvPr id="6" name="Fundo">
            <a:extLst>
              <a:ext uri="{FF2B5EF4-FFF2-40B4-BE49-F238E27FC236}">
                <a16:creationId xmlns:a16="http://schemas.microsoft.com/office/drawing/2014/main" id="{69A79BB4-C413-485F-AF24-3D8C0CEFEB3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52270" y="-310652"/>
            <a:ext cx="13296540" cy="7479304"/>
          </a:xfrm>
          <a:prstGeom prst="rect">
            <a:avLst/>
          </a:prstGeom>
        </p:spPr>
      </p:pic>
      <p:pic>
        <p:nvPicPr>
          <p:cNvPr id="7" name="Fundo">
            <a:extLst>
              <a:ext uri="{FF2B5EF4-FFF2-40B4-BE49-F238E27FC236}">
                <a16:creationId xmlns:a16="http://schemas.microsoft.com/office/drawing/2014/main" id="{11F29B8A-67EF-4F07-B98D-22B9229DA64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 y="0"/>
            <a:ext cx="12192000" cy="6858000"/>
          </a:xfrm>
          <a:prstGeom prst="rect">
            <a:avLst/>
          </a:prstGeom>
        </p:spPr>
      </p:pic>
      <p:pic>
        <p:nvPicPr>
          <p:cNvPr id="46" name="Fundo">
            <a:extLst>
              <a:ext uri="{FF2B5EF4-FFF2-40B4-BE49-F238E27FC236}">
                <a16:creationId xmlns:a16="http://schemas.microsoft.com/office/drawing/2014/main" id="{E840F2EF-AE4F-452E-A493-FB1868D16223}"/>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7" name="Rectangle 56">
            <a:extLst>
              <a:ext uri="{FF2B5EF4-FFF2-40B4-BE49-F238E27FC236}">
                <a16:creationId xmlns:a16="http://schemas.microsoft.com/office/drawing/2014/main" id="{E5FD6209-DF34-47D1-8574-C01B50D8618C}"/>
              </a:ext>
            </a:extLst>
          </p:cNvPr>
          <p:cNvSpPr/>
          <p:nvPr/>
        </p:nvSpPr>
        <p:spPr>
          <a:xfrm>
            <a:off x="0" y="-3699051"/>
            <a:ext cx="12191999" cy="4325601"/>
          </a:xfrm>
          <a:prstGeom prst="rect">
            <a:avLst/>
          </a:prstGeom>
          <a:gradFill>
            <a:gsLst>
              <a:gs pos="100000">
                <a:schemeClr val="tx1">
                  <a:alpha val="0"/>
                </a:schemeClr>
              </a:gs>
              <a:gs pos="67000">
                <a:srgbClr val="000000"/>
              </a:gs>
              <a:gs pos="88000">
                <a:schemeClr val="tx1"/>
              </a:gs>
              <a:gs pos="0">
                <a:schemeClr val="tx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Graphic 18">
            <a:extLst>
              <a:ext uri="{FF2B5EF4-FFF2-40B4-BE49-F238E27FC236}">
                <a16:creationId xmlns:a16="http://schemas.microsoft.com/office/drawing/2014/main" id="{3848BC20-05CC-4B53-8E58-94C89065EA5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867095" y="5346701"/>
            <a:ext cx="2852925" cy="896632"/>
          </a:xfrm>
          <a:prstGeom prst="rect">
            <a:avLst/>
          </a:prstGeom>
        </p:spPr>
      </p:pic>
      <p:pic>
        <p:nvPicPr>
          <p:cNvPr id="20" name="Graphic 19">
            <a:extLst>
              <a:ext uri="{FF2B5EF4-FFF2-40B4-BE49-F238E27FC236}">
                <a16:creationId xmlns:a16="http://schemas.microsoft.com/office/drawing/2014/main" id="{EA5808B0-4D50-4FE0-8381-DDFA7B05230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349025" y="5520576"/>
            <a:ext cx="97937" cy="97937"/>
          </a:xfrm>
          <a:prstGeom prst="rect">
            <a:avLst/>
          </a:prstGeom>
        </p:spPr>
      </p:pic>
      <p:pic>
        <p:nvPicPr>
          <p:cNvPr id="21" name="Graphic 20">
            <a:extLst>
              <a:ext uri="{FF2B5EF4-FFF2-40B4-BE49-F238E27FC236}">
                <a16:creationId xmlns:a16="http://schemas.microsoft.com/office/drawing/2014/main" id="{C31D994F-7CFB-4847-8451-42538B89687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220083" y="5435914"/>
            <a:ext cx="2056683" cy="718204"/>
          </a:xfrm>
          <a:prstGeom prst="rect">
            <a:avLst/>
          </a:prstGeom>
        </p:spPr>
      </p:pic>
      <p:sp>
        <p:nvSpPr>
          <p:cNvPr id="37" name="Rectangle 36">
            <a:extLst>
              <a:ext uri="{FF2B5EF4-FFF2-40B4-BE49-F238E27FC236}">
                <a16:creationId xmlns:a16="http://schemas.microsoft.com/office/drawing/2014/main" id="{C9C2726C-8055-4DB8-8559-F9CBB000D00D}"/>
              </a:ext>
            </a:extLst>
          </p:cNvPr>
          <p:cNvSpPr/>
          <p:nvPr/>
        </p:nvSpPr>
        <p:spPr>
          <a:xfrm rot="5400000">
            <a:off x="-497115" y="497115"/>
            <a:ext cx="6858000" cy="5863772"/>
          </a:xfrm>
          <a:prstGeom prst="rect">
            <a:avLst/>
          </a:prstGeom>
          <a:gradFill>
            <a:gsLst>
              <a:gs pos="100000">
                <a:srgbClr val="000000">
                  <a:alpha val="64000"/>
                </a:srgbClr>
              </a:gs>
              <a:gs pos="37000">
                <a:schemeClr val="tx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a:extLst>
              <a:ext uri="{FF2B5EF4-FFF2-40B4-BE49-F238E27FC236}">
                <a16:creationId xmlns:a16="http://schemas.microsoft.com/office/drawing/2014/main" id="{75BFE902-7F95-4FA8-92D7-73A9BA558A9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71980" y="5944140"/>
            <a:ext cx="1414361" cy="299192"/>
          </a:xfrm>
          <a:prstGeom prst="rect">
            <a:avLst/>
          </a:prstGeom>
        </p:spPr>
      </p:pic>
      <p:pic>
        <p:nvPicPr>
          <p:cNvPr id="35" name="Picture 34" descr="A picture containing egg, light&#10;&#10;Description automatically generated">
            <a:extLst>
              <a:ext uri="{FF2B5EF4-FFF2-40B4-BE49-F238E27FC236}">
                <a16:creationId xmlns:a16="http://schemas.microsoft.com/office/drawing/2014/main" id="{B3C16535-8114-4777-AEC1-44E2D9011891}"/>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3943702" y="1122434"/>
            <a:ext cx="898953" cy="937665"/>
          </a:xfrm>
          <a:prstGeom prst="rect">
            <a:avLst/>
          </a:prstGeom>
        </p:spPr>
      </p:pic>
      <p:pic>
        <p:nvPicPr>
          <p:cNvPr id="28" name="Picture 27" descr="Logo, icon&#10;&#10;Description automatically generated">
            <a:extLst>
              <a:ext uri="{FF2B5EF4-FFF2-40B4-BE49-F238E27FC236}">
                <a16:creationId xmlns:a16="http://schemas.microsoft.com/office/drawing/2014/main" id="{DC8D73A6-2355-4044-A56A-4D0876D851B5}"/>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0434624" y="1174635"/>
            <a:ext cx="819013" cy="1060897"/>
          </a:xfrm>
          <a:prstGeom prst="rect">
            <a:avLst/>
          </a:prstGeom>
        </p:spPr>
      </p:pic>
      <p:pic>
        <p:nvPicPr>
          <p:cNvPr id="29" name="Picture 28" descr="Icon&#10;&#10;Description automatically generated">
            <a:extLst>
              <a:ext uri="{FF2B5EF4-FFF2-40B4-BE49-F238E27FC236}">
                <a16:creationId xmlns:a16="http://schemas.microsoft.com/office/drawing/2014/main" id="{A083CA1B-E542-4764-838A-07CCDC76D321}"/>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5302855" y="549093"/>
            <a:ext cx="1449223" cy="1561678"/>
          </a:xfrm>
          <a:prstGeom prst="rect">
            <a:avLst/>
          </a:prstGeom>
        </p:spPr>
      </p:pic>
      <p:pic>
        <p:nvPicPr>
          <p:cNvPr id="30" name="Picture 29" descr="Icon&#10;&#10;Description automatically generated">
            <a:extLst>
              <a:ext uri="{FF2B5EF4-FFF2-40B4-BE49-F238E27FC236}">
                <a16:creationId xmlns:a16="http://schemas.microsoft.com/office/drawing/2014/main" id="{952F2C5F-3F4B-4DC2-A996-8CCC34540551}"/>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7347628" y="1093713"/>
            <a:ext cx="805600" cy="794261"/>
          </a:xfrm>
          <a:prstGeom prst="rect">
            <a:avLst/>
          </a:prstGeom>
        </p:spPr>
      </p:pic>
      <p:pic>
        <p:nvPicPr>
          <p:cNvPr id="31" name="Picture 30" descr="Shape, icon&#10;&#10;Description automatically generated">
            <a:extLst>
              <a:ext uri="{FF2B5EF4-FFF2-40B4-BE49-F238E27FC236}">
                <a16:creationId xmlns:a16="http://schemas.microsoft.com/office/drawing/2014/main" id="{0BC832F7-6146-4B99-83B3-0CFB741CA250}"/>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893036" y="1097064"/>
            <a:ext cx="794740" cy="785624"/>
          </a:xfrm>
          <a:prstGeom prst="rect">
            <a:avLst/>
          </a:prstGeom>
        </p:spPr>
      </p:pic>
      <p:pic>
        <p:nvPicPr>
          <p:cNvPr id="32" name="Picture 31" descr="Logo, icon&#10;&#10;Description automatically generated">
            <a:extLst>
              <a:ext uri="{FF2B5EF4-FFF2-40B4-BE49-F238E27FC236}">
                <a16:creationId xmlns:a16="http://schemas.microsoft.com/office/drawing/2014/main" id="{905D2B99-A341-49D1-A64A-CCF9A7881A82}"/>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262309" y="1120860"/>
            <a:ext cx="1017041" cy="896817"/>
          </a:xfrm>
          <a:prstGeom prst="rect">
            <a:avLst/>
          </a:prstGeom>
        </p:spPr>
      </p:pic>
      <p:pic>
        <p:nvPicPr>
          <p:cNvPr id="34" name="Picture 33" descr="Icon&#10;&#10;Description automatically generated">
            <a:extLst>
              <a:ext uri="{FF2B5EF4-FFF2-40B4-BE49-F238E27FC236}">
                <a16:creationId xmlns:a16="http://schemas.microsoft.com/office/drawing/2014/main" id="{ED228F36-D57A-4E5E-8D19-3D3610C24C27}"/>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926914" y="1003587"/>
            <a:ext cx="813941" cy="843850"/>
          </a:xfrm>
          <a:prstGeom prst="rect">
            <a:avLst/>
          </a:prstGeom>
        </p:spPr>
      </p:pic>
      <p:sp>
        <p:nvSpPr>
          <p:cNvPr id="27" name="TextBox 26">
            <a:extLst>
              <a:ext uri="{FF2B5EF4-FFF2-40B4-BE49-F238E27FC236}">
                <a16:creationId xmlns:a16="http://schemas.microsoft.com/office/drawing/2014/main" id="{0E86E2BF-0C2E-4057-9C31-744B2E29DF3B}"/>
              </a:ext>
            </a:extLst>
          </p:cNvPr>
          <p:cNvSpPr txBox="1"/>
          <p:nvPr/>
        </p:nvSpPr>
        <p:spPr>
          <a:xfrm>
            <a:off x="736233" y="2784589"/>
            <a:ext cx="3405589" cy="1557349"/>
          </a:xfrm>
          <a:prstGeom prst="rect">
            <a:avLst/>
          </a:prstGeom>
          <a:noFill/>
        </p:spPr>
        <p:txBody>
          <a:bodyPr wrap="square" rtlCol="0">
            <a:spAutoFit/>
          </a:bodyPr>
          <a:lstStyle/>
          <a:p>
            <a:pPr marL="0" marR="0" lvl="0" indent="0" defTabSz="914400" rtl="0" eaLnBrk="1" fontAlgn="auto" latinLnBrk="0" hangingPunct="1">
              <a:lnSpc>
                <a:spcPct val="85000"/>
              </a:lnSpc>
              <a:spcBef>
                <a:spcPts val="0"/>
              </a:spcBef>
              <a:spcAft>
                <a:spcPts val="0"/>
              </a:spcAft>
              <a:buClrTx/>
              <a:buSzTx/>
              <a:buFontTx/>
              <a:buNone/>
              <a:tabLst/>
              <a:defRPr/>
            </a:pPr>
            <a:r>
              <a:rPr lang="pt-PT" sz="2800" b="1" dirty="0">
                <a:solidFill>
                  <a:schemeClr val="bg1"/>
                </a:solidFill>
                <a:effectLst>
                  <a:outerShdw blurRad="469900" sx="102000" sy="102000" algn="ctr" rotWithShape="0">
                    <a:prstClr val="black">
                      <a:alpha val="50000"/>
                    </a:prstClr>
                  </a:outerShdw>
                </a:effectLst>
                <a:latin typeface="Trebuchet MS" panose="020B0603020202020204" pitchFamily="34" charset="0"/>
                <a:ea typeface="Verdana" panose="020B0604030504040204" pitchFamily="34" charset="0"/>
                <a:cs typeface="Zilla Slab Light"/>
                <a:sym typeface="Zilla Slab Light"/>
              </a:rPr>
              <a:t>PORQUE LA MIGRAÑA ES ALGO MÁS QUE UN DOLOR DE CABEZA</a:t>
            </a:r>
            <a:endParaRPr kumimoji="0" lang="en-US" sz="2800" b="1" i="0" u="none" strike="noStrike" kern="1200" cap="none" spc="0" normalizeH="0" baseline="0" noProof="0" dirty="0">
              <a:ln>
                <a:noFill/>
              </a:ln>
              <a:solidFill>
                <a:schemeClr val="bg1"/>
              </a:solidFill>
              <a:effectLst>
                <a:outerShdw blurRad="469900" sx="102000" sy="102000" algn="ctr" rotWithShape="0">
                  <a:prstClr val="black">
                    <a:alpha val="50000"/>
                  </a:prstClr>
                </a:outerShdw>
              </a:effectLst>
              <a:uLnTx/>
              <a:uFillTx/>
              <a:latin typeface="Trebuchet MS" panose="020B0603020202020204" pitchFamily="34" charset="0"/>
              <a:ea typeface="Verdana" panose="020B0604030504040204" pitchFamily="34" charset="0"/>
              <a:cs typeface="Zilla Slab Light"/>
              <a:sym typeface="Zilla Slab Light"/>
            </a:endParaRPr>
          </a:p>
        </p:txBody>
      </p:sp>
      <p:sp>
        <p:nvSpPr>
          <p:cNvPr id="33" name="TextBox 32">
            <a:extLst>
              <a:ext uri="{FF2B5EF4-FFF2-40B4-BE49-F238E27FC236}">
                <a16:creationId xmlns:a16="http://schemas.microsoft.com/office/drawing/2014/main" id="{B25B804F-AEC5-4ECE-9583-C99D8ADD2B6F}"/>
              </a:ext>
            </a:extLst>
          </p:cNvPr>
          <p:cNvSpPr txBox="1"/>
          <p:nvPr/>
        </p:nvSpPr>
        <p:spPr>
          <a:xfrm>
            <a:off x="736233" y="4560284"/>
            <a:ext cx="3339378" cy="275460"/>
          </a:xfrm>
          <a:prstGeom prst="rect">
            <a:avLst/>
          </a:prstGeom>
          <a:noFill/>
        </p:spPr>
        <p:txBody>
          <a:bodyPr wrap="square" rtlCol="0">
            <a:spAutoFit/>
          </a:bodyPr>
          <a:lstStyle/>
          <a:p>
            <a:pPr marL="0" marR="0" lvl="0" indent="0" defTabSz="914400" rtl="0" eaLnBrk="1" fontAlgn="auto" latinLnBrk="0" hangingPunct="1">
              <a:lnSpc>
                <a:spcPct val="85000"/>
              </a:lnSpc>
              <a:spcBef>
                <a:spcPts val="0"/>
              </a:spcBef>
              <a:spcAft>
                <a:spcPts val="0"/>
              </a:spcAft>
              <a:buClrTx/>
              <a:buSzTx/>
              <a:buFontTx/>
              <a:buNone/>
              <a:tabLst/>
              <a:defRPr/>
            </a:pPr>
            <a:r>
              <a:rPr lang="pt-PT" sz="1400" spc="600" dirty="0">
                <a:solidFill>
                  <a:schemeClr val="bg1"/>
                </a:solidFill>
                <a:effectLst>
                  <a:outerShdw blurRad="469900" sx="102000" sy="102000" algn="ctr" rotWithShape="0">
                    <a:prstClr val="black">
                      <a:alpha val="50000"/>
                    </a:prstClr>
                  </a:outerShdw>
                </a:effectLst>
                <a:latin typeface="Trebuchet MS" panose="020B0603020202020204" pitchFamily="34" charset="0"/>
                <a:ea typeface="Verdana" panose="020B0604030504040204" pitchFamily="34" charset="0"/>
                <a:cs typeface="Zilla Slab Light"/>
                <a:sym typeface="Zilla Slab Light"/>
              </a:rPr>
              <a:t>Panamá, 06/04/2022</a:t>
            </a:r>
            <a:endParaRPr kumimoji="0" lang="en-US" sz="1400" i="0" u="none" strike="noStrike" kern="1200" cap="none" spc="600" normalizeH="0" baseline="0" noProof="0" dirty="0">
              <a:ln>
                <a:noFill/>
              </a:ln>
              <a:solidFill>
                <a:schemeClr val="bg1"/>
              </a:solidFill>
              <a:effectLst>
                <a:outerShdw blurRad="469900" sx="102000" sy="102000" algn="ctr" rotWithShape="0">
                  <a:prstClr val="black">
                    <a:alpha val="50000"/>
                  </a:prstClr>
                </a:outerShdw>
              </a:effectLst>
              <a:uLnTx/>
              <a:uFillTx/>
              <a:latin typeface="Trebuchet MS" panose="020B0603020202020204" pitchFamily="34" charset="0"/>
              <a:ea typeface="Verdana" panose="020B0604030504040204" pitchFamily="34" charset="0"/>
              <a:cs typeface="Zilla Slab Light"/>
              <a:sym typeface="Zilla Slab Light"/>
            </a:endParaRPr>
          </a:p>
        </p:txBody>
      </p:sp>
      <p:cxnSp>
        <p:nvCxnSpPr>
          <p:cNvPr id="3" name="Straight Connector 2">
            <a:extLst>
              <a:ext uri="{FF2B5EF4-FFF2-40B4-BE49-F238E27FC236}">
                <a16:creationId xmlns:a16="http://schemas.microsoft.com/office/drawing/2014/main" id="{D0A95D73-1B99-490D-88E8-2B536C723683}"/>
              </a:ext>
            </a:extLst>
          </p:cNvPr>
          <p:cNvCxnSpPr>
            <a:cxnSpLocks/>
          </p:cNvCxnSpPr>
          <p:nvPr/>
        </p:nvCxnSpPr>
        <p:spPr>
          <a:xfrm>
            <a:off x="0" y="4471761"/>
            <a:ext cx="2971800" cy="0"/>
          </a:xfrm>
          <a:prstGeom prst="line">
            <a:avLst/>
          </a:prstGeom>
          <a:ln w="38100">
            <a:solidFill>
              <a:srgbClr val="FDB913"/>
            </a:solidFill>
          </a:ln>
        </p:spPr>
        <p:style>
          <a:lnRef idx="1">
            <a:schemeClr val="accent1"/>
          </a:lnRef>
          <a:fillRef idx="0">
            <a:schemeClr val="accent1"/>
          </a:fillRef>
          <a:effectRef idx="0">
            <a:schemeClr val="accent1"/>
          </a:effectRef>
          <a:fontRef idx="minor">
            <a:schemeClr val="tx1"/>
          </a:fontRef>
        </p:style>
      </p:cxnSp>
      <p:pic>
        <p:nvPicPr>
          <p:cNvPr id="12" name="Picture 11" descr="A picture containing night sky&#10;&#10;Description automatically generated">
            <a:extLst>
              <a:ext uri="{FF2B5EF4-FFF2-40B4-BE49-F238E27FC236}">
                <a16:creationId xmlns:a16="http://schemas.microsoft.com/office/drawing/2014/main" id="{50E93B30-2342-4D2B-AB75-0886E7B3AF27}"/>
              </a:ext>
            </a:extLst>
          </p:cNvPr>
          <p:cNvPicPr>
            <a:picLocks noChangeAspect="1"/>
          </p:cNvPicPr>
          <p:nvPr/>
        </p:nvPicPr>
        <p:blipFill rotWithShape="1">
          <a:blip r:embed="rId21">
            <a:extLst>
              <a:ext uri="{28A0092B-C50C-407E-A947-70E740481C1C}">
                <a14:useLocalDpi xmlns:a14="http://schemas.microsoft.com/office/drawing/2010/main" val="0"/>
              </a:ext>
            </a:extLst>
          </a:blip>
          <a:srcRect l="39888" t="13662" r="37889" b="63564"/>
          <a:stretch/>
        </p:blipFill>
        <p:spPr>
          <a:xfrm>
            <a:off x="4863204" y="937202"/>
            <a:ext cx="2709171" cy="1561678"/>
          </a:xfrm>
          <a:prstGeom prst="rect">
            <a:avLst/>
          </a:prstGeom>
        </p:spPr>
      </p:pic>
    </p:spTree>
    <p:extLst>
      <p:ext uri="{BB962C8B-B14F-4D97-AF65-F5344CB8AC3E}">
        <p14:creationId xmlns:p14="http://schemas.microsoft.com/office/powerpoint/2010/main" val="192931246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decel="100000" fill="hold" nodeType="withEffect">
                                      <p:stCondLst>
                                        <p:cond delay="0"/>
                                      </p:stCondLst>
                                      <p:childTnLst>
                                        <p:animScale>
                                          <p:cBhvr>
                                            <p:cTn id="6" dur="1000" fill="hold"/>
                                            <p:tgtEl>
                                              <p:spTgt spid="18"/>
                                            </p:tgtEl>
                                          </p:cBhvr>
                                          <p:by x="91700" y="91700"/>
                                        </p:animScale>
                                      </p:childTnLst>
                                    </p:cTn>
                                  </p:par>
                                  <p:par>
                                    <p:cTn id="7" presetID="10" presetClass="entr" presetSubtype="0" fill="hold" nodeType="withEffect">
                                      <p:stCondLst>
                                        <p:cond delay="25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750"/>
                                            <p:tgtEl>
                                              <p:spTgt spid="6"/>
                                            </p:tgtEl>
                                          </p:cBhvr>
                                        </p:animEffect>
                                      </p:childTnLst>
                                    </p:cTn>
                                  </p:par>
                                  <p:par>
                                    <p:cTn id="10" presetID="6" presetClass="emph" presetSubtype="0" decel="100000" fill="hold" nodeType="withEffect">
                                      <p:stCondLst>
                                        <p:cond delay="0"/>
                                      </p:stCondLst>
                                      <p:childTnLst>
                                        <p:animScale>
                                          <p:cBhvr>
                                            <p:cTn id="11" dur="1000" fill="hold"/>
                                            <p:tgtEl>
                                              <p:spTgt spid="6"/>
                                            </p:tgtEl>
                                          </p:cBhvr>
                                          <p:by x="91700" y="91700"/>
                                        </p:animScale>
                                      </p:childTnLst>
                                    </p:cTn>
                                  </p:par>
                                  <p:par>
                                    <p:cTn id="12" presetID="10" presetClass="entr" presetSubtype="0" fill="hold" nodeType="withEffect">
                                      <p:stCondLst>
                                        <p:cond delay="25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500"/>
                                            <p:tgtEl>
                                              <p:spTgt spid="24"/>
                                            </p:tgtEl>
                                          </p:cBhvr>
                                        </p:animEffect>
                                      </p:childTnLst>
                                    </p:cTn>
                                  </p:par>
                                  <p:par>
                                    <p:cTn id="15" presetID="42" presetClass="path" presetSubtype="0" decel="100000" fill="hold" nodeType="withEffect">
                                      <p:stCondLst>
                                        <p:cond delay="250"/>
                                      </p:stCondLst>
                                      <p:childTnLst>
                                        <p:animMotion origin="layout" path="M -4.58333E-6 4.07407E-6 L -4.58333E-6 -0.05718 " pathEditMode="relative" rAng="0" ptsTypes="AA">
                                          <p:cBhvr>
                                            <p:cTn id="16" dur="750" spd="-100000" fill="hold"/>
                                            <p:tgtEl>
                                              <p:spTgt spid="24"/>
                                            </p:tgtEl>
                                            <p:attrNameLst>
                                              <p:attrName>ppt_x</p:attrName>
                                              <p:attrName>ppt_y</p:attrName>
                                            </p:attrNameLst>
                                          </p:cBhvr>
                                          <p:rCtr x="0" y="-2870"/>
                                        </p:animMotion>
                                      </p:childTnLst>
                                    </p:cTn>
                                  </p:par>
                                  <p:par>
                                    <p:cTn id="17" presetID="1" presetClass="entr" presetSubtype="0" fill="hold" nodeType="withEffect">
                                      <p:stCondLst>
                                        <p:cond delay="100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1000"/>
                                      </p:stCondLst>
                                      <p:childTnLst>
                                        <p:set>
                                          <p:cBhvr>
                                            <p:cTn id="20" dur="1" fill="hold">
                                              <p:stCondLst>
                                                <p:cond delay="0"/>
                                              </p:stCondLst>
                                            </p:cTn>
                                            <p:tgtEl>
                                              <p:spTgt spid="12"/>
                                            </p:tgtEl>
                                            <p:attrNameLst>
                                              <p:attrName>style.visibility</p:attrName>
                                            </p:attrNameLst>
                                          </p:cBhvr>
                                          <p:to>
                                            <p:strVal val="visible"/>
                                          </p:to>
                                        </p:set>
                                      </p:childTnLst>
                                    </p:cTn>
                                  </p:par>
                                  <p:par>
                                    <p:cTn id="21" presetID="10" presetClass="entr" presetSubtype="0" fill="hold" nodeType="withEffect">
                                      <p:stCondLst>
                                        <p:cond delay="1000"/>
                                      </p:stCondLst>
                                      <p:childTnLst>
                                        <p:set>
                                          <p:cBhvr>
                                            <p:cTn id="22" dur="1" fill="hold">
                                              <p:stCondLst>
                                                <p:cond delay="0"/>
                                              </p:stCondLst>
                                            </p:cTn>
                                            <p:tgtEl>
                                              <p:spTgt spid="46"/>
                                            </p:tgtEl>
                                            <p:attrNameLst>
                                              <p:attrName>style.visibility</p:attrName>
                                            </p:attrNameLst>
                                          </p:cBhvr>
                                          <p:to>
                                            <p:strVal val="visible"/>
                                          </p:to>
                                        </p:set>
                                        <p:animEffect transition="in" filter="fade">
                                          <p:cBhvr>
                                            <p:cTn id="23" dur="500"/>
                                            <p:tgtEl>
                                              <p:spTgt spid="46"/>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37"/>
                                            </p:tgtEl>
                                            <p:attrNameLst>
                                              <p:attrName>style.visibility</p:attrName>
                                            </p:attrNameLst>
                                          </p:cBhvr>
                                          <p:to>
                                            <p:strVal val="visible"/>
                                          </p:to>
                                        </p:set>
                                        <p:animEffect transition="in" filter="fade">
                                          <p:cBhvr>
                                            <p:cTn id="26" dur="750"/>
                                            <p:tgtEl>
                                              <p:spTgt spid="37"/>
                                            </p:tgtEl>
                                          </p:cBhvr>
                                        </p:animEffect>
                                      </p:childTnLst>
                                    </p:cTn>
                                  </p:par>
                                  <p:par>
                                    <p:cTn id="27" presetID="23" presetClass="entr" presetSubtype="16" fill="hold" nodeType="withEffect">
                                      <p:stCondLst>
                                        <p:cond delay="1000"/>
                                      </p:stCondLst>
                                      <p:childTnLst>
                                        <p:set>
                                          <p:cBhvr>
                                            <p:cTn id="28" dur="1" fill="hold">
                                              <p:stCondLst>
                                                <p:cond delay="0"/>
                                              </p:stCondLst>
                                            </p:cTn>
                                            <p:tgtEl>
                                              <p:spTgt spid="29"/>
                                            </p:tgtEl>
                                            <p:attrNameLst>
                                              <p:attrName>style.visibility</p:attrName>
                                            </p:attrNameLst>
                                          </p:cBhvr>
                                          <p:to>
                                            <p:strVal val="visible"/>
                                          </p:to>
                                        </p:set>
                                        <p:anim calcmode="lin" valueType="num">
                                          <p:cBhvr>
                                            <p:cTn id="29" dur="200" fill="hold"/>
                                            <p:tgtEl>
                                              <p:spTgt spid="29"/>
                                            </p:tgtEl>
                                            <p:attrNameLst>
                                              <p:attrName>ppt_w</p:attrName>
                                            </p:attrNameLst>
                                          </p:cBhvr>
                                          <p:tavLst>
                                            <p:tav tm="0">
                                              <p:val>
                                                <p:fltVal val="0"/>
                                              </p:val>
                                            </p:tav>
                                            <p:tav tm="100000">
                                              <p:val>
                                                <p:strVal val="#ppt_w"/>
                                              </p:val>
                                            </p:tav>
                                          </p:tavLst>
                                        </p:anim>
                                        <p:anim calcmode="lin" valueType="num">
                                          <p:cBhvr>
                                            <p:cTn id="30" dur="200" fill="hold"/>
                                            <p:tgtEl>
                                              <p:spTgt spid="29"/>
                                            </p:tgtEl>
                                            <p:attrNameLst>
                                              <p:attrName>ppt_h</p:attrName>
                                            </p:attrNameLst>
                                          </p:cBhvr>
                                          <p:tavLst>
                                            <p:tav tm="0">
                                              <p:val>
                                                <p:fltVal val="0"/>
                                              </p:val>
                                            </p:tav>
                                            <p:tav tm="100000">
                                              <p:val>
                                                <p:strVal val="#ppt_h"/>
                                              </p:val>
                                            </p:tav>
                                          </p:tavLst>
                                        </p:anim>
                                      </p:childTnLst>
                                    </p:cTn>
                                  </p:par>
                                  <p:par>
                                    <p:cTn id="31" presetID="6" presetClass="emph" presetSubtype="0" fill="hold" nodeType="withEffect" p14:presetBounceEnd="99000">
                                      <p:stCondLst>
                                        <p:cond delay="1000"/>
                                      </p:stCondLst>
                                      <p:childTnLst>
                                        <p:animScale p14:bounceEnd="99000">
                                          <p:cBhvr>
                                            <p:cTn id="32" dur="1000" fill="hold"/>
                                            <p:tgtEl>
                                              <p:spTgt spid="29"/>
                                            </p:tgtEl>
                                          </p:cBhvr>
                                          <p:by x="110000" y="110000"/>
                                        </p:animScale>
                                      </p:childTnLst>
                                    </p:cTn>
                                  </p:par>
                                  <p:par>
                                    <p:cTn id="33" presetID="6" presetClass="emph" presetSubtype="0" accel="50000" decel="50000" fill="hold" nodeType="withEffect">
                                      <p:stCondLst>
                                        <p:cond delay="1000"/>
                                      </p:stCondLst>
                                      <p:childTnLst>
                                        <p:animScale>
                                          <p:cBhvr>
                                            <p:cTn id="34" dur="250" fill="hold"/>
                                            <p:tgtEl>
                                              <p:spTgt spid="29"/>
                                            </p:tgtEl>
                                          </p:cBhvr>
                                          <p:by x="91000" y="91000"/>
                                        </p:animScale>
                                      </p:childTnLst>
                                    </p:cTn>
                                  </p:par>
                                  <p:par>
                                    <p:cTn id="35" presetID="10" presetClass="entr" presetSubtype="0" fill="hold" grpId="0" nodeType="withEffect">
                                      <p:stCondLst>
                                        <p:cond delay="100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00"/>
                                            <p:tgtEl>
                                              <p:spTgt spid="27"/>
                                            </p:tgtEl>
                                          </p:cBhvr>
                                        </p:animEffect>
                                      </p:childTnLst>
                                    </p:cTn>
                                  </p:par>
                                  <p:par>
                                    <p:cTn id="38" presetID="63" presetClass="path" presetSubtype="0" decel="100000" fill="hold" grpId="1" nodeType="withEffect">
                                      <p:stCondLst>
                                        <p:cond delay="1000"/>
                                      </p:stCondLst>
                                      <p:childTnLst>
                                        <p:animMotion origin="layout" path="M 8.33333E-7 -4.44444E-6 L -0.05599 -4.44444E-6 " pathEditMode="relative" rAng="0" ptsTypes="AA">
                                          <p:cBhvr>
                                            <p:cTn id="39" dur="750" spd="-100000" fill="hold"/>
                                            <p:tgtEl>
                                              <p:spTgt spid="27"/>
                                            </p:tgtEl>
                                            <p:attrNameLst>
                                              <p:attrName>ppt_x</p:attrName>
                                              <p:attrName>ppt_y</p:attrName>
                                            </p:attrNameLst>
                                          </p:cBhvr>
                                          <p:rCtr x="-2799" y="0"/>
                                        </p:animMotion>
                                      </p:childTnLst>
                                    </p:cTn>
                                  </p:par>
                                  <p:par>
                                    <p:cTn id="40" presetID="22" presetClass="entr" presetSubtype="2" fill="hold" nodeType="withEffect">
                                      <p:stCondLst>
                                        <p:cond delay="1000"/>
                                      </p:stCondLst>
                                      <p:childTnLst>
                                        <p:set>
                                          <p:cBhvr>
                                            <p:cTn id="41" dur="1" fill="hold">
                                              <p:stCondLst>
                                                <p:cond delay="0"/>
                                              </p:stCondLst>
                                            </p:cTn>
                                            <p:tgtEl>
                                              <p:spTgt spid="3"/>
                                            </p:tgtEl>
                                            <p:attrNameLst>
                                              <p:attrName>style.visibility</p:attrName>
                                            </p:attrNameLst>
                                          </p:cBhvr>
                                          <p:to>
                                            <p:strVal val="visible"/>
                                          </p:to>
                                        </p:set>
                                        <p:animEffect transition="in" filter="wipe(right)">
                                          <p:cBhvr>
                                            <p:cTn id="42" dur="500"/>
                                            <p:tgtEl>
                                              <p:spTgt spid="3"/>
                                            </p:tgtEl>
                                          </p:cBhvr>
                                        </p:animEffect>
                                      </p:childTnLst>
                                    </p:cTn>
                                  </p:par>
                                  <p:par>
                                    <p:cTn id="43" presetID="10" presetClass="entr" presetSubtype="0" fill="hold" grpId="0" nodeType="withEffect">
                                      <p:stCondLst>
                                        <p:cond delay="1250"/>
                                      </p:stCondLst>
                                      <p:childTnLst>
                                        <p:set>
                                          <p:cBhvr>
                                            <p:cTn id="44" dur="1" fill="hold">
                                              <p:stCondLst>
                                                <p:cond delay="0"/>
                                              </p:stCondLst>
                                            </p:cTn>
                                            <p:tgtEl>
                                              <p:spTgt spid="33"/>
                                            </p:tgtEl>
                                            <p:attrNameLst>
                                              <p:attrName>style.visibility</p:attrName>
                                            </p:attrNameLst>
                                          </p:cBhvr>
                                          <p:to>
                                            <p:strVal val="visible"/>
                                          </p:to>
                                        </p:set>
                                        <p:animEffect transition="in" filter="fade">
                                          <p:cBhvr>
                                            <p:cTn id="45" dur="500"/>
                                            <p:tgtEl>
                                              <p:spTgt spid="33"/>
                                            </p:tgtEl>
                                          </p:cBhvr>
                                        </p:animEffect>
                                      </p:childTnLst>
                                    </p:cTn>
                                  </p:par>
                                  <p:par>
                                    <p:cTn id="46" presetID="23" presetClass="entr" presetSubtype="16" fill="hold" nodeType="withEffect">
                                      <p:stCondLst>
                                        <p:cond delay="1250"/>
                                      </p:stCondLst>
                                      <p:childTnLst>
                                        <p:set>
                                          <p:cBhvr>
                                            <p:cTn id="47" dur="1" fill="hold">
                                              <p:stCondLst>
                                                <p:cond delay="0"/>
                                              </p:stCondLst>
                                            </p:cTn>
                                            <p:tgtEl>
                                              <p:spTgt spid="35"/>
                                            </p:tgtEl>
                                            <p:attrNameLst>
                                              <p:attrName>style.visibility</p:attrName>
                                            </p:attrNameLst>
                                          </p:cBhvr>
                                          <p:to>
                                            <p:strVal val="visible"/>
                                          </p:to>
                                        </p:set>
                                        <p:anim calcmode="lin" valueType="num">
                                          <p:cBhvr>
                                            <p:cTn id="48" dur="200" fill="hold"/>
                                            <p:tgtEl>
                                              <p:spTgt spid="35"/>
                                            </p:tgtEl>
                                            <p:attrNameLst>
                                              <p:attrName>ppt_w</p:attrName>
                                            </p:attrNameLst>
                                          </p:cBhvr>
                                          <p:tavLst>
                                            <p:tav tm="0">
                                              <p:val>
                                                <p:fltVal val="0"/>
                                              </p:val>
                                            </p:tav>
                                            <p:tav tm="100000">
                                              <p:val>
                                                <p:strVal val="#ppt_w"/>
                                              </p:val>
                                            </p:tav>
                                          </p:tavLst>
                                        </p:anim>
                                        <p:anim calcmode="lin" valueType="num">
                                          <p:cBhvr>
                                            <p:cTn id="49" dur="200" fill="hold"/>
                                            <p:tgtEl>
                                              <p:spTgt spid="35"/>
                                            </p:tgtEl>
                                            <p:attrNameLst>
                                              <p:attrName>ppt_h</p:attrName>
                                            </p:attrNameLst>
                                          </p:cBhvr>
                                          <p:tavLst>
                                            <p:tav tm="0">
                                              <p:val>
                                                <p:fltVal val="0"/>
                                              </p:val>
                                            </p:tav>
                                            <p:tav tm="100000">
                                              <p:val>
                                                <p:strVal val="#ppt_h"/>
                                              </p:val>
                                            </p:tav>
                                          </p:tavLst>
                                        </p:anim>
                                      </p:childTnLst>
                                    </p:cTn>
                                  </p:par>
                                  <p:par>
                                    <p:cTn id="50" presetID="6" presetClass="emph" presetSubtype="0" fill="hold" nodeType="withEffect" p14:presetBounceEnd="99000">
                                      <p:stCondLst>
                                        <p:cond delay="1250"/>
                                      </p:stCondLst>
                                      <p:childTnLst>
                                        <p:animScale p14:bounceEnd="99000">
                                          <p:cBhvr>
                                            <p:cTn id="51" dur="1000" fill="hold"/>
                                            <p:tgtEl>
                                              <p:spTgt spid="35"/>
                                            </p:tgtEl>
                                          </p:cBhvr>
                                          <p:by x="110000" y="110000"/>
                                        </p:animScale>
                                      </p:childTnLst>
                                    </p:cTn>
                                  </p:par>
                                  <p:par>
                                    <p:cTn id="52" presetID="6" presetClass="emph" presetSubtype="0" accel="50000" decel="50000" fill="hold" nodeType="withEffect">
                                      <p:stCondLst>
                                        <p:cond delay="1250"/>
                                      </p:stCondLst>
                                      <p:childTnLst>
                                        <p:animScale>
                                          <p:cBhvr>
                                            <p:cTn id="53" dur="250" fill="hold"/>
                                            <p:tgtEl>
                                              <p:spTgt spid="35"/>
                                            </p:tgtEl>
                                          </p:cBhvr>
                                          <p:by x="91000" y="91000"/>
                                        </p:animScale>
                                      </p:childTnLst>
                                    </p:cTn>
                                  </p:par>
                                  <p:par>
                                    <p:cTn id="54" presetID="23" presetClass="entr" presetSubtype="16" fill="hold" nodeType="withEffect">
                                      <p:stCondLst>
                                        <p:cond delay="1250"/>
                                      </p:stCondLst>
                                      <p:childTnLst>
                                        <p:set>
                                          <p:cBhvr>
                                            <p:cTn id="55" dur="1" fill="hold">
                                              <p:stCondLst>
                                                <p:cond delay="0"/>
                                              </p:stCondLst>
                                            </p:cTn>
                                            <p:tgtEl>
                                              <p:spTgt spid="30"/>
                                            </p:tgtEl>
                                            <p:attrNameLst>
                                              <p:attrName>style.visibility</p:attrName>
                                            </p:attrNameLst>
                                          </p:cBhvr>
                                          <p:to>
                                            <p:strVal val="visible"/>
                                          </p:to>
                                        </p:set>
                                        <p:anim calcmode="lin" valueType="num">
                                          <p:cBhvr>
                                            <p:cTn id="56" dur="200" fill="hold"/>
                                            <p:tgtEl>
                                              <p:spTgt spid="30"/>
                                            </p:tgtEl>
                                            <p:attrNameLst>
                                              <p:attrName>ppt_w</p:attrName>
                                            </p:attrNameLst>
                                          </p:cBhvr>
                                          <p:tavLst>
                                            <p:tav tm="0">
                                              <p:val>
                                                <p:fltVal val="0"/>
                                              </p:val>
                                            </p:tav>
                                            <p:tav tm="100000">
                                              <p:val>
                                                <p:strVal val="#ppt_w"/>
                                              </p:val>
                                            </p:tav>
                                          </p:tavLst>
                                        </p:anim>
                                        <p:anim calcmode="lin" valueType="num">
                                          <p:cBhvr>
                                            <p:cTn id="57" dur="200" fill="hold"/>
                                            <p:tgtEl>
                                              <p:spTgt spid="30"/>
                                            </p:tgtEl>
                                            <p:attrNameLst>
                                              <p:attrName>ppt_h</p:attrName>
                                            </p:attrNameLst>
                                          </p:cBhvr>
                                          <p:tavLst>
                                            <p:tav tm="0">
                                              <p:val>
                                                <p:fltVal val="0"/>
                                              </p:val>
                                            </p:tav>
                                            <p:tav tm="100000">
                                              <p:val>
                                                <p:strVal val="#ppt_h"/>
                                              </p:val>
                                            </p:tav>
                                          </p:tavLst>
                                        </p:anim>
                                      </p:childTnLst>
                                    </p:cTn>
                                  </p:par>
                                  <p:par>
                                    <p:cTn id="58" presetID="6" presetClass="emph" presetSubtype="0" fill="hold" nodeType="withEffect" p14:presetBounceEnd="99000">
                                      <p:stCondLst>
                                        <p:cond delay="1250"/>
                                      </p:stCondLst>
                                      <p:childTnLst>
                                        <p:animScale p14:bounceEnd="99000">
                                          <p:cBhvr>
                                            <p:cTn id="59" dur="1000" fill="hold"/>
                                            <p:tgtEl>
                                              <p:spTgt spid="30"/>
                                            </p:tgtEl>
                                          </p:cBhvr>
                                          <p:by x="110000" y="110000"/>
                                        </p:animScale>
                                      </p:childTnLst>
                                    </p:cTn>
                                  </p:par>
                                  <p:par>
                                    <p:cTn id="60" presetID="6" presetClass="emph" presetSubtype="0" accel="50000" decel="50000" fill="hold" nodeType="withEffect">
                                      <p:stCondLst>
                                        <p:cond delay="1250"/>
                                      </p:stCondLst>
                                      <p:childTnLst>
                                        <p:animScale>
                                          <p:cBhvr>
                                            <p:cTn id="61" dur="250" fill="hold"/>
                                            <p:tgtEl>
                                              <p:spTgt spid="30"/>
                                            </p:tgtEl>
                                          </p:cBhvr>
                                          <p:by x="91000" y="91000"/>
                                        </p:animScale>
                                      </p:childTnLst>
                                    </p:cTn>
                                  </p:par>
                                  <p:par>
                                    <p:cTn id="62" presetID="23" presetClass="entr" presetSubtype="16" fill="hold" nodeType="withEffect">
                                      <p:stCondLst>
                                        <p:cond delay="1500"/>
                                      </p:stCondLst>
                                      <p:childTnLst>
                                        <p:set>
                                          <p:cBhvr>
                                            <p:cTn id="63" dur="1" fill="hold">
                                              <p:stCondLst>
                                                <p:cond delay="0"/>
                                              </p:stCondLst>
                                            </p:cTn>
                                            <p:tgtEl>
                                              <p:spTgt spid="32"/>
                                            </p:tgtEl>
                                            <p:attrNameLst>
                                              <p:attrName>style.visibility</p:attrName>
                                            </p:attrNameLst>
                                          </p:cBhvr>
                                          <p:to>
                                            <p:strVal val="visible"/>
                                          </p:to>
                                        </p:set>
                                        <p:anim calcmode="lin" valueType="num">
                                          <p:cBhvr>
                                            <p:cTn id="64" dur="200" fill="hold"/>
                                            <p:tgtEl>
                                              <p:spTgt spid="32"/>
                                            </p:tgtEl>
                                            <p:attrNameLst>
                                              <p:attrName>ppt_w</p:attrName>
                                            </p:attrNameLst>
                                          </p:cBhvr>
                                          <p:tavLst>
                                            <p:tav tm="0">
                                              <p:val>
                                                <p:fltVal val="0"/>
                                              </p:val>
                                            </p:tav>
                                            <p:tav tm="100000">
                                              <p:val>
                                                <p:strVal val="#ppt_w"/>
                                              </p:val>
                                            </p:tav>
                                          </p:tavLst>
                                        </p:anim>
                                        <p:anim calcmode="lin" valueType="num">
                                          <p:cBhvr>
                                            <p:cTn id="65" dur="200" fill="hold"/>
                                            <p:tgtEl>
                                              <p:spTgt spid="32"/>
                                            </p:tgtEl>
                                            <p:attrNameLst>
                                              <p:attrName>ppt_h</p:attrName>
                                            </p:attrNameLst>
                                          </p:cBhvr>
                                          <p:tavLst>
                                            <p:tav tm="0">
                                              <p:val>
                                                <p:fltVal val="0"/>
                                              </p:val>
                                            </p:tav>
                                            <p:tav tm="100000">
                                              <p:val>
                                                <p:strVal val="#ppt_h"/>
                                              </p:val>
                                            </p:tav>
                                          </p:tavLst>
                                        </p:anim>
                                      </p:childTnLst>
                                    </p:cTn>
                                  </p:par>
                                  <p:par>
                                    <p:cTn id="66" presetID="6" presetClass="emph" presetSubtype="0" fill="hold" nodeType="withEffect" p14:presetBounceEnd="99000">
                                      <p:stCondLst>
                                        <p:cond delay="1500"/>
                                      </p:stCondLst>
                                      <p:childTnLst>
                                        <p:animScale p14:bounceEnd="99000">
                                          <p:cBhvr>
                                            <p:cTn id="67" dur="1000" fill="hold"/>
                                            <p:tgtEl>
                                              <p:spTgt spid="32"/>
                                            </p:tgtEl>
                                          </p:cBhvr>
                                          <p:by x="110000" y="110000"/>
                                        </p:animScale>
                                      </p:childTnLst>
                                    </p:cTn>
                                  </p:par>
                                  <p:par>
                                    <p:cTn id="68" presetID="6" presetClass="emph" presetSubtype="0" accel="50000" decel="50000" fill="hold" nodeType="withEffect">
                                      <p:stCondLst>
                                        <p:cond delay="1500"/>
                                      </p:stCondLst>
                                      <p:childTnLst>
                                        <p:animScale>
                                          <p:cBhvr>
                                            <p:cTn id="69" dur="250" fill="hold"/>
                                            <p:tgtEl>
                                              <p:spTgt spid="32"/>
                                            </p:tgtEl>
                                          </p:cBhvr>
                                          <p:by x="91000" y="91000"/>
                                        </p:animScale>
                                      </p:childTnLst>
                                    </p:cTn>
                                  </p:par>
                                  <p:par>
                                    <p:cTn id="70" presetID="23" presetClass="entr" presetSubtype="16" fill="hold" nodeType="withEffect">
                                      <p:stCondLst>
                                        <p:cond delay="1500"/>
                                      </p:stCondLst>
                                      <p:childTnLst>
                                        <p:set>
                                          <p:cBhvr>
                                            <p:cTn id="71" dur="1" fill="hold">
                                              <p:stCondLst>
                                                <p:cond delay="0"/>
                                              </p:stCondLst>
                                            </p:cTn>
                                            <p:tgtEl>
                                              <p:spTgt spid="31"/>
                                            </p:tgtEl>
                                            <p:attrNameLst>
                                              <p:attrName>style.visibility</p:attrName>
                                            </p:attrNameLst>
                                          </p:cBhvr>
                                          <p:to>
                                            <p:strVal val="visible"/>
                                          </p:to>
                                        </p:set>
                                        <p:anim calcmode="lin" valueType="num">
                                          <p:cBhvr>
                                            <p:cTn id="72" dur="200" fill="hold"/>
                                            <p:tgtEl>
                                              <p:spTgt spid="31"/>
                                            </p:tgtEl>
                                            <p:attrNameLst>
                                              <p:attrName>ppt_w</p:attrName>
                                            </p:attrNameLst>
                                          </p:cBhvr>
                                          <p:tavLst>
                                            <p:tav tm="0">
                                              <p:val>
                                                <p:fltVal val="0"/>
                                              </p:val>
                                            </p:tav>
                                            <p:tav tm="100000">
                                              <p:val>
                                                <p:strVal val="#ppt_w"/>
                                              </p:val>
                                            </p:tav>
                                          </p:tavLst>
                                        </p:anim>
                                        <p:anim calcmode="lin" valueType="num">
                                          <p:cBhvr>
                                            <p:cTn id="73" dur="200" fill="hold"/>
                                            <p:tgtEl>
                                              <p:spTgt spid="31"/>
                                            </p:tgtEl>
                                            <p:attrNameLst>
                                              <p:attrName>ppt_h</p:attrName>
                                            </p:attrNameLst>
                                          </p:cBhvr>
                                          <p:tavLst>
                                            <p:tav tm="0">
                                              <p:val>
                                                <p:fltVal val="0"/>
                                              </p:val>
                                            </p:tav>
                                            <p:tav tm="100000">
                                              <p:val>
                                                <p:strVal val="#ppt_h"/>
                                              </p:val>
                                            </p:tav>
                                          </p:tavLst>
                                        </p:anim>
                                      </p:childTnLst>
                                    </p:cTn>
                                  </p:par>
                                  <p:par>
                                    <p:cTn id="74" presetID="6" presetClass="emph" presetSubtype="0" fill="hold" nodeType="withEffect" p14:presetBounceEnd="99000">
                                      <p:stCondLst>
                                        <p:cond delay="1500"/>
                                      </p:stCondLst>
                                      <p:childTnLst>
                                        <p:animScale p14:bounceEnd="99000">
                                          <p:cBhvr>
                                            <p:cTn id="75" dur="1000" fill="hold"/>
                                            <p:tgtEl>
                                              <p:spTgt spid="31"/>
                                            </p:tgtEl>
                                          </p:cBhvr>
                                          <p:by x="110000" y="110000"/>
                                        </p:animScale>
                                      </p:childTnLst>
                                    </p:cTn>
                                  </p:par>
                                  <p:par>
                                    <p:cTn id="76" presetID="6" presetClass="emph" presetSubtype="0" accel="50000" decel="50000" fill="hold" nodeType="withEffect">
                                      <p:stCondLst>
                                        <p:cond delay="1500"/>
                                      </p:stCondLst>
                                      <p:childTnLst>
                                        <p:animScale>
                                          <p:cBhvr>
                                            <p:cTn id="77" dur="250" fill="hold"/>
                                            <p:tgtEl>
                                              <p:spTgt spid="31"/>
                                            </p:tgtEl>
                                          </p:cBhvr>
                                          <p:by x="91000" y="91000"/>
                                        </p:animScale>
                                      </p:childTnLst>
                                    </p:cTn>
                                  </p:par>
                                  <p:par>
                                    <p:cTn id="78" presetID="23" presetClass="entr" presetSubtype="16" fill="hold" nodeType="withEffect">
                                      <p:stCondLst>
                                        <p:cond delay="1750"/>
                                      </p:stCondLst>
                                      <p:childTnLst>
                                        <p:set>
                                          <p:cBhvr>
                                            <p:cTn id="79" dur="1" fill="hold">
                                              <p:stCondLst>
                                                <p:cond delay="0"/>
                                              </p:stCondLst>
                                            </p:cTn>
                                            <p:tgtEl>
                                              <p:spTgt spid="34"/>
                                            </p:tgtEl>
                                            <p:attrNameLst>
                                              <p:attrName>style.visibility</p:attrName>
                                            </p:attrNameLst>
                                          </p:cBhvr>
                                          <p:to>
                                            <p:strVal val="visible"/>
                                          </p:to>
                                        </p:set>
                                        <p:anim calcmode="lin" valueType="num">
                                          <p:cBhvr>
                                            <p:cTn id="80" dur="200" fill="hold"/>
                                            <p:tgtEl>
                                              <p:spTgt spid="34"/>
                                            </p:tgtEl>
                                            <p:attrNameLst>
                                              <p:attrName>ppt_w</p:attrName>
                                            </p:attrNameLst>
                                          </p:cBhvr>
                                          <p:tavLst>
                                            <p:tav tm="0">
                                              <p:val>
                                                <p:fltVal val="0"/>
                                              </p:val>
                                            </p:tav>
                                            <p:tav tm="100000">
                                              <p:val>
                                                <p:strVal val="#ppt_w"/>
                                              </p:val>
                                            </p:tav>
                                          </p:tavLst>
                                        </p:anim>
                                        <p:anim calcmode="lin" valueType="num">
                                          <p:cBhvr>
                                            <p:cTn id="81" dur="200" fill="hold"/>
                                            <p:tgtEl>
                                              <p:spTgt spid="34"/>
                                            </p:tgtEl>
                                            <p:attrNameLst>
                                              <p:attrName>ppt_h</p:attrName>
                                            </p:attrNameLst>
                                          </p:cBhvr>
                                          <p:tavLst>
                                            <p:tav tm="0">
                                              <p:val>
                                                <p:fltVal val="0"/>
                                              </p:val>
                                            </p:tav>
                                            <p:tav tm="100000">
                                              <p:val>
                                                <p:strVal val="#ppt_h"/>
                                              </p:val>
                                            </p:tav>
                                          </p:tavLst>
                                        </p:anim>
                                      </p:childTnLst>
                                    </p:cTn>
                                  </p:par>
                                  <p:par>
                                    <p:cTn id="82" presetID="6" presetClass="emph" presetSubtype="0" fill="hold" nodeType="withEffect" p14:presetBounceEnd="99000">
                                      <p:stCondLst>
                                        <p:cond delay="1750"/>
                                      </p:stCondLst>
                                      <p:childTnLst>
                                        <p:animScale p14:bounceEnd="99000">
                                          <p:cBhvr>
                                            <p:cTn id="83" dur="1000" fill="hold"/>
                                            <p:tgtEl>
                                              <p:spTgt spid="34"/>
                                            </p:tgtEl>
                                          </p:cBhvr>
                                          <p:by x="110000" y="110000"/>
                                        </p:animScale>
                                      </p:childTnLst>
                                    </p:cTn>
                                  </p:par>
                                  <p:par>
                                    <p:cTn id="84" presetID="6" presetClass="emph" presetSubtype="0" accel="50000" decel="50000" fill="hold" nodeType="withEffect">
                                      <p:stCondLst>
                                        <p:cond delay="1750"/>
                                      </p:stCondLst>
                                      <p:childTnLst>
                                        <p:animScale>
                                          <p:cBhvr>
                                            <p:cTn id="85" dur="250" fill="hold"/>
                                            <p:tgtEl>
                                              <p:spTgt spid="34"/>
                                            </p:tgtEl>
                                          </p:cBhvr>
                                          <p:by x="91000" y="91000"/>
                                        </p:animScale>
                                      </p:childTnLst>
                                    </p:cTn>
                                  </p:par>
                                  <p:par>
                                    <p:cTn id="86" presetID="23" presetClass="entr" presetSubtype="16" fill="hold" nodeType="withEffect">
                                      <p:stCondLst>
                                        <p:cond delay="1750"/>
                                      </p:stCondLst>
                                      <p:childTnLst>
                                        <p:set>
                                          <p:cBhvr>
                                            <p:cTn id="87" dur="1" fill="hold">
                                              <p:stCondLst>
                                                <p:cond delay="0"/>
                                              </p:stCondLst>
                                            </p:cTn>
                                            <p:tgtEl>
                                              <p:spTgt spid="28"/>
                                            </p:tgtEl>
                                            <p:attrNameLst>
                                              <p:attrName>style.visibility</p:attrName>
                                            </p:attrNameLst>
                                          </p:cBhvr>
                                          <p:to>
                                            <p:strVal val="visible"/>
                                          </p:to>
                                        </p:set>
                                        <p:anim calcmode="lin" valueType="num">
                                          <p:cBhvr>
                                            <p:cTn id="88" dur="200" fill="hold"/>
                                            <p:tgtEl>
                                              <p:spTgt spid="28"/>
                                            </p:tgtEl>
                                            <p:attrNameLst>
                                              <p:attrName>ppt_w</p:attrName>
                                            </p:attrNameLst>
                                          </p:cBhvr>
                                          <p:tavLst>
                                            <p:tav tm="0">
                                              <p:val>
                                                <p:fltVal val="0"/>
                                              </p:val>
                                            </p:tav>
                                            <p:tav tm="100000">
                                              <p:val>
                                                <p:strVal val="#ppt_w"/>
                                              </p:val>
                                            </p:tav>
                                          </p:tavLst>
                                        </p:anim>
                                        <p:anim calcmode="lin" valueType="num">
                                          <p:cBhvr>
                                            <p:cTn id="89" dur="200" fill="hold"/>
                                            <p:tgtEl>
                                              <p:spTgt spid="28"/>
                                            </p:tgtEl>
                                            <p:attrNameLst>
                                              <p:attrName>ppt_h</p:attrName>
                                            </p:attrNameLst>
                                          </p:cBhvr>
                                          <p:tavLst>
                                            <p:tav tm="0">
                                              <p:val>
                                                <p:fltVal val="0"/>
                                              </p:val>
                                            </p:tav>
                                            <p:tav tm="100000">
                                              <p:val>
                                                <p:strVal val="#ppt_h"/>
                                              </p:val>
                                            </p:tav>
                                          </p:tavLst>
                                        </p:anim>
                                      </p:childTnLst>
                                    </p:cTn>
                                  </p:par>
                                  <p:par>
                                    <p:cTn id="90" presetID="6" presetClass="emph" presetSubtype="0" fill="hold" nodeType="withEffect" p14:presetBounceEnd="99000">
                                      <p:stCondLst>
                                        <p:cond delay="1750"/>
                                      </p:stCondLst>
                                      <p:childTnLst>
                                        <p:animScale p14:bounceEnd="99000">
                                          <p:cBhvr>
                                            <p:cTn id="91" dur="1000" fill="hold"/>
                                            <p:tgtEl>
                                              <p:spTgt spid="28"/>
                                            </p:tgtEl>
                                          </p:cBhvr>
                                          <p:by x="110000" y="110000"/>
                                        </p:animScale>
                                      </p:childTnLst>
                                    </p:cTn>
                                  </p:par>
                                  <p:par>
                                    <p:cTn id="92" presetID="6" presetClass="emph" presetSubtype="0" accel="50000" decel="50000" fill="hold" nodeType="withEffect">
                                      <p:stCondLst>
                                        <p:cond delay="1750"/>
                                      </p:stCondLst>
                                      <p:childTnLst>
                                        <p:animScale>
                                          <p:cBhvr>
                                            <p:cTn id="93" dur="250" fill="hold"/>
                                            <p:tgtEl>
                                              <p:spTgt spid="28"/>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27" grpId="0"/>
          <p:bldP spid="27" grpId="1"/>
          <p:bldP spid="3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decel="100000" fill="hold" nodeType="withEffect">
                                      <p:stCondLst>
                                        <p:cond delay="0"/>
                                      </p:stCondLst>
                                      <p:childTnLst>
                                        <p:animScale>
                                          <p:cBhvr>
                                            <p:cTn id="6" dur="1000" fill="hold"/>
                                            <p:tgtEl>
                                              <p:spTgt spid="18"/>
                                            </p:tgtEl>
                                          </p:cBhvr>
                                          <p:by x="91700" y="91700"/>
                                        </p:animScale>
                                      </p:childTnLst>
                                    </p:cTn>
                                  </p:par>
                                  <p:par>
                                    <p:cTn id="7" presetID="10" presetClass="entr" presetSubtype="0" fill="hold" nodeType="withEffect">
                                      <p:stCondLst>
                                        <p:cond delay="25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750"/>
                                            <p:tgtEl>
                                              <p:spTgt spid="6"/>
                                            </p:tgtEl>
                                          </p:cBhvr>
                                        </p:animEffect>
                                      </p:childTnLst>
                                    </p:cTn>
                                  </p:par>
                                  <p:par>
                                    <p:cTn id="10" presetID="6" presetClass="emph" presetSubtype="0" decel="100000" fill="hold" nodeType="withEffect">
                                      <p:stCondLst>
                                        <p:cond delay="0"/>
                                      </p:stCondLst>
                                      <p:childTnLst>
                                        <p:animScale>
                                          <p:cBhvr>
                                            <p:cTn id="11" dur="1000" fill="hold"/>
                                            <p:tgtEl>
                                              <p:spTgt spid="6"/>
                                            </p:tgtEl>
                                          </p:cBhvr>
                                          <p:by x="91700" y="91700"/>
                                        </p:animScale>
                                      </p:childTnLst>
                                    </p:cTn>
                                  </p:par>
                                  <p:par>
                                    <p:cTn id="12" presetID="10" presetClass="entr" presetSubtype="0" fill="hold" nodeType="withEffect">
                                      <p:stCondLst>
                                        <p:cond delay="25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500"/>
                                            <p:tgtEl>
                                              <p:spTgt spid="24"/>
                                            </p:tgtEl>
                                          </p:cBhvr>
                                        </p:animEffect>
                                      </p:childTnLst>
                                    </p:cTn>
                                  </p:par>
                                  <p:par>
                                    <p:cTn id="15" presetID="42" presetClass="path" presetSubtype="0" decel="100000" fill="hold" nodeType="withEffect">
                                      <p:stCondLst>
                                        <p:cond delay="250"/>
                                      </p:stCondLst>
                                      <p:childTnLst>
                                        <p:animMotion origin="layout" path="M -4.58333E-6 4.07407E-6 L -4.58333E-6 -0.05718 " pathEditMode="relative" rAng="0" ptsTypes="AA">
                                          <p:cBhvr>
                                            <p:cTn id="16" dur="750" spd="-100000" fill="hold"/>
                                            <p:tgtEl>
                                              <p:spTgt spid="24"/>
                                            </p:tgtEl>
                                            <p:attrNameLst>
                                              <p:attrName>ppt_x</p:attrName>
                                              <p:attrName>ppt_y</p:attrName>
                                            </p:attrNameLst>
                                          </p:cBhvr>
                                          <p:rCtr x="0" y="-2870"/>
                                        </p:animMotion>
                                      </p:childTnLst>
                                    </p:cTn>
                                  </p:par>
                                  <p:par>
                                    <p:cTn id="17" presetID="1" presetClass="entr" presetSubtype="0" fill="hold" nodeType="withEffect">
                                      <p:stCondLst>
                                        <p:cond delay="100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1000"/>
                                      </p:stCondLst>
                                      <p:childTnLst>
                                        <p:set>
                                          <p:cBhvr>
                                            <p:cTn id="20" dur="1" fill="hold">
                                              <p:stCondLst>
                                                <p:cond delay="0"/>
                                              </p:stCondLst>
                                            </p:cTn>
                                            <p:tgtEl>
                                              <p:spTgt spid="12"/>
                                            </p:tgtEl>
                                            <p:attrNameLst>
                                              <p:attrName>style.visibility</p:attrName>
                                            </p:attrNameLst>
                                          </p:cBhvr>
                                          <p:to>
                                            <p:strVal val="visible"/>
                                          </p:to>
                                        </p:set>
                                      </p:childTnLst>
                                    </p:cTn>
                                  </p:par>
                                  <p:par>
                                    <p:cTn id="21" presetID="10" presetClass="entr" presetSubtype="0" fill="hold" nodeType="withEffect">
                                      <p:stCondLst>
                                        <p:cond delay="1000"/>
                                      </p:stCondLst>
                                      <p:childTnLst>
                                        <p:set>
                                          <p:cBhvr>
                                            <p:cTn id="22" dur="1" fill="hold">
                                              <p:stCondLst>
                                                <p:cond delay="0"/>
                                              </p:stCondLst>
                                            </p:cTn>
                                            <p:tgtEl>
                                              <p:spTgt spid="46"/>
                                            </p:tgtEl>
                                            <p:attrNameLst>
                                              <p:attrName>style.visibility</p:attrName>
                                            </p:attrNameLst>
                                          </p:cBhvr>
                                          <p:to>
                                            <p:strVal val="visible"/>
                                          </p:to>
                                        </p:set>
                                        <p:animEffect transition="in" filter="fade">
                                          <p:cBhvr>
                                            <p:cTn id="23" dur="500"/>
                                            <p:tgtEl>
                                              <p:spTgt spid="46"/>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37"/>
                                            </p:tgtEl>
                                            <p:attrNameLst>
                                              <p:attrName>style.visibility</p:attrName>
                                            </p:attrNameLst>
                                          </p:cBhvr>
                                          <p:to>
                                            <p:strVal val="visible"/>
                                          </p:to>
                                        </p:set>
                                        <p:animEffect transition="in" filter="fade">
                                          <p:cBhvr>
                                            <p:cTn id="26" dur="750"/>
                                            <p:tgtEl>
                                              <p:spTgt spid="37"/>
                                            </p:tgtEl>
                                          </p:cBhvr>
                                        </p:animEffect>
                                      </p:childTnLst>
                                    </p:cTn>
                                  </p:par>
                                  <p:par>
                                    <p:cTn id="27" presetID="23" presetClass="entr" presetSubtype="16" fill="hold" nodeType="withEffect">
                                      <p:stCondLst>
                                        <p:cond delay="1000"/>
                                      </p:stCondLst>
                                      <p:childTnLst>
                                        <p:set>
                                          <p:cBhvr>
                                            <p:cTn id="28" dur="1" fill="hold">
                                              <p:stCondLst>
                                                <p:cond delay="0"/>
                                              </p:stCondLst>
                                            </p:cTn>
                                            <p:tgtEl>
                                              <p:spTgt spid="29"/>
                                            </p:tgtEl>
                                            <p:attrNameLst>
                                              <p:attrName>style.visibility</p:attrName>
                                            </p:attrNameLst>
                                          </p:cBhvr>
                                          <p:to>
                                            <p:strVal val="visible"/>
                                          </p:to>
                                        </p:set>
                                        <p:anim calcmode="lin" valueType="num">
                                          <p:cBhvr>
                                            <p:cTn id="29" dur="200" fill="hold"/>
                                            <p:tgtEl>
                                              <p:spTgt spid="29"/>
                                            </p:tgtEl>
                                            <p:attrNameLst>
                                              <p:attrName>ppt_w</p:attrName>
                                            </p:attrNameLst>
                                          </p:cBhvr>
                                          <p:tavLst>
                                            <p:tav tm="0">
                                              <p:val>
                                                <p:fltVal val="0"/>
                                              </p:val>
                                            </p:tav>
                                            <p:tav tm="100000">
                                              <p:val>
                                                <p:strVal val="#ppt_w"/>
                                              </p:val>
                                            </p:tav>
                                          </p:tavLst>
                                        </p:anim>
                                        <p:anim calcmode="lin" valueType="num">
                                          <p:cBhvr>
                                            <p:cTn id="30" dur="200" fill="hold"/>
                                            <p:tgtEl>
                                              <p:spTgt spid="29"/>
                                            </p:tgtEl>
                                            <p:attrNameLst>
                                              <p:attrName>ppt_h</p:attrName>
                                            </p:attrNameLst>
                                          </p:cBhvr>
                                          <p:tavLst>
                                            <p:tav tm="0">
                                              <p:val>
                                                <p:fltVal val="0"/>
                                              </p:val>
                                            </p:tav>
                                            <p:tav tm="100000">
                                              <p:val>
                                                <p:strVal val="#ppt_h"/>
                                              </p:val>
                                            </p:tav>
                                          </p:tavLst>
                                        </p:anim>
                                      </p:childTnLst>
                                    </p:cTn>
                                  </p:par>
                                  <p:par>
                                    <p:cTn id="31" presetID="6" presetClass="emph" presetSubtype="0" fill="hold" nodeType="withEffect">
                                      <p:stCondLst>
                                        <p:cond delay="1000"/>
                                      </p:stCondLst>
                                      <p:childTnLst>
                                        <p:animScale>
                                          <p:cBhvr>
                                            <p:cTn id="32" dur="1000" fill="hold"/>
                                            <p:tgtEl>
                                              <p:spTgt spid="29"/>
                                            </p:tgtEl>
                                          </p:cBhvr>
                                          <p:by x="110000" y="110000"/>
                                        </p:animScale>
                                      </p:childTnLst>
                                    </p:cTn>
                                  </p:par>
                                  <p:par>
                                    <p:cTn id="33" presetID="6" presetClass="emph" presetSubtype="0" accel="50000" decel="50000" fill="hold" nodeType="withEffect">
                                      <p:stCondLst>
                                        <p:cond delay="1000"/>
                                      </p:stCondLst>
                                      <p:childTnLst>
                                        <p:animScale>
                                          <p:cBhvr>
                                            <p:cTn id="34" dur="250" fill="hold"/>
                                            <p:tgtEl>
                                              <p:spTgt spid="29"/>
                                            </p:tgtEl>
                                          </p:cBhvr>
                                          <p:by x="91000" y="91000"/>
                                        </p:animScale>
                                      </p:childTnLst>
                                    </p:cTn>
                                  </p:par>
                                  <p:par>
                                    <p:cTn id="35" presetID="10" presetClass="entr" presetSubtype="0" fill="hold" grpId="0" nodeType="withEffect">
                                      <p:stCondLst>
                                        <p:cond delay="100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00"/>
                                            <p:tgtEl>
                                              <p:spTgt spid="27"/>
                                            </p:tgtEl>
                                          </p:cBhvr>
                                        </p:animEffect>
                                      </p:childTnLst>
                                    </p:cTn>
                                  </p:par>
                                  <p:par>
                                    <p:cTn id="38" presetID="63" presetClass="path" presetSubtype="0" decel="100000" fill="hold" grpId="1" nodeType="withEffect">
                                      <p:stCondLst>
                                        <p:cond delay="1000"/>
                                      </p:stCondLst>
                                      <p:childTnLst>
                                        <p:animMotion origin="layout" path="M 8.33333E-7 -4.44444E-6 L -0.05599 -4.44444E-6 " pathEditMode="relative" rAng="0" ptsTypes="AA">
                                          <p:cBhvr>
                                            <p:cTn id="39" dur="750" spd="-100000" fill="hold"/>
                                            <p:tgtEl>
                                              <p:spTgt spid="27"/>
                                            </p:tgtEl>
                                            <p:attrNameLst>
                                              <p:attrName>ppt_x</p:attrName>
                                              <p:attrName>ppt_y</p:attrName>
                                            </p:attrNameLst>
                                          </p:cBhvr>
                                          <p:rCtr x="-2799" y="0"/>
                                        </p:animMotion>
                                      </p:childTnLst>
                                    </p:cTn>
                                  </p:par>
                                  <p:par>
                                    <p:cTn id="40" presetID="22" presetClass="entr" presetSubtype="2" fill="hold" nodeType="withEffect">
                                      <p:stCondLst>
                                        <p:cond delay="1000"/>
                                      </p:stCondLst>
                                      <p:childTnLst>
                                        <p:set>
                                          <p:cBhvr>
                                            <p:cTn id="41" dur="1" fill="hold">
                                              <p:stCondLst>
                                                <p:cond delay="0"/>
                                              </p:stCondLst>
                                            </p:cTn>
                                            <p:tgtEl>
                                              <p:spTgt spid="3"/>
                                            </p:tgtEl>
                                            <p:attrNameLst>
                                              <p:attrName>style.visibility</p:attrName>
                                            </p:attrNameLst>
                                          </p:cBhvr>
                                          <p:to>
                                            <p:strVal val="visible"/>
                                          </p:to>
                                        </p:set>
                                        <p:animEffect transition="in" filter="wipe(right)">
                                          <p:cBhvr>
                                            <p:cTn id="42" dur="500"/>
                                            <p:tgtEl>
                                              <p:spTgt spid="3"/>
                                            </p:tgtEl>
                                          </p:cBhvr>
                                        </p:animEffect>
                                      </p:childTnLst>
                                    </p:cTn>
                                  </p:par>
                                  <p:par>
                                    <p:cTn id="43" presetID="10" presetClass="entr" presetSubtype="0" fill="hold" grpId="0" nodeType="withEffect">
                                      <p:stCondLst>
                                        <p:cond delay="1250"/>
                                      </p:stCondLst>
                                      <p:childTnLst>
                                        <p:set>
                                          <p:cBhvr>
                                            <p:cTn id="44" dur="1" fill="hold">
                                              <p:stCondLst>
                                                <p:cond delay="0"/>
                                              </p:stCondLst>
                                            </p:cTn>
                                            <p:tgtEl>
                                              <p:spTgt spid="33"/>
                                            </p:tgtEl>
                                            <p:attrNameLst>
                                              <p:attrName>style.visibility</p:attrName>
                                            </p:attrNameLst>
                                          </p:cBhvr>
                                          <p:to>
                                            <p:strVal val="visible"/>
                                          </p:to>
                                        </p:set>
                                        <p:animEffect transition="in" filter="fade">
                                          <p:cBhvr>
                                            <p:cTn id="45" dur="500"/>
                                            <p:tgtEl>
                                              <p:spTgt spid="33"/>
                                            </p:tgtEl>
                                          </p:cBhvr>
                                        </p:animEffect>
                                      </p:childTnLst>
                                    </p:cTn>
                                  </p:par>
                                  <p:par>
                                    <p:cTn id="46" presetID="23" presetClass="entr" presetSubtype="16" fill="hold" nodeType="withEffect">
                                      <p:stCondLst>
                                        <p:cond delay="1250"/>
                                      </p:stCondLst>
                                      <p:childTnLst>
                                        <p:set>
                                          <p:cBhvr>
                                            <p:cTn id="47" dur="1" fill="hold">
                                              <p:stCondLst>
                                                <p:cond delay="0"/>
                                              </p:stCondLst>
                                            </p:cTn>
                                            <p:tgtEl>
                                              <p:spTgt spid="35"/>
                                            </p:tgtEl>
                                            <p:attrNameLst>
                                              <p:attrName>style.visibility</p:attrName>
                                            </p:attrNameLst>
                                          </p:cBhvr>
                                          <p:to>
                                            <p:strVal val="visible"/>
                                          </p:to>
                                        </p:set>
                                        <p:anim calcmode="lin" valueType="num">
                                          <p:cBhvr>
                                            <p:cTn id="48" dur="200" fill="hold"/>
                                            <p:tgtEl>
                                              <p:spTgt spid="35"/>
                                            </p:tgtEl>
                                            <p:attrNameLst>
                                              <p:attrName>ppt_w</p:attrName>
                                            </p:attrNameLst>
                                          </p:cBhvr>
                                          <p:tavLst>
                                            <p:tav tm="0">
                                              <p:val>
                                                <p:fltVal val="0"/>
                                              </p:val>
                                            </p:tav>
                                            <p:tav tm="100000">
                                              <p:val>
                                                <p:strVal val="#ppt_w"/>
                                              </p:val>
                                            </p:tav>
                                          </p:tavLst>
                                        </p:anim>
                                        <p:anim calcmode="lin" valueType="num">
                                          <p:cBhvr>
                                            <p:cTn id="49" dur="200" fill="hold"/>
                                            <p:tgtEl>
                                              <p:spTgt spid="35"/>
                                            </p:tgtEl>
                                            <p:attrNameLst>
                                              <p:attrName>ppt_h</p:attrName>
                                            </p:attrNameLst>
                                          </p:cBhvr>
                                          <p:tavLst>
                                            <p:tav tm="0">
                                              <p:val>
                                                <p:fltVal val="0"/>
                                              </p:val>
                                            </p:tav>
                                            <p:tav tm="100000">
                                              <p:val>
                                                <p:strVal val="#ppt_h"/>
                                              </p:val>
                                            </p:tav>
                                          </p:tavLst>
                                        </p:anim>
                                      </p:childTnLst>
                                    </p:cTn>
                                  </p:par>
                                  <p:par>
                                    <p:cTn id="50" presetID="6" presetClass="emph" presetSubtype="0" fill="hold" nodeType="withEffect">
                                      <p:stCondLst>
                                        <p:cond delay="1250"/>
                                      </p:stCondLst>
                                      <p:childTnLst>
                                        <p:animScale>
                                          <p:cBhvr>
                                            <p:cTn id="51" dur="1000" fill="hold"/>
                                            <p:tgtEl>
                                              <p:spTgt spid="35"/>
                                            </p:tgtEl>
                                          </p:cBhvr>
                                          <p:by x="110000" y="110000"/>
                                        </p:animScale>
                                      </p:childTnLst>
                                    </p:cTn>
                                  </p:par>
                                  <p:par>
                                    <p:cTn id="52" presetID="6" presetClass="emph" presetSubtype="0" accel="50000" decel="50000" fill="hold" nodeType="withEffect">
                                      <p:stCondLst>
                                        <p:cond delay="1250"/>
                                      </p:stCondLst>
                                      <p:childTnLst>
                                        <p:animScale>
                                          <p:cBhvr>
                                            <p:cTn id="53" dur="250" fill="hold"/>
                                            <p:tgtEl>
                                              <p:spTgt spid="35"/>
                                            </p:tgtEl>
                                          </p:cBhvr>
                                          <p:by x="91000" y="91000"/>
                                        </p:animScale>
                                      </p:childTnLst>
                                    </p:cTn>
                                  </p:par>
                                  <p:par>
                                    <p:cTn id="54" presetID="23" presetClass="entr" presetSubtype="16" fill="hold" nodeType="withEffect">
                                      <p:stCondLst>
                                        <p:cond delay="1250"/>
                                      </p:stCondLst>
                                      <p:childTnLst>
                                        <p:set>
                                          <p:cBhvr>
                                            <p:cTn id="55" dur="1" fill="hold">
                                              <p:stCondLst>
                                                <p:cond delay="0"/>
                                              </p:stCondLst>
                                            </p:cTn>
                                            <p:tgtEl>
                                              <p:spTgt spid="30"/>
                                            </p:tgtEl>
                                            <p:attrNameLst>
                                              <p:attrName>style.visibility</p:attrName>
                                            </p:attrNameLst>
                                          </p:cBhvr>
                                          <p:to>
                                            <p:strVal val="visible"/>
                                          </p:to>
                                        </p:set>
                                        <p:anim calcmode="lin" valueType="num">
                                          <p:cBhvr>
                                            <p:cTn id="56" dur="200" fill="hold"/>
                                            <p:tgtEl>
                                              <p:spTgt spid="30"/>
                                            </p:tgtEl>
                                            <p:attrNameLst>
                                              <p:attrName>ppt_w</p:attrName>
                                            </p:attrNameLst>
                                          </p:cBhvr>
                                          <p:tavLst>
                                            <p:tav tm="0">
                                              <p:val>
                                                <p:fltVal val="0"/>
                                              </p:val>
                                            </p:tav>
                                            <p:tav tm="100000">
                                              <p:val>
                                                <p:strVal val="#ppt_w"/>
                                              </p:val>
                                            </p:tav>
                                          </p:tavLst>
                                        </p:anim>
                                        <p:anim calcmode="lin" valueType="num">
                                          <p:cBhvr>
                                            <p:cTn id="57" dur="200" fill="hold"/>
                                            <p:tgtEl>
                                              <p:spTgt spid="30"/>
                                            </p:tgtEl>
                                            <p:attrNameLst>
                                              <p:attrName>ppt_h</p:attrName>
                                            </p:attrNameLst>
                                          </p:cBhvr>
                                          <p:tavLst>
                                            <p:tav tm="0">
                                              <p:val>
                                                <p:fltVal val="0"/>
                                              </p:val>
                                            </p:tav>
                                            <p:tav tm="100000">
                                              <p:val>
                                                <p:strVal val="#ppt_h"/>
                                              </p:val>
                                            </p:tav>
                                          </p:tavLst>
                                        </p:anim>
                                      </p:childTnLst>
                                    </p:cTn>
                                  </p:par>
                                  <p:par>
                                    <p:cTn id="58" presetID="6" presetClass="emph" presetSubtype="0" fill="hold" nodeType="withEffect">
                                      <p:stCondLst>
                                        <p:cond delay="1250"/>
                                      </p:stCondLst>
                                      <p:childTnLst>
                                        <p:animScale>
                                          <p:cBhvr>
                                            <p:cTn id="59" dur="1000" fill="hold"/>
                                            <p:tgtEl>
                                              <p:spTgt spid="30"/>
                                            </p:tgtEl>
                                          </p:cBhvr>
                                          <p:by x="110000" y="110000"/>
                                        </p:animScale>
                                      </p:childTnLst>
                                    </p:cTn>
                                  </p:par>
                                  <p:par>
                                    <p:cTn id="60" presetID="6" presetClass="emph" presetSubtype="0" accel="50000" decel="50000" fill="hold" nodeType="withEffect">
                                      <p:stCondLst>
                                        <p:cond delay="1250"/>
                                      </p:stCondLst>
                                      <p:childTnLst>
                                        <p:animScale>
                                          <p:cBhvr>
                                            <p:cTn id="61" dur="250" fill="hold"/>
                                            <p:tgtEl>
                                              <p:spTgt spid="30"/>
                                            </p:tgtEl>
                                          </p:cBhvr>
                                          <p:by x="91000" y="91000"/>
                                        </p:animScale>
                                      </p:childTnLst>
                                    </p:cTn>
                                  </p:par>
                                  <p:par>
                                    <p:cTn id="62" presetID="23" presetClass="entr" presetSubtype="16" fill="hold" nodeType="withEffect">
                                      <p:stCondLst>
                                        <p:cond delay="1500"/>
                                      </p:stCondLst>
                                      <p:childTnLst>
                                        <p:set>
                                          <p:cBhvr>
                                            <p:cTn id="63" dur="1" fill="hold">
                                              <p:stCondLst>
                                                <p:cond delay="0"/>
                                              </p:stCondLst>
                                            </p:cTn>
                                            <p:tgtEl>
                                              <p:spTgt spid="32"/>
                                            </p:tgtEl>
                                            <p:attrNameLst>
                                              <p:attrName>style.visibility</p:attrName>
                                            </p:attrNameLst>
                                          </p:cBhvr>
                                          <p:to>
                                            <p:strVal val="visible"/>
                                          </p:to>
                                        </p:set>
                                        <p:anim calcmode="lin" valueType="num">
                                          <p:cBhvr>
                                            <p:cTn id="64" dur="200" fill="hold"/>
                                            <p:tgtEl>
                                              <p:spTgt spid="32"/>
                                            </p:tgtEl>
                                            <p:attrNameLst>
                                              <p:attrName>ppt_w</p:attrName>
                                            </p:attrNameLst>
                                          </p:cBhvr>
                                          <p:tavLst>
                                            <p:tav tm="0">
                                              <p:val>
                                                <p:fltVal val="0"/>
                                              </p:val>
                                            </p:tav>
                                            <p:tav tm="100000">
                                              <p:val>
                                                <p:strVal val="#ppt_w"/>
                                              </p:val>
                                            </p:tav>
                                          </p:tavLst>
                                        </p:anim>
                                        <p:anim calcmode="lin" valueType="num">
                                          <p:cBhvr>
                                            <p:cTn id="65" dur="200" fill="hold"/>
                                            <p:tgtEl>
                                              <p:spTgt spid="32"/>
                                            </p:tgtEl>
                                            <p:attrNameLst>
                                              <p:attrName>ppt_h</p:attrName>
                                            </p:attrNameLst>
                                          </p:cBhvr>
                                          <p:tavLst>
                                            <p:tav tm="0">
                                              <p:val>
                                                <p:fltVal val="0"/>
                                              </p:val>
                                            </p:tav>
                                            <p:tav tm="100000">
                                              <p:val>
                                                <p:strVal val="#ppt_h"/>
                                              </p:val>
                                            </p:tav>
                                          </p:tavLst>
                                        </p:anim>
                                      </p:childTnLst>
                                    </p:cTn>
                                  </p:par>
                                  <p:par>
                                    <p:cTn id="66" presetID="6" presetClass="emph" presetSubtype="0" fill="hold" nodeType="withEffect">
                                      <p:stCondLst>
                                        <p:cond delay="1500"/>
                                      </p:stCondLst>
                                      <p:childTnLst>
                                        <p:animScale>
                                          <p:cBhvr>
                                            <p:cTn id="67" dur="1000" fill="hold"/>
                                            <p:tgtEl>
                                              <p:spTgt spid="32"/>
                                            </p:tgtEl>
                                          </p:cBhvr>
                                          <p:by x="110000" y="110000"/>
                                        </p:animScale>
                                      </p:childTnLst>
                                    </p:cTn>
                                  </p:par>
                                  <p:par>
                                    <p:cTn id="68" presetID="6" presetClass="emph" presetSubtype="0" accel="50000" decel="50000" fill="hold" nodeType="withEffect">
                                      <p:stCondLst>
                                        <p:cond delay="1500"/>
                                      </p:stCondLst>
                                      <p:childTnLst>
                                        <p:animScale>
                                          <p:cBhvr>
                                            <p:cTn id="69" dur="250" fill="hold"/>
                                            <p:tgtEl>
                                              <p:spTgt spid="32"/>
                                            </p:tgtEl>
                                          </p:cBhvr>
                                          <p:by x="91000" y="91000"/>
                                        </p:animScale>
                                      </p:childTnLst>
                                    </p:cTn>
                                  </p:par>
                                  <p:par>
                                    <p:cTn id="70" presetID="23" presetClass="entr" presetSubtype="16" fill="hold" nodeType="withEffect">
                                      <p:stCondLst>
                                        <p:cond delay="1500"/>
                                      </p:stCondLst>
                                      <p:childTnLst>
                                        <p:set>
                                          <p:cBhvr>
                                            <p:cTn id="71" dur="1" fill="hold">
                                              <p:stCondLst>
                                                <p:cond delay="0"/>
                                              </p:stCondLst>
                                            </p:cTn>
                                            <p:tgtEl>
                                              <p:spTgt spid="31"/>
                                            </p:tgtEl>
                                            <p:attrNameLst>
                                              <p:attrName>style.visibility</p:attrName>
                                            </p:attrNameLst>
                                          </p:cBhvr>
                                          <p:to>
                                            <p:strVal val="visible"/>
                                          </p:to>
                                        </p:set>
                                        <p:anim calcmode="lin" valueType="num">
                                          <p:cBhvr>
                                            <p:cTn id="72" dur="200" fill="hold"/>
                                            <p:tgtEl>
                                              <p:spTgt spid="31"/>
                                            </p:tgtEl>
                                            <p:attrNameLst>
                                              <p:attrName>ppt_w</p:attrName>
                                            </p:attrNameLst>
                                          </p:cBhvr>
                                          <p:tavLst>
                                            <p:tav tm="0">
                                              <p:val>
                                                <p:fltVal val="0"/>
                                              </p:val>
                                            </p:tav>
                                            <p:tav tm="100000">
                                              <p:val>
                                                <p:strVal val="#ppt_w"/>
                                              </p:val>
                                            </p:tav>
                                          </p:tavLst>
                                        </p:anim>
                                        <p:anim calcmode="lin" valueType="num">
                                          <p:cBhvr>
                                            <p:cTn id="73" dur="200" fill="hold"/>
                                            <p:tgtEl>
                                              <p:spTgt spid="31"/>
                                            </p:tgtEl>
                                            <p:attrNameLst>
                                              <p:attrName>ppt_h</p:attrName>
                                            </p:attrNameLst>
                                          </p:cBhvr>
                                          <p:tavLst>
                                            <p:tav tm="0">
                                              <p:val>
                                                <p:fltVal val="0"/>
                                              </p:val>
                                            </p:tav>
                                            <p:tav tm="100000">
                                              <p:val>
                                                <p:strVal val="#ppt_h"/>
                                              </p:val>
                                            </p:tav>
                                          </p:tavLst>
                                        </p:anim>
                                      </p:childTnLst>
                                    </p:cTn>
                                  </p:par>
                                  <p:par>
                                    <p:cTn id="74" presetID="6" presetClass="emph" presetSubtype="0" fill="hold" nodeType="withEffect">
                                      <p:stCondLst>
                                        <p:cond delay="1500"/>
                                      </p:stCondLst>
                                      <p:childTnLst>
                                        <p:animScale>
                                          <p:cBhvr>
                                            <p:cTn id="75" dur="1000" fill="hold"/>
                                            <p:tgtEl>
                                              <p:spTgt spid="31"/>
                                            </p:tgtEl>
                                          </p:cBhvr>
                                          <p:by x="110000" y="110000"/>
                                        </p:animScale>
                                      </p:childTnLst>
                                    </p:cTn>
                                  </p:par>
                                  <p:par>
                                    <p:cTn id="76" presetID="6" presetClass="emph" presetSubtype="0" accel="50000" decel="50000" fill="hold" nodeType="withEffect">
                                      <p:stCondLst>
                                        <p:cond delay="1500"/>
                                      </p:stCondLst>
                                      <p:childTnLst>
                                        <p:animScale>
                                          <p:cBhvr>
                                            <p:cTn id="77" dur="250" fill="hold"/>
                                            <p:tgtEl>
                                              <p:spTgt spid="31"/>
                                            </p:tgtEl>
                                          </p:cBhvr>
                                          <p:by x="91000" y="91000"/>
                                        </p:animScale>
                                      </p:childTnLst>
                                    </p:cTn>
                                  </p:par>
                                  <p:par>
                                    <p:cTn id="78" presetID="23" presetClass="entr" presetSubtype="16" fill="hold" nodeType="withEffect">
                                      <p:stCondLst>
                                        <p:cond delay="1750"/>
                                      </p:stCondLst>
                                      <p:childTnLst>
                                        <p:set>
                                          <p:cBhvr>
                                            <p:cTn id="79" dur="1" fill="hold">
                                              <p:stCondLst>
                                                <p:cond delay="0"/>
                                              </p:stCondLst>
                                            </p:cTn>
                                            <p:tgtEl>
                                              <p:spTgt spid="34"/>
                                            </p:tgtEl>
                                            <p:attrNameLst>
                                              <p:attrName>style.visibility</p:attrName>
                                            </p:attrNameLst>
                                          </p:cBhvr>
                                          <p:to>
                                            <p:strVal val="visible"/>
                                          </p:to>
                                        </p:set>
                                        <p:anim calcmode="lin" valueType="num">
                                          <p:cBhvr>
                                            <p:cTn id="80" dur="200" fill="hold"/>
                                            <p:tgtEl>
                                              <p:spTgt spid="34"/>
                                            </p:tgtEl>
                                            <p:attrNameLst>
                                              <p:attrName>ppt_w</p:attrName>
                                            </p:attrNameLst>
                                          </p:cBhvr>
                                          <p:tavLst>
                                            <p:tav tm="0">
                                              <p:val>
                                                <p:fltVal val="0"/>
                                              </p:val>
                                            </p:tav>
                                            <p:tav tm="100000">
                                              <p:val>
                                                <p:strVal val="#ppt_w"/>
                                              </p:val>
                                            </p:tav>
                                          </p:tavLst>
                                        </p:anim>
                                        <p:anim calcmode="lin" valueType="num">
                                          <p:cBhvr>
                                            <p:cTn id="81" dur="200" fill="hold"/>
                                            <p:tgtEl>
                                              <p:spTgt spid="34"/>
                                            </p:tgtEl>
                                            <p:attrNameLst>
                                              <p:attrName>ppt_h</p:attrName>
                                            </p:attrNameLst>
                                          </p:cBhvr>
                                          <p:tavLst>
                                            <p:tav tm="0">
                                              <p:val>
                                                <p:fltVal val="0"/>
                                              </p:val>
                                            </p:tav>
                                            <p:tav tm="100000">
                                              <p:val>
                                                <p:strVal val="#ppt_h"/>
                                              </p:val>
                                            </p:tav>
                                          </p:tavLst>
                                        </p:anim>
                                      </p:childTnLst>
                                    </p:cTn>
                                  </p:par>
                                  <p:par>
                                    <p:cTn id="82" presetID="6" presetClass="emph" presetSubtype="0" fill="hold" nodeType="withEffect">
                                      <p:stCondLst>
                                        <p:cond delay="1750"/>
                                      </p:stCondLst>
                                      <p:childTnLst>
                                        <p:animScale>
                                          <p:cBhvr>
                                            <p:cTn id="83" dur="1000" fill="hold"/>
                                            <p:tgtEl>
                                              <p:spTgt spid="34"/>
                                            </p:tgtEl>
                                          </p:cBhvr>
                                          <p:by x="110000" y="110000"/>
                                        </p:animScale>
                                      </p:childTnLst>
                                    </p:cTn>
                                  </p:par>
                                  <p:par>
                                    <p:cTn id="84" presetID="6" presetClass="emph" presetSubtype="0" accel="50000" decel="50000" fill="hold" nodeType="withEffect">
                                      <p:stCondLst>
                                        <p:cond delay="1750"/>
                                      </p:stCondLst>
                                      <p:childTnLst>
                                        <p:animScale>
                                          <p:cBhvr>
                                            <p:cTn id="85" dur="250" fill="hold"/>
                                            <p:tgtEl>
                                              <p:spTgt spid="34"/>
                                            </p:tgtEl>
                                          </p:cBhvr>
                                          <p:by x="91000" y="91000"/>
                                        </p:animScale>
                                      </p:childTnLst>
                                    </p:cTn>
                                  </p:par>
                                  <p:par>
                                    <p:cTn id="86" presetID="23" presetClass="entr" presetSubtype="16" fill="hold" nodeType="withEffect">
                                      <p:stCondLst>
                                        <p:cond delay="1750"/>
                                      </p:stCondLst>
                                      <p:childTnLst>
                                        <p:set>
                                          <p:cBhvr>
                                            <p:cTn id="87" dur="1" fill="hold">
                                              <p:stCondLst>
                                                <p:cond delay="0"/>
                                              </p:stCondLst>
                                            </p:cTn>
                                            <p:tgtEl>
                                              <p:spTgt spid="28"/>
                                            </p:tgtEl>
                                            <p:attrNameLst>
                                              <p:attrName>style.visibility</p:attrName>
                                            </p:attrNameLst>
                                          </p:cBhvr>
                                          <p:to>
                                            <p:strVal val="visible"/>
                                          </p:to>
                                        </p:set>
                                        <p:anim calcmode="lin" valueType="num">
                                          <p:cBhvr>
                                            <p:cTn id="88" dur="200" fill="hold"/>
                                            <p:tgtEl>
                                              <p:spTgt spid="28"/>
                                            </p:tgtEl>
                                            <p:attrNameLst>
                                              <p:attrName>ppt_w</p:attrName>
                                            </p:attrNameLst>
                                          </p:cBhvr>
                                          <p:tavLst>
                                            <p:tav tm="0">
                                              <p:val>
                                                <p:fltVal val="0"/>
                                              </p:val>
                                            </p:tav>
                                            <p:tav tm="100000">
                                              <p:val>
                                                <p:strVal val="#ppt_w"/>
                                              </p:val>
                                            </p:tav>
                                          </p:tavLst>
                                        </p:anim>
                                        <p:anim calcmode="lin" valueType="num">
                                          <p:cBhvr>
                                            <p:cTn id="89" dur="200" fill="hold"/>
                                            <p:tgtEl>
                                              <p:spTgt spid="28"/>
                                            </p:tgtEl>
                                            <p:attrNameLst>
                                              <p:attrName>ppt_h</p:attrName>
                                            </p:attrNameLst>
                                          </p:cBhvr>
                                          <p:tavLst>
                                            <p:tav tm="0">
                                              <p:val>
                                                <p:fltVal val="0"/>
                                              </p:val>
                                            </p:tav>
                                            <p:tav tm="100000">
                                              <p:val>
                                                <p:strVal val="#ppt_h"/>
                                              </p:val>
                                            </p:tav>
                                          </p:tavLst>
                                        </p:anim>
                                      </p:childTnLst>
                                    </p:cTn>
                                  </p:par>
                                  <p:par>
                                    <p:cTn id="90" presetID="6" presetClass="emph" presetSubtype="0" fill="hold" nodeType="withEffect">
                                      <p:stCondLst>
                                        <p:cond delay="1750"/>
                                      </p:stCondLst>
                                      <p:childTnLst>
                                        <p:animScale>
                                          <p:cBhvr>
                                            <p:cTn id="91" dur="1000" fill="hold"/>
                                            <p:tgtEl>
                                              <p:spTgt spid="28"/>
                                            </p:tgtEl>
                                          </p:cBhvr>
                                          <p:by x="110000" y="110000"/>
                                        </p:animScale>
                                      </p:childTnLst>
                                    </p:cTn>
                                  </p:par>
                                  <p:par>
                                    <p:cTn id="92" presetID="6" presetClass="emph" presetSubtype="0" accel="50000" decel="50000" fill="hold" nodeType="withEffect">
                                      <p:stCondLst>
                                        <p:cond delay="1750"/>
                                      </p:stCondLst>
                                      <p:childTnLst>
                                        <p:animScale>
                                          <p:cBhvr>
                                            <p:cTn id="93" dur="250" fill="hold"/>
                                            <p:tgtEl>
                                              <p:spTgt spid="28"/>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27" grpId="0"/>
          <p:bldP spid="27" grpId="1"/>
          <p:bldP spid="33" grpId="0"/>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B194DFA-D81F-45C6-98D0-615747557E57}"/>
              </a:ext>
            </a:extLst>
          </p:cNvPr>
          <p:cNvSpPr/>
          <p:nvPr/>
        </p:nvSpPr>
        <p:spPr>
          <a:xfrm>
            <a:off x="0" y="3806240"/>
            <a:ext cx="12192000" cy="30517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Shape, circle&#10;&#10;Description automatically generated">
            <a:extLst>
              <a:ext uri="{FF2B5EF4-FFF2-40B4-BE49-F238E27FC236}">
                <a16:creationId xmlns:a16="http://schemas.microsoft.com/office/drawing/2014/main" id="{901A647B-49D3-416C-8A1B-A1F8DA6053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0520" y="283"/>
            <a:ext cx="5711480" cy="6857433"/>
          </a:xfrm>
          <a:prstGeom prst="rect">
            <a:avLst/>
          </a:prstGeom>
        </p:spPr>
      </p:pic>
      <p:pic>
        <p:nvPicPr>
          <p:cNvPr id="15" name="Picture 14" descr="A person with his hands on his face&#10;&#10;Description automatically generated with medium confidence">
            <a:extLst>
              <a:ext uri="{FF2B5EF4-FFF2-40B4-BE49-F238E27FC236}">
                <a16:creationId xmlns:a16="http://schemas.microsoft.com/office/drawing/2014/main" id="{5FC50554-8140-452D-B4CF-15FCAE5769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6616" y="567"/>
            <a:ext cx="9771080" cy="6857433"/>
          </a:xfrm>
          <a:prstGeom prst="rect">
            <a:avLst/>
          </a:prstGeom>
        </p:spPr>
      </p:pic>
      <p:sp>
        <p:nvSpPr>
          <p:cNvPr id="40" name="TextBox 39">
            <a:extLst>
              <a:ext uri="{FF2B5EF4-FFF2-40B4-BE49-F238E27FC236}">
                <a16:creationId xmlns:a16="http://schemas.microsoft.com/office/drawing/2014/main" id="{ECDE9CE6-BFDA-4CD5-949E-81DBF85B2D35}"/>
              </a:ext>
            </a:extLst>
          </p:cNvPr>
          <p:cNvSpPr txBox="1"/>
          <p:nvPr/>
        </p:nvSpPr>
        <p:spPr>
          <a:xfrm>
            <a:off x="602530" y="669542"/>
            <a:ext cx="3804370" cy="877163"/>
          </a:xfrm>
          <a:prstGeom prst="rect">
            <a:avLst/>
          </a:prstGeom>
          <a:noFill/>
        </p:spPr>
        <p:txBody>
          <a:bodyPr wrap="square" rtlCol="0">
            <a:spAutoFit/>
          </a:bodyPr>
          <a:lstStyle/>
          <a:p>
            <a:pPr lvl="0">
              <a:lnSpc>
                <a:spcPct val="85000"/>
              </a:lnSpc>
              <a:defRPr/>
            </a:pPr>
            <a:r>
              <a:rPr lang="pt-PT" sz="6000" b="1" spc="300" dirty="0">
                <a:solidFill>
                  <a:srgbClr val="022A79"/>
                </a:solidFill>
                <a:latin typeface="Trebuchet MS" panose="020B0603020202020204" pitchFamily="34" charset="0"/>
                <a:ea typeface="Verdana" panose="020B0604030504040204" pitchFamily="34" charset="0"/>
                <a:cs typeface="Zilla Slab Light"/>
                <a:sym typeface="Zilla Slab Light"/>
              </a:rPr>
              <a:t>MIGRAÑA</a:t>
            </a:r>
            <a:endParaRPr kumimoji="0" lang="en-US" sz="6000" b="1" i="0" u="none" strike="noStrike" kern="1200" cap="none" spc="300" normalizeH="0" baseline="0" noProof="0" dirty="0">
              <a:ln>
                <a:noFill/>
              </a:ln>
              <a:solidFill>
                <a:srgbClr val="022A79"/>
              </a:solidFill>
              <a:uLnTx/>
              <a:uFillTx/>
              <a:latin typeface="Trebuchet MS" panose="020B0603020202020204" pitchFamily="34" charset="0"/>
              <a:ea typeface="Verdana" panose="020B0604030504040204" pitchFamily="34" charset="0"/>
              <a:cs typeface="Zilla Slab Light"/>
              <a:sym typeface="Zilla Slab Light"/>
            </a:endParaRPr>
          </a:p>
        </p:txBody>
      </p:sp>
      <p:pic>
        <p:nvPicPr>
          <p:cNvPr id="7" name="Picture 6">
            <a:extLst>
              <a:ext uri="{FF2B5EF4-FFF2-40B4-BE49-F238E27FC236}">
                <a16:creationId xmlns:a16="http://schemas.microsoft.com/office/drawing/2014/main" id="{B5FAC935-48F2-4A4F-B002-56894E95542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486616" y="2676490"/>
            <a:ext cx="5705384" cy="4181510"/>
          </a:xfrm>
          <a:prstGeom prst="rect">
            <a:avLst/>
          </a:prstGeom>
        </p:spPr>
      </p:pic>
      <p:sp>
        <p:nvSpPr>
          <p:cNvPr id="53" name="Rectangle: Rounded Corners 52">
            <a:extLst>
              <a:ext uri="{FF2B5EF4-FFF2-40B4-BE49-F238E27FC236}">
                <a16:creationId xmlns:a16="http://schemas.microsoft.com/office/drawing/2014/main" id="{56439166-AED3-45B1-8B08-E148F4DF7E83}"/>
              </a:ext>
            </a:extLst>
          </p:cNvPr>
          <p:cNvSpPr/>
          <p:nvPr/>
        </p:nvSpPr>
        <p:spPr>
          <a:xfrm>
            <a:off x="668430" y="2266295"/>
            <a:ext cx="3404325" cy="3645291"/>
          </a:xfrm>
          <a:prstGeom prst="roundRect">
            <a:avLst>
              <a:gd name="adj" fmla="val 3782"/>
            </a:avLst>
          </a:prstGeom>
          <a:solidFill>
            <a:schemeClr val="bg1"/>
          </a:solidFill>
          <a:ln>
            <a:noFill/>
          </a:ln>
          <a:effectLst>
            <a:outerShdw blurRad="5969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Rounded Corners 53">
            <a:extLst>
              <a:ext uri="{FF2B5EF4-FFF2-40B4-BE49-F238E27FC236}">
                <a16:creationId xmlns:a16="http://schemas.microsoft.com/office/drawing/2014/main" id="{7CF42BAC-CD38-40BF-880D-DB6D94A63B8A}"/>
              </a:ext>
            </a:extLst>
          </p:cNvPr>
          <p:cNvSpPr/>
          <p:nvPr/>
        </p:nvSpPr>
        <p:spPr>
          <a:xfrm>
            <a:off x="4393475" y="2266295"/>
            <a:ext cx="3404325" cy="3645291"/>
          </a:xfrm>
          <a:prstGeom prst="roundRect">
            <a:avLst>
              <a:gd name="adj" fmla="val 3782"/>
            </a:avLst>
          </a:prstGeom>
          <a:solidFill>
            <a:schemeClr val="bg1"/>
          </a:solidFill>
          <a:ln>
            <a:noFill/>
          </a:ln>
          <a:effectLst>
            <a:outerShdw blurRad="5969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9831A04E-D2CE-4F5B-9042-C971B5D96E85}"/>
              </a:ext>
            </a:extLst>
          </p:cNvPr>
          <p:cNvGrpSpPr/>
          <p:nvPr/>
        </p:nvGrpSpPr>
        <p:grpSpPr>
          <a:xfrm>
            <a:off x="928948" y="3118851"/>
            <a:ext cx="2883288" cy="1754332"/>
            <a:chOff x="1161938" y="3013926"/>
            <a:chExt cx="2883288" cy="1754332"/>
          </a:xfrm>
        </p:grpSpPr>
        <p:sp>
          <p:nvSpPr>
            <p:cNvPr id="35" name="TextBox 34">
              <a:extLst>
                <a:ext uri="{FF2B5EF4-FFF2-40B4-BE49-F238E27FC236}">
                  <a16:creationId xmlns:a16="http://schemas.microsoft.com/office/drawing/2014/main" id="{DB9A0BDF-2020-4DD3-9550-1866C9D33ED4}"/>
                </a:ext>
              </a:extLst>
            </p:cNvPr>
            <p:cNvSpPr txBox="1"/>
            <p:nvPr/>
          </p:nvSpPr>
          <p:spPr>
            <a:xfrm>
              <a:off x="1161938" y="3013926"/>
              <a:ext cx="2883288" cy="1269578"/>
            </a:xfrm>
            <a:prstGeom prst="rect">
              <a:avLst/>
            </a:prstGeom>
            <a:noFill/>
          </p:spPr>
          <p:txBody>
            <a:bodyPr wrap="square" rtlCol="0">
              <a:spAutoFit/>
            </a:bodyPr>
            <a:lstStyle/>
            <a:p>
              <a:pPr lvl="0">
                <a:lnSpc>
                  <a:spcPct val="85000"/>
                </a:lnSpc>
                <a:defRPr/>
              </a:pPr>
              <a:r>
                <a:rPr lang="es-ES" dirty="0">
                  <a:latin typeface="Trebuchet MS" panose="020B0603020202020204" pitchFamily="34" charset="0"/>
                  <a:ea typeface="Verdana" panose="020B0604030504040204" pitchFamily="34" charset="0"/>
                  <a:cs typeface="Zilla Slab Light"/>
                  <a:sym typeface="Zilla Slab Light"/>
                </a:rPr>
                <a:t>La migraña es un tipo </a:t>
              </a:r>
              <a:br>
                <a:rPr lang="es-ES" dirty="0">
                  <a:latin typeface="Trebuchet MS" panose="020B0603020202020204" pitchFamily="34" charset="0"/>
                  <a:ea typeface="Verdana" panose="020B0604030504040204" pitchFamily="34" charset="0"/>
                  <a:cs typeface="Zilla Slab Light"/>
                  <a:sym typeface="Zilla Slab Light"/>
                </a:rPr>
              </a:br>
              <a:r>
                <a:rPr lang="es-ES" dirty="0">
                  <a:latin typeface="Trebuchet MS" panose="020B0603020202020204" pitchFamily="34" charset="0"/>
                  <a:ea typeface="Verdana" panose="020B0604030504040204" pitchFamily="34" charset="0"/>
                  <a:cs typeface="Zilla Slab Light"/>
                  <a:sym typeface="Zilla Slab Light"/>
                </a:rPr>
                <a:t>de cefalea idiopática, benigna, recurrente, que se manifiesta con ataques que suelen durar entre</a:t>
              </a:r>
            </a:p>
          </p:txBody>
        </p:sp>
        <p:sp>
          <p:nvSpPr>
            <p:cNvPr id="47" name="TextBox 46">
              <a:extLst>
                <a:ext uri="{FF2B5EF4-FFF2-40B4-BE49-F238E27FC236}">
                  <a16:creationId xmlns:a16="http://schemas.microsoft.com/office/drawing/2014/main" id="{6F41B4C5-21BC-467A-922D-CBAA3402539F}"/>
                </a:ext>
              </a:extLst>
            </p:cNvPr>
            <p:cNvSpPr txBox="1"/>
            <p:nvPr/>
          </p:nvSpPr>
          <p:spPr>
            <a:xfrm>
              <a:off x="1161938" y="4335832"/>
              <a:ext cx="2696709" cy="432426"/>
            </a:xfrm>
            <a:prstGeom prst="rect">
              <a:avLst/>
            </a:prstGeom>
            <a:noFill/>
          </p:spPr>
          <p:txBody>
            <a:bodyPr wrap="square" rtlCol="0">
              <a:spAutoFit/>
            </a:bodyPr>
            <a:lstStyle/>
            <a:p>
              <a:pPr lvl="0">
                <a:lnSpc>
                  <a:spcPct val="85000"/>
                </a:lnSpc>
                <a:defRPr/>
              </a:pPr>
              <a:r>
                <a:rPr lang="es-ES" sz="2600" b="1" dirty="0">
                  <a:latin typeface="Trebuchet MS" panose="020B0603020202020204" pitchFamily="34" charset="0"/>
                  <a:ea typeface="Verdana" panose="020B0604030504040204" pitchFamily="34" charset="0"/>
                  <a:cs typeface="Zilla Slab Light"/>
                  <a:sym typeface="Zilla Slab Light"/>
                </a:rPr>
                <a:t>4 Y 72 HORAS.</a:t>
              </a:r>
            </a:p>
          </p:txBody>
        </p:sp>
      </p:grpSp>
      <p:grpSp>
        <p:nvGrpSpPr>
          <p:cNvPr id="48" name="Group 47">
            <a:extLst>
              <a:ext uri="{FF2B5EF4-FFF2-40B4-BE49-F238E27FC236}">
                <a16:creationId xmlns:a16="http://schemas.microsoft.com/office/drawing/2014/main" id="{D07169C9-DF57-418E-8DEE-544EF5EEC72D}"/>
              </a:ext>
            </a:extLst>
          </p:cNvPr>
          <p:cNvGrpSpPr/>
          <p:nvPr/>
        </p:nvGrpSpPr>
        <p:grpSpPr>
          <a:xfrm>
            <a:off x="4653992" y="3118851"/>
            <a:ext cx="2883289" cy="2448647"/>
            <a:chOff x="1161937" y="3013926"/>
            <a:chExt cx="2883289" cy="2448647"/>
          </a:xfrm>
        </p:grpSpPr>
        <p:sp>
          <p:nvSpPr>
            <p:cNvPr id="56" name="TextBox 55">
              <a:extLst>
                <a:ext uri="{FF2B5EF4-FFF2-40B4-BE49-F238E27FC236}">
                  <a16:creationId xmlns:a16="http://schemas.microsoft.com/office/drawing/2014/main" id="{6A4E66A7-BBB7-4087-8F42-6D98344D39A6}"/>
                </a:ext>
              </a:extLst>
            </p:cNvPr>
            <p:cNvSpPr txBox="1"/>
            <p:nvPr/>
          </p:nvSpPr>
          <p:spPr>
            <a:xfrm>
              <a:off x="1161937" y="3013926"/>
              <a:ext cx="2007887" cy="327782"/>
            </a:xfrm>
            <a:prstGeom prst="rect">
              <a:avLst/>
            </a:prstGeom>
            <a:noFill/>
          </p:spPr>
          <p:txBody>
            <a:bodyPr wrap="square" rtlCol="0">
              <a:spAutoFit/>
            </a:bodyPr>
            <a:lstStyle/>
            <a:p>
              <a:pPr lvl="0">
                <a:lnSpc>
                  <a:spcPct val="85000"/>
                </a:lnSpc>
                <a:defRPr/>
              </a:pPr>
              <a:r>
                <a:rPr lang="es-ES" dirty="0">
                  <a:latin typeface="Trebuchet MS" panose="020B0603020202020204" pitchFamily="34" charset="0"/>
                  <a:ea typeface="Verdana" panose="020B0604030504040204" pitchFamily="34" charset="0"/>
                  <a:cs typeface="Zilla Slab Light"/>
                  <a:sym typeface="Zilla Slab Light"/>
                </a:rPr>
                <a:t>La migraña es un</a:t>
              </a:r>
            </a:p>
          </p:txBody>
        </p:sp>
        <p:sp>
          <p:nvSpPr>
            <p:cNvPr id="57" name="TextBox 56">
              <a:extLst>
                <a:ext uri="{FF2B5EF4-FFF2-40B4-BE49-F238E27FC236}">
                  <a16:creationId xmlns:a16="http://schemas.microsoft.com/office/drawing/2014/main" id="{1CC3B2D8-29B0-4947-94CB-31A7AD9F5E2C}"/>
                </a:ext>
              </a:extLst>
            </p:cNvPr>
            <p:cNvSpPr txBox="1"/>
            <p:nvPr/>
          </p:nvSpPr>
          <p:spPr>
            <a:xfrm>
              <a:off x="1161938" y="3341919"/>
              <a:ext cx="2809742" cy="1348061"/>
            </a:xfrm>
            <a:prstGeom prst="rect">
              <a:avLst/>
            </a:prstGeom>
            <a:noFill/>
          </p:spPr>
          <p:txBody>
            <a:bodyPr wrap="square" rtlCol="0">
              <a:spAutoFit/>
            </a:bodyPr>
            <a:lstStyle/>
            <a:p>
              <a:pPr lvl="0">
                <a:lnSpc>
                  <a:spcPct val="85000"/>
                </a:lnSpc>
                <a:defRPr/>
              </a:pPr>
              <a:r>
                <a:rPr lang="es-ES" sz="2400" b="1" dirty="0">
                  <a:latin typeface="Trebuchet MS" panose="020B0603020202020204" pitchFamily="34" charset="0"/>
                  <a:ea typeface="Verdana" panose="020B0604030504040204" pitchFamily="34" charset="0"/>
                  <a:cs typeface="Zilla Slab Light"/>
                  <a:sym typeface="Zilla Slab Light"/>
                </a:rPr>
                <a:t>TRASTORNO </a:t>
              </a:r>
              <a:br>
                <a:rPr lang="es-ES" sz="2400" b="1" dirty="0">
                  <a:latin typeface="Trebuchet MS" panose="020B0603020202020204" pitchFamily="34" charset="0"/>
                  <a:ea typeface="Verdana" panose="020B0604030504040204" pitchFamily="34" charset="0"/>
                  <a:cs typeface="Zilla Slab Light"/>
                  <a:sym typeface="Zilla Slab Light"/>
                </a:rPr>
              </a:br>
              <a:r>
                <a:rPr lang="es-ES" sz="2400" b="1" dirty="0">
                  <a:latin typeface="Trebuchet MS" panose="020B0603020202020204" pitchFamily="34" charset="0"/>
                  <a:ea typeface="Verdana" panose="020B0604030504040204" pitchFamily="34" charset="0"/>
                  <a:cs typeface="Zilla Slab Light"/>
                  <a:sym typeface="Zilla Slab Light"/>
                </a:rPr>
                <a:t>DE CEFALEA NEUROVASCULAR COMÚN,</a:t>
              </a:r>
            </a:p>
          </p:txBody>
        </p:sp>
        <p:sp>
          <p:nvSpPr>
            <p:cNvPr id="58" name="TextBox 57">
              <a:extLst>
                <a:ext uri="{FF2B5EF4-FFF2-40B4-BE49-F238E27FC236}">
                  <a16:creationId xmlns:a16="http://schemas.microsoft.com/office/drawing/2014/main" id="{B9125585-D19F-4057-B2CE-EA4A9262D721}"/>
                </a:ext>
              </a:extLst>
            </p:cNvPr>
            <p:cNvSpPr txBox="1"/>
            <p:nvPr/>
          </p:nvSpPr>
          <p:spPr>
            <a:xfrm>
              <a:off x="1161938" y="4663893"/>
              <a:ext cx="2883288" cy="798680"/>
            </a:xfrm>
            <a:prstGeom prst="rect">
              <a:avLst/>
            </a:prstGeom>
            <a:noFill/>
          </p:spPr>
          <p:txBody>
            <a:bodyPr wrap="square" rtlCol="0">
              <a:spAutoFit/>
            </a:bodyPr>
            <a:lstStyle/>
            <a:p>
              <a:pPr lvl="0">
                <a:lnSpc>
                  <a:spcPct val="85000"/>
                </a:lnSpc>
                <a:defRPr/>
              </a:pPr>
              <a:r>
                <a:rPr lang="es-ES" dirty="0">
                  <a:latin typeface="Trebuchet MS" panose="020B0603020202020204" pitchFamily="34" charset="0"/>
                  <a:ea typeface="Verdana" panose="020B0604030504040204" pitchFamily="34" charset="0"/>
                  <a:cs typeface="Zilla Slab Light"/>
                  <a:sym typeface="Zilla Slab Light"/>
                </a:rPr>
                <a:t>multifactorial, incapacitante, recurrente y hereditario. </a:t>
              </a:r>
            </a:p>
          </p:txBody>
        </p:sp>
      </p:grpSp>
      <p:grpSp>
        <p:nvGrpSpPr>
          <p:cNvPr id="3" name="Group 2">
            <a:extLst>
              <a:ext uri="{FF2B5EF4-FFF2-40B4-BE49-F238E27FC236}">
                <a16:creationId xmlns:a16="http://schemas.microsoft.com/office/drawing/2014/main" id="{58516547-A627-46C5-9CEB-6F41F0141BCE}"/>
              </a:ext>
            </a:extLst>
          </p:cNvPr>
          <p:cNvGrpSpPr/>
          <p:nvPr/>
        </p:nvGrpSpPr>
        <p:grpSpPr>
          <a:xfrm>
            <a:off x="6690615" y="532102"/>
            <a:ext cx="2722738" cy="1383360"/>
            <a:chOff x="6690615" y="532102"/>
            <a:chExt cx="2722738" cy="1383360"/>
          </a:xfrm>
        </p:grpSpPr>
        <p:grpSp>
          <p:nvGrpSpPr>
            <p:cNvPr id="60" name="Group 59">
              <a:extLst>
                <a:ext uri="{FF2B5EF4-FFF2-40B4-BE49-F238E27FC236}">
                  <a16:creationId xmlns:a16="http://schemas.microsoft.com/office/drawing/2014/main" id="{09554BD1-73B7-4ED1-9871-8E3A0D4161B2}"/>
                </a:ext>
              </a:extLst>
            </p:cNvPr>
            <p:cNvGrpSpPr/>
            <p:nvPr/>
          </p:nvGrpSpPr>
          <p:grpSpPr>
            <a:xfrm>
              <a:off x="6690615" y="532102"/>
              <a:ext cx="2722738" cy="1383360"/>
              <a:chOff x="129124" y="4938032"/>
              <a:chExt cx="2114368" cy="1074262"/>
            </a:xfrm>
            <a:solidFill>
              <a:srgbClr val="F13045"/>
            </a:solidFill>
          </p:grpSpPr>
          <p:sp>
            <p:nvSpPr>
              <p:cNvPr id="61" name="Rectangle: Rounded Corners 60">
                <a:extLst>
                  <a:ext uri="{FF2B5EF4-FFF2-40B4-BE49-F238E27FC236}">
                    <a16:creationId xmlns:a16="http://schemas.microsoft.com/office/drawing/2014/main" id="{82D1B872-3E23-4BDC-86AC-7040045F1F3A}"/>
                  </a:ext>
                </a:extLst>
              </p:cNvPr>
              <p:cNvSpPr/>
              <p:nvPr/>
            </p:nvSpPr>
            <p:spPr>
              <a:xfrm>
                <a:off x="129124" y="4938032"/>
                <a:ext cx="2114368" cy="969487"/>
              </a:xfrm>
              <a:prstGeom prst="roundRect">
                <a:avLst>
                  <a:gd name="adj" fmla="val 152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6" name="Graphic 65">
                <a:extLst>
                  <a:ext uri="{FF2B5EF4-FFF2-40B4-BE49-F238E27FC236}">
                    <a16:creationId xmlns:a16="http://schemas.microsoft.com/office/drawing/2014/main" id="{28F0783A-42FA-4214-A7FE-C251571C22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57742" y="5574144"/>
                <a:ext cx="285750" cy="438150"/>
              </a:xfrm>
              <a:prstGeom prst="rect">
                <a:avLst/>
              </a:prstGeom>
            </p:spPr>
          </p:pic>
        </p:grpSp>
        <p:sp>
          <p:nvSpPr>
            <p:cNvPr id="76" name="TextBox 75">
              <a:extLst>
                <a:ext uri="{FF2B5EF4-FFF2-40B4-BE49-F238E27FC236}">
                  <a16:creationId xmlns:a16="http://schemas.microsoft.com/office/drawing/2014/main" id="{0D784B19-5406-4D19-B3F5-611D8396A9FE}"/>
                </a:ext>
              </a:extLst>
            </p:cNvPr>
            <p:cNvSpPr txBox="1"/>
            <p:nvPr/>
          </p:nvSpPr>
          <p:spPr>
            <a:xfrm>
              <a:off x="6893815" y="754871"/>
              <a:ext cx="2354769" cy="877163"/>
            </a:xfrm>
            <a:prstGeom prst="rect">
              <a:avLst/>
            </a:prstGeom>
            <a:noFill/>
          </p:spPr>
          <p:txBody>
            <a:bodyPr wrap="square" rtlCol="0">
              <a:spAutoFit/>
            </a:bodyPr>
            <a:lstStyle/>
            <a:p>
              <a:pPr lvl="0">
                <a:lnSpc>
                  <a:spcPct val="85000"/>
                </a:lnSpc>
                <a:defRPr/>
              </a:pPr>
              <a:r>
                <a:rPr lang="es-ES" sz="2000" b="1" dirty="0">
                  <a:solidFill>
                    <a:schemeClr val="bg1"/>
                  </a:solidFill>
                  <a:latin typeface="Trebuchet MS" panose="020B0603020202020204" pitchFamily="34" charset="0"/>
                  <a:ea typeface="Verdana" panose="020B0604030504040204" pitchFamily="34" charset="0"/>
                  <a:cs typeface="Zilla Slab Light"/>
                  <a:sym typeface="Zilla Slab Light"/>
                </a:rPr>
                <a:t>DOLOR INTENSO, PULSÁTIL, PALPITANTE</a:t>
              </a:r>
            </a:p>
          </p:txBody>
        </p:sp>
      </p:grpSp>
      <p:grpSp>
        <p:nvGrpSpPr>
          <p:cNvPr id="4" name="Group 3">
            <a:extLst>
              <a:ext uri="{FF2B5EF4-FFF2-40B4-BE49-F238E27FC236}">
                <a16:creationId xmlns:a16="http://schemas.microsoft.com/office/drawing/2014/main" id="{124BF3C8-14CA-483E-865D-D29F628B5834}"/>
              </a:ext>
            </a:extLst>
          </p:cNvPr>
          <p:cNvGrpSpPr/>
          <p:nvPr/>
        </p:nvGrpSpPr>
        <p:grpSpPr>
          <a:xfrm>
            <a:off x="7627115" y="3949503"/>
            <a:ext cx="2158812" cy="1005781"/>
            <a:chOff x="7759967" y="4338740"/>
            <a:chExt cx="2158812" cy="1005781"/>
          </a:xfrm>
        </p:grpSpPr>
        <p:grpSp>
          <p:nvGrpSpPr>
            <p:cNvPr id="73" name="Group 72">
              <a:extLst>
                <a:ext uri="{FF2B5EF4-FFF2-40B4-BE49-F238E27FC236}">
                  <a16:creationId xmlns:a16="http://schemas.microsoft.com/office/drawing/2014/main" id="{F1FA7399-DA01-473E-948D-0179CFE15A2C}"/>
                </a:ext>
              </a:extLst>
            </p:cNvPr>
            <p:cNvGrpSpPr/>
            <p:nvPr/>
          </p:nvGrpSpPr>
          <p:grpSpPr>
            <a:xfrm flipV="1">
              <a:off x="7759967" y="4338740"/>
              <a:ext cx="2158812" cy="1005781"/>
              <a:chOff x="739782" y="5311722"/>
              <a:chExt cx="1503710" cy="700572"/>
            </a:xfrm>
            <a:solidFill>
              <a:srgbClr val="004882"/>
            </a:solidFill>
          </p:grpSpPr>
          <p:sp>
            <p:nvSpPr>
              <p:cNvPr id="74" name="Rectangle: Rounded Corners 73">
                <a:extLst>
                  <a:ext uri="{FF2B5EF4-FFF2-40B4-BE49-F238E27FC236}">
                    <a16:creationId xmlns:a16="http://schemas.microsoft.com/office/drawing/2014/main" id="{9D4D4318-F884-4ECB-A65D-64C5907946AA}"/>
                  </a:ext>
                </a:extLst>
              </p:cNvPr>
              <p:cNvSpPr/>
              <p:nvPr/>
            </p:nvSpPr>
            <p:spPr>
              <a:xfrm>
                <a:off x="739782" y="5311722"/>
                <a:ext cx="1503710" cy="595797"/>
              </a:xfrm>
              <a:prstGeom prst="roundRect">
                <a:avLst>
                  <a:gd name="adj" fmla="val 3761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Graphic 74">
                <a:extLst>
                  <a:ext uri="{FF2B5EF4-FFF2-40B4-BE49-F238E27FC236}">
                    <a16:creationId xmlns:a16="http://schemas.microsoft.com/office/drawing/2014/main" id="{E4BA4A31-03C0-490C-9DF3-198F3B616AD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957742" y="5574144"/>
                <a:ext cx="285750" cy="438150"/>
              </a:xfrm>
              <a:prstGeom prst="rect">
                <a:avLst/>
              </a:prstGeom>
            </p:spPr>
          </p:pic>
        </p:grpSp>
        <p:sp>
          <p:nvSpPr>
            <p:cNvPr id="77" name="TextBox 76">
              <a:extLst>
                <a:ext uri="{FF2B5EF4-FFF2-40B4-BE49-F238E27FC236}">
                  <a16:creationId xmlns:a16="http://schemas.microsoft.com/office/drawing/2014/main" id="{44836AD0-B68F-4579-8B51-6F8A6BC41483}"/>
                </a:ext>
              </a:extLst>
            </p:cNvPr>
            <p:cNvSpPr txBox="1"/>
            <p:nvPr/>
          </p:nvSpPr>
          <p:spPr>
            <a:xfrm>
              <a:off x="7962667" y="4611001"/>
              <a:ext cx="1737135" cy="615553"/>
            </a:xfrm>
            <a:prstGeom prst="rect">
              <a:avLst/>
            </a:prstGeom>
            <a:noFill/>
          </p:spPr>
          <p:txBody>
            <a:bodyPr wrap="square" rtlCol="0">
              <a:spAutoFit/>
            </a:bodyPr>
            <a:lstStyle/>
            <a:p>
              <a:pPr lvl="0">
                <a:lnSpc>
                  <a:spcPct val="85000"/>
                </a:lnSpc>
                <a:defRPr/>
              </a:pPr>
              <a:r>
                <a:rPr lang="es-ES" sz="2000" b="1" dirty="0">
                  <a:solidFill>
                    <a:schemeClr val="bg1"/>
                  </a:solidFill>
                  <a:latin typeface="Trebuchet MS" panose="020B0603020202020204" pitchFamily="34" charset="0"/>
                  <a:ea typeface="Verdana" panose="020B0604030504040204" pitchFamily="34" charset="0"/>
                  <a:cs typeface="Zilla Slab Light"/>
                  <a:sym typeface="Zilla Slab Light"/>
                </a:rPr>
                <a:t>DURACIÓN DE 4 A 72H</a:t>
              </a:r>
            </a:p>
          </p:txBody>
        </p:sp>
      </p:grpSp>
      <p:grpSp>
        <p:nvGrpSpPr>
          <p:cNvPr id="20" name="Group 19">
            <a:extLst>
              <a:ext uri="{FF2B5EF4-FFF2-40B4-BE49-F238E27FC236}">
                <a16:creationId xmlns:a16="http://schemas.microsoft.com/office/drawing/2014/main" id="{368F465E-1B83-4DD9-8BB4-70EAAE58BD99}"/>
              </a:ext>
            </a:extLst>
          </p:cNvPr>
          <p:cNvGrpSpPr/>
          <p:nvPr/>
        </p:nvGrpSpPr>
        <p:grpSpPr>
          <a:xfrm>
            <a:off x="252552" y="6342796"/>
            <a:ext cx="11686895" cy="398170"/>
            <a:chOff x="252552" y="6226684"/>
            <a:chExt cx="11686895" cy="398170"/>
          </a:xfrm>
        </p:grpSpPr>
        <p:grpSp>
          <p:nvGrpSpPr>
            <p:cNvPr id="37" name="Group 36">
              <a:extLst>
                <a:ext uri="{FF2B5EF4-FFF2-40B4-BE49-F238E27FC236}">
                  <a16:creationId xmlns:a16="http://schemas.microsoft.com/office/drawing/2014/main" id="{0BE31391-F1DC-411A-87D1-5112B9F266CA}"/>
                </a:ext>
              </a:extLst>
            </p:cNvPr>
            <p:cNvGrpSpPr/>
            <p:nvPr/>
          </p:nvGrpSpPr>
          <p:grpSpPr>
            <a:xfrm>
              <a:off x="252552" y="6293241"/>
              <a:ext cx="1266906" cy="265056"/>
              <a:chOff x="5600700" y="-854146"/>
              <a:chExt cx="989647" cy="207049"/>
            </a:xfrm>
          </p:grpSpPr>
          <p:sp>
            <p:nvSpPr>
              <p:cNvPr id="41" name="Freeform: Shape 40">
                <a:extLst>
                  <a:ext uri="{FF2B5EF4-FFF2-40B4-BE49-F238E27FC236}">
                    <a16:creationId xmlns:a16="http://schemas.microsoft.com/office/drawing/2014/main" id="{13F13A9E-8B05-4590-A769-7FB4E7D04AA7}"/>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C0B628-3DD6-4944-9D84-B56861B58EF6}"/>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017A177-EC27-403B-8372-86A3DBE3082E}"/>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E32EB9E-2686-4B42-9E63-9A43DDA63D58}"/>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2470303-A478-48C3-AD44-38AA76CC623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A6D117B-673B-41A6-9291-A0BBD1557E39}"/>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04C809F-31FC-48B3-A817-B6F57FFB20E1}"/>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5F7B8F6-61CC-412C-AEFF-BE182B64F64B}"/>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AC0821E-80AD-4AC4-8876-F78F55B9F41B}"/>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672541" y="6226684"/>
              <a:ext cx="1266906" cy="398170"/>
            </a:xfrm>
            <a:prstGeom prst="rect">
              <a:avLst/>
            </a:prstGeom>
          </p:spPr>
        </p:pic>
      </p:grpSp>
      <p:grpSp>
        <p:nvGrpSpPr>
          <p:cNvPr id="19" name="Group 18">
            <a:extLst>
              <a:ext uri="{FF2B5EF4-FFF2-40B4-BE49-F238E27FC236}">
                <a16:creationId xmlns:a16="http://schemas.microsoft.com/office/drawing/2014/main" id="{84F41817-D4EB-4C5D-B257-300B654B6A0E}"/>
              </a:ext>
            </a:extLst>
          </p:cNvPr>
          <p:cNvGrpSpPr/>
          <p:nvPr/>
        </p:nvGrpSpPr>
        <p:grpSpPr>
          <a:xfrm>
            <a:off x="944654" y="2009117"/>
            <a:ext cx="1309272" cy="902508"/>
            <a:chOff x="944654" y="2009117"/>
            <a:chExt cx="1309272" cy="902508"/>
          </a:xfrm>
        </p:grpSpPr>
        <p:pic>
          <p:nvPicPr>
            <p:cNvPr id="17" name="Graphic 16">
              <a:extLst>
                <a:ext uri="{FF2B5EF4-FFF2-40B4-BE49-F238E27FC236}">
                  <a16:creationId xmlns:a16="http://schemas.microsoft.com/office/drawing/2014/main" id="{B71CB828-E9E0-4AB6-AE9B-7FE66128592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44654" y="2009117"/>
              <a:ext cx="1309272" cy="902508"/>
            </a:xfrm>
            <a:prstGeom prst="rect">
              <a:avLst/>
            </a:prstGeom>
          </p:spPr>
        </p:pic>
        <p:pic>
          <p:nvPicPr>
            <p:cNvPr id="70" name="Graphic 69">
              <a:extLst>
                <a:ext uri="{FF2B5EF4-FFF2-40B4-BE49-F238E27FC236}">
                  <a16:creationId xmlns:a16="http://schemas.microsoft.com/office/drawing/2014/main" id="{5190AC67-9338-4591-A220-D1B6DC27DB1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331900" y="2329718"/>
              <a:ext cx="534169" cy="367984"/>
            </a:xfrm>
            <a:prstGeom prst="rect">
              <a:avLst/>
            </a:prstGeom>
          </p:spPr>
        </p:pic>
      </p:grpSp>
      <p:grpSp>
        <p:nvGrpSpPr>
          <p:cNvPr id="18" name="Group 17">
            <a:extLst>
              <a:ext uri="{FF2B5EF4-FFF2-40B4-BE49-F238E27FC236}">
                <a16:creationId xmlns:a16="http://schemas.microsoft.com/office/drawing/2014/main" id="{5C0E2D22-063E-497E-B949-850C7A7EA26E}"/>
              </a:ext>
            </a:extLst>
          </p:cNvPr>
          <p:cNvGrpSpPr/>
          <p:nvPr/>
        </p:nvGrpSpPr>
        <p:grpSpPr>
          <a:xfrm>
            <a:off x="4669699" y="2009117"/>
            <a:ext cx="1309272" cy="902508"/>
            <a:chOff x="4669699" y="2009117"/>
            <a:chExt cx="1309272" cy="902508"/>
          </a:xfrm>
        </p:grpSpPr>
        <p:pic>
          <p:nvPicPr>
            <p:cNvPr id="80" name="Graphic 79">
              <a:extLst>
                <a:ext uri="{FF2B5EF4-FFF2-40B4-BE49-F238E27FC236}">
                  <a16:creationId xmlns:a16="http://schemas.microsoft.com/office/drawing/2014/main" id="{886EAE87-4C59-4718-98CE-6FEA910EDBBB}"/>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669699" y="2009117"/>
              <a:ext cx="1309272" cy="902508"/>
            </a:xfrm>
            <a:prstGeom prst="rect">
              <a:avLst/>
            </a:prstGeom>
          </p:spPr>
        </p:pic>
        <p:pic>
          <p:nvPicPr>
            <p:cNvPr id="78" name="Graphic 77">
              <a:extLst>
                <a:ext uri="{FF2B5EF4-FFF2-40B4-BE49-F238E27FC236}">
                  <a16:creationId xmlns:a16="http://schemas.microsoft.com/office/drawing/2014/main" id="{80316BED-5D2B-4CCD-B4CE-A0B883DF5792}"/>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046445" y="2269814"/>
              <a:ext cx="555172" cy="508908"/>
            </a:xfrm>
            <a:prstGeom prst="rect">
              <a:avLst/>
            </a:prstGeom>
          </p:spPr>
        </p:pic>
      </p:grpSp>
      <p:sp>
        <p:nvSpPr>
          <p:cNvPr id="81" name="TextBox 80">
            <a:extLst>
              <a:ext uri="{FF2B5EF4-FFF2-40B4-BE49-F238E27FC236}">
                <a16:creationId xmlns:a16="http://schemas.microsoft.com/office/drawing/2014/main" id="{C5D37939-C37A-4F48-A764-699B6186A193}"/>
              </a:ext>
            </a:extLst>
          </p:cNvPr>
          <p:cNvSpPr txBox="1"/>
          <p:nvPr/>
        </p:nvSpPr>
        <p:spPr>
          <a:xfrm>
            <a:off x="668430" y="5963330"/>
            <a:ext cx="4001269" cy="236219"/>
          </a:xfrm>
          <a:prstGeom prst="rect">
            <a:avLst/>
          </a:prstGeom>
          <a:noFill/>
        </p:spPr>
        <p:txBody>
          <a:bodyPr wrap="square" rtlCol="0">
            <a:spAutoFit/>
          </a:bodyPr>
          <a:lstStyle/>
          <a:p>
            <a:pPr lvl="0">
              <a:lnSpc>
                <a:spcPct val="85000"/>
              </a:lnSpc>
              <a:defRPr/>
            </a:pPr>
            <a:r>
              <a:rPr lang="en-US" sz="1050" dirty="0">
                <a:solidFill>
                  <a:schemeClr val="bg1">
                    <a:lumMod val="65000"/>
                  </a:schemeClr>
                </a:solidFill>
                <a:latin typeface="Trebuchet MS" panose="020B0603020202020204" pitchFamily="34" charset="0"/>
                <a:ea typeface="Verdana" panose="020B0604030504040204" pitchFamily="34" charset="0"/>
                <a:cs typeface="Zilla Slab Light"/>
                <a:sym typeface="Zilla Slab Light"/>
              </a:rPr>
              <a:t>Charles A. Migraine. N </a:t>
            </a:r>
            <a:r>
              <a:rPr lang="en-US" sz="1050" dirty="0" err="1">
                <a:solidFill>
                  <a:schemeClr val="bg1">
                    <a:lumMod val="65000"/>
                  </a:schemeClr>
                </a:solidFill>
                <a:latin typeface="Trebuchet MS" panose="020B0603020202020204" pitchFamily="34" charset="0"/>
                <a:ea typeface="Verdana" panose="020B0604030504040204" pitchFamily="34" charset="0"/>
                <a:cs typeface="Zilla Slab Light"/>
                <a:sym typeface="Zilla Slab Light"/>
              </a:rPr>
              <a:t>Engl</a:t>
            </a:r>
            <a:r>
              <a:rPr lang="en-US" sz="1050" dirty="0">
                <a:solidFill>
                  <a:schemeClr val="bg1">
                    <a:lumMod val="65000"/>
                  </a:schemeClr>
                </a:solidFill>
                <a:latin typeface="Trebuchet MS" panose="020B0603020202020204" pitchFamily="34" charset="0"/>
                <a:ea typeface="Verdana" panose="020B0604030504040204" pitchFamily="34" charset="0"/>
                <a:cs typeface="Zilla Slab Light"/>
                <a:sym typeface="Zilla Slab Light"/>
              </a:rPr>
              <a:t> J Med. 2017 Ago 10;377(6):553-561</a:t>
            </a:r>
          </a:p>
        </p:txBody>
      </p:sp>
      <p:pic>
        <p:nvPicPr>
          <p:cNvPr id="10" name="Picture 9">
            <a:extLst>
              <a:ext uri="{FF2B5EF4-FFF2-40B4-BE49-F238E27FC236}">
                <a16:creationId xmlns:a16="http://schemas.microsoft.com/office/drawing/2014/main" id="{07F845E6-E755-46BD-B124-45EF1FF9CF54}"/>
              </a:ext>
            </a:extLst>
          </p:cNvPr>
          <p:cNvPicPr>
            <a:picLocks noChangeAspect="1"/>
          </p:cNvPicPr>
          <p:nvPr/>
        </p:nvPicPr>
        <p:blipFill>
          <a:blip r:embed="rId19">
            <a:extLst>
              <a:ext uri="{28A0092B-C50C-407E-A947-70E740481C1C}">
                <a14:useLocalDpi xmlns:a14="http://schemas.microsoft.com/office/drawing/2010/main" val="0"/>
              </a:ext>
            </a:extLst>
          </a:blip>
          <a:stretch/>
        </p:blipFill>
        <p:spPr>
          <a:xfrm>
            <a:off x="9023292" y="280432"/>
            <a:ext cx="4199797" cy="5101930"/>
          </a:xfrm>
          <a:prstGeom prst="rect">
            <a:avLst/>
          </a:prstGeom>
        </p:spPr>
      </p:pic>
    </p:spTree>
    <p:extLst>
      <p:ext uri="{BB962C8B-B14F-4D97-AF65-F5344CB8AC3E}">
        <p14:creationId xmlns:p14="http://schemas.microsoft.com/office/powerpoint/2010/main" val="3310782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63" presetClass="path" presetSubtype="0" decel="100000" fill="hold" grpId="1" nodeType="withEffect">
                                      <p:stCondLst>
                                        <p:cond delay="0"/>
                                      </p:stCondLst>
                                      <p:childTnLst>
                                        <p:animMotion origin="layout" path="M 1.25E-6 -4.07407E-6 L -0.05599 -4.07407E-6 " pathEditMode="relative" rAng="0" ptsTypes="AA">
                                          <p:cBhvr>
                                            <p:cTn id="9" dur="750" spd="-100000" fill="hold"/>
                                            <p:tgtEl>
                                              <p:spTgt spid="40"/>
                                            </p:tgtEl>
                                            <p:attrNameLst>
                                              <p:attrName>ppt_x</p:attrName>
                                              <p:attrName>ppt_y</p:attrName>
                                            </p:attrNameLst>
                                          </p:cBhvr>
                                          <p:rCtr x="-2799" y="0"/>
                                        </p:animMotion>
                                      </p:childTnLst>
                                    </p:cTn>
                                  </p:par>
                                  <p:par>
                                    <p:cTn id="10" presetID="2" presetClass="entr" presetSubtype="2" decel="10000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750" fill="hold"/>
                                            <p:tgtEl>
                                              <p:spTgt spid="9"/>
                                            </p:tgtEl>
                                            <p:attrNameLst>
                                              <p:attrName>ppt_x</p:attrName>
                                            </p:attrNameLst>
                                          </p:cBhvr>
                                          <p:tavLst>
                                            <p:tav tm="0">
                                              <p:val>
                                                <p:strVal val="1+#ppt_w/2"/>
                                              </p:val>
                                            </p:tav>
                                            <p:tav tm="100000">
                                              <p:val>
                                                <p:strVal val="#ppt_x"/>
                                              </p:val>
                                            </p:tav>
                                          </p:tavLst>
                                        </p:anim>
                                        <p:anim calcmode="lin" valueType="num">
                                          <p:cBhvr additive="base">
                                            <p:cTn id="13" dur="750" fill="hold"/>
                                            <p:tgtEl>
                                              <p:spTgt spid="9"/>
                                            </p:tgtEl>
                                            <p:attrNameLst>
                                              <p:attrName>ppt_y</p:attrName>
                                            </p:attrNameLst>
                                          </p:cBhvr>
                                          <p:tavLst>
                                            <p:tav tm="0">
                                              <p:val>
                                                <p:strVal val="#ppt_y"/>
                                              </p:val>
                                            </p:tav>
                                            <p:tav tm="100000">
                                              <p:val>
                                                <p:strVal val="#ppt_y"/>
                                              </p:val>
                                            </p:tav>
                                          </p:tavLst>
                                        </p:anim>
                                      </p:childTnLst>
                                    </p:cTn>
                                  </p:par>
                                  <p:par>
                                    <p:cTn id="14" presetID="2" presetClass="entr" presetSubtype="8" decel="10000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750" fill="hold"/>
                                            <p:tgtEl>
                                              <p:spTgt spid="6"/>
                                            </p:tgtEl>
                                            <p:attrNameLst>
                                              <p:attrName>ppt_x</p:attrName>
                                            </p:attrNameLst>
                                          </p:cBhvr>
                                          <p:tavLst>
                                            <p:tav tm="0">
                                              <p:val>
                                                <p:strVal val="0-#ppt_w/2"/>
                                              </p:val>
                                            </p:tav>
                                            <p:tav tm="100000">
                                              <p:val>
                                                <p:strVal val="#ppt_x"/>
                                              </p:val>
                                            </p:tav>
                                          </p:tavLst>
                                        </p:anim>
                                        <p:anim calcmode="lin" valueType="num">
                                          <p:cBhvr additive="base">
                                            <p:cTn id="17" dur="750" fill="hold"/>
                                            <p:tgtEl>
                                              <p:spTgt spid="6"/>
                                            </p:tgtEl>
                                            <p:attrNameLst>
                                              <p:attrName>ppt_y</p:attrName>
                                            </p:attrNameLst>
                                          </p:cBhvr>
                                          <p:tavLst>
                                            <p:tav tm="0">
                                              <p:val>
                                                <p:strVal val="#ppt_y"/>
                                              </p:val>
                                            </p:tav>
                                            <p:tav tm="100000">
                                              <p:val>
                                                <p:strVal val="#ppt_y"/>
                                              </p:val>
                                            </p:tav>
                                          </p:tavLst>
                                        </p:anim>
                                      </p:childTnLst>
                                    </p:cTn>
                                  </p:par>
                                  <p:par>
                                    <p:cTn id="18" presetID="10" presetClass="entr" presetSubtype="0" fill="hold" nodeType="withEffect">
                                      <p:stCondLst>
                                        <p:cond delay="25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250"/>
                                            <p:tgtEl>
                                              <p:spTgt spid="15"/>
                                            </p:tgtEl>
                                          </p:cBhvr>
                                        </p:animEffect>
                                      </p:childTnLst>
                                    </p:cTn>
                                  </p:par>
                                  <p:par>
                                    <p:cTn id="21" presetID="35" presetClass="path" presetSubtype="0" decel="100000" fill="hold" nodeType="withEffect">
                                      <p:stCondLst>
                                        <p:cond delay="250"/>
                                      </p:stCondLst>
                                      <p:childTnLst>
                                        <p:animMotion origin="layout" path="M -2.29167E-6 0 L -0.17916 0 " pathEditMode="relative" rAng="0" ptsTypes="AA">
                                          <p:cBhvr>
                                            <p:cTn id="22" dur="750" spd="-100000" fill="hold"/>
                                            <p:tgtEl>
                                              <p:spTgt spid="15"/>
                                            </p:tgtEl>
                                            <p:attrNameLst>
                                              <p:attrName>ppt_x</p:attrName>
                                              <p:attrName>ppt_y</p:attrName>
                                            </p:attrNameLst>
                                          </p:cBhvr>
                                          <p:rCtr x="-8958" y="0"/>
                                        </p:animMotion>
                                      </p:childTnLst>
                                    </p:cTn>
                                  </p:par>
                                  <p:par>
                                    <p:cTn id="23" presetID="10" presetClass="entr" presetSubtype="0" fill="hold" nodeType="withEffect">
                                      <p:stCondLst>
                                        <p:cond delay="75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42" presetClass="path" presetSubtype="0" decel="100000" fill="hold" nodeType="withEffect">
                                      <p:stCondLst>
                                        <p:cond delay="750"/>
                                      </p:stCondLst>
                                      <p:childTnLst>
                                        <p:animMotion origin="layout" path="M 2.08333E-7 3.7037E-6 L 2.08333E-7 0.03657 " pathEditMode="relative" rAng="0" ptsTypes="AA">
                                          <p:cBhvr>
                                            <p:cTn id="27" dur="500" spd="-100000" fill="hold"/>
                                            <p:tgtEl>
                                              <p:spTgt spid="19"/>
                                            </p:tgtEl>
                                            <p:attrNameLst>
                                              <p:attrName>ppt_x</p:attrName>
                                              <p:attrName>ppt_y</p:attrName>
                                            </p:attrNameLst>
                                          </p:cBhvr>
                                          <p:rCtr x="0" y="1829"/>
                                        </p:animMotion>
                                      </p:childTnLst>
                                    </p:cTn>
                                  </p:par>
                                  <p:par>
                                    <p:cTn id="28" presetID="10" presetClass="entr" presetSubtype="0" fill="hold" nodeType="withEffect">
                                      <p:stCondLst>
                                        <p:cond delay="100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par>
                                    <p:cTn id="31" presetID="42" presetClass="path" presetSubtype="0" decel="100000" fill="hold" nodeType="withEffect">
                                      <p:stCondLst>
                                        <p:cond delay="1000"/>
                                      </p:stCondLst>
                                      <p:childTnLst>
                                        <p:animMotion origin="layout" path="M 2.08333E-7 3.7037E-6 L 2.08333E-7 0.03657 " pathEditMode="relative" rAng="0" ptsTypes="AA">
                                          <p:cBhvr>
                                            <p:cTn id="32" dur="500" spd="-100000" fill="hold"/>
                                            <p:tgtEl>
                                              <p:spTgt spid="18"/>
                                            </p:tgtEl>
                                            <p:attrNameLst>
                                              <p:attrName>ppt_x</p:attrName>
                                              <p:attrName>ppt_y</p:attrName>
                                            </p:attrNameLst>
                                          </p:cBhvr>
                                          <p:rCtr x="0" y="1829"/>
                                        </p:animMotion>
                                      </p:childTnLst>
                                    </p:cTn>
                                  </p:par>
                                  <p:par>
                                    <p:cTn id="33" presetID="10" presetClass="entr" presetSubtype="0" fill="hold" nodeType="withEffect">
                                      <p:stCondLst>
                                        <p:cond delay="100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1000"/>
                                      </p:stCondLst>
                                      <p:childTnLst>
                                        <p:set>
                                          <p:cBhvr>
                                            <p:cTn id="37" dur="1" fill="hold">
                                              <p:stCondLst>
                                                <p:cond delay="0"/>
                                              </p:stCondLst>
                                            </p:cTn>
                                            <p:tgtEl>
                                              <p:spTgt spid="53"/>
                                            </p:tgtEl>
                                            <p:attrNameLst>
                                              <p:attrName>style.visibility</p:attrName>
                                            </p:attrNameLst>
                                          </p:cBhvr>
                                          <p:to>
                                            <p:strVal val="visible"/>
                                          </p:to>
                                        </p:set>
                                        <p:animEffect transition="in" filter="fade">
                                          <p:cBhvr>
                                            <p:cTn id="38" dur="500"/>
                                            <p:tgtEl>
                                              <p:spTgt spid="53"/>
                                            </p:tgtEl>
                                          </p:cBhvr>
                                        </p:animEffect>
                                      </p:childTnLst>
                                    </p:cTn>
                                  </p:par>
                                  <p:par>
                                    <p:cTn id="39" presetID="10" presetClass="entr" presetSubtype="0" fill="hold" nodeType="withEffect">
                                      <p:stCondLst>
                                        <p:cond delay="1250"/>
                                      </p:stCondLst>
                                      <p:childTnLst>
                                        <p:set>
                                          <p:cBhvr>
                                            <p:cTn id="40" dur="1" fill="hold">
                                              <p:stCondLst>
                                                <p:cond delay="0"/>
                                              </p:stCondLst>
                                            </p:cTn>
                                            <p:tgtEl>
                                              <p:spTgt spid="48"/>
                                            </p:tgtEl>
                                            <p:attrNameLst>
                                              <p:attrName>style.visibility</p:attrName>
                                            </p:attrNameLst>
                                          </p:cBhvr>
                                          <p:to>
                                            <p:strVal val="visible"/>
                                          </p:to>
                                        </p:set>
                                        <p:animEffect transition="in" filter="fade">
                                          <p:cBhvr>
                                            <p:cTn id="41" dur="500"/>
                                            <p:tgtEl>
                                              <p:spTgt spid="48"/>
                                            </p:tgtEl>
                                          </p:cBhvr>
                                        </p:animEffect>
                                      </p:childTnLst>
                                    </p:cTn>
                                  </p:par>
                                  <p:par>
                                    <p:cTn id="42" presetID="10" presetClass="entr" presetSubtype="0" fill="hold" grpId="0" nodeType="withEffect">
                                      <p:stCondLst>
                                        <p:cond delay="1250"/>
                                      </p:stCondLst>
                                      <p:childTnLst>
                                        <p:set>
                                          <p:cBhvr>
                                            <p:cTn id="43" dur="1" fill="hold">
                                              <p:stCondLst>
                                                <p:cond delay="0"/>
                                              </p:stCondLst>
                                            </p:cTn>
                                            <p:tgtEl>
                                              <p:spTgt spid="54"/>
                                            </p:tgtEl>
                                            <p:attrNameLst>
                                              <p:attrName>style.visibility</p:attrName>
                                            </p:attrNameLst>
                                          </p:cBhvr>
                                          <p:to>
                                            <p:strVal val="visible"/>
                                          </p:to>
                                        </p:set>
                                        <p:animEffect transition="in" filter="fade">
                                          <p:cBhvr>
                                            <p:cTn id="44" dur="500"/>
                                            <p:tgtEl>
                                              <p:spTgt spid="54"/>
                                            </p:tgtEl>
                                          </p:cBhvr>
                                        </p:animEffect>
                                      </p:childTnLst>
                                    </p:cTn>
                                  </p:par>
                                  <p:par>
                                    <p:cTn id="45" presetID="10" presetClass="entr" presetSubtype="0" fill="hold" grpId="0" nodeType="withEffect">
                                      <p:stCondLst>
                                        <p:cond delay="1250"/>
                                      </p:stCondLst>
                                      <p:childTnLst>
                                        <p:set>
                                          <p:cBhvr>
                                            <p:cTn id="46" dur="1" fill="hold">
                                              <p:stCondLst>
                                                <p:cond delay="0"/>
                                              </p:stCondLst>
                                            </p:cTn>
                                            <p:tgtEl>
                                              <p:spTgt spid="81"/>
                                            </p:tgtEl>
                                            <p:attrNameLst>
                                              <p:attrName>style.visibility</p:attrName>
                                            </p:attrNameLst>
                                          </p:cBhvr>
                                          <p:to>
                                            <p:strVal val="visible"/>
                                          </p:to>
                                        </p:set>
                                        <p:animEffect transition="in" filter="fade">
                                          <p:cBhvr>
                                            <p:cTn id="47" dur="500"/>
                                            <p:tgtEl>
                                              <p:spTgt spid="81"/>
                                            </p:tgtEl>
                                          </p:cBhvr>
                                        </p:animEffect>
                                      </p:childTnLst>
                                    </p:cTn>
                                  </p:par>
                                  <p:par>
                                    <p:cTn id="48" presetID="23" presetClass="entr" presetSubtype="16" fill="hold" nodeType="withEffect">
                                      <p:stCondLst>
                                        <p:cond delay="1000"/>
                                      </p:stCondLst>
                                      <p:childTnLst>
                                        <p:set>
                                          <p:cBhvr>
                                            <p:cTn id="49" dur="1" fill="hold">
                                              <p:stCondLst>
                                                <p:cond delay="0"/>
                                              </p:stCondLst>
                                            </p:cTn>
                                            <p:tgtEl>
                                              <p:spTgt spid="3"/>
                                            </p:tgtEl>
                                            <p:attrNameLst>
                                              <p:attrName>style.visibility</p:attrName>
                                            </p:attrNameLst>
                                          </p:cBhvr>
                                          <p:to>
                                            <p:strVal val="visible"/>
                                          </p:to>
                                        </p:set>
                                        <p:anim calcmode="lin" valueType="num">
                                          <p:cBhvr>
                                            <p:cTn id="50" dur="200" fill="hold"/>
                                            <p:tgtEl>
                                              <p:spTgt spid="3"/>
                                            </p:tgtEl>
                                            <p:attrNameLst>
                                              <p:attrName>ppt_w</p:attrName>
                                            </p:attrNameLst>
                                          </p:cBhvr>
                                          <p:tavLst>
                                            <p:tav tm="0">
                                              <p:val>
                                                <p:fltVal val="0"/>
                                              </p:val>
                                            </p:tav>
                                            <p:tav tm="100000">
                                              <p:val>
                                                <p:strVal val="#ppt_w"/>
                                              </p:val>
                                            </p:tav>
                                          </p:tavLst>
                                        </p:anim>
                                        <p:anim calcmode="lin" valueType="num">
                                          <p:cBhvr>
                                            <p:cTn id="51" dur="200" fill="hold"/>
                                            <p:tgtEl>
                                              <p:spTgt spid="3"/>
                                            </p:tgtEl>
                                            <p:attrNameLst>
                                              <p:attrName>ppt_h</p:attrName>
                                            </p:attrNameLst>
                                          </p:cBhvr>
                                          <p:tavLst>
                                            <p:tav tm="0">
                                              <p:val>
                                                <p:fltVal val="0"/>
                                              </p:val>
                                            </p:tav>
                                            <p:tav tm="100000">
                                              <p:val>
                                                <p:strVal val="#ppt_h"/>
                                              </p:val>
                                            </p:tav>
                                          </p:tavLst>
                                        </p:anim>
                                      </p:childTnLst>
                                    </p:cTn>
                                  </p:par>
                                  <p:par>
                                    <p:cTn id="52" presetID="6" presetClass="emph" presetSubtype="0" fill="hold" nodeType="withEffect" p14:presetBounceEnd="99000">
                                      <p:stCondLst>
                                        <p:cond delay="1000"/>
                                      </p:stCondLst>
                                      <p:childTnLst>
                                        <p:animScale p14:bounceEnd="99000">
                                          <p:cBhvr>
                                            <p:cTn id="53" dur="1000" fill="hold"/>
                                            <p:tgtEl>
                                              <p:spTgt spid="3"/>
                                            </p:tgtEl>
                                          </p:cBhvr>
                                          <p:by x="110000" y="110000"/>
                                        </p:animScale>
                                      </p:childTnLst>
                                    </p:cTn>
                                  </p:par>
                                  <p:par>
                                    <p:cTn id="54" presetID="6" presetClass="emph" presetSubtype="0" accel="50000" decel="50000" fill="hold" nodeType="withEffect">
                                      <p:stCondLst>
                                        <p:cond delay="1000"/>
                                      </p:stCondLst>
                                      <p:childTnLst>
                                        <p:animScale>
                                          <p:cBhvr>
                                            <p:cTn id="55" dur="250" fill="hold"/>
                                            <p:tgtEl>
                                              <p:spTgt spid="3"/>
                                            </p:tgtEl>
                                          </p:cBhvr>
                                          <p:by x="91000" y="91000"/>
                                        </p:animScale>
                                      </p:childTnLst>
                                    </p:cTn>
                                  </p:par>
                                  <p:par>
                                    <p:cTn id="56" presetID="1" presetClass="entr" presetSubtype="0" fill="hold" nodeType="withEffect">
                                      <p:stCondLst>
                                        <p:cond delay="1000"/>
                                      </p:stCondLst>
                                      <p:childTnLst>
                                        <p:set>
                                          <p:cBhvr>
                                            <p:cTn id="57" dur="1" fill="hold">
                                              <p:stCondLst>
                                                <p:cond delay="0"/>
                                              </p:stCondLst>
                                            </p:cTn>
                                            <p:tgtEl>
                                              <p:spTgt spid="7"/>
                                            </p:tgtEl>
                                            <p:attrNameLst>
                                              <p:attrName>style.visibility</p:attrName>
                                            </p:attrNameLst>
                                          </p:cBhvr>
                                          <p:to>
                                            <p:strVal val="visible"/>
                                          </p:to>
                                        </p:set>
                                      </p:childTnLst>
                                    </p:cTn>
                                  </p:par>
                                  <p:par>
                                    <p:cTn id="58" presetID="23" presetClass="entr" presetSubtype="16" fill="hold" nodeType="withEffect">
                                      <p:stCondLst>
                                        <p:cond delay="1250"/>
                                      </p:stCondLst>
                                      <p:childTnLst>
                                        <p:set>
                                          <p:cBhvr>
                                            <p:cTn id="59" dur="1" fill="hold">
                                              <p:stCondLst>
                                                <p:cond delay="0"/>
                                              </p:stCondLst>
                                            </p:cTn>
                                            <p:tgtEl>
                                              <p:spTgt spid="10"/>
                                            </p:tgtEl>
                                            <p:attrNameLst>
                                              <p:attrName>style.visibility</p:attrName>
                                            </p:attrNameLst>
                                          </p:cBhvr>
                                          <p:to>
                                            <p:strVal val="visible"/>
                                          </p:to>
                                        </p:set>
                                        <p:anim calcmode="lin" valueType="num">
                                          <p:cBhvr>
                                            <p:cTn id="60" dur="200" fill="hold"/>
                                            <p:tgtEl>
                                              <p:spTgt spid="10"/>
                                            </p:tgtEl>
                                            <p:attrNameLst>
                                              <p:attrName>ppt_w</p:attrName>
                                            </p:attrNameLst>
                                          </p:cBhvr>
                                          <p:tavLst>
                                            <p:tav tm="0">
                                              <p:val>
                                                <p:fltVal val="0"/>
                                              </p:val>
                                            </p:tav>
                                            <p:tav tm="100000">
                                              <p:val>
                                                <p:strVal val="#ppt_w"/>
                                              </p:val>
                                            </p:tav>
                                          </p:tavLst>
                                        </p:anim>
                                        <p:anim calcmode="lin" valueType="num">
                                          <p:cBhvr>
                                            <p:cTn id="61" dur="200" fill="hold"/>
                                            <p:tgtEl>
                                              <p:spTgt spid="10"/>
                                            </p:tgtEl>
                                            <p:attrNameLst>
                                              <p:attrName>ppt_h</p:attrName>
                                            </p:attrNameLst>
                                          </p:cBhvr>
                                          <p:tavLst>
                                            <p:tav tm="0">
                                              <p:val>
                                                <p:fltVal val="0"/>
                                              </p:val>
                                            </p:tav>
                                            <p:tav tm="100000">
                                              <p:val>
                                                <p:strVal val="#ppt_h"/>
                                              </p:val>
                                            </p:tav>
                                          </p:tavLst>
                                        </p:anim>
                                      </p:childTnLst>
                                    </p:cTn>
                                  </p:par>
                                  <p:par>
                                    <p:cTn id="62" presetID="6" presetClass="emph" presetSubtype="0" fill="hold" nodeType="withEffect" p14:presetBounceEnd="99000">
                                      <p:stCondLst>
                                        <p:cond delay="1250"/>
                                      </p:stCondLst>
                                      <p:childTnLst>
                                        <p:animScale p14:bounceEnd="99000">
                                          <p:cBhvr>
                                            <p:cTn id="63" dur="1000" fill="hold"/>
                                            <p:tgtEl>
                                              <p:spTgt spid="10"/>
                                            </p:tgtEl>
                                          </p:cBhvr>
                                          <p:by x="110000" y="110000"/>
                                        </p:animScale>
                                      </p:childTnLst>
                                    </p:cTn>
                                  </p:par>
                                  <p:par>
                                    <p:cTn id="64" presetID="6" presetClass="emph" presetSubtype="0" accel="50000" decel="50000" fill="hold" nodeType="withEffect">
                                      <p:stCondLst>
                                        <p:cond delay="1250"/>
                                      </p:stCondLst>
                                      <p:childTnLst>
                                        <p:animScale>
                                          <p:cBhvr>
                                            <p:cTn id="65" dur="250" fill="hold"/>
                                            <p:tgtEl>
                                              <p:spTgt spid="10"/>
                                            </p:tgtEl>
                                          </p:cBhvr>
                                          <p:by x="91000" y="91000"/>
                                        </p:animScale>
                                      </p:childTnLst>
                                    </p:cTn>
                                  </p:par>
                                  <p:par>
                                    <p:cTn id="66" presetID="10" presetClass="exit" presetSubtype="0" fill="hold" nodeType="withEffect">
                                      <p:stCondLst>
                                        <p:cond delay="1250"/>
                                      </p:stCondLst>
                                      <p:childTnLst>
                                        <p:animEffect transition="out" filter="fade">
                                          <p:cBhvr>
                                            <p:cTn id="67" dur="500"/>
                                            <p:tgtEl>
                                              <p:spTgt spid="15"/>
                                            </p:tgtEl>
                                          </p:cBhvr>
                                        </p:animEffect>
                                        <p:set>
                                          <p:cBhvr>
                                            <p:cTn id="68" dur="1" fill="hold">
                                              <p:stCondLst>
                                                <p:cond delay="499"/>
                                              </p:stCondLst>
                                            </p:cTn>
                                            <p:tgtEl>
                                              <p:spTgt spid="15"/>
                                            </p:tgtEl>
                                            <p:attrNameLst>
                                              <p:attrName>style.visibility</p:attrName>
                                            </p:attrNameLst>
                                          </p:cBhvr>
                                          <p:to>
                                            <p:strVal val="hidden"/>
                                          </p:to>
                                        </p:set>
                                      </p:childTnLst>
                                    </p:cTn>
                                  </p:par>
                                  <p:par>
                                    <p:cTn id="69" presetID="23" presetClass="entr" presetSubtype="16" fill="hold" nodeType="withEffect">
                                      <p:stCondLst>
                                        <p:cond delay="1500"/>
                                      </p:stCondLst>
                                      <p:childTnLst>
                                        <p:set>
                                          <p:cBhvr>
                                            <p:cTn id="70" dur="1" fill="hold">
                                              <p:stCondLst>
                                                <p:cond delay="0"/>
                                              </p:stCondLst>
                                            </p:cTn>
                                            <p:tgtEl>
                                              <p:spTgt spid="4"/>
                                            </p:tgtEl>
                                            <p:attrNameLst>
                                              <p:attrName>style.visibility</p:attrName>
                                            </p:attrNameLst>
                                          </p:cBhvr>
                                          <p:to>
                                            <p:strVal val="visible"/>
                                          </p:to>
                                        </p:set>
                                        <p:anim calcmode="lin" valueType="num">
                                          <p:cBhvr>
                                            <p:cTn id="71" dur="200" fill="hold"/>
                                            <p:tgtEl>
                                              <p:spTgt spid="4"/>
                                            </p:tgtEl>
                                            <p:attrNameLst>
                                              <p:attrName>ppt_w</p:attrName>
                                            </p:attrNameLst>
                                          </p:cBhvr>
                                          <p:tavLst>
                                            <p:tav tm="0">
                                              <p:val>
                                                <p:fltVal val="0"/>
                                              </p:val>
                                            </p:tav>
                                            <p:tav tm="100000">
                                              <p:val>
                                                <p:strVal val="#ppt_w"/>
                                              </p:val>
                                            </p:tav>
                                          </p:tavLst>
                                        </p:anim>
                                        <p:anim calcmode="lin" valueType="num">
                                          <p:cBhvr>
                                            <p:cTn id="72" dur="200" fill="hold"/>
                                            <p:tgtEl>
                                              <p:spTgt spid="4"/>
                                            </p:tgtEl>
                                            <p:attrNameLst>
                                              <p:attrName>ppt_h</p:attrName>
                                            </p:attrNameLst>
                                          </p:cBhvr>
                                          <p:tavLst>
                                            <p:tav tm="0">
                                              <p:val>
                                                <p:fltVal val="0"/>
                                              </p:val>
                                            </p:tav>
                                            <p:tav tm="100000">
                                              <p:val>
                                                <p:strVal val="#ppt_h"/>
                                              </p:val>
                                            </p:tav>
                                          </p:tavLst>
                                        </p:anim>
                                      </p:childTnLst>
                                    </p:cTn>
                                  </p:par>
                                  <p:par>
                                    <p:cTn id="73" presetID="6" presetClass="emph" presetSubtype="0" fill="hold" nodeType="withEffect" p14:presetBounceEnd="99000">
                                      <p:stCondLst>
                                        <p:cond delay="1500"/>
                                      </p:stCondLst>
                                      <p:childTnLst>
                                        <p:animScale p14:bounceEnd="99000">
                                          <p:cBhvr>
                                            <p:cTn id="74" dur="1000" fill="hold"/>
                                            <p:tgtEl>
                                              <p:spTgt spid="4"/>
                                            </p:tgtEl>
                                          </p:cBhvr>
                                          <p:by x="110000" y="110000"/>
                                        </p:animScale>
                                      </p:childTnLst>
                                    </p:cTn>
                                  </p:par>
                                  <p:par>
                                    <p:cTn id="75" presetID="6" presetClass="emph" presetSubtype="0" accel="50000" decel="50000" fill="hold" nodeType="withEffect">
                                      <p:stCondLst>
                                        <p:cond delay="1500"/>
                                      </p:stCondLst>
                                      <p:childTnLst>
                                        <p:animScale>
                                          <p:cBhvr>
                                            <p:cTn id="76" dur="250" fill="hold"/>
                                            <p:tgtEl>
                                              <p:spTgt spid="4"/>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0" grpId="0"/>
          <p:bldP spid="40" grpId="1"/>
          <p:bldP spid="53" grpId="0" animBg="1"/>
          <p:bldP spid="54" grpId="0" animBg="1"/>
          <p:bldP spid="8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63" presetClass="path" presetSubtype="0" decel="100000" fill="hold" grpId="1" nodeType="withEffect">
                                      <p:stCondLst>
                                        <p:cond delay="0"/>
                                      </p:stCondLst>
                                      <p:childTnLst>
                                        <p:animMotion origin="layout" path="M 1.25E-6 -4.07407E-6 L -0.05599 -4.07407E-6 " pathEditMode="relative" rAng="0" ptsTypes="AA">
                                          <p:cBhvr>
                                            <p:cTn id="9" dur="750" spd="-100000" fill="hold"/>
                                            <p:tgtEl>
                                              <p:spTgt spid="40"/>
                                            </p:tgtEl>
                                            <p:attrNameLst>
                                              <p:attrName>ppt_x</p:attrName>
                                              <p:attrName>ppt_y</p:attrName>
                                            </p:attrNameLst>
                                          </p:cBhvr>
                                          <p:rCtr x="-2799" y="0"/>
                                        </p:animMotion>
                                      </p:childTnLst>
                                    </p:cTn>
                                  </p:par>
                                  <p:par>
                                    <p:cTn id="10" presetID="2" presetClass="entr" presetSubtype="2" decel="10000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750" fill="hold"/>
                                            <p:tgtEl>
                                              <p:spTgt spid="9"/>
                                            </p:tgtEl>
                                            <p:attrNameLst>
                                              <p:attrName>ppt_x</p:attrName>
                                            </p:attrNameLst>
                                          </p:cBhvr>
                                          <p:tavLst>
                                            <p:tav tm="0">
                                              <p:val>
                                                <p:strVal val="1+#ppt_w/2"/>
                                              </p:val>
                                            </p:tav>
                                            <p:tav tm="100000">
                                              <p:val>
                                                <p:strVal val="#ppt_x"/>
                                              </p:val>
                                            </p:tav>
                                          </p:tavLst>
                                        </p:anim>
                                        <p:anim calcmode="lin" valueType="num">
                                          <p:cBhvr additive="base">
                                            <p:cTn id="13" dur="750" fill="hold"/>
                                            <p:tgtEl>
                                              <p:spTgt spid="9"/>
                                            </p:tgtEl>
                                            <p:attrNameLst>
                                              <p:attrName>ppt_y</p:attrName>
                                            </p:attrNameLst>
                                          </p:cBhvr>
                                          <p:tavLst>
                                            <p:tav tm="0">
                                              <p:val>
                                                <p:strVal val="#ppt_y"/>
                                              </p:val>
                                            </p:tav>
                                            <p:tav tm="100000">
                                              <p:val>
                                                <p:strVal val="#ppt_y"/>
                                              </p:val>
                                            </p:tav>
                                          </p:tavLst>
                                        </p:anim>
                                      </p:childTnLst>
                                    </p:cTn>
                                  </p:par>
                                  <p:par>
                                    <p:cTn id="14" presetID="2" presetClass="entr" presetSubtype="8" decel="10000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750" fill="hold"/>
                                            <p:tgtEl>
                                              <p:spTgt spid="6"/>
                                            </p:tgtEl>
                                            <p:attrNameLst>
                                              <p:attrName>ppt_x</p:attrName>
                                            </p:attrNameLst>
                                          </p:cBhvr>
                                          <p:tavLst>
                                            <p:tav tm="0">
                                              <p:val>
                                                <p:strVal val="0-#ppt_w/2"/>
                                              </p:val>
                                            </p:tav>
                                            <p:tav tm="100000">
                                              <p:val>
                                                <p:strVal val="#ppt_x"/>
                                              </p:val>
                                            </p:tav>
                                          </p:tavLst>
                                        </p:anim>
                                        <p:anim calcmode="lin" valueType="num">
                                          <p:cBhvr additive="base">
                                            <p:cTn id="17" dur="750" fill="hold"/>
                                            <p:tgtEl>
                                              <p:spTgt spid="6"/>
                                            </p:tgtEl>
                                            <p:attrNameLst>
                                              <p:attrName>ppt_y</p:attrName>
                                            </p:attrNameLst>
                                          </p:cBhvr>
                                          <p:tavLst>
                                            <p:tav tm="0">
                                              <p:val>
                                                <p:strVal val="#ppt_y"/>
                                              </p:val>
                                            </p:tav>
                                            <p:tav tm="100000">
                                              <p:val>
                                                <p:strVal val="#ppt_y"/>
                                              </p:val>
                                            </p:tav>
                                          </p:tavLst>
                                        </p:anim>
                                      </p:childTnLst>
                                    </p:cTn>
                                  </p:par>
                                  <p:par>
                                    <p:cTn id="18" presetID="10" presetClass="entr" presetSubtype="0" fill="hold" nodeType="withEffect">
                                      <p:stCondLst>
                                        <p:cond delay="25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250"/>
                                            <p:tgtEl>
                                              <p:spTgt spid="15"/>
                                            </p:tgtEl>
                                          </p:cBhvr>
                                        </p:animEffect>
                                      </p:childTnLst>
                                    </p:cTn>
                                  </p:par>
                                  <p:par>
                                    <p:cTn id="21" presetID="35" presetClass="path" presetSubtype="0" decel="100000" fill="hold" nodeType="withEffect">
                                      <p:stCondLst>
                                        <p:cond delay="250"/>
                                      </p:stCondLst>
                                      <p:childTnLst>
                                        <p:animMotion origin="layout" path="M -2.29167E-6 0 L -0.17916 0 " pathEditMode="relative" rAng="0" ptsTypes="AA">
                                          <p:cBhvr>
                                            <p:cTn id="22" dur="750" spd="-100000" fill="hold"/>
                                            <p:tgtEl>
                                              <p:spTgt spid="15"/>
                                            </p:tgtEl>
                                            <p:attrNameLst>
                                              <p:attrName>ppt_x</p:attrName>
                                              <p:attrName>ppt_y</p:attrName>
                                            </p:attrNameLst>
                                          </p:cBhvr>
                                          <p:rCtr x="-8958" y="0"/>
                                        </p:animMotion>
                                      </p:childTnLst>
                                    </p:cTn>
                                  </p:par>
                                  <p:par>
                                    <p:cTn id="23" presetID="10" presetClass="entr" presetSubtype="0" fill="hold" nodeType="withEffect">
                                      <p:stCondLst>
                                        <p:cond delay="75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42" presetClass="path" presetSubtype="0" decel="100000" fill="hold" nodeType="withEffect">
                                      <p:stCondLst>
                                        <p:cond delay="750"/>
                                      </p:stCondLst>
                                      <p:childTnLst>
                                        <p:animMotion origin="layout" path="M 2.08333E-7 3.7037E-6 L 2.08333E-7 0.03657 " pathEditMode="relative" rAng="0" ptsTypes="AA">
                                          <p:cBhvr>
                                            <p:cTn id="27" dur="500" spd="-100000" fill="hold"/>
                                            <p:tgtEl>
                                              <p:spTgt spid="19"/>
                                            </p:tgtEl>
                                            <p:attrNameLst>
                                              <p:attrName>ppt_x</p:attrName>
                                              <p:attrName>ppt_y</p:attrName>
                                            </p:attrNameLst>
                                          </p:cBhvr>
                                          <p:rCtr x="0" y="1829"/>
                                        </p:animMotion>
                                      </p:childTnLst>
                                    </p:cTn>
                                  </p:par>
                                  <p:par>
                                    <p:cTn id="28" presetID="10" presetClass="entr" presetSubtype="0" fill="hold" nodeType="withEffect">
                                      <p:stCondLst>
                                        <p:cond delay="100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par>
                                    <p:cTn id="31" presetID="42" presetClass="path" presetSubtype="0" decel="100000" fill="hold" nodeType="withEffect">
                                      <p:stCondLst>
                                        <p:cond delay="1000"/>
                                      </p:stCondLst>
                                      <p:childTnLst>
                                        <p:animMotion origin="layout" path="M 2.08333E-7 3.7037E-6 L 2.08333E-7 0.03657 " pathEditMode="relative" rAng="0" ptsTypes="AA">
                                          <p:cBhvr>
                                            <p:cTn id="32" dur="500" spd="-100000" fill="hold"/>
                                            <p:tgtEl>
                                              <p:spTgt spid="18"/>
                                            </p:tgtEl>
                                            <p:attrNameLst>
                                              <p:attrName>ppt_x</p:attrName>
                                              <p:attrName>ppt_y</p:attrName>
                                            </p:attrNameLst>
                                          </p:cBhvr>
                                          <p:rCtr x="0" y="1829"/>
                                        </p:animMotion>
                                      </p:childTnLst>
                                    </p:cTn>
                                  </p:par>
                                  <p:par>
                                    <p:cTn id="33" presetID="10" presetClass="entr" presetSubtype="0" fill="hold" nodeType="withEffect">
                                      <p:stCondLst>
                                        <p:cond delay="100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1000"/>
                                      </p:stCondLst>
                                      <p:childTnLst>
                                        <p:set>
                                          <p:cBhvr>
                                            <p:cTn id="37" dur="1" fill="hold">
                                              <p:stCondLst>
                                                <p:cond delay="0"/>
                                              </p:stCondLst>
                                            </p:cTn>
                                            <p:tgtEl>
                                              <p:spTgt spid="53"/>
                                            </p:tgtEl>
                                            <p:attrNameLst>
                                              <p:attrName>style.visibility</p:attrName>
                                            </p:attrNameLst>
                                          </p:cBhvr>
                                          <p:to>
                                            <p:strVal val="visible"/>
                                          </p:to>
                                        </p:set>
                                        <p:animEffect transition="in" filter="fade">
                                          <p:cBhvr>
                                            <p:cTn id="38" dur="500"/>
                                            <p:tgtEl>
                                              <p:spTgt spid="53"/>
                                            </p:tgtEl>
                                          </p:cBhvr>
                                        </p:animEffect>
                                      </p:childTnLst>
                                    </p:cTn>
                                  </p:par>
                                  <p:par>
                                    <p:cTn id="39" presetID="10" presetClass="entr" presetSubtype="0" fill="hold" nodeType="withEffect">
                                      <p:stCondLst>
                                        <p:cond delay="1250"/>
                                      </p:stCondLst>
                                      <p:childTnLst>
                                        <p:set>
                                          <p:cBhvr>
                                            <p:cTn id="40" dur="1" fill="hold">
                                              <p:stCondLst>
                                                <p:cond delay="0"/>
                                              </p:stCondLst>
                                            </p:cTn>
                                            <p:tgtEl>
                                              <p:spTgt spid="48"/>
                                            </p:tgtEl>
                                            <p:attrNameLst>
                                              <p:attrName>style.visibility</p:attrName>
                                            </p:attrNameLst>
                                          </p:cBhvr>
                                          <p:to>
                                            <p:strVal val="visible"/>
                                          </p:to>
                                        </p:set>
                                        <p:animEffect transition="in" filter="fade">
                                          <p:cBhvr>
                                            <p:cTn id="41" dur="500"/>
                                            <p:tgtEl>
                                              <p:spTgt spid="48"/>
                                            </p:tgtEl>
                                          </p:cBhvr>
                                        </p:animEffect>
                                      </p:childTnLst>
                                    </p:cTn>
                                  </p:par>
                                  <p:par>
                                    <p:cTn id="42" presetID="10" presetClass="entr" presetSubtype="0" fill="hold" grpId="0" nodeType="withEffect">
                                      <p:stCondLst>
                                        <p:cond delay="1250"/>
                                      </p:stCondLst>
                                      <p:childTnLst>
                                        <p:set>
                                          <p:cBhvr>
                                            <p:cTn id="43" dur="1" fill="hold">
                                              <p:stCondLst>
                                                <p:cond delay="0"/>
                                              </p:stCondLst>
                                            </p:cTn>
                                            <p:tgtEl>
                                              <p:spTgt spid="54"/>
                                            </p:tgtEl>
                                            <p:attrNameLst>
                                              <p:attrName>style.visibility</p:attrName>
                                            </p:attrNameLst>
                                          </p:cBhvr>
                                          <p:to>
                                            <p:strVal val="visible"/>
                                          </p:to>
                                        </p:set>
                                        <p:animEffect transition="in" filter="fade">
                                          <p:cBhvr>
                                            <p:cTn id="44" dur="500"/>
                                            <p:tgtEl>
                                              <p:spTgt spid="54"/>
                                            </p:tgtEl>
                                          </p:cBhvr>
                                        </p:animEffect>
                                      </p:childTnLst>
                                    </p:cTn>
                                  </p:par>
                                  <p:par>
                                    <p:cTn id="45" presetID="10" presetClass="entr" presetSubtype="0" fill="hold" grpId="0" nodeType="withEffect">
                                      <p:stCondLst>
                                        <p:cond delay="1250"/>
                                      </p:stCondLst>
                                      <p:childTnLst>
                                        <p:set>
                                          <p:cBhvr>
                                            <p:cTn id="46" dur="1" fill="hold">
                                              <p:stCondLst>
                                                <p:cond delay="0"/>
                                              </p:stCondLst>
                                            </p:cTn>
                                            <p:tgtEl>
                                              <p:spTgt spid="81"/>
                                            </p:tgtEl>
                                            <p:attrNameLst>
                                              <p:attrName>style.visibility</p:attrName>
                                            </p:attrNameLst>
                                          </p:cBhvr>
                                          <p:to>
                                            <p:strVal val="visible"/>
                                          </p:to>
                                        </p:set>
                                        <p:animEffect transition="in" filter="fade">
                                          <p:cBhvr>
                                            <p:cTn id="47" dur="500"/>
                                            <p:tgtEl>
                                              <p:spTgt spid="81"/>
                                            </p:tgtEl>
                                          </p:cBhvr>
                                        </p:animEffect>
                                      </p:childTnLst>
                                    </p:cTn>
                                  </p:par>
                                  <p:par>
                                    <p:cTn id="48" presetID="23" presetClass="entr" presetSubtype="16" fill="hold" nodeType="withEffect">
                                      <p:stCondLst>
                                        <p:cond delay="1000"/>
                                      </p:stCondLst>
                                      <p:childTnLst>
                                        <p:set>
                                          <p:cBhvr>
                                            <p:cTn id="49" dur="1" fill="hold">
                                              <p:stCondLst>
                                                <p:cond delay="0"/>
                                              </p:stCondLst>
                                            </p:cTn>
                                            <p:tgtEl>
                                              <p:spTgt spid="3"/>
                                            </p:tgtEl>
                                            <p:attrNameLst>
                                              <p:attrName>style.visibility</p:attrName>
                                            </p:attrNameLst>
                                          </p:cBhvr>
                                          <p:to>
                                            <p:strVal val="visible"/>
                                          </p:to>
                                        </p:set>
                                        <p:anim calcmode="lin" valueType="num">
                                          <p:cBhvr>
                                            <p:cTn id="50" dur="200" fill="hold"/>
                                            <p:tgtEl>
                                              <p:spTgt spid="3"/>
                                            </p:tgtEl>
                                            <p:attrNameLst>
                                              <p:attrName>ppt_w</p:attrName>
                                            </p:attrNameLst>
                                          </p:cBhvr>
                                          <p:tavLst>
                                            <p:tav tm="0">
                                              <p:val>
                                                <p:fltVal val="0"/>
                                              </p:val>
                                            </p:tav>
                                            <p:tav tm="100000">
                                              <p:val>
                                                <p:strVal val="#ppt_w"/>
                                              </p:val>
                                            </p:tav>
                                          </p:tavLst>
                                        </p:anim>
                                        <p:anim calcmode="lin" valueType="num">
                                          <p:cBhvr>
                                            <p:cTn id="51" dur="200" fill="hold"/>
                                            <p:tgtEl>
                                              <p:spTgt spid="3"/>
                                            </p:tgtEl>
                                            <p:attrNameLst>
                                              <p:attrName>ppt_h</p:attrName>
                                            </p:attrNameLst>
                                          </p:cBhvr>
                                          <p:tavLst>
                                            <p:tav tm="0">
                                              <p:val>
                                                <p:fltVal val="0"/>
                                              </p:val>
                                            </p:tav>
                                            <p:tav tm="100000">
                                              <p:val>
                                                <p:strVal val="#ppt_h"/>
                                              </p:val>
                                            </p:tav>
                                          </p:tavLst>
                                        </p:anim>
                                      </p:childTnLst>
                                    </p:cTn>
                                  </p:par>
                                  <p:par>
                                    <p:cTn id="52" presetID="6" presetClass="emph" presetSubtype="0" fill="hold" nodeType="withEffect">
                                      <p:stCondLst>
                                        <p:cond delay="1000"/>
                                      </p:stCondLst>
                                      <p:childTnLst>
                                        <p:animScale>
                                          <p:cBhvr>
                                            <p:cTn id="53" dur="1000" fill="hold"/>
                                            <p:tgtEl>
                                              <p:spTgt spid="3"/>
                                            </p:tgtEl>
                                          </p:cBhvr>
                                          <p:by x="110000" y="110000"/>
                                        </p:animScale>
                                      </p:childTnLst>
                                    </p:cTn>
                                  </p:par>
                                  <p:par>
                                    <p:cTn id="54" presetID="6" presetClass="emph" presetSubtype="0" accel="50000" decel="50000" fill="hold" nodeType="withEffect">
                                      <p:stCondLst>
                                        <p:cond delay="1000"/>
                                      </p:stCondLst>
                                      <p:childTnLst>
                                        <p:animScale>
                                          <p:cBhvr>
                                            <p:cTn id="55" dur="250" fill="hold"/>
                                            <p:tgtEl>
                                              <p:spTgt spid="3"/>
                                            </p:tgtEl>
                                          </p:cBhvr>
                                          <p:by x="91000" y="91000"/>
                                        </p:animScale>
                                      </p:childTnLst>
                                    </p:cTn>
                                  </p:par>
                                  <p:par>
                                    <p:cTn id="56" presetID="1" presetClass="entr" presetSubtype="0" fill="hold" nodeType="withEffect">
                                      <p:stCondLst>
                                        <p:cond delay="1000"/>
                                      </p:stCondLst>
                                      <p:childTnLst>
                                        <p:set>
                                          <p:cBhvr>
                                            <p:cTn id="57" dur="1" fill="hold">
                                              <p:stCondLst>
                                                <p:cond delay="0"/>
                                              </p:stCondLst>
                                            </p:cTn>
                                            <p:tgtEl>
                                              <p:spTgt spid="7"/>
                                            </p:tgtEl>
                                            <p:attrNameLst>
                                              <p:attrName>style.visibility</p:attrName>
                                            </p:attrNameLst>
                                          </p:cBhvr>
                                          <p:to>
                                            <p:strVal val="visible"/>
                                          </p:to>
                                        </p:set>
                                      </p:childTnLst>
                                    </p:cTn>
                                  </p:par>
                                  <p:par>
                                    <p:cTn id="58" presetID="23" presetClass="entr" presetSubtype="16" fill="hold" nodeType="withEffect">
                                      <p:stCondLst>
                                        <p:cond delay="1250"/>
                                      </p:stCondLst>
                                      <p:childTnLst>
                                        <p:set>
                                          <p:cBhvr>
                                            <p:cTn id="59" dur="1" fill="hold">
                                              <p:stCondLst>
                                                <p:cond delay="0"/>
                                              </p:stCondLst>
                                            </p:cTn>
                                            <p:tgtEl>
                                              <p:spTgt spid="10"/>
                                            </p:tgtEl>
                                            <p:attrNameLst>
                                              <p:attrName>style.visibility</p:attrName>
                                            </p:attrNameLst>
                                          </p:cBhvr>
                                          <p:to>
                                            <p:strVal val="visible"/>
                                          </p:to>
                                        </p:set>
                                        <p:anim calcmode="lin" valueType="num">
                                          <p:cBhvr>
                                            <p:cTn id="60" dur="200" fill="hold"/>
                                            <p:tgtEl>
                                              <p:spTgt spid="10"/>
                                            </p:tgtEl>
                                            <p:attrNameLst>
                                              <p:attrName>ppt_w</p:attrName>
                                            </p:attrNameLst>
                                          </p:cBhvr>
                                          <p:tavLst>
                                            <p:tav tm="0">
                                              <p:val>
                                                <p:fltVal val="0"/>
                                              </p:val>
                                            </p:tav>
                                            <p:tav tm="100000">
                                              <p:val>
                                                <p:strVal val="#ppt_w"/>
                                              </p:val>
                                            </p:tav>
                                          </p:tavLst>
                                        </p:anim>
                                        <p:anim calcmode="lin" valueType="num">
                                          <p:cBhvr>
                                            <p:cTn id="61" dur="200" fill="hold"/>
                                            <p:tgtEl>
                                              <p:spTgt spid="10"/>
                                            </p:tgtEl>
                                            <p:attrNameLst>
                                              <p:attrName>ppt_h</p:attrName>
                                            </p:attrNameLst>
                                          </p:cBhvr>
                                          <p:tavLst>
                                            <p:tav tm="0">
                                              <p:val>
                                                <p:fltVal val="0"/>
                                              </p:val>
                                            </p:tav>
                                            <p:tav tm="100000">
                                              <p:val>
                                                <p:strVal val="#ppt_h"/>
                                              </p:val>
                                            </p:tav>
                                          </p:tavLst>
                                        </p:anim>
                                      </p:childTnLst>
                                    </p:cTn>
                                  </p:par>
                                  <p:par>
                                    <p:cTn id="62" presetID="6" presetClass="emph" presetSubtype="0" fill="hold" nodeType="withEffect">
                                      <p:stCondLst>
                                        <p:cond delay="1250"/>
                                      </p:stCondLst>
                                      <p:childTnLst>
                                        <p:animScale>
                                          <p:cBhvr>
                                            <p:cTn id="63" dur="1000" fill="hold"/>
                                            <p:tgtEl>
                                              <p:spTgt spid="10"/>
                                            </p:tgtEl>
                                          </p:cBhvr>
                                          <p:by x="110000" y="110000"/>
                                        </p:animScale>
                                      </p:childTnLst>
                                    </p:cTn>
                                  </p:par>
                                  <p:par>
                                    <p:cTn id="64" presetID="6" presetClass="emph" presetSubtype="0" accel="50000" decel="50000" fill="hold" nodeType="withEffect">
                                      <p:stCondLst>
                                        <p:cond delay="1250"/>
                                      </p:stCondLst>
                                      <p:childTnLst>
                                        <p:animScale>
                                          <p:cBhvr>
                                            <p:cTn id="65" dur="250" fill="hold"/>
                                            <p:tgtEl>
                                              <p:spTgt spid="10"/>
                                            </p:tgtEl>
                                          </p:cBhvr>
                                          <p:by x="91000" y="91000"/>
                                        </p:animScale>
                                      </p:childTnLst>
                                    </p:cTn>
                                  </p:par>
                                  <p:par>
                                    <p:cTn id="66" presetID="10" presetClass="exit" presetSubtype="0" fill="hold" nodeType="withEffect">
                                      <p:stCondLst>
                                        <p:cond delay="1250"/>
                                      </p:stCondLst>
                                      <p:childTnLst>
                                        <p:animEffect transition="out" filter="fade">
                                          <p:cBhvr>
                                            <p:cTn id="67" dur="500"/>
                                            <p:tgtEl>
                                              <p:spTgt spid="15"/>
                                            </p:tgtEl>
                                          </p:cBhvr>
                                        </p:animEffect>
                                        <p:set>
                                          <p:cBhvr>
                                            <p:cTn id="68" dur="1" fill="hold">
                                              <p:stCondLst>
                                                <p:cond delay="499"/>
                                              </p:stCondLst>
                                            </p:cTn>
                                            <p:tgtEl>
                                              <p:spTgt spid="15"/>
                                            </p:tgtEl>
                                            <p:attrNameLst>
                                              <p:attrName>style.visibility</p:attrName>
                                            </p:attrNameLst>
                                          </p:cBhvr>
                                          <p:to>
                                            <p:strVal val="hidden"/>
                                          </p:to>
                                        </p:set>
                                      </p:childTnLst>
                                    </p:cTn>
                                  </p:par>
                                  <p:par>
                                    <p:cTn id="69" presetID="23" presetClass="entr" presetSubtype="16" fill="hold" nodeType="withEffect">
                                      <p:stCondLst>
                                        <p:cond delay="1500"/>
                                      </p:stCondLst>
                                      <p:childTnLst>
                                        <p:set>
                                          <p:cBhvr>
                                            <p:cTn id="70" dur="1" fill="hold">
                                              <p:stCondLst>
                                                <p:cond delay="0"/>
                                              </p:stCondLst>
                                            </p:cTn>
                                            <p:tgtEl>
                                              <p:spTgt spid="4"/>
                                            </p:tgtEl>
                                            <p:attrNameLst>
                                              <p:attrName>style.visibility</p:attrName>
                                            </p:attrNameLst>
                                          </p:cBhvr>
                                          <p:to>
                                            <p:strVal val="visible"/>
                                          </p:to>
                                        </p:set>
                                        <p:anim calcmode="lin" valueType="num">
                                          <p:cBhvr>
                                            <p:cTn id="71" dur="200" fill="hold"/>
                                            <p:tgtEl>
                                              <p:spTgt spid="4"/>
                                            </p:tgtEl>
                                            <p:attrNameLst>
                                              <p:attrName>ppt_w</p:attrName>
                                            </p:attrNameLst>
                                          </p:cBhvr>
                                          <p:tavLst>
                                            <p:tav tm="0">
                                              <p:val>
                                                <p:fltVal val="0"/>
                                              </p:val>
                                            </p:tav>
                                            <p:tav tm="100000">
                                              <p:val>
                                                <p:strVal val="#ppt_w"/>
                                              </p:val>
                                            </p:tav>
                                          </p:tavLst>
                                        </p:anim>
                                        <p:anim calcmode="lin" valueType="num">
                                          <p:cBhvr>
                                            <p:cTn id="72" dur="200" fill="hold"/>
                                            <p:tgtEl>
                                              <p:spTgt spid="4"/>
                                            </p:tgtEl>
                                            <p:attrNameLst>
                                              <p:attrName>ppt_h</p:attrName>
                                            </p:attrNameLst>
                                          </p:cBhvr>
                                          <p:tavLst>
                                            <p:tav tm="0">
                                              <p:val>
                                                <p:fltVal val="0"/>
                                              </p:val>
                                            </p:tav>
                                            <p:tav tm="100000">
                                              <p:val>
                                                <p:strVal val="#ppt_h"/>
                                              </p:val>
                                            </p:tav>
                                          </p:tavLst>
                                        </p:anim>
                                      </p:childTnLst>
                                    </p:cTn>
                                  </p:par>
                                  <p:par>
                                    <p:cTn id="73" presetID="6" presetClass="emph" presetSubtype="0" fill="hold" nodeType="withEffect">
                                      <p:stCondLst>
                                        <p:cond delay="1500"/>
                                      </p:stCondLst>
                                      <p:childTnLst>
                                        <p:animScale>
                                          <p:cBhvr>
                                            <p:cTn id="74" dur="1000" fill="hold"/>
                                            <p:tgtEl>
                                              <p:spTgt spid="4"/>
                                            </p:tgtEl>
                                          </p:cBhvr>
                                          <p:by x="110000" y="110000"/>
                                        </p:animScale>
                                      </p:childTnLst>
                                    </p:cTn>
                                  </p:par>
                                  <p:par>
                                    <p:cTn id="75" presetID="6" presetClass="emph" presetSubtype="0" accel="50000" decel="50000" fill="hold" nodeType="withEffect">
                                      <p:stCondLst>
                                        <p:cond delay="1500"/>
                                      </p:stCondLst>
                                      <p:childTnLst>
                                        <p:animScale>
                                          <p:cBhvr>
                                            <p:cTn id="76" dur="250" fill="hold"/>
                                            <p:tgtEl>
                                              <p:spTgt spid="4"/>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0" grpId="0"/>
          <p:bldP spid="40" grpId="1"/>
          <p:bldP spid="53" grpId="0" animBg="1"/>
          <p:bldP spid="54" grpId="0" animBg="1"/>
          <p:bldP spid="81" grpId="0"/>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Isosceles Triangle 185">
            <a:extLst>
              <a:ext uri="{FF2B5EF4-FFF2-40B4-BE49-F238E27FC236}">
                <a16:creationId xmlns:a16="http://schemas.microsoft.com/office/drawing/2014/main" id="{B5365443-2AB0-4F9F-A251-4CFD23D10F11}"/>
              </a:ext>
            </a:extLst>
          </p:cNvPr>
          <p:cNvSpPr/>
          <p:nvPr/>
        </p:nvSpPr>
        <p:spPr>
          <a:xfrm rot="5400000">
            <a:off x="4186653" y="838634"/>
            <a:ext cx="303579" cy="138833"/>
          </a:xfrm>
          <a:prstGeom prst="triangle">
            <a:avLst/>
          </a:prstGeom>
          <a:solidFill>
            <a:srgbClr val="0077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B194DFA-D81F-45C6-98D0-615747557E57}"/>
              </a:ext>
            </a:extLst>
          </p:cNvPr>
          <p:cNvSpPr/>
          <p:nvPr/>
        </p:nvSpPr>
        <p:spPr>
          <a:xfrm>
            <a:off x="0" y="3806240"/>
            <a:ext cx="12192000" cy="30517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0" name="Picture 169" descr="Shape, circle&#10;&#10;Description automatically generated">
            <a:extLst>
              <a:ext uri="{FF2B5EF4-FFF2-40B4-BE49-F238E27FC236}">
                <a16:creationId xmlns:a16="http://schemas.microsoft.com/office/drawing/2014/main" id="{EEB2B992-2400-4EEE-A3C6-C52D633A15B2}"/>
              </a:ext>
            </a:extLst>
          </p:cNvPr>
          <p:cNvPicPr>
            <a:picLocks noChangeAspect="1"/>
          </p:cNvPicPr>
          <p:nvPr/>
        </p:nvPicPr>
        <p:blipFill rotWithShape="1">
          <a:blip r:embed="rId2">
            <a:extLst>
              <a:ext uri="{28A0092B-C50C-407E-A947-70E740481C1C}">
                <a14:useLocalDpi xmlns:a14="http://schemas.microsoft.com/office/drawing/2010/main" val="0"/>
              </a:ext>
            </a:extLst>
          </a:blip>
          <a:srcRect r="64988"/>
          <a:stretch/>
        </p:blipFill>
        <p:spPr>
          <a:xfrm>
            <a:off x="0" y="0"/>
            <a:ext cx="4268596" cy="6858000"/>
          </a:xfrm>
          <a:prstGeom prst="rect">
            <a:avLst/>
          </a:prstGeom>
        </p:spPr>
      </p:pic>
      <p:grpSp>
        <p:nvGrpSpPr>
          <p:cNvPr id="182" name="Group 181">
            <a:extLst>
              <a:ext uri="{FF2B5EF4-FFF2-40B4-BE49-F238E27FC236}">
                <a16:creationId xmlns:a16="http://schemas.microsoft.com/office/drawing/2014/main" id="{77396E5F-348C-4338-B293-968BEA981FDB}"/>
              </a:ext>
            </a:extLst>
          </p:cNvPr>
          <p:cNvGrpSpPr/>
          <p:nvPr/>
        </p:nvGrpSpPr>
        <p:grpSpPr>
          <a:xfrm>
            <a:off x="252552" y="6342796"/>
            <a:ext cx="11686895" cy="398170"/>
            <a:chOff x="252552" y="6226684"/>
            <a:chExt cx="11686895" cy="398170"/>
          </a:xfrm>
        </p:grpSpPr>
        <p:grpSp>
          <p:nvGrpSpPr>
            <p:cNvPr id="172" name="Group 171">
              <a:extLst>
                <a:ext uri="{FF2B5EF4-FFF2-40B4-BE49-F238E27FC236}">
                  <a16:creationId xmlns:a16="http://schemas.microsoft.com/office/drawing/2014/main" id="{043DA00A-4155-4488-8261-DB136097B10C}"/>
                </a:ext>
              </a:extLst>
            </p:cNvPr>
            <p:cNvGrpSpPr/>
            <p:nvPr/>
          </p:nvGrpSpPr>
          <p:grpSpPr>
            <a:xfrm>
              <a:off x="252552" y="6293241"/>
              <a:ext cx="1266906" cy="265056"/>
              <a:chOff x="5600700" y="-854146"/>
              <a:chExt cx="989647" cy="207049"/>
            </a:xfrm>
          </p:grpSpPr>
          <p:sp>
            <p:nvSpPr>
              <p:cNvPr id="173" name="Freeform: Shape 172">
                <a:extLst>
                  <a:ext uri="{FF2B5EF4-FFF2-40B4-BE49-F238E27FC236}">
                    <a16:creationId xmlns:a16="http://schemas.microsoft.com/office/drawing/2014/main" id="{5529D942-D3DC-4AA5-A11E-2EAD767EE35D}"/>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0755DD92-DC0C-4053-A436-745AF0A70850}"/>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4518EE33-E21D-4E76-B041-14F423E26EAD}"/>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4C711A2-EC08-414B-B62D-F848E4E33BC2}"/>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7152FC00-E28E-4906-9909-07FB83382FA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5C0BFA11-C3DB-4246-9AA5-3EC58FE54C46}"/>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D22D6EE2-4EA8-4E7A-B8FF-7F9FE44552D8}"/>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BDBBAA55-241D-4C91-804F-8945A70DB132}"/>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BE44E2D9-A68F-4AE8-873F-8B818D81D3B6}"/>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2541" y="6226684"/>
              <a:ext cx="1266906" cy="398170"/>
            </a:xfrm>
            <a:prstGeom prst="rect">
              <a:avLst/>
            </a:prstGeom>
          </p:spPr>
        </p:pic>
      </p:grpSp>
      <p:grpSp>
        <p:nvGrpSpPr>
          <p:cNvPr id="204" name="Group 203">
            <a:extLst>
              <a:ext uri="{FF2B5EF4-FFF2-40B4-BE49-F238E27FC236}">
                <a16:creationId xmlns:a16="http://schemas.microsoft.com/office/drawing/2014/main" id="{8D232F56-D67C-4B26-88A3-7B09F55BA0C0}"/>
              </a:ext>
            </a:extLst>
          </p:cNvPr>
          <p:cNvGrpSpPr/>
          <p:nvPr/>
        </p:nvGrpSpPr>
        <p:grpSpPr>
          <a:xfrm>
            <a:off x="4693287" y="587349"/>
            <a:ext cx="6035672" cy="720197"/>
            <a:chOff x="4693287" y="587349"/>
            <a:chExt cx="6035672" cy="720197"/>
          </a:xfrm>
        </p:grpSpPr>
        <p:sp>
          <p:nvSpPr>
            <p:cNvPr id="145" name="TextBox 144">
              <a:extLst>
                <a:ext uri="{FF2B5EF4-FFF2-40B4-BE49-F238E27FC236}">
                  <a16:creationId xmlns:a16="http://schemas.microsoft.com/office/drawing/2014/main" id="{D59667F7-C02E-49C7-8333-0CD094B66B5E}"/>
                </a:ext>
              </a:extLst>
            </p:cNvPr>
            <p:cNvSpPr txBox="1"/>
            <p:nvPr/>
          </p:nvSpPr>
          <p:spPr>
            <a:xfrm>
              <a:off x="4693287" y="587349"/>
              <a:ext cx="3275964" cy="720197"/>
            </a:xfrm>
            <a:prstGeom prst="rect">
              <a:avLst/>
            </a:prstGeom>
            <a:noFill/>
          </p:spPr>
          <p:txBody>
            <a:bodyPr wrap="square" rtlCol="0">
              <a:spAutoFit/>
            </a:bodyPr>
            <a:lstStyle/>
            <a:p>
              <a:pPr lvl="0">
                <a:lnSpc>
                  <a:spcPct val="85000"/>
                </a:lnSpc>
                <a:defRPr/>
              </a:pPr>
              <a:r>
                <a:rPr lang="pt-PT" sz="2400" b="1" spc="300" dirty="0">
                  <a:solidFill>
                    <a:srgbClr val="022A79"/>
                  </a:solidFill>
                  <a:latin typeface="Trebuchet MS" panose="020B0603020202020204" pitchFamily="34" charset="0"/>
                  <a:ea typeface="Verdana" panose="020B0604030504040204" pitchFamily="34" charset="0"/>
                  <a:cs typeface="Zilla Slab Light"/>
                  <a:sym typeface="Zilla Slab Light"/>
                </a:rPr>
                <a:t>DIAGNÓSTICO </a:t>
              </a:r>
              <a:br>
                <a:rPr lang="pt-PT" sz="2400" b="1" spc="300" dirty="0">
                  <a:solidFill>
                    <a:srgbClr val="022A79"/>
                  </a:solidFill>
                  <a:latin typeface="Trebuchet MS" panose="020B0603020202020204" pitchFamily="34" charset="0"/>
                  <a:ea typeface="Verdana" panose="020B0604030504040204" pitchFamily="34" charset="0"/>
                  <a:cs typeface="Zilla Slab Light"/>
                  <a:sym typeface="Zilla Slab Light"/>
                </a:rPr>
              </a:br>
              <a:r>
                <a:rPr lang="pt-PT" sz="2400" b="1" spc="300" dirty="0">
                  <a:solidFill>
                    <a:srgbClr val="022A79"/>
                  </a:solidFill>
                  <a:latin typeface="Trebuchet MS" panose="020B0603020202020204" pitchFamily="34" charset="0"/>
                  <a:ea typeface="Verdana" panose="020B0604030504040204" pitchFamily="34" charset="0"/>
                  <a:cs typeface="Zilla Slab Light"/>
                  <a:sym typeface="Zilla Slab Light"/>
                </a:rPr>
                <a:t>DE LA MIGRAÑA</a:t>
              </a:r>
              <a:r>
                <a:rPr lang="pt-PT" sz="2400" b="1" spc="300" baseline="30000" dirty="0">
                  <a:solidFill>
                    <a:srgbClr val="022A79"/>
                  </a:solidFill>
                  <a:latin typeface="Trebuchet MS" panose="020B0603020202020204" pitchFamily="34" charset="0"/>
                  <a:ea typeface="Verdana" panose="020B0604030504040204" pitchFamily="34" charset="0"/>
                  <a:cs typeface="Zilla Slab Light"/>
                  <a:sym typeface="Zilla Slab Light"/>
                </a:rPr>
                <a:t>3-6</a:t>
              </a:r>
              <a:endParaRPr kumimoji="0" lang="en-US" sz="2400" b="1" i="0" u="none" strike="noStrike" kern="1200" cap="none" spc="300" normalizeH="0" baseline="30000" noProof="0" dirty="0">
                <a:ln>
                  <a:noFill/>
                </a:ln>
                <a:solidFill>
                  <a:srgbClr val="022A79"/>
                </a:solidFill>
                <a:uLnTx/>
                <a:uFillTx/>
                <a:latin typeface="Trebuchet MS" panose="020B0603020202020204" pitchFamily="34" charset="0"/>
                <a:ea typeface="Verdana" panose="020B0604030504040204" pitchFamily="34" charset="0"/>
                <a:cs typeface="Zilla Slab Light"/>
                <a:sym typeface="Zilla Slab Light"/>
              </a:endParaRPr>
            </a:p>
          </p:txBody>
        </p:sp>
        <p:cxnSp>
          <p:nvCxnSpPr>
            <p:cNvPr id="146" name="Straight Connector 145">
              <a:extLst>
                <a:ext uri="{FF2B5EF4-FFF2-40B4-BE49-F238E27FC236}">
                  <a16:creationId xmlns:a16="http://schemas.microsoft.com/office/drawing/2014/main" id="{2EE52092-5907-4910-B6EB-C6B3B5B94F2F}"/>
                </a:ext>
              </a:extLst>
            </p:cNvPr>
            <p:cNvCxnSpPr>
              <a:cxnSpLocks/>
            </p:cNvCxnSpPr>
            <p:nvPr/>
          </p:nvCxnSpPr>
          <p:spPr>
            <a:xfrm>
              <a:off x="8039098" y="657225"/>
              <a:ext cx="0" cy="50165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7" name="TextBox 146">
              <a:extLst>
                <a:ext uri="{FF2B5EF4-FFF2-40B4-BE49-F238E27FC236}">
                  <a16:creationId xmlns:a16="http://schemas.microsoft.com/office/drawing/2014/main" id="{00936935-D0AA-4A13-83DD-9F0DF8DC748C}"/>
                </a:ext>
              </a:extLst>
            </p:cNvPr>
            <p:cNvSpPr txBox="1"/>
            <p:nvPr/>
          </p:nvSpPr>
          <p:spPr>
            <a:xfrm>
              <a:off x="8074662" y="639671"/>
              <a:ext cx="2654297" cy="615553"/>
            </a:xfrm>
            <a:prstGeom prst="rect">
              <a:avLst/>
            </a:prstGeom>
            <a:noFill/>
          </p:spPr>
          <p:txBody>
            <a:bodyPr wrap="square" rtlCol="0">
              <a:spAutoFit/>
            </a:bodyPr>
            <a:lstStyle/>
            <a:p>
              <a:pPr lvl="0">
                <a:lnSpc>
                  <a:spcPct val="85000"/>
                </a:lnSpc>
                <a:defRPr/>
              </a:pPr>
              <a:r>
                <a:rPr lang="pt-PT" sz="2000" dirty="0">
                  <a:latin typeface="Trebuchet MS" panose="020B0603020202020204" pitchFamily="34" charset="0"/>
                  <a:ea typeface="Verdana" panose="020B0604030504040204" pitchFamily="34" charset="0"/>
                  <a:cs typeface="Zilla Slab Light"/>
                  <a:sym typeface="Zilla Slab Light"/>
                </a:rPr>
                <a:t>Um mínimo de 5 crisis de cefalea con:</a:t>
              </a:r>
              <a:endParaRPr kumimoji="0" lang="en-US" sz="2000" i="0" u="none" strike="noStrike" kern="1200" cap="none" normalizeH="0" baseline="0" noProof="0" dirty="0">
                <a:ln>
                  <a:noFill/>
                </a:ln>
                <a:uLnTx/>
                <a:uFillTx/>
                <a:latin typeface="Trebuchet MS" panose="020B0603020202020204" pitchFamily="34" charset="0"/>
                <a:ea typeface="Verdana" panose="020B0604030504040204" pitchFamily="34" charset="0"/>
                <a:cs typeface="Zilla Slab Light"/>
                <a:sym typeface="Zilla Slab Light"/>
              </a:endParaRPr>
            </a:p>
          </p:txBody>
        </p:sp>
      </p:grpSp>
      <p:sp>
        <p:nvSpPr>
          <p:cNvPr id="149" name="TextBox 148">
            <a:extLst>
              <a:ext uri="{FF2B5EF4-FFF2-40B4-BE49-F238E27FC236}">
                <a16:creationId xmlns:a16="http://schemas.microsoft.com/office/drawing/2014/main" id="{4218603C-3D30-452E-8715-61DC15C4F7B7}"/>
              </a:ext>
            </a:extLst>
          </p:cNvPr>
          <p:cNvSpPr txBox="1"/>
          <p:nvPr/>
        </p:nvSpPr>
        <p:spPr>
          <a:xfrm>
            <a:off x="4683761" y="6069874"/>
            <a:ext cx="5580611" cy="327782"/>
          </a:xfrm>
          <a:prstGeom prst="rect">
            <a:avLst/>
          </a:prstGeom>
          <a:noFill/>
        </p:spPr>
        <p:txBody>
          <a:bodyPr wrap="square" rtlCol="0">
            <a:spAutoFit/>
          </a:bodyPr>
          <a:lstStyle/>
          <a:p>
            <a:pPr lvl="0">
              <a:lnSpc>
                <a:spcPct val="85000"/>
              </a:lnSpc>
              <a:defRPr/>
            </a:pPr>
            <a:r>
              <a:rPr lang="en-US" sz="900" dirty="0">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1- </a:t>
            </a:r>
            <a:r>
              <a:rPr lang="en-US" sz="900" dirty="0" err="1">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Comité</a:t>
            </a:r>
            <a:r>
              <a:rPr lang="en-US" sz="900" dirty="0">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 de </a:t>
            </a:r>
            <a:r>
              <a:rPr lang="en-US" sz="900" dirty="0" err="1">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Clasificación</a:t>
            </a:r>
            <a:r>
              <a:rPr lang="en-US" sz="900" dirty="0">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 de </a:t>
            </a:r>
            <a:r>
              <a:rPr lang="en-US" sz="900" dirty="0" err="1">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Cefaleas</a:t>
            </a:r>
            <a:r>
              <a:rPr lang="en-US" sz="900" dirty="0">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 de la International Headache Society (IHS). The International Classification of Headache Disorders, 3.ª </a:t>
            </a:r>
            <a:r>
              <a:rPr lang="en-US" sz="900" dirty="0" err="1">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edición</a:t>
            </a:r>
            <a:r>
              <a:rPr lang="en-US" sz="900" dirty="0">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 (</a:t>
            </a:r>
            <a:r>
              <a:rPr lang="en-US" sz="900" dirty="0" err="1">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versión</a:t>
            </a:r>
            <a:r>
              <a:rPr lang="en-US" sz="900" dirty="0">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 beta). Cephalalgia. 2013 Jul;33(9):629-808.</a:t>
            </a:r>
          </a:p>
        </p:txBody>
      </p:sp>
      <p:sp>
        <p:nvSpPr>
          <p:cNvPr id="150" name="TextBox 149">
            <a:extLst>
              <a:ext uri="{FF2B5EF4-FFF2-40B4-BE49-F238E27FC236}">
                <a16:creationId xmlns:a16="http://schemas.microsoft.com/office/drawing/2014/main" id="{97AE9CDE-843A-4016-BD11-6A012486773C}"/>
              </a:ext>
            </a:extLst>
          </p:cNvPr>
          <p:cNvSpPr txBox="1"/>
          <p:nvPr/>
        </p:nvSpPr>
        <p:spPr>
          <a:xfrm>
            <a:off x="468407" y="580642"/>
            <a:ext cx="3389218" cy="510909"/>
          </a:xfrm>
          <a:prstGeom prst="rect">
            <a:avLst/>
          </a:prstGeom>
          <a:noFill/>
        </p:spPr>
        <p:txBody>
          <a:bodyPr wrap="square" rtlCol="0">
            <a:spAutoFit/>
          </a:bodyPr>
          <a:lstStyle/>
          <a:p>
            <a:pPr lvl="0">
              <a:lnSpc>
                <a:spcPct val="85000"/>
              </a:lnSpc>
              <a:defRPr/>
            </a:pPr>
            <a:r>
              <a:rPr lang="pt-PT" sz="3200" b="1" spc="300" dirty="0">
                <a:solidFill>
                  <a:schemeClr val="bg1"/>
                </a:solidFill>
                <a:latin typeface="Trebuchet MS" panose="020B0603020202020204" pitchFamily="34" charset="0"/>
                <a:ea typeface="Verdana" panose="020B0604030504040204" pitchFamily="34" charset="0"/>
                <a:cs typeface="Zilla Slab Light"/>
                <a:sym typeface="Zilla Slab Light"/>
              </a:rPr>
              <a:t>DIAGNÓSTICO</a:t>
            </a:r>
            <a:r>
              <a:rPr lang="pt-PT" sz="3200" b="1" spc="300" baseline="30000" dirty="0">
                <a:solidFill>
                  <a:schemeClr val="bg1"/>
                </a:solidFill>
                <a:latin typeface="Trebuchet MS" panose="020B0603020202020204" pitchFamily="34" charset="0"/>
                <a:ea typeface="Verdana" panose="020B0604030504040204" pitchFamily="34" charset="0"/>
                <a:cs typeface="Zilla Slab Light"/>
                <a:sym typeface="Zilla Slab Light"/>
              </a:rPr>
              <a:t>1</a:t>
            </a:r>
            <a:endParaRPr kumimoji="0" lang="en-US" sz="3200" b="1" i="0" u="none" strike="noStrike" kern="1200" cap="none" spc="300" normalizeH="0" baseline="30000" noProof="0" dirty="0">
              <a:ln>
                <a:noFill/>
              </a:ln>
              <a:solidFill>
                <a:schemeClr val="bg1"/>
              </a:solidFill>
              <a:uLnTx/>
              <a:uFillTx/>
              <a:latin typeface="Trebuchet MS" panose="020B0603020202020204" pitchFamily="34" charset="0"/>
              <a:ea typeface="Verdana" panose="020B0604030504040204" pitchFamily="34" charset="0"/>
              <a:cs typeface="Zilla Slab Light"/>
              <a:sym typeface="Zilla Slab Light"/>
            </a:endParaRPr>
          </a:p>
        </p:txBody>
      </p:sp>
      <p:sp>
        <p:nvSpPr>
          <p:cNvPr id="152" name="Partial Circle 151">
            <a:extLst>
              <a:ext uri="{FF2B5EF4-FFF2-40B4-BE49-F238E27FC236}">
                <a16:creationId xmlns:a16="http://schemas.microsoft.com/office/drawing/2014/main" id="{293A5A73-3600-4FA2-9D91-BD45E683E1CD}"/>
              </a:ext>
            </a:extLst>
          </p:cNvPr>
          <p:cNvSpPr/>
          <p:nvPr/>
        </p:nvSpPr>
        <p:spPr>
          <a:xfrm flipH="1">
            <a:off x="470399" y="1361030"/>
            <a:ext cx="1028646" cy="1028646"/>
          </a:xfrm>
          <a:prstGeom prst="pie">
            <a:avLst>
              <a:gd name="adj1" fmla="val 5427978"/>
              <a:gd name="adj2" fmla="val 16200000"/>
            </a:avLst>
          </a:prstGeom>
          <a:solidFill>
            <a:srgbClr val="00AEEF"/>
          </a:soli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Partial Circle 155">
            <a:extLst>
              <a:ext uri="{FF2B5EF4-FFF2-40B4-BE49-F238E27FC236}">
                <a16:creationId xmlns:a16="http://schemas.microsoft.com/office/drawing/2014/main" id="{E58D7818-C0C3-49C7-940B-350D4E91130F}"/>
              </a:ext>
            </a:extLst>
          </p:cNvPr>
          <p:cNvSpPr/>
          <p:nvPr/>
        </p:nvSpPr>
        <p:spPr>
          <a:xfrm flipH="1">
            <a:off x="470399" y="2769406"/>
            <a:ext cx="1028646" cy="1028646"/>
          </a:xfrm>
          <a:prstGeom prst="pie">
            <a:avLst>
              <a:gd name="adj1" fmla="val 5427978"/>
              <a:gd name="adj2" fmla="val 16200000"/>
            </a:avLst>
          </a:prstGeom>
          <a:solidFill>
            <a:srgbClr val="00AEEF"/>
          </a:soli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8" name="Straight Connector 157">
            <a:extLst>
              <a:ext uri="{FF2B5EF4-FFF2-40B4-BE49-F238E27FC236}">
                <a16:creationId xmlns:a16="http://schemas.microsoft.com/office/drawing/2014/main" id="{14E219CD-9F81-4B02-9CD1-4AA5D309954F}"/>
              </a:ext>
            </a:extLst>
          </p:cNvPr>
          <p:cNvCxnSpPr>
            <a:cxnSpLocks/>
          </p:cNvCxnSpPr>
          <p:nvPr/>
        </p:nvCxnSpPr>
        <p:spPr>
          <a:xfrm>
            <a:off x="590550" y="2579541"/>
            <a:ext cx="3389219" cy="0"/>
          </a:xfrm>
          <a:prstGeom prst="line">
            <a:avLst/>
          </a:prstGeom>
          <a:ln>
            <a:solidFill>
              <a:srgbClr val="022A79">
                <a:alpha val="50196"/>
              </a:srgbClr>
            </a:solidFill>
          </a:ln>
        </p:spPr>
        <p:style>
          <a:lnRef idx="1">
            <a:schemeClr val="accent1"/>
          </a:lnRef>
          <a:fillRef idx="0">
            <a:schemeClr val="accent1"/>
          </a:fillRef>
          <a:effectRef idx="0">
            <a:schemeClr val="accent1"/>
          </a:effectRef>
          <a:fontRef idx="minor">
            <a:schemeClr val="tx1"/>
          </a:fontRef>
        </p:style>
      </p:cxnSp>
      <p:sp>
        <p:nvSpPr>
          <p:cNvPr id="161" name="TextBox 160">
            <a:extLst>
              <a:ext uri="{FF2B5EF4-FFF2-40B4-BE49-F238E27FC236}">
                <a16:creationId xmlns:a16="http://schemas.microsoft.com/office/drawing/2014/main" id="{4B55652F-A762-4747-9EF3-7687171427BD}"/>
              </a:ext>
            </a:extLst>
          </p:cNvPr>
          <p:cNvSpPr txBox="1"/>
          <p:nvPr/>
        </p:nvSpPr>
        <p:spPr>
          <a:xfrm>
            <a:off x="1667512" y="1698382"/>
            <a:ext cx="1485263" cy="353943"/>
          </a:xfrm>
          <a:prstGeom prst="rect">
            <a:avLst/>
          </a:prstGeom>
          <a:noFill/>
        </p:spPr>
        <p:txBody>
          <a:bodyPr wrap="square" rtlCol="0">
            <a:spAutoFit/>
          </a:bodyPr>
          <a:lstStyle/>
          <a:p>
            <a:pPr lvl="0">
              <a:lnSpc>
                <a:spcPct val="85000"/>
              </a:lnSpc>
              <a:defRPr/>
            </a:pPr>
            <a:r>
              <a:rPr lang="pt-PT" sz="2000" dirty="0">
                <a:solidFill>
                  <a:schemeClr val="bg1"/>
                </a:solidFill>
                <a:latin typeface="Trebuchet MS" panose="020B0603020202020204" pitchFamily="34" charset="0"/>
                <a:ea typeface="Verdana" panose="020B0604030504040204" pitchFamily="34" charset="0"/>
                <a:cs typeface="Zilla Slab Light"/>
                <a:sym typeface="Zilla Slab Light"/>
              </a:rPr>
              <a:t>Sin aura</a:t>
            </a:r>
          </a:p>
        </p:txBody>
      </p:sp>
      <p:sp>
        <p:nvSpPr>
          <p:cNvPr id="162" name="TextBox 161">
            <a:extLst>
              <a:ext uri="{FF2B5EF4-FFF2-40B4-BE49-F238E27FC236}">
                <a16:creationId xmlns:a16="http://schemas.microsoft.com/office/drawing/2014/main" id="{3E08A982-8D1B-4106-B22A-9CD05973F24C}"/>
              </a:ext>
            </a:extLst>
          </p:cNvPr>
          <p:cNvSpPr txBox="1"/>
          <p:nvPr/>
        </p:nvSpPr>
        <p:spPr>
          <a:xfrm>
            <a:off x="1667512" y="3106758"/>
            <a:ext cx="1485263" cy="353943"/>
          </a:xfrm>
          <a:prstGeom prst="rect">
            <a:avLst/>
          </a:prstGeom>
          <a:noFill/>
        </p:spPr>
        <p:txBody>
          <a:bodyPr wrap="square" rtlCol="0">
            <a:spAutoFit/>
          </a:bodyPr>
          <a:lstStyle/>
          <a:p>
            <a:pPr lvl="0">
              <a:lnSpc>
                <a:spcPct val="85000"/>
              </a:lnSpc>
              <a:defRPr/>
            </a:pPr>
            <a:r>
              <a:rPr lang="pt-PT" sz="2000" dirty="0">
                <a:solidFill>
                  <a:schemeClr val="bg1"/>
                </a:solidFill>
                <a:latin typeface="Trebuchet MS" panose="020B0603020202020204" pitchFamily="34" charset="0"/>
                <a:ea typeface="Verdana" panose="020B0604030504040204" pitchFamily="34" charset="0"/>
                <a:cs typeface="Zilla Slab Light"/>
                <a:sym typeface="Zilla Slab Light"/>
              </a:rPr>
              <a:t>Con aura</a:t>
            </a:r>
          </a:p>
        </p:txBody>
      </p:sp>
      <p:sp>
        <p:nvSpPr>
          <p:cNvPr id="168" name="TextBox 167">
            <a:extLst>
              <a:ext uri="{FF2B5EF4-FFF2-40B4-BE49-F238E27FC236}">
                <a16:creationId xmlns:a16="http://schemas.microsoft.com/office/drawing/2014/main" id="{B89D1496-1278-4C63-9EFC-3CB00FA40BFE}"/>
              </a:ext>
            </a:extLst>
          </p:cNvPr>
          <p:cNvSpPr txBox="1"/>
          <p:nvPr/>
        </p:nvSpPr>
        <p:spPr>
          <a:xfrm>
            <a:off x="712787" y="5206848"/>
            <a:ext cx="3332822" cy="877163"/>
          </a:xfrm>
          <a:prstGeom prst="rect">
            <a:avLst/>
          </a:prstGeom>
          <a:noFill/>
        </p:spPr>
        <p:txBody>
          <a:bodyPr wrap="square" rtlCol="0">
            <a:spAutoFit/>
          </a:bodyPr>
          <a:lstStyle/>
          <a:p>
            <a:pPr lvl="0">
              <a:lnSpc>
                <a:spcPct val="85000"/>
              </a:lnSpc>
              <a:defRPr/>
            </a:pPr>
            <a:r>
              <a:rPr lang="es-ES" sz="2000" dirty="0">
                <a:solidFill>
                  <a:schemeClr val="bg1"/>
                </a:solidFill>
                <a:latin typeface="Trebuchet MS" panose="020B0603020202020204" pitchFamily="34" charset="0"/>
                <a:ea typeface="Verdana" panose="020B0604030504040204" pitchFamily="34" charset="0"/>
                <a:cs typeface="Zilla Slab Light"/>
                <a:sym typeface="Zilla Slab Light"/>
              </a:rPr>
              <a:t>No existen pruebas de diagnóstico para ninguna de las cefaleas primarias</a:t>
            </a:r>
          </a:p>
        </p:txBody>
      </p:sp>
      <p:grpSp>
        <p:nvGrpSpPr>
          <p:cNvPr id="37" name="Group 36">
            <a:extLst>
              <a:ext uri="{FF2B5EF4-FFF2-40B4-BE49-F238E27FC236}">
                <a16:creationId xmlns:a16="http://schemas.microsoft.com/office/drawing/2014/main" id="{0BE31391-F1DC-411A-87D1-5112B9F266CA}"/>
              </a:ext>
            </a:extLst>
          </p:cNvPr>
          <p:cNvGrpSpPr/>
          <p:nvPr/>
        </p:nvGrpSpPr>
        <p:grpSpPr>
          <a:xfrm>
            <a:off x="252552" y="6409353"/>
            <a:ext cx="1266906" cy="265056"/>
            <a:chOff x="5600700" y="-854146"/>
            <a:chExt cx="989647" cy="207049"/>
          </a:xfrm>
          <a:solidFill>
            <a:schemeClr val="bg1"/>
          </a:solidFill>
        </p:grpSpPr>
        <p:sp>
          <p:nvSpPr>
            <p:cNvPr id="41" name="Freeform: Shape 40">
              <a:extLst>
                <a:ext uri="{FF2B5EF4-FFF2-40B4-BE49-F238E27FC236}">
                  <a16:creationId xmlns:a16="http://schemas.microsoft.com/office/drawing/2014/main" id="{13F13A9E-8B05-4590-A769-7FB4E7D04AA7}"/>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C0B628-3DD6-4944-9D84-B56861B58EF6}"/>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017A177-EC27-403B-8372-86A3DBE3082E}"/>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E32EB9E-2686-4B42-9E63-9A43DDA63D58}"/>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2470303-A478-48C3-AD44-38AA76CC623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A6D117B-673B-41A6-9291-A0BBD1557E39}"/>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04C809F-31FC-48B3-A817-B6F57FFB20E1}"/>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5F7B8F6-61CC-412C-AEFF-BE182B64F64B}"/>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AC0821E-80AD-4AC4-8876-F78F55B9F41B}"/>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grpFill/>
            <a:ln w="9525" cap="flat">
              <a:noFill/>
              <a:prstDash val="solid"/>
              <a:miter/>
            </a:ln>
          </p:spPr>
          <p:txBody>
            <a:bodyPr rtlCol="0" anchor="ctr"/>
            <a:lstStyle/>
            <a:p>
              <a:endParaRPr lang="en-US"/>
            </a:p>
          </p:txBody>
        </p:sp>
      </p:grpSp>
      <p:grpSp>
        <p:nvGrpSpPr>
          <p:cNvPr id="211" name="Group 210">
            <a:extLst>
              <a:ext uri="{FF2B5EF4-FFF2-40B4-BE49-F238E27FC236}">
                <a16:creationId xmlns:a16="http://schemas.microsoft.com/office/drawing/2014/main" id="{85BC55BB-0DF4-4D34-A259-12513CC331A1}"/>
              </a:ext>
            </a:extLst>
          </p:cNvPr>
          <p:cNvGrpSpPr/>
          <p:nvPr/>
        </p:nvGrpSpPr>
        <p:grpSpPr>
          <a:xfrm>
            <a:off x="587777" y="1478408"/>
            <a:ext cx="793890" cy="793890"/>
            <a:chOff x="587777" y="1478408"/>
            <a:chExt cx="793890" cy="793890"/>
          </a:xfrm>
        </p:grpSpPr>
        <p:sp>
          <p:nvSpPr>
            <p:cNvPr id="153" name="Oval 152">
              <a:extLst>
                <a:ext uri="{FF2B5EF4-FFF2-40B4-BE49-F238E27FC236}">
                  <a16:creationId xmlns:a16="http://schemas.microsoft.com/office/drawing/2014/main" id="{6985B9AD-8BC4-471F-A690-FF1F1EED53AB}"/>
                </a:ext>
              </a:extLst>
            </p:cNvPr>
            <p:cNvSpPr/>
            <p:nvPr/>
          </p:nvSpPr>
          <p:spPr>
            <a:xfrm rot="5400000">
              <a:off x="587777" y="1478408"/>
              <a:ext cx="793890" cy="793890"/>
            </a:xfrm>
            <a:prstGeom prst="ellipse">
              <a:avLst/>
            </a:prstGeom>
            <a:solidFill>
              <a:schemeClr val="bg1"/>
            </a:solidFill>
            <a:ln>
              <a:noFill/>
            </a:ln>
            <a:effectLst>
              <a:outerShdw blurRad="50800" dist="38100" dir="3000000" algn="tl" rotWithShape="0">
                <a:prstClr val="black">
                  <a:alpha val="6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TextBox 186">
              <a:extLst>
                <a:ext uri="{FF2B5EF4-FFF2-40B4-BE49-F238E27FC236}">
                  <a16:creationId xmlns:a16="http://schemas.microsoft.com/office/drawing/2014/main" id="{53C6EAA4-6780-49B7-A094-A96F199D56A6}"/>
                </a:ext>
              </a:extLst>
            </p:cNvPr>
            <p:cNvSpPr txBox="1"/>
            <p:nvPr/>
          </p:nvSpPr>
          <p:spPr>
            <a:xfrm>
              <a:off x="638175" y="1637255"/>
              <a:ext cx="689682" cy="510909"/>
            </a:xfrm>
            <a:prstGeom prst="rect">
              <a:avLst/>
            </a:prstGeom>
            <a:noFill/>
          </p:spPr>
          <p:txBody>
            <a:bodyPr wrap="square" rtlCol="0">
              <a:spAutoFit/>
            </a:bodyPr>
            <a:lstStyle/>
            <a:p>
              <a:pPr lvl="0" algn="ctr">
                <a:lnSpc>
                  <a:spcPct val="85000"/>
                </a:lnSpc>
                <a:defRPr/>
              </a:pPr>
              <a:r>
                <a:rPr lang="pt-PT" sz="3200" b="1" dirty="0">
                  <a:solidFill>
                    <a:srgbClr val="022A79"/>
                  </a:solidFill>
                  <a:latin typeface="Trebuchet MS" panose="020B0603020202020204" pitchFamily="34" charset="0"/>
                  <a:ea typeface="Verdana" panose="020B0604030504040204" pitchFamily="34" charset="0"/>
                  <a:cs typeface="Zilla Slab Light"/>
                  <a:sym typeface="Zilla Slab Light"/>
                </a:rPr>
                <a:t>01</a:t>
              </a:r>
              <a:endParaRPr kumimoji="0" lang="en-US" sz="3200" b="1" i="0" u="none" strike="noStrike" kern="1200" cap="none" normalizeH="0" baseline="30000" noProof="0" dirty="0">
                <a:ln>
                  <a:noFill/>
                </a:ln>
                <a:solidFill>
                  <a:srgbClr val="022A79"/>
                </a:solidFill>
                <a:uLnTx/>
                <a:uFillTx/>
                <a:latin typeface="Trebuchet MS" panose="020B0603020202020204" pitchFamily="34" charset="0"/>
                <a:ea typeface="Verdana" panose="020B0604030504040204" pitchFamily="34" charset="0"/>
                <a:cs typeface="Zilla Slab Light"/>
                <a:sym typeface="Zilla Slab Light"/>
              </a:endParaRPr>
            </a:p>
          </p:txBody>
        </p:sp>
      </p:grpSp>
      <p:grpSp>
        <p:nvGrpSpPr>
          <p:cNvPr id="213" name="Group 212">
            <a:extLst>
              <a:ext uri="{FF2B5EF4-FFF2-40B4-BE49-F238E27FC236}">
                <a16:creationId xmlns:a16="http://schemas.microsoft.com/office/drawing/2014/main" id="{3E14866F-829A-4115-8404-23DC0E51B739}"/>
              </a:ext>
            </a:extLst>
          </p:cNvPr>
          <p:cNvGrpSpPr/>
          <p:nvPr/>
        </p:nvGrpSpPr>
        <p:grpSpPr>
          <a:xfrm>
            <a:off x="587777" y="2886784"/>
            <a:ext cx="793890" cy="793890"/>
            <a:chOff x="587777" y="2886784"/>
            <a:chExt cx="793890" cy="793890"/>
          </a:xfrm>
        </p:grpSpPr>
        <p:sp>
          <p:nvSpPr>
            <p:cNvPr id="157" name="Oval 156">
              <a:extLst>
                <a:ext uri="{FF2B5EF4-FFF2-40B4-BE49-F238E27FC236}">
                  <a16:creationId xmlns:a16="http://schemas.microsoft.com/office/drawing/2014/main" id="{A630D6FD-DCCF-4BF1-BF0C-DE81D98F6CEF}"/>
                </a:ext>
              </a:extLst>
            </p:cNvPr>
            <p:cNvSpPr/>
            <p:nvPr/>
          </p:nvSpPr>
          <p:spPr>
            <a:xfrm rot="5400000">
              <a:off x="587777" y="2886784"/>
              <a:ext cx="793890" cy="793890"/>
            </a:xfrm>
            <a:prstGeom prst="ellipse">
              <a:avLst/>
            </a:prstGeom>
            <a:solidFill>
              <a:schemeClr val="bg1"/>
            </a:solidFill>
            <a:ln>
              <a:noFill/>
            </a:ln>
            <a:effectLst>
              <a:outerShdw blurRad="50800" dist="38100" dir="3000000" algn="tl" rotWithShape="0">
                <a:prstClr val="black">
                  <a:alpha val="6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TextBox 188">
              <a:extLst>
                <a:ext uri="{FF2B5EF4-FFF2-40B4-BE49-F238E27FC236}">
                  <a16:creationId xmlns:a16="http://schemas.microsoft.com/office/drawing/2014/main" id="{04BCDAC5-83B3-416A-96FC-F75CB996A6A6}"/>
                </a:ext>
              </a:extLst>
            </p:cNvPr>
            <p:cNvSpPr txBox="1"/>
            <p:nvPr/>
          </p:nvSpPr>
          <p:spPr>
            <a:xfrm>
              <a:off x="635000" y="3045631"/>
              <a:ext cx="696032" cy="510909"/>
            </a:xfrm>
            <a:prstGeom prst="rect">
              <a:avLst/>
            </a:prstGeom>
            <a:noFill/>
          </p:spPr>
          <p:txBody>
            <a:bodyPr wrap="square" rtlCol="0">
              <a:spAutoFit/>
            </a:bodyPr>
            <a:lstStyle/>
            <a:p>
              <a:pPr lvl="0" algn="ctr">
                <a:lnSpc>
                  <a:spcPct val="85000"/>
                </a:lnSpc>
                <a:defRPr/>
              </a:pPr>
              <a:r>
                <a:rPr lang="pt-PT" sz="3200" b="1" dirty="0">
                  <a:solidFill>
                    <a:srgbClr val="022A79"/>
                  </a:solidFill>
                  <a:latin typeface="Trebuchet MS" panose="020B0603020202020204" pitchFamily="34" charset="0"/>
                  <a:ea typeface="Verdana" panose="020B0604030504040204" pitchFamily="34" charset="0"/>
                  <a:cs typeface="Zilla Slab Light"/>
                  <a:sym typeface="Zilla Slab Light"/>
                </a:rPr>
                <a:t>02</a:t>
              </a:r>
              <a:endParaRPr kumimoji="0" lang="en-US" sz="3200" b="1" i="0" u="none" strike="noStrike" kern="1200" cap="none" normalizeH="0" baseline="30000" noProof="0" dirty="0">
                <a:ln>
                  <a:noFill/>
                </a:ln>
                <a:solidFill>
                  <a:srgbClr val="022A79"/>
                </a:solidFill>
                <a:uLnTx/>
                <a:uFillTx/>
                <a:latin typeface="Trebuchet MS" panose="020B0603020202020204" pitchFamily="34" charset="0"/>
                <a:ea typeface="Verdana" panose="020B0604030504040204" pitchFamily="34" charset="0"/>
                <a:cs typeface="Zilla Slab Light"/>
                <a:sym typeface="Zilla Slab Light"/>
              </a:endParaRPr>
            </a:p>
          </p:txBody>
        </p:sp>
      </p:grpSp>
      <p:sp>
        <p:nvSpPr>
          <p:cNvPr id="198" name="Freeform: Shape 197">
            <a:extLst>
              <a:ext uri="{FF2B5EF4-FFF2-40B4-BE49-F238E27FC236}">
                <a16:creationId xmlns:a16="http://schemas.microsoft.com/office/drawing/2014/main" id="{CDCF1F58-BD89-4F04-ADEC-DFCB108ABE00}"/>
              </a:ext>
            </a:extLst>
          </p:cNvPr>
          <p:cNvSpPr/>
          <p:nvPr/>
        </p:nvSpPr>
        <p:spPr>
          <a:xfrm flipH="1">
            <a:off x="4791596" y="1538416"/>
            <a:ext cx="7400400" cy="1371601"/>
          </a:xfrm>
          <a:custGeom>
            <a:avLst/>
            <a:gdLst>
              <a:gd name="connsiteX0" fmla="*/ 7305142 w 7400400"/>
              <a:gd name="connsiteY0" fmla="*/ 0 h 1371601"/>
              <a:gd name="connsiteX1" fmla="*/ 0 w 7400400"/>
              <a:gd name="connsiteY1" fmla="*/ 0 h 1371601"/>
              <a:gd name="connsiteX2" fmla="*/ 0 w 7400400"/>
              <a:gd name="connsiteY2" fmla="*/ 1371601 h 1371601"/>
              <a:gd name="connsiteX3" fmla="*/ 7305142 w 7400400"/>
              <a:gd name="connsiteY3" fmla="*/ 1371601 h 1371601"/>
              <a:gd name="connsiteX4" fmla="*/ 7400400 w 7400400"/>
              <a:gd name="connsiteY4" fmla="*/ 1276343 h 1371601"/>
              <a:gd name="connsiteX5" fmla="*/ 7400400 w 7400400"/>
              <a:gd name="connsiteY5" fmla="*/ 95258 h 1371601"/>
              <a:gd name="connsiteX6" fmla="*/ 7305142 w 7400400"/>
              <a:gd name="connsiteY6" fmla="*/ 0 h 1371601"/>
              <a:gd name="connsiteX0" fmla="*/ 7305146 w 7400404"/>
              <a:gd name="connsiteY0" fmla="*/ 0 h 1371601"/>
              <a:gd name="connsiteX1" fmla="*/ 4 w 7400404"/>
              <a:gd name="connsiteY1" fmla="*/ 0 h 1371601"/>
              <a:gd name="connsiteX2" fmla="*/ 0 w 7400404"/>
              <a:gd name="connsiteY2" fmla="*/ 709484 h 1371601"/>
              <a:gd name="connsiteX3" fmla="*/ 4 w 7400404"/>
              <a:gd name="connsiteY3" fmla="*/ 1371601 h 1371601"/>
              <a:gd name="connsiteX4" fmla="*/ 7305146 w 7400404"/>
              <a:gd name="connsiteY4" fmla="*/ 1371601 h 1371601"/>
              <a:gd name="connsiteX5" fmla="*/ 7400404 w 7400404"/>
              <a:gd name="connsiteY5" fmla="*/ 1276343 h 1371601"/>
              <a:gd name="connsiteX6" fmla="*/ 7400404 w 7400404"/>
              <a:gd name="connsiteY6" fmla="*/ 95258 h 1371601"/>
              <a:gd name="connsiteX7" fmla="*/ 7305146 w 7400404"/>
              <a:gd name="connsiteY7" fmla="*/ 0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7" fmla="*/ 91440 w 7400404"/>
              <a:gd name="connsiteY7" fmla="*/ 800924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0" fmla="*/ 0 w 7400400"/>
              <a:gd name="connsiteY0" fmla="*/ 1371601 h 1371601"/>
              <a:gd name="connsiteX1" fmla="*/ 7305142 w 7400400"/>
              <a:gd name="connsiteY1" fmla="*/ 1371601 h 1371601"/>
              <a:gd name="connsiteX2" fmla="*/ 7400400 w 7400400"/>
              <a:gd name="connsiteY2" fmla="*/ 1276343 h 1371601"/>
              <a:gd name="connsiteX3" fmla="*/ 7400400 w 7400400"/>
              <a:gd name="connsiteY3" fmla="*/ 95258 h 1371601"/>
              <a:gd name="connsiteX4" fmla="*/ 7305142 w 7400400"/>
              <a:gd name="connsiteY4" fmla="*/ 0 h 1371601"/>
              <a:gd name="connsiteX5" fmla="*/ 0 w 7400400"/>
              <a:gd name="connsiteY5" fmla="*/ 0 h 1371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00400" h="1371601">
                <a:moveTo>
                  <a:pt x="0" y="1371601"/>
                </a:moveTo>
                <a:lnTo>
                  <a:pt x="7305142" y="1371601"/>
                </a:lnTo>
                <a:cubicBezTo>
                  <a:pt x="7357752" y="1371601"/>
                  <a:pt x="7400400" y="1328953"/>
                  <a:pt x="7400400" y="1276343"/>
                </a:cubicBezTo>
                <a:lnTo>
                  <a:pt x="7400400" y="95258"/>
                </a:lnTo>
                <a:cubicBezTo>
                  <a:pt x="7400400" y="42648"/>
                  <a:pt x="7357752" y="0"/>
                  <a:pt x="7305142" y="0"/>
                </a:cubicBezTo>
                <a:lnTo>
                  <a:pt x="0" y="0"/>
                </a:lnTo>
              </a:path>
            </a:pathLst>
          </a:custGeom>
          <a:solidFill>
            <a:schemeClr val="bg1"/>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5000"/>
              </a:lnSpc>
            </a:pPr>
            <a:endParaRPr lang="en-US">
              <a:solidFill>
                <a:srgbClr val="FFFFFF"/>
              </a:solidFill>
              <a:latin typeface="Verdana"/>
            </a:endParaRPr>
          </a:p>
        </p:txBody>
      </p:sp>
      <p:sp>
        <p:nvSpPr>
          <p:cNvPr id="195" name="Freeform: Shape 194">
            <a:extLst>
              <a:ext uri="{FF2B5EF4-FFF2-40B4-BE49-F238E27FC236}">
                <a16:creationId xmlns:a16="http://schemas.microsoft.com/office/drawing/2014/main" id="{C749DE8A-A379-4B38-8A0C-F91654A440DC}"/>
              </a:ext>
            </a:extLst>
          </p:cNvPr>
          <p:cNvSpPr/>
          <p:nvPr/>
        </p:nvSpPr>
        <p:spPr>
          <a:xfrm flipH="1">
            <a:off x="4791596" y="3075834"/>
            <a:ext cx="7400401" cy="926639"/>
          </a:xfrm>
          <a:custGeom>
            <a:avLst/>
            <a:gdLst>
              <a:gd name="connsiteX0" fmla="*/ 7336046 w 7400401"/>
              <a:gd name="connsiteY0" fmla="*/ 0 h 926639"/>
              <a:gd name="connsiteX1" fmla="*/ 0 w 7400401"/>
              <a:gd name="connsiteY1" fmla="*/ 0 h 926639"/>
              <a:gd name="connsiteX2" fmla="*/ 0 w 7400401"/>
              <a:gd name="connsiteY2" fmla="*/ 926639 h 926639"/>
              <a:gd name="connsiteX3" fmla="*/ 7336046 w 7400401"/>
              <a:gd name="connsiteY3" fmla="*/ 926639 h 926639"/>
              <a:gd name="connsiteX4" fmla="*/ 7400401 w 7400401"/>
              <a:gd name="connsiteY4" fmla="*/ 862284 h 926639"/>
              <a:gd name="connsiteX5" fmla="*/ 7400401 w 7400401"/>
              <a:gd name="connsiteY5" fmla="*/ 64355 h 926639"/>
              <a:gd name="connsiteX6" fmla="*/ 7336046 w 7400401"/>
              <a:gd name="connsiteY6" fmla="*/ 0 h 926639"/>
              <a:gd name="connsiteX0" fmla="*/ 7361449 w 7425804"/>
              <a:gd name="connsiteY0" fmla="*/ 0 h 926639"/>
              <a:gd name="connsiteX1" fmla="*/ 25403 w 7425804"/>
              <a:gd name="connsiteY1" fmla="*/ 0 h 926639"/>
              <a:gd name="connsiteX2" fmla="*/ 0 w 7425804"/>
              <a:gd name="connsiteY2" fmla="*/ 416666 h 926639"/>
              <a:gd name="connsiteX3" fmla="*/ 25403 w 7425804"/>
              <a:gd name="connsiteY3" fmla="*/ 926639 h 926639"/>
              <a:gd name="connsiteX4" fmla="*/ 7361449 w 7425804"/>
              <a:gd name="connsiteY4" fmla="*/ 926639 h 926639"/>
              <a:gd name="connsiteX5" fmla="*/ 7425804 w 7425804"/>
              <a:gd name="connsiteY5" fmla="*/ 862284 h 926639"/>
              <a:gd name="connsiteX6" fmla="*/ 7425804 w 7425804"/>
              <a:gd name="connsiteY6" fmla="*/ 64355 h 926639"/>
              <a:gd name="connsiteX7" fmla="*/ 7361449 w 7425804"/>
              <a:gd name="connsiteY7" fmla="*/ 0 h 926639"/>
              <a:gd name="connsiteX0" fmla="*/ 0 w 7425804"/>
              <a:gd name="connsiteY0" fmla="*/ 416666 h 926639"/>
              <a:gd name="connsiteX1" fmla="*/ 25403 w 7425804"/>
              <a:gd name="connsiteY1" fmla="*/ 926639 h 926639"/>
              <a:gd name="connsiteX2" fmla="*/ 7361449 w 7425804"/>
              <a:gd name="connsiteY2" fmla="*/ 926639 h 926639"/>
              <a:gd name="connsiteX3" fmla="*/ 7425804 w 7425804"/>
              <a:gd name="connsiteY3" fmla="*/ 862284 h 926639"/>
              <a:gd name="connsiteX4" fmla="*/ 7425804 w 7425804"/>
              <a:gd name="connsiteY4" fmla="*/ 64355 h 926639"/>
              <a:gd name="connsiteX5" fmla="*/ 7361449 w 7425804"/>
              <a:gd name="connsiteY5" fmla="*/ 0 h 926639"/>
              <a:gd name="connsiteX6" fmla="*/ 25403 w 7425804"/>
              <a:gd name="connsiteY6" fmla="*/ 0 h 926639"/>
              <a:gd name="connsiteX7" fmla="*/ 91440 w 7425804"/>
              <a:gd name="connsiteY7" fmla="*/ 508106 h 926639"/>
              <a:gd name="connsiteX0" fmla="*/ 671 w 7401072"/>
              <a:gd name="connsiteY0" fmla="*/ 926639 h 926639"/>
              <a:gd name="connsiteX1" fmla="*/ 7336717 w 7401072"/>
              <a:gd name="connsiteY1" fmla="*/ 926639 h 926639"/>
              <a:gd name="connsiteX2" fmla="*/ 7401072 w 7401072"/>
              <a:gd name="connsiteY2" fmla="*/ 862284 h 926639"/>
              <a:gd name="connsiteX3" fmla="*/ 7401072 w 7401072"/>
              <a:gd name="connsiteY3" fmla="*/ 64355 h 926639"/>
              <a:gd name="connsiteX4" fmla="*/ 7336717 w 7401072"/>
              <a:gd name="connsiteY4" fmla="*/ 0 h 926639"/>
              <a:gd name="connsiteX5" fmla="*/ 671 w 7401072"/>
              <a:gd name="connsiteY5" fmla="*/ 0 h 926639"/>
              <a:gd name="connsiteX6" fmla="*/ 66708 w 7401072"/>
              <a:gd name="connsiteY6" fmla="*/ 508106 h 926639"/>
              <a:gd name="connsiteX0" fmla="*/ 0 w 7400401"/>
              <a:gd name="connsiteY0" fmla="*/ 926639 h 926639"/>
              <a:gd name="connsiteX1" fmla="*/ 7336046 w 7400401"/>
              <a:gd name="connsiteY1" fmla="*/ 926639 h 926639"/>
              <a:gd name="connsiteX2" fmla="*/ 7400401 w 7400401"/>
              <a:gd name="connsiteY2" fmla="*/ 862284 h 926639"/>
              <a:gd name="connsiteX3" fmla="*/ 7400401 w 7400401"/>
              <a:gd name="connsiteY3" fmla="*/ 64355 h 926639"/>
              <a:gd name="connsiteX4" fmla="*/ 7336046 w 7400401"/>
              <a:gd name="connsiteY4" fmla="*/ 0 h 926639"/>
              <a:gd name="connsiteX5" fmla="*/ 0 w 7400401"/>
              <a:gd name="connsiteY5" fmla="*/ 0 h 926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00401" h="926639">
                <a:moveTo>
                  <a:pt x="0" y="926639"/>
                </a:moveTo>
                <a:lnTo>
                  <a:pt x="7336046" y="926639"/>
                </a:lnTo>
                <a:cubicBezTo>
                  <a:pt x="7371588" y="926639"/>
                  <a:pt x="7400401" y="897826"/>
                  <a:pt x="7400401" y="862284"/>
                </a:cubicBezTo>
                <a:lnTo>
                  <a:pt x="7400401" y="64355"/>
                </a:lnTo>
                <a:cubicBezTo>
                  <a:pt x="7400401" y="28813"/>
                  <a:pt x="7371588" y="0"/>
                  <a:pt x="7336046" y="0"/>
                </a:cubicBezTo>
                <a:lnTo>
                  <a:pt x="0" y="0"/>
                </a:lnTo>
              </a:path>
            </a:pathLst>
          </a:custGeom>
          <a:solidFill>
            <a:schemeClr val="bg1"/>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5000"/>
              </a:lnSpc>
            </a:pPr>
            <a:endParaRPr lang="en-US">
              <a:solidFill>
                <a:srgbClr val="FFFFFF"/>
              </a:solidFill>
              <a:latin typeface="Verdana"/>
            </a:endParaRPr>
          </a:p>
        </p:txBody>
      </p:sp>
      <p:sp>
        <p:nvSpPr>
          <p:cNvPr id="201" name="Freeform: Shape 200">
            <a:extLst>
              <a:ext uri="{FF2B5EF4-FFF2-40B4-BE49-F238E27FC236}">
                <a16:creationId xmlns:a16="http://schemas.microsoft.com/office/drawing/2014/main" id="{FE12AC05-CBD1-4AFF-BBE1-22CBB57F1307}"/>
              </a:ext>
            </a:extLst>
          </p:cNvPr>
          <p:cNvSpPr/>
          <p:nvPr/>
        </p:nvSpPr>
        <p:spPr>
          <a:xfrm flipH="1">
            <a:off x="4791595" y="4507638"/>
            <a:ext cx="7400400" cy="1371601"/>
          </a:xfrm>
          <a:custGeom>
            <a:avLst/>
            <a:gdLst>
              <a:gd name="connsiteX0" fmla="*/ 7305142 w 7400400"/>
              <a:gd name="connsiteY0" fmla="*/ 0 h 1371601"/>
              <a:gd name="connsiteX1" fmla="*/ 0 w 7400400"/>
              <a:gd name="connsiteY1" fmla="*/ 0 h 1371601"/>
              <a:gd name="connsiteX2" fmla="*/ 0 w 7400400"/>
              <a:gd name="connsiteY2" fmla="*/ 1371601 h 1371601"/>
              <a:gd name="connsiteX3" fmla="*/ 7305142 w 7400400"/>
              <a:gd name="connsiteY3" fmla="*/ 1371601 h 1371601"/>
              <a:gd name="connsiteX4" fmla="*/ 7400400 w 7400400"/>
              <a:gd name="connsiteY4" fmla="*/ 1276343 h 1371601"/>
              <a:gd name="connsiteX5" fmla="*/ 7400400 w 7400400"/>
              <a:gd name="connsiteY5" fmla="*/ 95258 h 1371601"/>
              <a:gd name="connsiteX6" fmla="*/ 7305142 w 7400400"/>
              <a:gd name="connsiteY6" fmla="*/ 0 h 1371601"/>
              <a:gd name="connsiteX0" fmla="*/ 7305146 w 7400404"/>
              <a:gd name="connsiteY0" fmla="*/ 0 h 1371601"/>
              <a:gd name="connsiteX1" fmla="*/ 4 w 7400404"/>
              <a:gd name="connsiteY1" fmla="*/ 0 h 1371601"/>
              <a:gd name="connsiteX2" fmla="*/ 0 w 7400404"/>
              <a:gd name="connsiteY2" fmla="*/ 534262 h 1371601"/>
              <a:gd name="connsiteX3" fmla="*/ 4 w 7400404"/>
              <a:gd name="connsiteY3" fmla="*/ 1371601 h 1371601"/>
              <a:gd name="connsiteX4" fmla="*/ 7305146 w 7400404"/>
              <a:gd name="connsiteY4" fmla="*/ 1371601 h 1371601"/>
              <a:gd name="connsiteX5" fmla="*/ 7400404 w 7400404"/>
              <a:gd name="connsiteY5" fmla="*/ 1276343 h 1371601"/>
              <a:gd name="connsiteX6" fmla="*/ 7400404 w 7400404"/>
              <a:gd name="connsiteY6" fmla="*/ 95258 h 1371601"/>
              <a:gd name="connsiteX7" fmla="*/ 7305146 w 7400404"/>
              <a:gd name="connsiteY7" fmla="*/ 0 h 1371601"/>
              <a:gd name="connsiteX0" fmla="*/ 0 w 7400404"/>
              <a:gd name="connsiteY0" fmla="*/ 534262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7" fmla="*/ 91440 w 7400404"/>
              <a:gd name="connsiteY7" fmla="*/ 625702 h 1371601"/>
              <a:gd name="connsiteX0" fmla="*/ 1 w 7400401"/>
              <a:gd name="connsiteY0" fmla="*/ 1371601 h 1371601"/>
              <a:gd name="connsiteX1" fmla="*/ 7305143 w 7400401"/>
              <a:gd name="connsiteY1" fmla="*/ 1371601 h 1371601"/>
              <a:gd name="connsiteX2" fmla="*/ 7400401 w 7400401"/>
              <a:gd name="connsiteY2" fmla="*/ 1276343 h 1371601"/>
              <a:gd name="connsiteX3" fmla="*/ 7400401 w 7400401"/>
              <a:gd name="connsiteY3" fmla="*/ 95258 h 1371601"/>
              <a:gd name="connsiteX4" fmla="*/ 7305143 w 7400401"/>
              <a:gd name="connsiteY4" fmla="*/ 0 h 1371601"/>
              <a:gd name="connsiteX5" fmla="*/ 1 w 7400401"/>
              <a:gd name="connsiteY5" fmla="*/ 0 h 1371601"/>
              <a:gd name="connsiteX6" fmla="*/ 91437 w 7400401"/>
              <a:gd name="connsiteY6" fmla="*/ 625702 h 1371601"/>
              <a:gd name="connsiteX0" fmla="*/ 0 w 7400400"/>
              <a:gd name="connsiteY0" fmla="*/ 1371601 h 1371601"/>
              <a:gd name="connsiteX1" fmla="*/ 7305142 w 7400400"/>
              <a:gd name="connsiteY1" fmla="*/ 1371601 h 1371601"/>
              <a:gd name="connsiteX2" fmla="*/ 7400400 w 7400400"/>
              <a:gd name="connsiteY2" fmla="*/ 1276343 h 1371601"/>
              <a:gd name="connsiteX3" fmla="*/ 7400400 w 7400400"/>
              <a:gd name="connsiteY3" fmla="*/ 95258 h 1371601"/>
              <a:gd name="connsiteX4" fmla="*/ 7305142 w 7400400"/>
              <a:gd name="connsiteY4" fmla="*/ 0 h 1371601"/>
              <a:gd name="connsiteX5" fmla="*/ 0 w 7400400"/>
              <a:gd name="connsiteY5" fmla="*/ 0 h 1371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00400" h="1371601">
                <a:moveTo>
                  <a:pt x="0" y="1371601"/>
                </a:moveTo>
                <a:lnTo>
                  <a:pt x="7305142" y="1371601"/>
                </a:lnTo>
                <a:cubicBezTo>
                  <a:pt x="7357752" y="1371601"/>
                  <a:pt x="7400400" y="1328953"/>
                  <a:pt x="7400400" y="1276343"/>
                </a:cubicBezTo>
                <a:lnTo>
                  <a:pt x="7400400" y="95258"/>
                </a:lnTo>
                <a:cubicBezTo>
                  <a:pt x="7400400" y="42648"/>
                  <a:pt x="7357752" y="0"/>
                  <a:pt x="7305142" y="0"/>
                </a:cubicBezTo>
                <a:lnTo>
                  <a:pt x="0" y="0"/>
                </a:lnTo>
              </a:path>
            </a:pathLst>
          </a:custGeom>
          <a:solidFill>
            <a:schemeClr val="bg1"/>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5000"/>
              </a:lnSpc>
            </a:pPr>
            <a:endParaRPr lang="en-US">
              <a:solidFill>
                <a:srgbClr val="FFFFFF"/>
              </a:solidFill>
              <a:latin typeface="Verdana"/>
            </a:endParaRPr>
          </a:p>
        </p:txBody>
      </p:sp>
      <p:grpSp>
        <p:nvGrpSpPr>
          <p:cNvPr id="205" name="Group 204">
            <a:extLst>
              <a:ext uri="{FF2B5EF4-FFF2-40B4-BE49-F238E27FC236}">
                <a16:creationId xmlns:a16="http://schemas.microsoft.com/office/drawing/2014/main" id="{346D5B59-6225-4D4F-A18B-0A2095AC93FB}"/>
              </a:ext>
            </a:extLst>
          </p:cNvPr>
          <p:cNvGrpSpPr/>
          <p:nvPr/>
        </p:nvGrpSpPr>
        <p:grpSpPr>
          <a:xfrm>
            <a:off x="4595826" y="1556717"/>
            <a:ext cx="1753220" cy="1228318"/>
            <a:chOff x="4595826" y="1556717"/>
            <a:chExt cx="1753220" cy="1228318"/>
          </a:xfrm>
        </p:grpSpPr>
        <p:sp>
          <p:nvSpPr>
            <p:cNvPr id="62" name="Retângulo: Cantos Arredondados 32">
              <a:extLst>
                <a:ext uri="{FF2B5EF4-FFF2-40B4-BE49-F238E27FC236}">
                  <a16:creationId xmlns:a16="http://schemas.microsoft.com/office/drawing/2014/main" id="{7DB1C911-77AD-4705-99D6-34890AEA94E0}"/>
                </a:ext>
              </a:extLst>
            </p:cNvPr>
            <p:cNvSpPr/>
            <p:nvPr/>
          </p:nvSpPr>
          <p:spPr>
            <a:xfrm rot="5400000" flipV="1">
              <a:off x="4911617" y="1347606"/>
              <a:ext cx="1121638" cy="1753220"/>
            </a:xfrm>
            <a:prstGeom prst="roundRect">
              <a:avLst>
                <a:gd name="adj" fmla="val 3820"/>
              </a:avLst>
            </a:prstGeom>
            <a:solidFill>
              <a:srgbClr val="F13045"/>
            </a:solidFill>
            <a:ln>
              <a:noFill/>
            </a:ln>
            <a:effectLst>
              <a:outerShdw blurRad="317500" dist="1270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69" name="TextBox 68">
              <a:extLst>
                <a:ext uri="{FF2B5EF4-FFF2-40B4-BE49-F238E27FC236}">
                  <a16:creationId xmlns:a16="http://schemas.microsoft.com/office/drawing/2014/main" id="{093B5454-0451-47BA-8CA7-1BBEBE0637EE}"/>
                </a:ext>
              </a:extLst>
            </p:cNvPr>
            <p:cNvSpPr txBox="1"/>
            <p:nvPr/>
          </p:nvSpPr>
          <p:spPr>
            <a:xfrm>
              <a:off x="4648205" y="1989625"/>
              <a:ext cx="1648462" cy="781752"/>
            </a:xfrm>
            <a:prstGeom prst="rect">
              <a:avLst/>
            </a:prstGeom>
            <a:noFill/>
          </p:spPr>
          <p:txBody>
            <a:bodyPr wrap="square" rtlCol="0">
              <a:spAutoFit/>
            </a:bodyPr>
            <a:lstStyle/>
            <a:p>
              <a:pPr lvl="0" algn="ctr">
                <a:lnSpc>
                  <a:spcPct val="80000"/>
                </a:lnSpc>
                <a:defRPr/>
              </a:pPr>
              <a:r>
                <a:rPr lang="es-ES" sz="1400" b="1" dirty="0">
                  <a:solidFill>
                    <a:schemeClr val="bg1"/>
                  </a:solidFill>
                  <a:latin typeface="Trebuchet MS" panose="020B0603020202020204" pitchFamily="34" charset="0"/>
                  <a:ea typeface="Verdana" panose="020B0604030504040204" pitchFamily="34" charset="0"/>
                  <a:cs typeface="Zilla Slab Light"/>
                  <a:sym typeface="Zilla Slab Light"/>
                </a:rPr>
                <a:t>DOLOR DE CABEZA CON </a:t>
              </a:r>
              <a:br>
                <a:rPr lang="es-ES" sz="1400" b="1" dirty="0">
                  <a:solidFill>
                    <a:schemeClr val="bg1"/>
                  </a:solidFill>
                  <a:latin typeface="Trebuchet MS" panose="020B0603020202020204" pitchFamily="34" charset="0"/>
                  <a:ea typeface="Verdana" panose="020B0604030504040204" pitchFamily="34" charset="0"/>
                  <a:cs typeface="Zilla Slab Light"/>
                  <a:sym typeface="Zilla Slab Light"/>
                </a:rPr>
              </a:br>
              <a:r>
                <a:rPr lang="es-ES" sz="1400" b="1" dirty="0">
                  <a:solidFill>
                    <a:schemeClr val="bg1"/>
                  </a:solidFill>
                  <a:latin typeface="Trebuchet MS" panose="020B0603020202020204" pitchFamily="34" charset="0"/>
                  <a:ea typeface="Verdana" panose="020B0604030504040204" pitchFamily="34" charset="0"/>
                  <a:cs typeface="Zilla Slab Light"/>
                  <a:sym typeface="Zilla Slab Light"/>
                </a:rPr>
                <a:t>UNA DURACIÓN DE 4 A 72H</a:t>
              </a:r>
            </a:p>
          </p:txBody>
        </p:sp>
        <p:pic>
          <p:nvPicPr>
            <p:cNvPr id="65" name="Picture 64" descr="Icon&#10;&#10;Description automatically generated">
              <a:extLst>
                <a:ext uri="{FF2B5EF4-FFF2-40B4-BE49-F238E27FC236}">
                  <a16:creationId xmlns:a16="http://schemas.microsoft.com/office/drawing/2014/main" id="{F5479D63-7468-47FD-937E-009CF4AEDF7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93374" y="1556717"/>
              <a:ext cx="358124" cy="385912"/>
            </a:xfrm>
            <a:prstGeom prst="rect">
              <a:avLst/>
            </a:prstGeom>
          </p:spPr>
        </p:pic>
      </p:grpSp>
      <p:grpSp>
        <p:nvGrpSpPr>
          <p:cNvPr id="206" name="Group 205">
            <a:extLst>
              <a:ext uri="{FF2B5EF4-FFF2-40B4-BE49-F238E27FC236}">
                <a16:creationId xmlns:a16="http://schemas.microsoft.com/office/drawing/2014/main" id="{98075FF8-B25E-4205-9E7D-B416C66414D3}"/>
              </a:ext>
            </a:extLst>
          </p:cNvPr>
          <p:cNvGrpSpPr/>
          <p:nvPr/>
        </p:nvGrpSpPr>
        <p:grpSpPr>
          <a:xfrm>
            <a:off x="4592332" y="3094138"/>
            <a:ext cx="1753220" cy="1228318"/>
            <a:chOff x="4592332" y="3094138"/>
            <a:chExt cx="1753220" cy="1228318"/>
          </a:xfrm>
        </p:grpSpPr>
        <p:sp>
          <p:nvSpPr>
            <p:cNvPr id="85" name="Retângulo: Cantos Arredondados 32">
              <a:extLst>
                <a:ext uri="{FF2B5EF4-FFF2-40B4-BE49-F238E27FC236}">
                  <a16:creationId xmlns:a16="http://schemas.microsoft.com/office/drawing/2014/main" id="{4E5C9CD4-FA9D-48AC-91CD-F3E17F6B9AB7}"/>
                </a:ext>
              </a:extLst>
            </p:cNvPr>
            <p:cNvSpPr/>
            <p:nvPr/>
          </p:nvSpPr>
          <p:spPr>
            <a:xfrm rot="5400000" flipV="1">
              <a:off x="4908123" y="2885027"/>
              <a:ext cx="1121638" cy="1753220"/>
            </a:xfrm>
            <a:prstGeom prst="roundRect">
              <a:avLst>
                <a:gd name="adj" fmla="val 4483"/>
              </a:avLst>
            </a:prstGeom>
            <a:solidFill>
              <a:srgbClr val="FF6E00"/>
            </a:solidFill>
            <a:ln>
              <a:noFill/>
            </a:ln>
            <a:effectLst>
              <a:outerShdw blurRad="317500" dist="1270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87" name="TextBox 86">
              <a:extLst>
                <a:ext uri="{FF2B5EF4-FFF2-40B4-BE49-F238E27FC236}">
                  <a16:creationId xmlns:a16="http://schemas.microsoft.com/office/drawing/2014/main" id="{20E7C09D-6324-450D-BBB8-C50FF28BFD80}"/>
                </a:ext>
              </a:extLst>
            </p:cNvPr>
            <p:cNvSpPr txBox="1"/>
            <p:nvPr/>
          </p:nvSpPr>
          <p:spPr>
            <a:xfrm>
              <a:off x="4809811" y="3595626"/>
              <a:ext cx="1318262" cy="437043"/>
            </a:xfrm>
            <a:prstGeom prst="rect">
              <a:avLst/>
            </a:prstGeom>
            <a:noFill/>
          </p:spPr>
          <p:txBody>
            <a:bodyPr wrap="square" rtlCol="0">
              <a:spAutoFit/>
            </a:bodyPr>
            <a:lstStyle/>
            <a:p>
              <a:pPr lvl="0" algn="ctr">
                <a:lnSpc>
                  <a:spcPct val="80000"/>
                </a:lnSpc>
                <a:defRPr/>
              </a:pPr>
              <a:r>
                <a:rPr lang="es-ES" sz="1400" b="1" dirty="0">
                  <a:solidFill>
                    <a:schemeClr val="bg1"/>
                  </a:solidFill>
                  <a:latin typeface="Trebuchet MS" panose="020B0603020202020204" pitchFamily="34" charset="0"/>
                  <a:ea typeface="Verdana" panose="020B0604030504040204" pitchFamily="34" charset="0"/>
                  <a:cs typeface="Zilla Slab Light"/>
                  <a:sym typeface="Zilla Slab Light"/>
                </a:rPr>
                <a:t>NÁUSEAS </a:t>
              </a:r>
              <a:br>
                <a:rPr lang="es-ES" sz="1400" b="1" dirty="0">
                  <a:solidFill>
                    <a:schemeClr val="bg1"/>
                  </a:solidFill>
                  <a:latin typeface="Trebuchet MS" panose="020B0603020202020204" pitchFamily="34" charset="0"/>
                  <a:ea typeface="Verdana" panose="020B0604030504040204" pitchFamily="34" charset="0"/>
                  <a:cs typeface="Zilla Slab Light"/>
                  <a:sym typeface="Zilla Slab Light"/>
                </a:rPr>
              </a:br>
              <a:r>
                <a:rPr lang="es-ES" sz="1400" b="1" dirty="0">
                  <a:solidFill>
                    <a:schemeClr val="bg1"/>
                  </a:solidFill>
                  <a:latin typeface="Trebuchet MS" panose="020B0603020202020204" pitchFamily="34" charset="0"/>
                  <a:ea typeface="Verdana" panose="020B0604030504040204" pitchFamily="34" charset="0"/>
                  <a:cs typeface="Zilla Slab Light"/>
                  <a:sym typeface="Zilla Slab Light"/>
                </a:rPr>
                <a:t>O VÓMITOS</a:t>
              </a:r>
            </a:p>
          </p:txBody>
        </p:sp>
        <p:grpSp>
          <p:nvGrpSpPr>
            <p:cNvPr id="21" name="Group 20">
              <a:extLst>
                <a:ext uri="{FF2B5EF4-FFF2-40B4-BE49-F238E27FC236}">
                  <a16:creationId xmlns:a16="http://schemas.microsoft.com/office/drawing/2014/main" id="{9C0493FD-5C3B-48D8-87D0-B2389659EC6A}"/>
                </a:ext>
              </a:extLst>
            </p:cNvPr>
            <p:cNvGrpSpPr/>
            <p:nvPr/>
          </p:nvGrpSpPr>
          <p:grpSpPr>
            <a:xfrm>
              <a:off x="5063918" y="3094138"/>
              <a:ext cx="740838" cy="457134"/>
              <a:chOff x="4548268" y="3607700"/>
              <a:chExt cx="3141112" cy="1938226"/>
            </a:xfrm>
          </p:grpSpPr>
          <p:pic>
            <p:nvPicPr>
              <p:cNvPr id="96" name="Picture 95" descr="Logo, icon&#10;&#10;Description automatically generated">
                <a:extLst>
                  <a:ext uri="{FF2B5EF4-FFF2-40B4-BE49-F238E27FC236}">
                    <a16:creationId xmlns:a16="http://schemas.microsoft.com/office/drawing/2014/main" id="{6E8739A1-9F9A-4565-B99F-E6316D626BB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38450" y="3666478"/>
                <a:ext cx="1450930" cy="1879448"/>
              </a:xfrm>
              <a:prstGeom prst="rect">
                <a:avLst/>
              </a:prstGeom>
            </p:spPr>
          </p:pic>
          <p:pic>
            <p:nvPicPr>
              <p:cNvPr id="97" name="Picture 96" descr="Shape, icon&#10;&#10;Description automatically generated">
                <a:extLst>
                  <a:ext uri="{FF2B5EF4-FFF2-40B4-BE49-F238E27FC236}">
                    <a16:creationId xmlns:a16="http://schemas.microsoft.com/office/drawing/2014/main" id="{F5091EA0-3039-4C86-8650-8B8171E308F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48268" y="3607700"/>
                <a:ext cx="1500563" cy="1483351"/>
              </a:xfrm>
              <a:prstGeom prst="rect">
                <a:avLst/>
              </a:prstGeom>
            </p:spPr>
          </p:pic>
        </p:grpSp>
      </p:grpSp>
      <p:grpSp>
        <p:nvGrpSpPr>
          <p:cNvPr id="207" name="Group 206">
            <a:extLst>
              <a:ext uri="{FF2B5EF4-FFF2-40B4-BE49-F238E27FC236}">
                <a16:creationId xmlns:a16="http://schemas.microsoft.com/office/drawing/2014/main" id="{6128ED11-338E-41D3-9FB0-0DB29F5CCDA8}"/>
              </a:ext>
            </a:extLst>
          </p:cNvPr>
          <p:cNvGrpSpPr/>
          <p:nvPr/>
        </p:nvGrpSpPr>
        <p:grpSpPr>
          <a:xfrm>
            <a:off x="6434250" y="3200819"/>
            <a:ext cx="1753219" cy="1121638"/>
            <a:chOff x="6434250" y="3200819"/>
            <a:chExt cx="1753219" cy="1121638"/>
          </a:xfrm>
        </p:grpSpPr>
        <p:sp>
          <p:nvSpPr>
            <p:cNvPr id="101" name="Retângulo: Cantos Arredondados 32">
              <a:extLst>
                <a:ext uri="{FF2B5EF4-FFF2-40B4-BE49-F238E27FC236}">
                  <a16:creationId xmlns:a16="http://schemas.microsoft.com/office/drawing/2014/main" id="{B3F0230E-8442-4E45-BBB6-6FDC84049136}"/>
                </a:ext>
              </a:extLst>
            </p:cNvPr>
            <p:cNvSpPr/>
            <p:nvPr/>
          </p:nvSpPr>
          <p:spPr>
            <a:xfrm rot="5400000" flipV="1">
              <a:off x="6750041" y="2885028"/>
              <a:ext cx="1121638" cy="1753219"/>
            </a:xfrm>
            <a:prstGeom prst="roundRect">
              <a:avLst>
                <a:gd name="adj" fmla="val 3820"/>
              </a:avLst>
            </a:prstGeom>
            <a:solidFill>
              <a:srgbClr val="FF6E00"/>
            </a:solidFill>
            <a:ln>
              <a:noFill/>
            </a:ln>
            <a:effectLst>
              <a:outerShdw blurRad="317500" dist="1270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102" name="TextBox 101">
              <a:extLst>
                <a:ext uri="{FF2B5EF4-FFF2-40B4-BE49-F238E27FC236}">
                  <a16:creationId xmlns:a16="http://schemas.microsoft.com/office/drawing/2014/main" id="{CBBA43E0-3F6A-4376-B7EC-31896FA987D0}"/>
                </a:ext>
              </a:extLst>
            </p:cNvPr>
            <p:cNvSpPr txBox="1"/>
            <p:nvPr/>
          </p:nvSpPr>
          <p:spPr>
            <a:xfrm>
              <a:off x="6445356" y="3543116"/>
              <a:ext cx="1731008" cy="437043"/>
            </a:xfrm>
            <a:prstGeom prst="rect">
              <a:avLst/>
            </a:prstGeom>
            <a:noFill/>
          </p:spPr>
          <p:txBody>
            <a:bodyPr wrap="square" rtlCol="0">
              <a:spAutoFit/>
            </a:bodyPr>
            <a:lstStyle/>
            <a:p>
              <a:pPr lvl="0" algn="ctr">
                <a:lnSpc>
                  <a:spcPct val="80000"/>
                </a:lnSpc>
                <a:defRPr/>
              </a:pPr>
              <a:r>
                <a:rPr lang="es-ES" sz="1400" b="1" dirty="0">
                  <a:solidFill>
                    <a:schemeClr val="bg1"/>
                  </a:solidFill>
                  <a:latin typeface="Trebuchet MS" panose="020B0603020202020204" pitchFamily="34" charset="0"/>
                  <a:ea typeface="Verdana" panose="020B0604030504040204" pitchFamily="34" charset="0"/>
                  <a:cs typeface="Zilla Slab Light"/>
                  <a:sym typeface="Zilla Slab Light"/>
                </a:rPr>
                <a:t>SENSIBILIDAD/ INTOLERANCIA A: </a:t>
              </a:r>
            </a:p>
          </p:txBody>
        </p:sp>
      </p:grpSp>
      <p:grpSp>
        <p:nvGrpSpPr>
          <p:cNvPr id="208" name="Group 207">
            <a:extLst>
              <a:ext uri="{FF2B5EF4-FFF2-40B4-BE49-F238E27FC236}">
                <a16:creationId xmlns:a16="http://schemas.microsoft.com/office/drawing/2014/main" id="{2702BA38-D008-4C12-89E1-7739A2EA580A}"/>
              </a:ext>
            </a:extLst>
          </p:cNvPr>
          <p:cNvGrpSpPr/>
          <p:nvPr/>
        </p:nvGrpSpPr>
        <p:grpSpPr>
          <a:xfrm>
            <a:off x="4592332" y="4632619"/>
            <a:ext cx="1753220" cy="1121638"/>
            <a:chOff x="4592332" y="4632619"/>
            <a:chExt cx="1753220" cy="1121638"/>
          </a:xfrm>
        </p:grpSpPr>
        <p:sp>
          <p:nvSpPr>
            <p:cNvPr id="128" name="Retângulo: Cantos Arredondados 32">
              <a:extLst>
                <a:ext uri="{FF2B5EF4-FFF2-40B4-BE49-F238E27FC236}">
                  <a16:creationId xmlns:a16="http://schemas.microsoft.com/office/drawing/2014/main" id="{69C3FCBF-25FD-4476-958E-6701395D1FB0}"/>
                </a:ext>
              </a:extLst>
            </p:cNvPr>
            <p:cNvSpPr/>
            <p:nvPr/>
          </p:nvSpPr>
          <p:spPr>
            <a:xfrm rot="5400000" flipV="1">
              <a:off x="4908123" y="4316828"/>
              <a:ext cx="1121638" cy="1753220"/>
            </a:xfrm>
            <a:prstGeom prst="roundRect">
              <a:avLst>
                <a:gd name="adj" fmla="val 4483"/>
              </a:avLst>
            </a:prstGeom>
            <a:solidFill>
              <a:srgbClr val="FDB913"/>
            </a:solidFill>
            <a:ln>
              <a:noFill/>
            </a:ln>
            <a:effectLst>
              <a:outerShdw blurRad="317500" dist="1270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129" name="TextBox 128">
              <a:extLst>
                <a:ext uri="{FF2B5EF4-FFF2-40B4-BE49-F238E27FC236}">
                  <a16:creationId xmlns:a16="http://schemas.microsoft.com/office/drawing/2014/main" id="{6C48B7F4-04A1-4045-BAD7-25C424EFF6D7}"/>
                </a:ext>
              </a:extLst>
            </p:cNvPr>
            <p:cNvSpPr txBox="1"/>
            <p:nvPr/>
          </p:nvSpPr>
          <p:spPr>
            <a:xfrm>
              <a:off x="4671388" y="4974917"/>
              <a:ext cx="1595108" cy="437043"/>
            </a:xfrm>
            <a:prstGeom prst="rect">
              <a:avLst/>
            </a:prstGeom>
            <a:noFill/>
          </p:spPr>
          <p:txBody>
            <a:bodyPr wrap="square" rtlCol="0">
              <a:spAutoFit/>
            </a:bodyPr>
            <a:lstStyle/>
            <a:p>
              <a:pPr lvl="0" algn="ctr">
                <a:lnSpc>
                  <a:spcPct val="80000"/>
                </a:lnSpc>
                <a:defRPr/>
              </a:pPr>
              <a:r>
                <a:rPr lang="es-ES" sz="1400" b="1" dirty="0">
                  <a:solidFill>
                    <a:schemeClr val="bg1"/>
                  </a:solidFill>
                  <a:latin typeface="Trebuchet MS" panose="020B0603020202020204" pitchFamily="34" charset="0"/>
                  <a:ea typeface="Verdana" panose="020B0604030504040204" pitchFamily="34" charset="0"/>
                  <a:cs typeface="Zilla Slab Light"/>
                  <a:sym typeface="Zilla Slab Light"/>
                </a:rPr>
                <a:t>CON O </a:t>
              </a:r>
              <a:br>
                <a:rPr lang="es-ES" sz="1400" b="1" dirty="0">
                  <a:solidFill>
                    <a:schemeClr val="bg1"/>
                  </a:solidFill>
                  <a:latin typeface="Trebuchet MS" panose="020B0603020202020204" pitchFamily="34" charset="0"/>
                  <a:ea typeface="Verdana" panose="020B0604030504040204" pitchFamily="34" charset="0"/>
                  <a:cs typeface="Zilla Slab Light"/>
                  <a:sym typeface="Zilla Slab Light"/>
                </a:rPr>
              </a:br>
              <a:r>
                <a:rPr lang="es-ES" sz="1400" b="1" dirty="0">
                  <a:solidFill>
                    <a:schemeClr val="bg1"/>
                  </a:solidFill>
                  <a:latin typeface="Trebuchet MS" panose="020B0603020202020204" pitchFamily="34" charset="0"/>
                  <a:ea typeface="Verdana" panose="020B0604030504040204" pitchFamily="34" charset="0"/>
                  <a:cs typeface="Zilla Slab Light"/>
                  <a:sym typeface="Zilla Slab Light"/>
                </a:rPr>
                <a:t>SIN AURA</a:t>
              </a:r>
            </a:p>
          </p:txBody>
        </p:sp>
      </p:grpSp>
      <p:grpSp>
        <p:nvGrpSpPr>
          <p:cNvPr id="210" name="Group 209">
            <a:extLst>
              <a:ext uri="{FF2B5EF4-FFF2-40B4-BE49-F238E27FC236}">
                <a16:creationId xmlns:a16="http://schemas.microsoft.com/office/drawing/2014/main" id="{316BDEF2-4826-4086-A7C8-19C5D92B1AE1}"/>
              </a:ext>
            </a:extLst>
          </p:cNvPr>
          <p:cNvGrpSpPr/>
          <p:nvPr/>
        </p:nvGrpSpPr>
        <p:grpSpPr>
          <a:xfrm>
            <a:off x="8238539" y="3148277"/>
            <a:ext cx="3599306" cy="1193542"/>
            <a:chOff x="8238539" y="3148277"/>
            <a:chExt cx="3599306" cy="1193542"/>
          </a:xfrm>
        </p:grpSpPr>
        <p:sp>
          <p:nvSpPr>
            <p:cNvPr id="138" name="TextBox 137">
              <a:extLst>
                <a:ext uri="{FF2B5EF4-FFF2-40B4-BE49-F238E27FC236}">
                  <a16:creationId xmlns:a16="http://schemas.microsoft.com/office/drawing/2014/main" id="{D08E5A4F-C7B7-4E67-82CF-B3BFDB71D5DB}"/>
                </a:ext>
              </a:extLst>
            </p:cNvPr>
            <p:cNvSpPr txBox="1"/>
            <p:nvPr/>
          </p:nvSpPr>
          <p:spPr>
            <a:xfrm>
              <a:off x="8488615" y="4066359"/>
              <a:ext cx="1746250" cy="275460"/>
            </a:xfrm>
            <a:prstGeom prst="rect">
              <a:avLst/>
            </a:prstGeom>
            <a:noFill/>
          </p:spPr>
          <p:txBody>
            <a:bodyPr wrap="square" rtlCol="0">
              <a:spAutoFit/>
            </a:bodyPr>
            <a:lstStyle/>
            <a:p>
              <a:pPr lvl="0">
                <a:lnSpc>
                  <a:spcPct val="85000"/>
                </a:lnSpc>
                <a:spcAft>
                  <a:spcPts val="600"/>
                </a:spcAft>
                <a:defRPr/>
              </a:pPr>
              <a:r>
                <a:rPr lang="es-ES" sz="1400" dirty="0">
                  <a:latin typeface="Trebuchet MS" panose="020B0603020202020204" pitchFamily="34" charset="0"/>
                  <a:ea typeface="Verdana" panose="020B0604030504040204" pitchFamily="34" charset="0"/>
                  <a:cs typeface="Zilla Slab Light"/>
                  <a:sym typeface="Zilla Slab Light"/>
                </a:rPr>
                <a:t>Los olores intensos</a:t>
              </a:r>
            </a:p>
          </p:txBody>
        </p:sp>
        <p:sp>
          <p:nvSpPr>
            <p:cNvPr id="33" name="Isosceles Triangle 32">
              <a:extLst>
                <a:ext uri="{FF2B5EF4-FFF2-40B4-BE49-F238E27FC236}">
                  <a16:creationId xmlns:a16="http://schemas.microsoft.com/office/drawing/2014/main" id="{EB50401A-FE06-445E-88CB-4E2CE57E9FD1}"/>
                </a:ext>
              </a:extLst>
            </p:cNvPr>
            <p:cNvSpPr/>
            <p:nvPr/>
          </p:nvSpPr>
          <p:spPr>
            <a:xfrm rot="5400000">
              <a:off x="8363417" y="4154470"/>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TextBox 94">
              <a:extLst>
                <a:ext uri="{FF2B5EF4-FFF2-40B4-BE49-F238E27FC236}">
                  <a16:creationId xmlns:a16="http://schemas.microsoft.com/office/drawing/2014/main" id="{75F177E4-4108-48EB-B6A4-D81FF8E200DA}"/>
                </a:ext>
              </a:extLst>
            </p:cNvPr>
            <p:cNvSpPr txBox="1"/>
            <p:nvPr/>
          </p:nvSpPr>
          <p:spPr>
            <a:xfrm>
              <a:off x="10501449" y="3148277"/>
              <a:ext cx="1336396" cy="781752"/>
            </a:xfrm>
            <a:prstGeom prst="rect">
              <a:avLst/>
            </a:prstGeom>
            <a:noFill/>
          </p:spPr>
          <p:txBody>
            <a:bodyPr wrap="square" rtlCol="0">
              <a:spAutoFit/>
            </a:bodyPr>
            <a:lstStyle/>
            <a:p>
              <a:pPr lvl="0" algn="ctr">
                <a:lnSpc>
                  <a:spcPct val="80000"/>
                </a:lnSpc>
                <a:defRPr/>
              </a:pPr>
              <a:r>
                <a:rPr lang="es-ES" sz="1400" b="1" dirty="0">
                  <a:latin typeface="Trebuchet MS" panose="020B0603020202020204" pitchFamily="34" charset="0"/>
                  <a:ea typeface="Verdana" panose="020B0604030504040204" pitchFamily="34" charset="0"/>
                  <a:cs typeface="Zilla Slab Light"/>
                  <a:sym typeface="Zilla Slab Light"/>
                </a:rPr>
                <a:t>AL MENOS </a:t>
              </a:r>
            </a:p>
            <a:p>
              <a:pPr lvl="0" algn="ctr">
                <a:lnSpc>
                  <a:spcPct val="80000"/>
                </a:lnSpc>
                <a:defRPr/>
              </a:pPr>
              <a:r>
                <a:rPr lang="es-ES" sz="1400" b="1" dirty="0">
                  <a:latin typeface="Trebuchet MS" panose="020B0603020202020204" pitchFamily="34" charset="0"/>
                  <a:ea typeface="Verdana" panose="020B0604030504040204" pitchFamily="34" charset="0"/>
                  <a:cs typeface="Zilla Slab Light"/>
                  <a:sym typeface="Zilla Slab Light"/>
                </a:rPr>
                <a:t>UNO DE ESTOS </a:t>
              </a:r>
            </a:p>
            <a:p>
              <a:pPr lvl="0" algn="ctr">
                <a:lnSpc>
                  <a:spcPct val="80000"/>
                </a:lnSpc>
                <a:defRPr/>
              </a:pPr>
              <a:r>
                <a:rPr lang="es-ES" sz="1400" b="1" dirty="0">
                  <a:latin typeface="Trebuchet MS" panose="020B0603020202020204" pitchFamily="34" charset="0"/>
                  <a:ea typeface="Verdana" panose="020B0604030504040204" pitchFamily="34" charset="0"/>
                  <a:cs typeface="Zilla Slab Light"/>
                  <a:sym typeface="Zilla Slab Light"/>
                </a:rPr>
                <a:t>SÍNTOMAS </a:t>
              </a:r>
            </a:p>
          </p:txBody>
        </p:sp>
        <p:pic>
          <p:nvPicPr>
            <p:cNvPr id="107" name="Picture 106" descr="Logo, icon&#10;&#10;Description automatically generated">
              <a:extLst>
                <a:ext uri="{FF2B5EF4-FFF2-40B4-BE49-F238E27FC236}">
                  <a16:creationId xmlns:a16="http://schemas.microsoft.com/office/drawing/2014/main" id="{E9CA7696-1D5D-41EB-9F6F-553FF23E416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238539" y="3648296"/>
              <a:ext cx="269412" cy="237565"/>
            </a:xfrm>
            <a:prstGeom prst="rect">
              <a:avLst/>
            </a:prstGeom>
          </p:spPr>
        </p:pic>
        <p:pic>
          <p:nvPicPr>
            <p:cNvPr id="108" name="Picture 107" descr="A picture containing egg, light&#10;&#10;Description automatically generated">
              <a:extLst>
                <a:ext uri="{FF2B5EF4-FFF2-40B4-BE49-F238E27FC236}">
                  <a16:creationId xmlns:a16="http://schemas.microsoft.com/office/drawing/2014/main" id="{3EEE985E-F05F-4FD9-9ED0-5EF5D2F0C30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276167" y="3284159"/>
              <a:ext cx="250513" cy="261300"/>
            </a:xfrm>
            <a:prstGeom prst="rect">
              <a:avLst/>
            </a:prstGeom>
          </p:spPr>
        </p:pic>
        <p:cxnSp>
          <p:nvCxnSpPr>
            <p:cNvPr id="109" name="Straight Connector 108">
              <a:extLst>
                <a:ext uri="{FF2B5EF4-FFF2-40B4-BE49-F238E27FC236}">
                  <a16:creationId xmlns:a16="http://schemas.microsoft.com/office/drawing/2014/main" id="{9F7E23EB-D0E1-4486-9EC0-F1860B296D00}"/>
                </a:ext>
              </a:extLst>
            </p:cNvPr>
            <p:cNvCxnSpPr>
              <a:cxnSpLocks/>
            </p:cNvCxnSpPr>
            <p:nvPr/>
          </p:nvCxnSpPr>
          <p:spPr>
            <a:xfrm>
              <a:off x="8285478" y="3599252"/>
              <a:ext cx="184308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B63D812B-A83A-4255-B91F-E390E9EEFAE8}"/>
                </a:ext>
              </a:extLst>
            </p:cNvPr>
            <p:cNvSpPr txBox="1"/>
            <p:nvPr/>
          </p:nvSpPr>
          <p:spPr>
            <a:xfrm>
              <a:off x="8488614" y="3259909"/>
              <a:ext cx="1578039" cy="275460"/>
            </a:xfrm>
            <a:prstGeom prst="rect">
              <a:avLst/>
            </a:prstGeom>
            <a:noFill/>
          </p:spPr>
          <p:txBody>
            <a:bodyPr wrap="square" rtlCol="0">
              <a:spAutoFit/>
            </a:bodyPr>
            <a:lstStyle/>
            <a:p>
              <a:pPr lvl="0">
                <a:lnSpc>
                  <a:spcPct val="85000"/>
                </a:lnSpc>
                <a:spcAft>
                  <a:spcPts val="600"/>
                </a:spcAft>
                <a:defRPr/>
              </a:pPr>
              <a:r>
                <a:rPr lang="es-ES" sz="1400" dirty="0">
                  <a:latin typeface="Trebuchet MS" panose="020B0603020202020204" pitchFamily="34" charset="0"/>
                  <a:ea typeface="Verdana" panose="020B0604030504040204" pitchFamily="34" charset="0"/>
                  <a:cs typeface="Zilla Slab Light"/>
                  <a:sym typeface="Zilla Slab Light"/>
                </a:rPr>
                <a:t>La luz (fotofobia) </a:t>
              </a:r>
            </a:p>
          </p:txBody>
        </p:sp>
        <p:sp>
          <p:nvSpPr>
            <p:cNvPr id="111" name="TextBox 110">
              <a:extLst>
                <a:ext uri="{FF2B5EF4-FFF2-40B4-BE49-F238E27FC236}">
                  <a16:creationId xmlns:a16="http://schemas.microsoft.com/office/drawing/2014/main" id="{F5234E22-0881-4371-9296-269B845A8A4B}"/>
                </a:ext>
              </a:extLst>
            </p:cNvPr>
            <p:cNvSpPr txBox="1"/>
            <p:nvPr/>
          </p:nvSpPr>
          <p:spPr>
            <a:xfrm>
              <a:off x="8488615" y="3663134"/>
              <a:ext cx="1746250" cy="275460"/>
            </a:xfrm>
            <a:prstGeom prst="rect">
              <a:avLst/>
            </a:prstGeom>
            <a:noFill/>
          </p:spPr>
          <p:txBody>
            <a:bodyPr wrap="square" rtlCol="0">
              <a:spAutoFit/>
            </a:bodyPr>
            <a:lstStyle/>
            <a:p>
              <a:pPr lvl="0">
                <a:lnSpc>
                  <a:spcPct val="85000"/>
                </a:lnSpc>
                <a:spcAft>
                  <a:spcPts val="600"/>
                </a:spcAft>
                <a:defRPr/>
              </a:pPr>
              <a:r>
                <a:rPr lang="es-ES" sz="1400" dirty="0">
                  <a:latin typeface="Trebuchet MS" panose="020B0603020202020204" pitchFamily="34" charset="0"/>
                  <a:ea typeface="Verdana" panose="020B0604030504040204" pitchFamily="34" charset="0"/>
                  <a:cs typeface="Zilla Slab Light"/>
                  <a:sym typeface="Zilla Slab Light"/>
                </a:rPr>
                <a:t>El ruido (fonofobia) </a:t>
              </a:r>
            </a:p>
          </p:txBody>
        </p:sp>
        <p:grpSp>
          <p:nvGrpSpPr>
            <p:cNvPr id="115" name="Group 114">
              <a:extLst>
                <a:ext uri="{FF2B5EF4-FFF2-40B4-BE49-F238E27FC236}">
                  <a16:creationId xmlns:a16="http://schemas.microsoft.com/office/drawing/2014/main" id="{5197753D-BAFD-4CAA-84CB-E7F490D937BF}"/>
                </a:ext>
              </a:extLst>
            </p:cNvPr>
            <p:cNvGrpSpPr/>
            <p:nvPr/>
          </p:nvGrpSpPr>
          <p:grpSpPr>
            <a:xfrm>
              <a:off x="10275444" y="3400180"/>
              <a:ext cx="291971" cy="291971"/>
              <a:chOff x="5718127" y="1095436"/>
              <a:chExt cx="494425" cy="494425"/>
            </a:xfrm>
            <a:solidFill>
              <a:schemeClr val="bg1">
                <a:lumMod val="95000"/>
              </a:schemeClr>
            </a:solidFill>
          </p:grpSpPr>
          <p:sp>
            <p:nvSpPr>
              <p:cNvPr id="116" name="Oval 115">
                <a:extLst>
                  <a:ext uri="{FF2B5EF4-FFF2-40B4-BE49-F238E27FC236}">
                    <a16:creationId xmlns:a16="http://schemas.microsoft.com/office/drawing/2014/main" id="{049E4A3C-36FF-44B3-8D89-3F2B2AE41D5B}"/>
                  </a:ext>
                </a:extLst>
              </p:cNvPr>
              <p:cNvSpPr/>
              <p:nvPr/>
            </p:nvSpPr>
            <p:spPr>
              <a:xfrm>
                <a:off x="5718127" y="1095436"/>
                <a:ext cx="494425" cy="49442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pic>
            <p:nvPicPr>
              <p:cNvPr id="117" name="Gráfico 18">
                <a:extLst>
                  <a:ext uri="{FF2B5EF4-FFF2-40B4-BE49-F238E27FC236}">
                    <a16:creationId xmlns:a16="http://schemas.microsoft.com/office/drawing/2014/main" id="{81EB98BE-87AB-4117-880E-64E403861BD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874964" y="1257516"/>
                <a:ext cx="180750" cy="170265"/>
              </a:xfrm>
              <a:prstGeom prst="rect">
                <a:avLst/>
              </a:prstGeom>
            </p:spPr>
          </p:pic>
        </p:grpSp>
      </p:grpSp>
      <p:grpSp>
        <p:nvGrpSpPr>
          <p:cNvPr id="209" name="Group 208">
            <a:extLst>
              <a:ext uri="{FF2B5EF4-FFF2-40B4-BE49-F238E27FC236}">
                <a16:creationId xmlns:a16="http://schemas.microsoft.com/office/drawing/2014/main" id="{3EC77688-A0B0-467A-BB3D-BA075B80D976}"/>
              </a:ext>
            </a:extLst>
          </p:cNvPr>
          <p:cNvGrpSpPr/>
          <p:nvPr/>
        </p:nvGrpSpPr>
        <p:grpSpPr>
          <a:xfrm>
            <a:off x="6678928" y="1696379"/>
            <a:ext cx="5158917" cy="1055674"/>
            <a:chOff x="6678928" y="1696379"/>
            <a:chExt cx="5158917" cy="1055674"/>
          </a:xfrm>
        </p:grpSpPr>
        <p:sp>
          <p:nvSpPr>
            <p:cNvPr id="72" name="TextBox 71">
              <a:extLst>
                <a:ext uri="{FF2B5EF4-FFF2-40B4-BE49-F238E27FC236}">
                  <a16:creationId xmlns:a16="http://schemas.microsoft.com/office/drawing/2014/main" id="{3DEDDC02-C4BB-41C0-A381-4E5624A02427}"/>
                </a:ext>
              </a:extLst>
            </p:cNvPr>
            <p:cNvSpPr txBox="1"/>
            <p:nvPr/>
          </p:nvSpPr>
          <p:spPr>
            <a:xfrm>
              <a:off x="6851640" y="1696379"/>
              <a:ext cx="3174700" cy="1055674"/>
            </a:xfrm>
            <a:prstGeom prst="rect">
              <a:avLst/>
            </a:prstGeom>
            <a:noFill/>
          </p:spPr>
          <p:txBody>
            <a:bodyPr wrap="square" rtlCol="0">
              <a:spAutoFit/>
            </a:bodyPr>
            <a:lstStyle/>
            <a:p>
              <a:pPr lvl="0">
                <a:lnSpc>
                  <a:spcPct val="85000"/>
                </a:lnSpc>
                <a:spcAft>
                  <a:spcPts val="600"/>
                </a:spcAft>
                <a:defRPr/>
              </a:pPr>
              <a:r>
                <a:rPr lang="es-ES" sz="1400" dirty="0">
                  <a:latin typeface="Trebuchet MS" panose="020B0603020202020204" pitchFamily="34" charset="0"/>
                  <a:ea typeface="Verdana" panose="020B0604030504040204" pitchFamily="34" charset="0"/>
                  <a:cs typeface="Zilla Slab Light"/>
                  <a:sym typeface="Zilla Slab Light"/>
                </a:rPr>
                <a:t>Unilateral (solo un lado de la cabeza) </a:t>
              </a:r>
            </a:p>
            <a:p>
              <a:pPr lvl="0">
                <a:lnSpc>
                  <a:spcPct val="85000"/>
                </a:lnSpc>
                <a:spcAft>
                  <a:spcPts val="600"/>
                </a:spcAft>
                <a:defRPr/>
              </a:pPr>
              <a:r>
                <a:rPr lang="es-ES" sz="1400" dirty="0">
                  <a:latin typeface="Trebuchet MS" panose="020B0603020202020204" pitchFamily="34" charset="0"/>
                  <a:ea typeface="Verdana" panose="020B0604030504040204" pitchFamily="34" charset="0"/>
                  <a:cs typeface="Zilla Slab Light"/>
                  <a:sym typeface="Zilla Slab Light"/>
                </a:rPr>
                <a:t>Pulsátil o palpitante </a:t>
              </a:r>
            </a:p>
            <a:p>
              <a:pPr lvl="0">
                <a:lnSpc>
                  <a:spcPct val="85000"/>
                </a:lnSpc>
                <a:spcAft>
                  <a:spcPts val="600"/>
                </a:spcAft>
                <a:defRPr/>
              </a:pPr>
              <a:r>
                <a:rPr lang="es-ES" sz="1400" dirty="0">
                  <a:latin typeface="Trebuchet MS" panose="020B0603020202020204" pitchFamily="34" charset="0"/>
                  <a:ea typeface="Verdana" panose="020B0604030504040204" pitchFamily="34" charset="0"/>
                  <a:cs typeface="Zilla Slab Light"/>
                  <a:sym typeface="Zilla Slab Light"/>
                </a:rPr>
                <a:t>De moderado a severo </a:t>
              </a:r>
            </a:p>
            <a:p>
              <a:pPr lvl="0">
                <a:lnSpc>
                  <a:spcPct val="85000"/>
                </a:lnSpc>
                <a:spcAft>
                  <a:spcPts val="600"/>
                </a:spcAft>
                <a:defRPr/>
              </a:pPr>
              <a:r>
                <a:rPr lang="es-ES" sz="1400" dirty="0">
                  <a:latin typeface="Trebuchet MS" panose="020B0603020202020204" pitchFamily="34" charset="0"/>
                  <a:ea typeface="Verdana" panose="020B0604030504040204" pitchFamily="34" charset="0"/>
                  <a:cs typeface="Zilla Slab Light"/>
                  <a:sym typeface="Zilla Slab Light"/>
                </a:rPr>
                <a:t>Agravado por el movimiento </a:t>
              </a:r>
            </a:p>
          </p:txBody>
        </p:sp>
        <p:grpSp>
          <p:nvGrpSpPr>
            <p:cNvPr id="14" name="Group 13">
              <a:extLst>
                <a:ext uri="{FF2B5EF4-FFF2-40B4-BE49-F238E27FC236}">
                  <a16:creationId xmlns:a16="http://schemas.microsoft.com/office/drawing/2014/main" id="{B90BE472-D365-459C-B9AE-C3A14AA13CFE}"/>
                </a:ext>
              </a:extLst>
            </p:cNvPr>
            <p:cNvGrpSpPr/>
            <p:nvPr/>
          </p:nvGrpSpPr>
          <p:grpSpPr>
            <a:xfrm>
              <a:off x="6678928" y="1943905"/>
              <a:ext cx="3449638" cy="523875"/>
              <a:chOff x="6915150" y="2119989"/>
              <a:chExt cx="2978150" cy="523875"/>
            </a:xfrm>
          </p:grpSpPr>
          <p:cxnSp>
            <p:nvCxnSpPr>
              <p:cNvPr id="13" name="Straight Connector 12">
                <a:extLst>
                  <a:ext uri="{FF2B5EF4-FFF2-40B4-BE49-F238E27FC236}">
                    <a16:creationId xmlns:a16="http://schemas.microsoft.com/office/drawing/2014/main" id="{04F9B5E5-3DA9-4861-AD90-9E8F02D3278A}"/>
                  </a:ext>
                </a:extLst>
              </p:cNvPr>
              <p:cNvCxnSpPr/>
              <p:nvPr/>
            </p:nvCxnSpPr>
            <p:spPr>
              <a:xfrm>
                <a:off x="6915150" y="2119989"/>
                <a:ext cx="29781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63D9FDCC-B723-4ABE-B92F-BF2A47B2C075}"/>
                  </a:ext>
                </a:extLst>
              </p:cNvPr>
              <p:cNvCxnSpPr/>
              <p:nvPr/>
            </p:nvCxnSpPr>
            <p:spPr>
              <a:xfrm>
                <a:off x="6915150" y="2383514"/>
                <a:ext cx="29781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0FB6B1B4-9B85-4589-9361-2935108B2906}"/>
                  </a:ext>
                </a:extLst>
              </p:cNvPr>
              <p:cNvCxnSpPr/>
              <p:nvPr/>
            </p:nvCxnSpPr>
            <p:spPr>
              <a:xfrm>
                <a:off x="6915150" y="2643864"/>
                <a:ext cx="29781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83" name="TextBox 82">
              <a:extLst>
                <a:ext uri="{FF2B5EF4-FFF2-40B4-BE49-F238E27FC236}">
                  <a16:creationId xmlns:a16="http://schemas.microsoft.com/office/drawing/2014/main" id="{A9462FAC-761C-4C4D-8909-5E47E12B679D}"/>
                </a:ext>
              </a:extLst>
            </p:cNvPr>
            <p:cNvSpPr txBox="1"/>
            <p:nvPr/>
          </p:nvSpPr>
          <p:spPr>
            <a:xfrm>
              <a:off x="10501449" y="1833340"/>
              <a:ext cx="1336396" cy="781752"/>
            </a:xfrm>
            <a:prstGeom prst="rect">
              <a:avLst/>
            </a:prstGeom>
            <a:noFill/>
          </p:spPr>
          <p:txBody>
            <a:bodyPr wrap="square" rtlCol="0">
              <a:spAutoFit/>
            </a:bodyPr>
            <a:lstStyle/>
            <a:p>
              <a:pPr lvl="0" algn="ctr">
                <a:lnSpc>
                  <a:spcPct val="80000"/>
                </a:lnSpc>
                <a:defRPr/>
              </a:pPr>
              <a:r>
                <a:rPr lang="es-ES" sz="1400" b="1" dirty="0">
                  <a:latin typeface="Trebuchet MS" panose="020B0603020202020204" pitchFamily="34" charset="0"/>
                  <a:ea typeface="Verdana" panose="020B0604030504040204" pitchFamily="34" charset="0"/>
                  <a:cs typeface="Zilla Slab Light"/>
                  <a:sym typeface="Zilla Slab Light"/>
                </a:rPr>
                <a:t>AL MENOS </a:t>
              </a:r>
            </a:p>
            <a:p>
              <a:pPr lvl="0" algn="ctr">
                <a:lnSpc>
                  <a:spcPct val="80000"/>
                </a:lnSpc>
                <a:defRPr/>
              </a:pPr>
              <a:r>
                <a:rPr lang="es-ES" sz="1400" b="1" dirty="0">
                  <a:latin typeface="Trebuchet MS" panose="020B0603020202020204" pitchFamily="34" charset="0"/>
                  <a:ea typeface="Verdana" panose="020B0604030504040204" pitchFamily="34" charset="0"/>
                  <a:cs typeface="Zilla Slab Light"/>
                  <a:sym typeface="Zilla Slab Light"/>
                </a:rPr>
                <a:t>DOS DE ESTOS </a:t>
              </a:r>
            </a:p>
            <a:p>
              <a:pPr lvl="0" algn="ctr">
                <a:lnSpc>
                  <a:spcPct val="80000"/>
                </a:lnSpc>
                <a:defRPr/>
              </a:pPr>
              <a:r>
                <a:rPr lang="es-ES" sz="1400" b="1" dirty="0">
                  <a:latin typeface="Trebuchet MS" panose="020B0603020202020204" pitchFamily="34" charset="0"/>
                  <a:ea typeface="Verdana" panose="020B0604030504040204" pitchFamily="34" charset="0"/>
                  <a:cs typeface="Zilla Slab Light"/>
                  <a:sym typeface="Zilla Slab Light"/>
                </a:rPr>
                <a:t>SÍNTOMAS </a:t>
              </a:r>
            </a:p>
          </p:txBody>
        </p:sp>
        <p:grpSp>
          <p:nvGrpSpPr>
            <p:cNvPr id="112" name="Group 111">
              <a:extLst>
                <a:ext uri="{FF2B5EF4-FFF2-40B4-BE49-F238E27FC236}">
                  <a16:creationId xmlns:a16="http://schemas.microsoft.com/office/drawing/2014/main" id="{AE5420FB-2034-4F88-93F6-56E575BE5603}"/>
                </a:ext>
              </a:extLst>
            </p:cNvPr>
            <p:cNvGrpSpPr/>
            <p:nvPr/>
          </p:nvGrpSpPr>
          <p:grpSpPr>
            <a:xfrm>
              <a:off x="10275444" y="2078230"/>
              <a:ext cx="291971" cy="291971"/>
              <a:chOff x="5718127" y="1095436"/>
              <a:chExt cx="494425" cy="494425"/>
            </a:xfrm>
            <a:solidFill>
              <a:schemeClr val="bg1">
                <a:lumMod val="95000"/>
              </a:schemeClr>
            </a:solidFill>
          </p:grpSpPr>
          <p:sp>
            <p:nvSpPr>
              <p:cNvPr id="113" name="Oval 112">
                <a:extLst>
                  <a:ext uri="{FF2B5EF4-FFF2-40B4-BE49-F238E27FC236}">
                    <a16:creationId xmlns:a16="http://schemas.microsoft.com/office/drawing/2014/main" id="{70B38FC2-A3E0-41DC-B146-C4934047D170}"/>
                  </a:ext>
                </a:extLst>
              </p:cNvPr>
              <p:cNvSpPr/>
              <p:nvPr/>
            </p:nvSpPr>
            <p:spPr>
              <a:xfrm>
                <a:off x="5718127" y="1095436"/>
                <a:ext cx="494425" cy="49442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14" name="Gráfico 18">
                <a:extLst>
                  <a:ext uri="{FF2B5EF4-FFF2-40B4-BE49-F238E27FC236}">
                    <a16:creationId xmlns:a16="http://schemas.microsoft.com/office/drawing/2014/main" id="{3D54BBEE-9CB6-47B5-8817-255810081D0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874964" y="1257516"/>
                <a:ext cx="180750" cy="170265"/>
              </a:xfrm>
              <a:prstGeom prst="rect">
                <a:avLst/>
              </a:prstGeom>
            </p:spPr>
          </p:pic>
        </p:grpSp>
        <p:sp>
          <p:nvSpPr>
            <p:cNvPr id="140" name="Isosceles Triangle 139">
              <a:extLst>
                <a:ext uri="{FF2B5EF4-FFF2-40B4-BE49-F238E27FC236}">
                  <a16:creationId xmlns:a16="http://schemas.microsoft.com/office/drawing/2014/main" id="{4461E012-1755-48C7-880C-3DBC7F5139B2}"/>
                </a:ext>
              </a:extLst>
            </p:cNvPr>
            <p:cNvSpPr/>
            <p:nvPr/>
          </p:nvSpPr>
          <p:spPr>
            <a:xfrm rot="5400000">
              <a:off x="6756236" y="1787346"/>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Isosceles Triangle 140">
              <a:extLst>
                <a:ext uri="{FF2B5EF4-FFF2-40B4-BE49-F238E27FC236}">
                  <a16:creationId xmlns:a16="http://schemas.microsoft.com/office/drawing/2014/main" id="{A9260706-CFD8-4BA6-BF25-E0B77E4EB439}"/>
                </a:ext>
              </a:extLst>
            </p:cNvPr>
            <p:cNvSpPr/>
            <p:nvPr/>
          </p:nvSpPr>
          <p:spPr>
            <a:xfrm rot="5400000">
              <a:off x="6756236" y="2049284"/>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Isosceles Triangle 141">
              <a:extLst>
                <a:ext uri="{FF2B5EF4-FFF2-40B4-BE49-F238E27FC236}">
                  <a16:creationId xmlns:a16="http://schemas.microsoft.com/office/drawing/2014/main" id="{57461DDA-24D3-4073-9380-7A3647A20AE1}"/>
                </a:ext>
              </a:extLst>
            </p:cNvPr>
            <p:cNvSpPr/>
            <p:nvPr/>
          </p:nvSpPr>
          <p:spPr>
            <a:xfrm rot="5400000">
              <a:off x="6756236" y="2308840"/>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8" name="Picture 147" descr="Icon&#10;&#10;Description automatically generated">
              <a:extLst>
                <a:ext uri="{FF2B5EF4-FFF2-40B4-BE49-F238E27FC236}">
                  <a16:creationId xmlns:a16="http://schemas.microsoft.com/office/drawing/2014/main" id="{B912A058-BA45-4DD0-BE23-934061043EC4}"/>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678928" y="2490246"/>
              <a:ext cx="225173" cy="222004"/>
            </a:xfrm>
            <a:prstGeom prst="rect">
              <a:avLst/>
            </a:prstGeom>
          </p:spPr>
        </p:pic>
      </p:grpSp>
      <p:grpSp>
        <p:nvGrpSpPr>
          <p:cNvPr id="222" name="Group 221">
            <a:extLst>
              <a:ext uri="{FF2B5EF4-FFF2-40B4-BE49-F238E27FC236}">
                <a16:creationId xmlns:a16="http://schemas.microsoft.com/office/drawing/2014/main" id="{12DDB0E9-CDB7-4EDE-911B-D3877472D90D}"/>
              </a:ext>
            </a:extLst>
          </p:cNvPr>
          <p:cNvGrpSpPr/>
          <p:nvPr/>
        </p:nvGrpSpPr>
        <p:grpSpPr>
          <a:xfrm>
            <a:off x="590551" y="3928097"/>
            <a:ext cx="3389218" cy="1087162"/>
            <a:chOff x="590551" y="3797"/>
            <a:chExt cx="3389218" cy="1087162"/>
          </a:xfrm>
        </p:grpSpPr>
        <p:sp>
          <p:nvSpPr>
            <p:cNvPr id="221" name="Freeform: Shape 220">
              <a:extLst>
                <a:ext uri="{FF2B5EF4-FFF2-40B4-BE49-F238E27FC236}">
                  <a16:creationId xmlns:a16="http://schemas.microsoft.com/office/drawing/2014/main" id="{26D22DE2-F44E-46F8-A3A5-8E8692C65E8D}"/>
                </a:ext>
              </a:extLst>
            </p:cNvPr>
            <p:cNvSpPr/>
            <p:nvPr/>
          </p:nvSpPr>
          <p:spPr>
            <a:xfrm rot="10800000">
              <a:off x="590551" y="3797"/>
              <a:ext cx="3389218" cy="1087162"/>
            </a:xfrm>
            <a:custGeom>
              <a:avLst/>
              <a:gdLst>
                <a:gd name="connsiteX0" fmla="*/ 3389218 w 3389218"/>
                <a:gd name="connsiteY0" fmla="*/ 1087162 h 1087162"/>
                <a:gd name="connsiteX1" fmla="*/ 3203337 w 3389218"/>
                <a:gd name="connsiteY1" fmla="*/ 991897 h 1087162"/>
                <a:gd name="connsiteX2" fmla="*/ 3139664 w 3389218"/>
                <a:gd name="connsiteY2" fmla="*/ 987837 h 1087162"/>
                <a:gd name="connsiteX3" fmla="*/ 234088 w 3389218"/>
                <a:gd name="connsiteY3" fmla="*/ 987837 h 1087162"/>
                <a:gd name="connsiteX4" fmla="*/ 0 w 3389218"/>
                <a:gd name="connsiteY4" fmla="*/ 753749 h 1087162"/>
                <a:gd name="connsiteX5" fmla="*/ 0 w 3389218"/>
                <a:gd name="connsiteY5" fmla="*/ 234088 h 1087162"/>
                <a:gd name="connsiteX6" fmla="*/ 234088 w 3389218"/>
                <a:gd name="connsiteY6" fmla="*/ 0 h 1087162"/>
                <a:gd name="connsiteX7" fmla="*/ 3155130 w 3389218"/>
                <a:gd name="connsiteY7" fmla="*/ 0 h 1087162"/>
                <a:gd name="connsiteX8" fmla="*/ 3389218 w 3389218"/>
                <a:gd name="connsiteY8" fmla="*/ 234088 h 1087162"/>
                <a:gd name="connsiteX9" fmla="*/ 3389218 w 3389218"/>
                <a:gd name="connsiteY9" fmla="*/ 673878 h 1087162"/>
                <a:gd name="connsiteX10" fmla="*/ 3389218 w 3389218"/>
                <a:gd name="connsiteY10" fmla="*/ 753749 h 1087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89218" h="1087162">
                  <a:moveTo>
                    <a:pt x="3389218" y="1087162"/>
                  </a:moveTo>
                  <a:cubicBezTo>
                    <a:pt x="3389218" y="1087162"/>
                    <a:pt x="3369722" y="1012499"/>
                    <a:pt x="3203337" y="991897"/>
                  </a:cubicBezTo>
                  <a:lnTo>
                    <a:pt x="3139664" y="987837"/>
                  </a:lnTo>
                  <a:lnTo>
                    <a:pt x="234088" y="987837"/>
                  </a:lnTo>
                  <a:cubicBezTo>
                    <a:pt x="104805" y="987837"/>
                    <a:pt x="0" y="883032"/>
                    <a:pt x="0" y="753749"/>
                  </a:cubicBezTo>
                  <a:lnTo>
                    <a:pt x="0" y="234088"/>
                  </a:lnTo>
                  <a:cubicBezTo>
                    <a:pt x="0" y="104805"/>
                    <a:pt x="104805" y="0"/>
                    <a:pt x="234088" y="0"/>
                  </a:cubicBezTo>
                  <a:lnTo>
                    <a:pt x="3155130" y="0"/>
                  </a:lnTo>
                  <a:cubicBezTo>
                    <a:pt x="3284413" y="0"/>
                    <a:pt x="3389218" y="104805"/>
                    <a:pt x="3389218" y="234088"/>
                  </a:cubicBezTo>
                  <a:lnTo>
                    <a:pt x="3389218" y="673878"/>
                  </a:lnTo>
                  <a:lnTo>
                    <a:pt x="3389218" y="753749"/>
                  </a:lnTo>
                  <a:close/>
                </a:path>
              </a:pathLst>
            </a:custGeom>
            <a:solidFill>
              <a:srgbClr val="00AEEF"/>
            </a:solidFill>
            <a:ln w="8890" cap="flat">
              <a:noFill/>
              <a:prstDash val="solid"/>
              <a:miter/>
            </a:ln>
          </p:spPr>
          <p:txBody>
            <a:bodyPr rtlCol="0" anchor="ctr"/>
            <a:lstStyle/>
            <a:p>
              <a:endParaRPr lang="en-US"/>
            </a:p>
          </p:txBody>
        </p:sp>
        <p:sp>
          <p:nvSpPr>
            <p:cNvPr id="217" name="TextBox 216">
              <a:extLst>
                <a:ext uri="{FF2B5EF4-FFF2-40B4-BE49-F238E27FC236}">
                  <a16:creationId xmlns:a16="http://schemas.microsoft.com/office/drawing/2014/main" id="{B385D0B3-9942-4800-B5FE-80691D5E5289}"/>
                </a:ext>
              </a:extLst>
            </p:cNvPr>
            <p:cNvSpPr txBox="1"/>
            <p:nvPr/>
          </p:nvSpPr>
          <p:spPr>
            <a:xfrm>
              <a:off x="884237" y="306420"/>
              <a:ext cx="2735264" cy="615553"/>
            </a:xfrm>
            <a:prstGeom prst="rect">
              <a:avLst/>
            </a:prstGeom>
            <a:noFill/>
          </p:spPr>
          <p:txBody>
            <a:bodyPr wrap="square" rtlCol="0">
              <a:spAutoFit/>
            </a:bodyPr>
            <a:lstStyle/>
            <a:p>
              <a:pPr lvl="0">
                <a:lnSpc>
                  <a:spcPct val="85000"/>
                </a:lnSpc>
                <a:defRPr/>
              </a:pPr>
              <a:r>
                <a:rPr lang="es-ES" sz="2000" b="1">
                  <a:solidFill>
                    <a:schemeClr val="bg1"/>
                  </a:solidFill>
                  <a:latin typeface="Trebuchet MS" panose="020B0603020202020204" pitchFamily="34" charset="0"/>
                  <a:ea typeface="Verdana" panose="020B0604030504040204" pitchFamily="34" charset="0"/>
                  <a:cs typeface="Zilla Slab Light"/>
                  <a:sym typeface="Zilla Slab Light"/>
                </a:rPr>
                <a:t>UN PACIENTE PUEDE TENER AMBAS</a:t>
              </a:r>
              <a:endParaRPr lang="es-ES" sz="2000" b="1" dirty="0">
                <a:solidFill>
                  <a:schemeClr val="bg1"/>
                </a:solidFill>
                <a:latin typeface="Trebuchet MS" panose="020B0603020202020204" pitchFamily="34" charset="0"/>
                <a:ea typeface="Verdana" panose="020B0604030504040204" pitchFamily="34" charset="0"/>
                <a:cs typeface="Zilla Slab Light"/>
                <a:sym typeface="Zilla Slab Light"/>
              </a:endParaRPr>
            </a:p>
          </p:txBody>
        </p:sp>
      </p:grpSp>
      <p:sp>
        <p:nvSpPr>
          <p:cNvPr id="223" name="TextBox 222">
            <a:extLst>
              <a:ext uri="{FF2B5EF4-FFF2-40B4-BE49-F238E27FC236}">
                <a16:creationId xmlns:a16="http://schemas.microsoft.com/office/drawing/2014/main" id="{E70EEC19-B0E3-4765-98C9-E87C6C1182C7}"/>
              </a:ext>
            </a:extLst>
          </p:cNvPr>
          <p:cNvSpPr txBox="1"/>
          <p:nvPr/>
        </p:nvSpPr>
        <p:spPr>
          <a:xfrm>
            <a:off x="4683761" y="6420394"/>
            <a:ext cx="5591683" cy="327782"/>
          </a:xfrm>
          <a:prstGeom prst="rect">
            <a:avLst/>
          </a:prstGeom>
          <a:noFill/>
        </p:spPr>
        <p:txBody>
          <a:bodyPr wrap="square" rtlCol="0">
            <a:spAutoFit/>
          </a:bodyPr>
          <a:lstStyle/>
          <a:p>
            <a:pPr lvl="0">
              <a:lnSpc>
                <a:spcPct val="85000"/>
              </a:lnSpc>
              <a:defRPr/>
            </a:pPr>
            <a:r>
              <a:rPr lang="en-US" sz="900" dirty="0" err="1">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Adaptado</a:t>
            </a:r>
            <a:r>
              <a:rPr lang="en-US" sz="900" dirty="0">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 de Headache Classification Committee of the International Headache Society (IHS). </a:t>
            </a:r>
            <a:br>
              <a:rPr lang="en-US" sz="900" dirty="0">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br>
            <a:r>
              <a:rPr lang="en-US" sz="900" dirty="0">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The International Classification of Headache Disorders, 3rd edition. Cephalalgia. 2018 Jan;38(1):1-211.</a:t>
            </a:r>
          </a:p>
        </p:txBody>
      </p:sp>
    </p:spTree>
    <p:extLst>
      <p:ext uri="{BB962C8B-B14F-4D97-AF65-F5344CB8AC3E}">
        <p14:creationId xmlns:p14="http://schemas.microsoft.com/office/powerpoint/2010/main" val="3364483966"/>
      </p:ext>
    </p:extLst>
  </p:cSld>
  <p:clrMapOvr>
    <a:masterClrMapping/>
  </p:clrMapOvr>
  <p:transition spd="slow">
    <p:push dir="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 presetClass="entr" presetSubtype="0" fill="hold" grpId="0" nodeType="withEffect">
                                      <p:stCondLst>
                                        <p:cond delay="750"/>
                                      </p:stCondLst>
                                      <p:childTnLst>
                                        <p:set>
                                          <p:cBhvr>
                                            <p:cTn id="18" dur="1" fill="hold">
                                              <p:stCondLst>
                                                <p:cond delay="0"/>
                                              </p:stCondLst>
                                            </p:cTn>
                                            <p:tgtEl>
                                              <p:spTgt spid="186"/>
                                            </p:tgtEl>
                                            <p:attrNameLst>
                                              <p:attrName>style.visibility</p:attrName>
                                            </p:attrNameLst>
                                          </p:cBhvr>
                                          <p:to>
                                            <p:strVal val="visible"/>
                                          </p:to>
                                        </p:set>
                                      </p:childTnLst>
                                    </p:cTn>
                                  </p:par>
                                  <p:par>
                                    <p:cTn id="19" presetID="35" presetClass="path" presetSubtype="0" decel="100000" fill="hold" grpId="1" nodeType="withEffect">
                                      <p:stCondLst>
                                        <p:cond delay="750"/>
                                      </p:stCondLst>
                                      <p:childTnLst>
                                        <p:animMotion origin="layout" path="M 8.33333E-7 2.59259E-6 L -0.01667 2.59259E-6 " pathEditMode="relative" rAng="0" ptsTypes="AA">
                                          <p:cBhvr>
                                            <p:cTn id="20" dur="750" spd="-100000" fill="hold"/>
                                            <p:tgtEl>
                                              <p:spTgt spid="186"/>
                                            </p:tgtEl>
                                            <p:attrNameLst>
                                              <p:attrName>ppt_x</p:attrName>
                                              <p:attrName>ppt_y</p:attrName>
                                            </p:attrNameLst>
                                          </p:cBhvr>
                                          <p:rCtr x="-833" y="0"/>
                                        </p:animMotion>
                                      </p:childTnLst>
                                    </p:cTn>
                                  </p:par>
                                  <p:par>
                                    <p:cTn id="21" presetID="10" presetClass="entr" presetSubtype="0" fill="hold" nodeType="withEffect">
                                      <p:stCondLst>
                                        <p:cond delay="750"/>
                                      </p:stCondLst>
                                      <p:childTnLst>
                                        <p:set>
                                          <p:cBhvr>
                                            <p:cTn id="22" dur="1" fill="hold">
                                              <p:stCondLst>
                                                <p:cond delay="0"/>
                                              </p:stCondLst>
                                            </p:cTn>
                                            <p:tgtEl>
                                              <p:spTgt spid="204"/>
                                            </p:tgtEl>
                                            <p:attrNameLst>
                                              <p:attrName>style.visibility</p:attrName>
                                            </p:attrNameLst>
                                          </p:cBhvr>
                                          <p:to>
                                            <p:strVal val="visible"/>
                                          </p:to>
                                        </p:set>
                                        <p:animEffect transition="in" filter="fade">
                                          <p:cBhvr>
                                            <p:cTn id="23" dur="500"/>
                                            <p:tgtEl>
                                              <p:spTgt spid="204"/>
                                            </p:tgtEl>
                                          </p:cBhvr>
                                        </p:animEffect>
                                      </p:childTnLst>
                                    </p:cTn>
                                  </p:par>
                                  <p:par>
                                    <p:cTn id="24" presetID="10" presetClass="entr" presetSubtype="0" fill="hold" grpId="0" nodeType="withEffect">
                                      <p:stCondLst>
                                        <p:cond delay="750"/>
                                      </p:stCondLst>
                                      <p:childTnLst>
                                        <p:set>
                                          <p:cBhvr>
                                            <p:cTn id="25" dur="1" fill="hold">
                                              <p:stCondLst>
                                                <p:cond delay="0"/>
                                              </p:stCondLst>
                                            </p:cTn>
                                            <p:tgtEl>
                                              <p:spTgt spid="198"/>
                                            </p:tgtEl>
                                            <p:attrNameLst>
                                              <p:attrName>style.visibility</p:attrName>
                                            </p:attrNameLst>
                                          </p:cBhvr>
                                          <p:to>
                                            <p:strVal val="visible"/>
                                          </p:to>
                                        </p:set>
                                        <p:animEffect transition="in" filter="fade">
                                          <p:cBhvr>
                                            <p:cTn id="26" dur="500"/>
                                            <p:tgtEl>
                                              <p:spTgt spid="198"/>
                                            </p:tgtEl>
                                          </p:cBhvr>
                                        </p:animEffect>
                                      </p:childTnLst>
                                    </p:cTn>
                                  </p:par>
                                  <p:par>
                                    <p:cTn id="27" presetID="10" presetClass="entr" presetSubtype="0" fill="hold" grpId="0" nodeType="withEffect">
                                      <p:stCondLst>
                                        <p:cond delay="1000"/>
                                      </p:stCondLst>
                                      <p:childTnLst>
                                        <p:set>
                                          <p:cBhvr>
                                            <p:cTn id="28" dur="1" fill="hold">
                                              <p:stCondLst>
                                                <p:cond delay="0"/>
                                              </p:stCondLst>
                                            </p:cTn>
                                            <p:tgtEl>
                                              <p:spTgt spid="195"/>
                                            </p:tgtEl>
                                            <p:attrNameLst>
                                              <p:attrName>style.visibility</p:attrName>
                                            </p:attrNameLst>
                                          </p:cBhvr>
                                          <p:to>
                                            <p:strVal val="visible"/>
                                          </p:to>
                                        </p:set>
                                        <p:animEffect transition="in" filter="fade">
                                          <p:cBhvr>
                                            <p:cTn id="29" dur="500"/>
                                            <p:tgtEl>
                                              <p:spTgt spid="195"/>
                                            </p:tgtEl>
                                          </p:cBhvr>
                                        </p:animEffect>
                                      </p:childTnLst>
                                    </p:cTn>
                                  </p:par>
                                  <p:par>
                                    <p:cTn id="30" presetID="10" presetClass="entr" presetSubtype="0" fill="hold" nodeType="withEffect">
                                      <p:stCondLst>
                                        <p:cond delay="1000"/>
                                      </p:stCondLst>
                                      <p:childTnLst>
                                        <p:set>
                                          <p:cBhvr>
                                            <p:cTn id="31" dur="1" fill="hold">
                                              <p:stCondLst>
                                                <p:cond delay="0"/>
                                              </p:stCondLst>
                                            </p:cTn>
                                            <p:tgtEl>
                                              <p:spTgt spid="205"/>
                                            </p:tgtEl>
                                            <p:attrNameLst>
                                              <p:attrName>style.visibility</p:attrName>
                                            </p:attrNameLst>
                                          </p:cBhvr>
                                          <p:to>
                                            <p:strVal val="visible"/>
                                          </p:to>
                                        </p:set>
                                        <p:animEffect transition="in" filter="fade">
                                          <p:cBhvr>
                                            <p:cTn id="32" dur="250"/>
                                            <p:tgtEl>
                                              <p:spTgt spid="205"/>
                                            </p:tgtEl>
                                          </p:cBhvr>
                                        </p:animEffect>
                                      </p:childTnLst>
                                    </p:cTn>
                                  </p:par>
                                  <p:par>
                                    <p:cTn id="33" presetID="63" presetClass="path" presetSubtype="0" decel="100000" fill="hold" nodeType="withEffect">
                                      <p:stCondLst>
                                        <p:cond delay="1000"/>
                                      </p:stCondLst>
                                      <p:childTnLst>
                                        <p:animMotion origin="layout" path="M 1.875E-6 4.81481E-6 L 0.03906 4.81481E-6 " pathEditMode="relative" rAng="0" ptsTypes="AA">
                                          <p:cBhvr>
                                            <p:cTn id="34" dur="750" spd="-100000" fill="hold"/>
                                            <p:tgtEl>
                                              <p:spTgt spid="205"/>
                                            </p:tgtEl>
                                            <p:attrNameLst>
                                              <p:attrName>ppt_x</p:attrName>
                                              <p:attrName>ppt_y</p:attrName>
                                            </p:attrNameLst>
                                          </p:cBhvr>
                                          <p:rCtr x="1953" y="0"/>
                                        </p:animMotion>
                                      </p:childTnLst>
                                    </p:cTn>
                                  </p:par>
                                  <p:par>
                                    <p:cTn id="35" presetID="10" presetClass="entr" presetSubtype="0" fill="hold" nodeType="withEffect">
                                      <p:stCondLst>
                                        <p:cond delay="1000"/>
                                      </p:stCondLst>
                                      <p:childTnLst>
                                        <p:set>
                                          <p:cBhvr>
                                            <p:cTn id="36" dur="1" fill="hold">
                                              <p:stCondLst>
                                                <p:cond delay="0"/>
                                              </p:stCondLst>
                                            </p:cTn>
                                            <p:tgtEl>
                                              <p:spTgt spid="209"/>
                                            </p:tgtEl>
                                            <p:attrNameLst>
                                              <p:attrName>style.visibility</p:attrName>
                                            </p:attrNameLst>
                                          </p:cBhvr>
                                          <p:to>
                                            <p:strVal val="visible"/>
                                          </p:to>
                                        </p:set>
                                        <p:animEffect transition="in" filter="fade">
                                          <p:cBhvr>
                                            <p:cTn id="37" dur="500"/>
                                            <p:tgtEl>
                                              <p:spTgt spid="209"/>
                                            </p:tgtEl>
                                          </p:cBhvr>
                                        </p:animEffect>
                                      </p:childTnLst>
                                    </p:cTn>
                                  </p:par>
                                  <p:par>
                                    <p:cTn id="38" presetID="10" presetClass="entr" presetSubtype="0" fill="hold" nodeType="withEffect">
                                      <p:stCondLst>
                                        <p:cond delay="1000"/>
                                      </p:stCondLst>
                                      <p:childTnLst>
                                        <p:set>
                                          <p:cBhvr>
                                            <p:cTn id="39" dur="1" fill="hold">
                                              <p:stCondLst>
                                                <p:cond delay="0"/>
                                              </p:stCondLst>
                                            </p:cTn>
                                            <p:tgtEl>
                                              <p:spTgt spid="222"/>
                                            </p:tgtEl>
                                            <p:attrNameLst>
                                              <p:attrName>style.visibility</p:attrName>
                                            </p:attrNameLst>
                                          </p:cBhvr>
                                          <p:to>
                                            <p:strVal val="visible"/>
                                          </p:to>
                                        </p:set>
                                        <p:animEffect transition="in" filter="fade">
                                          <p:cBhvr>
                                            <p:cTn id="40" dur="500"/>
                                            <p:tgtEl>
                                              <p:spTgt spid="222"/>
                                            </p:tgtEl>
                                          </p:cBhvr>
                                        </p:animEffect>
                                      </p:childTnLst>
                                    </p:cTn>
                                  </p:par>
                                  <p:par>
                                    <p:cTn id="41" presetID="42" presetClass="path" presetSubtype="0" decel="100000" fill="hold" nodeType="withEffect">
                                      <p:stCondLst>
                                        <p:cond delay="1000"/>
                                      </p:stCondLst>
                                      <p:childTnLst>
                                        <p:animMotion origin="layout" path="M 2.08333E-7 -1.85185E-6 L 2.08333E-7 0.07176 " pathEditMode="relative" rAng="0" ptsTypes="AA">
                                          <p:cBhvr>
                                            <p:cTn id="42" dur="750" spd="-100000" fill="hold"/>
                                            <p:tgtEl>
                                              <p:spTgt spid="222"/>
                                            </p:tgtEl>
                                            <p:attrNameLst>
                                              <p:attrName>ppt_x</p:attrName>
                                              <p:attrName>ppt_y</p:attrName>
                                            </p:attrNameLst>
                                          </p:cBhvr>
                                          <p:rCtr x="0" y="3588"/>
                                        </p:animMotion>
                                      </p:childTnLst>
                                    </p:cTn>
                                  </p:par>
                                  <p:par>
                                    <p:cTn id="43" presetID="49" presetClass="entr" presetSubtype="0" decel="100000" fill="hold" nodeType="withEffect">
                                      <p:stCondLst>
                                        <p:cond delay="1250"/>
                                      </p:stCondLst>
                                      <p:childTnLst>
                                        <p:set>
                                          <p:cBhvr>
                                            <p:cTn id="44" dur="1" fill="hold">
                                              <p:stCondLst>
                                                <p:cond delay="0"/>
                                              </p:stCondLst>
                                            </p:cTn>
                                            <p:tgtEl>
                                              <p:spTgt spid="211"/>
                                            </p:tgtEl>
                                            <p:attrNameLst>
                                              <p:attrName>style.visibility</p:attrName>
                                            </p:attrNameLst>
                                          </p:cBhvr>
                                          <p:to>
                                            <p:strVal val="visible"/>
                                          </p:to>
                                        </p:set>
                                        <p:anim calcmode="lin" valueType="num">
                                          <p:cBhvr>
                                            <p:cTn id="45" dur="500" fill="hold"/>
                                            <p:tgtEl>
                                              <p:spTgt spid="211"/>
                                            </p:tgtEl>
                                            <p:attrNameLst>
                                              <p:attrName>ppt_w</p:attrName>
                                            </p:attrNameLst>
                                          </p:cBhvr>
                                          <p:tavLst>
                                            <p:tav tm="0">
                                              <p:val>
                                                <p:fltVal val="0"/>
                                              </p:val>
                                            </p:tav>
                                            <p:tav tm="100000">
                                              <p:val>
                                                <p:strVal val="#ppt_w"/>
                                              </p:val>
                                            </p:tav>
                                          </p:tavLst>
                                        </p:anim>
                                        <p:anim calcmode="lin" valueType="num">
                                          <p:cBhvr>
                                            <p:cTn id="46" dur="500" fill="hold"/>
                                            <p:tgtEl>
                                              <p:spTgt spid="211"/>
                                            </p:tgtEl>
                                            <p:attrNameLst>
                                              <p:attrName>ppt_h</p:attrName>
                                            </p:attrNameLst>
                                          </p:cBhvr>
                                          <p:tavLst>
                                            <p:tav tm="0">
                                              <p:val>
                                                <p:fltVal val="0"/>
                                              </p:val>
                                            </p:tav>
                                            <p:tav tm="100000">
                                              <p:val>
                                                <p:strVal val="#ppt_h"/>
                                              </p:val>
                                            </p:tav>
                                          </p:tavLst>
                                        </p:anim>
                                        <p:anim calcmode="lin" valueType="num">
                                          <p:cBhvr>
                                            <p:cTn id="47" dur="500" fill="hold"/>
                                            <p:tgtEl>
                                              <p:spTgt spid="211"/>
                                            </p:tgtEl>
                                            <p:attrNameLst>
                                              <p:attrName>style.rotation</p:attrName>
                                            </p:attrNameLst>
                                          </p:cBhvr>
                                          <p:tavLst>
                                            <p:tav tm="0">
                                              <p:val>
                                                <p:fltVal val="360"/>
                                              </p:val>
                                            </p:tav>
                                            <p:tav tm="100000">
                                              <p:val>
                                                <p:fltVal val="0"/>
                                              </p:val>
                                            </p:tav>
                                          </p:tavLst>
                                        </p:anim>
                                        <p:animEffect transition="in" filter="fade">
                                          <p:cBhvr>
                                            <p:cTn id="48" dur="500"/>
                                            <p:tgtEl>
                                              <p:spTgt spid="211"/>
                                            </p:tgtEl>
                                          </p:cBhvr>
                                        </p:animEffect>
                                      </p:childTnLst>
                                    </p:cTn>
                                  </p:par>
                                  <p:par>
                                    <p:cTn id="49" presetID="49" presetClass="entr" presetSubtype="0" decel="100000" fill="hold" nodeType="withEffect">
                                      <p:stCondLst>
                                        <p:cond delay="1250"/>
                                      </p:stCondLst>
                                      <p:childTnLst>
                                        <p:set>
                                          <p:cBhvr>
                                            <p:cTn id="50" dur="1" fill="hold">
                                              <p:stCondLst>
                                                <p:cond delay="0"/>
                                              </p:stCondLst>
                                            </p:cTn>
                                            <p:tgtEl>
                                              <p:spTgt spid="213"/>
                                            </p:tgtEl>
                                            <p:attrNameLst>
                                              <p:attrName>style.visibility</p:attrName>
                                            </p:attrNameLst>
                                          </p:cBhvr>
                                          <p:to>
                                            <p:strVal val="visible"/>
                                          </p:to>
                                        </p:set>
                                        <p:anim calcmode="lin" valueType="num">
                                          <p:cBhvr>
                                            <p:cTn id="51" dur="500" fill="hold"/>
                                            <p:tgtEl>
                                              <p:spTgt spid="213"/>
                                            </p:tgtEl>
                                            <p:attrNameLst>
                                              <p:attrName>ppt_w</p:attrName>
                                            </p:attrNameLst>
                                          </p:cBhvr>
                                          <p:tavLst>
                                            <p:tav tm="0">
                                              <p:val>
                                                <p:fltVal val="0"/>
                                              </p:val>
                                            </p:tav>
                                            <p:tav tm="100000">
                                              <p:val>
                                                <p:strVal val="#ppt_w"/>
                                              </p:val>
                                            </p:tav>
                                          </p:tavLst>
                                        </p:anim>
                                        <p:anim calcmode="lin" valueType="num">
                                          <p:cBhvr>
                                            <p:cTn id="52" dur="500" fill="hold"/>
                                            <p:tgtEl>
                                              <p:spTgt spid="213"/>
                                            </p:tgtEl>
                                            <p:attrNameLst>
                                              <p:attrName>ppt_h</p:attrName>
                                            </p:attrNameLst>
                                          </p:cBhvr>
                                          <p:tavLst>
                                            <p:tav tm="0">
                                              <p:val>
                                                <p:fltVal val="0"/>
                                              </p:val>
                                            </p:tav>
                                            <p:tav tm="100000">
                                              <p:val>
                                                <p:strVal val="#ppt_h"/>
                                              </p:val>
                                            </p:tav>
                                          </p:tavLst>
                                        </p:anim>
                                        <p:anim calcmode="lin" valueType="num">
                                          <p:cBhvr>
                                            <p:cTn id="53" dur="500" fill="hold"/>
                                            <p:tgtEl>
                                              <p:spTgt spid="213"/>
                                            </p:tgtEl>
                                            <p:attrNameLst>
                                              <p:attrName>style.rotation</p:attrName>
                                            </p:attrNameLst>
                                          </p:cBhvr>
                                          <p:tavLst>
                                            <p:tav tm="0">
                                              <p:val>
                                                <p:fltVal val="360"/>
                                              </p:val>
                                            </p:tav>
                                            <p:tav tm="100000">
                                              <p:val>
                                                <p:fltVal val="0"/>
                                              </p:val>
                                            </p:tav>
                                          </p:tavLst>
                                        </p:anim>
                                        <p:animEffect transition="in" filter="fade">
                                          <p:cBhvr>
                                            <p:cTn id="54" dur="500"/>
                                            <p:tgtEl>
                                              <p:spTgt spid="213"/>
                                            </p:tgtEl>
                                          </p:cBhvr>
                                        </p:animEffect>
                                      </p:childTnLst>
                                    </p:cTn>
                                  </p:par>
                                  <p:par>
                                    <p:cTn id="55" presetID="10" presetClass="entr" presetSubtype="0" fill="hold" grpId="0" nodeType="withEffect">
                                      <p:stCondLst>
                                        <p:cond delay="1250"/>
                                      </p:stCondLst>
                                      <p:childTnLst>
                                        <p:set>
                                          <p:cBhvr>
                                            <p:cTn id="56" dur="1" fill="hold">
                                              <p:stCondLst>
                                                <p:cond delay="0"/>
                                              </p:stCondLst>
                                            </p:cTn>
                                            <p:tgtEl>
                                              <p:spTgt spid="201"/>
                                            </p:tgtEl>
                                            <p:attrNameLst>
                                              <p:attrName>style.visibility</p:attrName>
                                            </p:attrNameLst>
                                          </p:cBhvr>
                                          <p:to>
                                            <p:strVal val="visible"/>
                                          </p:to>
                                        </p:set>
                                        <p:animEffect transition="in" filter="fade">
                                          <p:cBhvr>
                                            <p:cTn id="57" dur="500"/>
                                            <p:tgtEl>
                                              <p:spTgt spid="201"/>
                                            </p:tgtEl>
                                          </p:cBhvr>
                                        </p:animEffect>
                                      </p:childTnLst>
                                    </p:cTn>
                                  </p:par>
                                  <p:par>
                                    <p:cTn id="58" presetID="10" presetClass="entr" presetSubtype="0" fill="hold" nodeType="withEffect">
                                      <p:stCondLst>
                                        <p:cond delay="1250"/>
                                      </p:stCondLst>
                                      <p:childTnLst>
                                        <p:set>
                                          <p:cBhvr>
                                            <p:cTn id="59" dur="1" fill="hold">
                                              <p:stCondLst>
                                                <p:cond delay="0"/>
                                              </p:stCondLst>
                                            </p:cTn>
                                            <p:tgtEl>
                                              <p:spTgt spid="206"/>
                                            </p:tgtEl>
                                            <p:attrNameLst>
                                              <p:attrName>style.visibility</p:attrName>
                                            </p:attrNameLst>
                                          </p:cBhvr>
                                          <p:to>
                                            <p:strVal val="visible"/>
                                          </p:to>
                                        </p:set>
                                        <p:animEffect transition="in" filter="fade">
                                          <p:cBhvr>
                                            <p:cTn id="60" dur="250"/>
                                            <p:tgtEl>
                                              <p:spTgt spid="206"/>
                                            </p:tgtEl>
                                          </p:cBhvr>
                                        </p:animEffect>
                                      </p:childTnLst>
                                    </p:cTn>
                                  </p:par>
                                  <p:par>
                                    <p:cTn id="61" presetID="63" presetClass="path" presetSubtype="0" decel="100000" fill="hold" nodeType="withEffect">
                                      <p:stCondLst>
                                        <p:cond delay="1250"/>
                                      </p:stCondLst>
                                      <p:childTnLst>
                                        <p:animMotion origin="layout" path="M 2.29167E-6 -7.40741E-7 L 0.03906 -7.40741E-7 " pathEditMode="relative" rAng="0" ptsTypes="AA">
                                          <p:cBhvr>
                                            <p:cTn id="62" dur="750" spd="-100000" fill="hold"/>
                                            <p:tgtEl>
                                              <p:spTgt spid="206"/>
                                            </p:tgtEl>
                                            <p:attrNameLst>
                                              <p:attrName>ppt_x</p:attrName>
                                              <p:attrName>ppt_y</p:attrName>
                                            </p:attrNameLst>
                                          </p:cBhvr>
                                          <p:rCtr x="1953" y="0"/>
                                        </p:animMotion>
                                      </p:childTnLst>
                                    </p:cTn>
                                  </p:par>
                                  <p:par>
                                    <p:cTn id="63" presetID="10" presetClass="entr" presetSubtype="0" fill="hold" nodeType="withEffect">
                                      <p:stCondLst>
                                        <p:cond delay="1350"/>
                                      </p:stCondLst>
                                      <p:childTnLst>
                                        <p:set>
                                          <p:cBhvr>
                                            <p:cTn id="64" dur="1" fill="hold">
                                              <p:stCondLst>
                                                <p:cond delay="0"/>
                                              </p:stCondLst>
                                            </p:cTn>
                                            <p:tgtEl>
                                              <p:spTgt spid="207"/>
                                            </p:tgtEl>
                                            <p:attrNameLst>
                                              <p:attrName>style.visibility</p:attrName>
                                            </p:attrNameLst>
                                          </p:cBhvr>
                                          <p:to>
                                            <p:strVal val="visible"/>
                                          </p:to>
                                        </p:set>
                                        <p:animEffect transition="in" filter="fade">
                                          <p:cBhvr>
                                            <p:cTn id="65" dur="500"/>
                                            <p:tgtEl>
                                              <p:spTgt spid="207"/>
                                            </p:tgtEl>
                                          </p:cBhvr>
                                        </p:animEffect>
                                      </p:childTnLst>
                                    </p:cTn>
                                  </p:par>
                                  <p:par>
                                    <p:cTn id="66" presetID="63" presetClass="path" presetSubtype="0" decel="100000" fill="hold" nodeType="withEffect">
                                      <p:stCondLst>
                                        <p:cond delay="1350"/>
                                      </p:stCondLst>
                                      <p:childTnLst>
                                        <p:animMotion origin="layout" path="M 6.25E-7 3.7037E-7 L 0.03906 3.7037E-7 " pathEditMode="relative" rAng="0" ptsTypes="AA">
                                          <p:cBhvr>
                                            <p:cTn id="67" dur="750" spd="-100000" fill="hold"/>
                                            <p:tgtEl>
                                              <p:spTgt spid="207"/>
                                            </p:tgtEl>
                                            <p:attrNameLst>
                                              <p:attrName>ppt_x</p:attrName>
                                              <p:attrName>ppt_y</p:attrName>
                                            </p:attrNameLst>
                                          </p:cBhvr>
                                          <p:rCtr x="1953" y="0"/>
                                        </p:animMotion>
                                      </p:childTnLst>
                                    </p:cTn>
                                  </p:par>
                                  <p:par>
                                    <p:cTn id="68" presetID="10" presetClass="entr" presetSubtype="0" fill="hold" nodeType="withEffect">
                                      <p:stCondLst>
                                        <p:cond delay="1350"/>
                                      </p:stCondLst>
                                      <p:childTnLst>
                                        <p:set>
                                          <p:cBhvr>
                                            <p:cTn id="69" dur="1" fill="hold">
                                              <p:stCondLst>
                                                <p:cond delay="0"/>
                                              </p:stCondLst>
                                            </p:cTn>
                                            <p:tgtEl>
                                              <p:spTgt spid="210"/>
                                            </p:tgtEl>
                                            <p:attrNameLst>
                                              <p:attrName>style.visibility</p:attrName>
                                            </p:attrNameLst>
                                          </p:cBhvr>
                                          <p:to>
                                            <p:strVal val="visible"/>
                                          </p:to>
                                        </p:set>
                                        <p:animEffect transition="in" filter="fade">
                                          <p:cBhvr>
                                            <p:cTn id="70" dur="500"/>
                                            <p:tgtEl>
                                              <p:spTgt spid="210"/>
                                            </p:tgtEl>
                                          </p:cBhvr>
                                        </p:animEffect>
                                      </p:childTnLst>
                                    </p:cTn>
                                  </p:par>
                                  <p:par>
                                    <p:cTn id="71" presetID="10" presetClass="entr" presetSubtype="0" fill="hold" grpId="0" nodeType="withEffect">
                                      <p:stCondLst>
                                        <p:cond delay="1350"/>
                                      </p:stCondLst>
                                      <p:childTnLst>
                                        <p:set>
                                          <p:cBhvr>
                                            <p:cTn id="72" dur="1" fill="hold">
                                              <p:stCondLst>
                                                <p:cond delay="0"/>
                                              </p:stCondLst>
                                            </p:cTn>
                                            <p:tgtEl>
                                              <p:spTgt spid="168"/>
                                            </p:tgtEl>
                                            <p:attrNameLst>
                                              <p:attrName>style.visibility</p:attrName>
                                            </p:attrNameLst>
                                          </p:cBhvr>
                                          <p:to>
                                            <p:strVal val="visible"/>
                                          </p:to>
                                        </p:set>
                                        <p:animEffect transition="in" filter="fade">
                                          <p:cBhvr>
                                            <p:cTn id="73" dur="500"/>
                                            <p:tgtEl>
                                              <p:spTgt spid="168"/>
                                            </p:tgtEl>
                                          </p:cBhvr>
                                        </p:animEffect>
                                      </p:childTnLst>
                                    </p:cTn>
                                  </p:par>
                                  <p:par>
                                    <p:cTn id="74" presetID="23" presetClass="entr" presetSubtype="16" fill="hold" grpId="0" nodeType="withEffect">
                                      <p:stCondLst>
                                        <p:cond delay="1350"/>
                                      </p:stCondLst>
                                      <p:childTnLst>
                                        <p:set>
                                          <p:cBhvr>
                                            <p:cTn id="75" dur="1" fill="hold">
                                              <p:stCondLst>
                                                <p:cond delay="0"/>
                                              </p:stCondLst>
                                            </p:cTn>
                                            <p:tgtEl>
                                              <p:spTgt spid="152"/>
                                            </p:tgtEl>
                                            <p:attrNameLst>
                                              <p:attrName>style.visibility</p:attrName>
                                            </p:attrNameLst>
                                          </p:cBhvr>
                                          <p:to>
                                            <p:strVal val="visible"/>
                                          </p:to>
                                        </p:set>
                                        <p:anim calcmode="lin" valueType="num">
                                          <p:cBhvr>
                                            <p:cTn id="76" dur="200" fill="hold"/>
                                            <p:tgtEl>
                                              <p:spTgt spid="152"/>
                                            </p:tgtEl>
                                            <p:attrNameLst>
                                              <p:attrName>ppt_w</p:attrName>
                                            </p:attrNameLst>
                                          </p:cBhvr>
                                          <p:tavLst>
                                            <p:tav tm="0">
                                              <p:val>
                                                <p:fltVal val="0"/>
                                              </p:val>
                                            </p:tav>
                                            <p:tav tm="100000">
                                              <p:val>
                                                <p:strVal val="#ppt_w"/>
                                              </p:val>
                                            </p:tav>
                                          </p:tavLst>
                                        </p:anim>
                                        <p:anim calcmode="lin" valueType="num">
                                          <p:cBhvr>
                                            <p:cTn id="77" dur="200" fill="hold"/>
                                            <p:tgtEl>
                                              <p:spTgt spid="152"/>
                                            </p:tgtEl>
                                            <p:attrNameLst>
                                              <p:attrName>ppt_h</p:attrName>
                                            </p:attrNameLst>
                                          </p:cBhvr>
                                          <p:tavLst>
                                            <p:tav tm="0">
                                              <p:val>
                                                <p:fltVal val="0"/>
                                              </p:val>
                                            </p:tav>
                                            <p:tav tm="100000">
                                              <p:val>
                                                <p:strVal val="#ppt_h"/>
                                              </p:val>
                                            </p:tav>
                                          </p:tavLst>
                                        </p:anim>
                                      </p:childTnLst>
                                    </p:cTn>
                                  </p:par>
                                  <p:par>
                                    <p:cTn id="78" presetID="6" presetClass="emph" presetSubtype="0" fill="hold" grpId="1" nodeType="withEffect" p14:presetBounceEnd="99000">
                                      <p:stCondLst>
                                        <p:cond delay="1350"/>
                                      </p:stCondLst>
                                      <p:childTnLst>
                                        <p:animScale p14:bounceEnd="99000">
                                          <p:cBhvr>
                                            <p:cTn id="79" dur="1000" fill="hold"/>
                                            <p:tgtEl>
                                              <p:spTgt spid="152"/>
                                            </p:tgtEl>
                                          </p:cBhvr>
                                          <p:by x="110000" y="110000"/>
                                        </p:animScale>
                                      </p:childTnLst>
                                    </p:cTn>
                                  </p:par>
                                  <p:par>
                                    <p:cTn id="80" presetID="6" presetClass="emph" presetSubtype="0" accel="50000" decel="50000" fill="hold" grpId="2" nodeType="withEffect">
                                      <p:stCondLst>
                                        <p:cond delay="1350"/>
                                      </p:stCondLst>
                                      <p:childTnLst>
                                        <p:animScale>
                                          <p:cBhvr>
                                            <p:cTn id="81" dur="250" fill="hold"/>
                                            <p:tgtEl>
                                              <p:spTgt spid="152"/>
                                            </p:tgtEl>
                                          </p:cBhvr>
                                          <p:by x="91000" y="91000"/>
                                        </p:animScale>
                                      </p:childTnLst>
                                    </p:cTn>
                                  </p:par>
                                  <p:par>
                                    <p:cTn id="82" presetID="23" presetClass="entr" presetSubtype="16" fill="hold" grpId="0" nodeType="withEffect">
                                      <p:stCondLst>
                                        <p:cond delay="1350"/>
                                      </p:stCondLst>
                                      <p:childTnLst>
                                        <p:set>
                                          <p:cBhvr>
                                            <p:cTn id="83" dur="1" fill="hold">
                                              <p:stCondLst>
                                                <p:cond delay="0"/>
                                              </p:stCondLst>
                                            </p:cTn>
                                            <p:tgtEl>
                                              <p:spTgt spid="156"/>
                                            </p:tgtEl>
                                            <p:attrNameLst>
                                              <p:attrName>style.visibility</p:attrName>
                                            </p:attrNameLst>
                                          </p:cBhvr>
                                          <p:to>
                                            <p:strVal val="visible"/>
                                          </p:to>
                                        </p:set>
                                        <p:anim calcmode="lin" valueType="num">
                                          <p:cBhvr>
                                            <p:cTn id="84" dur="200" fill="hold"/>
                                            <p:tgtEl>
                                              <p:spTgt spid="156"/>
                                            </p:tgtEl>
                                            <p:attrNameLst>
                                              <p:attrName>ppt_w</p:attrName>
                                            </p:attrNameLst>
                                          </p:cBhvr>
                                          <p:tavLst>
                                            <p:tav tm="0">
                                              <p:val>
                                                <p:fltVal val="0"/>
                                              </p:val>
                                            </p:tav>
                                            <p:tav tm="100000">
                                              <p:val>
                                                <p:strVal val="#ppt_w"/>
                                              </p:val>
                                            </p:tav>
                                          </p:tavLst>
                                        </p:anim>
                                        <p:anim calcmode="lin" valueType="num">
                                          <p:cBhvr>
                                            <p:cTn id="85" dur="200" fill="hold"/>
                                            <p:tgtEl>
                                              <p:spTgt spid="156"/>
                                            </p:tgtEl>
                                            <p:attrNameLst>
                                              <p:attrName>ppt_h</p:attrName>
                                            </p:attrNameLst>
                                          </p:cBhvr>
                                          <p:tavLst>
                                            <p:tav tm="0">
                                              <p:val>
                                                <p:fltVal val="0"/>
                                              </p:val>
                                            </p:tav>
                                            <p:tav tm="100000">
                                              <p:val>
                                                <p:strVal val="#ppt_h"/>
                                              </p:val>
                                            </p:tav>
                                          </p:tavLst>
                                        </p:anim>
                                      </p:childTnLst>
                                    </p:cTn>
                                  </p:par>
                                  <p:par>
                                    <p:cTn id="86" presetID="6" presetClass="emph" presetSubtype="0" fill="hold" grpId="1" nodeType="withEffect" p14:presetBounceEnd="99000">
                                      <p:stCondLst>
                                        <p:cond delay="1350"/>
                                      </p:stCondLst>
                                      <p:childTnLst>
                                        <p:animScale p14:bounceEnd="99000">
                                          <p:cBhvr>
                                            <p:cTn id="87" dur="1000" fill="hold"/>
                                            <p:tgtEl>
                                              <p:spTgt spid="156"/>
                                            </p:tgtEl>
                                          </p:cBhvr>
                                          <p:by x="110000" y="110000"/>
                                        </p:animScale>
                                      </p:childTnLst>
                                    </p:cTn>
                                  </p:par>
                                  <p:par>
                                    <p:cTn id="88" presetID="6" presetClass="emph" presetSubtype="0" accel="50000" decel="50000" fill="hold" grpId="2" nodeType="withEffect">
                                      <p:stCondLst>
                                        <p:cond delay="1350"/>
                                      </p:stCondLst>
                                      <p:childTnLst>
                                        <p:animScale>
                                          <p:cBhvr>
                                            <p:cTn id="89" dur="250" fill="hold"/>
                                            <p:tgtEl>
                                              <p:spTgt spid="156"/>
                                            </p:tgtEl>
                                          </p:cBhvr>
                                          <p:by x="91000" y="91000"/>
                                        </p:animScale>
                                      </p:childTnLst>
                                    </p:cTn>
                                  </p:par>
                                  <p:par>
                                    <p:cTn id="90" presetID="22" presetClass="entr" presetSubtype="8" fill="hold" nodeType="withEffect">
                                      <p:stCondLst>
                                        <p:cond delay="1350"/>
                                      </p:stCondLst>
                                      <p:childTnLst>
                                        <p:set>
                                          <p:cBhvr>
                                            <p:cTn id="91" dur="1" fill="hold">
                                              <p:stCondLst>
                                                <p:cond delay="0"/>
                                              </p:stCondLst>
                                            </p:cTn>
                                            <p:tgtEl>
                                              <p:spTgt spid="158"/>
                                            </p:tgtEl>
                                            <p:attrNameLst>
                                              <p:attrName>style.visibility</p:attrName>
                                            </p:attrNameLst>
                                          </p:cBhvr>
                                          <p:to>
                                            <p:strVal val="visible"/>
                                          </p:to>
                                        </p:set>
                                        <p:animEffect transition="in" filter="wipe(left)">
                                          <p:cBhvr>
                                            <p:cTn id="92" dur="500"/>
                                            <p:tgtEl>
                                              <p:spTgt spid="158"/>
                                            </p:tgtEl>
                                          </p:cBhvr>
                                        </p:animEffect>
                                      </p:childTnLst>
                                    </p:cTn>
                                  </p:par>
                                  <p:par>
                                    <p:cTn id="93" presetID="10" presetClass="entr" presetSubtype="0" fill="hold" grpId="0" nodeType="withEffect">
                                      <p:stCondLst>
                                        <p:cond delay="1350"/>
                                      </p:stCondLst>
                                      <p:childTnLst>
                                        <p:set>
                                          <p:cBhvr>
                                            <p:cTn id="94" dur="1" fill="hold">
                                              <p:stCondLst>
                                                <p:cond delay="0"/>
                                              </p:stCondLst>
                                            </p:cTn>
                                            <p:tgtEl>
                                              <p:spTgt spid="161"/>
                                            </p:tgtEl>
                                            <p:attrNameLst>
                                              <p:attrName>style.visibility</p:attrName>
                                            </p:attrNameLst>
                                          </p:cBhvr>
                                          <p:to>
                                            <p:strVal val="visible"/>
                                          </p:to>
                                        </p:set>
                                        <p:animEffect transition="in" filter="fade">
                                          <p:cBhvr>
                                            <p:cTn id="95" dur="500"/>
                                            <p:tgtEl>
                                              <p:spTgt spid="161"/>
                                            </p:tgtEl>
                                          </p:cBhvr>
                                        </p:animEffect>
                                      </p:childTnLst>
                                    </p:cTn>
                                  </p:par>
                                  <p:par>
                                    <p:cTn id="96" presetID="10" presetClass="entr" presetSubtype="0" fill="hold" grpId="0" nodeType="withEffect">
                                      <p:stCondLst>
                                        <p:cond delay="1350"/>
                                      </p:stCondLst>
                                      <p:childTnLst>
                                        <p:set>
                                          <p:cBhvr>
                                            <p:cTn id="97" dur="1" fill="hold">
                                              <p:stCondLst>
                                                <p:cond delay="0"/>
                                              </p:stCondLst>
                                            </p:cTn>
                                            <p:tgtEl>
                                              <p:spTgt spid="162"/>
                                            </p:tgtEl>
                                            <p:attrNameLst>
                                              <p:attrName>style.visibility</p:attrName>
                                            </p:attrNameLst>
                                          </p:cBhvr>
                                          <p:to>
                                            <p:strVal val="visible"/>
                                          </p:to>
                                        </p:set>
                                        <p:animEffect transition="in" filter="fade">
                                          <p:cBhvr>
                                            <p:cTn id="98" dur="500"/>
                                            <p:tgtEl>
                                              <p:spTgt spid="162"/>
                                            </p:tgtEl>
                                          </p:cBhvr>
                                        </p:animEffect>
                                      </p:childTnLst>
                                    </p:cTn>
                                  </p:par>
                                  <p:par>
                                    <p:cTn id="99" presetID="10" presetClass="entr" presetSubtype="0" fill="hold" nodeType="withEffect">
                                      <p:stCondLst>
                                        <p:cond delay="1500"/>
                                      </p:stCondLst>
                                      <p:childTnLst>
                                        <p:set>
                                          <p:cBhvr>
                                            <p:cTn id="100" dur="1" fill="hold">
                                              <p:stCondLst>
                                                <p:cond delay="0"/>
                                              </p:stCondLst>
                                            </p:cTn>
                                            <p:tgtEl>
                                              <p:spTgt spid="208"/>
                                            </p:tgtEl>
                                            <p:attrNameLst>
                                              <p:attrName>style.visibility</p:attrName>
                                            </p:attrNameLst>
                                          </p:cBhvr>
                                          <p:to>
                                            <p:strVal val="visible"/>
                                          </p:to>
                                        </p:set>
                                        <p:animEffect transition="in" filter="fade">
                                          <p:cBhvr>
                                            <p:cTn id="101" dur="250"/>
                                            <p:tgtEl>
                                              <p:spTgt spid="208"/>
                                            </p:tgtEl>
                                          </p:cBhvr>
                                        </p:animEffect>
                                      </p:childTnLst>
                                    </p:cTn>
                                  </p:par>
                                  <p:par>
                                    <p:cTn id="102" presetID="63" presetClass="path" presetSubtype="0" decel="100000" fill="hold" nodeType="withEffect">
                                      <p:stCondLst>
                                        <p:cond delay="1500"/>
                                      </p:stCondLst>
                                      <p:childTnLst>
                                        <p:animMotion origin="layout" path="M 2.29167E-6 4.07407E-6 L 0.03906 4.07407E-6 " pathEditMode="relative" rAng="0" ptsTypes="AA">
                                          <p:cBhvr>
                                            <p:cTn id="103" dur="750" spd="-100000" fill="hold"/>
                                            <p:tgtEl>
                                              <p:spTgt spid="208"/>
                                            </p:tgtEl>
                                            <p:attrNameLst>
                                              <p:attrName>ppt_x</p:attrName>
                                              <p:attrName>ppt_y</p:attrName>
                                            </p:attrNameLst>
                                          </p:cBhvr>
                                          <p:rCtr x="1953" y="0"/>
                                        </p:animMotion>
                                      </p:childTnLst>
                                    </p:cTn>
                                  </p:par>
                                  <p:par>
                                    <p:cTn id="104" presetID="10" presetClass="entr" presetSubtype="0" fill="hold" grpId="0" nodeType="withEffect">
                                      <p:stCondLst>
                                        <p:cond delay="1750"/>
                                      </p:stCondLst>
                                      <p:childTnLst>
                                        <p:set>
                                          <p:cBhvr>
                                            <p:cTn id="105" dur="1" fill="hold">
                                              <p:stCondLst>
                                                <p:cond delay="0"/>
                                              </p:stCondLst>
                                            </p:cTn>
                                            <p:tgtEl>
                                              <p:spTgt spid="149"/>
                                            </p:tgtEl>
                                            <p:attrNameLst>
                                              <p:attrName>style.visibility</p:attrName>
                                            </p:attrNameLst>
                                          </p:cBhvr>
                                          <p:to>
                                            <p:strVal val="visible"/>
                                          </p:to>
                                        </p:set>
                                        <p:animEffect transition="in" filter="fade">
                                          <p:cBhvr>
                                            <p:cTn id="106" dur="500"/>
                                            <p:tgtEl>
                                              <p:spTgt spid="149"/>
                                            </p:tgtEl>
                                          </p:cBhvr>
                                        </p:animEffect>
                                      </p:childTnLst>
                                    </p:cTn>
                                  </p:par>
                                  <p:par>
                                    <p:cTn id="107" presetID="10" presetClass="entr" presetSubtype="0" fill="hold" grpId="0" nodeType="withEffect">
                                      <p:stCondLst>
                                        <p:cond delay="1750"/>
                                      </p:stCondLst>
                                      <p:childTnLst>
                                        <p:set>
                                          <p:cBhvr>
                                            <p:cTn id="108" dur="1" fill="hold">
                                              <p:stCondLst>
                                                <p:cond delay="0"/>
                                              </p:stCondLst>
                                            </p:cTn>
                                            <p:tgtEl>
                                              <p:spTgt spid="223"/>
                                            </p:tgtEl>
                                            <p:attrNameLst>
                                              <p:attrName>style.visibility</p:attrName>
                                            </p:attrNameLst>
                                          </p:cBhvr>
                                          <p:to>
                                            <p:strVal val="visible"/>
                                          </p:to>
                                        </p:set>
                                        <p:animEffect transition="in" filter="fade">
                                          <p:cBhvr>
                                            <p:cTn id="109" dur="500"/>
                                            <p:tgtEl>
                                              <p:spTgt spid="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 grpId="0" animBg="1"/>
          <p:bldP spid="186" grpId="1" animBg="1"/>
          <p:bldP spid="149" grpId="0"/>
          <p:bldP spid="150" grpId="0"/>
          <p:bldP spid="150" grpId="1"/>
          <p:bldP spid="152" grpId="0" animBg="1"/>
          <p:bldP spid="152" grpId="1" animBg="1"/>
          <p:bldP spid="152" grpId="2" animBg="1"/>
          <p:bldP spid="156" grpId="0" animBg="1"/>
          <p:bldP spid="156" grpId="1" animBg="1"/>
          <p:bldP spid="156" grpId="2" animBg="1"/>
          <p:bldP spid="161" grpId="0"/>
          <p:bldP spid="162" grpId="0"/>
          <p:bldP spid="168" grpId="0"/>
          <p:bldP spid="198" grpId="0" animBg="1"/>
          <p:bldP spid="195" grpId="0" animBg="1"/>
          <p:bldP spid="201" grpId="0" animBg="1"/>
          <p:bldP spid="22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 presetClass="entr" presetSubtype="0" fill="hold" grpId="0" nodeType="withEffect">
                                      <p:stCondLst>
                                        <p:cond delay="750"/>
                                      </p:stCondLst>
                                      <p:childTnLst>
                                        <p:set>
                                          <p:cBhvr>
                                            <p:cTn id="18" dur="1" fill="hold">
                                              <p:stCondLst>
                                                <p:cond delay="0"/>
                                              </p:stCondLst>
                                            </p:cTn>
                                            <p:tgtEl>
                                              <p:spTgt spid="186"/>
                                            </p:tgtEl>
                                            <p:attrNameLst>
                                              <p:attrName>style.visibility</p:attrName>
                                            </p:attrNameLst>
                                          </p:cBhvr>
                                          <p:to>
                                            <p:strVal val="visible"/>
                                          </p:to>
                                        </p:set>
                                      </p:childTnLst>
                                    </p:cTn>
                                  </p:par>
                                  <p:par>
                                    <p:cTn id="19" presetID="35" presetClass="path" presetSubtype="0" decel="100000" fill="hold" grpId="1" nodeType="withEffect">
                                      <p:stCondLst>
                                        <p:cond delay="750"/>
                                      </p:stCondLst>
                                      <p:childTnLst>
                                        <p:animMotion origin="layout" path="M 8.33333E-7 2.59259E-6 L -0.01667 2.59259E-6 " pathEditMode="relative" rAng="0" ptsTypes="AA">
                                          <p:cBhvr>
                                            <p:cTn id="20" dur="750" spd="-100000" fill="hold"/>
                                            <p:tgtEl>
                                              <p:spTgt spid="186"/>
                                            </p:tgtEl>
                                            <p:attrNameLst>
                                              <p:attrName>ppt_x</p:attrName>
                                              <p:attrName>ppt_y</p:attrName>
                                            </p:attrNameLst>
                                          </p:cBhvr>
                                          <p:rCtr x="-833" y="0"/>
                                        </p:animMotion>
                                      </p:childTnLst>
                                    </p:cTn>
                                  </p:par>
                                  <p:par>
                                    <p:cTn id="21" presetID="10" presetClass="entr" presetSubtype="0" fill="hold" nodeType="withEffect">
                                      <p:stCondLst>
                                        <p:cond delay="750"/>
                                      </p:stCondLst>
                                      <p:childTnLst>
                                        <p:set>
                                          <p:cBhvr>
                                            <p:cTn id="22" dur="1" fill="hold">
                                              <p:stCondLst>
                                                <p:cond delay="0"/>
                                              </p:stCondLst>
                                            </p:cTn>
                                            <p:tgtEl>
                                              <p:spTgt spid="204"/>
                                            </p:tgtEl>
                                            <p:attrNameLst>
                                              <p:attrName>style.visibility</p:attrName>
                                            </p:attrNameLst>
                                          </p:cBhvr>
                                          <p:to>
                                            <p:strVal val="visible"/>
                                          </p:to>
                                        </p:set>
                                        <p:animEffect transition="in" filter="fade">
                                          <p:cBhvr>
                                            <p:cTn id="23" dur="500"/>
                                            <p:tgtEl>
                                              <p:spTgt spid="204"/>
                                            </p:tgtEl>
                                          </p:cBhvr>
                                        </p:animEffect>
                                      </p:childTnLst>
                                    </p:cTn>
                                  </p:par>
                                  <p:par>
                                    <p:cTn id="24" presetID="10" presetClass="entr" presetSubtype="0" fill="hold" grpId="0" nodeType="withEffect">
                                      <p:stCondLst>
                                        <p:cond delay="750"/>
                                      </p:stCondLst>
                                      <p:childTnLst>
                                        <p:set>
                                          <p:cBhvr>
                                            <p:cTn id="25" dur="1" fill="hold">
                                              <p:stCondLst>
                                                <p:cond delay="0"/>
                                              </p:stCondLst>
                                            </p:cTn>
                                            <p:tgtEl>
                                              <p:spTgt spid="198"/>
                                            </p:tgtEl>
                                            <p:attrNameLst>
                                              <p:attrName>style.visibility</p:attrName>
                                            </p:attrNameLst>
                                          </p:cBhvr>
                                          <p:to>
                                            <p:strVal val="visible"/>
                                          </p:to>
                                        </p:set>
                                        <p:animEffect transition="in" filter="fade">
                                          <p:cBhvr>
                                            <p:cTn id="26" dur="500"/>
                                            <p:tgtEl>
                                              <p:spTgt spid="198"/>
                                            </p:tgtEl>
                                          </p:cBhvr>
                                        </p:animEffect>
                                      </p:childTnLst>
                                    </p:cTn>
                                  </p:par>
                                  <p:par>
                                    <p:cTn id="27" presetID="10" presetClass="entr" presetSubtype="0" fill="hold" grpId="0" nodeType="withEffect">
                                      <p:stCondLst>
                                        <p:cond delay="1000"/>
                                      </p:stCondLst>
                                      <p:childTnLst>
                                        <p:set>
                                          <p:cBhvr>
                                            <p:cTn id="28" dur="1" fill="hold">
                                              <p:stCondLst>
                                                <p:cond delay="0"/>
                                              </p:stCondLst>
                                            </p:cTn>
                                            <p:tgtEl>
                                              <p:spTgt spid="195"/>
                                            </p:tgtEl>
                                            <p:attrNameLst>
                                              <p:attrName>style.visibility</p:attrName>
                                            </p:attrNameLst>
                                          </p:cBhvr>
                                          <p:to>
                                            <p:strVal val="visible"/>
                                          </p:to>
                                        </p:set>
                                        <p:animEffect transition="in" filter="fade">
                                          <p:cBhvr>
                                            <p:cTn id="29" dur="500"/>
                                            <p:tgtEl>
                                              <p:spTgt spid="195"/>
                                            </p:tgtEl>
                                          </p:cBhvr>
                                        </p:animEffect>
                                      </p:childTnLst>
                                    </p:cTn>
                                  </p:par>
                                  <p:par>
                                    <p:cTn id="30" presetID="10" presetClass="entr" presetSubtype="0" fill="hold" nodeType="withEffect">
                                      <p:stCondLst>
                                        <p:cond delay="1000"/>
                                      </p:stCondLst>
                                      <p:childTnLst>
                                        <p:set>
                                          <p:cBhvr>
                                            <p:cTn id="31" dur="1" fill="hold">
                                              <p:stCondLst>
                                                <p:cond delay="0"/>
                                              </p:stCondLst>
                                            </p:cTn>
                                            <p:tgtEl>
                                              <p:spTgt spid="205"/>
                                            </p:tgtEl>
                                            <p:attrNameLst>
                                              <p:attrName>style.visibility</p:attrName>
                                            </p:attrNameLst>
                                          </p:cBhvr>
                                          <p:to>
                                            <p:strVal val="visible"/>
                                          </p:to>
                                        </p:set>
                                        <p:animEffect transition="in" filter="fade">
                                          <p:cBhvr>
                                            <p:cTn id="32" dur="250"/>
                                            <p:tgtEl>
                                              <p:spTgt spid="205"/>
                                            </p:tgtEl>
                                          </p:cBhvr>
                                        </p:animEffect>
                                      </p:childTnLst>
                                    </p:cTn>
                                  </p:par>
                                  <p:par>
                                    <p:cTn id="33" presetID="63" presetClass="path" presetSubtype="0" decel="100000" fill="hold" nodeType="withEffect">
                                      <p:stCondLst>
                                        <p:cond delay="1000"/>
                                      </p:stCondLst>
                                      <p:childTnLst>
                                        <p:animMotion origin="layout" path="M 1.875E-6 4.81481E-6 L 0.03906 4.81481E-6 " pathEditMode="relative" rAng="0" ptsTypes="AA">
                                          <p:cBhvr>
                                            <p:cTn id="34" dur="750" spd="-100000" fill="hold"/>
                                            <p:tgtEl>
                                              <p:spTgt spid="205"/>
                                            </p:tgtEl>
                                            <p:attrNameLst>
                                              <p:attrName>ppt_x</p:attrName>
                                              <p:attrName>ppt_y</p:attrName>
                                            </p:attrNameLst>
                                          </p:cBhvr>
                                          <p:rCtr x="1953" y="0"/>
                                        </p:animMotion>
                                      </p:childTnLst>
                                    </p:cTn>
                                  </p:par>
                                  <p:par>
                                    <p:cTn id="35" presetID="10" presetClass="entr" presetSubtype="0" fill="hold" nodeType="withEffect">
                                      <p:stCondLst>
                                        <p:cond delay="1000"/>
                                      </p:stCondLst>
                                      <p:childTnLst>
                                        <p:set>
                                          <p:cBhvr>
                                            <p:cTn id="36" dur="1" fill="hold">
                                              <p:stCondLst>
                                                <p:cond delay="0"/>
                                              </p:stCondLst>
                                            </p:cTn>
                                            <p:tgtEl>
                                              <p:spTgt spid="209"/>
                                            </p:tgtEl>
                                            <p:attrNameLst>
                                              <p:attrName>style.visibility</p:attrName>
                                            </p:attrNameLst>
                                          </p:cBhvr>
                                          <p:to>
                                            <p:strVal val="visible"/>
                                          </p:to>
                                        </p:set>
                                        <p:animEffect transition="in" filter="fade">
                                          <p:cBhvr>
                                            <p:cTn id="37" dur="500"/>
                                            <p:tgtEl>
                                              <p:spTgt spid="209"/>
                                            </p:tgtEl>
                                          </p:cBhvr>
                                        </p:animEffect>
                                      </p:childTnLst>
                                    </p:cTn>
                                  </p:par>
                                  <p:par>
                                    <p:cTn id="38" presetID="10" presetClass="entr" presetSubtype="0" fill="hold" nodeType="withEffect">
                                      <p:stCondLst>
                                        <p:cond delay="1000"/>
                                      </p:stCondLst>
                                      <p:childTnLst>
                                        <p:set>
                                          <p:cBhvr>
                                            <p:cTn id="39" dur="1" fill="hold">
                                              <p:stCondLst>
                                                <p:cond delay="0"/>
                                              </p:stCondLst>
                                            </p:cTn>
                                            <p:tgtEl>
                                              <p:spTgt spid="222"/>
                                            </p:tgtEl>
                                            <p:attrNameLst>
                                              <p:attrName>style.visibility</p:attrName>
                                            </p:attrNameLst>
                                          </p:cBhvr>
                                          <p:to>
                                            <p:strVal val="visible"/>
                                          </p:to>
                                        </p:set>
                                        <p:animEffect transition="in" filter="fade">
                                          <p:cBhvr>
                                            <p:cTn id="40" dur="500"/>
                                            <p:tgtEl>
                                              <p:spTgt spid="222"/>
                                            </p:tgtEl>
                                          </p:cBhvr>
                                        </p:animEffect>
                                      </p:childTnLst>
                                    </p:cTn>
                                  </p:par>
                                  <p:par>
                                    <p:cTn id="41" presetID="42" presetClass="path" presetSubtype="0" decel="100000" fill="hold" nodeType="withEffect">
                                      <p:stCondLst>
                                        <p:cond delay="1000"/>
                                      </p:stCondLst>
                                      <p:childTnLst>
                                        <p:animMotion origin="layout" path="M 2.08333E-7 -1.85185E-6 L 2.08333E-7 0.07176 " pathEditMode="relative" rAng="0" ptsTypes="AA">
                                          <p:cBhvr>
                                            <p:cTn id="42" dur="750" spd="-100000" fill="hold"/>
                                            <p:tgtEl>
                                              <p:spTgt spid="222"/>
                                            </p:tgtEl>
                                            <p:attrNameLst>
                                              <p:attrName>ppt_x</p:attrName>
                                              <p:attrName>ppt_y</p:attrName>
                                            </p:attrNameLst>
                                          </p:cBhvr>
                                          <p:rCtr x="0" y="3588"/>
                                        </p:animMotion>
                                      </p:childTnLst>
                                    </p:cTn>
                                  </p:par>
                                  <p:par>
                                    <p:cTn id="43" presetID="49" presetClass="entr" presetSubtype="0" decel="100000" fill="hold" nodeType="withEffect">
                                      <p:stCondLst>
                                        <p:cond delay="1250"/>
                                      </p:stCondLst>
                                      <p:childTnLst>
                                        <p:set>
                                          <p:cBhvr>
                                            <p:cTn id="44" dur="1" fill="hold">
                                              <p:stCondLst>
                                                <p:cond delay="0"/>
                                              </p:stCondLst>
                                            </p:cTn>
                                            <p:tgtEl>
                                              <p:spTgt spid="211"/>
                                            </p:tgtEl>
                                            <p:attrNameLst>
                                              <p:attrName>style.visibility</p:attrName>
                                            </p:attrNameLst>
                                          </p:cBhvr>
                                          <p:to>
                                            <p:strVal val="visible"/>
                                          </p:to>
                                        </p:set>
                                        <p:anim calcmode="lin" valueType="num">
                                          <p:cBhvr>
                                            <p:cTn id="45" dur="500" fill="hold"/>
                                            <p:tgtEl>
                                              <p:spTgt spid="211"/>
                                            </p:tgtEl>
                                            <p:attrNameLst>
                                              <p:attrName>ppt_w</p:attrName>
                                            </p:attrNameLst>
                                          </p:cBhvr>
                                          <p:tavLst>
                                            <p:tav tm="0">
                                              <p:val>
                                                <p:fltVal val="0"/>
                                              </p:val>
                                            </p:tav>
                                            <p:tav tm="100000">
                                              <p:val>
                                                <p:strVal val="#ppt_w"/>
                                              </p:val>
                                            </p:tav>
                                          </p:tavLst>
                                        </p:anim>
                                        <p:anim calcmode="lin" valueType="num">
                                          <p:cBhvr>
                                            <p:cTn id="46" dur="500" fill="hold"/>
                                            <p:tgtEl>
                                              <p:spTgt spid="211"/>
                                            </p:tgtEl>
                                            <p:attrNameLst>
                                              <p:attrName>ppt_h</p:attrName>
                                            </p:attrNameLst>
                                          </p:cBhvr>
                                          <p:tavLst>
                                            <p:tav tm="0">
                                              <p:val>
                                                <p:fltVal val="0"/>
                                              </p:val>
                                            </p:tav>
                                            <p:tav tm="100000">
                                              <p:val>
                                                <p:strVal val="#ppt_h"/>
                                              </p:val>
                                            </p:tav>
                                          </p:tavLst>
                                        </p:anim>
                                        <p:anim calcmode="lin" valueType="num">
                                          <p:cBhvr>
                                            <p:cTn id="47" dur="500" fill="hold"/>
                                            <p:tgtEl>
                                              <p:spTgt spid="211"/>
                                            </p:tgtEl>
                                            <p:attrNameLst>
                                              <p:attrName>style.rotation</p:attrName>
                                            </p:attrNameLst>
                                          </p:cBhvr>
                                          <p:tavLst>
                                            <p:tav tm="0">
                                              <p:val>
                                                <p:fltVal val="360"/>
                                              </p:val>
                                            </p:tav>
                                            <p:tav tm="100000">
                                              <p:val>
                                                <p:fltVal val="0"/>
                                              </p:val>
                                            </p:tav>
                                          </p:tavLst>
                                        </p:anim>
                                        <p:animEffect transition="in" filter="fade">
                                          <p:cBhvr>
                                            <p:cTn id="48" dur="500"/>
                                            <p:tgtEl>
                                              <p:spTgt spid="211"/>
                                            </p:tgtEl>
                                          </p:cBhvr>
                                        </p:animEffect>
                                      </p:childTnLst>
                                    </p:cTn>
                                  </p:par>
                                  <p:par>
                                    <p:cTn id="49" presetID="49" presetClass="entr" presetSubtype="0" decel="100000" fill="hold" nodeType="withEffect">
                                      <p:stCondLst>
                                        <p:cond delay="1250"/>
                                      </p:stCondLst>
                                      <p:childTnLst>
                                        <p:set>
                                          <p:cBhvr>
                                            <p:cTn id="50" dur="1" fill="hold">
                                              <p:stCondLst>
                                                <p:cond delay="0"/>
                                              </p:stCondLst>
                                            </p:cTn>
                                            <p:tgtEl>
                                              <p:spTgt spid="213"/>
                                            </p:tgtEl>
                                            <p:attrNameLst>
                                              <p:attrName>style.visibility</p:attrName>
                                            </p:attrNameLst>
                                          </p:cBhvr>
                                          <p:to>
                                            <p:strVal val="visible"/>
                                          </p:to>
                                        </p:set>
                                        <p:anim calcmode="lin" valueType="num">
                                          <p:cBhvr>
                                            <p:cTn id="51" dur="500" fill="hold"/>
                                            <p:tgtEl>
                                              <p:spTgt spid="213"/>
                                            </p:tgtEl>
                                            <p:attrNameLst>
                                              <p:attrName>ppt_w</p:attrName>
                                            </p:attrNameLst>
                                          </p:cBhvr>
                                          <p:tavLst>
                                            <p:tav tm="0">
                                              <p:val>
                                                <p:fltVal val="0"/>
                                              </p:val>
                                            </p:tav>
                                            <p:tav tm="100000">
                                              <p:val>
                                                <p:strVal val="#ppt_w"/>
                                              </p:val>
                                            </p:tav>
                                          </p:tavLst>
                                        </p:anim>
                                        <p:anim calcmode="lin" valueType="num">
                                          <p:cBhvr>
                                            <p:cTn id="52" dur="500" fill="hold"/>
                                            <p:tgtEl>
                                              <p:spTgt spid="213"/>
                                            </p:tgtEl>
                                            <p:attrNameLst>
                                              <p:attrName>ppt_h</p:attrName>
                                            </p:attrNameLst>
                                          </p:cBhvr>
                                          <p:tavLst>
                                            <p:tav tm="0">
                                              <p:val>
                                                <p:fltVal val="0"/>
                                              </p:val>
                                            </p:tav>
                                            <p:tav tm="100000">
                                              <p:val>
                                                <p:strVal val="#ppt_h"/>
                                              </p:val>
                                            </p:tav>
                                          </p:tavLst>
                                        </p:anim>
                                        <p:anim calcmode="lin" valueType="num">
                                          <p:cBhvr>
                                            <p:cTn id="53" dur="500" fill="hold"/>
                                            <p:tgtEl>
                                              <p:spTgt spid="213"/>
                                            </p:tgtEl>
                                            <p:attrNameLst>
                                              <p:attrName>style.rotation</p:attrName>
                                            </p:attrNameLst>
                                          </p:cBhvr>
                                          <p:tavLst>
                                            <p:tav tm="0">
                                              <p:val>
                                                <p:fltVal val="360"/>
                                              </p:val>
                                            </p:tav>
                                            <p:tav tm="100000">
                                              <p:val>
                                                <p:fltVal val="0"/>
                                              </p:val>
                                            </p:tav>
                                          </p:tavLst>
                                        </p:anim>
                                        <p:animEffect transition="in" filter="fade">
                                          <p:cBhvr>
                                            <p:cTn id="54" dur="500"/>
                                            <p:tgtEl>
                                              <p:spTgt spid="213"/>
                                            </p:tgtEl>
                                          </p:cBhvr>
                                        </p:animEffect>
                                      </p:childTnLst>
                                    </p:cTn>
                                  </p:par>
                                  <p:par>
                                    <p:cTn id="55" presetID="10" presetClass="entr" presetSubtype="0" fill="hold" grpId="0" nodeType="withEffect">
                                      <p:stCondLst>
                                        <p:cond delay="1250"/>
                                      </p:stCondLst>
                                      <p:childTnLst>
                                        <p:set>
                                          <p:cBhvr>
                                            <p:cTn id="56" dur="1" fill="hold">
                                              <p:stCondLst>
                                                <p:cond delay="0"/>
                                              </p:stCondLst>
                                            </p:cTn>
                                            <p:tgtEl>
                                              <p:spTgt spid="201"/>
                                            </p:tgtEl>
                                            <p:attrNameLst>
                                              <p:attrName>style.visibility</p:attrName>
                                            </p:attrNameLst>
                                          </p:cBhvr>
                                          <p:to>
                                            <p:strVal val="visible"/>
                                          </p:to>
                                        </p:set>
                                        <p:animEffect transition="in" filter="fade">
                                          <p:cBhvr>
                                            <p:cTn id="57" dur="500"/>
                                            <p:tgtEl>
                                              <p:spTgt spid="201"/>
                                            </p:tgtEl>
                                          </p:cBhvr>
                                        </p:animEffect>
                                      </p:childTnLst>
                                    </p:cTn>
                                  </p:par>
                                  <p:par>
                                    <p:cTn id="58" presetID="10" presetClass="entr" presetSubtype="0" fill="hold" nodeType="withEffect">
                                      <p:stCondLst>
                                        <p:cond delay="1250"/>
                                      </p:stCondLst>
                                      <p:childTnLst>
                                        <p:set>
                                          <p:cBhvr>
                                            <p:cTn id="59" dur="1" fill="hold">
                                              <p:stCondLst>
                                                <p:cond delay="0"/>
                                              </p:stCondLst>
                                            </p:cTn>
                                            <p:tgtEl>
                                              <p:spTgt spid="206"/>
                                            </p:tgtEl>
                                            <p:attrNameLst>
                                              <p:attrName>style.visibility</p:attrName>
                                            </p:attrNameLst>
                                          </p:cBhvr>
                                          <p:to>
                                            <p:strVal val="visible"/>
                                          </p:to>
                                        </p:set>
                                        <p:animEffect transition="in" filter="fade">
                                          <p:cBhvr>
                                            <p:cTn id="60" dur="250"/>
                                            <p:tgtEl>
                                              <p:spTgt spid="206"/>
                                            </p:tgtEl>
                                          </p:cBhvr>
                                        </p:animEffect>
                                      </p:childTnLst>
                                    </p:cTn>
                                  </p:par>
                                  <p:par>
                                    <p:cTn id="61" presetID="63" presetClass="path" presetSubtype="0" decel="100000" fill="hold" nodeType="withEffect">
                                      <p:stCondLst>
                                        <p:cond delay="1250"/>
                                      </p:stCondLst>
                                      <p:childTnLst>
                                        <p:animMotion origin="layout" path="M 2.29167E-6 -7.40741E-7 L 0.03906 -7.40741E-7 " pathEditMode="relative" rAng="0" ptsTypes="AA">
                                          <p:cBhvr>
                                            <p:cTn id="62" dur="750" spd="-100000" fill="hold"/>
                                            <p:tgtEl>
                                              <p:spTgt spid="206"/>
                                            </p:tgtEl>
                                            <p:attrNameLst>
                                              <p:attrName>ppt_x</p:attrName>
                                              <p:attrName>ppt_y</p:attrName>
                                            </p:attrNameLst>
                                          </p:cBhvr>
                                          <p:rCtr x="1953" y="0"/>
                                        </p:animMotion>
                                      </p:childTnLst>
                                    </p:cTn>
                                  </p:par>
                                  <p:par>
                                    <p:cTn id="63" presetID="10" presetClass="entr" presetSubtype="0" fill="hold" nodeType="withEffect">
                                      <p:stCondLst>
                                        <p:cond delay="1350"/>
                                      </p:stCondLst>
                                      <p:childTnLst>
                                        <p:set>
                                          <p:cBhvr>
                                            <p:cTn id="64" dur="1" fill="hold">
                                              <p:stCondLst>
                                                <p:cond delay="0"/>
                                              </p:stCondLst>
                                            </p:cTn>
                                            <p:tgtEl>
                                              <p:spTgt spid="207"/>
                                            </p:tgtEl>
                                            <p:attrNameLst>
                                              <p:attrName>style.visibility</p:attrName>
                                            </p:attrNameLst>
                                          </p:cBhvr>
                                          <p:to>
                                            <p:strVal val="visible"/>
                                          </p:to>
                                        </p:set>
                                        <p:animEffect transition="in" filter="fade">
                                          <p:cBhvr>
                                            <p:cTn id="65" dur="500"/>
                                            <p:tgtEl>
                                              <p:spTgt spid="207"/>
                                            </p:tgtEl>
                                          </p:cBhvr>
                                        </p:animEffect>
                                      </p:childTnLst>
                                    </p:cTn>
                                  </p:par>
                                  <p:par>
                                    <p:cTn id="66" presetID="63" presetClass="path" presetSubtype="0" decel="100000" fill="hold" nodeType="withEffect">
                                      <p:stCondLst>
                                        <p:cond delay="1350"/>
                                      </p:stCondLst>
                                      <p:childTnLst>
                                        <p:animMotion origin="layout" path="M 6.25E-7 3.7037E-7 L 0.03906 3.7037E-7 " pathEditMode="relative" rAng="0" ptsTypes="AA">
                                          <p:cBhvr>
                                            <p:cTn id="67" dur="750" spd="-100000" fill="hold"/>
                                            <p:tgtEl>
                                              <p:spTgt spid="207"/>
                                            </p:tgtEl>
                                            <p:attrNameLst>
                                              <p:attrName>ppt_x</p:attrName>
                                              <p:attrName>ppt_y</p:attrName>
                                            </p:attrNameLst>
                                          </p:cBhvr>
                                          <p:rCtr x="1953" y="0"/>
                                        </p:animMotion>
                                      </p:childTnLst>
                                    </p:cTn>
                                  </p:par>
                                  <p:par>
                                    <p:cTn id="68" presetID="10" presetClass="entr" presetSubtype="0" fill="hold" nodeType="withEffect">
                                      <p:stCondLst>
                                        <p:cond delay="1350"/>
                                      </p:stCondLst>
                                      <p:childTnLst>
                                        <p:set>
                                          <p:cBhvr>
                                            <p:cTn id="69" dur="1" fill="hold">
                                              <p:stCondLst>
                                                <p:cond delay="0"/>
                                              </p:stCondLst>
                                            </p:cTn>
                                            <p:tgtEl>
                                              <p:spTgt spid="210"/>
                                            </p:tgtEl>
                                            <p:attrNameLst>
                                              <p:attrName>style.visibility</p:attrName>
                                            </p:attrNameLst>
                                          </p:cBhvr>
                                          <p:to>
                                            <p:strVal val="visible"/>
                                          </p:to>
                                        </p:set>
                                        <p:animEffect transition="in" filter="fade">
                                          <p:cBhvr>
                                            <p:cTn id="70" dur="500"/>
                                            <p:tgtEl>
                                              <p:spTgt spid="210"/>
                                            </p:tgtEl>
                                          </p:cBhvr>
                                        </p:animEffect>
                                      </p:childTnLst>
                                    </p:cTn>
                                  </p:par>
                                  <p:par>
                                    <p:cTn id="71" presetID="10" presetClass="entr" presetSubtype="0" fill="hold" grpId="0" nodeType="withEffect">
                                      <p:stCondLst>
                                        <p:cond delay="1350"/>
                                      </p:stCondLst>
                                      <p:childTnLst>
                                        <p:set>
                                          <p:cBhvr>
                                            <p:cTn id="72" dur="1" fill="hold">
                                              <p:stCondLst>
                                                <p:cond delay="0"/>
                                              </p:stCondLst>
                                            </p:cTn>
                                            <p:tgtEl>
                                              <p:spTgt spid="168"/>
                                            </p:tgtEl>
                                            <p:attrNameLst>
                                              <p:attrName>style.visibility</p:attrName>
                                            </p:attrNameLst>
                                          </p:cBhvr>
                                          <p:to>
                                            <p:strVal val="visible"/>
                                          </p:to>
                                        </p:set>
                                        <p:animEffect transition="in" filter="fade">
                                          <p:cBhvr>
                                            <p:cTn id="73" dur="500"/>
                                            <p:tgtEl>
                                              <p:spTgt spid="168"/>
                                            </p:tgtEl>
                                          </p:cBhvr>
                                        </p:animEffect>
                                      </p:childTnLst>
                                    </p:cTn>
                                  </p:par>
                                  <p:par>
                                    <p:cTn id="74" presetID="23" presetClass="entr" presetSubtype="16" fill="hold" grpId="0" nodeType="withEffect">
                                      <p:stCondLst>
                                        <p:cond delay="1350"/>
                                      </p:stCondLst>
                                      <p:childTnLst>
                                        <p:set>
                                          <p:cBhvr>
                                            <p:cTn id="75" dur="1" fill="hold">
                                              <p:stCondLst>
                                                <p:cond delay="0"/>
                                              </p:stCondLst>
                                            </p:cTn>
                                            <p:tgtEl>
                                              <p:spTgt spid="152"/>
                                            </p:tgtEl>
                                            <p:attrNameLst>
                                              <p:attrName>style.visibility</p:attrName>
                                            </p:attrNameLst>
                                          </p:cBhvr>
                                          <p:to>
                                            <p:strVal val="visible"/>
                                          </p:to>
                                        </p:set>
                                        <p:anim calcmode="lin" valueType="num">
                                          <p:cBhvr>
                                            <p:cTn id="76" dur="200" fill="hold"/>
                                            <p:tgtEl>
                                              <p:spTgt spid="152"/>
                                            </p:tgtEl>
                                            <p:attrNameLst>
                                              <p:attrName>ppt_w</p:attrName>
                                            </p:attrNameLst>
                                          </p:cBhvr>
                                          <p:tavLst>
                                            <p:tav tm="0">
                                              <p:val>
                                                <p:fltVal val="0"/>
                                              </p:val>
                                            </p:tav>
                                            <p:tav tm="100000">
                                              <p:val>
                                                <p:strVal val="#ppt_w"/>
                                              </p:val>
                                            </p:tav>
                                          </p:tavLst>
                                        </p:anim>
                                        <p:anim calcmode="lin" valueType="num">
                                          <p:cBhvr>
                                            <p:cTn id="77" dur="200" fill="hold"/>
                                            <p:tgtEl>
                                              <p:spTgt spid="152"/>
                                            </p:tgtEl>
                                            <p:attrNameLst>
                                              <p:attrName>ppt_h</p:attrName>
                                            </p:attrNameLst>
                                          </p:cBhvr>
                                          <p:tavLst>
                                            <p:tav tm="0">
                                              <p:val>
                                                <p:fltVal val="0"/>
                                              </p:val>
                                            </p:tav>
                                            <p:tav tm="100000">
                                              <p:val>
                                                <p:strVal val="#ppt_h"/>
                                              </p:val>
                                            </p:tav>
                                          </p:tavLst>
                                        </p:anim>
                                      </p:childTnLst>
                                    </p:cTn>
                                  </p:par>
                                  <p:par>
                                    <p:cTn id="78" presetID="6" presetClass="emph" presetSubtype="0" fill="hold" grpId="1" nodeType="withEffect">
                                      <p:stCondLst>
                                        <p:cond delay="1350"/>
                                      </p:stCondLst>
                                      <p:childTnLst>
                                        <p:animScale>
                                          <p:cBhvr>
                                            <p:cTn id="79" dur="1000" fill="hold"/>
                                            <p:tgtEl>
                                              <p:spTgt spid="152"/>
                                            </p:tgtEl>
                                          </p:cBhvr>
                                          <p:by x="110000" y="110000"/>
                                        </p:animScale>
                                      </p:childTnLst>
                                    </p:cTn>
                                  </p:par>
                                  <p:par>
                                    <p:cTn id="80" presetID="6" presetClass="emph" presetSubtype="0" accel="50000" decel="50000" fill="hold" grpId="2" nodeType="withEffect">
                                      <p:stCondLst>
                                        <p:cond delay="1350"/>
                                      </p:stCondLst>
                                      <p:childTnLst>
                                        <p:animScale>
                                          <p:cBhvr>
                                            <p:cTn id="81" dur="250" fill="hold"/>
                                            <p:tgtEl>
                                              <p:spTgt spid="152"/>
                                            </p:tgtEl>
                                          </p:cBhvr>
                                          <p:by x="91000" y="91000"/>
                                        </p:animScale>
                                      </p:childTnLst>
                                    </p:cTn>
                                  </p:par>
                                  <p:par>
                                    <p:cTn id="82" presetID="23" presetClass="entr" presetSubtype="16" fill="hold" grpId="0" nodeType="withEffect">
                                      <p:stCondLst>
                                        <p:cond delay="1350"/>
                                      </p:stCondLst>
                                      <p:childTnLst>
                                        <p:set>
                                          <p:cBhvr>
                                            <p:cTn id="83" dur="1" fill="hold">
                                              <p:stCondLst>
                                                <p:cond delay="0"/>
                                              </p:stCondLst>
                                            </p:cTn>
                                            <p:tgtEl>
                                              <p:spTgt spid="156"/>
                                            </p:tgtEl>
                                            <p:attrNameLst>
                                              <p:attrName>style.visibility</p:attrName>
                                            </p:attrNameLst>
                                          </p:cBhvr>
                                          <p:to>
                                            <p:strVal val="visible"/>
                                          </p:to>
                                        </p:set>
                                        <p:anim calcmode="lin" valueType="num">
                                          <p:cBhvr>
                                            <p:cTn id="84" dur="200" fill="hold"/>
                                            <p:tgtEl>
                                              <p:spTgt spid="156"/>
                                            </p:tgtEl>
                                            <p:attrNameLst>
                                              <p:attrName>ppt_w</p:attrName>
                                            </p:attrNameLst>
                                          </p:cBhvr>
                                          <p:tavLst>
                                            <p:tav tm="0">
                                              <p:val>
                                                <p:fltVal val="0"/>
                                              </p:val>
                                            </p:tav>
                                            <p:tav tm="100000">
                                              <p:val>
                                                <p:strVal val="#ppt_w"/>
                                              </p:val>
                                            </p:tav>
                                          </p:tavLst>
                                        </p:anim>
                                        <p:anim calcmode="lin" valueType="num">
                                          <p:cBhvr>
                                            <p:cTn id="85" dur="200" fill="hold"/>
                                            <p:tgtEl>
                                              <p:spTgt spid="156"/>
                                            </p:tgtEl>
                                            <p:attrNameLst>
                                              <p:attrName>ppt_h</p:attrName>
                                            </p:attrNameLst>
                                          </p:cBhvr>
                                          <p:tavLst>
                                            <p:tav tm="0">
                                              <p:val>
                                                <p:fltVal val="0"/>
                                              </p:val>
                                            </p:tav>
                                            <p:tav tm="100000">
                                              <p:val>
                                                <p:strVal val="#ppt_h"/>
                                              </p:val>
                                            </p:tav>
                                          </p:tavLst>
                                        </p:anim>
                                      </p:childTnLst>
                                    </p:cTn>
                                  </p:par>
                                  <p:par>
                                    <p:cTn id="86" presetID="6" presetClass="emph" presetSubtype="0" fill="hold" grpId="1" nodeType="withEffect">
                                      <p:stCondLst>
                                        <p:cond delay="1350"/>
                                      </p:stCondLst>
                                      <p:childTnLst>
                                        <p:animScale>
                                          <p:cBhvr>
                                            <p:cTn id="87" dur="1000" fill="hold"/>
                                            <p:tgtEl>
                                              <p:spTgt spid="156"/>
                                            </p:tgtEl>
                                          </p:cBhvr>
                                          <p:by x="110000" y="110000"/>
                                        </p:animScale>
                                      </p:childTnLst>
                                    </p:cTn>
                                  </p:par>
                                  <p:par>
                                    <p:cTn id="88" presetID="6" presetClass="emph" presetSubtype="0" accel="50000" decel="50000" fill="hold" grpId="2" nodeType="withEffect">
                                      <p:stCondLst>
                                        <p:cond delay="1350"/>
                                      </p:stCondLst>
                                      <p:childTnLst>
                                        <p:animScale>
                                          <p:cBhvr>
                                            <p:cTn id="89" dur="250" fill="hold"/>
                                            <p:tgtEl>
                                              <p:spTgt spid="156"/>
                                            </p:tgtEl>
                                          </p:cBhvr>
                                          <p:by x="91000" y="91000"/>
                                        </p:animScale>
                                      </p:childTnLst>
                                    </p:cTn>
                                  </p:par>
                                  <p:par>
                                    <p:cTn id="90" presetID="22" presetClass="entr" presetSubtype="8" fill="hold" nodeType="withEffect">
                                      <p:stCondLst>
                                        <p:cond delay="1350"/>
                                      </p:stCondLst>
                                      <p:childTnLst>
                                        <p:set>
                                          <p:cBhvr>
                                            <p:cTn id="91" dur="1" fill="hold">
                                              <p:stCondLst>
                                                <p:cond delay="0"/>
                                              </p:stCondLst>
                                            </p:cTn>
                                            <p:tgtEl>
                                              <p:spTgt spid="158"/>
                                            </p:tgtEl>
                                            <p:attrNameLst>
                                              <p:attrName>style.visibility</p:attrName>
                                            </p:attrNameLst>
                                          </p:cBhvr>
                                          <p:to>
                                            <p:strVal val="visible"/>
                                          </p:to>
                                        </p:set>
                                        <p:animEffect transition="in" filter="wipe(left)">
                                          <p:cBhvr>
                                            <p:cTn id="92" dur="500"/>
                                            <p:tgtEl>
                                              <p:spTgt spid="158"/>
                                            </p:tgtEl>
                                          </p:cBhvr>
                                        </p:animEffect>
                                      </p:childTnLst>
                                    </p:cTn>
                                  </p:par>
                                  <p:par>
                                    <p:cTn id="93" presetID="10" presetClass="entr" presetSubtype="0" fill="hold" grpId="0" nodeType="withEffect">
                                      <p:stCondLst>
                                        <p:cond delay="1350"/>
                                      </p:stCondLst>
                                      <p:childTnLst>
                                        <p:set>
                                          <p:cBhvr>
                                            <p:cTn id="94" dur="1" fill="hold">
                                              <p:stCondLst>
                                                <p:cond delay="0"/>
                                              </p:stCondLst>
                                            </p:cTn>
                                            <p:tgtEl>
                                              <p:spTgt spid="161"/>
                                            </p:tgtEl>
                                            <p:attrNameLst>
                                              <p:attrName>style.visibility</p:attrName>
                                            </p:attrNameLst>
                                          </p:cBhvr>
                                          <p:to>
                                            <p:strVal val="visible"/>
                                          </p:to>
                                        </p:set>
                                        <p:animEffect transition="in" filter="fade">
                                          <p:cBhvr>
                                            <p:cTn id="95" dur="500"/>
                                            <p:tgtEl>
                                              <p:spTgt spid="161"/>
                                            </p:tgtEl>
                                          </p:cBhvr>
                                        </p:animEffect>
                                      </p:childTnLst>
                                    </p:cTn>
                                  </p:par>
                                  <p:par>
                                    <p:cTn id="96" presetID="10" presetClass="entr" presetSubtype="0" fill="hold" grpId="0" nodeType="withEffect">
                                      <p:stCondLst>
                                        <p:cond delay="1350"/>
                                      </p:stCondLst>
                                      <p:childTnLst>
                                        <p:set>
                                          <p:cBhvr>
                                            <p:cTn id="97" dur="1" fill="hold">
                                              <p:stCondLst>
                                                <p:cond delay="0"/>
                                              </p:stCondLst>
                                            </p:cTn>
                                            <p:tgtEl>
                                              <p:spTgt spid="162"/>
                                            </p:tgtEl>
                                            <p:attrNameLst>
                                              <p:attrName>style.visibility</p:attrName>
                                            </p:attrNameLst>
                                          </p:cBhvr>
                                          <p:to>
                                            <p:strVal val="visible"/>
                                          </p:to>
                                        </p:set>
                                        <p:animEffect transition="in" filter="fade">
                                          <p:cBhvr>
                                            <p:cTn id="98" dur="500"/>
                                            <p:tgtEl>
                                              <p:spTgt spid="162"/>
                                            </p:tgtEl>
                                          </p:cBhvr>
                                        </p:animEffect>
                                      </p:childTnLst>
                                    </p:cTn>
                                  </p:par>
                                  <p:par>
                                    <p:cTn id="99" presetID="10" presetClass="entr" presetSubtype="0" fill="hold" nodeType="withEffect">
                                      <p:stCondLst>
                                        <p:cond delay="1500"/>
                                      </p:stCondLst>
                                      <p:childTnLst>
                                        <p:set>
                                          <p:cBhvr>
                                            <p:cTn id="100" dur="1" fill="hold">
                                              <p:stCondLst>
                                                <p:cond delay="0"/>
                                              </p:stCondLst>
                                            </p:cTn>
                                            <p:tgtEl>
                                              <p:spTgt spid="208"/>
                                            </p:tgtEl>
                                            <p:attrNameLst>
                                              <p:attrName>style.visibility</p:attrName>
                                            </p:attrNameLst>
                                          </p:cBhvr>
                                          <p:to>
                                            <p:strVal val="visible"/>
                                          </p:to>
                                        </p:set>
                                        <p:animEffect transition="in" filter="fade">
                                          <p:cBhvr>
                                            <p:cTn id="101" dur="250"/>
                                            <p:tgtEl>
                                              <p:spTgt spid="208"/>
                                            </p:tgtEl>
                                          </p:cBhvr>
                                        </p:animEffect>
                                      </p:childTnLst>
                                    </p:cTn>
                                  </p:par>
                                  <p:par>
                                    <p:cTn id="102" presetID="63" presetClass="path" presetSubtype="0" decel="100000" fill="hold" nodeType="withEffect">
                                      <p:stCondLst>
                                        <p:cond delay="1500"/>
                                      </p:stCondLst>
                                      <p:childTnLst>
                                        <p:animMotion origin="layout" path="M 2.29167E-6 4.07407E-6 L 0.03906 4.07407E-6 " pathEditMode="relative" rAng="0" ptsTypes="AA">
                                          <p:cBhvr>
                                            <p:cTn id="103" dur="750" spd="-100000" fill="hold"/>
                                            <p:tgtEl>
                                              <p:spTgt spid="208"/>
                                            </p:tgtEl>
                                            <p:attrNameLst>
                                              <p:attrName>ppt_x</p:attrName>
                                              <p:attrName>ppt_y</p:attrName>
                                            </p:attrNameLst>
                                          </p:cBhvr>
                                          <p:rCtr x="1953" y="0"/>
                                        </p:animMotion>
                                      </p:childTnLst>
                                    </p:cTn>
                                  </p:par>
                                  <p:par>
                                    <p:cTn id="104" presetID="10" presetClass="entr" presetSubtype="0" fill="hold" grpId="0" nodeType="withEffect">
                                      <p:stCondLst>
                                        <p:cond delay="1750"/>
                                      </p:stCondLst>
                                      <p:childTnLst>
                                        <p:set>
                                          <p:cBhvr>
                                            <p:cTn id="105" dur="1" fill="hold">
                                              <p:stCondLst>
                                                <p:cond delay="0"/>
                                              </p:stCondLst>
                                            </p:cTn>
                                            <p:tgtEl>
                                              <p:spTgt spid="149"/>
                                            </p:tgtEl>
                                            <p:attrNameLst>
                                              <p:attrName>style.visibility</p:attrName>
                                            </p:attrNameLst>
                                          </p:cBhvr>
                                          <p:to>
                                            <p:strVal val="visible"/>
                                          </p:to>
                                        </p:set>
                                        <p:animEffect transition="in" filter="fade">
                                          <p:cBhvr>
                                            <p:cTn id="106" dur="500"/>
                                            <p:tgtEl>
                                              <p:spTgt spid="149"/>
                                            </p:tgtEl>
                                          </p:cBhvr>
                                        </p:animEffect>
                                      </p:childTnLst>
                                    </p:cTn>
                                  </p:par>
                                  <p:par>
                                    <p:cTn id="107" presetID="10" presetClass="entr" presetSubtype="0" fill="hold" grpId="0" nodeType="withEffect">
                                      <p:stCondLst>
                                        <p:cond delay="1750"/>
                                      </p:stCondLst>
                                      <p:childTnLst>
                                        <p:set>
                                          <p:cBhvr>
                                            <p:cTn id="108" dur="1" fill="hold">
                                              <p:stCondLst>
                                                <p:cond delay="0"/>
                                              </p:stCondLst>
                                            </p:cTn>
                                            <p:tgtEl>
                                              <p:spTgt spid="223"/>
                                            </p:tgtEl>
                                            <p:attrNameLst>
                                              <p:attrName>style.visibility</p:attrName>
                                            </p:attrNameLst>
                                          </p:cBhvr>
                                          <p:to>
                                            <p:strVal val="visible"/>
                                          </p:to>
                                        </p:set>
                                        <p:animEffect transition="in" filter="fade">
                                          <p:cBhvr>
                                            <p:cTn id="109" dur="500"/>
                                            <p:tgtEl>
                                              <p:spTgt spid="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 grpId="0" animBg="1"/>
          <p:bldP spid="186" grpId="1" animBg="1"/>
          <p:bldP spid="149" grpId="0"/>
          <p:bldP spid="150" grpId="0"/>
          <p:bldP spid="150" grpId="1"/>
          <p:bldP spid="152" grpId="0" animBg="1"/>
          <p:bldP spid="152" grpId="1" animBg="1"/>
          <p:bldP spid="152" grpId="2" animBg="1"/>
          <p:bldP spid="156" grpId="0" animBg="1"/>
          <p:bldP spid="156" grpId="1" animBg="1"/>
          <p:bldP spid="156" grpId="2" animBg="1"/>
          <p:bldP spid="161" grpId="0"/>
          <p:bldP spid="162" grpId="0"/>
          <p:bldP spid="168" grpId="0"/>
          <p:bldP spid="198" grpId="0" animBg="1"/>
          <p:bldP spid="195" grpId="0" animBg="1"/>
          <p:bldP spid="201" grpId="0" animBg="1"/>
          <p:bldP spid="223" grpId="0"/>
        </p:bld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Isosceles Triangle 185">
            <a:extLst>
              <a:ext uri="{FF2B5EF4-FFF2-40B4-BE49-F238E27FC236}">
                <a16:creationId xmlns:a16="http://schemas.microsoft.com/office/drawing/2014/main" id="{B5365443-2AB0-4F9F-A251-4CFD23D10F11}"/>
              </a:ext>
            </a:extLst>
          </p:cNvPr>
          <p:cNvSpPr/>
          <p:nvPr/>
        </p:nvSpPr>
        <p:spPr>
          <a:xfrm rot="5400000">
            <a:off x="4186653" y="411907"/>
            <a:ext cx="303579" cy="138833"/>
          </a:xfrm>
          <a:prstGeom prst="triangle">
            <a:avLst/>
          </a:prstGeom>
          <a:solidFill>
            <a:srgbClr val="0077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B194DFA-D81F-45C6-98D0-615747557E57}"/>
              </a:ext>
            </a:extLst>
          </p:cNvPr>
          <p:cNvSpPr/>
          <p:nvPr/>
        </p:nvSpPr>
        <p:spPr>
          <a:xfrm>
            <a:off x="0" y="3814949"/>
            <a:ext cx="12192000" cy="30517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0" name="Picture 169" descr="Shape, circle&#10;&#10;Description automatically generated">
            <a:extLst>
              <a:ext uri="{FF2B5EF4-FFF2-40B4-BE49-F238E27FC236}">
                <a16:creationId xmlns:a16="http://schemas.microsoft.com/office/drawing/2014/main" id="{EEB2B992-2400-4EEE-A3C6-C52D633A15B2}"/>
              </a:ext>
            </a:extLst>
          </p:cNvPr>
          <p:cNvPicPr>
            <a:picLocks noChangeAspect="1"/>
          </p:cNvPicPr>
          <p:nvPr/>
        </p:nvPicPr>
        <p:blipFill rotWithShape="1">
          <a:blip r:embed="rId2">
            <a:extLst>
              <a:ext uri="{28A0092B-C50C-407E-A947-70E740481C1C}">
                <a14:useLocalDpi xmlns:a14="http://schemas.microsoft.com/office/drawing/2010/main" val="0"/>
              </a:ext>
            </a:extLst>
          </a:blip>
          <a:srcRect r="64988"/>
          <a:stretch/>
        </p:blipFill>
        <p:spPr>
          <a:xfrm>
            <a:off x="0" y="0"/>
            <a:ext cx="4268596" cy="6858000"/>
          </a:xfrm>
          <a:prstGeom prst="rect">
            <a:avLst/>
          </a:prstGeom>
        </p:spPr>
      </p:pic>
      <p:grpSp>
        <p:nvGrpSpPr>
          <p:cNvPr id="182" name="Group 181">
            <a:extLst>
              <a:ext uri="{FF2B5EF4-FFF2-40B4-BE49-F238E27FC236}">
                <a16:creationId xmlns:a16="http://schemas.microsoft.com/office/drawing/2014/main" id="{77396E5F-348C-4338-B293-968BEA981FDB}"/>
              </a:ext>
            </a:extLst>
          </p:cNvPr>
          <p:cNvGrpSpPr/>
          <p:nvPr/>
        </p:nvGrpSpPr>
        <p:grpSpPr>
          <a:xfrm>
            <a:off x="252552" y="6342796"/>
            <a:ext cx="11686895" cy="398170"/>
            <a:chOff x="252552" y="6226684"/>
            <a:chExt cx="11686895" cy="398170"/>
          </a:xfrm>
        </p:grpSpPr>
        <p:grpSp>
          <p:nvGrpSpPr>
            <p:cNvPr id="172" name="Group 171">
              <a:extLst>
                <a:ext uri="{FF2B5EF4-FFF2-40B4-BE49-F238E27FC236}">
                  <a16:creationId xmlns:a16="http://schemas.microsoft.com/office/drawing/2014/main" id="{043DA00A-4155-4488-8261-DB136097B10C}"/>
                </a:ext>
              </a:extLst>
            </p:cNvPr>
            <p:cNvGrpSpPr/>
            <p:nvPr/>
          </p:nvGrpSpPr>
          <p:grpSpPr>
            <a:xfrm>
              <a:off x="252552" y="6293241"/>
              <a:ext cx="1266906" cy="265056"/>
              <a:chOff x="5600700" y="-854146"/>
              <a:chExt cx="989647" cy="207049"/>
            </a:xfrm>
          </p:grpSpPr>
          <p:sp>
            <p:nvSpPr>
              <p:cNvPr id="173" name="Freeform: Shape 172">
                <a:extLst>
                  <a:ext uri="{FF2B5EF4-FFF2-40B4-BE49-F238E27FC236}">
                    <a16:creationId xmlns:a16="http://schemas.microsoft.com/office/drawing/2014/main" id="{5529D942-D3DC-4AA5-A11E-2EAD767EE35D}"/>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0755DD92-DC0C-4053-A436-745AF0A70850}"/>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4518EE33-E21D-4E76-B041-14F423E26EAD}"/>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4C711A2-EC08-414B-B62D-F848E4E33BC2}"/>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7152FC00-E28E-4906-9909-07FB83382FA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5C0BFA11-C3DB-4246-9AA5-3EC58FE54C46}"/>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D22D6EE2-4EA8-4E7A-B8FF-7F9FE44552D8}"/>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BDBBAA55-241D-4C91-804F-8945A70DB132}"/>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BE44E2D9-A68F-4AE8-873F-8B818D81D3B6}"/>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2541" y="6226684"/>
              <a:ext cx="1266906" cy="398170"/>
            </a:xfrm>
            <a:prstGeom prst="rect">
              <a:avLst/>
            </a:prstGeom>
          </p:spPr>
        </p:pic>
      </p:grpSp>
      <p:sp>
        <p:nvSpPr>
          <p:cNvPr id="161" name="TextBox 160">
            <a:extLst>
              <a:ext uri="{FF2B5EF4-FFF2-40B4-BE49-F238E27FC236}">
                <a16:creationId xmlns:a16="http://schemas.microsoft.com/office/drawing/2014/main" id="{4B55652F-A762-4747-9EF3-7687171427BD}"/>
              </a:ext>
            </a:extLst>
          </p:cNvPr>
          <p:cNvSpPr txBox="1"/>
          <p:nvPr/>
        </p:nvSpPr>
        <p:spPr>
          <a:xfrm>
            <a:off x="593247" y="2347181"/>
            <a:ext cx="2940802" cy="2446824"/>
          </a:xfrm>
          <a:prstGeom prst="rect">
            <a:avLst/>
          </a:prstGeom>
          <a:noFill/>
        </p:spPr>
        <p:txBody>
          <a:bodyPr wrap="square" rtlCol="0">
            <a:spAutoFit/>
          </a:bodyPr>
          <a:lstStyle/>
          <a:p>
            <a:pPr lvl="0">
              <a:lnSpc>
                <a:spcPct val="85000"/>
              </a:lnSpc>
              <a:defRPr/>
            </a:pPr>
            <a:r>
              <a:rPr lang="es-ES" sz="2000" dirty="0">
                <a:solidFill>
                  <a:schemeClr val="bg1"/>
                </a:solidFill>
                <a:latin typeface="Trebuchet MS" panose="020B0603020202020204" pitchFamily="34" charset="0"/>
                <a:ea typeface="Verdana" panose="020B0604030504040204" pitchFamily="34" charset="0"/>
                <a:cs typeface="Zilla Slab Light"/>
                <a:sym typeface="Zilla Slab Light"/>
              </a:rPr>
              <a:t>La migraña puede iniciarse o amplificarse como consecuencia de diversos estímulos, que varían de persona a persona o que incluso son siempre los mismos para diferentes ataques en la misma persona.</a:t>
            </a:r>
          </a:p>
        </p:txBody>
      </p:sp>
      <p:grpSp>
        <p:nvGrpSpPr>
          <p:cNvPr id="37" name="Group 36">
            <a:extLst>
              <a:ext uri="{FF2B5EF4-FFF2-40B4-BE49-F238E27FC236}">
                <a16:creationId xmlns:a16="http://schemas.microsoft.com/office/drawing/2014/main" id="{0BE31391-F1DC-411A-87D1-5112B9F266CA}"/>
              </a:ext>
            </a:extLst>
          </p:cNvPr>
          <p:cNvGrpSpPr/>
          <p:nvPr/>
        </p:nvGrpSpPr>
        <p:grpSpPr>
          <a:xfrm>
            <a:off x="252552" y="6409353"/>
            <a:ext cx="1266906" cy="265056"/>
            <a:chOff x="5600700" y="-854146"/>
            <a:chExt cx="989647" cy="207049"/>
          </a:xfrm>
          <a:solidFill>
            <a:schemeClr val="bg1"/>
          </a:solidFill>
        </p:grpSpPr>
        <p:sp>
          <p:nvSpPr>
            <p:cNvPr id="41" name="Freeform: Shape 40">
              <a:extLst>
                <a:ext uri="{FF2B5EF4-FFF2-40B4-BE49-F238E27FC236}">
                  <a16:creationId xmlns:a16="http://schemas.microsoft.com/office/drawing/2014/main" id="{13F13A9E-8B05-4590-A769-7FB4E7D04AA7}"/>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C0B628-3DD6-4944-9D84-B56861B58EF6}"/>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017A177-EC27-403B-8372-86A3DBE3082E}"/>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E32EB9E-2686-4B42-9E63-9A43DDA63D58}"/>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2470303-A478-48C3-AD44-38AA76CC623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A6D117B-673B-41A6-9291-A0BBD1557E39}"/>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04C809F-31FC-48B3-A817-B6F57FFB20E1}"/>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5F7B8F6-61CC-412C-AEFF-BE182B64F64B}"/>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AC0821E-80AD-4AC4-8876-F78F55B9F41B}"/>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grpFill/>
            <a:ln w="9525" cap="flat">
              <a:noFill/>
              <a:prstDash val="solid"/>
              <a:miter/>
            </a:ln>
          </p:spPr>
          <p:txBody>
            <a:bodyPr rtlCol="0" anchor="ctr"/>
            <a:lstStyle/>
            <a:p>
              <a:endParaRPr lang="en-US"/>
            </a:p>
          </p:txBody>
        </p:sp>
      </p:grpSp>
      <p:sp>
        <p:nvSpPr>
          <p:cNvPr id="198" name="Freeform: Shape 197">
            <a:extLst>
              <a:ext uri="{FF2B5EF4-FFF2-40B4-BE49-F238E27FC236}">
                <a16:creationId xmlns:a16="http://schemas.microsoft.com/office/drawing/2014/main" id="{CDCF1F58-BD89-4F04-ADEC-DFCB108ABE00}"/>
              </a:ext>
            </a:extLst>
          </p:cNvPr>
          <p:cNvSpPr/>
          <p:nvPr/>
        </p:nvSpPr>
        <p:spPr>
          <a:xfrm flipH="1">
            <a:off x="5810498" y="39163"/>
            <a:ext cx="6381498" cy="758588"/>
          </a:xfrm>
          <a:custGeom>
            <a:avLst/>
            <a:gdLst>
              <a:gd name="connsiteX0" fmla="*/ 7305142 w 7400400"/>
              <a:gd name="connsiteY0" fmla="*/ 0 h 1371601"/>
              <a:gd name="connsiteX1" fmla="*/ 0 w 7400400"/>
              <a:gd name="connsiteY1" fmla="*/ 0 h 1371601"/>
              <a:gd name="connsiteX2" fmla="*/ 0 w 7400400"/>
              <a:gd name="connsiteY2" fmla="*/ 1371601 h 1371601"/>
              <a:gd name="connsiteX3" fmla="*/ 7305142 w 7400400"/>
              <a:gd name="connsiteY3" fmla="*/ 1371601 h 1371601"/>
              <a:gd name="connsiteX4" fmla="*/ 7400400 w 7400400"/>
              <a:gd name="connsiteY4" fmla="*/ 1276343 h 1371601"/>
              <a:gd name="connsiteX5" fmla="*/ 7400400 w 7400400"/>
              <a:gd name="connsiteY5" fmla="*/ 95258 h 1371601"/>
              <a:gd name="connsiteX6" fmla="*/ 7305142 w 7400400"/>
              <a:gd name="connsiteY6" fmla="*/ 0 h 1371601"/>
              <a:gd name="connsiteX0" fmla="*/ 7305146 w 7400404"/>
              <a:gd name="connsiteY0" fmla="*/ 0 h 1371601"/>
              <a:gd name="connsiteX1" fmla="*/ 4 w 7400404"/>
              <a:gd name="connsiteY1" fmla="*/ 0 h 1371601"/>
              <a:gd name="connsiteX2" fmla="*/ 0 w 7400404"/>
              <a:gd name="connsiteY2" fmla="*/ 709484 h 1371601"/>
              <a:gd name="connsiteX3" fmla="*/ 4 w 7400404"/>
              <a:gd name="connsiteY3" fmla="*/ 1371601 h 1371601"/>
              <a:gd name="connsiteX4" fmla="*/ 7305146 w 7400404"/>
              <a:gd name="connsiteY4" fmla="*/ 1371601 h 1371601"/>
              <a:gd name="connsiteX5" fmla="*/ 7400404 w 7400404"/>
              <a:gd name="connsiteY5" fmla="*/ 1276343 h 1371601"/>
              <a:gd name="connsiteX6" fmla="*/ 7400404 w 7400404"/>
              <a:gd name="connsiteY6" fmla="*/ 95258 h 1371601"/>
              <a:gd name="connsiteX7" fmla="*/ 7305146 w 7400404"/>
              <a:gd name="connsiteY7" fmla="*/ 0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7" fmla="*/ 91440 w 7400404"/>
              <a:gd name="connsiteY7" fmla="*/ 800924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0" fmla="*/ 0 w 7400400"/>
              <a:gd name="connsiteY0" fmla="*/ 1371601 h 1371601"/>
              <a:gd name="connsiteX1" fmla="*/ 7305142 w 7400400"/>
              <a:gd name="connsiteY1" fmla="*/ 1371601 h 1371601"/>
              <a:gd name="connsiteX2" fmla="*/ 7400400 w 7400400"/>
              <a:gd name="connsiteY2" fmla="*/ 1276343 h 1371601"/>
              <a:gd name="connsiteX3" fmla="*/ 7400400 w 7400400"/>
              <a:gd name="connsiteY3" fmla="*/ 95258 h 1371601"/>
              <a:gd name="connsiteX4" fmla="*/ 7305142 w 7400400"/>
              <a:gd name="connsiteY4" fmla="*/ 0 h 1371601"/>
              <a:gd name="connsiteX5" fmla="*/ 0 w 7400400"/>
              <a:gd name="connsiteY5" fmla="*/ 0 h 1371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00400" h="1371601">
                <a:moveTo>
                  <a:pt x="0" y="1371601"/>
                </a:moveTo>
                <a:lnTo>
                  <a:pt x="7305142" y="1371601"/>
                </a:lnTo>
                <a:cubicBezTo>
                  <a:pt x="7357752" y="1371601"/>
                  <a:pt x="7400400" y="1328953"/>
                  <a:pt x="7400400" y="1276343"/>
                </a:cubicBezTo>
                <a:lnTo>
                  <a:pt x="7400400" y="95258"/>
                </a:lnTo>
                <a:cubicBezTo>
                  <a:pt x="7400400" y="42648"/>
                  <a:pt x="7357752" y="0"/>
                  <a:pt x="7305142" y="0"/>
                </a:cubicBezTo>
                <a:lnTo>
                  <a:pt x="0" y="0"/>
                </a:lnTo>
              </a:path>
            </a:pathLst>
          </a:custGeom>
          <a:solidFill>
            <a:schemeClr val="bg1"/>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5000"/>
              </a:lnSpc>
            </a:pPr>
            <a:endParaRPr lang="en-US">
              <a:solidFill>
                <a:srgbClr val="FFFFFF"/>
              </a:solidFill>
              <a:latin typeface="Verdana"/>
            </a:endParaRPr>
          </a:p>
        </p:txBody>
      </p:sp>
      <p:sp>
        <p:nvSpPr>
          <p:cNvPr id="72" name="TextBox 71">
            <a:extLst>
              <a:ext uri="{FF2B5EF4-FFF2-40B4-BE49-F238E27FC236}">
                <a16:creationId xmlns:a16="http://schemas.microsoft.com/office/drawing/2014/main" id="{3DEDDC02-C4BB-41C0-A381-4E5624A02427}"/>
              </a:ext>
            </a:extLst>
          </p:cNvPr>
          <p:cNvSpPr txBox="1"/>
          <p:nvPr/>
        </p:nvSpPr>
        <p:spPr>
          <a:xfrm>
            <a:off x="6288669" y="197125"/>
            <a:ext cx="4181872" cy="523220"/>
          </a:xfrm>
          <a:prstGeom prst="rect">
            <a:avLst/>
          </a:prstGeom>
          <a:noFill/>
        </p:spPr>
        <p:txBody>
          <a:bodyPr wrap="square" rtlCol="0">
            <a:spAutoFit/>
          </a:bodyPr>
          <a:lstStyle/>
          <a:p>
            <a:r>
              <a:rPr lang="es-ES" sz="1400" b="1" dirty="0">
                <a:solidFill>
                  <a:srgbClr val="00AEEF"/>
                </a:solidFill>
                <a:latin typeface="Trebuchet MS" panose="020B0603020202020204" pitchFamily="34" charset="0"/>
                <a:ea typeface="Verdana" panose="020B0604030504040204" pitchFamily="34" charset="0"/>
              </a:rPr>
              <a:t>ALTERACIONES EN EL PATRÓN DE SUEÑO</a:t>
            </a:r>
          </a:p>
          <a:p>
            <a:r>
              <a:rPr lang="es-ES" sz="1400" dirty="0">
                <a:latin typeface="Trebuchet MS" panose="020B0603020202020204" pitchFamily="34" charset="0"/>
                <a:ea typeface="Verdana" panose="020B0604030504040204" pitchFamily="34" charset="0"/>
              </a:rPr>
              <a:t>Falta o exceso de sueño</a:t>
            </a:r>
          </a:p>
        </p:txBody>
      </p:sp>
      <p:sp>
        <p:nvSpPr>
          <p:cNvPr id="223" name="TextBox 222">
            <a:extLst>
              <a:ext uri="{FF2B5EF4-FFF2-40B4-BE49-F238E27FC236}">
                <a16:creationId xmlns:a16="http://schemas.microsoft.com/office/drawing/2014/main" id="{E70EEC19-B0E3-4765-98C9-E87C6C1182C7}"/>
              </a:ext>
            </a:extLst>
          </p:cNvPr>
          <p:cNvSpPr txBox="1"/>
          <p:nvPr/>
        </p:nvSpPr>
        <p:spPr>
          <a:xfrm>
            <a:off x="4683761" y="6455230"/>
            <a:ext cx="5591683" cy="327782"/>
          </a:xfrm>
          <a:prstGeom prst="rect">
            <a:avLst/>
          </a:prstGeom>
          <a:noFill/>
        </p:spPr>
        <p:txBody>
          <a:bodyPr wrap="square" rtlCol="0">
            <a:spAutoFit/>
          </a:bodyPr>
          <a:lstStyle/>
          <a:p>
            <a:pPr lvl="0">
              <a:lnSpc>
                <a:spcPct val="85000"/>
              </a:lnSpc>
              <a:defRPr/>
            </a:pPr>
            <a:r>
              <a:rPr lang="en-US" sz="900" dirty="0">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Steiner, Timothy J. «Lifting The Burden: the global campaign to reduce the burden of headache worldwide.» The journal of headache and pain6.5 (2005): 373-377</a:t>
            </a:r>
          </a:p>
        </p:txBody>
      </p:sp>
      <p:sp>
        <p:nvSpPr>
          <p:cNvPr id="99" name="Freeform: Shape 98">
            <a:extLst>
              <a:ext uri="{FF2B5EF4-FFF2-40B4-BE49-F238E27FC236}">
                <a16:creationId xmlns:a16="http://schemas.microsoft.com/office/drawing/2014/main" id="{9EAB804A-166E-4B94-B07B-38900FE6ABB2}"/>
              </a:ext>
            </a:extLst>
          </p:cNvPr>
          <p:cNvSpPr/>
          <p:nvPr/>
        </p:nvSpPr>
        <p:spPr>
          <a:xfrm flipH="1">
            <a:off x="5810502" y="905667"/>
            <a:ext cx="6381498" cy="959662"/>
          </a:xfrm>
          <a:custGeom>
            <a:avLst/>
            <a:gdLst>
              <a:gd name="connsiteX0" fmla="*/ 7305142 w 7400400"/>
              <a:gd name="connsiteY0" fmla="*/ 0 h 1371601"/>
              <a:gd name="connsiteX1" fmla="*/ 0 w 7400400"/>
              <a:gd name="connsiteY1" fmla="*/ 0 h 1371601"/>
              <a:gd name="connsiteX2" fmla="*/ 0 w 7400400"/>
              <a:gd name="connsiteY2" fmla="*/ 1371601 h 1371601"/>
              <a:gd name="connsiteX3" fmla="*/ 7305142 w 7400400"/>
              <a:gd name="connsiteY3" fmla="*/ 1371601 h 1371601"/>
              <a:gd name="connsiteX4" fmla="*/ 7400400 w 7400400"/>
              <a:gd name="connsiteY4" fmla="*/ 1276343 h 1371601"/>
              <a:gd name="connsiteX5" fmla="*/ 7400400 w 7400400"/>
              <a:gd name="connsiteY5" fmla="*/ 95258 h 1371601"/>
              <a:gd name="connsiteX6" fmla="*/ 7305142 w 7400400"/>
              <a:gd name="connsiteY6" fmla="*/ 0 h 1371601"/>
              <a:gd name="connsiteX0" fmla="*/ 7305146 w 7400404"/>
              <a:gd name="connsiteY0" fmla="*/ 0 h 1371601"/>
              <a:gd name="connsiteX1" fmla="*/ 4 w 7400404"/>
              <a:gd name="connsiteY1" fmla="*/ 0 h 1371601"/>
              <a:gd name="connsiteX2" fmla="*/ 0 w 7400404"/>
              <a:gd name="connsiteY2" fmla="*/ 709484 h 1371601"/>
              <a:gd name="connsiteX3" fmla="*/ 4 w 7400404"/>
              <a:gd name="connsiteY3" fmla="*/ 1371601 h 1371601"/>
              <a:gd name="connsiteX4" fmla="*/ 7305146 w 7400404"/>
              <a:gd name="connsiteY4" fmla="*/ 1371601 h 1371601"/>
              <a:gd name="connsiteX5" fmla="*/ 7400404 w 7400404"/>
              <a:gd name="connsiteY5" fmla="*/ 1276343 h 1371601"/>
              <a:gd name="connsiteX6" fmla="*/ 7400404 w 7400404"/>
              <a:gd name="connsiteY6" fmla="*/ 95258 h 1371601"/>
              <a:gd name="connsiteX7" fmla="*/ 7305146 w 7400404"/>
              <a:gd name="connsiteY7" fmla="*/ 0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7" fmla="*/ 91440 w 7400404"/>
              <a:gd name="connsiteY7" fmla="*/ 800924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0" fmla="*/ 0 w 7400400"/>
              <a:gd name="connsiteY0" fmla="*/ 1371601 h 1371601"/>
              <a:gd name="connsiteX1" fmla="*/ 7305142 w 7400400"/>
              <a:gd name="connsiteY1" fmla="*/ 1371601 h 1371601"/>
              <a:gd name="connsiteX2" fmla="*/ 7400400 w 7400400"/>
              <a:gd name="connsiteY2" fmla="*/ 1276343 h 1371601"/>
              <a:gd name="connsiteX3" fmla="*/ 7400400 w 7400400"/>
              <a:gd name="connsiteY3" fmla="*/ 95258 h 1371601"/>
              <a:gd name="connsiteX4" fmla="*/ 7305142 w 7400400"/>
              <a:gd name="connsiteY4" fmla="*/ 0 h 1371601"/>
              <a:gd name="connsiteX5" fmla="*/ 0 w 7400400"/>
              <a:gd name="connsiteY5" fmla="*/ 0 h 1371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00400" h="1371601">
                <a:moveTo>
                  <a:pt x="0" y="1371601"/>
                </a:moveTo>
                <a:lnTo>
                  <a:pt x="7305142" y="1371601"/>
                </a:lnTo>
                <a:cubicBezTo>
                  <a:pt x="7357752" y="1371601"/>
                  <a:pt x="7400400" y="1328953"/>
                  <a:pt x="7400400" y="1276343"/>
                </a:cubicBezTo>
                <a:lnTo>
                  <a:pt x="7400400" y="95258"/>
                </a:lnTo>
                <a:cubicBezTo>
                  <a:pt x="7400400" y="42648"/>
                  <a:pt x="7357752" y="0"/>
                  <a:pt x="7305142" y="0"/>
                </a:cubicBezTo>
                <a:lnTo>
                  <a:pt x="0" y="0"/>
                </a:lnTo>
              </a:path>
            </a:pathLst>
          </a:custGeom>
          <a:solidFill>
            <a:schemeClr val="bg1"/>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5000"/>
              </a:lnSpc>
            </a:pPr>
            <a:endParaRPr lang="en-US">
              <a:solidFill>
                <a:srgbClr val="FFFFFF"/>
              </a:solidFill>
              <a:latin typeface="Verdana"/>
            </a:endParaRPr>
          </a:p>
        </p:txBody>
      </p:sp>
      <p:sp>
        <p:nvSpPr>
          <p:cNvPr id="103" name="TextBox 102">
            <a:extLst>
              <a:ext uri="{FF2B5EF4-FFF2-40B4-BE49-F238E27FC236}">
                <a16:creationId xmlns:a16="http://schemas.microsoft.com/office/drawing/2014/main" id="{23995E75-01FD-4B36-84CB-8D9D550D4F00}"/>
              </a:ext>
            </a:extLst>
          </p:cNvPr>
          <p:cNvSpPr txBox="1"/>
          <p:nvPr/>
        </p:nvSpPr>
        <p:spPr>
          <a:xfrm>
            <a:off x="6288494" y="967832"/>
            <a:ext cx="6579892" cy="738664"/>
          </a:xfrm>
          <a:prstGeom prst="rect">
            <a:avLst/>
          </a:prstGeom>
          <a:noFill/>
        </p:spPr>
        <p:txBody>
          <a:bodyPr wrap="square" rtlCol="0">
            <a:spAutoFit/>
          </a:bodyPr>
          <a:lstStyle/>
          <a:p>
            <a:r>
              <a:rPr lang="pt-PT" sz="1400" b="1" dirty="0">
                <a:solidFill>
                  <a:srgbClr val="00AEEF"/>
                </a:solidFill>
                <a:latin typeface="Trebuchet MS" panose="020B0603020202020204" pitchFamily="34" charset="0"/>
                <a:ea typeface="Verdana" panose="020B0604030504040204" pitchFamily="34" charset="0"/>
              </a:rPr>
              <a:t>ALIMENTACIÓN</a:t>
            </a:r>
          </a:p>
          <a:p>
            <a:r>
              <a:rPr lang="pt-PT" sz="1400" dirty="0" err="1">
                <a:latin typeface="Trebuchet MS" panose="020B0603020202020204" pitchFamily="34" charset="0"/>
                <a:ea typeface="Verdana" panose="020B0604030504040204" pitchFamily="34" charset="0"/>
              </a:rPr>
              <a:t>Ayuno</a:t>
            </a:r>
            <a:r>
              <a:rPr lang="pt-PT" sz="1400" dirty="0">
                <a:latin typeface="Trebuchet MS" panose="020B0603020202020204" pitchFamily="34" charset="0"/>
                <a:ea typeface="Verdana" panose="020B0604030504040204" pitchFamily="34" charset="0"/>
              </a:rPr>
              <a:t> prolongado o </a:t>
            </a:r>
            <a:r>
              <a:rPr lang="pt-PT" sz="1400" dirty="0" err="1">
                <a:latin typeface="Trebuchet MS" panose="020B0603020202020204" pitchFamily="34" charset="0"/>
                <a:ea typeface="Verdana" panose="020B0604030504040204" pitchFamily="34" charset="0"/>
              </a:rPr>
              <a:t>saltarse</a:t>
            </a:r>
            <a:r>
              <a:rPr lang="pt-PT" sz="1400" dirty="0">
                <a:latin typeface="Trebuchet MS" panose="020B0603020202020204" pitchFamily="34" charset="0"/>
                <a:ea typeface="Verdana" panose="020B0604030504040204" pitchFamily="34" charset="0"/>
              </a:rPr>
              <a:t> comidas, </a:t>
            </a:r>
            <a:r>
              <a:rPr lang="pt-PT" sz="1400" dirty="0" err="1">
                <a:latin typeface="Trebuchet MS" panose="020B0603020202020204" pitchFamily="34" charset="0"/>
                <a:ea typeface="Verdana" panose="020B0604030504040204" pitchFamily="34" charset="0"/>
              </a:rPr>
              <a:t>deshidratación</a:t>
            </a:r>
            <a:r>
              <a:rPr lang="pt-PT" sz="1400" dirty="0">
                <a:latin typeface="Trebuchet MS" panose="020B0603020202020204" pitchFamily="34" charset="0"/>
                <a:ea typeface="Verdana" panose="020B0604030504040204" pitchFamily="34" charset="0"/>
              </a:rPr>
              <a:t>, consumo de</a:t>
            </a:r>
          </a:p>
          <a:p>
            <a:r>
              <a:rPr lang="pt-PT" sz="1400" dirty="0" err="1">
                <a:latin typeface="Trebuchet MS" panose="020B0603020202020204" pitchFamily="34" charset="0"/>
                <a:ea typeface="Verdana" panose="020B0604030504040204" pitchFamily="34" charset="0"/>
              </a:rPr>
              <a:t>alcohol</a:t>
            </a:r>
            <a:r>
              <a:rPr lang="pt-PT" sz="1400" dirty="0">
                <a:latin typeface="Trebuchet MS" panose="020B0603020202020204" pitchFamily="34" charset="0"/>
                <a:ea typeface="Verdana" panose="020B0604030504040204" pitchFamily="34" charset="0"/>
              </a:rPr>
              <a:t> y de </a:t>
            </a:r>
            <a:r>
              <a:rPr lang="pt-PT" sz="1400" dirty="0" err="1">
                <a:latin typeface="Trebuchet MS" panose="020B0603020202020204" pitchFamily="34" charset="0"/>
                <a:ea typeface="Verdana" panose="020B0604030504040204" pitchFamily="34" charset="0"/>
              </a:rPr>
              <a:t>algunos</a:t>
            </a:r>
            <a:r>
              <a:rPr lang="pt-PT" sz="1400" dirty="0">
                <a:latin typeface="Trebuchet MS" panose="020B0603020202020204" pitchFamily="34" charset="0"/>
                <a:ea typeface="Verdana" panose="020B0604030504040204" pitchFamily="34" charset="0"/>
              </a:rPr>
              <a:t> alimentos (</a:t>
            </a:r>
            <a:r>
              <a:rPr lang="pt-PT" sz="1400" dirty="0" err="1">
                <a:latin typeface="Trebuchet MS" panose="020B0603020202020204" pitchFamily="34" charset="0"/>
                <a:ea typeface="Verdana" panose="020B0604030504040204" pitchFamily="34" charset="0"/>
              </a:rPr>
              <a:t>p.ej</a:t>
            </a:r>
            <a:r>
              <a:rPr lang="pt-PT" sz="1400" dirty="0">
                <a:latin typeface="Trebuchet MS" panose="020B0603020202020204" pitchFamily="34" charset="0"/>
                <a:ea typeface="Verdana" panose="020B0604030504040204" pitchFamily="34" charset="0"/>
              </a:rPr>
              <a:t>.: </a:t>
            </a:r>
            <a:r>
              <a:rPr lang="pt-PT" sz="1400" dirty="0" err="1">
                <a:latin typeface="Trebuchet MS" panose="020B0603020202020204" pitchFamily="34" charset="0"/>
                <a:ea typeface="Verdana" panose="020B0604030504040204" pitchFamily="34" charset="0"/>
              </a:rPr>
              <a:t>queso</a:t>
            </a:r>
            <a:r>
              <a:rPr lang="pt-PT" sz="1400" dirty="0">
                <a:latin typeface="Trebuchet MS" panose="020B0603020202020204" pitchFamily="34" charset="0"/>
                <a:ea typeface="Verdana" panose="020B0604030504040204" pitchFamily="34" charset="0"/>
              </a:rPr>
              <a:t>, chocolate, cítricos...)</a:t>
            </a:r>
          </a:p>
        </p:txBody>
      </p:sp>
      <p:sp>
        <p:nvSpPr>
          <p:cNvPr id="106" name="Freeform: Shape 105">
            <a:extLst>
              <a:ext uri="{FF2B5EF4-FFF2-40B4-BE49-F238E27FC236}">
                <a16:creationId xmlns:a16="http://schemas.microsoft.com/office/drawing/2014/main" id="{A73112E9-09AE-41DA-8C5C-04D6225058F9}"/>
              </a:ext>
            </a:extLst>
          </p:cNvPr>
          <p:cNvSpPr/>
          <p:nvPr/>
        </p:nvSpPr>
        <p:spPr>
          <a:xfrm flipH="1">
            <a:off x="5810498" y="1965275"/>
            <a:ext cx="6381502" cy="750653"/>
          </a:xfrm>
          <a:custGeom>
            <a:avLst/>
            <a:gdLst>
              <a:gd name="connsiteX0" fmla="*/ 7305142 w 7400400"/>
              <a:gd name="connsiteY0" fmla="*/ 0 h 1371601"/>
              <a:gd name="connsiteX1" fmla="*/ 0 w 7400400"/>
              <a:gd name="connsiteY1" fmla="*/ 0 h 1371601"/>
              <a:gd name="connsiteX2" fmla="*/ 0 w 7400400"/>
              <a:gd name="connsiteY2" fmla="*/ 1371601 h 1371601"/>
              <a:gd name="connsiteX3" fmla="*/ 7305142 w 7400400"/>
              <a:gd name="connsiteY3" fmla="*/ 1371601 h 1371601"/>
              <a:gd name="connsiteX4" fmla="*/ 7400400 w 7400400"/>
              <a:gd name="connsiteY4" fmla="*/ 1276343 h 1371601"/>
              <a:gd name="connsiteX5" fmla="*/ 7400400 w 7400400"/>
              <a:gd name="connsiteY5" fmla="*/ 95258 h 1371601"/>
              <a:gd name="connsiteX6" fmla="*/ 7305142 w 7400400"/>
              <a:gd name="connsiteY6" fmla="*/ 0 h 1371601"/>
              <a:gd name="connsiteX0" fmla="*/ 7305146 w 7400404"/>
              <a:gd name="connsiteY0" fmla="*/ 0 h 1371601"/>
              <a:gd name="connsiteX1" fmla="*/ 4 w 7400404"/>
              <a:gd name="connsiteY1" fmla="*/ 0 h 1371601"/>
              <a:gd name="connsiteX2" fmla="*/ 0 w 7400404"/>
              <a:gd name="connsiteY2" fmla="*/ 709484 h 1371601"/>
              <a:gd name="connsiteX3" fmla="*/ 4 w 7400404"/>
              <a:gd name="connsiteY3" fmla="*/ 1371601 h 1371601"/>
              <a:gd name="connsiteX4" fmla="*/ 7305146 w 7400404"/>
              <a:gd name="connsiteY4" fmla="*/ 1371601 h 1371601"/>
              <a:gd name="connsiteX5" fmla="*/ 7400404 w 7400404"/>
              <a:gd name="connsiteY5" fmla="*/ 1276343 h 1371601"/>
              <a:gd name="connsiteX6" fmla="*/ 7400404 w 7400404"/>
              <a:gd name="connsiteY6" fmla="*/ 95258 h 1371601"/>
              <a:gd name="connsiteX7" fmla="*/ 7305146 w 7400404"/>
              <a:gd name="connsiteY7" fmla="*/ 0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7" fmla="*/ 91440 w 7400404"/>
              <a:gd name="connsiteY7" fmla="*/ 800924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0" fmla="*/ 0 w 7400400"/>
              <a:gd name="connsiteY0" fmla="*/ 1371601 h 1371601"/>
              <a:gd name="connsiteX1" fmla="*/ 7305142 w 7400400"/>
              <a:gd name="connsiteY1" fmla="*/ 1371601 h 1371601"/>
              <a:gd name="connsiteX2" fmla="*/ 7400400 w 7400400"/>
              <a:gd name="connsiteY2" fmla="*/ 1276343 h 1371601"/>
              <a:gd name="connsiteX3" fmla="*/ 7400400 w 7400400"/>
              <a:gd name="connsiteY3" fmla="*/ 95258 h 1371601"/>
              <a:gd name="connsiteX4" fmla="*/ 7305142 w 7400400"/>
              <a:gd name="connsiteY4" fmla="*/ 0 h 1371601"/>
              <a:gd name="connsiteX5" fmla="*/ 0 w 7400400"/>
              <a:gd name="connsiteY5" fmla="*/ 0 h 1371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00400" h="1371601">
                <a:moveTo>
                  <a:pt x="0" y="1371601"/>
                </a:moveTo>
                <a:lnTo>
                  <a:pt x="7305142" y="1371601"/>
                </a:lnTo>
                <a:cubicBezTo>
                  <a:pt x="7357752" y="1371601"/>
                  <a:pt x="7400400" y="1328953"/>
                  <a:pt x="7400400" y="1276343"/>
                </a:cubicBezTo>
                <a:lnTo>
                  <a:pt x="7400400" y="95258"/>
                </a:lnTo>
                <a:cubicBezTo>
                  <a:pt x="7400400" y="42648"/>
                  <a:pt x="7357752" y="0"/>
                  <a:pt x="7305142" y="0"/>
                </a:cubicBezTo>
                <a:lnTo>
                  <a:pt x="0" y="0"/>
                </a:lnTo>
              </a:path>
            </a:pathLst>
          </a:custGeom>
          <a:solidFill>
            <a:schemeClr val="bg1"/>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5000"/>
              </a:lnSpc>
            </a:pPr>
            <a:endParaRPr lang="en-US">
              <a:solidFill>
                <a:srgbClr val="FFFFFF"/>
              </a:solidFill>
              <a:latin typeface="Verdana"/>
            </a:endParaRPr>
          </a:p>
        </p:txBody>
      </p:sp>
      <p:sp>
        <p:nvSpPr>
          <p:cNvPr id="119" name="TextBox 118">
            <a:extLst>
              <a:ext uri="{FF2B5EF4-FFF2-40B4-BE49-F238E27FC236}">
                <a16:creationId xmlns:a16="http://schemas.microsoft.com/office/drawing/2014/main" id="{950919BF-4E0E-4A01-910D-F0BA51682DEF}"/>
              </a:ext>
            </a:extLst>
          </p:cNvPr>
          <p:cNvSpPr txBox="1"/>
          <p:nvPr/>
        </p:nvSpPr>
        <p:spPr>
          <a:xfrm>
            <a:off x="6288669" y="2088401"/>
            <a:ext cx="4181872" cy="523220"/>
          </a:xfrm>
          <a:prstGeom prst="rect">
            <a:avLst/>
          </a:prstGeom>
          <a:noFill/>
        </p:spPr>
        <p:txBody>
          <a:bodyPr wrap="square" rtlCol="0">
            <a:spAutoFit/>
          </a:bodyPr>
          <a:lstStyle/>
          <a:p>
            <a:r>
              <a:rPr lang="pt-PT" sz="1400" b="1" dirty="0">
                <a:solidFill>
                  <a:srgbClr val="00AEEF"/>
                </a:solidFill>
                <a:latin typeface="Trebuchet MS" panose="020B0603020202020204" pitchFamily="34" charset="0"/>
                <a:ea typeface="Verdana" panose="020B0604030504040204" pitchFamily="34" charset="0"/>
              </a:rPr>
              <a:t>FLUCTUACIONES HORMONALES</a:t>
            </a:r>
          </a:p>
          <a:p>
            <a:r>
              <a:rPr lang="pt-PT" sz="1400" dirty="0" err="1">
                <a:latin typeface="Trebuchet MS" panose="020B0603020202020204" pitchFamily="34" charset="0"/>
                <a:ea typeface="Verdana" panose="020B0604030504040204" pitchFamily="34" charset="0"/>
              </a:rPr>
              <a:t>Menstruación</a:t>
            </a:r>
            <a:r>
              <a:rPr lang="pt-PT" sz="1400" dirty="0">
                <a:latin typeface="Trebuchet MS" panose="020B0603020202020204" pitchFamily="34" charset="0"/>
                <a:ea typeface="Verdana" panose="020B0604030504040204" pitchFamily="34" charset="0"/>
              </a:rPr>
              <a:t> o </a:t>
            </a:r>
            <a:r>
              <a:rPr lang="pt-PT" sz="1400" dirty="0" err="1">
                <a:latin typeface="Trebuchet MS" panose="020B0603020202020204" pitchFamily="34" charset="0"/>
                <a:ea typeface="Verdana" panose="020B0604030504040204" pitchFamily="34" charset="0"/>
              </a:rPr>
              <a:t>menopausia</a:t>
            </a:r>
            <a:endParaRPr lang="pt-PT" sz="1400" dirty="0">
              <a:latin typeface="Trebuchet MS" panose="020B0603020202020204" pitchFamily="34" charset="0"/>
              <a:ea typeface="Verdana" panose="020B0604030504040204" pitchFamily="34" charset="0"/>
            </a:endParaRPr>
          </a:p>
        </p:txBody>
      </p:sp>
      <p:sp>
        <p:nvSpPr>
          <p:cNvPr id="122" name="Freeform: Shape 121">
            <a:extLst>
              <a:ext uri="{FF2B5EF4-FFF2-40B4-BE49-F238E27FC236}">
                <a16:creationId xmlns:a16="http://schemas.microsoft.com/office/drawing/2014/main" id="{8EF51D92-B2D9-45A4-83BA-47084DC33E6C}"/>
              </a:ext>
            </a:extLst>
          </p:cNvPr>
          <p:cNvSpPr/>
          <p:nvPr/>
        </p:nvSpPr>
        <p:spPr>
          <a:xfrm flipH="1">
            <a:off x="5810492" y="2832302"/>
            <a:ext cx="6381508" cy="792100"/>
          </a:xfrm>
          <a:custGeom>
            <a:avLst/>
            <a:gdLst>
              <a:gd name="connsiteX0" fmla="*/ 7305142 w 7400400"/>
              <a:gd name="connsiteY0" fmla="*/ 0 h 1371601"/>
              <a:gd name="connsiteX1" fmla="*/ 0 w 7400400"/>
              <a:gd name="connsiteY1" fmla="*/ 0 h 1371601"/>
              <a:gd name="connsiteX2" fmla="*/ 0 w 7400400"/>
              <a:gd name="connsiteY2" fmla="*/ 1371601 h 1371601"/>
              <a:gd name="connsiteX3" fmla="*/ 7305142 w 7400400"/>
              <a:gd name="connsiteY3" fmla="*/ 1371601 h 1371601"/>
              <a:gd name="connsiteX4" fmla="*/ 7400400 w 7400400"/>
              <a:gd name="connsiteY4" fmla="*/ 1276343 h 1371601"/>
              <a:gd name="connsiteX5" fmla="*/ 7400400 w 7400400"/>
              <a:gd name="connsiteY5" fmla="*/ 95258 h 1371601"/>
              <a:gd name="connsiteX6" fmla="*/ 7305142 w 7400400"/>
              <a:gd name="connsiteY6" fmla="*/ 0 h 1371601"/>
              <a:gd name="connsiteX0" fmla="*/ 7305146 w 7400404"/>
              <a:gd name="connsiteY0" fmla="*/ 0 h 1371601"/>
              <a:gd name="connsiteX1" fmla="*/ 4 w 7400404"/>
              <a:gd name="connsiteY1" fmla="*/ 0 h 1371601"/>
              <a:gd name="connsiteX2" fmla="*/ 0 w 7400404"/>
              <a:gd name="connsiteY2" fmla="*/ 709484 h 1371601"/>
              <a:gd name="connsiteX3" fmla="*/ 4 w 7400404"/>
              <a:gd name="connsiteY3" fmla="*/ 1371601 h 1371601"/>
              <a:gd name="connsiteX4" fmla="*/ 7305146 w 7400404"/>
              <a:gd name="connsiteY4" fmla="*/ 1371601 h 1371601"/>
              <a:gd name="connsiteX5" fmla="*/ 7400404 w 7400404"/>
              <a:gd name="connsiteY5" fmla="*/ 1276343 h 1371601"/>
              <a:gd name="connsiteX6" fmla="*/ 7400404 w 7400404"/>
              <a:gd name="connsiteY6" fmla="*/ 95258 h 1371601"/>
              <a:gd name="connsiteX7" fmla="*/ 7305146 w 7400404"/>
              <a:gd name="connsiteY7" fmla="*/ 0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7" fmla="*/ 91440 w 7400404"/>
              <a:gd name="connsiteY7" fmla="*/ 800924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0" fmla="*/ 0 w 7400400"/>
              <a:gd name="connsiteY0" fmla="*/ 1371601 h 1371601"/>
              <a:gd name="connsiteX1" fmla="*/ 7305142 w 7400400"/>
              <a:gd name="connsiteY1" fmla="*/ 1371601 h 1371601"/>
              <a:gd name="connsiteX2" fmla="*/ 7400400 w 7400400"/>
              <a:gd name="connsiteY2" fmla="*/ 1276343 h 1371601"/>
              <a:gd name="connsiteX3" fmla="*/ 7400400 w 7400400"/>
              <a:gd name="connsiteY3" fmla="*/ 95258 h 1371601"/>
              <a:gd name="connsiteX4" fmla="*/ 7305142 w 7400400"/>
              <a:gd name="connsiteY4" fmla="*/ 0 h 1371601"/>
              <a:gd name="connsiteX5" fmla="*/ 0 w 7400400"/>
              <a:gd name="connsiteY5" fmla="*/ 0 h 1371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00400" h="1371601">
                <a:moveTo>
                  <a:pt x="0" y="1371601"/>
                </a:moveTo>
                <a:lnTo>
                  <a:pt x="7305142" y="1371601"/>
                </a:lnTo>
                <a:cubicBezTo>
                  <a:pt x="7357752" y="1371601"/>
                  <a:pt x="7400400" y="1328953"/>
                  <a:pt x="7400400" y="1276343"/>
                </a:cubicBezTo>
                <a:lnTo>
                  <a:pt x="7400400" y="95258"/>
                </a:lnTo>
                <a:cubicBezTo>
                  <a:pt x="7400400" y="42648"/>
                  <a:pt x="7357752" y="0"/>
                  <a:pt x="7305142" y="0"/>
                </a:cubicBezTo>
                <a:lnTo>
                  <a:pt x="0" y="0"/>
                </a:lnTo>
              </a:path>
            </a:pathLst>
          </a:custGeom>
          <a:solidFill>
            <a:schemeClr val="bg1"/>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5000"/>
              </a:lnSpc>
            </a:pPr>
            <a:endParaRPr lang="en-US" dirty="0">
              <a:solidFill>
                <a:srgbClr val="FFFFFF"/>
              </a:solidFill>
              <a:latin typeface="Verdana"/>
            </a:endParaRPr>
          </a:p>
        </p:txBody>
      </p:sp>
      <p:sp>
        <p:nvSpPr>
          <p:cNvPr id="124" name="TextBox 123">
            <a:extLst>
              <a:ext uri="{FF2B5EF4-FFF2-40B4-BE49-F238E27FC236}">
                <a16:creationId xmlns:a16="http://schemas.microsoft.com/office/drawing/2014/main" id="{A7EEB030-0582-4BD6-B4C5-29D9F76A48C6}"/>
              </a:ext>
            </a:extLst>
          </p:cNvPr>
          <p:cNvSpPr txBox="1"/>
          <p:nvPr/>
        </p:nvSpPr>
        <p:spPr>
          <a:xfrm>
            <a:off x="6288663" y="2955428"/>
            <a:ext cx="4181872" cy="523220"/>
          </a:xfrm>
          <a:prstGeom prst="rect">
            <a:avLst/>
          </a:prstGeom>
          <a:noFill/>
        </p:spPr>
        <p:txBody>
          <a:bodyPr wrap="square" rtlCol="0">
            <a:spAutoFit/>
          </a:bodyPr>
          <a:lstStyle/>
          <a:p>
            <a:r>
              <a:rPr lang="pt-PT" sz="1400" b="1" dirty="0">
                <a:solidFill>
                  <a:srgbClr val="00AEEF"/>
                </a:solidFill>
                <a:latin typeface="Trebuchet MS" panose="020B0603020202020204" pitchFamily="34" charset="0"/>
                <a:ea typeface="Verdana" panose="020B0604030504040204" pitchFamily="34" charset="0"/>
              </a:rPr>
              <a:t>FÍSICOS</a:t>
            </a:r>
          </a:p>
          <a:p>
            <a:r>
              <a:rPr lang="pt-PT" sz="1400" dirty="0" err="1">
                <a:latin typeface="Trebuchet MS" panose="020B0603020202020204" pitchFamily="34" charset="0"/>
                <a:ea typeface="Verdana" panose="020B0604030504040204" pitchFamily="34" charset="0"/>
              </a:rPr>
              <a:t>Actividad</a:t>
            </a:r>
            <a:r>
              <a:rPr lang="pt-PT" sz="1400" dirty="0">
                <a:latin typeface="Trebuchet MS" panose="020B0603020202020204" pitchFamily="34" charset="0"/>
                <a:ea typeface="Verdana" panose="020B0604030504040204" pitchFamily="34" charset="0"/>
              </a:rPr>
              <a:t> física intensa, fatiga/</a:t>
            </a:r>
            <a:r>
              <a:rPr lang="pt-PT" sz="1400" dirty="0" err="1">
                <a:latin typeface="Trebuchet MS" panose="020B0603020202020204" pitchFamily="34" charset="0"/>
                <a:ea typeface="Verdana" panose="020B0604030504040204" pitchFamily="34" charset="0"/>
              </a:rPr>
              <a:t>cansancio</a:t>
            </a:r>
            <a:endParaRPr lang="pt-PT" sz="1400" dirty="0">
              <a:latin typeface="Trebuchet MS" panose="020B0603020202020204" pitchFamily="34" charset="0"/>
              <a:ea typeface="Verdana" panose="020B0604030504040204" pitchFamily="34" charset="0"/>
            </a:endParaRPr>
          </a:p>
        </p:txBody>
      </p:sp>
      <p:sp>
        <p:nvSpPr>
          <p:cNvPr id="127" name="Freeform: Shape 126">
            <a:extLst>
              <a:ext uri="{FF2B5EF4-FFF2-40B4-BE49-F238E27FC236}">
                <a16:creationId xmlns:a16="http://schemas.microsoft.com/office/drawing/2014/main" id="{A2414590-9D19-4190-B664-1B39E29A9A21}"/>
              </a:ext>
            </a:extLst>
          </p:cNvPr>
          <p:cNvSpPr/>
          <p:nvPr/>
        </p:nvSpPr>
        <p:spPr>
          <a:xfrm flipH="1">
            <a:off x="5810717" y="3732171"/>
            <a:ext cx="6381283" cy="773410"/>
          </a:xfrm>
          <a:custGeom>
            <a:avLst/>
            <a:gdLst>
              <a:gd name="connsiteX0" fmla="*/ 7305142 w 7400400"/>
              <a:gd name="connsiteY0" fmla="*/ 0 h 1371601"/>
              <a:gd name="connsiteX1" fmla="*/ 0 w 7400400"/>
              <a:gd name="connsiteY1" fmla="*/ 0 h 1371601"/>
              <a:gd name="connsiteX2" fmla="*/ 0 w 7400400"/>
              <a:gd name="connsiteY2" fmla="*/ 1371601 h 1371601"/>
              <a:gd name="connsiteX3" fmla="*/ 7305142 w 7400400"/>
              <a:gd name="connsiteY3" fmla="*/ 1371601 h 1371601"/>
              <a:gd name="connsiteX4" fmla="*/ 7400400 w 7400400"/>
              <a:gd name="connsiteY4" fmla="*/ 1276343 h 1371601"/>
              <a:gd name="connsiteX5" fmla="*/ 7400400 w 7400400"/>
              <a:gd name="connsiteY5" fmla="*/ 95258 h 1371601"/>
              <a:gd name="connsiteX6" fmla="*/ 7305142 w 7400400"/>
              <a:gd name="connsiteY6" fmla="*/ 0 h 1371601"/>
              <a:gd name="connsiteX0" fmla="*/ 7305146 w 7400404"/>
              <a:gd name="connsiteY0" fmla="*/ 0 h 1371601"/>
              <a:gd name="connsiteX1" fmla="*/ 4 w 7400404"/>
              <a:gd name="connsiteY1" fmla="*/ 0 h 1371601"/>
              <a:gd name="connsiteX2" fmla="*/ 0 w 7400404"/>
              <a:gd name="connsiteY2" fmla="*/ 709484 h 1371601"/>
              <a:gd name="connsiteX3" fmla="*/ 4 w 7400404"/>
              <a:gd name="connsiteY3" fmla="*/ 1371601 h 1371601"/>
              <a:gd name="connsiteX4" fmla="*/ 7305146 w 7400404"/>
              <a:gd name="connsiteY4" fmla="*/ 1371601 h 1371601"/>
              <a:gd name="connsiteX5" fmla="*/ 7400404 w 7400404"/>
              <a:gd name="connsiteY5" fmla="*/ 1276343 h 1371601"/>
              <a:gd name="connsiteX6" fmla="*/ 7400404 w 7400404"/>
              <a:gd name="connsiteY6" fmla="*/ 95258 h 1371601"/>
              <a:gd name="connsiteX7" fmla="*/ 7305146 w 7400404"/>
              <a:gd name="connsiteY7" fmla="*/ 0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7" fmla="*/ 91440 w 7400404"/>
              <a:gd name="connsiteY7" fmla="*/ 800924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0" fmla="*/ 0 w 7400400"/>
              <a:gd name="connsiteY0" fmla="*/ 1371601 h 1371601"/>
              <a:gd name="connsiteX1" fmla="*/ 7305142 w 7400400"/>
              <a:gd name="connsiteY1" fmla="*/ 1371601 h 1371601"/>
              <a:gd name="connsiteX2" fmla="*/ 7400400 w 7400400"/>
              <a:gd name="connsiteY2" fmla="*/ 1276343 h 1371601"/>
              <a:gd name="connsiteX3" fmla="*/ 7400400 w 7400400"/>
              <a:gd name="connsiteY3" fmla="*/ 95258 h 1371601"/>
              <a:gd name="connsiteX4" fmla="*/ 7305142 w 7400400"/>
              <a:gd name="connsiteY4" fmla="*/ 0 h 1371601"/>
              <a:gd name="connsiteX5" fmla="*/ 0 w 7400400"/>
              <a:gd name="connsiteY5" fmla="*/ 0 h 1371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00400" h="1371601">
                <a:moveTo>
                  <a:pt x="0" y="1371601"/>
                </a:moveTo>
                <a:lnTo>
                  <a:pt x="7305142" y="1371601"/>
                </a:lnTo>
                <a:cubicBezTo>
                  <a:pt x="7357752" y="1371601"/>
                  <a:pt x="7400400" y="1328953"/>
                  <a:pt x="7400400" y="1276343"/>
                </a:cubicBezTo>
                <a:lnTo>
                  <a:pt x="7400400" y="95258"/>
                </a:lnTo>
                <a:cubicBezTo>
                  <a:pt x="7400400" y="42648"/>
                  <a:pt x="7357752" y="0"/>
                  <a:pt x="7305142" y="0"/>
                </a:cubicBezTo>
                <a:lnTo>
                  <a:pt x="0" y="0"/>
                </a:lnTo>
              </a:path>
            </a:pathLst>
          </a:custGeom>
          <a:solidFill>
            <a:schemeClr val="bg1"/>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5000"/>
              </a:lnSpc>
            </a:pPr>
            <a:endParaRPr lang="en-US">
              <a:solidFill>
                <a:srgbClr val="FFFFFF"/>
              </a:solidFill>
              <a:latin typeface="Verdana"/>
            </a:endParaRPr>
          </a:p>
        </p:txBody>
      </p:sp>
      <p:sp>
        <p:nvSpPr>
          <p:cNvPr id="131" name="TextBox 130">
            <a:extLst>
              <a:ext uri="{FF2B5EF4-FFF2-40B4-BE49-F238E27FC236}">
                <a16:creationId xmlns:a16="http://schemas.microsoft.com/office/drawing/2014/main" id="{957972E9-A660-41A6-B757-9DADBC82BDD6}"/>
              </a:ext>
            </a:extLst>
          </p:cNvPr>
          <p:cNvSpPr txBox="1"/>
          <p:nvPr/>
        </p:nvSpPr>
        <p:spPr>
          <a:xfrm>
            <a:off x="6314949" y="3855297"/>
            <a:ext cx="4660909" cy="523220"/>
          </a:xfrm>
          <a:prstGeom prst="rect">
            <a:avLst/>
          </a:prstGeom>
          <a:noFill/>
        </p:spPr>
        <p:txBody>
          <a:bodyPr wrap="square" rtlCol="0">
            <a:spAutoFit/>
          </a:bodyPr>
          <a:lstStyle/>
          <a:p>
            <a:r>
              <a:rPr lang="pt-PT" sz="1400" b="1" dirty="0">
                <a:solidFill>
                  <a:srgbClr val="00AEEF"/>
                </a:solidFill>
                <a:latin typeface="Trebuchet MS" panose="020B0603020202020204" pitchFamily="34" charset="0"/>
                <a:ea typeface="Verdana" panose="020B0604030504040204" pitchFamily="34" charset="0"/>
              </a:rPr>
              <a:t>PSICOLÓGICOS</a:t>
            </a:r>
          </a:p>
          <a:p>
            <a:r>
              <a:rPr lang="es-ES" sz="1400" dirty="0">
                <a:latin typeface="Trebuchet MS" panose="020B0603020202020204" pitchFamily="34" charset="0"/>
                <a:ea typeface="Verdana" panose="020B0604030504040204" pitchFamily="34" charset="0"/>
              </a:rPr>
              <a:t>Estrés (y relajamiento </a:t>
            </a:r>
            <a:r>
              <a:rPr lang="es-ES" sz="1400" dirty="0" err="1">
                <a:latin typeface="Trebuchet MS" panose="020B0603020202020204" pitchFamily="34" charset="0"/>
                <a:ea typeface="Verdana" panose="020B0604030504040204" pitchFamily="34" charset="0"/>
              </a:rPr>
              <a:t>posestrés</a:t>
            </a:r>
            <a:r>
              <a:rPr lang="es-ES" sz="1400" dirty="0">
                <a:latin typeface="Trebuchet MS" panose="020B0603020202020204" pitchFamily="34" charset="0"/>
                <a:ea typeface="Verdana" panose="020B0604030504040204" pitchFamily="34" charset="0"/>
              </a:rPr>
              <a:t>), ansiedad, depresión</a:t>
            </a:r>
          </a:p>
        </p:txBody>
      </p:sp>
      <p:sp>
        <p:nvSpPr>
          <p:cNvPr id="134" name="Freeform: Shape 133">
            <a:extLst>
              <a:ext uri="{FF2B5EF4-FFF2-40B4-BE49-F238E27FC236}">
                <a16:creationId xmlns:a16="http://schemas.microsoft.com/office/drawing/2014/main" id="{E34DFFB5-55CD-4428-BBC7-1C771CD69280}"/>
              </a:ext>
            </a:extLst>
          </p:cNvPr>
          <p:cNvSpPr/>
          <p:nvPr/>
        </p:nvSpPr>
        <p:spPr>
          <a:xfrm flipH="1">
            <a:off x="5811738" y="4580030"/>
            <a:ext cx="6380262" cy="785154"/>
          </a:xfrm>
          <a:custGeom>
            <a:avLst/>
            <a:gdLst>
              <a:gd name="connsiteX0" fmla="*/ 7305142 w 7400400"/>
              <a:gd name="connsiteY0" fmla="*/ 0 h 1371601"/>
              <a:gd name="connsiteX1" fmla="*/ 0 w 7400400"/>
              <a:gd name="connsiteY1" fmla="*/ 0 h 1371601"/>
              <a:gd name="connsiteX2" fmla="*/ 0 w 7400400"/>
              <a:gd name="connsiteY2" fmla="*/ 1371601 h 1371601"/>
              <a:gd name="connsiteX3" fmla="*/ 7305142 w 7400400"/>
              <a:gd name="connsiteY3" fmla="*/ 1371601 h 1371601"/>
              <a:gd name="connsiteX4" fmla="*/ 7400400 w 7400400"/>
              <a:gd name="connsiteY4" fmla="*/ 1276343 h 1371601"/>
              <a:gd name="connsiteX5" fmla="*/ 7400400 w 7400400"/>
              <a:gd name="connsiteY5" fmla="*/ 95258 h 1371601"/>
              <a:gd name="connsiteX6" fmla="*/ 7305142 w 7400400"/>
              <a:gd name="connsiteY6" fmla="*/ 0 h 1371601"/>
              <a:gd name="connsiteX0" fmla="*/ 7305146 w 7400404"/>
              <a:gd name="connsiteY0" fmla="*/ 0 h 1371601"/>
              <a:gd name="connsiteX1" fmla="*/ 4 w 7400404"/>
              <a:gd name="connsiteY1" fmla="*/ 0 h 1371601"/>
              <a:gd name="connsiteX2" fmla="*/ 0 w 7400404"/>
              <a:gd name="connsiteY2" fmla="*/ 709484 h 1371601"/>
              <a:gd name="connsiteX3" fmla="*/ 4 w 7400404"/>
              <a:gd name="connsiteY3" fmla="*/ 1371601 h 1371601"/>
              <a:gd name="connsiteX4" fmla="*/ 7305146 w 7400404"/>
              <a:gd name="connsiteY4" fmla="*/ 1371601 h 1371601"/>
              <a:gd name="connsiteX5" fmla="*/ 7400404 w 7400404"/>
              <a:gd name="connsiteY5" fmla="*/ 1276343 h 1371601"/>
              <a:gd name="connsiteX6" fmla="*/ 7400404 w 7400404"/>
              <a:gd name="connsiteY6" fmla="*/ 95258 h 1371601"/>
              <a:gd name="connsiteX7" fmla="*/ 7305146 w 7400404"/>
              <a:gd name="connsiteY7" fmla="*/ 0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7" fmla="*/ 91440 w 7400404"/>
              <a:gd name="connsiteY7" fmla="*/ 800924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0" fmla="*/ 0 w 7400400"/>
              <a:gd name="connsiteY0" fmla="*/ 1371601 h 1371601"/>
              <a:gd name="connsiteX1" fmla="*/ 7305142 w 7400400"/>
              <a:gd name="connsiteY1" fmla="*/ 1371601 h 1371601"/>
              <a:gd name="connsiteX2" fmla="*/ 7400400 w 7400400"/>
              <a:gd name="connsiteY2" fmla="*/ 1276343 h 1371601"/>
              <a:gd name="connsiteX3" fmla="*/ 7400400 w 7400400"/>
              <a:gd name="connsiteY3" fmla="*/ 95258 h 1371601"/>
              <a:gd name="connsiteX4" fmla="*/ 7305142 w 7400400"/>
              <a:gd name="connsiteY4" fmla="*/ 0 h 1371601"/>
              <a:gd name="connsiteX5" fmla="*/ 0 w 7400400"/>
              <a:gd name="connsiteY5" fmla="*/ 0 h 1371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00400" h="1371601">
                <a:moveTo>
                  <a:pt x="0" y="1371601"/>
                </a:moveTo>
                <a:lnTo>
                  <a:pt x="7305142" y="1371601"/>
                </a:lnTo>
                <a:cubicBezTo>
                  <a:pt x="7357752" y="1371601"/>
                  <a:pt x="7400400" y="1328953"/>
                  <a:pt x="7400400" y="1276343"/>
                </a:cubicBezTo>
                <a:lnTo>
                  <a:pt x="7400400" y="95258"/>
                </a:lnTo>
                <a:cubicBezTo>
                  <a:pt x="7400400" y="42648"/>
                  <a:pt x="7357752" y="0"/>
                  <a:pt x="7305142" y="0"/>
                </a:cubicBezTo>
                <a:lnTo>
                  <a:pt x="0" y="0"/>
                </a:lnTo>
              </a:path>
            </a:pathLst>
          </a:custGeom>
          <a:solidFill>
            <a:schemeClr val="bg1"/>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5000"/>
              </a:lnSpc>
            </a:pPr>
            <a:endParaRPr lang="en-US">
              <a:solidFill>
                <a:srgbClr val="FFFFFF"/>
              </a:solidFill>
              <a:latin typeface="Verdana"/>
            </a:endParaRPr>
          </a:p>
        </p:txBody>
      </p:sp>
      <p:sp>
        <p:nvSpPr>
          <p:cNvPr id="136" name="TextBox 135">
            <a:extLst>
              <a:ext uri="{FF2B5EF4-FFF2-40B4-BE49-F238E27FC236}">
                <a16:creationId xmlns:a16="http://schemas.microsoft.com/office/drawing/2014/main" id="{03AFB372-CF36-4812-828E-60A6FB2ECE73}"/>
              </a:ext>
            </a:extLst>
          </p:cNvPr>
          <p:cNvSpPr txBox="1"/>
          <p:nvPr/>
        </p:nvSpPr>
        <p:spPr>
          <a:xfrm>
            <a:off x="6342361" y="4703156"/>
            <a:ext cx="5146023" cy="523220"/>
          </a:xfrm>
          <a:prstGeom prst="rect">
            <a:avLst/>
          </a:prstGeom>
          <a:noFill/>
        </p:spPr>
        <p:txBody>
          <a:bodyPr wrap="square" rtlCol="0">
            <a:spAutoFit/>
          </a:bodyPr>
          <a:lstStyle/>
          <a:p>
            <a:r>
              <a:rPr lang="pt-PT" sz="1400" b="1" dirty="0">
                <a:solidFill>
                  <a:srgbClr val="00AEEF"/>
                </a:solidFill>
                <a:latin typeface="Trebuchet MS" panose="020B0603020202020204" pitchFamily="34" charset="0"/>
                <a:ea typeface="Verdana" panose="020B0604030504040204" pitchFamily="34" charset="0"/>
              </a:rPr>
              <a:t>ESTÍMULOS SENSORIALES</a:t>
            </a:r>
          </a:p>
          <a:p>
            <a:r>
              <a:rPr lang="pt-PT" sz="1400" dirty="0" err="1">
                <a:latin typeface="Trebuchet MS" panose="020B0603020202020204" pitchFamily="34" charset="0"/>
                <a:ea typeface="Verdana" panose="020B0604030504040204" pitchFamily="34" charset="0"/>
              </a:rPr>
              <a:t>Luces</a:t>
            </a:r>
            <a:r>
              <a:rPr lang="pt-PT" sz="1400" dirty="0">
                <a:latin typeface="Trebuchet MS" panose="020B0603020202020204" pitchFamily="34" charset="0"/>
                <a:ea typeface="Verdana" panose="020B0604030504040204" pitchFamily="34" charset="0"/>
              </a:rPr>
              <a:t> </a:t>
            </a:r>
            <a:r>
              <a:rPr lang="pt-PT" sz="1400" dirty="0" err="1">
                <a:latin typeface="Trebuchet MS" panose="020B0603020202020204" pitchFamily="34" charset="0"/>
                <a:ea typeface="Verdana" panose="020B0604030504040204" pitchFamily="34" charset="0"/>
              </a:rPr>
              <a:t>brillantes</a:t>
            </a:r>
            <a:r>
              <a:rPr lang="pt-PT" sz="1400" dirty="0">
                <a:latin typeface="Trebuchet MS" panose="020B0603020202020204" pitchFamily="34" charset="0"/>
                <a:ea typeface="Verdana" panose="020B0604030504040204" pitchFamily="34" charset="0"/>
              </a:rPr>
              <a:t> o intermitentes, </a:t>
            </a:r>
            <a:r>
              <a:rPr lang="pt-PT" sz="1400" dirty="0" err="1">
                <a:latin typeface="Trebuchet MS" panose="020B0603020202020204" pitchFamily="34" charset="0"/>
                <a:ea typeface="Verdana" panose="020B0604030504040204" pitchFamily="34" charset="0"/>
              </a:rPr>
              <a:t>ruidos</a:t>
            </a:r>
            <a:r>
              <a:rPr lang="pt-PT" sz="1400" dirty="0">
                <a:latin typeface="Trebuchet MS" panose="020B0603020202020204" pitchFamily="34" charset="0"/>
                <a:ea typeface="Verdana" panose="020B0604030504040204" pitchFamily="34" charset="0"/>
              </a:rPr>
              <a:t> y olores intensos</a:t>
            </a:r>
          </a:p>
        </p:txBody>
      </p:sp>
      <p:sp>
        <p:nvSpPr>
          <p:cNvPr id="144" name="Freeform: Shape 143">
            <a:extLst>
              <a:ext uri="{FF2B5EF4-FFF2-40B4-BE49-F238E27FC236}">
                <a16:creationId xmlns:a16="http://schemas.microsoft.com/office/drawing/2014/main" id="{21BDFE82-04CE-4878-9262-2D961D6E9997}"/>
              </a:ext>
            </a:extLst>
          </p:cNvPr>
          <p:cNvSpPr/>
          <p:nvPr/>
        </p:nvSpPr>
        <p:spPr>
          <a:xfrm flipH="1">
            <a:off x="5810492" y="5464557"/>
            <a:ext cx="6381508" cy="785154"/>
          </a:xfrm>
          <a:custGeom>
            <a:avLst/>
            <a:gdLst>
              <a:gd name="connsiteX0" fmla="*/ 7305142 w 7400400"/>
              <a:gd name="connsiteY0" fmla="*/ 0 h 1371601"/>
              <a:gd name="connsiteX1" fmla="*/ 0 w 7400400"/>
              <a:gd name="connsiteY1" fmla="*/ 0 h 1371601"/>
              <a:gd name="connsiteX2" fmla="*/ 0 w 7400400"/>
              <a:gd name="connsiteY2" fmla="*/ 1371601 h 1371601"/>
              <a:gd name="connsiteX3" fmla="*/ 7305142 w 7400400"/>
              <a:gd name="connsiteY3" fmla="*/ 1371601 h 1371601"/>
              <a:gd name="connsiteX4" fmla="*/ 7400400 w 7400400"/>
              <a:gd name="connsiteY4" fmla="*/ 1276343 h 1371601"/>
              <a:gd name="connsiteX5" fmla="*/ 7400400 w 7400400"/>
              <a:gd name="connsiteY5" fmla="*/ 95258 h 1371601"/>
              <a:gd name="connsiteX6" fmla="*/ 7305142 w 7400400"/>
              <a:gd name="connsiteY6" fmla="*/ 0 h 1371601"/>
              <a:gd name="connsiteX0" fmla="*/ 7305146 w 7400404"/>
              <a:gd name="connsiteY0" fmla="*/ 0 h 1371601"/>
              <a:gd name="connsiteX1" fmla="*/ 4 w 7400404"/>
              <a:gd name="connsiteY1" fmla="*/ 0 h 1371601"/>
              <a:gd name="connsiteX2" fmla="*/ 0 w 7400404"/>
              <a:gd name="connsiteY2" fmla="*/ 709484 h 1371601"/>
              <a:gd name="connsiteX3" fmla="*/ 4 w 7400404"/>
              <a:gd name="connsiteY3" fmla="*/ 1371601 h 1371601"/>
              <a:gd name="connsiteX4" fmla="*/ 7305146 w 7400404"/>
              <a:gd name="connsiteY4" fmla="*/ 1371601 h 1371601"/>
              <a:gd name="connsiteX5" fmla="*/ 7400404 w 7400404"/>
              <a:gd name="connsiteY5" fmla="*/ 1276343 h 1371601"/>
              <a:gd name="connsiteX6" fmla="*/ 7400404 w 7400404"/>
              <a:gd name="connsiteY6" fmla="*/ 95258 h 1371601"/>
              <a:gd name="connsiteX7" fmla="*/ 7305146 w 7400404"/>
              <a:gd name="connsiteY7" fmla="*/ 0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7" fmla="*/ 91440 w 7400404"/>
              <a:gd name="connsiteY7" fmla="*/ 800924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0" fmla="*/ 0 w 7400400"/>
              <a:gd name="connsiteY0" fmla="*/ 1371601 h 1371601"/>
              <a:gd name="connsiteX1" fmla="*/ 7305142 w 7400400"/>
              <a:gd name="connsiteY1" fmla="*/ 1371601 h 1371601"/>
              <a:gd name="connsiteX2" fmla="*/ 7400400 w 7400400"/>
              <a:gd name="connsiteY2" fmla="*/ 1276343 h 1371601"/>
              <a:gd name="connsiteX3" fmla="*/ 7400400 w 7400400"/>
              <a:gd name="connsiteY3" fmla="*/ 95258 h 1371601"/>
              <a:gd name="connsiteX4" fmla="*/ 7305142 w 7400400"/>
              <a:gd name="connsiteY4" fmla="*/ 0 h 1371601"/>
              <a:gd name="connsiteX5" fmla="*/ 0 w 7400400"/>
              <a:gd name="connsiteY5" fmla="*/ 0 h 1371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00400" h="1371601">
                <a:moveTo>
                  <a:pt x="0" y="1371601"/>
                </a:moveTo>
                <a:lnTo>
                  <a:pt x="7305142" y="1371601"/>
                </a:lnTo>
                <a:cubicBezTo>
                  <a:pt x="7357752" y="1371601"/>
                  <a:pt x="7400400" y="1328953"/>
                  <a:pt x="7400400" y="1276343"/>
                </a:cubicBezTo>
                <a:lnTo>
                  <a:pt x="7400400" y="95258"/>
                </a:lnTo>
                <a:cubicBezTo>
                  <a:pt x="7400400" y="42648"/>
                  <a:pt x="7357752" y="0"/>
                  <a:pt x="7305142" y="0"/>
                </a:cubicBezTo>
                <a:lnTo>
                  <a:pt x="0" y="0"/>
                </a:lnTo>
              </a:path>
            </a:pathLst>
          </a:custGeom>
          <a:solidFill>
            <a:schemeClr val="bg1"/>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5000"/>
              </a:lnSpc>
            </a:pPr>
            <a:endParaRPr lang="en-US" dirty="0">
              <a:solidFill>
                <a:srgbClr val="FFFFFF"/>
              </a:solidFill>
              <a:latin typeface="Verdana"/>
            </a:endParaRPr>
          </a:p>
        </p:txBody>
      </p:sp>
      <p:sp>
        <p:nvSpPr>
          <p:cNvPr id="154" name="TextBox 153">
            <a:extLst>
              <a:ext uri="{FF2B5EF4-FFF2-40B4-BE49-F238E27FC236}">
                <a16:creationId xmlns:a16="http://schemas.microsoft.com/office/drawing/2014/main" id="{3E585EB0-8FD5-4E6C-86CB-EFD4A3C08E24}"/>
              </a:ext>
            </a:extLst>
          </p:cNvPr>
          <p:cNvSpPr txBox="1"/>
          <p:nvPr/>
        </p:nvSpPr>
        <p:spPr>
          <a:xfrm>
            <a:off x="6341115" y="5561556"/>
            <a:ext cx="5146023" cy="523220"/>
          </a:xfrm>
          <a:prstGeom prst="rect">
            <a:avLst/>
          </a:prstGeom>
          <a:noFill/>
        </p:spPr>
        <p:txBody>
          <a:bodyPr wrap="square" rtlCol="0">
            <a:spAutoFit/>
          </a:bodyPr>
          <a:lstStyle/>
          <a:p>
            <a:r>
              <a:rPr lang="pt-PT" sz="1400" b="1" dirty="0">
                <a:solidFill>
                  <a:srgbClr val="00AEEF"/>
                </a:solidFill>
                <a:latin typeface="Trebuchet MS" panose="020B0603020202020204" pitchFamily="34" charset="0"/>
                <a:ea typeface="Verdana" panose="020B0604030504040204" pitchFamily="34" charset="0"/>
              </a:rPr>
              <a:t>ALTERACIONES AMBIENTALES</a:t>
            </a:r>
          </a:p>
          <a:p>
            <a:r>
              <a:rPr lang="pt-PT" sz="1400" dirty="0" err="1">
                <a:latin typeface="Trebuchet MS" panose="020B0603020202020204" pitchFamily="34" charset="0"/>
                <a:ea typeface="Verdana" panose="020B0604030504040204" pitchFamily="34" charset="0"/>
              </a:rPr>
              <a:t>Presión</a:t>
            </a:r>
            <a:r>
              <a:rPr lang="pt-PT" sz="1400" dirty="0">
                <a:latin typeface="Trebuchet MS" panose="020B0603020202020204" pitchFamily="34" charset="0"/>
                <a:ea typeface="Verdana" panose="020B0604030504040204" pitchFamily="34" charset="0"/>
              </a:rPr>
              <a:t>, temperatura, humo/</a:t>
            </a:r>
            <a:r>
              <a:rPr lang="pt-PT" sz="1400" dirty="0" err="1">
                <a:latin typeface="Trebuchet MS" panose="020B0603020202020204" pitchFamily="34" charset="0"/>
                <a:ea typeface="Verdana" panose="020B0604030504040204" pitchFamily="34" charset="0"/>
              </a:rPr>
              <a:t>contaminación</a:t>
            </a:r>
            <a:endParaRPr lang="pt-PT" sz="1400" dirty="0">
              <a:latin typeface="Trebuchet MS" panose="020B0603020202020204" pitchFamily="34" charset="0"/>
              <a:ea typeface="Verdana" panose="020B0604030504040204" pitchFamily="34" charset="0"/>
            </a:endParaRPr>
          </a:p>
        </p:txBody>
      </p:sp>
      <p:sp>
        <p:nvSpPr>
          <p:cNvPr id="65" name="TextBox 64">
            <a:extLst>
              <a:ext uri="{FF2B5EF4-FFF2-40B4-BE49-F238E27FC236}">
                <a16:creationId xmlns:a16="http://schemas.microsoft.com/office/drawing/2014/main" id="{79B70301-D292-471A-AF3D-AEDD7F30298C}"/>
              </a:ext>
            </a:extLst>
          </p:cNvPr>
          <p:cNvSpPr txBox="1"/>
          <p:nvPr/>
        </p:nvSpPr>
        <p:spPr>
          <a:xfrm>
            <a:off x="141302" y="580642"/>
            <a:ext cx="4159743" cy="824841"/>
          </a:xfrm>
          <a:prstGeom prst="rect">
            <a:avLst/>
          </a:prstGeom>
          <a:noFill/>
        </p:spPr>
        <p:txBody>
          <a:bodyPr wrap="square" rtlCol="0">
            <a:spAutoFit/>
          </a:bodyPr>
          <a:lstStyle/>
          <a:p>
            <a:pPr lvl="0">
              <a:lnSpc>
                <a:spcPct val="85000"/>
              </a:lnSpc>
              <a:defRPr/>
            </a:pPr>
            <a:r>
              <a:rPr lang="pt-PT" sz="2800" b="1" spc="300" noProof="0" dirty="0">
                <a:solidFill>
                  <a:schemeClr val="bg1"/>
                </a:solidFill>
                <a:latin typeface="Trebuchet MS" panose="020B0603020202020204" pitchFamily="34" charset="0"/>
                <a:ea typeface="Verdana" panose="020B0604030504040204" pitchFamily="34" charset="0"/>
                <a:cs typeface="Zilla Slab Light"/>
                <a:sym typeface="Zilla Slab Light"/>
              </a:rPr>
              <a:t>FACTORES DESENVADENANTES</a:t>
            </a:r>
            <a:endParaRPr kumimoji="0" lang="en-US" sz="2800" b="1" i="0" u="none" strike="noStrike" kern="1200" cap="none" spc="300" normalizeH="0" baseline="30000" noProof="0" dirty="0">
              <a:ln>
                <a:noFill/>
              </a:ln>
              <a:solidFill>
                <a:schemeClr val="bg1"/>
              </a:solidFill>
              <a:uLnTx/>
              <a:uFillTx/>
              <a:latin typeface="Trebuchet MS" panose="020B0603020202020204" pitchFamily="34" charset="0"/>
              <a:ea typeface="Verdana" panose="020B0604030504040204" pitchFamily="34" charset="0"/>
              <a:cs typeface="Zilla Slab Light"/>
              <a:sym typeface="Zilla Slab Light"/>
            </a:endParaRPr>
          </a:p>
        </p:txBody>
      </p:sp>
      <p:pic>
        <p:nvPicPr>
          <p:cNvPr id="77" name="Graphic 76">
            <a:extLst>
              <a:ext uri="{FF2B5EF4-FFF2-40B4-BE49-F238E27FC236}">
                <a16:creationId xmlns:a16="http://schemas.microsoft.com/office/drawing/2014/main" id="{C160EDDD-BB3E-426D-8741-7F98B686E9B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40828" y="2130670"/>
            <a:ext cx="555172" cy="508908"/>
          </a:xfrm>
          <a:prstGeom prst="rect">
            <a:avLst/>
          </a:prstGeom>
        </p:spPr>
      </p:pic>
      <p:pic>
        <p:nvPicPr>
          <p:cNvPr id="78" name="Graphic 77">
            <a:extLst>
              <a:ext uri="{FF2B5EF4-FFF2-40B4-BE49-F238E27FC236}">
                <a16:creationId xmlns:a16="http://schemas.microsoft.com/office/drawing/2014/main" id="{DD2DA083-D51C-4D1D-877B-C71F36D886F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02035" y="155208"/>
            <a:ext cx="693965" cy="647700"/>
          </a:xfrm>
          <a:prstGeom prst="rect">
            <a:avLst/>
          </a:prstGeom>
        </p:spPr>
      </p:pic>
      <p:pic>
        <p:nvPicPr>
          <p:cNvPr id="81" name="Graphic 80">
            <a:extLst>
              <a:ext uri="{FF2B5EF4-FFF2-40B4-BE49-F238E27FC236}">
                <a16:creationId xmlns:a16="http://schemas.microsoft.com/office/drawing/2014/main" id="{54A6EAE8-B58B-4A88-ABB8-648CF66AF67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426621" y="1115470"/>
            <a:ext cx="740228" cy="508908"/>
          </a:xfrm>
          <a:prstGeom prst="rect">
            <a:avLst/>
          </a:prstGeom>
        </p:spPr>
      </p:pic>
      <p:pic>
        <p:nvPicPr>
          <p:cNvPr id="82" name="Graphic 81">
            <a:extLst>
              <a:ext uri="{FF2B5EF4-FFF2-40B4-BE49-F238E27FC236}">
                <a16:creationId xmlns:a16="http://schemas.microsoft.com/office/drawing/2014/main" id="{4724E67D-6982-412B-8AA4-CB4D4F2AD40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633357" y="2935549"/>
            <a:ext cx="462643" cy="578304"/>
          </a:xfrm>
          <a:prstGeom prst="rect">
            <a:avLst/>
          </a:prstGeom>
        </p:spPr>
      </p:pic>
      <p:pic>
        <p:nvPicPr>
          <p:cNvPr id="83" name="Graphic 82">
            <a:extLst>
              <a:ext uri="{FF2B5EF4-FFF2-40B4-BE49-F238E27FC236}">
                <a16:creationId xmlns:a16="http://schemas.microsoft.com/office/drawing/2014/main" id="{9CB446A4-67BC-4D72-A8FB-19B956A5964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540828" y="3829921"/>
            <a:ext cx="624568" cy="532039"/>
          </a:xfrm>
          <a:prstGeom prst="rect">
            <a:avLst/>
          </a:prstGeom>
        </p:spPr>
      </p:pic>
      <p:pic>
        <p:nvPicPr>
          <p:cNvPr id="84" name="Graphic 83">
            <a:extLst>
              <a:ext uri="{FF2B5EF4-FFF2-40B4-BE49-F238E27FC236}">
                <a16:creationId xmlns:a16="http://schemas.microsoft.com/office/drawing/2014/main" id="{1E38CD40-BBB4-4F25-8CD3-EA396D58D02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702753" y="5564330"/>
            <a:ext cx="323850" cy="578304"/>
          </a:xfrm>
          <a:prstGeom prst="rect">
            <a:avLst/>
          </a:prstGeom>
        </p:spPr>
      </p:pic>
      <p:sp>
        <p:nvSpPr>
          <p:cNvPr id="3" name="Lightning Bolt 2">
            <a:extLst>
              <a:ext uri="{FF2B5EF4-FFF2-40B4-BE49-F238E27FC236}">
                <a16:creationId xmlns:a16="http://schemas.microsoft.com/office/drawing/2014/main" id="{6CC9EA99-17AF-4D8A-8112-06AF155A397D}"/>
              </a:ext>
            </a:extLst>
          </p:cNvPr>
          <p:cNvSpPr/>
          <p:nvPr/>
        </p:nvSpPr>
        <p:spPr>
          <a:xfrm>
            <a:off x="5648567" y="4735292"/>
            <a:ext cx="323850" cy="492658"/>
          </a:xfrm>
          <a:prstGeom prst="lightningBolt">
            <a:avLst/>
          </a:prstGeom>
          <a:solidFill>
            <a:srgbClr val="004882"/>
          </a:solidFill>
          <a:ln>
            <a:solidFill>
              <a:srgbClr val="0048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rgbClr val="004882"/>
              </a:solidFill>
            </a:endParaRPr>
          </a:p>
        </p:txBody>
      </p:sp>
    </p:spTree>
    <p:extLst>
      <p:ext uri="{BB962C8B-B14F-4D97-AF65-F5344CB8AC3E}">
        <p14:creationId xmlns:p14="http://schemas.microsoft.com/office/powerpoint/2010/main" val="1630523571"/>
      </p:ext>
    </p:extLst>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 presetClass="entr" presetSubtype="0" fill="hold" grpId="0" nodeType="withEffect">
                                  <p:stCondLst>
                                    <p:cond delay="750"/>
                                  </p:stCondLst>
                                  <p:childTnLst>
                                    <p:set>
                                      <p:cBhvr>
                                        <p:cTn id="13" dur="1" fill="hold">
                                          <p:stCondLst>
                                            <p:cond delay="0"/>
                                          </p:stCondLst>
                                        </p:cTn>
                                        <p:tgtEl>
                                          <p:spTgt spid="186"/>
                                        </p:tgtEl>
                                        <p:attrNameLst>
                                          <p:attrName>style.visibility</p:attrName>
                                        </p:attrNameLst>
                                      </p:cBhvr>
                                      <p:to>
                                        <p:strVal val="visible"/>
                                      </p:to>
                                    </p:set>
                                  </p:childTnLst>
                                </p:cTn>
                              </p:par>
                              <p:par>
                                <p:cTn id="14" presetID="35" presetClass="path" presetSubtype="0" decel="100000" fill="hold" grpId="1" nodeType="withEffect">
                                  <p:stCondLst>
                                    <p:cond delay="750"/>
                                  </p:stCondLst>
                                  <p:childTnLst>
                                    <p:animMotion origin="layout" path="M 8.33333E-7 2.59259E-6 L -0.01667 2.59259E-6 " pathEditMode="relative" rAng="0" ptsTypes="AA">
                                      <p:cBhvr>
                                        <p:cTn id="15" dur="750" spd="-100000" fill="hold"/>
                                        <p:tgtEl>
                                          <p:spTgt spid="186"/>
                                        </p:tgtEl>
                                        <p:attrNameLst>
                                          <p:attrName>ppt_x</p:attrName>
                                          <p:attrName>ppt_y</p:attrName>
                                        </p:attrNameLst>
                                      </p:cBhvr>
                                      <p:rCtr x="-833" y="0"/>
                                    </p:animMotion>
                                  </p:childTnLst>
                                </p:cTn>
                              </p:par>
                              <p:par>
                                <p:cTn id="16" presetID="10" presetClass="entr" presetSubtype="0" fill="hold" grpId="0" nodeType="withEffect">
                                  <p:stCondLst>
                                    <p:cond delay="750"/>
                                  </p:stCondLst>
                                  <p:childTnLst>
                                    <p:set>
                                      <p:cBhvr>
                                        <p:cTn id="17" dur="1" fill="hold">
                                          <p:stCondLst>
                                            <p:cond delay="0"/>
                                          </p:stCondLst>
                                        </p:cTn>
                                        <p:tgtEl>
                                          <p:spTgt spid="198"/>
                                        </p:tgtEl>
                                        <p:attrNameLst>
                                          <p:attrName>style.visibility</p:attrName>
                                        </p:attrNameLst>
                                      </p:cBhvr>
                                      <p:to>
                                        <p:strVal val="visible"/>
                                      </p:to>
                                    </p:set>
                                    <p:animEffect transition="in" filter="fade">
                                      <p:cBhvr>
                                        <p:cTn id="18" dur="500"/>
                                        <p:tgtEl>
                                          <p:spTgt spid="198"/>
                                        </p:tgtEl>
                                      </p:cBhvr>
                                    </p:animEffect>
                                  </p:childTnLst>
                                </p:cTn>
                              </p:par>
                              <p:par>
                                <p:cTn id="19" presetID="10" presetClass="entr" presetSubtype="0" fill="hold" grpId="0" nodeType="withEffect">
                                  <p:stCondLst>
                                    <p:cond delay="1350"/>
                                  </p:stCondLst>
                                  <p:childTnLst>
                                    <p:set>
                                      <p:cBhvr>
                                        <p:cTn id="20" dur="1" fill="hold">
                                          <p:stCondLst>
                                            <p:cond delay="0"/>
                                          </p:stCondLst>
                                        </p:cTn>
                                        <p:tgtEl>
                                          <p:spTgt spid="161"/>
                                        </p:tgtEl>
                                        <p:attrNameLst>
                                          <p:attrName>style.visibility</p:attrName>
                                        </p:attrNameLst>
                                      </p:cBhvr>
                                      <p:to>
                                        <p:strVal val="visible"/>
                                      </p:to>
                                    </p:set>
                                    <p:animEffect transition="in" filter="fade">
                                      <p:cBhvr>
                                        <p:cTn id="21" dur="500"/>
                                        <p:tgtEl>
                                          <p:spTgt spid="161"/>
                                        </p:tgtEl>
                                      </p:cBhvr>
                                    </p:animEffect>
                                  </p:childTnLst>
                                </p:cTn>
                              </p:par>
                              <p:par>
                                <p:cTn id="22" presetID="10" presetClass="entr" presetSubtype="0" fill="hold" grpId="0" nodeType="withEffect">
                                  <p:stCondLst>
                                    <p:cond delay="1750"/>
                                  </p:stCondLst>
                                  <p:childTnLst>
                                    <p:set>
                                      <p:cBhvr>
                                        <p:cTn id="23" dur="1" fill="hold">
                                          <p:stCondLst>
                                            <p:cond delay="0"/>
                                          </p:stCondLst>
                                        </p:cTn>
                                        <p:tgtEl>
                                          <p:spTgt spid="223"/>
                                        </p:tgtEl>
                                        <p:attrNameLst>
                                          <p:attrName>style.visibility</p:attrName>
                                        </p:attrNameLst>
                                      </p:cBhvr>
                                      <p:to>
                                        <p:strVal val="visible"/>
                                      </p:to>
                                    </p:set>
                                    <p:animEffect transition="in" filter="fade">
                                      <p:cBhvr>
                                        <p:cTn id="24" dur="500"/>
                                        <p:tgtEl>
                                          <p:spTgt spid="223"/>
                                        </p:tgtEl>
                                      </p:cBhvr>
                                    </p:animEffect>
                                  </p:childTnLst>
                                </p:cTn>
                              </p:par>
                              <p:par>
                                <p:cTn id="25" presetID="10" presetClass="entr" presetSubtype="0" fill="hold" grpId="0" nodeType="withEffect">
                                  <p:stCondLst>
                                    <p:cond delay="750"/>
                                  </p:stCondLst>
                                  <p:childTnLst>
                                    <p:set>
                                      <p:cBhvr>
                                        <p:cTn id="26" dur="1" fill="hold">
                                          <p:stCondLst>
                                            <p:cond delay="0"/>
                                          </p:stCondLst>
                                        </p:cTn>
                                        <p:tgtEl>
                                          <p:spTgt spid="99"/>
                                        </p:tgtEl>
                                        <p:attrNameLst>
                                          <p:attrName>style.visibility</p:attrName>
                                        </p:attrNameLst>
                                      </p:cBhvr>
                                      <p:to>
                                        <p:strVal val="visible"/>
                                      </p:to>
                                    </p:set>
                                    <p:animEffect transition="in" filter="fade">
                                      <p:cBhvr>
                                        <p:cTn id="27" dur="500"/>
                                        <p:tgtEl>
                                          <p:spTgt spid="99"/>
                                        </p:tgtEl>
                                      </p:cBhvr>
                                    </p:animEffect>
                                  </p:childTnLst>
                                </p:cTn>
                              </p:par>
                              <p:par>
                                <p:cTn id="28" presetID="10" presetClass="entr" presetSubtype="0" fill="hold" grpId="0" nodeType="withEffect">
                                  <p:stCondLst>
                                    <p:cond delay="750"/>
                                  </p:stCondLst>
                                  <p:childTnLst>
                                    <p:set>
                                      <p:cBhvr>
                                        <p:cTn id="29" dur="1" fill="hold">
                                          <p:stCondLst>
                                            <p:cond delay="0"/>
                                          </p:stCondLst>
                                        </p:cTn>
                                        <p:tgtEl>
                                          <p:spTgt spid="106"/>
                                        </p:tgtEl>
                                        <p:attrNameLst>
                                          <p:attrName>style.visibility</p:attrName>
                                        </p:attrNameLst>
                                      </p:cBhvr>
                                      <p:to>
                                        <p:strVal val="visible"/>
                                      </p:to>
                                    </p:set>
                                    <p:animEffect transition="in" filter="fade">
                                      <p:cBhvr>
                                        <p:cTn id="30" dur="500"/>
                                        <p:tgtEl>
                                          <p:spTgt spid="106"/>
                                        </p:tgtEl>
                                      </p:cBhvr>
                                    </p:animEffect>
                                  </p:childTnLst>
                                </p:cTn>
                              </p:par>
                              <p:par>
                                <p:cTn id="31" presetID="10" presetClass="entr" presetSubtype="0" fill="hold" grpId="0" nodeType="withEffect">
                                  <p:stCondLst>
                                    <p:cond delay="750"/>
                                  </p:stCondLst>
                                  <p:childTnLst>
                                    <p:set>
                                      <p:cBhvr>
                                        <p:cTn id="32" dur="1" fill="hold">
                                          <p:stCondLst>
                                            <p:cond delay="0"/>
                                          </p:stCondLst>
                                        </p:cTn>
                                        <p:tgtEl>
                                          <p:spTgt spid="122"/>
                                        </p:tgtEl>
                                        <p:attrNameLst>
                                          <p:attrName>style.visibility</p:attrName>
                                        </p:attrNameLst>
                                      </p:cBhvr>
                                      <p:to>
                                        <p:strVal val="visible"/>
                                      </p:to>
                                    </p:set>
                                    <p:animEffect transition="in" filter="fade">
                                      <p:cBhvr>
                                        <p:cTn id="33" dur="500"/>
                                        <p:tgtEl>
                                          <p:spTgt spid="122"/>
                                        </p:tgtEl>
                                      </p:cBhvr>
                                    </p:animEffect>
                                  </p:childTnLst>
                                </p:cTn>
                              </p:par>
                              <p:par>
                                <p:cTn id="34" presetID="10" presetClass="entr" presetSubtype="0" fill="hold" grpId="0" nodeType="withEffect">
                                  <p:stCondLst>
                                    <p:cond delay="750"/>
                                  </p:stCondLst>
                                  <p:childTnLst>
                                    <p:set>
                                      <p:cBhvr>
                                        <p:cTn id="35" dur="1" fill="hold">
                                          <p:stCondLst>
                                            <p:cond delay="0"/>
                                          </p:stCondLst>
                                        </p:cTn>
                                        <p:tgtEl>
                                          <p:spTgt spid="127"/>
                                        </p:tgtEl>
                                        <p:attrNameLst>
                                          <p:attrName>style.visibility</p:attrName>
                                        </p:attrNameLst>
                                      </p:cBhvr>
                                      <p:to>
                                        <p:strVal val="visible"/>
                                      </p:to>
                                    </p:set>
                                    <p:animEffect transition="in" filter="fade">
                                      <p:cBhvr>
                                        <p:cTn id="36" dur="500"/>
                                        <p:tgtEl>
                                          <p:spTgt spid="127"/>
                                        </p:tgtEl>
                                      </p:cBhvr>
                                    </p:animEffect>
                                  </p:childTnLst>
                                </p:cTn>
                              </p:par>
                              <p:par>
                                <p:cTn id="37" presetID="10" presetClass="entr" presetSubtype="0" fill="hold" grpId="0" nodeType="withEffect">
                                  <p:stCondLst>
                                    <p:cond delay="750"/>
                                  </p:stCondLst>
                                  <p:childTnLst>
                                    <p:set>
                                      <p:cBhvr>
                                        <p:cTn id="38" dur="1" fill="hold">
                                          <p:stCondLst>
                                            <p:cond delay="0"/>
                                          </p:stCondLst>
                                        </p:cTn>
                                        <p:tgtEl>
                                          <p:spTgt spid="134"/>
                                        </p:tgtEl>
                                        <p:attrNameLst>
                                          <p:attrName>style.visibility</p:attrName>
                                        </p:attrNameLst>
                                      </p:cBhvr>
                                      <p:to>
                                        <p:strVal val="visible"/>
                                      </p:to>
                                    </p:set>
                                    <p:animEffect transition="in" filter="fade">
                                      <p:cBhvr>
                                        <p:cTn id="39" dur="500"/>
                                        <p:tgtEl>
                                          <p:spTgt spid="134"/>
                                        </p:tgtEl>
                                      </p:cBhvr>
                                    </p:animEffect>
                                  </p:childTnLst>
                                </p:cTn>
                              </p:par>
                              <p:par>
                                <p:cTn id="40" presetID="10" presetClass="entr" presetSubtype="0" fill="hold" grpId="0" nodeType="withEffect">
                                  <p:stCondLst>
                                    <p:cond delay="750"/>
                                  </p:stCondLst>
                                  <p:childTnLst>
                                    <p:set>
                                      <p:cBhvr>
                                        <p:cTn id="41" dur="1" fill="hold">
                                          <p:stCondLst>
                                            <p:cond delay="0"/>
                                          </p:stCondLst>
                                        </p:cTn>
                                        <p:tgtEl>
                                          <p:spTgt spid="144"/>
                                        </p:tgtEl>
                                        <p:attrNameLst>
                                          <p:attrName>style.visibility</p:attrName>
                                        </p:attrNameLst>
                                      </p:cBhvr>
                                      <p:to>
                                        <p:strVal val="visible"/>
                                      </p:to>
                                    </p:set>
                                    <p:animEffect transition="in" filter="fade">
                                      <p:cBhvr>
                                        <p:cTn id="42" dur="500"/>
                                        <p:tgtEl>
                                          <p:spTgt spid="144"/>
                                        </p:tgtEl>
                                      </p:cBhvr>
                                    </p:animEffect>
                                  </p:childTnLst>
                                </p:cTn>
                              </p:par>
                              <p:par>
                                <p:cTn id="43" presetID="10" presetClass="entr" presetSubtype="0" fill="hold" grpId="0" nodeType="withEffect">
                                  <p:stCondLst>
                                    <p:cond delay="500"/>
                                  </p:stCondLst>
                                  <p:childTnLst>
                                    <p:set>
                                      <p:cBhvr>
                                        <p:cTn id="44" dur="1" fill="hold">
                                          <p:stCondLst>
                                            <p:cond delay="0"/>
                                          </p:stCondLst>
                                        </p:cTn>
                                        <p:tgtEl>
                                          <p:spTgt spid="65"/>
                                        </p:tgtEl>
                                        <p:attrNameLst>
                                          <p:attrName>style.visibility</p:attrName>
                                        </p:attrNameLst>
                                      </p:cBhvr>
                                      <p:to>
                                        <p:strVal val="visible"/>
                                      </p:to>
                                    </p:set>
                                    <p:animEffect transition="in" filter="fade">
                                      <p:cBhvr>
                                        <p:cTn id="45" dur="500"/>
                                        <p:tgtEl>
                                          <p:spTgt spid="65"/>
                                        </p:tgtEl>
                                      </p:cBhvr>
                                    </p:animEffect>
                                  </p:childTnLst>
                                </p:cTn>
                              </p:par>
                              <p:par>
                                <p:cTn id="46" presetID="63" presetClass="path" presetSubtype="0" decel="100000" fill="hold" grpId="1" nodeType="withEffect">
                                  <p:stCondLst>
                                    <p:cond delay="500"/>
                                  </p:stCondLst>
                                  <p:childTnLst>
                                    <p:animMotion origin="layout" path="M -3.75E-6 -7.40741E-7 L 0.03907 -7.40741E-7 " pathEditMode="relative" rAng="0" ptsTypes="AA">
                                      <p:cBhvr>
                                        <p:cTn id="47" dur="750" spd="-100000" fill="hold"/>
                                        <p:tgtEl>
                                          <p:spTgt spid="65"/>
                                        </p:tgtEl>
                                        <p:attrNameLst>
                                          <p:attrName>ppt_x</p:attrName>
                                          <p:attrName>ppt_y</p:attrName>
                                        </p:attrNameLst>
                                      </p:cBhvr>
                                      <p:rCtr x="195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 grpId="0" animBg="1"/>
      <p:bldP spid="186" grpId="1" animBg="1"/>
      <p:bldP spid="161" grpId="0"/>
      <p:bldP spid="198" grpId="0" animBg="1"/>
      <p:bldP spid="223" grpId="0"/>
      <p:bldP spid="99" grpId="0" animBg="1"/>
      <p:bldP spid="106" grpId="0" animBg="1"/>
      <p:bldP spid="122" grpId="0" animBg="1"/>
      <p:bldP spid="127" grpId="0" animBg="1"/>
      <p:bldP spid="134" grpId="0" animBg="1"/>
      <p:bldP spid="144" grpId="0" animBg="1"/>
      <p:bldP spid="65" grpId="0"/>
      <p:bldP spid="65"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extBox 60">
            <a:extLst>
              <a:ext uri="{FF2B5EF4-FFF2-40B4-BE49-F238E27FC236}">
                <a16:creationId xmlns:a16="http://schemas.microsoft.com/office/drawing/2014/main" id="{14B5C46A-1B8E-41AD-8A53-954C5FB5F767}"/>
              </a:ext>
            </a:extLst>
          </p:cNvPr>
          <p:cNvSpPr txBox="1"/>
          <p:nvPr/>
        </p:nvSpPr>
        <p:spPr>
          <a:xfrm>
            <a:off x="1901764" y="1123656"/>
            <a:ext cx="1655682" cy="236219"/>
          </a:xfrm>
          <a:prstGeom prst="rect">
            <a:avLst/>
          </a:prstGeom>
          <a:noFill/>
        </p:spPr>
        <p:txBody>
          <a:bodyPr wrap="square" rtlCol="0">
            <a:spAutoFit/>
          </a:bodyPr>
          <a:lstStyle/>
          <a:p>
            <a:pPr lvl="0" algn="ctr">
              <a:lnSpc>
                <a:spcPct val="85000"/>
              </a:lnSpc>
              <a:defRPr/>
            </a:pPr>
            <a:r>
              <a:rPr lang="es-ES" sz="1050" dirty="0">
                <a:solidFill>
                  <a:srgbClr val="000000"/>
                </a:solidFill>
                <a:latin typeface="Trebuchet MS" panose="020B0603020202020204" pitchFamily="34" charset="0"/>
                <a:ea typeface="Verdana" panose="020B0604030504040204" pitchFamily="34" charset="0"/>
                <a:cs typeface="Zilla Slab Light"/>
                <a:sym typeface="Zilla Slab Light"/>
              </a:rPr>
              <a:t>DE UNAS HORAS A DÍAS</a:t>
            </a:r>
            <a:endParaRPr kumimoji="0" lang="en-US" sz="1050" i="0" u="none" strike="noStrike" kern="1200" cap="none" normalizeH="0" baseline="0" noProof="0" dirty="0">
              <a:ln>
                <a:noFill/>
              </a:ln>
              <a:solidFill>
                <a:srgbClr val="000000"/>
              </a:solidFill>
              <a:uLnTx/>
              <a:uFillTx/>
              <a:latin typeface="Trebuchet MS" panose="020B0603020202020204" pitchFamily="34" charset="0"/>
              <a:ea typeface="Verdana" panose="020B0604030504040204" pitchFamily="34" charset="0"/>
              <a:cs typeface="Zilla Slab Light"/>
              <a:sym typeface="Zilla Slab Light"/>
            </a:endParaRPr>
          </a:p>
        </p:txBody>
      </p:sp>
      <p:sp>
        <p:nvSpPr>
          <p:cNvPr id="62" name="TextBox 61">
            <a:extLst>
              <a:ext uri="{FF2B5EF4-FFF2-40B4-BE49-F238E27FC236}">
                <a16:creationId xmlns:a16="http://schemas.microsoft.com/office/drawing/2014/main" id="{41A6FF1C-9BB0-4DAD-932C-B14F2484AC12}"/>
              </a:ext>
            </a:extLst>
          </p:cNvPr>
          <p:cNvSpPr txBox="1"/>
          <p:nvPr/>
        </p:nvSpPr>
        <p:spPr>
          <a:xfrm>
            <a:off x="4177091" y="1123656"/>
            <a:ext cx="1614604" cy="229678"/>
          </a:xfrm>
          <a:prstGeom prst="rect">
            <a:avLst/>
          </a:prstGeom>
          <a:noFill/>
        </p:spPr>
        <p:txBody>
          <a:bodyPr wrap="square" rtlCol="0">
            <a:spAutoFit/>
          </a:bodyPr>
          <a:lstStyle/>
          <a:p>
            <a:pPr lvl="0" algn="ctr">
              <a:lnSpc>
                <a:spcPct val="85000"/>
              </a:lnSpc>
              <a:defRPr/>
            </a:pPr>
            <a:r>
              <a:rPr lang="pt-BR" sz="1050" dirty="0">
                <a:solidFill>
                  <a:srgbClr val="000000"/>
                </a:solidFill>
                <a:latin typeface="Trebuchet MS" panose="020B0603020202020204" pitchFamily="34" charset="0"/>
                <a:ea typeface="Verdana" panose="020B0604030504040204" pitchFamily="34" charset="0"/>
                <a:cs typeface="Zilla Slab Light"/>
                <a:sym typeface="Zilla Slab Light"/>
              </a:rPr>
              <a:t>DE 5 A 60 MINUTOS</a:t>
            </a:r>
            <a:endParaRPr kumimoji="0" lang="en-US" sz="1050" i="0" u="none" strike="noStrike" kern="1200" cap="none" normalizeH="0" baseline="0" noProof="0" dirty="0">
              <a:ln>
                <a:noFill/>
              </a:ln>
              <a:solidFill>
                <a:srgbClr val="000000"/>
              </a:solidFill>
              <a:uLnTx/>
              <a:uFillTx/>
              <a:latin typeface="Trebuchet MS" panose="020B0603020202020204" pitchFamily="34" charset="0"/>
              <a:ea typeface="Verdana" panose="020B0604030504040204" pitchFamily="34" charset="0"/>
              <a:cs typeface="Zilla Slab Light"/>
              <a:sym typeface="Zilla Slab Light"/>
            </a:endParaRPr>
          </a:p>
        </p:txBody>
      </p:sp>
      <p:sp>
        <p:nvSpPr>
          <p:cNvPr id="63" name="TextBox 62">
            <a:extLst>
              <a:ext uri="{FF2B5EF4-FFF2-40B4-BE49-F238E27FC236}">
                <a16:creationId xmlns:a16="http://schemas.microsoft.com/office/drawing/2014/main" id="{C19F9E0C-B3FF-4042-9AD0-14110B909ACF}"/>
              </a:ext>
            </a:extLst>
          </p:cNvPr>
          <p:cNvSpPr txBox="1"/>
          <p:nvPr/>
        </p:nvSpPr>
        <p:spPr>
          <a:xfrm>
            <a:off x="6299937" y="1123656"/>
            <a:ext cx="1614604" cy="229678"/>
          </a:xfrm>
          <a:prstGeom prst="rect">
            <a:avLst/>
          </a:prstGeom>
          <a:noFill/>
        </p:spPr>
        <p:txBody>
          <a:bodyPr wrap="square" rtlCol="0">
            <a:spAutoFit/>
          </a:bodyPr>
          <a:lstStyle/>
          <a:p>
            <a:pPr lvl="0" algn="ctr">
              <a:lnSpc>
                <a:spcPct val="85000"/>
              </a:lnSpc>
              <a:defRPr/>
            </a:pPr>
            <a:r>
              <a:rPr lang="pt-BR" sz="1050" dirty="0">
                <a:solidFill>
                  <a:srgbClr val="000000"/>
                </a:solidFill>
                <a:latin typeface="Trebuchet MS" panose="020B0603020202020204" pitchFamily="34" charset="0"/>
                <a:ea typeface="Verdana" panose="020B0604030504040204" pitchFamily="34" charset="0"/>
                <a:cs typeface="Zilla Slab Light"/>
                <a:sym typeface="Zilla Slab Light"/>
              </a:rPr>
              <a:t>DE 4 A 72 HORAS</a:t>
            </a:r>
            <a:endParaRPr kumimoji="0" lang="en-US" sz="1050" i="0" u="none" strike="noStrike" kern="1200" cap="none" normalizeH="0" baseline="0" noProof="0" dirty="0">
              <a:ln>
                <a:noFill/>
              </a:ln>
              <a:solidFill>
                <a:srgbClr val="000000"/>
              </a:solidFill>
              <a:uLnTx/>
              <a:uFillTx/>
              <a:latin typeface="Trebuchet MS" panose="020B0603020202020204" pitchFamily="34" charset="0"/>
              <a:ea typeface="Verdana" panose="020B0604030504040204" pitchFamily="34" charset="0"/>
              <a:cs typeface="Zilla Slab Light"/>
              <a:sym typeface="Zilla Slab Light"/>
            </a:endParaRPr>
          </a:p>
        </p:txBody>
      </p:sp>
      <p:sp>
        <p:nvSpPr>
          <p:cNvPr id="64" name="TextBox 63">
            <a:extLst>
              <a:ext uri="{FF2B5EF4-FFF2-40B4-BE49-F238E27FC236}">
                <a16:creationId xmlns:a16="http://schemas.microsoft.com/office/drawing/2014/main" id="{237FD9D1-662C-4788-80DC-562104081BAC}"/>
              </a:ext>
            </a:extLst>
          </p:cNvPr>
          <p:cNvSpPr txBox="1"/>
          <p:nvPr/>
        </p:nvSpPr>
        <p:spPr>
          <a:xfrm>
            <a:off x="9178822" y="1123656"/>
            <a:ext cx="1614604" cy="229678"/>
          </a:xfrm>
          <a:prstGeom prst="rect">
            <a:avLst/>
          </a:prstGeom>
          <a:noFill/>
        </p:spPr>
        <p:txBody>
          <a:bodyPr wrap="square" rtlCol="0">
            <a:spAutoFit/>
          </a:bodyPr>
          <a:lstStyle/>
          <a:p>
            <a:pPr lvl="0" algn="ctr">
              <a:lnSpc>
                <a:spcPct val="85000"/>
              </a:lnSpc>
              <a:defRPr/>
            </a:pPr>
            <a:r>
              <a:rPr lang="pt-BR" sz="1050" dirty="0">
                <a:solidFill>
                  <a:srgbClr val="000000"/>
                </a:solidFill>
                <a:latin typeface="Trebuchet MS" panose="020B0603020202020204" pitchFamily="34" charset="0"/>
                <a:ea typeface="Verdana" panose="020B0604030504040204" pitchFamily="34" charset="0"/>
                <a:cs typeface="Zilla Slab Light"/>
                <a:sym typeface="Zilla Slab Light"/>
              </a:rPr>
              <a:t>DE 24 A 48 HORAS</a:t>
            </a:r>
            <a:endParaRPr kumimoji="0" lang="en-US" sz="1050" i="0" u="none" strike="noStrike" kern="1200" cap="none" normalizeH="0" baseline="0" noProof="0" dirty="0">
              <a:ln>
                <a:noFill/>
              </a:ln>
              <a:solidFill>
                <a:srgbClr val="000000"/>
              </a:solidFill>
              <a:uLnTx/>
              <a:uFillTx/>
              <a:latin typeface="Trebuchet MS" panose="020B0603020202020204" pitchFamily="34" charset="0"/>
              <a:ea typeface="Verdana" panose="020B0604030504040204" pitchFamily="34" charset="0"/>
              <a:cs typeface="Zilla Slab Light"/>
              <a:sym typeface="Zilla Slab Light"/>
            </a:endParaRPr>
          </a:p>
        </p:txBody>
      </p:sp>
      <p:cxnSp>
        <p:nvCxnSpPr>
          <p:cNvPr id="69" name="Straight Arrow Connector 68">
            <a:extLst>
              <a:ext uri="{FF2B5EF4-FFF2-40B4-BE49-F238E27FC236}">
                <a16:creationId xmlns:a16="http://schemas.microsoft.com/office/drawing/2014/main" id="{AAFD98EA-AAD5-4345-8BD8-BBE9640927CE}"/>
              </a:ext>
            </a:extLst>
          </p:cNvPr>
          <p:cNvCxnSpPr>
            <a:cxnSpLocks/>
          </p:cNvCxnSpPr>
          <p:nvPr/>
        </p:nvCxnSpPr>
        <p:spPr>
          <a:xfrm>
            <a:off x="4225942" y="1353134"/>
            <a:ext cx="1516903" cy="0"/>
          </a:xfrm>
          <a:prstGeom prst="straightConnector1">
            <a:avLst/>
          </a:prstGeom>
          <a:ln w="12700">
            <a:solidFill>
              <a:srgbClr val="FF6E00"/>
            </a:solidFill>
            <a:prstDash val="lgDash"/>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33262689-F55F-41FA-B039-69327FFA4FA6}"/>
              </a:ext>
            </a:extLst>
          </p:cNvPr>
          <p:cNvCxnSpPr>
            <a:cxnSpLocks/>
          </p:cNvCxnSpPr>
          <p:nvPr/>
        </p:nvCxnSpPr>
        <p:spPr>
          <a:xfrm>
            <a:off x="5943791" y="1353134"/>
            <a:ext cx="2324460" cy="0"/>
          </a:xfrm>
          <a:prstGeom prst="straightConnector1">
            <a:avLst/>
          </a:prstGeom>
          <a:ln w="12700">
            <a:solidFill>
              <a:srgbClr val="F13045"/>
            </a:solidFill>
            <a:prstDash val="lgDash"/>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6FB34BCF-79D0-4053-9FE4-A9ED086DE8E7}"/>
              </a:ext>
            </a:extLst>
          </p:cNvPr>
          <p:cNvCxnSpPr>
            <a:cxnSpLocks/>
          </p:cNvCxnSpPr>
          <p:nvPr/>
        </p:nvCxnSpPr>
        <p:spPr>
          <a:xfrm>
            <a:off x="8537286" y="1353134"/>
            <a:ext cx="2865047" cy="0"/>
          </a:xfrm>
          <a:prstGeom prst="straightConnector1">
            <a:avLst/>
          </a:prstGeom>
          <a:ln w="12700">
            <a:solidFill>
              <a:srgbClr val="FDB913"/>
            </a:solidFill>
            <a:prstDash val="lgDash"/>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207" name="Group 206">
            <a:extLst>
              <a:ext uri="{FF2B5EF4-FFF2-40B4-BE49-F238E27FC236}">
                <a16:creationId xmlns:a16="http://schemas.microsoft.com/office/drawing/2014/main" id="{EE0DD251-BA5A-4CBA-B9FF-8B1DF987CF41}"/>
              </a:ext>
            </a:extLst>
          </p:cNvPr>
          <p:cNvGrpSpPr/>
          <p:nvPr/>
        </p:nvGrpSpPr>
        <p:grpSpPr>
          <a:xfrm>
            <a:off x="1312619" y="1442670"/>
            <a:ext cx="10269782" cy="4406374"/>
            <a:chOff x="1312619" y="1343026"/>
            <a:chExt cx="10269782" cy="4406374"/>
          </a:xfrm>
        </p:grpSpPr>
        <p:sp>
          <p:nvSpPr>
            <p:cNvPr id="50" name="Rectangle 49">
              <a:extLst>
                <a:ext uri="{FF2B5EF4-FFF2-40B4-BE49-F238E27FC236}">
                  <a16:creationId xmlns:a16="http://schemas.microsoft.com/office/drawing/2014/main" id="{84CDD4FE-7066-486B-BA4B-CAAC399AB3F2}"/>
                </a:ext>
              </a:extLst>
            </p:cNvPr>
            <p:cNvSpPr/>
            <p:nvPr/>
          </p:nvSpPr>
          <p:spPr>
            <a:xfrm>
              <a:off x="1312619" y="1343026"/>
              <a:ext cx="2833972" cy="4406374"/>
            </a:xfrm>
            <a:prstGeom prst="rect">
              <a:avLst/>
            </a:prstGeom>
            <a:solidFill>
              <a:srgbClr val="3FA2A4">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A65244E0-791F-40E4-A275-8D86C1150683}"/>
                </a:ext>
              </a:extLst>
            </p:cNvPr>
            <p:cNvSpPr/>
            <p:nvPr/>
          </p:nvSpPr>
          <p:spPr>
            <a:xfrm>
              <a:off x="4146591" y="1343026"/>
              <a:ext cx="1677947" cy="4406374"/>
            </a:xfrm>
            <a:prstGeom prst="rect">
              <a:avLst/>
            </a:prstGeom>
            <a:solidFill>
              <a:srgbClr val="3D90A1">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5EEE3FA0-93D1-4B12-8EF0-466474180446}"/>
                </a:ext>
              </a:extLst>
            </p:cNvPr>
            <p:cNvSpPr/>
            <p:nvPr/>
          </p:nvSpPr>
          <p:spPr>
            <a:xfrm>
              <a:off x="5824632" y="1343026"/>
              <a:ext cx="2565214" cy="4406374"/>
            </a:xfrm>
            <a:prstGeom prst="rect">
              <a:avLst/>
            </a:prstGeom>
            <a:solidFill>
              <a:srgbClr val="3B7FA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402510FD-013E-40A7-A32A-8A88CD2A79B6}"/>
                </a:ext>
              </a:extLst>
            </p:cNvPr>
            <p:cNvSpPr/>
            <p:nvPr/>
          </p:nvSpPr>
          <p:spPr>
            <a:xfrm>
              <a:off x="8389847" y="1343026"/>
              <a:ext cx="3192554" cy="4406374"/>
            </a:xfrm>
            <a:prstGeom prst="rect">
              <a:avLst/>
            </a:prstGeom>
            <a:solidFill>
              <a:srgbClr val="3FA2A4">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6" name="Straight Arrow Connector 65">
            <a:extLst>
              <a:ext uri="{FF2B5EF4-FFF2-40B4-BE49-F238E27FC236}">
                <a16:creationId xmlns:a16="http://schemas.microsoft.com/office/drawing/2014/main" id="{B071E519-CF7A-42F5-9F7D-DD00FCB52F17}"/>
              </a:ext>
            </a:extLst>
          </p:cNvPr>
          <p:cNvCxnSpPr>
            <a:cxnSpLocks/>
          </p:cNvCxnSpPr>
          <p:nvPr/>
        </p:nvCxnSpPr>
        <p:spPr>
          <a:xfrm>
            <a:off x="1446826" y="1353134"/>
            <a:ext cx="2565559" cy="0"/>
          </a:xfrm>
          <a:prstGeom prst="straightConnector1">
            <a:avLst/>
          </a:prstGeom>
          <a:ln w="12700">
            <a:solidFill>
              <a:srgbClr val="FDB913"/>
            </a:solidFill>
            <a:prstDash val="lgDash"/>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209" name="Group 208">
            <a:extLst>
              <a:ext uri="{FF2B5EF4-FFF2-40B4-BE49-F238E27FC236}">
                <a16:creationId xmlns:a16="http://schemas.microsoft.com/office/drawing/2014/main" id="{BD2F0A79-69A6-431B-9E9A-D9954B438260}"/>
              </a:ext>
            </a:extLst>
          </p:cNvPr>
          <p:cNvGrpSpPr/>
          <p:nvPr/>
        </p:nvGrpSpPr>
        <p:grpSpPr>
          <a:xfrm>
            <a:off x="1312619" y="4216865"/>
            <a:ext cx="10267347" cy="1629745"/>
            <a:chOff x="1312619" y="4117221"/>
            <a:chExt cx="10267347" cy="1629745"/>
          </a:xfrm>
        </p:grpSpPr>
        <p:sp>
          <p:nvSpPr>
            <p:cNvPr id="89" name="Freeform: Shape 88">
              <a:extLst>
                <a:ext uri="{FF2B5EF4-FFF2-40B4-BE49-F238E27FC236}">
                  <a16:creationId xmlns:a16="http://schemas.microsoft.com/office/drawing/2014/main" id="{671989D6-D5E6-44B9-9C13-2658664902BE}"/>
                </a:ext>
              </a:extLst>
            </p:cNvPr>
            <p:cNvSpPr/>
            <p:nvPr/>
          </p:nvSpPr>
          <p:spPr>
            <a:xfrm>
              <a:off x="1312619" y="5226685"/>
              <a:ext cx="2836406" cy="520281"/>
            </a:xfrm>
            <a:custGeom>
              <a:avLst/>
              <a:gdLst>
                <a:gd name="connsiteX0" fmla="*/ 2836406 w 2836406"/>
                <a:gd name="connsiteY0" fmla="*/ 0 h 520281"/>
                <a:gd name="connsiteX1" fmla="*/ 2836406 w 2836406"/>
                <a:gd name="connsiteY1" fmla="*/ 520281 h 520281"/>
                <a:gd name="connsiteX2" fmla="*/ 0 w 2836406"/>
                <a:gd name="connsiteY2" fmla="*/ 520281 h 520281"/>
                <a:gd name="connsiteX3" fmla="*/ 0 w 2836406"/>
                <a:gd name="connsiteY3" fmla="*/ 290352 h 520281"/>
                <a:gd name="connsiteX4" fmla="*/ 1957443 w 2836406"/>
                <a:gd name="connsiteY4" fmla="*/ 200631 h 520281"/>
                <a:gd name="connsiteX5" fmla="*/ 2836406 w 2836406"/>
                <a:gd name="connsiteY5" fmla="*/ 0 h 520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36406" h="520281">
                  <a:moveTo>
                    <a:pt x="2836406" y="0"/>
                  </a:moveTo>
                  <a:lnTo>
                    <a:pt x="2836406" y="520281"/>
                  </a:lnTo>
                  <a:lnTo>
                    <a:pt x="0" y="520281"/>
                  </a:lnTo>
                  <a:lnTo>
                    <a:pt x="0" y="290352"/>
                  </a:lnTo>
                  <a:lnTo>
                    <a:pt x="1957443" y="200631"/>
                  </a:lnTo>
                  <a:lnTo>
                    <a:pt x="2836406" y="0"/>
                  </a:lnTo>
                  <a:close/>
                </a:path>
              </a:pathLst>
            </a:custGeom>
            <a:solidFill>
              <a:srgbClr val="FDB913"/>
            </a:solidFill>
            <a:ln w="10136"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14FD9AD3-A192-4693-AF98-96028E305BD5}"/>
                </a:ext>
              </a:extLst>
            </p:cNvPr>
            <p:cNvSpPr/>
            <p:nvPr/>
          </p:nvSpPr>
          <p:spPr>
            <a:xfrm>
              <a:off x="4149025" y="4431056"/>
              <a:ext cx="1686555" cy="1315910"/>
            </a:xfrm>
            <a:custGeom>
              <a:avLst/>
              <a:gdLst>
                <a:gd name="connsiteX0" fmla="*/ 1686556 w 1686555"/>
                <a:gd name="connsiteY0" fmla="*/ 0 h 1315910"/>
                <a:gd name="connsiteX1" fmla="*/ 1686556 w 1686555"/>
                <a:gd name="connsiteY1" fmla="*/ 1315911 h 1315910"/>
                <a:gd name="connsiteX2" fmla="*/ 0 w 1686555"/>
                <a:gd name="connsiteY2" fmla="*/ 1315911 h 1315910"/>
                <a:gd name="connsiteX3" fmla="*/ 0 w 1686555"/>
                <a:gd name="connsiteY3" fmla="*/ 795629 h 1315910"/>
                <a:gd name="connsiteX4" fmla="*/ 5475 w 1686555"/>
                <a:gd name="connsiteY4" fmla="*/ 794413 h 1315910"/>
                <a:gd name="connsiteX5" fmla="*/ 1120349 w 1686555"/>
                <a:gd name="connsiteY5" fmla="*/ 455196 h 1315910"/>
                <a:gd name="connsiteX6" fmla="*/ 1675607 w 1686555"/>
                <a:gd name="connsiteY6" fmla="*/ 6488 h 1315910"/>
                <a:gd name="connsiteX7" fmla="*/ 1686556 w 1686555"/>
                <a:gd name="connsiteY7" fmla="*/ 0 h 1315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86555" h="1315910">
                  <a:moveTo>
                    <a:pt x="1686556" y="0"/>
                  </a:moveTo>
                  <a:lnTo>
                    <a:pt x="1686556" y="1315911"/>
                  </a:lnTo>
                  <a:lnTo>
                    <a:pt x="0" y="1315911"/>
                  </a:lnTo>
                  <a:lnTo>
                    <a:pt x="0" y="795629"/>
                  </a:lnTo>
                  <a:lnTo>
                    <a:pt x="5475" y="794413"/>
                  </a:lnTo>
                  <a:lnTo>
                    <a:pt x="1120349" y="455196"/>
                  </a:lnTo>
                  <a:cubicBezTo>
                    <a:pt x="1120349" y="455196"/>
                    <a:pt x="1325947" y="217663"/>
                    <a:pt x="1675607" y="6488"/>
                  </a:cubicBezTo>
                  <a:cubicBezTo>
                    <a:pt x="1679256" y="4359"/>
                    <a:pt x="1682906" y="2129"/>
                    <a:pt x="1686556" y="0"/>
                  </a:cubicBezTo>
                  <a:close/>
                </a:path>
              </a:pathLst>
            </a:custGeom>
            <a:solidFill>
              <a:srgbClr val="FF6E00"/>
            </a:solidFill>
            <a:ln w="10136"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B072DC61-F570-4F63-8589-2DF5415235F8}"/>
                </a:ext>
              </a:extLst>
            </p:cNvPr>
            <p:cNvSpPr/>
            <p:nvPr/>
          </p:nvSpPr>
          <p:spPr>
            <a:xfrm>
              <a:off x="5824631" y="4117221"/>
              <a:ext cx="2562781" cy="1629745"/>
            </a:xfrm>
            <a:custGeom>
              <a:avLst/>
              <a:gdLst>
                <a:gd name="connsiteX0" fmla="*/ 2562782 w 2562781"/>
                <a:gd name="connsiteY0" fmla="*/ 977468 h 1629745"/>
                <a:gd name="connsiteX1" fmla="*/ 2562782 w 2562781"/>
                <a:gd name="connsiteY1" fmla="*/ 1629746 h 1629745"/>
                <a:gd name="connsiteX2" fmla="*/ 0 w 2562781"/>
                <a:gd name="connsiteY2" fmla="*/ 1629746 h 1629745"/>
                <a:gd name="connsiteX3" fmla="*/ 0 w 2562781"/>
                <a:gd name="connsiteY3" fmla="*/ 320323 h 1629745"/>
                <a:gd name="connsiteX4" fmla="*/ 10949 w 2562781"/>
                <a:gd name="connsiteY4" fmla="*/ 313835 h 1629745"/>
                <a:gd name="connsiteX5" fmla="*/ 1139307 w 2562781"/>
                <a:gd name="connsiteY5" fmla="*/ 875 h 1629745"/>
                <a:gd name="connsiteX6" fmla="*/ 2304061 w 2562781"/>
                <a:gd name="connsiteY6" fmla="*/ 693401 h 1629745"/>
                <a:gd name="connsiteX7" fmla="*/ 2562782 w 2562781"/>
                <a:gd name="connsiteY7" fmla="*/ 977468 h 1629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2781" h="1629745">
                  <a:moveTo>
                    <a:pt x="2562782" y="977468"/>
                  </a:moveTo>
                  <a:lnTo>
                    <a:pt x="2562782" y="1629746"/>
                  </a:lnTo>
                  <a:lnTo>
                    <a:pt x="0" y="1629746"/>
                  </a:lnTo>
                  <a:lnTo>
                    <a:pt x="0" y="320323"/>
                  </a:lnTo>
                  <a:cubicBezTo>
                    <a:pt x="3650" y="318194"/>
                    <a:pt x="7299" y="315964"/>
                    <a:pt x="10949" y="313835"/>
                  </a:cubicBezTo>
                  <a:cubicBezTo>
                    <a:pt x="301402" y="140475"/>
                    <a:pt x="688978" y="-13014"/>
                    <a:pt x="1139307" y="875"/>
                  </a:cubicBezTo>
                  <a:cubicBezTo>
                    <a:pt x="2142360" y="31695"/>
                    <a:pt x="2304061" y="693401"/>
                    <a:pt x="2304061" y="693401"/>
                  </a:cubicBezTo>
                  <a:cubicBezTo>
                    <a:pt x="2304061" y="693401"/>
                    <a:pt x="2348465" y="820430"/>
                    <a:pt x="2562782" y="977468"/>
                  </a:cubicBezTo>
                  <a:close/>
                </a:path>
              </a:pathLst>
            </a:custGeom>
            <a:solidFill>
              <a:srgbClr val="F13045"/>
            </a:solidFill>
            <a:ln w="10136"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B432DD9E-487F-47D7-A524-7942F0E59E19}"/>
                </a:ext>
              </a:extLst>
            </p:cNvPr>
            <p:cNvSpPr/>
            <p:nvPr/>
          </p:nvSpPr>
          <p:spPr>
            <a:xfrm>
              <a:off x="8387413" y="5094688"/>
              <a:ext cx="3192553" cy="652278"/>
            </a:xfrm>
            <a:custGeom>
              <a:avLst/>
              <a:gdLst>
                <a:gd name="connsiteX0" fmla="*/ 3192554 w 3192553"/>
                <a:gd name="connsiteY0" fmla="*/ 436440 h 652278"/>
                <a:gd name="connsiteX1" fmla="*/ 3192554 w 3192553"/>
                <a:gd name="connsiteY1" fmla="*/ 652278 h 652278"/>
                <a:gd name="connsiteX2" fmla="*/ 0 w 3192553"/>
                <a:gd name="connsiteY2" fmla="*/ 652278 h 652278"/>
                <a:gd name="connsiteX3" fmla="*/ 0 w 3192553"/>
                <a:gd name="connsiteY3" fmla="*/ 0 h 652278"/>
                <a:gd name="connsiteX4" fmla="*/ 539443 w 3192553"/>
                <a:gd name="connsiteY4" fmla="*/ 273827 h 652278"/>
                <a:gd name="connsiteX5" fmla="*/ 1283571 w 3192553"/>
                <a:gd name="connsiteY5" fmla="*/ 399944 h 652278"/>
                <a:gd name="connsiteX6" fmla="*/ 3192554 w 3192553"/>
                <a:gd name="connsiteY6" fmla="*/ 436440 h 652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92553" h="652278">
                  <a:moveTo>
                    <a:pt x="3192554" y="436440"/>
                  </a:moveTo>
                  <a:lnTo>
                    <a:pt x="3192554" y="652278"/>
                  </a:lnTo>
                  <a:lnTo>
                    <a:pt x="0" y="652278"/>
                  </a:lnTo>
                  <a:lnTo>
                    <a:pt x="0" y="0"/>
                  </a:lnTo>
                  <a:cubicBezTo>
                    <a:pt x="119629" y="87592"/>
                    <a:pt x="292177" y="184511"/>
                    <a:pt x="539443" y="273827"/>
                  </a:cubicBezTo>
                  <a:cubicBezTo>
                    <a:pt x="539443" y="273827"/>
                    <a:pt x="760552" y="385953"/>
                    <a:pt x="1283571" y="399944"/>
                  </a:cubicBezTo>
                  <a:lnTo>
                    <a:pt x="3192554" y="436440"/>
                  </a:lnTo>
                  <a:close/>
                </a:path>
              </a:pathLst>
            </a:custGeom>
            <a:solidFill>
              <a:srgbClr val="FDB913"/>
            </a:solidFill>
            <a:ln w="10136" cap="flat">
              <a:noFill/>
              <a:prstDash val="solid"/>
              <a:miter/>
            </a:ln>
          </p:spPr>
          <p:txBody>
            <a:bodyPr rtlCol="0" anchor="ctr"/>
            <a:lstStyle/>
            <a:p>
              <a:endParaRPr lang="en-US"/>
            </a:p>
          </p:txBody>
        </p:sp>
      </p:grpSp>
      <p:grpSp>
        <p:nvGrpSpPr>
          <p:cNvPr id="208" name="Group 207">
            <a:extLst>
              <a:ext uri="{FF2B5EF4-FFF2-40B4-BE49-F238E27FC236}">
                <a16:creationId xmlns:a16="http://schemas.microsoft.com/office/drawing/2014/main" id="{18F567F2-145D-4FB6-8C38-47DBB0840807}"/>
              </a:ext>
            </a:extLst>
          </p:cNvPr>
          <p:cNvGrpSpPr/>
          <p:nvPr/>
        </p:nvGrpSpPr>
        <p:grpSpPr>
          <a:xfrm>
            <a:off x="1592093" y="1511194"/>
            <a:ext cx="9332242" cy="3546824"/>
            <a:chOff x="1592093" y="1411550"/>
            <a:chExt cx="9332242" cy="3546824"/>
          </a:xfrm>
        </p:grpSpPr>
        <p:sp>
          <p:nvSpPr>
            <p:cNvPr id="98" name="TextBox 97">
              <a:extLst>
                <a:ext uri="{FF2B5EF4-FFF2-40B4-BE49-F238E27FC236}">
                  <a16:creationId xmlns:a16="http://schemas.microsoft.com/office/drawing/2014/main" id="{E2A87C9C-EF9E-4162-A40C-9924D7E7AA04}"/>
                </a:ext>
              </a:extLst>
            </p:cNvPr>
            <p:cNvSpPr txBox="1"/>
            <p:nvPr/>
          </p:nvSpPr>
          <p:spPr>
            <a:xfrm>
              <a:off x="1765838" y="1952877"/>
              <a:ext cx="1925100" cy="615553"/>
            </a:xfrm>
            <a:prstGeom prst="rect">
              <a:avLst/>
            </a:prstGeom>
            <a:noFill/>
          </p:spPr>
          <p:txBody>
            <a:bodyPr wrap="square" rtlCol="0">
              <a:spAutoFit/>
            </a:bodyPr>
            <a:lstStyle/>
            <a:p>
              <a:pPr lvl="0" algn="ctr">
                <a:lnSpc>
                  <a:spcPct val="85000"/>
                </a:lnSpc>
                <a:spcAft>
                  <a:spcPts val="200"/>
                </a:spcAft>
                <a:defRPr/>
              </a:pPr>
              <a:r>
                <a:rPr lang="es-ES" sz="800" b="1" dirty="0">
                  <a:solidFill>
                    <a:srgbClr val="000000"/>
                  </a:solidFill>
                  <a:latin typeface="Trebuchet MS" panose="020B0603020202020204" pitchFamily="34" charset="0"/>
                  <a:ea typeface="Verdana" panose="020B0604030504040204" pitchFamily="34" charset="0"/>
                  <a:cs typeface="Zilla Slab Light"/>
                  <a:sym typeface="Zilla Slab Light"/>
                </a:rPr>
                <a:t>SOLAMENTE EL 50% DE LAS PERSONAS RECONOCE ESTA FASE.</a:t>
              </a:r>
              <a:br>
                <a:rPr lang="es-ES" sz="800" b="1" dirty="0">
                  <a:solidFill>
                    <a:srgbClr val="000000"/>
                  </a:solidFill>
                  <a:latin typeface="Trebuchet MS" panose="020B0603020202020204" pitchFamily="34" charset="0"/>
                  <a:ea typeface="Verdana" panose="020B0604030504040204" pitchFamily="34" charset="0"/>
                  <a:cs typeface="Zilla Slab Light"/>
                  <a:sym typeface="Zilla Slab Light"/>
                </a:rPr>
              </a:br>
              <a:br>
                <a:rPr lang="es-ES" sz="800" b="1" dirty="0">
                  <a:solidFill>
                    <a:srgbClr val="000000"/>
                  </a:solidFill>
                  <a:latin typeface="Trebuchet MS" panose="020B0603020202020204" pitchFamily="34" charset="0"/>
                  <a:ea typeface="Verdana" panose="020B0604030504040204" pitchFamily="34" charset="0"/>
                  <a:cs typeface="Zilla Slab Light"/>
                  <a:sym typeface="Zilla Slab Light"/>
                </a:rPr>
              </a:br>
              <a:r>
                <a:rPr lang="es-ES" sz="800" b="1" dirty="0">
                  <a:solidFill>
                    <a:srgbClr val="000000"/>
                  </a:solidFill>
                  <a:latin typeface="Trebuchet MS" panose="020B0603020202020204" pitchFamily="34" charset="0"/>
                  <a:ea typeface="Verdana" panose="020B0604030504040204" pitchFamily="34" charset="0"/>
                  <a:cs typeface="Zilla Slab Light"/>
                  <a:sym typeface="Zilla Slab Light"/>
                </a:rPr>
                <a:t>COMIENZA ANTES DE CUALQUIER OTRO SÍNTOMA DE LA CRISIS. </a:t>
              </a:r>
              <a:endParaRPr kumimoji="0" lang="en-US" sz="800" b="1" i="0" u="none" strike="noStrike" kern="1200" cap="none" normalizeH="0" baseline="0" noProof="0" dirty="0">
                <a:ln>
                  <a:noFill/>
                </a:ln>
                <a:solidFill>
                  <a:srgbClr val="000000"/>
                </a:solidFill>
                <a:uLnTx/>
                <a:uFillTx/>
                <a:latin typeface="Trebuchet MS" panose="020B0603020202020204" pitchFamily="34" charset="0"/>
                <a:ea typeface="Verdana" panose="020B0604030504040204" pitchFamily="34" charset="0"/>
                <a:cs typeface="Zilla Slab Light"/>
                <a:sym typeface="Zilla Slab Light"/>
              </a:endParaRPr>
            </a:p>
          </p:txBody>
        </p:sp>
        <p:grpSp>
          <p:nvGrpSpPr>
            <p:cNvPr id="133" name="Group 132">
              <a:extLst>
                <a:ext uri="{FF2B5EF4-FFF2-40B4-BE49-F238E27FC236}">
                  <a16:creationId xmlns:a16="http://schemas.microsoft.com/office/drawing/2014/main" id="{5662C8C6-AF01-437F-B7A9-99C44ADAF831}"/>
                </a:ext>
              </a:extLst>
            </p:cNvPr>
            <p:cNvGrpSpPr/>
            <p:nvPr/>
          </p:nvGrpSpPr>
          <p:grpSpPr>
            <a:xfrm>
              <a:off x="1592093" y="2827020"/>
              <a:ext cx="2275025" cy="1474250"/>
              <a:chOff x="1444391" y="3111117"/>
              <a:chExt cx="2275025" cy="1474250"/>
            </a:xfrm>
          </p:grpSpPr>
          <p:sp>
            <p:nvSpPr>
              <p:cNvPr id="99" name="TextBox 98">
                <a:extLst>
                  <a:ext uri="{FF2B5EF4-FFF2-40B4-BE49-F238E27FC236}">
                    <a16:creationId xmlns:a16="http://schemas.microsoft.com/office/drawing/2014/main" id="{F876794F-395D-40F9-B267-2CA94D4AAB22}"/>
                  </a:ext>
                </a:extLst>
              </p:cNvPr>
              <p:cNvSpPr txBox="1"/>
              <p:nvPr/>
            </p:nvSpPr>
            <p:spPr>
              <a:xfrm>
                <a:off x="1444391" y="3111117"/>
                <a:ext cx="2275025" cy="1474250"/>
              </a:xfrm>
              <a:prstGeom prst="rect">
                <a:avLst/>
              </a:prstGeom>
              <a:noFill/>
            </p:spPr>
            <p:txBody>
              <a:bodyPr wrap="square" rtlCol="0">
                <a:spAutoFit/>
              </a:bodyPr>
              <a:lstStyle/>
              <a:p>
                <a:pPr lvl="0">
                  <a:lnSpc>
                    <a:spcPct val="85000"/>
                  </a:lnSpc>
                  <a:spcAft>
                    <a:spcPts val="600"/>
                  </a:spcAft>
                  <a:defRPr/>
                </a:pPr>
                <a:r>
                  <a:rPr lang="es-ES" sz="800" b="1" dirty="0">
                    <a:solidFill>
                      <a:srgbClr val="000000"/>
                    </a:solidFill>
                    <a:latin typeface="Trebuchet MS" panose="020B0603020202020204" pitchFamily="34" charset="0"/>
                    <a:ea typeface="Verdana" panose="020B0604030504040204" pitchFamily="34" charset="0"/>
                    <a:cs typeface="Zilla Slab Light"/>
                    <a:sym typeface="Zilla Slab Light"/>
                  </a:rPr>
                  <a:t>Cambios de humor o en el comportamiento: </a:t>
                </a:r>
                <a: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t>ansiedad, depresión, irritabilidad, lentitud, apatía, euforia, excitación, dificultad para </a:t>
                </a:r>
                <a:b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br>
                <a: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t>la concentración. </a:t>
                </a:r>
              </a:p>
              <a:p>
                <a:pPr lvl="0">
                  <a:lnSpc>
                    <a:spcPct val="85000"/>
                  </a:lnSpc>
                  <a:spcAft>
                    <a:spcPts val="600"/>
                  </a:spcAft>
                  <a:defRPr/>
                </a:pPr>
                <a:r>
                  <a:rPr lang="es-ES" sz="800" b="1" dirty="0">
                    <a:solidFill>
                      <a:srgbClr val="000000"/>
                    </a:solidFill>
                    <a:latin typeface="Trebuchet MS" panose="020B0603020202020204" pitchFamily="34" charset="0"/>
                    <a:ea typeface="Verdana" panose="020B0604030504040204" pitchFamily="34" charset="0"/>
                    <a:cs typeface="Zilla Slab Light"/>
                    <a:sym typeface="Zilla Slab Light"/>
                  </a:rPr>
                  <a:t>Síntomas neurológicos: </a:t>
                </a:r>
                <a: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t>bostezos, fonofobia, fotofobia, visión borrosa, mareos.</a:t>
                </a:r>
              </a:p>
              <a:p>
                <a:pPr lvl="0">
                  <a:lnSpc>
                    <a:spcPct val="85000"/>
                  </a:lnSpc>
                  <a:spcAft>
                    <a:spcPts val="600"/>
                  </a:spcAft>
                  <a:defRPr/>
                </a:pPr>
                <a:r>
                  <a:rPr lang="es-ES" sz="800" b="1" dirty="0">
                    <a:solidFill>
                      <a:srgbClr val="000000"/>
                    </a:solidFill>
                    <a:latin typeface="Trebuchet MS" panose="020B0603020202020204" pitchFamily="34" charset="0"/>
                    <a:ea typeface="Verdana" panose="020B0604030504040204" pitchFamily="34" charset="0"/>
                    <a:cs typeface="Zilla Slab Light"/>
                    <a:sym typeface="Zilla Slab Light"/>
                  </a:rPr>
                  <a:t>Síntomas sistémicos: </a:t>
                </a:r>
                <a: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t>fatiga, mialgias, </a:t>
                </a:r>
                <a:b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br>
                <a: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t>retención de líquidos, palidez, rigidez </a:t>
                </a:r>
                <a:b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br>
                <a: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t>de cuello. </a:t>
                </a:r>
              </a:p>
              <a:p>
                <a:pPr lvl="0">
                  <a:lnSpc>
                    <a:spcPct val="85000"/>
                  </a:lnSpc>
                  <a:spcAft>
                    <a:spcPts val="600"/>
                  </a:spcAft>
                  <a:defRPr/>
                </a:pPr>
                <a:r>
                  <a:rPr lang="es-ES" sz="800" b="1" dirty="0">
                    <a:solidFill>
                      <a:srgbClr val="000000"/>
                    </a:solidFill>
                    <a:latin typeface="Trebuchet MS" panose="020B0603020202020204" pitchFamily="34" charset="0"/>
                    <a:ea typeface="Verdana" panose="020B0604030504040204" pitchFamily="34" charset="0"/>
                    <a:cs typeface="Zilla Slab Light"/>
                    <a:sym typeface="Zilla Slab Light"/>
                  </a:rPr>
                  <a:t>Síntomas alimentarios: </a:t>
                </a:r>
                <a: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t>anorexia, náuseas, hambre, sed, antojos, bulimia.</a:t>
                </a:r>
                <a:endParaRPr kumimoji="0" lang="en-US" sz="800" i="0" u="none" strike="noStrike" kern="1200" cap="none" normalizeH="0" baseline="0" noProof="0" dirty="0">
                  <a:ln>
                    <a:noFill/>
                  </a:ln>
                  <a:solidFill>
                    <a:srgbClr val="000000"/>
                  </a:solidFill>
                  <a:uLnTx/>
                  <a:uFillTx/>
                  <a:latin typeface="Trebuchet MS" panose="020B0603020202020204" pitchFamily="34" charset="0"/>
                  <a:ea typeface="Verdana" panose="020B0604030504040204" pitchFamily="34" charset="0"/>
                  <a:cs typeface="Zilla Slab Light"/>
                  <a:sym typeface="Zilla Slab Light"/>
                </a:endParaRPr>
              </a:p>
            </p:txBody>
          </p:sp>
          <p:grpSp>
            <p:nvGrpSpPr>
              <p:cNvPr id="106" name="Group 105">
                <a:extLst>
                  <a:ext uri="{FF2B5EF4-FFF2-40B4-BE49-F238E27FC236}">
                    <a16:creationId xmlns:a16="http://schemas.microsoft.com/office/drawing/2014/main" id="{9508BD55-4676-4343-B5D4-48EA5C4CC0B2}"/>
                  </a:ext>
                </a:extLst>
              </p:cNvPr>
              <p:cNvGrpSpPr/>
              <p:nvPr/>
            </p:nvGrpSpPr>
            <p:grpSpPr>
              <a:xfrm>
                <a:off x="1547813" y="3609976"/>
                <a:ext cx="2052637" cy="652462"/>
                <a:chOff x="1728788" y="3505200"/>
                <a:chExt cx="1729654" cy="652462"/>
              </a:xfrm>
            </p:grpSpPr>
            <p:cxnSp>
              <p:nvCxnSpPr>
                <p:cNvPr id="101" name="Straight Connector 100">
                  <a:extLst>
                    <a:ext uri="{FF2B5EF4-FFF2-40B4-BE49-F238E27FC236}">
                      <a16:creationId xmlns:a16="http://schemas.microsoft.com/office/drawing/2014/main" id="{799B4FDF-FC7B-4DA8-B743-7B796A8183B3}"/>
                    </a:ext>
                  </a:extLst>
                </p:cNvPr>
                <p:cNvCxnSpPr>
                  <a:cxnSpLocks/>
                </p:cNvCxnSpPr>
                <p:nvPr/>
              </p:nvCxnSpPr>
              <p:spPr>
                <a:xfrm>
                  <a:off x="1728788" y="3505200"/>
                  <a:ext cx="1729654" cy="0"/>
                </a:xfrm>
                <a:prstGeom prst="line">
                  <a:avLst/>
                </a:prstGeom>
                <a:ln w="3175">
                  <a:solidFill>
                    <a:srgbClr val="000000">
                      <a:alpha val="50196"/>
                    </a:srgb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BEE38998-EFED-4EFF-AAD8-68E2107FEE69}"/>
                    </a:ext>
                  </a:extLst>
                </p:cNvPr>
                <p:cNvCxnSpPr>
                  <a:cxnSpLocks/>
                </p:cNvCxnSpPr>
                <p:nvPr/>
              </p:nvCxnSpPr>
              <p:spPr>
                <a:xfrm>
                  <a:off x="1728788" y="3786186"/>
                  <a:ext cx="1729654" cy="0"/>
                </a:xfrm>
                <a:prstGeom prst="line">
                  <a:avLst/>
                </a:prstGeom>
                <a:ln w="3175">
                  <a:solidFill>
                    <a:srgbClr val="000000">
                      <a:alpha val="50196"/>
                    </a:srgb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9A0CC32E-C790-4036-9FD8-3764062CFDE7}"/>
                    </a:ext>
                  </a:extLst>
                </p:cNvPr>
                <p:cNvCxnSpPr>
                  <a:cxnSpLocks/>
                </p:cNvCxnSpPr>
                <p:nvPr/>
              </p:nvCxnSpPr>
              <p:spPr>
                <a:xfrm>
                  <a:off x="1728788" y="4157662"/>
                  <a:ext cx="1721628" cy="0"/>
                </a:xfrm>
                <a:prstGeom prst="line">
                  <a:avLst/>
                </a:prstGeom>
                <a:ln w="3175">
                  <a:solidFill>
                    <a:srgbClr val="000000">
                      <a:alpha val="50196"/>
                    </a:srgbClr>
                  </a:solidFill>
                </a:ln>
              </p:spPr>
              <p:style>
                <a:lnRef idx="1">
                  <a:schemeClr val="accent1"/>
                </a:lnRef>
                <a:fillRef idx="0">
                  <a:schemeClr val="accent1"/>
                </a:fillRef>
                <a:effectRef idx="0">
                  <a:schemeClr val="accent1"/>
                </a:effectRef>
                <a:fontRef idx="minor">
                  <a:schemeClr val="tx1"/>
                </a:fontRef>
              </p:style>
            </p:cxnSp>
          </p:grpSp>
        </p:grpSp>
        <p:grpSp>
          <p:nvGrpSpPr>
            <p:cNvPr id="109" name="Group 108">
              <a:extLst>
                <a:ext uri="{FF2B5EF4-FFF2-40B4-BE49-F238E27FC236}">
                  <a16:creationId xmlns:a16="http://schemas.microsoft.com/office/drawing/2014/main" id="{A49056F7-4749-47AD-B743-12A476100060}"/>
                </a:ext>
              </a:extLst>
            </p:cNvPr>
            <p:cNvGrpSpPr/>
            <p:nvPr/>
          </p:nvGrpSpPr>
          <p:grpSpPr>
            <a:xfrm>
              <a:off x="2195056" y="2585281"/>
              <a:ext cx="1069099" cy="196977"/>
              <a:chOff x="2195056" y="2474987"/>
              <a:chExt cx="1069099" cy="196977"/>
            </a:xfrm>
          </p:grpSpPr>
          <p:sp>
            <p:nvSpPr>
              <p:cNvPr id="107" name="Rectangle: Rounded Corners 106">
                <a:extLst>
                  <a:ext uri="{FF2B5EF4-FFF2-40B4-BE49-F238E27FC236}">
                    <a16:creationId xmlns:a16="http://schemas.microsoft.com/office/drawing/2014/main" id="{595CED7E-483F-4AF7-A6F6-00DED2246398}"/>
                  </a:ext>
                </a:extLst>
              </p:cNvPr>
              <p:cNvSpPr/>
              <p:nvPr/>
            </p:nvSpPr>
            <p:spPr>
              <a:xfrm>
                <a:off x="2195056" y="2483286"/>
                <a:ext cx="1069099" cy="156112"/>
              </a:xfrm>
              <a:prstGeom prst="roundRect">
                <a:avLst>
                  <a:gd name="adj" fmla="val 50000"/>
                </a:avLst>
              </a:prstGeom>
              <a:solidFill>
                <a:srgbClr val="0048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2000" b="0" i="0" u="none" strike="noStrike" kern="1200" cap="none" normalizeH="0" baseline="0" noProof="0">
                  <a:ln>
                    <a:noFill/>
                  </a:ln>
                  <a:solidFill>
                    <a:prstClr val="white"/>
                  </a:solidFill>
                  <a:effectLst/>
                  <a:uLnTx/>
                  <a:uFillTx/>
                  <a:latin typeface="Calibri" panose="020F0502020204030204"/>
                  <a:ea typeface="+mn-ea"/>
                  <a:cs typeface="+mn-cs"/>
                </a:endParaRPr>
              </a:p>
            </p:txBody>
          </p:sp>
          <p:sp>
            <p:nvSpPr>
              <p:cNvPr id="108" name="TextBox 107">
                <a:extLst>
                  <a:ext uri="{FF2B5EF4-FFF2-40B4-BE49-F238E27FC236}">
                    <a16:creationId xmlns:a16="http://schemas.microsoft.com/office/drawing/2014/main" id="{560CDEF1-B05B-4107-A463-757B28555461}"/>
                  </a:ext>
                </a:extLst>
              </p:cNvPr>
              <p:cNvSpPr txBox="1"/>
              <p:nvPr/>
            </p:nvSpPr>
            <p:spPr>
              <a:xfrm>
                <a:off x="2274685" y="2474987"/>
                <a:ext cx="909840" cy="196977"/>
              </a:xfrm>
              <a:prstGeom prst="rect">
                <a:avLst/>
              </a:prstGeom>
              <a:noFill/>
            </p:spPr>
            <p:txBody>
              <a:bodyPr wrap="square" lIns="0" rIns="0" rtlCol="0">
                <a:spAutoFit/>
              </a:bodyPr>
              <a:lstStyle/>
              <a:p>
                <a:pPr lvl="0" algn="ctr">
                  <a:lnSpc>
                    <a:spcPct val="85000"/>
                  </a:lnSpc>
                  <a:defRPr/>
                </a:pPr>
                <a:r>
                  <a:rPr lang="es-ES" sz="800" b="1" dirty="0">
                    <a:solidFill>
                      <a:schemeClr val="bg1"/>
                    </a:solidFill>
                    <a:latin typeface="Trebuchet MS" panose="020B0603020202020204" pitchFamily="34" charset="0"/>
                    <a:ea typeface="Verdana" panose="020B0604030504040204" pitchFamily="34" charset="0"/>
                    <a:cs typeface="Zilla Slab Light"/>
                    <a:sym typeface="Zilla Slab Light"/>
                  </a:rPr>
                  <a:t>SÍNTOMAS</a:t>
                </a:r>
                <a:endParaRPr kumimoji="0" lang="en-US" sz="800" b="1" i="0" u="none" strike="noStrike" kern="1200" cap="none" normalizeH="0" baseline="0" noProof="0" dirty="0">
                  <a:ln>
                    <a:noFill/>
                  </a:ln>
                  <a:solidFill>
                    <a:schemeClr val="bg1"/>
                  </a:solidFill>
                  <a:uLnTx/>
                  <a:uFillTx/>
                  <a:latin typeface="Trebuchet MS" panose="020B0603020202020204" pitchFamily="34" charset="0"/>
                  <a:ea typeface="Verdana" panose="020B0604030504040204" pitchFamily="34" charset="0"/>
                  <a:cs typeface="Zilla Slab Light"/>
                  <a:sym typeface="Zilla Slab Light"/>
                </a:endParaRPr>
              </a:p>
            </p:txBody>
          </p:sp>
        </p:grpSp>
        <p:cxnSp>
          <p:nvCxnSpPr>
            <p:cNvPr id="112" name="Straight Connector 111">
              <a:extLst>
                <a:ext uri="{FF2B5EF4-FFF2-40B4-BE49-F238E27FC236}">
                  <a16:creationId xmlns:a16="http://schemas.microsoft.com/office/drawing/2014/main" id="{B85D6446-CD2A-4CC3-AFEF-7E2C825279B7}"/>
                </a:ext>
              </a:extLst>
            </p:cNvPr>
            <p:cNvCxnSpPr>
              <a:cxnSpLocks/>
            </p:cNvCxnSpPr>
            <p:nvPr/>
          </p:nvCxnSpPr>
          <p:spPr>
            <a:xfrm>
              <a:off x="4146591" y="1507861"/>
              <a:ext cx="4240821" cy="0"/>
            </a:xfrm>
            <a:prstGeom prst="line">
              <a:avLst/>
            </a:prstGeom>
            <a:ln w="38100">
              <a:solidFill>
                <a:srgbClr val="00AEEF"/>
              </a:solidFill>
            </a:ln>
          </p:spPr>
          <p:style>
            <a:lnRef idx="1">
              <a:schemeClr val="accent1"/>
            </a:lnRef>
            <a:fillRef idx="0">
              <a:schemeClr val="accent1"/>
            </a:fillRef>
            <a:effectRef idx="0">
              <a:schemeClr val="accent1"/>
            </a:effectRef>
            <a:fontRef idx="minor">
              <a:schemeClr val="tx1"/>
            </a:fontRef>
          </p:style>
        </p:cxnSp>
        <p:pic>
          <p:nvPicPr>
            <p:cNvPr id="75" name="Graphic 74">
              <a:extLst>
                <a:ext uri="{FF2B5EF4-FFF2-40B4-BE49-F238E27FC236}">
                  <a16:creationId xmlns:a16="http://schemas.microsoft.com/office/drawing/2014/main" id="{D9A67E4A-7C73-4A99-BD24-1D8439B0AEE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77950" y="1411550"/>
              <a:ext cx="612886" cy="192622"/>
            </a:xfrm>
            <a:prstGeom prst="rect">
              <a:avLst/>
            </a:prstGeom>
          </p:spPr>
        </p:pic>
        <p:pic>
          <p:nvPicPr>
            <p:cNvPr id="76" name="Graphic 75">
              <a:extLst>
                <a:ext uri="{FF2B5EF4-FFF2-40B4-BE49-F238E27FC236}">
                  <a16:creationId xmlns:a16="http://schemas.microsoft.com/office/drawing/2014/main" id="{90FA6FDF-8107-4145-A08E-6C1A0F4E232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00796" y="1411550"/>
              <a:ext cx="612886" cy="192622"/>
            </a:xfrm>
            <a:prstGeom prst="rect">
              <a:avLst/>
            </a:prstGeom>
          </p:spPr>
        </p:pic>
        <p:sp>
          <p:nvSpPr>
            <p:cNvPr id="114" name="TextBox 113">
              <a:extLst>
                <a:ext uri="{FF2B5EF4-FFF2-40B4-BE49-F238E27FC236}">
                  <a16:creationId xmlns:a16="http://schemas.microsoft.com/office/drawing/2014/main" id="{B5594DAB-203C-4875-B6E8-01A64EB0EF3D}"/>
                </a:ext>
              </a:extLst>
            </p:cNvPr>
            <p:cNvSpPr txBox="1"/>
            <p:nvPr/>
          </p:nvSpPr>
          <p:spPr>
            <a:xfrm>
              <a:off x="1861767" y="1666492"/>
              <a:ext cx="1735676" cy="275460"/>
            </a:xfrm>
            <a:prstGeom prst="rect">
              <a:avLst/>
            </a:prstGeom>
            <a:noFill/>
          </p:spPr>
          <p:txBody>
            <a:bodyPr wrap="square" rtlCol="0">
              <a:spAutoFit/>
            </a:bodyPr>
            <a:lstStyle/>
            <a:p>
              <a:pPr lvl="0" algn="ctr">
                <a:lnSpc>
                  <a:spcPct val="85000"/>
                </a:lnSpc>
                <a:spcAft>
                  <a:spcPts val="600"/>
                </a:spcAft>
                <a:defRPr/>
              </a:pPr>
              <a:r>
                <a:rPr lang="es-ES" sz="1400" b="1" dirty="0">
                  <a:solidFill>
                    <a:srgbClr val="000000"/>
                  </a:solidFill>
                  <a:latin typeface="Trebuchet MS" panose="020B0603020202020204" pitchFamily="34" charset="0"/>
                  <a:ea typeface="Verdana" panose="020B0604030504040204" pitchFamily="34" charset="0"/>
                  <a:cs typeface="Zilla Slab Light"/>
                  <a:sym typeface="Zilla Slab Light"/>
                </a:rPr>
                <a:t>PRÓDROMO</a:t>
              </a:r>
              <a:endParaRPr kumimoji="0" lang="en-US" sz="1400" b="1" i="0" u="none" strike="noStrike" kern="1200" cap="none" normalizeH="0" baseline="0" noProof="0" dirty="0">
                <a:ln>
                  <a:noFill/>
                </a:ln>
                <a:solidFill>
                  <a:srgbClr val="000000"/>
                </a:solidFill>
                <a:uLnTx/>
                <a:uFillTx/>
                <a:latin typeface="Trebuchet MS" panose="020B0603020202020204" pitchFamily="34" charset="0"/>
                <a:ea typeface="Verdana" panose="020B0604030504040204" pitchFamily="34" charset="0"/>
                <a:cs typeface="Zilla Slab Light"/>
                <a:sym typeface="Zilla Slab Light"/>
              </a:endParaRPr>
            </a:p>
          </p:txBody>
        </p:sp>
        <p:sp>
          <p:nvSpPr>
            <p:cNvPr id="115" name="TextBox 114">
              <a:extLst>
                <a:ext uri="{FF2B5EF4-FFF2-40B4-BE49-F238E27FC236}">
                  <a16:creationId xmlns:a16="http://schemas.microsoft.com/office/drawing/2014/main" id="{669D8575-6562-4F91-B8A5-F961B8570BA6}"/>
                </a:ext>
              </a:extLst>
            </p:cNvPr>
            <p:cNvSpPr txBox="1"/>
            <p:nvPr/>
          </p:nvSpPr>
          <p:spPr>
            <a:xfrm>
              <a:off x="4543425" y="1666492"/>
              <a:ext cx="884184" cy="275460"/>
            </a:xfrm>
            <a:prstGeom prst="rect">
              <a:avLst/>
            </a:prstGeom>
            <a:noFill/>
          </p:spPr>
          <p:txBody>
            <a:bodyPr wrap="square" rtlCol="0">
              <a:spAutoFit/>
            </a:bodyPr>
            <a:lstStyle/>
            <a:p>
              <a:pPr lvl="0" algn="ctr">
                <a:lnSpc>
                  <a:spcPct val="85000"/>
                </a:lnSpc>
                <a:spcAft>
                  <a:spcPts val="600"/>
                </a:spcAft>
                <a:defRPr/>
              </a:pPr>
              <a:r>
                <a:rPr lang="es-ES" sz="1400" b="1" dirty="0">
                  <a:solidFill>
                    <a:srgbClr val="000000"/>
                  </a:solidFill>
                  <a:latin typeface="Trebuchet MS" panose="020B0603020202020204" pitchFamily="34" charset="0"/>
                  <a:ea typeface="Verdana" panose="020B0604030504040204" pitchFamily="34" charset="0"/>
                  <a:cs typeface="Zilla Slab Light"/>
                  <a:sym typeface="Zilla Slab Light"/>
                </a:rPr>
                <a:t>AURA</a:t>
              </a:r>
              <a:endParaRPr kumimoji="0" lang="en-US" sz="1400" b="1" i="0" u="none" strike="noStrike" kern="1200" cap="none" normalizeH="0" baseline="0" noProof="0" dirty="0">
                <a:ln>
                  <a:noFill/>
                </a:ln>
                <a:solidFill>
                  <a:srgbClr val="000000"/>
                </a:solidFill>
                <a:uLnTx/>
                <a:uFillTx/>
                <a:latin typeface="Trebuchet MS" panose="020B0603020202020204" pitchFamily="34" charset="0"/>
                <a:ea typeface="Verdana" panose="020B0604030504040204" pitchFamily="34" charset="0"/>
                <a:cs typeface="Zilla Slab Light"/>
                <a:sym typeface="Zilla Slab Light"/>
              </a:endParaRPr>
            </a:p>
          </p:txBody>
        </p:sp>
        <p:sp>
          <p:nvSpPr>
            <p:cNvPr id="116" name="TextBox 115">
              <a:extLst>
                <a:ext uri="{FF2B5EF4-FFF2-40B4-BE49-F238E27FC236}">
                  <a16:creationId xmlns:a16="http://schemas.microsoft.com/office/drawing/2014/main" id="{69ABC801-D4DF-4AEA-8C9D-289586513E6D}"/>
                </a:ext>
              </a:extLst>
            </p:cNvPr>
            <p:cNvSpPr txBox="1"/>
            <p:nvPr/>
          </p:nvSpPr>
          <p:spPr>
            <a:xfrm>
              <a:off x="6169029" y="1666492"/>
              <a:ext cx="1876422" cy="275460"/>
            </a:xfrm>
            <a:prstGeom prst="rect">
              <a:avLst/>
            </a:prstGeom>
            <a:noFill/>
          </p:spPr>
          <p:txBody>
            <a:bodyPr wrap="square" rtlCol="0">
              <a:spAutoFit/>
            </a:bodyPr>
            <a:lstStyle/>
            <a:p>
              <a:pPr lvl="0" algn="ctr">
                <a:lnSpc>
                  <a:spcPct val="85000"/>
                </a:lnSpc>
                <a:spcAft>
                  <a:spcPts val="600"/>
                </a:spcAft>
                <a:defRPr/>
              </a:pPr>
              <a:r>
                <a:rPr lang="es-ES" sz="1400" b="1" dirty="0">
                  <a:solidFill>
                    <a:srgbClr val="000000"/>
                  </a:solidFill>
                  <a:latin typeface="Trebuchet MS" panose="020B0603020202020204" pitchFamily="34" charset="0"/>
                  <a:ea typeface="Verdana" panose="020B0604030504040204" pitchFamily="34" charset="0"/>
                  <a:cs typeface="Zilla Slab Light"/>
                  <a:sym typeface="Zilla Slab Light"/>
                </a:rPr>
                <a:t>DOLOR DE CABEZA</a:t>
              </a:r>
              <a:endParaRPr kumimoji="0" lang="en-US" sz="1400" b="1" i="0" u="none" strike="noStrike" kern="1200" cap="none" normalizeH="0" baseline="0" noProof="0" dirty="0">
                <a:ln>
                  <a:noFill/>
                </a:ln>
                <a:solidFill>
                  <a:srgbClr val="000000"/>
                </a:solidFill>
                <a:uLnTx/>
                <a:uFillTx/>
                <a:latin typeface="Trebuchet MS" panose="020B0603020202020204" pitchFamily="34" charset="0"/>
                <a:ea typeface="Verdana" panose="020B0604030504040204" pitchFamily="34" charset="0"/>
                <a:cs typeface="Zilla Slab Light"/>
                <a:sym typeface="Zilla Slab Light"/>
              </a:endParaRPr>
            </a:p>
          </p:txBody>
        </p:sp>
        <p:sp>
          <p:nvSpPr>
            <p:cNvPr id="117" name="TextBox 116">
              <a:extLst>
                <a:ext uri="{FF2B5EF4-FFF2-40B4-BE49-F238E27FC236}">
                  <a16:creationId xmlns:a16="http://schemas.microsoft.com/office/drawing/2014/main" id="{B14C8E10-205B-49D7-A150-D39ED537912B}"/>
                </a:ext>
              </a:extLst>
            </p:cNvPr>
            <p:cNvSpPr txBox="1"/>
            <p:nvPr/>
          </p:nvSpPr>
          <p:spPr>
            <a:xfrm>
              <a:off x="9047913" y="1666492"/>
              <a:ext cx="1876422" cy="275460"/>
            </a:xfrm>
            <a:prstGeom prst="rect">
              <a:avLst/>
            </a:prstGeom>
            <a:noFill/>
          </p:spPr>
          <p:txBody>
            <a:bodyPr wrap="square" rtlCol="0">
              <a:spAutoFit/>
            </a:bodyPr>
            <a:lstStyle/>
            <a:p>
              <a:pPr lvl="0" algn="ctr">
                <a:lnSpc>
                  <a:spcPct val="85000"/>
                </a:lnSpc>
                <a:spcAft>
                  <a:spcPts val="600"/>
                </a:spcAft>
                <a:defRPr/>
              </a:pPr>
              <a:r>
                <a:rPr lang="es-ES" sz="1400" b="1" dirty="0">
                  <a:solidFill>
                    <a:srgbClr val="000000"/>
                  </a:solidFill>
                  <a:latin typeface="Trebuchet MS" panose="020B0603020202020204" pitchFamily="34" charset="0"/>
                  <a:ea typeface="Verdana" panose="020B0604030504040204" pitchFamily="34" charset="0"/>
                  <a:cs typeface="Zilla Slab Light"/>
                  <a:sym typeface="Zilla Slab Light"/>
                </a:rPr>
                <a:t>PÓSDROMO</a:t>
              </a:r>
              <a:endParaRPr kumimoji="0" lang="en-US" sz="1400" b="1" i="0" u="none" strike="noStrike" kern="1200" cap="none" normalizeH="0" baseline="0" noProof="0" dirty="0">
                <a:ln>
                  <a:noFill/>
                </a:ln>
                <a:solidFill>
                  <a:srgbClr val="000000"/>
                </a:solidFill>
                <a:uLnTx/>
                <a:uFillTx/>
                <a:latin typeface="Trebuchet MS" panose="020B0603020202020204" pitchFamily="34" charset="0"/>
                <a:ea typeface="Verdana" panose="020B0604030504040204" pitchFamily="34" charset="0"/>
                <a:cs typeface="Zilla Slab Light"/>
                <a:sym typeface="Zilla Slab Light"/>
              </a:endParaRPr>
            </a:p>
          </p:txBody>
        </p:sp>
        <p:sp>
          <p:nvSpPr>
            <p:cNvPr id="120" name="TextBox 119">
              <a:extLst>
                <a:ext uri="{FF2B5EF4-FFF2-40B4-BE49-F238E27FC236}">
                  <a16:creationId xmlns:a16="http://schemas.microsoft.com/office/drawing/2014/main" id="{7503A8D7-2D44-44A7-8FEA-E6443F80EB4E}"/>
                </a:ext>
              </a:extLst>
            </p:cNvPr>
            <p:cNvSpPr txBox="1"/>
            <p:nvPr/>
          </p:nvSpPr>
          <p:spPr>
            <a:xfrm>
              <a:off x="4145821" y="1952877"/>
              <a:ext cx="1686556" cy="406265"/>
            </a:xfrm>
            <a:prstGeom prst="rect">
              <a:avLst/>
            </a:prstGeom>
            <a:noFill/>
          </p:spPr>
          <p:txBody>
            <a:bodyPr wrap="square" lIns="0" rIns="0" rtlCol="0">
              <a:spAutoFit/>
            </a:bodyPr>
            <a:lstStyle/>
            <a:p>
              <a:pPr lvl="0" algn="ctr">
                <a:lnSpc>
                  <a:spcPct val="85000"/>
                </a:lnSpc>
                <a:spcAft>
                  <a:spcPts val="600"/>
                </a:spcAft>
                <a:defRPr/>
              </a:pPr>
              <a:r>
                <a:rPr lang="es-ES" sz="800" b="1" spc="-50" dirty="0">
                  <a:solidFill>
                    <a:srgbClr val="000000"/>
                  </a:solidFill>
                  <a:latin typeface="Trebuchet MS" panose="020B0603020202020204" pitchFamily="34" charset="0"/>
                  <a:ea typeface="Verdana" panose="020B0604030504040204" pitchFamily="34" charset="0"/>
                  <a:cs typeface="Zilla Slab Light"/>
                  <a:sym typeface="Zilla Slab Light"/>
                </a:rPr>
                <a:t>DISFUNCIÓN NEUROLÓGICA FOCAL </a:t>
              </a:r>
              <a:r>
                <a:rPr lang="es-ES" sz="800" b="1" dirty="0">
                  <a:solidFill>
                    <a:srgbClr val="000000"/>
                  </a:solidFill>
                  <a:latin typeface="Trebuchet MS" panose="020B0603020202020204" pitchFamily="34" charset="0"/>
                  <a:ea typeface="Verdana" panose="020B0604030504040204" pitchFamily="34" charset="0"/>
                  <a:cs typeface="Zilla Slab Light"/>
                  <a:sym typeface="Zilla Slab Light"/>
                </a:rPr>
                <a:t>TRANSITORIA QUE PRECEDE </a:t>
              </a:r>
              <a:br>
                <a:rPr lang="es-ES" sz="800" b="1" dirty="0">
                  <a:solidFill>
                    <a:srgbClr val="000000"/>
                  </a:solidFill>
                  <a:latin typeface="Trebuchet MS" panose="020B0603020202020204" pitchFamily="34" charset="0"/>
                  <a:ea typeface="Verdana" panose="020B0604030504040204" pitchFamily="34" charset="0"/>
                  <a:cs typeface="Zilla Slab Light"/>
                  <a:sym typeface="Zilla Slab Light"/>
                </a:rPr>
              </a:br>
              <a:r>
                <a:rPr lang="es-ES" sz="800" b="1" dirty="0">
                  <a:solidFill>
                    <a:srgbClr val="000000"/>
                  </a:solidFill>
                  <a:latin typeface="Trebuchet MS" panose="020B0603020202020204" pitchFamily="34" charset="0"/>
                  <a:ea typeface="Verdana" panose="020B0604030504040204" pitchFamily="34" charset="0"/>
                  <a:cs typeface="Zilla Slab Light"/>
                  <a:sym typeface="Zilla Slab Light"/>
                </a:rPr>
                <a:t>AL DOLOR DE CABEZA.</a:t>
              </a:r>
            </a:p>
          </p:txBody>
        </p:sp>
        <p:sp>
          <p:nvSpPr>
            <p:cNvPr id="121" name="TextBox 120">
              <a:extLst>
                <a:ext uri="{FF2B5EF4-FFF2-40B4-BE49-F238E27FC236}">
                  <a16:creationId xmlns:a16="http://schemas.microsoft.com/office/drawing/2014/main" id="{DBEE549B-EC85-4502-8848-0376B1DAB01D}"/>
                </a:ext>
              </a:extLst>
            </p:cNvPr>
            <p:cNvSpPr txBox="1"/>
            <p:nvPr/>
          </p:nvSpPr>
          <p:spPr>
            <a:xfrm>
              <a:off x="4144158" y="2827020"/>
              <a:ext cx="1688220" cy="615553"/>
            </a:xfrm>
            <a:prstGeom prst="rect">
              <a:avLst/>
            </a:prstGeom>
            <a:noFill/>
          </p:spPr>
          <p:txBody>
            <a:bodyPr wrap="square" rtlCol="0">
              <a:spAutoFit/>
            </a:bodyPr>
            <a:lstStyle/>
            <a:p>
              <a:pPr lvl="0">
                <a:lnSpc>
                  <a:spcPct val="85000"/>
                </a:lnSpc>
                <a:spcAft>
                  <a:spcPts val="600"/>
                </a:spcAft>
                <a:defRPr/>
              </a:pPr>
              <a:r>
                <a:rPr lang="es-ES" sz="800" b="1" dirty="0">
                  <a:solidFill>
                    <a:srgbClr val="000000"/>
                  </a:solidFill>
                  <a:latin typeface="Trebuchet MS" panose="020B0603020202020204" pitchFamily="34" charset="0"/>
                  <a:ea typeface="Verdana" panose="020B0604030504040204" pitchFamily="34" charset="0"/>
                  <a:cs typeface="Zilla Slab Light"/>
                  <a:sym typeface="Zilla Slab Light"/>
                </a:rPr>
                <a:t>Visuales: </a:t>
              </a:r>
              <a: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t>manchas blancas, flashes/ luces brillantes e intermitentes, líneas de colores en zigzag, pérdida parcial </a:t>
              </a:r>
              <a:b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br>
              <a: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t>de la visión. </a:t>
              </a:r>
              <a:endParaRPr kumimoji="0" lang="en-US" sz="800" i="0" u="none" strike="noStrike" kern="1200" cap="none" normalizeH="0" baseline="0" noProof="0" dirty="0">
                <a:ln>
                  <a:noFill/>
                </a:ln>
                <a:solidFill>
                  <a:srgbClr val="000000"/>
                </a:solidFill>
                <a:uLnTx/>
                <a:uFillTx/>
                <a:latin typeface="Trebuchet MS" panose="020B0603020202020204" pitchFamily="34" charset="0"/>
                <a:ea typeface="Verdana" panose="020B0604030504040204" pitchFamily="34" charset="0"/>
                <a:cs typeface="Zilla Slab Light"/>
                <a:sym typeface="Zilla Slab Light"/>
              </a:endParaRPr>
            </a:p>
          </p:txBody>
        </p:sp>
        <p:grpSp>
          <p:nvGrpSpPr>
            <p:cNvPr id="123" name="Group 122">
              <a:extLst>
                <a:ext uri="{FF2B5EF4-FFF2-40B4-BE49-F238E27FC236}">
                  <a16:creationId xmlns:a16="http://schemas.microsoft.com/office/drawing/2014/main" id="{13936C6A-F009-40BE-91BA-98B082BFE959}"/>
                </a:ext>
              </a:extLst>
            </p:cNvPr>
            <p:cNvGrpSpPr/>
            <p:nvPr/>
          </p:nvGrpSpPr>
          <p:grpSpPr>
            <a:xfrm>
              <a:off x="4206876" y="2532128"/>
              <a:ext cx="1557378" cy="290203"/>
              <a:chOff x="1206501" y="2352675"/>
              <a:chExt cx="1557378" cy="290203"/>
            </a:xfrm>
          </p:grpSpPr>
          <p:sp>
            <p:nvSpPr>
              <p:cNvPr id="124" name="Rectangle: Rounded Corners 123">
                <a:extLst>
                  <a:ext uri="{FF2B5EF4-FFF2-40B4-BE49-F238E27FC236}">
                    <a16:creationId xmlns:a16="http://schemas.microsoft.com/office/drawing/2014/main" id="{30F93247-A023-4060-A75A-04BC079A6BF7}"/>
                  </a:ext>
                </a:extLst>
              </p:cNvPr>
              <p:cNvSpPr/>
              <p:nvPr/>
            </p:nvSpPr>
            <p:spPr>
              <a:xfrm>
                <a:off x="1206501" y="2352675"/>
                <a:ext cx="1557378" cy="286723"/>
              </a:xfrm>
              <a:prstGeom prst="roundRect">
                <a:avLst>
                  <a:gd name="adj" fmla="val 50000"/>
                </a:avLst>
              </a:prstGeom>
              <a:solidFill>
                <a:srgbClr val="0048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20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 name="TextBox 124">
                <a:extLst>
                  <a:ext uri="{FF2B5EF4-FFF2-40B4-BE49-F238E27FC236}">
                    <a16:creationId xmlns:a16="http://schemas.microsoft.com/office/drawing/2014/main" id="{B2ACA28F-FFA9-4794-8A35-F718D27CB39E}"/>
                  </a:ext>
                </a:extLst>
              </p:cNvPr>
              <p:cNvSpPr txBox="1"/>
              <p:nvPr/>
            </p:nvSpPr>
            <p:spPr>
              <a:xfrm>
                <a:off x="1247776" y="2354337"/>
                <a:ext cx="1469960" cy="288541"/>
              </a:xfrm>
              <a:prstGeom prst="rect">
                <a:avLst/>
              </a:prstGeom>
              <a:noFill/>
            </p:spPr>
            <p:txBody>
              <a:bodyPr wrap="square" lIns="0" rIns="0" rtlCol="0">
                <a:spAutoFit/>
              </a:bodyPr>
              <a:lstStyle/>
              <a:p>
                <a:pPr lvl="0" algn="ctr">
                  <a:lnSpc>
                    <a:spcPct val="85000"/>
                  </a:lnSpc>
                  <a:defRPr/>
                </a:pPr>
                <a:r>
                  <a:rPr lang="es-ES" sz="800" b="1" dirty="0">
                    <a:solidFill>
                      <a:schemeClr val="bg1"/>
                    </a:solidFill>
                    <a:latin typeface="Trebuchet MS" panose="020B0603020202020204" pitchFamily="34" charset="0"/>
                    <a:ea typeface="Verdana" panose="020B0604030504040204" pitchFamily="34" charset="0"/>
                    <a:cs typeface="Zilla Slab Light"/>
                    <a:sym typeface="Zilla Slab Light"/>
                  </a:rPr>
                  <a:t>SÍNTOMAS MÁS COMUNES </a:t>
                </a:r>
                <a:r>
                  <a:rPr lang="es-ES" sz="700" b="1" dirty="0">
                    <a:solidFill>
                      <a:schemeClr val="bg1"/>
                    </a:solidFill>
                    <a:latin typeface="Trebuchet MS" panose="020B0603020202020204" pitchFamily="34" charset="0"/>
                    <a:ea typeface="Verdana" panose="020B0604030504040204" pitchFamily="34" charset="0"/>
                    <a:cs typeface="Zilla Slab Light"/>
                    <a:sym typeface="Zilla Slab Light"/>
                  </a:rPr>
                  <a:t>(TOTALMENTE REVERSIBLES):</a:t>
                </a:r>
                <a:endParaRPr kumimoji="0" lang="en-US" sz="800" b="1" i="0" u="none" strike="noStrike" kern="1200" cap="none" normalizeH="0" baseline="0" noProof="0" dirty="0">
                  <a:ln>
                    <a:noFill/>
                  </a:ln>
                  <a:solidFill>
                    <a:schemeClr val="bg1"/>
                  </a:solidFill>
                  <a:uLnTx/>
                  <a:uFillTx/>
                  <a:latin typeface="Trebuchet MS" panose="020B0603020202020204" pitchFamily="34" charset="0"/>
                  <a:ea typeface="Verdana" panose="020B0604030504040204" pitchFamily="34" charset="0"/>
                  <a:cs typeface="Zilla Slab Light"/>
                  <a:sym typeface="Zilla Slab Light"/>
                </a:endParaRPr>
              </a:p>
            </p:txBody>
          </p:sp>
        </p:grpSp>
        <p:grpSp>
          <p:nvGrpSpPr>
            <p:cNvPr id="130" name="Group 129">
              <a:extLst>
                <a:ext uri="{FF2B5EF4-FFF2-40B4-BE49-F238E27FC236}">
                  <a16:creationId xmlns:a16="http://schemas.microsoft.com/office/drawing/2014/main" id="{9EF58C9D-CF32-4E89-9B88-FF77EDD57910}"/>
                </a:ext>
              </a:extLst>
            </p:cNvPr>
            <p:cNvGrpSpPr/>
            <p:nvPr/>
          </p:nvGrpSpPr>
          <p:grpSpPr>
            <a:xfrm>
              <a:off x="4206876" y="3515108"/>
              <a:ext cx="1557378" cy="198639"/>
              <a:chOff x="1206501" y="2352675"/>
              <a:chExt cx="1557378" cy="198639"/>
            </a:xfrm>
          </p:grpSpPr>
          <p:sp>
            <p:nvSpPr>
              <p:cNvPr id="131" name="Rectangle: Rounded Corners 130">
                <a:extLst>
                  <a:ext uri="{FF2B5EF4-FFF2-40B4-BE49-F238E27FC236}">
                    <a16:creationId xmlns:a16="http://schemas.microsoft.com/office/drawing/2014/main" id="{CB250466-B398-48CC-A22F-BFBFB5FFDBA7}"/>
                  </a:ext>
                </a:extLst>
              </p:cNvPr>
              <p:cNvSpPr/>
              <p:nvPr/>
            </p:nvSpPr>
            <p:spPr>
              <a:xfrm>
                <a:off x="1206501" y="2352675"/>
                <a:ext cx="1557378" cy="171775"/>
              </a:xfrm>
              <a:prstGeom prst="roundRect">
                <a:avLst>
                  <a:gd name="adj" fmla="val 50000"/>
                </a:avLst>
              </a:prstGeom>
              <a:solidFill>
                <a:srgbClr val="0048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20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 name="TextBox 131">
                <a:extLst>
                  <a:ext uri="{FF2B5EF4-FFF2-40B4-BE49-F238E27FC236}">
                    <a16:creationId xmlns:a16="http://schemas.microsoft.com/office/drawing/2014/main" id="{3D4964C5-0C4B-4916-9414-C7C5E04C2B21}"/>
                  </a:ext>
                </a:extLst>
              </p:cNvPr>
              <p:cNvSpPr txBox="1"/>
              <p:nvPr/>
            </p:nvSpPr>
            <p:spPr>
              <a:xfrm>
                <a:off x="1247776" y="2354337"/>
                <a:ext cx="1469960" cy="196977"/>
              </a:xfrm>
              <a:prstGeom prst="rect">
                <a:avLst/>
              </a:prstGeom>
              <a:noFill/>
            </p:spPr>
            <p:txBody>
              <a:bodyPr wrap="square" lIns="0" rIns="0" rtlCol="0">
                <a:spAutoFit/>
              </a:bodyPr>
              <a:lstStyle/>
              <a:p>
                <a:pPr lvl="0" algn="ctr">
                  <a:lnSpc>
                    <a:spcPct val="85000"/>
                  </a:lnSpc>
                  <a:defRPr/>
                </a:pPr>
                <a:r>
                  <a:rPr lang="es-ES" sz="800" b="1" dirty="0">
                    <a:solidFill>
                      <a:schemeClr val="bg1"/>
                    </a:solidFill>
                    <a:latin typeface="Trebuchet MS" panose="020B0603020202020204" pitchFamily="34" charset="0"/>
                    <a:ea typeface="Verdana" panose="020B0604030504040204" pitchFamily="34" charset="0"/>
                    <a:cs typeface="Zilla Slab Light"/>
                    <a:sym typeface="Zilla Slab Light"/>
                  </a:rPr>
                  <a:t>SÍNTOMAS MENOS COMUNES:</a:t>
                </a:r>
              </a:p>
            </p:txBody>
          </p:sp>
        </p:grpSp>
        <p:grpSp>
          <p:nvGrpSpPr>
            <p:cNvPr id="145" name="Group 144">
              <a:extLst>
                <a:ext uri="{FF2B5EF4-FFF2-40B4-BE49-F238E27FC236}">
                  <a16:creationId xmlns:a16="http://schemas.microsoft.com/office/drawing/2014/main" id="{D21DED4D-6BB8-4A5A-BF5E-CD0F79F752AE}"/>
                </a:ext>
              </a:extLst>
            </p:cNvPr>
            <p:cNvGrpSpPr/>
            <p:nvPr/>
          </p:nvGrpSpPr>
          <p:grpSpPr>
            <a:xfrm>
              <a:off x="4144159" y="3693412"/>
              <a:ext cx="1520042" cy="1264962"/>
              <a:chOff x="4144159" y="3626737"/>
              <a:chExt cx="1520042" cy="1264962"/>
            </a:xfrm>
          </p:grpSpPr>
          <p:sp>
            <p:nvSpPr>
              <p:cNvPr id="129" name="TextBox 128">
                <a:extLst>
                  <a:ext uri="{FF2B5EF4-FFF2-40B4-BE49-F238E27FC236}">
                    <a16:creationId xmlns:a16="http://schemas.microsoft.com/office/drawing/2014/main" id="{BB330475-A67C-4C75-B23D-2BF5970208AE}"/>
                  </a:ext>
                </a:extLst>
              </p:cNvPr>
              <p:cNvSpPr txBox="1"/>
              <p:nvPr/>
            </p:nvSpPr>
            <p:spPr>
              <a:xfrm>
                <a:off x="4144159" y="3626737"/>
                <a:ext cx="1520042" cy="1264962"/>
              </a:xfrm>
              <a:prstGeom prst="rect">
                <a:avLst/>
              </a:prstGeom>
              <a:noFill/>
            </p:spPr>
            <p:txBody>
              <a:bodyPr wrap="square" rtlCol="0">
                <a:spAutoFit/>
              </a:bodyPr>
              <a:lstStyle/>
              <a:p>
                <a:pPr lvl="0">
                  <a:lnSpc>
                    <a:spcPct val="85000"/>
                  </a:lnSpc>
                  <a:spcAft>
                    <a:spcPts val="600"/>
                  </a:spcAft>
                  <a:defRPr/>
                </a:pPr>
                <a:r>
                  <a:rPr lang="es-ES" sz="800" b="1" dirty="0">
                    <a:solidFill>
                      <a:srgbClr val="000000"/>
                    </a:solidFill>
                    <a:latin typeface="Trebuchet MS" panose="020B0603020202020204" pitchFamily="34" charset="0"/>
                    <a:ea typeface="Verdana" panose="020B0604030504040204" pitchFamily="34" charset="0"/>
                    <a:cs typeface="Zilla Slab Light"/>
                    <a:sym typeface="Zilla Slab Light"/>
                  </a:rPr>
                  <a:t>Sensoriales: </a:t>
                </a:r>
                <a: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t>picores, hormigueo, adormecimiento, parestesia unilateral en las manos, brazos o rostro.</a:t>
                </a:r>
              </a:p>
              <a:p>
                <a:pPr lvl="0">
                  <a:lnSpc>
                    <a:spcPct val="85000"/>
                  </a:lnSpc>
                  <a:spcAft>
                    <a:spcPts val="600"/>
                  </a:spcAft>
                  <a:defRPr/>
                </a:pPr>
                <a:r>
                  <a:rPr lang="es-ES" sz="800" b="1" dirty="0">
                    <a:solidFill>
                      <a:srgbClr val="000000"/>
                    </a:solidFill>
                    <a:latin typeface="Trebuchet MS" panose="020B0603020202020204" pitchFamily="34" charset="0"/>
                    <a:ea typeface="Verdana" panose="020B0604030504040204" pitchFamily="34" charset="0"/>
                    <a:cs typeface="Zilla Slab Light"/>
                    <a:sym typeface="Zilla Slab Light"/>
                  </a:rPr>
                  <a:t>Lenguaje: </a:t>
                </a:r>
                <a: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t>dificultad en </a:t>
                </a:r>
                <a:b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br>
                <a: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t>el habla o para encontrar </a:t>
                </a:r>
                <a:b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br>
                <a: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t>la palabra adecuada. </a:t>
                </a:r>
              </a:p>
              <a:p>
                <a:pPr lvl="0">
                  <a:lnSpc>
                    <a:spcPct val="85000"/>
                  </a:lnSpc>
                  <a:spcAft>
                    <a:spcPts val="600"/>
                  </a:spcAft>
                  <a:defRPr/>
                </a:pPr>
                <a: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t>Vértigos.</a:t>
                </a:r>
              </a:p>
              <a:p>
                <a:pPr lvl="0">
                  <a:lnSpc>
                    <a:spcPct val="85000"/>
                  </a:lnSpc>
                  <a:spcAft>
                    <a:spcPts val="600"/>
                  </a:spcAft>
                  <a:defRPr/>
                </a:pPr>
                <a: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t>Alodinia cutánea.</a:t>
                </a:r>
                <a:endParaRPr kumimoji="0" lang="en-US" sz="800" i="0" u="none" strike="noStrike" kern="1200" cap="none" normalizeH="0" baseline="0" noProof="0" dirty="0">
                  <a:ln>
                    <a:noFill/>
                  </a:ln>
                  <a:solidFill>
                    <a:srgbClr val="000000"/>
                  </a:solidFill>
                  <a:uLnTx/>
                  <a:uFillTx/>
                  <a:latin typeface="Trebuchet MS" panose="020B0603020202020204" pitchFamily="34" charset="0"/>
                  <a:ea typeface="Verdana" panose="020B0604030504040204" pitchFamily="34" charset="0"/>
                  <a:cs typeface="Zilla Slab Light"/>
                  <a:sym typeface="Zilla Slab Light"/>
                </a:endParaRPr>
              </a:p>
            </p:txBody>
          </p:sp>
          <p:grpSp>
            <p:nvGrpSpPr>
              <p:cNvPr id="142" name="Group 141">
                <a:extLst>
                  <a:ext uri="{FF2B5EF4-FFF2-40B4-BE49-F238E27FC236}">
                    <a16:creationId xmlns:a16="http://schemas.microsoft.com/office/drawing/2014/main" id="{0B63CCA3-22E8-49D9-A975-3B43100C0EEA}"/>
                  </a:ext>
                </a:extLst>
              </p:cNvPr>
              <p:cNvGrpSpPr/>
              <p:nvPr/>
            </p:nvGrpSpPr>
            <p:grpSpPr>
              <a:xfrm>
                <a:off x="4248151" y="4121943"/>
                <a:ext cx="1312807" cy="571500"/>
                <a:chOff x="4248151" y="4121943"/>
                <a:chExt cx="2043112" cy="571500"/>
              </a:xfrm>
            </p:grpSpPr>
            <p:cxnSp>
              <p:nvCxnSpPr>
                <p:cNvPr id="139" name="Straight Connector 138">
                  <a:extLst>
                    <a:ext uri="{FF2B5EF4-FFF2-40B4-BE49-F238E27FC236}">
                      <a16:creationId xmlns:a16="http://schemas.microsoft.com/office/drawing/2014/main" id="{76DE04C3-A8EF-48C1-9378-5AFF3EBAAD5A}"/>
                    </a:ext>
                  </a:extLst>
                </p:cNvPr>
                <p:cNvCxnSpPr>
                  <a:cxnSpLocks/>
                </p:cNvCxnSpPr>
                <p:nvPr/>
              </p:nvCxnSpPr>
              <p:spPr>
                <a:xfrm>
                  <a:off x="4248151" y="4121943"/>
                  <a:ext cx="2043112" cy="0"/>
                </a:xfrm>
                <a:prstGeom prst="line">
                  <a:avLst/>
                </a:prstGeom>
                <a:ln w="3175">
                  <a:solidFill>
                    <a:srgbClr val="000000">
                      <a:alpha val="50196"/>
                    </a:srgb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3698A23D-F281-40D1-B1C6-10D6B1A1A384}"/>
                    </a:ext>
                  </a:extLst>
                </p:cNvPr>
                <p:cNvCxnSpPr>
                  <a:cxnSpLocks/>
                </p:cNvCxnSpPr>
                <p:nvPr/>
              </p:nvCxnSpPr>
              <p:spPr>
                <a:xfrm>
                  <a:off x="4248151" y="4507706"/>
                  <a:ext cx="2043112" cy="0"/>
                </a:xfrm>
                <a:prstGeom prst="line">
                  <a:avLst/>
                </a:prstGeom>
                <a:ln w="3175">
                  <a:solidFill>
                    <a:srgbClr val="000000">
                      <a:alpha val="50196"/>
                    </a:srgb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F1A35364-2603-4044-8BA0-0245EAA6889F}"/>
                    </a:ext>
                  </a:extLst>
                </p:cNvPr>
                <p:cNvCxnSpPr>
                  <a:cxnSpLocks/>
                </p:cNvCxnSpPr>
                <p:nvPr/>
              </p:nvCxnSpPr>
              <p:spPr>
                <a:xfrm>
                  <a:off x="4248151" y="4693443"/>
                  <a:ext cx="1663957" cy="0"/>
                </a:xfrm>
                <a:prstGeom prst="line">
                  <a:avLst/>
                </a:prstGeom>
                <a:ln w="3175">
                  <a:solidFill>
                    <a:srgbClr val="000000">
                      <a:alpha val="50196"/>
                    </a:srgbClr>
                  </a:solidFill>
                </a:ln>
              </p:spPr>
              <p:style>
                <a:lnRef idx="1">
                  <a:schemeClr val="accent1"/>
                </a:lnRef>
                <a:fillRef idx="0">
                  <a:schemeClr val="accent1"/>
                </a:fillRef>
                <a:effectRef idx="0">
                  <a:schemeClr val="accent1"/>
                </a:effectRef>
                <a:fontRef idx="minor">
                  <a:schemeClr val="tx1"/>
                </a:fontRef>
              </p:style>
            </p:cxnSp>
          </p:grpSp>
        </p:grpSp>
        <p:sp>
          <p:nvSpPr>
            <p:cNvPr id="146" name="TextBox 145">
              <a:extLst>
                <a:ext uri="{FF2B5EF4-FFF2-40B4-BE49-F238E27FC236}">
                  <a16:creationId xmlns:a16="http://schemas.microsoft.com/office/drawing/2014/main" id="{8961FF7F-B7EC-420B-B62C-67238EC9BC20}"/>
                </a:ext>
              </a:extLst>
            </p:cNvPr>
            <p:cNvSpPr txBox="1"/>
            <p:nvPr/>
          </p:nvSpPr>
          <p:spPr>
            <a:xfrm>
              <a:off x="5845083" y="1952877"/>
              <a:ext cx="2524312" cy="406265"/>
            </a:xfrm>
            <a:prstGeom prst="rect">
              <a:avLst/>
            </a:prstGeom>
            <a:noFill/>
          </p:spPr>
          <p:txBody>
            <a:bodyPr wrap="square" lIns="0" rIns="0" rtlCol="0">
              <a:spAutoFit/>
            </a:bodyPr>
            <a:lstStyle/>
            <a:p>
              <a:pPr lvl="0" algn="ctr">
                <a:lnSpc>
                  <a:spcPct val="85000"/>
                </a:lnSpc>
                <a:spcAft>
                  <a:spcPts val="600"/>
                </a:spcAft>
                <a:defRPr/>
              </a:pPr>
              <a:r>
                <a:rPr lang="es-ES" sz="800" b="1" spc="-50" dirty="0">
                  <a:solidFill>
                    <a:srgbClr val="000000"/>
                  </a:solidFill>
                  <a:latin typeface="Trebuchet MS" panose="020B0603020202020204" pitchFamily="34" charset="0"/>
                  <a:ea typeface="Verdana" panose="020B0604030504040204" pitchFamily="34" charset="0"/>
                  <a:cs typeface="Zilla Slab Light"/>
                  <a:sym typeface="Zilla Slab Light"/>
                </a:rPr>
                <a:t>DOLOR INTENSO, QUE TIENDE A SER UNILATERAL (COMÚNMENTE LOCALIZADO EN LAS SIENES O EN LA FRENTE), PALPITANTE Y SE AGRAVA CON EL MOVIMIENTO.</a:t>
              </a:r>
              <a:endParaRPr lang="es-ES" sz="800" b="1" dirty="0">
                <a:solidFill>
                  <a:srgbClr val="000000"/>
                </a:solidFill>
                <a:latin typeface="Trebuchet MS" panose="020B0603020202020204" pitchFamily="34" charset="0"/>
                <a:ea typeface="Verdana" panose="020B0604030504040204" pitchFamily="34" charset="0"/>
                <a:cs typeface="Zilla Slab Light"/>
                <a:sym typeface="Zilla Slab Light"/>
              </a:endParaRPr>
            </a:p>
          </p:txBody>
        </p:sp>
        <p:grpSp>
          <p:nvGrpSpPr>
            <p:cNvPr id="148" name="Group 147">
              <a:extLst>
                <a:ext uri="{FF2B5EF4-FFF2-40B4-BE49-F238E27FC236}">
                  <a16:creationId xmlns:a16="http://schemas.microsoft.com/office/drawing/2014/main" id="{89385018-9D68-49E3-A449-EEC1BCE77172}"/>
                </a:ext>
              </a:extLst>
            </p:cNvPr>
            <p:cNvGrpSpPr/>
            <p:nvPr/>
          </p:nvGrpSpPr>
          <p:grpSpPr>
            <a:xfrm>
              <a:off x="6104011" y="2532128"/>
              <a:ext cx="2006456" cy="303283"/>
              <a:chOff x="981962" y="2352675"/>
              <a:chExt cx="2006456" cy="303283"/>
            </a:xfrm>
          </p:grpSpPr>
          <p:sp>
            <p:nvSpPr>
              <p:cNvPr id="149" name="Rectangle: Rounded Corners 148">
                <a:extLst>
                  <a:ext uri="{FF2B5EF4-FFF2-40B4-BE49-F238E27FC236}">
                    <a16:creationId xmlns:a16="http://schemas.microsoft.com/office/drawing/2014/main" id="{98EB18D3-67BA-4906-B34A-125FF85BEE9B}"/>
                  </a:ext>
                </a:extLst>
              </p:cNvPr>
              <p:cNvSpPr/>
              <p:nvPr/>
            </p:nvSpPr>
            <p:spPr>
              <a:xfrm>
                <a:off x="981962" y="2352675"/>
                <a:ext cx="2006456" cy="286723"/>
              </a:xfrm>
              <a:prstGeom prst="roundRect">
                <a:avLst>
                  <a:gd name="adj" fmla="val 50000"/>
                </a:avLst>
              </a:prstGeom>
              <a:solidFill>
                <a:srgbClr val="0048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20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TextBox 149">
                <a:extLst>
                  <a:ext uri="{FF2B5EF4-FFF2-40B4-BE49-F238E27FC236}">
                    <a16:creationId xmlns:a16="http://schemas.microsoft.com/office/drawing/2014/main" id="{6F0A672C-3301-4208-9A9A-DBAC0681737B}"/>
                  </a:ext>
                </a:extLst>
              </p:cNvPr>
              <p:cNvSpPr txBox="1"/>
              <p:nvPr/>
            </p:nvSpPr>
            <p:spPr>
              <a:xfrm>
                <a:off x="1136212" y="2354337"/>
                <a:ext cx="1693088" cy="301621"/>
              </a:xfrm>
              <a:prstGeom prst="rect">
                <a:avLst/>
              </a:prstGeom>
              <a:noFill/>
            </p:spPr>
            <p:txBody>
              <a:bodyPr wrap="square" lIns="0" rIns="0" rtlCol="0">
                <a:spAutoFit/>
              </a:bodyPr>
              <a:lstStyle/>
              <a:p>
                <a:pPr lvl="0" algn="ctr">
                  <a:lnSpc>
                    <a:spcPct val="85000"/>
                  </a:lnSpc>
                  <a:defRPr/>
                </a:pPr>
                <a:r>
                  <a:rPr lang="es-ES" sz="800" b="1" dirty="0">
                    <a:solidFill>
                      <a:schemeClr val="bg1"/>
                    </a:solidFill>
                    <a:latin typeface="Trebuchet MS" panose="020B0603020202020204" pitchFamily="34" charset="0"/>
                    <a:ea typeface="Verdana" panose="020B0604030504040204" pitchFamily="34" charset="0"/>
                    <a:cs typeface="Zilla Slab Light"/>
                    <a:sym typeface="Zilla Slab Light"/>
                  </a:rPr>
                  <a:t>EL DOLOR VIENE ACOMPAÑADO DE OTROS SÍNTOMAS AUTONÓMICOS: </a:t>
                </a:r>
                <a:endParaRPr kumimoji="0" lang="en-US" sz="800" b="1" i="0" u="none" strike="noStrike" kern="1200" cap="none" normalizeH="0" baseline="0" noProof="0" dirty="0">
                  <a:ln>
                    <a:noFill/>
                  </a:ln>
                  <a:solidFill>
                    <a:schemeClr val="bg1"/>
                  </a:solidFill>
                  <a:uLnTx/>
                  <a:uFillTx/>
                  <a:latin typeface="Trebuchet MS" panose="020B0603020202020204" pitchFamily="34" charset="0"/>
                  <a:ea typeface="Verdana" panose="020B0604030504040204" pitchFamily="34" charset="0"/>
                  <a:cs typeface="Zilla Slab Light"/>
                  <a:sym typeface="Zilla Slab Light"/>
                </a:endParaRPr>
              </a:p>
            </p:txBody>
          </p:sp>
        </p:grpSp>
        <p:sp>
          <p:nvSpPr>
            <p:cNvPr id="162" name="TextBox 161">
              <a:extLst>
                <a:ext uri="{FF2B5EF4-FFF2-40B4-BE49-F238E27FC236}">
                  <a16:creationId xmlns:a16="http://schemas.microsoft.com/office/drawing/2014/main" id="{3B264E45-C7B5-4EDD-B99D-1D8EBBA559EC}"/>
                </a:ext>
              </a:extLst>
            </p:cNvPr>
            <p:cNvSpPr txBox="1"/>
            <p:nvPr/>
          </p:nvSpPr>
          <p:spPr>
            <a:xfrm>
              <a:off x="9267825" y="1952877"/>
              <a:ext cx="1436598" cy="196977"/>
            </a:xfrm>
            <a:prstGeom prst="rect">
              <a:avLst/>
            </a:prstGeom>
            <a:noFill/>
          </p:spPr>
          <p:txBody>
            <a:bodyPr wrap="square" lIns="0" rIns="0" rtlCol="0">
              <a:spAutoFit/>
            </a:bodyPr>
            <a:lstStyle/>
            <a:p>
              <a:pPr lvl="0" algn="ctr">
                <a:lnSpc>
                  <a:spcPct val="85000"/>
                </a:lnSpc>
                <a:spcAft>
                  <a:spcPts val="600"/>
                </a:spcAft>
                <a:defRPr/>
              </a:pPr>
              <a:r>
                <a:rPr lang="es-ES" sz="800" b="1" spc="-50" dirty="0">
                  <a:solidFill>
                    <a:srgbClr val="000000"/>
                  </a:solidFill>
                  <a:latin typeface="Trebuchet MS" panose="020B0603020202020204" pitchFamily="34" charset="0"/>
                  <a:ea typeface="Verdana" panose="020B0604030504040204" pitchFamily="34" charset="0"/>
                  <a:cs typeface="Zilla Slab Light"/>
                  <a:sym typeface="Zilla Slab Light"/>
                </a:rPr>
                <a:t>FASE RESOLUTIVA.</a:t>
              </a:r>
            </a:p>
          </p:txBody>
        </p:sp>
        <p:grpSp>
          <p:nvGrpSpPr>
            <p:cNvPr id="163" name="Group 162">
              <a:extLst>
                <a:ext uri="{FF2B5EF4-FFF2-40B4-BE49-F238E27FC236}">
                  <a16:creationId xmlns:a16="http://schemas.microsoft.com/office/drawing/2014/main" id="{63AF0A7C-22AD-487E-91F8-BC638378B5BF}"/>
                </a:ext>
              </a:extLst>
            </p:cNvPr>
            <p:cNvGrpSpPr/>
            <p:nvPr/>
          </p:nvGrpSpPr>
          <p:grpSpPr>
            <a:xfrm>
              <a:off x="9129757" y="2827020"/>
              <a:ext cx="1712735" cy="1104918"/>
              <a:chOff x="5910263" y="3130167"/>
              <a:chExt cx="1712735" cy="1104918"/>
            </a:xfrm>
          </p:grpSpPr>
          <p:sp>
            <p:nvSpPr>
              <p:cNvPr id="164" name="TextBox 163">
                <a:extLst>
                  <a:ext uri="{FF2B5EF4-FFF2-40B4-BE49-F238E27FC236}">
                    <a16:creationId xmlns:a16="http://schemas.microsoft.com/office/drawing/2014/main" id="{019B7D06-6D99-4E99-91DB-5BFE3F128591}"/>
                  </a:ext>
                </a:extLst>
              </p:cNvPr>
              <p:cNvSpPr txBox="1"/>
              <p:nvPr/>
            </p:nvSpPr>
            <p:spPr>
              <a:xfrm>
                <a:off x="5969397" y="3130167"/>
                <a:ext cx="1653601" cy="1104918"/>
              </a:xfrm>
              <a:prstGeom prst="rect">
                <a:avLst/>
              </a:prstGeom>
              <a:noFill/>
            </p:spPr>
            <p:txBody>
              <a:bodyPr wrap="square" rtlCol="0">
                <a:spAutoFit/>
              </a:bodyPr>
              <a:lstStyle/>
              <a:p>
                <a:pPr lvl="0">
                  <a:lnSpc>
                    <a:spcPct val="85000"/>
                  </a:lnSpc>
                  <a:spcAft>
                    <a:spcPts val="600"/>
                  </a:spcAft>
                  <a:defRPr/>
                </a:pPr>
                <a: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t>Cansancio </a:t>
                </a:r>
              </a:p>
              <a:p>
                <a:pPr lvl="0">
                  <a:lnSpc>
                    <a:spcPct val="85000"/>
                  </a:lnSpc>
                  <a:spcAft>
                    <a:spcPts val="600"/>
                  </a:spcAft>
                  <a:defRPr/>
                </a:pPr>
                <a: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t>Irritabilidad </a:t>
                </a:r>
              </a:p>
              <a:p>
                <a:pPr lvl="0">
                  <a:lnSpc>
                    <a:spcPct val="85000"/>
                  </a:lnSpc>
                  <a:spcAft>
                    <a:spcPts val="600"/>
                  </a:spcAft>
                  <a:defRPr/>
                </a:pPr>
                <a: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t>Depresión </a:t>
                </a:r>
              </a:p>
              <a:p>
                <a:pPr lvl="0">
                  <a:lnSpc>
                    <a:spcPct val="85000"/>
                  </a:lnSpc>
                  <a:spcAft>
                    <a:spcPts val="600"/>
                  </a:spcAft>
                  <a:defRPr/>
                </a:pPr>
                <a: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t>Dificultad para la concentración </a:t>
                </a:r>
              </a:p>
              <a:p>
                <a:pPr lvl="0">
                  <a:lnSpc>
                    <a:spcPct val="85000"/>
                  </a:lnSpc>
                  <a:spcAft>
                    <a:spcPts val="600"/>
                  </a:spcAft>
                  <a:defRPr/>
                </a:pPr>
                <a: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t>Intolerancia a la comida </a:t>
                </a:r>
              </a:p>
              <a:p>
                <a:pPr lvl="0">
                  <a:lnSpc>
                    <a:spcPct val="85000"/>
                  </a:lnSpc>
                  <a:spcAft>
                    <a:spcPts val="600"/>
                  </a:spcAft>
                  <a:defRPr/>
                </a:pPr>
                <a: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t>Sensación de resaca </a:t>
                </a:r>
              </a:p>
            </p:txBody>
          </p:sp>
          <p:cxnSp>
            <p:nvCxnSpPr>
              <p:cNvPr id="165" name="Straight Connector 164">
                <a:extLst>
                  <a:ext uri="{FF2B5EF4-FFF2-40B4-BE49-F238E27FC236}">
                    <a16:creationId xmlns:a16="http://schemas.microsoft.com/office/drawing/2014/main" id="{A504CACF-93FA-48DD-A53E-EE88BCC50703}"/>
                  </a:ext>
                </a:extLst>
              </p:cNvPr>
              <p:cNvCxnSpPr>
                <a:cxnSpLocks/>
              </p:cNvCxnSpPr>
              <p:nvPr/>
            </p:nvCxnSpPr>
            <p:spPr>
              <a:xfrm>
                <a:off x="5910263" y="3300901"/>
                <a:ext cx="1610563" cy="0"/>
              </a:xfrm>
              <a:prstGeom prst="line">
                <a:avLst/>
              </a:prstGeom>
              <a:ln w="3175">
                <a:solidFill>
                  <a:srgbClr val="000000">
                    <a:alpha val="50000"/>
                  </a:srgb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B4A8DE40-6202-43A7-A7BE-FDB65B7FA5F6}"/>
                  </a:ext>
                </a:extLst>
              </p:cNvPr>
              <p:cNvCxnSpPr>
                <a:cxnSpLocks/>
              </p:cNvCxnSpPr>
              <p:nvPr/>
            </p:nvCxnSpPr>
            <p:spPr>
              <a:xfrm>
                <a:off x="5910263" y="3500926"/>
                <a:ext cx="1610563" cy="0"/>
              </a:xfrm>
              <a:prstGeom prst="line">
                <a:avLst/>
              </a:prstGeom>
              <a:ln w="3175">
                <a:solidFill>
                  <a:srgbClr val="000000">
                    <a:alpha val="50000"/>
                  </a:srgb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1242FCBF-5F03-45C0-89C7-7DADA4A452C4}"/>
                  </a:ext>
                </a:extLst>
              </p:cNvPr>
              <p:cNvCxnSpPr>
                <a:cxnSpLocks/>
              </p:cNvCxnSpPr>
              <p:nvPr/>
            </p:nvCxnSpPr>
            <p:spPr>
              <a:xfrm>
                <a:off x="5910263" y="3669995"/>
                <a:ext cx="1610563" cy="0"/>
              </a:xfrm>
              <a:prstGeom prst="line">
                <a:avLst/>
              </a:prstGeom>
              <a:ln w="3175">
                <a:solidFill>
                  <a:srgbClr val="000000">
                    <a:alpha val="50000"/>
                  </a:srgbClr>
                </a:solidFill>
              </a:ln>
            </p:spPr>
            <p:style>
              <a:lnRef idx="1">
                <a:schemeClr val="accent1"/>
              </a:lnRef>
              <a:fillRef idx="0">
                <a:schemeClr val="accent1"/>
              </a:fillRef>
              <a:effectRef idx="0">
                <a:schemeClr val="accent1"/>
              </a:effectRef>
              <a:fontRef idx="minor">
                <a:schemeClr val="tx1"/>
              </a:fontRef>
            </p:style>
          </p:cxnSp>
          <p:sp>
            <p:nvSpPr>
              <p:cNvPr id="168" name="Isosceles Triangle 167">
                <a:extLst>
                  <a:ext uri="{FF2B5EF4-FFF2-40B4-BE49-F238E27FC236}">
                    <a16:creationId xmlns:a16="http://schemas.microsoft.com/office/drawing/2014/main" id="{F38ABAFB-1180-4C1F-A4A3-FB9907531C9D}"/>
                  </a:ext>
                </a:extLst>
              </p:cNvPr>
              <p:cNvSpPr/>
              <p:nvPr/>
            </p:nvSpPr>
            <p:spPr>
              <a:xfrm rot="5400000">
                <a:off x="5905021" y="3728226"/>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Isosceles Triangle 168">
                <a:extLst>
                  <a:ext uri="{FF2B5EF4-FFF2-40B4-BE49-F238E27FC236}">
                    <a16:creationId xmlns:a16="http://schemas.microsoft.com/office/drawing/2014/main" id="{A785CE4C-BBBC-4BE4-9A30-0071D9E4EE8A}"/>
                  </a:ext>
                </a:extLst>
              </p:cNvPr>
              <p:cNvSpPr/>
              <p:nvPr/>
            </p:nvSpPr>
            <p:spPr>
              <a:xfrm rot="5400000">
                <a:off x="5905021" y="3552014"/>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Isosceles Triangle 169">
                <a:extLst>
                  <a:ext uri="{FF2B5EF4-FFF2-40B4-BE49-F238E27FC236}">
                    <a16:creationId xmlns:a16="http://schemas.microsoft.com/office/drawing/2014/main" id="{AAD605F3-6BBB-4737-99AB-379C9875D42C}"/>
                  </a:ext>
                </a:extLst>
              </p:cNvPr>
              <p:cNvSpPr/>
              <p:nvPr/>
            </p:nvSpPr>
            <p:spPr>
              <a:xfrm rot="5400000">
                <a:off x="5905021" y="3373420"/>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Isosceles Triangle 170">
                <a:extLst>
                  <a:ext uri="{FF2B5EF4-FFF2-40B4-BE49-F238E27FC236}">
                    <a16:creationId xmlns:a16="http://schemas.microsoft.com/office/drawing/2014/main" id="{15DBFD9D-4E14-4A90-95E4-0FE23CA17F1E}"/>
                  </a:ext>
                </a:extLst>
              </p:cNvPr>
              <p:cNvSpPr/>
              <p:nvPr/>
            </p:nvSpPr>
            <p:spPr>
              <a:xfrm rot="5400000">
                <a:off x="5905021" y="3194826"/>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8" name="Straight Connector 177">
                <a:extLst>
                  <a:ext uri="{FF2B5EF4-FFF2-40B4-BE49-F238E27FC236}">
                    <a16:creationId xmlns:a16="http://schemas.microsoft.com/office/drawing/2014/main" id="{B88F0FE9-B0BE-4785-A60B-E1C1A9915952}"/>
                  </a:ext>
                </a:extLst>
              </p:cNvPr>
              <p:cNvCxnSpPr>
                <a:cxnSpLocks/>
              </p:cNvCxnSpPr>
              <p:nvPr/>
            </p:nvCxnSpPr>
            <p:spPr>
              <a:xfrm>
                <a:off x="5910263" y="3855732"/>
                <a:ext cx="1610563" cy="0"/>
              </a:xfrm>
              <a:prstGeom prst="line">
                <a:avLst/>
              </a:prstGeom>
              <a:ln w="3175">
                <a:solidFill>
                  <a:srgbClr val="000000">
                    <a:alpha val="50000"/>
                  </a:srgbClr>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6F43DC37-56EF-4306-AB82-F48ACF0E3BAF}"/>
                  </a:ext>
                </a:extLst>
              </p:cNvPr>
              <p:cNvCxnSpPr>
                <a:cxnSpLocks/>
              </p:cNvCxnSpPr>
              <p:nvPr/>
            </p:nvCxnSpPr>
            <p:spPr>
              <a:xfrm>
                <a:off x="5910263" y="4029564"/>
                <a:ext cx="1610563" cy="0"/>
              </a:xfrm>
              <a:prstGeom prst="line">
                <a:avLst/>
              </a:prstGeom>
              <a:ln w="3175">
                <a:solidFill>
                  <a:srgbClr val="000000">
                    <a:alpha val="50000"/>
                  </a:srgbClr>
                </a:solidFill>
              </a:ln>
            </p:spPr>
            <p:style>
              <a:lnRef idx="1">
                <a:schemeClr val="accent1"/>
              </a:lnRef>
              <a:fillRef idx="0">
                <a:schemeClr val="accent1"/>
              </a:fillRef>
              <a:effectRef idx="0">
                <a:schemeClr val="accent1"/>
              </a:effectRef>
              <a:fontRef idx="minor">
                <a:schemeClr val="tx1"/>
              </a:fontRef>
            </p:style>
          </p:cxnSp>
          <p:sp>
            <p:nvSpPr>
              <p:cNvPr id="180" name="Isosceles Triangle 179">
                <a:extLst>
                  <a:ext uri="{FF2B5EF4-FFF2-40B4-BE49-F238E27FC236}">
                    <a16:creationId xmlns:a16="http://schemas.microsoft.com/office/drawing/2014/main" id="{AB4DBFEA-152C-4F27-AC65-ECFCE66985BE}"/>
                  </a:ext>
                </a:extLst>
              </p:cNvPr>
              <p:cNvSpPr/>
              <p:nvPr/>
            </p:nvSpPr>
            <p:spPr>
              <a:xfrm rot="5400000">
                <a:off x="5905021" y="3913963"/>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Isosceles Triangle 180">
                <a:extLst>
                  <a:ext uri="{FF2B5EF4-FFF2-40B4-BE49-F238E27FC236}">
                    <a16:creationId xmlns:a16="http://schemas.microsoft.com/office/drawing/2014/main" id="{3466E39C-DC59-465F-8FEF-A89610A99446}"/>
                  </a:ext>
                </a:extLst>
              </p:cNvPr>
              <p:cNvSpPr/>
              <p:nvPr/>
            </p:nvSpPr>
            <p:spPr>
              <a:xfrm rot="5400000">
                <a:off x="5905021" y="4090176"/>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3" name="Group 202">
              <a:extLst>
                <a:ext uri="{FF2B5EF4-FFF2-40B4-BE49-F238E27FC236}">
                  <a16:creationId xmlns:a16="http://schemas.microsoft.com/office/drawing/2014/main" id="{472FAD72-3C5C-4D05-BD35-1148B1E0D485}"/>
                </a:ext>
              </a:extLst>
            </p:cNvPr>
            <p:cNvGrpSpPr/>
            <p:nvPr/>
          </p:nvGrpSpPr>
          <p:grpSpPr>
            <a:xfrm>
              <a:off x="6364754" y="2827020"/>
              <a:ext cx="1484971" cy="1087817"/>
              <a:chOff x="6169029" y="2806317"/>
              <a:chExt cx="1484971" cy="1087817"/>
            </a:xfrm>
          </p:grpSpPr>
          <p:grpSp>
            <p:nvGrpSpPr>
              <p:cNvPr id="161" name="Group 160">
                <a:extLst>
                  <a:ext uri="{FF2B5EF4-FFF2-40B4-BE49-F238E27FC236}">
                    <a16:creationId xmlns:a16="http://schemas.microsoft.com/office/drawing/2014/main" id="{B29BBF29-7BE7-47FF-9CA2-D3CE3AA629D4}"/>
                  </a:ext>
                </a:extLst>
              </p:cNvPr>
              <p:cNvGrpSpPr/>
              <p:nvPr/>
            </p:nvGrpSpPr>
            <p:grpSpPr>
              <a:xfrm>
                <a:off x="6374606" y="3152392"/>
                <a:ext cx="1188244" cy="741742"/>
                <a:chOff x="6269831" y="3130167"/>
                <a:chExt cx="1188244" cy="741742"/>
              </a:xfrm>
            </p:grpSpPr>
            <p:sp>
              <p:nvSpPr>
                <p:cNvPr id="151" name="TextBox 150">
                  <a:extLst>
                    <a:ext uri="{FF2B5EF4-FFF2-40B4-BE49-F238E27FC236}">
                      <a16:creationId xmlns:a16="http://schemas.microsoft.com/office/drawing/2014/main" id="{3E35C982-5FBC-4E80-A966-519863CB70A1}"/>
                    </a:ext>
                  </a:extLst>
                </p:cNvPr>
                <p:cNvSpPr txBox="1"/>
                <p:nvPr/>
              </p:nvSpPr>
              <p:spPr>
                <a:xfrm>
                  <a:off x="6329804" y="3130167"/>
                  <a:ext cx="1128271" cy="741742"/>
                </a:xfrm>
                <a:prstGeom prst="rect">
                  <a:avLst/>
                </a:prstGeom>
                <a:noFill/>
              </p:spPr>
              <p:txBody>
                <a:bodyPr wrap="square" rtlCol="0">
                  <a:spAutoFit/>
                </a:bodyPr>
                <a:lstStyle/>
                <a:p>
                  <a:pPr lvl="0">
                    <a:lnSpc>
                      <a:spcPct val="85000"/>
                    </a:lnSpc>
                    <a:spcAft>
                      <a:spcPts val="600"/>
                    </a:spcAft>
                    <a:defRPr/>
                  </a:pPr>
                  <a: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t>La luz (fotofobia) </a:t>
                  </a:r>
                </a:p>
                <a:p>
                  <a:pPr lvl="0">
                    <a:lnSpc>
                      <a:spcPct val="85000"/>
                    </a:lnSpc>
                    <a:spcAft>
                      <a:spcPts val="600"/>
                    </a:spcAft>
                    <a:defRPr/>
                  </a:pPr>
                  <a: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t>El ruido (fonofobia) </a:t>
                  </a:r>
                </a:p>
                <a:p>
                  <a:pPr lvl="0">
                    <a:lnSpc>
                      <a:spcPct val="85000"/>
                    </a:lnSpc>
                    <a:spcAft>
                      <a:spcPts val="600"/>
                    </a:spcAft>
                    <a:defRPr/>
                  </a:pPr>
                  <a: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t>Los olores intensos </a:t>
                  </a:r>
                </a:p>
                <a:p>
                  <a:pPr lvl="0">
                    <a:lnSpc>
                      <a:spcPct val="85000"/>
                    </a:lnSpc>
                    <a:spcAft>
                      <a:spcPts val="600"/>
                    </a:spcAft>
                    <a:defRPr/>
                  </a:pPr>
                  <a:r>
                    <a:rPr lang="es-ES" sz="800" dirty="0">
                      <a:solidFill>
                        <a:srgbClr val="000000"/>
                      </a:solidFill>
                      <a:latin typeface="Trebuchet MS" panose="020B0603020202020204" pitchFamily="34" charset="0"/>
                      <a:ea typeface="Verdana" panose="020B0604030504040204" pitchFamily="34" charset="0"/>
                      <a:cs typeface="Zilla Slab Light"/>
                      <a:sym typeface="Zilla Slab Light"/>
                    </a:rPr>
                    <a:t>El movimiento </a:t>
                  </a:r>
                </a:p>
              </p:txBody>
            </p:sp>
            <p:cxnSp>
              <p:nvCxnSpPr>
                <p:cNvPr id="152" name="Straight Connector 151">
                  <a:extLst>
                    <a:ext uri="{FF2B5EF4-FFF2-40B4-BE49-F238E27FC236}">
                      <a16:creationId xmlns:a16="http://schemas.microsoft.com/office/drawing/2014/main" id="{06B8B9C4-79CB-477C-BC00-205D8567FC1E}"/>
                    </a:ext>
                  </a:extLst>
                </p:cNvPr>
                <p:cNvCxnSpPr>
                  <a:cxnSpLocks/>
                </p:cNvCxnSpPr>
                <p:nvPr/>
              </p:nvCxnSpPr>
              <p:spPr>
                <a:xfrm>
                  <a:off x="6269831" y="3300901"/>
                  <a:ext cx="1031082" cy="0"/>
                </a:xfrm>
                <a:prstGeom prst="line">
                  <a:avLst/>
                </a:prstGeom>
                <a:ln w="3175">
                  <a:solidFill>
                    <a:srgbClr val="000000">
                      <a:alpha val="50000"/>
                    </a:srgbClr>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1666BFE6-93F1-4834-91C0-DD4E4706FED8}"/>
                    </a:ext>
                  </a:extLst>
                </p:cNvPr>
                <p:cNvCxnSpPr>
                  <a:cxnSpLocks/>
                </p:cNvCxnSpPr>
                <p:nvPr/>
              </p:nvCxnSpPr>
              <p:spPr>
                <a:xfrm>
                  <a:off x="6269831" y="3500926"/>
                  <a:ext cx="1033463" cy="0"/>
                </a:xfrm>
                <a:prstGeom prst="line">
                  <a:avLst/>
                </a:prstGeom>
                <a:ln w="3175">
                  <a:solidFill>
                    <a:srgbClr val="000000">
                      <a:alpha val="50000"/>
                    </a:srgbClr>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5962DE2B-FDF0-4D4C-8845-07D50F4D158C}"/>
                    </a:ext>
                  </a:extLst>
                </p:cNvPr>
                <p:cNvCxnSpPr>
                  <a:cxnSpLocks/>
                </p:cNvCxnSpPr>
                <p:nvPr/>
              </p:nvCxnSpPr>
              <p:spPr>
                <a:xfrm>
                  <a:off x="6269831" y="3669995"/>
                  <a:ext cx="1033463" cy="0"/>
                </a:xfrm>
                <a:prstGeom prst="line">
                  <a:avLst/>
                </a:prstGeom>
                <a:ln w="3175">
                  <a:solidFill>
                    <a:srgbClr val="000000">
                      <a:alpha val="50000"/>
                    </a:srgbClr>
                  </a:solidFill>
                </a:ln>
              </p:spPr>
              <p:style>
                <a:lnRef idx="1">
                  <a:schemeClr val="accent1"/>
                </a:lnRef>
                <a:fillRef idx="0">
                  <a:schemeClr val="accent1"/>
                </a:fillRef>
                <a:effectRef idx="0">
                  <a:schemeClr val="accent1"/>
                </a:effectRef>
                <a:fontRef idx="minor">
                  <a:schemeClr val="tx1"/>
                </a:fontRef>
              </p:style>
            </p:cxnSp>
            <p:sp>
              <p:nvSpPr>
                <p:cNvPr id="157" name="Isosceles Triangle 156">
                  <a:extLst>
                    <a:ext uri="{FF2B5EF4-FFF2-40B4-BE49-F238E27FC236}">
                      <a16:creationId xmlns:a16="http://schemas.microsoft.com/office/drawing/2014/main" id="{CA5584BD-725D-4490-AFEF-E41752A47F35}"/>
                    </a:ext>
                  </a:extLst>
                </p:cNvPr>
                <p:cNvSpPr/>
                <p:nvPr/>
              </p:nvSpPr>
              <p:spPr>
                <a:xfrm rot="5400000">
                  <a:off x="6264589" y="3728226"/>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Isosceles Triangle 157">
                  <a:extLst>
                    <a:ext uri="{FF2B5EF4-FFF2-40B4-BE49-F238E27FC236}">
                      <a16:creationId xmlns:a16="http://schemas.microsoft.com/office/drawing/2014/main" id="{6270D7AB-8B25-4225-91CC-945C2253DBED}"/>
                    </a:ext>
                  </a:extLst>
                </p:cNvPr>
                <p:cNvSpPr/>
                <p:nvPr/>
              </p:nvSpPr>
              <p:spPr>
                <a:xfrm rot="5400000">
                  <a:off x="6264589" y="3552014"/>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Isosceles Triangle 158">
                  <a:extLst>
                    <a:ext uri="{FF2B5EF4-FFF2-40B4-BE49-F238E27FC236}">
                      <a16:creationId xmlns:a16="http://schemas.microsoft.com/office/drawing/2014/main" id="{020F2FDF-5FD2-4411-9D25-46A4B6D35F3C}"/>
                    </a:ext>
                  </a:extLst>
                </p:cNvPr>
                <p:cNvSpPr/>
                <p:nvPr/>
              </p:nvSpPr>
              <p:spPr>
                <a:xfrm rot="5400000">
                  <a:off x="6264589" y="3373420"/>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Isosceles Triangle 159">
                  <a:extLst>
                    <a:ext uri="{FF2B5EF4-FFF2-40B4-BE49-F238E27FC236}">
                      <a16:creationId xmlns:a16="http://schemas.microsoft.com/office/drawing/2014/main" id="{282AF922-96A5-480B-B6D1-E0BCBE650692}"/>
                    </a:ext>
                  </a:extLst>
                </p:cNvPr>
                <p:cNvSpPr/>
                <p:nvPr/>
              </p:nvSpPr>
              <p:spPr>
                <a:xfrm rot="5400000">
                  <a:off x="6264589" y="3194826"/>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7" name="Group 186">
                <a:extLst>
                  <a:ext uri="{FF2B5EF4-FFF2-40B4-BE49-F238E27FC236}">
                    <a16:creationId xmlns:a16="http://schemas.microsoft.com/office/drawing/2014/main" id="{2B876F43-4389-497F-B8EC-B4574D52F7DA}"/>
                  </a:ext>
                </a:extLst>
              </p:cNvPr>
              <p:cNvGrpSpPr/>
              <p:nvPr/>
            </p:nvGrpSpPr>
            <p:grpSpPr>
              <a:xfrm>
                <a:off x="6169029" y="2806317"/>
                <a:ext cx="1484971" cy="378565"/>
                <a:chOff x="6169029" y="2749167"/>
                <a:chExt cx="1484971" cy="378565"/>
              </a:xfrm>
            </p:grpSpPr>
            <p:sp>
              <p:nvSpPr>
                <p:cNvPr id="147" name="TextBox 146">
                  <a:extLst>
                    <a:ext uri="{FF2B5EF4-FFF2-40B4-BE49-F238E27FC236}">
                      <a16:creationId xmlns:a16="http://schemas.microsoft.com/office/drawing/2014/main" id="{628436FF-395F-4CB2-9269-31A51E8B1230}"/>
                    </a:ext>
                  </a:extLst>
                </p:cNvPr>
                <p:cNvSpPr txBox="1"/>
                <p:nvPr/>
              </p:nvSpPr>
              <p:spPr>
                <a:xfrm>
                  <a:off x="6169029" y="2749167"/>
                  <a:ext cx="1484971" cy="378565"/>
                </a:xfrm>
                <a:prstGeom prst="rect">
                  <a:avLst/>
                </a:prstGeom>
                <a:noFill/>
              </p:spPr>
              <p:txBody>
                <a:bodyPr wrap="square" rtlCol="0">
                  <a:spAutoFit/>
                </a:bodyPr>
                <a:lstStyle/>
                <a:p>
                  <a:pPr lvl="0">
                    <a:lnSpc>
                      <a:spcPct val="85000"/>
                    </a:lnSpc>
                    <a:spcAft>
                      <a:spcPts val="600"/>
                    </a:spcAft>
                    <a:defRPr/>
                  </a:pPr>
                  <a:r>
                    <a:rPr lang="es-ES" sz="800" b="1" dirty="0">
                      <a:solidFill>
                        <a:srgbClr val="000000"/>
                      </a:solidFill>
                      <a:latin typeface="Trebuchet MS" panose="020B0603020202020204" pitchFamily="34" charset="0"/>
                      <a:ea typeface="Verdana" panose="020B0604030504040204" pitchFamily="34" charset="0"/>
                      <a:cs typeface="Zilla Slab Light"/>
                      <a:sym typeface="Zilla Slab Light"/>
                    </a:rPr>
                    <a:t>Náuseas o vómitos </a:t>
                  </a:r>
                </a:p>
                <a:p>
                  <a:pPr lvl="0">
                    <a:lnSpc>
                      <a:spcPct val="85000"/>
                    </a:lnSpc>
                    <a:spcAft>
                      <a:spcPts val="600"/>
                    </a:spcAft>
                    <a:defRPr/>
                  </a:pPr>
                  <a:r>
                    <a:rPr lang="es-ES" sz="800" b="1" dirty="0">
                      <a:solidFill>
                        <a:srgbClr val="000000"/>
                      </a:solidFill>
                      <a:latin typeface="Trebuchet MS" panose="020B0603020202020204" pitchFamily="34" charset="0"/>
                      <a:ea typeface="Verdana" panose="020B0604030504040204" pitchFamily="34" charset="0"/>
                      <a:cs typeface="Zilla Slab Light"/>
                      <a:sym typeface="Zilla Slab Light"/>
                    </a:rPr>
                    <a:t>Sensibilidad/intolerancia a:</a:t>
                  </a:r>
                </a:p>
              </p:txBody>
            </p:sp>
            <p:cxnSp>
              <p:nvCxnSpPr>
                <p:cNvPr id="185" name="Straight Connector 184">
                  <a:extLst>
                    <a:ext uri="{FF2B5EF4-FFF2-40B4-BE49-F238E27FC236}">
                      <a16:creationId xmlns:a16="http://schemas.microsoft.com/office/drawing/2014/main" id="{46888A80-B698-4392-97E1-FCC8EF3A3273}"/>
                    </a:ext>
                  </a:extLst>
                </p:cNvPr>
                <p:cNvCxnSpPr>
                  <a:cxnSpLocks/>
                </p:cNvCxnSpPr>
                <p:nvPr/>
              </p:nvCxnSpPr>
              <p:spPr>
                <a:xfrm>
                  <a:off x="6267450" y="2932601"/>
                  <a:ext cx="1290638" cy="0"/>
                </a:xfrm>
                <a:prstGeom prst="line">
                  <a:avLst/>
                </a:prstGeom>
                <a:ln w="3175">
                  <a:solidFill>
                    <a:srgbClr val="000000">
                      <a:alpha val="50000"/>
                    </a:srgbClr>
                  </a:solidFill>
                </a:ln>
              </p:spPr>
              <p:style>
                <a:lnRef idx="1">
                  <a:schemeClr val="accent1"/>
                </a:lnRef>
                <a:fillRef idx="0">
                  <a:schemeClr val="accent1"/>
                </a:fillRef>
                <a:effectRef idx="0">
                  <a:schemeClr val="accent1"/>
                </a:effectRef>
                <a:fontRef idx="minor">
                  <a:schemeClr val="tx1"/>
                </a:fontRef>
              </p:style>
            </p:cxnSp>
          </p:grpSp>
        </p:grpSp>
        <p:grpSp>
          <p:nvGrpSpPr>
            <p:cNvPr id="195" name="Group 194">
              <a:extLst>
                <a:ext uri="{FF2B5EF4-FFF2-40B4-BE49-F238E27FC236}">
                  <a16:creationId xmlns:a16="http://schemas.microsoft.com/office/drawing/2014/main" id="{E29F9C74-0F9B-46B1-BBAB-59EB0AB94B7D}"/>
                </a:ext>
              </a:extLst>
            </p:cNvPr>
            <p:cNvGrpSpPr/>
            <p:nvPr/>
          </p:nvGrpSpPr>
          <p:grpSpPr>
            <a:xfrm rot="16200000">
              <a:off x="3531876" y="1559213"/>
              <a:ext cx="395852" cy="395852"/>
              <a:chOff x="470399" y="1361030"/>
              <a:chExt cx="1028646" cy="1028646"/>
            </a:xfrm>
          </p:grpSpPr>
          <p:sp>
            <p:nvSpPr>
              <p:cNvPr id="191" name="Partial Circle 190">
                <a:extLst>
                  <a:ext uri="{FF2B5EF4-FFF2-40B4-BE49-F238E27FC236}">
                    <a16:creationId xmlns:a16="http://schemas.microsoft.com/office/drawing/2014/main" id="{2F38B466-BEBB-4426-84CD-7FBD69E0F559}"/>
                  </a:ext>
                </a:extLst>
              </p:cNvPr>
              <p:cNvSpPr/>
              <p:nvPr/>
            </p:nvSpPr>
            <p:spPr>
              <a:xfrm flipH="1">
                <a:off x="470399" y="1361030"/>
                <a:ext cx="1028646" cy="1028646"/>
              </a:xfrm>
              <a:prstGeom prst="pie">
                <a:avLst>
                  <a:gd name="adj1" fmla="val 5427978"/>
                  <a:gd name="adj2" fmla="val 16200000"/>
                </a:avLst>
              </a:prstGeom>
              <a:solidFill>
                <a:srgbClr val="FDB913"/>
              </a:soli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192" name="Group 191">
                <a:extLst>
                  <a:ext uri="{FF2B5EF4-FFF2-40B4-BE49-F238E27FC236}">
                    <a16:creationId xmlns:a16="http://schemas.microsoft.com/office/drawing/2014/main" id="{77CFC9A7-4302-4AD6-A5AB-FEBA8A29E7C8}"/>
                  </a:ext>
                </a:extLst>
              </p:cNvPr>
              <p:cNvGrpSpPr/>
              <p:nvPr/>
            </p:nvGrpSpPr>
            <p:grpSpPr>
              <a:xfrm>
                <a:off x="587777" y="1478408"/>
                <a:ext cx="793890" cy="797698"/>
                <a:chOff x="587777" y="1478408"/>
                <a:chExt cx="793890" cy="797698"/>
              </a:xfrm>
            </p:grpSpPr>
            <p:sp>
              <p:nvSpPr>
                <p:cNvPr id="193" name="Oval 192">
                  <a:extLst>
                    <a:ext uri="{FF2B5EF4-FFF2-40B4-BE49-F238E27FC236}">
                      <a16:creationId xmlns:a16="http://schemas.microsoft.com/office/drawing/2014/main" id="{18805667-C9D2-42E6-BF07-CF38134F437D}"/>
                    </a:ext>
                  </a:extLst>
                </p:cNvPr>
                <p:cNvSpPr/>
                <p:nvPr/>
              </p:nvSpPr>
              <p:spPr>
                <a:xfrm rot="5400000">
                  <a:off x="587777" y="1478408"/>
                  <a:ext cx="793890" cy="793890"/>
                </a:xfrm>
                <a:prstGeom prst="ellipse">
                  <a:avLst/>
                </a:prstGeom>
                <a:solidFill>
                  <a:schemeClr val="bg1"/>
                </a:solidFill>
                <a:ln>
                  <a:noFill/>
                </a:ln>
                <a:effectLst>
                  <a:outerShdw blurRad="50800" dist="38100" dir="3000000" algn="tl" rotWithShape="0">
                    <a:prstClr val="black">
                      <a:alpha val="6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4" name="TextBox 193">
                  <a:extLst>
                    <a:ext uri="{FF2B5EF4-FFF2-40B4-BE49-F238E27FC236}">
                      <a16:creationId xmlns:a16="http://schemas.microsoft.com/office/drawing/2014/main" id="{795F7A1F-3AB5-4513-9151-BDDD5F850641}"/>
                    </a:ext>
                  </a:extLst>
                </p:cNvPr>
                <p:cNvSpPr txBox="1"/>
                <p:nvPr/>
              </p:nvSpPr>
              <p:spPr>
                <a:xfrm rot="5400000">
                  <a:off x="538450" y="1555251"/>
                  <a:ext cx="793890" cy="647819"/>
                </a:xfrm>
                <a:prstGeom prst="rect">
                  <a:avLst/>
                </a:prstGeom>
                <a:noFill/>
              </p:spPr>
              <p:txBody>
                <a:bodyPr wrap="square" lIns="0" rIns="0" rtlCol="0">
                  <a:spAutoFit/>
                </a:bodyPr>
                <a:lstStyle/>
                <a:p>
                  <a:pPr lvl="0" algn="ctr">
                    <a:lnSpc>
                      <a:spcPct val="85000"/>
                    </a:lnSpc>
                    <a:defRPr/>
                  </a:pPr>
                  <a:r>
                    <a:rPr lang="pt-PT" sz="1200" b="1" dirty="0">
                      <a:solidFill>
                        <a:srgbClr val="FDB913"/>
                      </a:solidFill>
                      <a:latin typeface="Trebuchet MS" panose="020B0603020202020204" pitchFamily="34" charset="0"/>
                      <a:ea typeface="Verdana" panose="020B0604030504040204" pitchFamily="34" charset="0"/>
                      <a:cs typeface="Zilla Slab Light"/>
                      <a:sym typeface="Zilla Slab Light"/>
                    </a:rPr>
                    <a:t>50</a:t>
                  </a:r>
                  <a:r>
                    <a:rPr lang="pt-PT" sz="1200" b="1" baseline="30000" dirty="0">
                      <a:solidFill>
                        <a:srgbClr val="FDB913"/>
                      </a:solidFill>
                      <a:latin typeface="Trebuchet MS" panose="020B0603020202020204" pitchFamily="34" charset="0"/>
                      <a:ea typeface="Verdana" panose="020B0604030504040204" pitchFamily="34" charset="0"/>
                      <a:cs typeface="Zilla Slab Light"/>
                      <a:sym typeface="Zilla Slab Light"/>
                    </a:rPr>
                    <a:t>%</a:t>
                  </a:r>
                  <a:endParaRPr kumimoji="0" lang="en-US" sz="1200" b="1" i="0" u="none" strike="noStrike" kern="1200" cap="none" normalizeH="0" baseline="30000" noProof="0" dirty="0">
                    <a:ln>
                      <a:noFill/>
                    </a:ln>
                    <a:solidFill>
                      <a:srgbClr val="FDB913"/>
                    </a:solidFill>
                    <a:uLnTx/>
                    <a:uFillTx/>
                    <a:latin typeface="Trebuchet MS" panose="020B0603020202020204" pitchFamily="34" charset="0"/>
                    <a:ea typeface="Verdana" panose="020B0604030504040204" pitchFamily="34" charset="0"/>
                    <a:cs typeface="Zilla Slab Light"/>
                    <a:sym typeface="Zilla Slab Light"/>
                  </a:endParaRPr>
                </a:p>
              </p:txBody>
            </p:sp>
          </p:grpSp>
        </p:grpSp>
        <p:grpSp>
          <p:nvGrpSpPr>
            <p:cNvPr id="196" name="Group 195">
              <a:extLst>
                <a:ext uri="{FF2B5EF4-FFF2-40B4-BE49-F238E27FC236}">
                  <a16:creationId xmlns:a16="http://schemas.microsoft.com/office/drawing/2014/main" id="{A9DF4CE5-58F9-4783-AAF4-AB25C332A2F6}"/>
                </a:ext>
              </a:extLst>
            </p:cNvPr>
            <p:cNvGrpSpPr/>
            <p:nvPr/>
          </p:nvGrpSpPr>
          <p:grpSpPr>
            <a:xfrm rot="16200000">
              <a:off x="5351151" y="1559213"/>
              <a:ext cx="395852" cy="395852"/>
              <a:chOff x="470399" y="1361030"/>
              <a:chExt cx="1028646" cy="1028646"/>
            </a:xfrm>
          </p:grpSpPr>
          <p:sp>
            <p:nvSpPr>
              <p:cNvPr id="197" name="Partial Circle 196">
                <a:extLst>
                  <a:ext uri="{FF2B5EF4-FFF2-40B4-BE49-F238E27FC236}">
                    <a16:creationId xmlns:a16="http://schemas.microsoft.com/office/drawing/2014/main" id="{1BA17101-AA98-4864-B611-BD68AF569E08}"/>
                  </a:ext>
                </a:extLst>
              </p:cNvPr>
              <p:cNvSpPr/>
              <p:nvPr/>
            </p:nvSpPr>
            <p:spPr>
              <a:xfrm flipH="1">
                <a:off x="470399" y="1361030"/>
                <a:ext cx="1028646" cy="1028646"/>
              </a:xfrm>
              <a:prstGeom prst="pie">
                <a:avLst>
                  <a:gd name="adj1" fmla="val 10833573"/>
                  <a:gd name="adj2" fmla="val 18088686"/>
                </a:avLst>
              </a:prstGeom>
              <a:solidFill>
                <a:srgbClr val="FDB913"/>
              </a:soli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198" name="Group 197">
                <a:extLst>
                  <a:ext uri="{FF2B5EF4-FFF2-40B4-BE49-F238E27FC236}">
                    <a16:creationId xmlns:a16="http://schemas.microsoft.com/office/drawing/2014/main" id="{9DDC6C5C-99D4-4BB8-987F-B700D0CCD6A6}"/>
                  </a:ext>
                </a:extLst>
              </p:cNvPr>
              <p:cNvGrpSpPr/>
              <p:nvPr/>
            </p:nvGrpSpPr>
            <p:grpSpPr>
              <a:xfrm>
                <a:off x="587777" y="1457463"/>
                <a:ext cx="793890" cy="814835"/>
                <a:chOff x="587777" y="1457463"/>
                <a:chExt cx="793890" cy="814835"/>
              </a:xfrm>
            </p:grpSpPr>
            <p:sp>
              <p:nvSpPr>
                <p:cNvPr id="199" name="Oval 198">
                  <a:extLst>
                    <a:ext uri="{FF2B5EF4-FFF2-40B4-BE49-F238E27FC236}">
                      <a16:creationId xmlns:a16="http://schemas.microsoft.com/office/drawing/2014/main" id="{6DAF80B5-27AF-4E66-9BFE-787F4A4178E5}"/>
                    </a:ext>
                  </a:extLst>
                </p:cNvPr>
                <p:cNvSpPr/>
                <p:nvPr/>
              </p:nvSpPr>
              <p:spPr>
                <a:xfrm rot="5400000">
                  <a:off x="587777" y="1478408"/>
                  <a:ext cx="793890" cy="793890"/>
                </a:xfrm>
                <a:prstGeom prst="ellipse">
                  <a:avLst/>
                </a:prstGeom>
                <a:solidFill>
                  <a:schemeClr val="bg1"/>
                </a:solidFill>
                <a:ln>
                  <a:noFill/>
                </a:ln>
                <a:effectLst>
                  <a:outerShdw blurRad="50800" dist="38100" dir="3000000" algn="tl" rotWithShape="0">
                    <a:prstClr val="black">
                      <a:alpha val="6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00" name="TextBox 199">
                  <a:extLst>
                    <a:ext uri="{FF2B5EF4-FFF2-40B4-BE49-F238E27FC236}">
                      <a16:creationId xmlns:a16="http://schemas.microsoft.com/office/drawing/2014/main" id="{0E08F286-E0D6-41CB-8919-FE980A36A0A4}"/>
                    </a:ext>
                  </a:extLst>
                </p:cNvPr>
                <p:cNvSpPr txBox="1"/>
                <p:nvPr/>
              </p:nvSpPr>
              <p:spPr>
                <a:xfrm rot="5400000">
                  <a:off x="563199" y="1530499"/>
                  <a:ext cx="793891" cy="647819"/>
                </a:xfrm>
                <a:prstGeom prst="rect">
                  <a:avLst/>
                </a:prstGeom>
                <a:noFill/>
              </p:spPr>
              <p:txBody>
                <a:bodyPr wrap="square" lIns="0" rIns="0" rtlCol="0">
                  <a:spAutoFit/>
                </a:bodyPr>
                <a:lstStyle/>
                <a:p>
                  <a:pPr lvl="0" algn="ctr">
                    <a:lnSpc>
                      <a:spcPct val="85000"/>
                    </a:lnSpc>
                    <a:defRPr/>
                  </a:pPr>
                  <a:r>
                    <a:rPr lang="pt-PT" sz="1200" b="1" dirty="0">
                      <a:solidFill>
                        <a:srgbClr val="FDB913"/>
                      </a:solidFill>
                      <a:latin typeface="Trebuchet MS" panose="020B0603020202020204" pitchFamily="34" charset="0"/>
                      <a:ea typeface="Verdana" panose="020B0604030504040204" pitchFamily="34" charset="0"/>
                      <a:cs typeface="Zilla Slab Light"/>
                      <a:sym typeface="Zilla Slab Light"/>
                    </a:rPr>
                    <a:t>1/3</a:t>
                  </a:r>
                  <a:endParaRPr kumimoji="0" lang="en-US" sz="1200" b="1" i="0" u="none" strike="noStrike" kern="1200" cap="none" normalizeH="0" baseline="30000" noProof="0" dirty="0">
                    <a:ln>
                      <a:noFill/>
                    </a:ln>
                    <a:solidFill>
                      <a:srgbClr val="FDB913"/>
                    </a:solidFill>
                    <a:uLnTx/>
                    <a:uFillTx/>
                    <a:latin typeface="Trebuchet MS" panose="020B0603020202020204" pitchFamily="34" charset="0"/>
                    <a:ea typeface="Verdana" panose="020B0604030504040204" pitchFamily="34" charset="0"/>
                    <a:cs typeface="Zilla Slab Light"/>
                    <a:sym typeface="Zilla Slab Light"/>
                  </a:endParaRPr>
                </a:p>
              </p:txBody>
            </p:sp>
          </p:grpSp>
        </p:grpSp>
        <p:grpSp>
          <p:nvGrpSpPr>
            <p:cNvPr id="204" name="Group 203">
              <a:extLst>
                <a:ext uri="{FF2B5EF4-FFF2-40B4-BE49-F238E27FC236}">
                  <a16:creationId xmlns:a16="http://schemas.microsoft.com/office/drawing/2014/main" id="{1F9F15A1-D94F-4DB9-B0ED-EE0B56C9E489}"/>
                </a:ext>
              </a:extLst>
            </p:cNvPr>
            <p:cNvGrpSpPr/>
            <p:nvPr/>
          </p:nvGrpSpPr>
          <p:grpSpPr>
            <a:xfrm>
              <a:off x="9451575" y="2585281"/>
              <a:ext cx="1069099" cy="196977"/>
              <a:chOff x="2195056" y="2474987"/>
              <a:chExt cx="1069099" cy="196977"/>
            </a:xfrm>
          </p:grpSpPr>
          <p:sp>
            <p:nvSpPr>
              <p:cNvPr id="205" name="Rectangle: Rounded Corners 204">
                <a:extLst>
                  <a:ext uri="{FF2B5EF4-FFF2-40B4-BE49-F238E27FC236}">
                    <a16:creationId xmlns:a16="http://schemas.microsoft.com/office/drawing/2014/main" id="{AC2C11B4-3051-46F3-B8F0-FF121BDEFE9A}"/>
                  </a:ext>
                </a:extLst>
              </p:cNvPr>
              <p:cNvSpPr/>
              <p:nvPr/>
            </p:nvSpPr>
            <p:spPr>
              <a:xfrm>
                <a:off x="2195056" y="2483286"/>
                <a:ext cx="1069099" cy="156112"/>
              </a:xfrm>
              <a:prstGeom prst="roundRect">
                <a:avLst>
                  <a:gd name="adj" fmla="val 50000"/>
                </a:avLst>
              </a:prstGeom>
              <a:solidFill>
                <a:srgbClr val="0048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2000" b="0" i="0" u="none" strike="noStrike" kern="1200" cap="none" normalizeH="0" baseline="0" noProof="0">
                  <a:ln>
                    <a:noFill/>
                  </a:ln>
                  <a:solidFill>
                    <a:prstClr val="white"/>
                  </a:solidFill>
                  <a:effectLst/>
                  <a:uLnTx/>
                  <a:uFillTx/>
                  <a:latin typeface="Calibri" panose="020F0502020204030204"/>
                  <a:ea typeface="+mn-ea"/>
                  <a:cs typeface="+mn-cs"/>
                </a:endParaRPr>
              </a:p>
            </p:txBody>
          </p:sp>
          <p:sp>
            <p:nvSpPr>
              <p:cNvPr id="206" name="TextBox 205">
                <a:extLst>
                  <a:ext uri="{FF2B5EF4-FFF2-40B4-BE49-F238E27FC236}">
                    <a16:creationId xmlns:a16="http://schemas.microsoft.com/office/drawing/2014/main" id="{71617AB6-1D1E-422C-9DB2-218F25E164BD}"/>
                  </a:ext>
                </a:extLst>
              </p:cNvPr>
              <p:cNvSpPr txBox="1"/>
              <p:nvPr/>
            </p:nvSpPr>
            <p:spPr>
              <a:xfrm>
                <a:off x="2274685" y="2474987"/>
                <a:ext cx="909840" cy="196977"/>
              </a:xfrm>
              <a:prstGeom prst="rect">
                <a:avLst/>
              </a:prstGeom>
              <a:noFill/>
            </p:spPr>
            <p:txBody>
              <a:bodyPr wrap="square" lIns="0" rIns="0" rtlCol="0">
                <a:spAutoFit/>
              </a:bodyPr>
              <a:lstStyle/>
              <a:p>
                <a:pPr lvl="0" algn="ctr">
                  <a:lnSpc>
                    <a:spcPct val="85000"/>
                  </a:lnSpc>
                  <a:defRPr/>
                </a:pPr>
                <a:r>
                  <a:rPr lang="es-ES" sz="800" b="1" dirty="0">
                    <a:solidFill>
                      <a:schemeClr val="bg1"/>
                    </a:solidFill>
                    <a:latin typeface="Trebuchet MS" panose="020B0603020202020204" pitchFamily="34" charset="0"/>
                    <a:ea typeface="Verdana" panose="020B0604030504040204" pitchFamily="34" charset="0"/>
                    <a:cs typeface="Zilla Slab Light"/>
                    <a:sym typeface="Zilla Slab Light"/>
                  </a:rPr>
                  <a:t>SÍNTOMAS</a:t>
                </a:r>
                <a:endParaRPr kumimoji="0" lang="en-US" sz="800" b="1" i="0" u="none" strike="noStrike" kern="1200" cap="none" normalizeH="0" baseline="0" noProof="0" dirty="0">
                  <a:ln>
                    <a:noFill/>
                  </a:ln>
                  <a:solidFill>
                    <a:schemeClr val="bg1"/>
                  </a:solidFill>
                  <a:uLnTx/>
                  <a:uFillTx/>
                  <a:latin typeface="Trebuchet MS" panose="020B0603020202020204" pitchFamily="34" charset="0"/>
                  <a:ea typeface="Verdana" panose="020B0604030504040204" pitchFamily="34" charset="0"/>
                  <a:cs typeface="Zilla Slab Light"/>
                  <a:sym typeface="Zilla Slab Light"/>
                </a:endParaRPr>
              </a:p>
            </p:txBody>
          </p:sp>
        </p:grpSp>
      </p:grpSp>
      <p:sp>
        <p:nvSpPr>
          <p:cNvPr id="57" name="Freeform: Shape 56">
            <a:extLst>
              <a:ext uri="{FF2B5EF4-FFF2-40B4-BE49-F238E27FC236}">
                <a16:creationId xmlns:a16="http://schemas.microsoft.com/office/drawing/2014/main" id="{1EBF48CE-8FE3-453F-93E9-C4AF97C4290C}"/>
              </a:ext>
            </a:extLst>
          </p:cNvPr>
          <p:cNvSpPr/>
          <p:nvPr/>
        </p:nvSpPr>
        <p:spPr>
          <a:xfrm>
            <a:off x="-1" y="571499"/>
            <a:ext cx="12192001" cy="6286502"/>
          </a:xfrm>
          <a:custGeom>
            <a:avLst/>
            <a:gdLst>
              <a:gd name="connsiteX0" fmla="*/ 0 w 12192001"/>
              <a:gd name="connsiteY0" fmla="*/ 0 h 6858000"/>
              <a:gd name="connsiteX1" fmla="*/ 1312619 w 12192001"/>
              <a:gd name="connsiteY1" fmla="*/ 0 h 6858000"/>
              <a:gd name="connsiteX2" fmla="*/ 1312619 w 12192001"/>
              <a:gd name="connsiteY2" fmla="*/ 5701774 h 6858000"/>
              <a:gd name="connsiteX3" fmla="*/ 12192001 w 12192001"/>
              <a:gd name="connsiteY3" fmla="*/ 5701774 h 6858000"/>
              <a:gd name="connsiteX4" fmla="*/ 12192001 w 12192001"/>
              <a:gd name="connsiteY4" fmla="*/ 6858000 h 6858000"/>
              <a:gd name="connsiteX5" fmla="*/ 1312619 w 12192001"/>
              <a:gd name="connsiteY5" fmla="*/ 6858000 h 6858000"/>
              <a:gd name="connsiteX6" fmla="*/ 1085850 w 12192001"/>
              <a:gd name="connsiteY6" fmla="*/ 6858000 h 6858000"/>
              <a:gd name="connsiteX7" fmla="*/ 0 w 1219200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1" h="6858000">
                <a:moveTo>
                  <a:pt x="0" y="0"/>
                </a:moveTo>
                <a:lnTo>
                  <a:pt x="1312619" y="0"/>
                </a:lnTo>
                <a:lnTo>
                  <a:pt x="1312619" y="5701774"/>
                </a:lnTo>
                <a:lnTo>
                  <a:pt x="12192001" y="5701774"/>
                </a:lnTo>
                <a:lnTo>
                  <a:pt x="12192001" y="6858000"/>
                </a:lnTo>
                <a:lnTo>
                  <a:pt x="1312619" y="6858000"/>
                </a:lnTo>
                <a:lnTo>
                  <a:pt x="1085850"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87678353-B797-45C1-BFB1-465E36BE1C72}"/>
              </a:ext>
            </a:extLst>
          </p:cNvPr>
          <p:cNvGrpSpPr/>
          <p:nvPr/>
        </p:nvGrpSpPr>
        <p:grpSpPr>
          <a:xfrm>
            <a:off x="252552" y="6342796"/>
            <a:ext cx="11686895" cy="398170"/>
            <a:chOff x="252552" y="6226684"/>
            <a:chExt cx="11686895" cy="398170"/>
          </a:xfrm>
        </p:grpSpPr>
        <p:grpSp>
          <p:nvGrpSpPr>
            <p:cNvPr id="14" name="Group 13">
              <a:extLst>
                <a:ext uri="{FF2B5EF4-FFF2-40B4-BE49-F238E27FC236}">
                  <a16:creationId xmlns:a16="http://schemas.microsoft.com/office/drawing/2014/main" id="{073AD1A5-C9C1-4A54-9536-A64149F445B9}"/>
                </a:ext>
              </a:extLst>
            </p:cNvPr>
            <p:cNvGrpSpPr/>
            <p:nvPr/>
          </p:nvGrpSpPr>
          <p:grpSpPr>
            <a:xfrm>
              <a:off x="252552" y="6293241"/>
              <a:ext cx="1266906" cy="265056"/>
              <a:chOff x="5600700" y="-854146"/>
              <a:chExt cx="989647" cy="207049"/>
            </a:xfrm>
          </p:grpSpPr>
          <p:sp>
            <p:nvSpPr>
              <p:cNvPr id="5" name="Freeform: Shape 4">
                <a:extLst>
                  <a:ext uri="{FF2B5EF4-FFF2-40B4-BE49-F238E27FC236}">
                    <a16:creationId xmlns:a16="http://schemas.microsoft.com/office/drawing/2014/main" id="{2E39DA4E-C14C-4872-A5E3-4D96CC42AD1D}"/>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4629D4CD-5B4B-460C-8173-973EEEAE64C7}"/>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01243EF6-73A0-4E64-AE28-BBCB4643C978}"/>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792AE46-C446-4F34-8B69-0071FDBEE944}"/>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B2EA20F1-E6B1-41F8-91AE-3D45AD20ACC2}"/>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463F15C-D048-4DB5-A706-67AA9FBBAFC7}"/>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F96E3F5-E7C6-433B-B01B-62B8AED5B568}"/>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01EE354-E23C-48B6-86C8-CAC043AE58C6}"/>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F7546271-4274-4E97-AB86-C97D520C3D64}"/>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16" name="Graphic 15">
              <a:extLst>
                <a:ext uri="{FF2B5EF4-FFF2-40B4-BE49-F238E27FC236}">
                  <a16:creationId xmlns:a16="http://schemas.microsoft.com/office/drawing/2014/main" id="{CD787745-A225-44B9-9486-376DC2BF2E8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72541" y="6226684"/>
              <a:ext cx="1266906" cy="398170"/>
            </a:xfrm>
            <a:prstGeom prst="rect">
              <a:avLst/>
            </a:prstGeom>
          </p:spPr>
        </p:pic>
      </p:grpSp>
      <p:pic>
        <p:nvPicPr>
          <p:cNvPr id="17" name="Picture 16" descr="Logo, icon&#10;&#10;Description automatically generated">
            <a:extLst>
              <a:ext uri="{FF2B5EF4-FFF2-40B4-BE49-F238E27FC236}">
                <a16:creationId xmlns:a16="http://schemas.microsoft.com/office/drawing/2014/main" id="{C8C9E05C-9B4A-453A-AAE4-E4194BBE48B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5125" y="5596115"/>
            <a:ext cx="334979" cy="433912"/>
          </a:xfrm>
          <a:prstGeom prst="rect">
            <a:avLst/>
          </a:prstGeom>
        </p:spPr>
      </p:pic>
      <p:pic>
        <p:nvPicPr>
          <p:cNvPr id="18" name="Picture 17" descr="Icon&#10;&#10;Description automatically generated">
            <a:extLst>
              <a:ext uri="{FF2B5EF4-FFF2-40B4-BE49-F238E27FC236}">
                <a16:creationId xmlns:a16="http://schemas.microsoft.com/office/drawing/2014/main" id="{07980D24-3EE6-4857-A62E-FAC601EAE4D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8592" y="3484724"/>
            <a:ext cx="368044" cy="396603"/>
          </a:xfrm>
          <a:prstGeom prst="rect">
            <a:avLst/>
          </a:prstGeom>
        </p:spPr>
      </p:pic>
      <p:pic>
        <p:nvPicPr>
          <p:cNvPr id="19" name="Picture 18" descr="Icon&#10;&#10;Description automatically generated">
            <a:extLst>
              <a:ext uri="{FF2B5EF4-FFF2-40B4-BE49-F238E27FC236}">
                <a16:creationId xmlns:a16="http://schemas.microsoft.com/office/drawing/2014/main" id="{9CF6E3D5-5590-4071-B225-F0115BF28B1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4983" y="4228586"/>
            <a:ext cx="335263" cy="330544"/>
          </a:xfrm>
          <a:prstGeom prst="rect">
            <a:avLst/>
          </a:prstGeom>
        </p:spPr>
      </p:pic>
      <p:pic>
        <p:nvPicPr>
          <p:cNvPr id="20" name="Picture 19" descr="Shape, icon&#10;&#10;Description automatically generated">
            <a:extLst>
              <a:ext uri="{FF2B5EF4-FFF2-40B4-BE49-F238E27FC236}">
                <a16:creationId xmlns:a16="http://schemas.microsoft.com/office/drawing/2014/main" id="{88B48EBB-FFCE-44A1-A5D7-433FD9A56EB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39395" y="4906389"/>
            <a:ext cx="346438" cy="342465"/>
          </a:xfrm>
          <a:prstGeom prst="rect">
            <a:avLst/>
          </a:prstGeom>
        </p:spPr>
      </p:pic>
      <p:pic>
        <p:nvPicPr>
          <p:cNvPr id="21" name="Picture 20" descr="Logo, icon&#10;&#10;Description automatically generated">
            <a:extLst>
              <a:ext uri="{FF2B5EF4-FFF2-40B4-BE49-F238E27FC236}">
                <a16:creationId xmlns:a16="http://schemas.microsoft.com/office/drawing/2014/main" id="{CFC23E8F-D0E3-42EE-A6FB-B17148EA34E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57002" y="2770662"/>
            <a:ext cx="415974" cy="366803"/>
          </a:xfrm>
          <a:prstGeom prst="rect">
            <a:avLst/>
          </a:prstGeom>
        </p:spPr>
      </p:pic>
      <p:pic>
        <p:nvPicPr>
          <p:cNvPr id="23" name="Picture 22" descr="Icon&#10;&#10;Description automatically generated">
            <a:extLst>
              <a:ext uri="{FF2B5EF4-FFF2-40B4-BE49-F238E27FC236}">
                <a16:creationId xmlns:a16="http://schemas.microsoft.com/office/drawing/2014/main" id="{3E8DD03E-A723-4CC1-A6E9-D0A543F2D4B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8014" y="1310664"/>
            <a:ext cx="349200" cy="362031"/>
          </a:xfrm>
          <a:prstGeom prst="rect">
            <a:avLst/>
          </a:prstGeom>
        </p:spPr>
      </p:pic>
      <p:pic>
        <p:nvPicPr>
          <p:cNvPr id="24" name="Picture 23" descr="A picture containing egg, light&#10;&#10;Description automatically generated">
            <a:extLst>
              <a:ext uri="{FF2B5EF4-FFF2-40B4-BE49-F238E27FC236}">
                <a16:creationId xmlns:a16="http://schemas.microsoft.com/office/drawing/2014/main" id="{131EED77-39D5-4DB8-988A-ED5E329957C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19218" y="2019954"/>
            <a:ext cx="386793" cy="403449"/>
          </a:xfrm>
          <a:prstGeom prst="rect">
            <a:avLst/>
          </a:prstGeom>
        </p:spPr>
      </p:pic>
      <p:sp>
        <p:nvSpPr>
          <p:cNvPr id="2" name="Rectangle 1">
            <a:extLst>
              <a:ext uri="{FF2B5EF4-FFF2-40B4-BE49-F238E27FC236}">
                <a16:creationId xmlns:a16="http://schemas.microsoft.com/office/drawing/2014/main" id="{1F6DB891-32BB-4433-B096-762FE121F6B7}"/>
              </a:ext>
            </a:extLst>
          </p:cNvPr>
          <p:cNvSpPr/>
          <p:nvPr/>
        </p:nvSpPr>
        <p:spPr>
          <a:xfrm>
            <a:off x="1123950" y="2294204"/>
            <a:ext cx="9823077" cy="3707248"/>
          </a:xfrm>
          <a:custGeom>
            <a:avLst/>
            <a:gdLst>
              <a:gd name="connsiteX0" fmla="*/ 0 w 10563225"/>
              <a:gd name="connsiteY0" fmla="*/ 0 h 4850010"/>
              <a:gd name="connsiteX1" fmla="*/ 10563225 w 10563225"/>
              <a:gd name="connsiteY1" fmla="*/ 0 h 4850010"/>
              <a:gd name="connsiteX2" fmla="*/ 10563225 w 10563225"/>
              <a:gd name="connsiteY2" fmla="*/ 4850010 h 4850010"/>
              <a:gd name="connsiteX3" fmla="*/ 0 w 10563225"/>
              <a:gd name="connsiteY3" fmla="*/ 4850010 h 4850010"/>
              <a:gd name="connsiteX4" fmla="*/ 0 w 10563225"/>
              <a:gd name="connsiteY4" fmla="*/ 0 h 4850010"/>
              <a:gd name="connsiteX0" fmla="*/ 10563225 w 10654665"/>
              <a:gd name="connsiteY0" fmla="*/ 0 h 4850010"/>
              <a:gd name="connsiteX1" fmla="*/ 10563225 w 10654665"/>
              <a:gd name="connsiteY1" fmla="*/ 4850010 h 4850010"/>
              <a:gd name="connsiteX2" fmla="*/ 0 w 10654665"/>
              <a:gd name="connsiteY2" fmla="*/ 4850010 h 4850010"/>
              <a:gd name="connsiteX3" fmla="*/ 0 w 10654665"/>
              <a:gd name="connsiteY3" fmla="*/ 0 h 4850010"/>
              <a:gd name="connsiteX4" fmla="*/ 10654665 w 10654665"/>
              <a:gd name="connsiteY4" fmla="*/ 91440 h 4850010"/>
              <a:gd name="connsiteX0" fmla="*/ 10563225 w 10563225"/>
              <a:gd name="connsiteY0" fmla="*/ 0 h 4850010"/>
              <a:gd name="connsiteX1" fmla="*/ 10563225 w 10563225"/>
              <a:gd name="connsiteY1" fmla="*/ 4850010 h 4850010"/>
              <a:gd name="connsiteX2" fmla="*/ 0 w 10563225"/>
              <a:gd name="connsiteY2" fmla="*/ 4850010 h 4850010"/>
              <a:gd name="connsiteX3" fmla="*/ 0 w 10563225"/>
              <a:gd name="connsiteY3" fmla="*/ 0 h 4850010"/>
              <a:gd name="connsiteX0" fmla="*/ 10563225 w 10563225"/>
              <a:gd name="connsiteY0" fmla="*/ 4850010 h 4850010"/>
              <a:gd name="connsiteX1" fmla="*/ 0 w 10563225"/>
              <a:gd name="connsiteY1" fmla="*/ 4850010 h 4850010"/>
              <a:gd name="connsiteX2" fmla="*/ 0 w 10563225"/>
              <a:gd name="connsiteY2" fmla="*/ 0 h 4850010"/>
            </a:gdLst>
            <a:ahLst/>
            <a:cxnLst>
              <a:cxn ang="0">
                <a:pos x="connsiteX0" y="connsiteY0"/>
              </a:cxn>
              <a:cxn ang="0">
                <a:pos x="connsiteX1" y="connsiteY1"/>
              </a:cxn>
              <a:cxn ang="0">
                <a:pos x="connsiteX2" y="connsiteY2"/>
              </a:cxn>
            </a:cxnLst>
            <a:rect l="l" t="t" r="r" b="b"/>
            <a:pathLst>
              <a:path w="10563225" h="4850010">
                <a:moveTo>
                  <a:pt x="10563225" y="4850010"/>
                </a:moveTo>
                <a:lnTo>
                  <a:pt x="0" y="4850010"/>
                </a:lnTo>
                <a:lnTo>
                  <a:pt x="0" y="0"/>
                </a:lnTo>
              </a:path>
            </a:pathLst>
          </a:custGeom>
          <a:noFill/>
          <a:ln>
            <a:solidFill>
              <a:srgbClr val="000000"/>
            </a:solidFill>
            <a:headEnd type="arrow"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7035212C-7D25-44BD-8A1F-96276944792A}"/>
              </a:ext>
            </a:extLst>
          </p:cNvPr>
          <p:cNvSpPr txBox="1"/>
          <p:nvPr/>
        </p:nvSpPr>
        <p:spPr>
          <a:xfrm rot="16200000">
            <a:off x="626698" y="1663906"/>
            <a:ext cx="1082148" cy="249299"/>
          </a:xfrm>
          <a:prstGeom prst="rect">
            <a:avLst/>
          </a:prstGeom>
          <a:noFill/>
        </p:spPr>
        <p:txBody>
          <a:bodyPr wrap="square" rtlCol="0">
            <a:spAutoFit/>
          </a:bodyPr>
          <a:lstStyle/>
          <a:p>
            <a:pPr lvl="0" algn="r">
              <a:lnSpc>
                <a:spcPct val="85000"/>
              </a:lnSpc>
              <a:defRPr/>
            </a:pPr>
            <a:r>
              <a:rPr lang="pt-PT" sz="1200" b="1" noProof="0" dirty="0">
                <a:solidFill>
                  <a:srgbClr val="000000"/>
                </a:solidFill>
                <a:latin typeface="Trebuchet MS" panose="020B0603020202020204" pitchFamily="34" charset="0"/>
                <a:ea typeface="Verdana" panose="020B0604030504040204" pitchFamily="34" charset="0"/>
                <a:cs typeface="Zilla Slab Light"/>
                <a:sym typeface="Zilla Slab Light"/>
              </a:rPr>
              <a:t>INTENSIDAD</a:t>
            </a:r>
            <a:endParaRPr kumimoji="0" lang="en-US" sz="1200" b="1" i="0" u="none" strike="noStrike" kern="1200" cap="none" normalizeH="0" baseline="0" noProof="0" dirty="0">
              <a:ln>
                <a:noFill/>
              </a:ln>
              <a:solidFill>
                <a:srgbClr val="000000"/>
              </a:solidFill>
              <a:uLnTx/>
              <a:uFillTx/>
              <a:latin typeface="Trebuchet MS" panose="020B0603020202020204" pitchFamily="34" charset="0"/>
              <a:ea typeface="Verdana" panose="020B0604030504040204" pitchFamily="34" charset="0"/>
              <a:cs typeface="Zilla Slab Light"/>
              <a:sym typeface="Zilla Slab Light"/>
            </a:endParaRPr>
          </a:p>
        </p:txBody>
      </p:sp>
      <p:sp>
        <p:nvSpPr>
          <p:cNvPr id="27" name="TextBox 26">
            <a:extLst>
              <a:ext uri="{FF2B5EF4-FFF2-40B4-BE49-F238E27FC236}">
                <a16:creationId xmlns:a16="http://schemas.microsoft.com/office/drawing/2014/main" id="{85ED1FD7-3484-4BB7-BB90-25EA4B1FF57C}"/>
              </a:ext>
            </a:extLst>
          </p:cNvPr>
          <p:cNvSpPr txBox="1"/>
          <p:nvPr/>
        </p:nvSpPr>
        <p:spPr>
          <a:xfrm>
            <a:off x="10927023" y="5891871"/>
            <a:ext cx="760152" cy="249299"/>
          </a:xfrm>
          <a:prstGeom prst="rect">
            <a:avLst/>
          </a:prstGeom>
          <a:noFill/>
        </p:spPr>
        <p:txBody>
          <a:bodyPr wrap="square" rtlCol="0">
            <a:spAutoFit/>
          </a:bodyPr>
          <a:lstStyle/>
          <a:p>
            <a:pPr lvl="0" algn="r">
              <a:lnSpc>
                <a:spcPct val="85000"/>
              </a:lnSpc>
              <a:defRPr/>
            </a:pPr>
            <a:r>
              <a:rPr lang="pt-PT" sz="1200" b="1" noProof="0" dirty="0">
                <a:solidFill>
                  <a:srgbClr val="000000"/>
                </a:solidFill>
                <a:latin typeface="Trebuchet MS" panose="020B0603020202020204" pitchFamily="34" charset="0"/>
                <a:ea typeface="Verdana" panose="020B0604030504040204" pitchFamily="34" charset="0"/>
                <a:cs typeface="Zilla Slab Light"/>
                <a:sym typeface="Zilla Slab Light"/>
              </a:rPr>
              <a:t>TIEMPO</a:t>
            </a:r>
            <a:endParaRPr kumimoji="0" lang="en-US" sz="1200" b="1" i="0" u="none" strike="noStrike" kern="1200" cap="none" normalizeH="0" baseline="0" noProof="0" dirty="0">
              <a:ln>
                <a:noFill/>
              </a:ln>
              <a:solidFill>
                <a:srgbClr val="000000"/>
              </a:solidFill>
              <a:uLnTx/>
              <a:uFillTx/>
              <a:latin typeface="Trebuchet MS" panose="020B0603020202020204" pitchFamily="34" charset="0"/>
              <a:ea typeface="Verdana" panose="020B0604030504040204" pitchFamily="34" charset="0"/>
              <a:cs typeface="Zilla Slab Light"/>
              <a:sym typeface="Zilla Slab Light"/>
            </a:endParaRPr>
          </a:p>
        </p:txBody>
      </p:sp>
      <p:sp>
        <p:nvSpPr>
          <p:cNvPr id="77" name="TextBox 76">
            <a:extLst>
              <a:ext uri="{FF2B5EF4-FFF2-40B4-BE49-F238E27FC236}">
                <a16:creationId xmlns:a16="http://schemas.microsoft.com/office/drawing/2014/main" id="{40A583EF-D1D9-4963-9548-50282337B9C1}"/>
              </a:ext>
            </a:extLst>
          </p:cNvPr>
          <p:cNvSpPr txBox="1"/>
          <p:nvPr/>
        </p:nvSpPr>
        <p:spPr>
          <a:xfrm>
            <a:off x="1119089" y="6053313"/>
            <a:ext cx="7777261" cy="327782"/>
          </a:xfrm>
          <a:prstGeom prst="rect">
            <a:avLst/>
          </a:prstGeom>
          <a:noFill/>
        </p:spPr>
        <p:txBody>
          <a:bodyPr wrap="square" lIns="0" rtlCol="0">
            <a:spAutoFit/>
          </a:bodyPr>
          <a:lstStyle/>
          <a:p>
            <a:pPr lvl="0">
              <a:lnSpc>
                <a:spcPct val="85000"/>
              </a:lnSpc>
              <a:defRPr/>
            </a:pPr>
            <a:r>
              <a:rPr lang="es-ES" sz="900" dirty="0">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 No todos los pacientes experimentan estas cuatro fases, pues estas pueden variar en función de la crisis. Además, las fases pueden solaparse.11</a:t>
            </a:r>
          </a:p>
          <a:p>
            <a:pPr lvl="0">
              <a:lnSpc>
                <a:spcPct val="85000"/>
              </a:lnSpc>
              <a:defRPr/>
            </a:pPr>
            <a:r>
              <a:rPr lang="es-ES" sz="900" dirty="0">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Adaptado de </a:t>
            </a:r>
            <a:r>
              <a:rPr lang="es-ES" sz="900" dirty="0" err="1">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MigraPortugal</a:t>
            </a:r>
            <a:r>
              <a:rPr lang="es-ES" sz="900" dirty="0">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 (disponible en: https://migraportugal.pt/sobre-cefaleias/enxaqueca/)</a:t>
            </a:r>
            <a:endParaRPr lang="en-US" sz="900" dirty="0">
              <a:solidFill>
                <a:schemeClr val="bg1">
                  <a:lumMod val="50000"/>
                </a:schemeClr>
              </a:solidFill>
              <a:latin typeface="Trebuchet MS" panose="020B0603020202020204" pitchFamily="34" charset="0"/>
              <a:ea typeface="Verdana" panose="020B0604030504040204" pitchFamily="34" charset="0"/>
              <a:cs typeface="Zilla Slab Light"/>
              <a:sym typeface="Zilla Slab Light"/>
            </a:endParaRPr>
          </a:p>
        </p:txBody>
      </p:sp>
      <p:pic>
        <p:nvPicPr>
          <p:cNvPr id="201" name="Picture 200" descr="Shape, circle&#10;&#10;Description automatically generated">
            <a:extLst>
              <a:ext uri="{FF2B5EF4-FFF2-40B4-BE49-F238E27FC236}">
                <a16:creationId xmlns:a16="http://schemas.microsoft.com/office/drawing/2014/main" id="{DA81E1E2-94CF-4D79-8D70-B3702C717034}"/>
              </a:ext>
            </a:extLst>
          </p:cNvPr>
          <p:cNvPicPr>
            <a:picLocks noChangeAspect="1"/>
          </p:cNvPicPr>
          <p:nvPr/>
        </p:nvPicPr>
        <p:blipFill rotWithShape="1">
          <a:blip r:embed="rId11">
            <a:extLst>
              <a:ext uri="{28A0092B-C50C-407E-A947-70E740481C1C}">
                <a14:useLocalDpi xmlns:a14="http://schemas.microsoft.com/office/drawing/2010/main" val="0"/>
              </a:ext>
            </a:extLst>
          </a:blip>
          <a:srcRect l="1" r="-3" b="87220"/>
          <a:stretch/>
        </p:blipFill>
        <p:spPr>
          <a:xfrm>
            <a:off x="-1" y="0"/>
            <a:ext cx="12192001" cy="876410"/>
          </a:xfrm>
          <a:prstGeom prst="rect">
            <a:avLst/>
          </a:prstGeom>
        </p:spPr>
      </p:pic>
      <p:sp>
        <p:nvSpPr>
          <p:cNvPr id="25" name="TextBox 24">
            <a:extLst>
              <a:ext uri="{FF2B5EF4-FFF2-40B4-BE49-F238E27FC236}">
                <a16:creationId xmlns:a16="http://schemas.microsoft.com/office/drawing/2014/main" id="{F3153D03-428C-4AEF-9B4B-C65FD9760A9C}"/>
              </a:ext>
            </a:extLst>
          </p:cNvPr>
          <p:cNvSpPr txBox="1"/>
          <p:nvPr/>
        </p:nvSpPr>
        <p:spPr>
          <a:xfrm>
            <a:off x="2933700" y="259967"/>
            <a:ext cx="6324600" cy="510909"/>
          </a:xfrm>
          <a:prstGeom prst="rect">
            <a:avLst/>
          </a:prstGeom>
          <a:noFill/>
        </p:spPr>
        <p:txBody>
          <a:bodyPr wrap="square" rtlCol="0">
            <a:spAutoFit/>
          </a:bodyPr>
          <a:lstStyle/>
          <a:p>
            <a:pPr lvl="0" algn="ctr">
              <a:lnSpc>
                <a:spcPct val="85000"/>
              </a:lnSpc>
              <a:defRPr/>
            </a:pPr>
            <a:r>
              <a:rPr lang="pt-PT" sz="3200" b="1" spc="600" dirty="0">
                <a:solidFill>
                  <a:schemeClr val="bg1"/>
                </a:solidFill>
                <a:latin typeface="Trebuchet MS" panose="020B0603020202020204" pitchFamily="34" charset="0"/>
                <a:ea typeface="Verdana" panose="020B0604030504040204" pitchFamily="34" charset="0"/>
                <a:cs typeface="Zilla Slab Light"/>
                <a:sym typeface="Zilla Slab Light"/>
              </a:rPr>
              <a:t>ETAPAS DE LA MIGRAÑA</a:t>
            </a:r>
            <a:endParaRPr kumimoji="0" lang="en-US" sz="3200" b="1" i="0" u="none" strike="noStrike" kern="1200" cap="none" spc="600" normalizeH="0" baseline="0" noProof="0" dirty="0">
              <a:ln>
                <a:noFill/>
              </a:ln>
              <a:solidFill>
                <a:schemeClr val="bg1"/>
              </a:solidFill>
              <a:uLnTx/>
              <a:uFillTx/>
              <a:latin typeface="Trebuchet MS" panose="020B0603020202020204" pitchFamily="34" charset="0"/>
              <a:ea typeface="Verdana" panose="020B0604030504040204" pitchFamily="34" charset="0"/>
              <a:cs typeface="Zilla Slab Light"/>
              <a:sym typeface="Zilla Slab Light"/>
            </a:endParaRPr>
          </a:p>
        </p:txBody>
      </p:sp>
    </p:spTree>
    <p:extLst>
      <p:ext uri="{BB962C8B-B14F-4D97-AF65-F5344CB8AC3E}">
        <p14:creationId xmlns:p14="http://schemas.microsoft.com/office/powerpoint/2010/main" val="2551010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200" fill="hold"/>
                                            <p:tgtEl>
                                              <p:spTgt spid="23"/>
                                            </p:tgtEl>
                                            <p:attrNameLst>
                                              <p:attrName>ppt_w</p:attrName>
                                            </p:attrNameLst>
                                          </p:cBhvr>
                                          <p:tavLst>
                                            <p:tav tm="0">
                                              <p:val>
                                                <p:fltVal val="0"/>
                                              </p:val>
                                            </p:tav>
                                            <p:tav tm="100000">
                                              <p:val>
                                                <p:strVal val="#ppt_w"/>
                                              </p:val>
                                            </p:tav>
                                          </p:tavLst>
                                        </p:anim>
                                        <p:anim calcmode="lin" valueType="num">
                                          <p:cBhvr>
                                            <p:cTn id="8" dur="200" fill="hold"/>
                                            <p:tgtEl>
                                              <p:spTgt spid="23"/>
                                            </p:tgtEl>
                                            <p:attrNameLst>
                                              <p:attrName>ppt_h</p:attrName>
                                            </p:attrNameLst>
                                          </p:cBhvr>
                                          <p:tavLst>
                                            <p:tav tm="0">
                                              <p:val>
                                                <p:fltVal val="0"/>
                                              </p:val>
                                            </p:tav>
                                            <p:tav tm="100000">
                                              <p:val>
                                                <p:strVal val="#ppt_h"/>
                                              </p:val>
                                            </p:tav>
                                          </p:tavLst>
                                        </p:anim>
                                      </p:childTnLst>
                                    </p:cTn>
                                  </p:par>
                                  <p:par>
                                    <p:cTn id="9" presetID="6" presetClass="emph" presetSubtype="0" fill="hold" nodeType="withEffect" p14:presetBounceEnd="99000">
                                      <p:stCondLst>
                                        <p:cond delay="0"/>
                                      </p:stCondLst>
                                      <p:childTnLst>
                                        <p:animScale p14:bounceEnd="99000">
                                          <p:cBhvr>
                                            <p:cTn id="10" dur="1000" fill="hold"/>
                                            <p:tgtEl>
                                              <p:spTgt spid="23"/>
                                            </p:tgtEl>
                                          </p:cBhvr>
                                          <p:by x="110000" y="110000"/>
                                        </p:animScale>
                                      </p:childTnLst>
                                    </p:cTn>
                                  </p:par>
                                  <p:par>
                                    <p:cTn id="11" presetID="6" presetClass="emph" presetSubtype="0" accel="50000" decel="50000" fill="hold" nodeType="withEffect">
                                      <p:stCondLst>
                                        <p:cond delay="0"/>
                                      </p:stCondLst>
                                      <p:childTnLst>
                                        <p:animScale>
                                          <p:cBhvr>
                                            <p:cTn id="12" dur="250" fill="hold"/>
                                            <p:tgtEl>
                                              <p:spTgt spid="23"/>
                                            </p:tgtEl>
                                          </p:cBhvr>
                                          <p:by x="91000" y="91000"/>
                                        </p:animScale>
                                      </p:childTnLst>
                                    </p:cTn>
                                  </p:par>
                                  <p:par>
                                    <p:cTn id="13" presetID="2" presetClass="entr" presetSubtype="1" decel="100000" fill="hold" nodeType="withEffect">
                                      <p:stCondLst>
                                        <p:cond delay="0"/>
                                      </p:stCondLst>
                                      <p:childTnLst>
                                        <p:set>
                                          <p:cBhvr>
                                            <p:cTn id="14" dur="1" fill="hold">
                                              <p:stCondLst>
                                                <p:cond delay="0"/>
                                              </p:stCondLst>
                                            </p:cTn>
                                            <p:tgtEl>
                                              <p:spTgt spid="201"/>
                                            </p:tgtEl>
                                            <p:attrNameLst>
                                              <p:attrName>style.visibility</p:attrName>
                                            </p:attrNameLst>
                                          </p:cBhvr>
                                          <p:to>
                                            <p:strVal val="visible"/>
                                          </p:to>
                                        </p:set>
                                        <p:anim calcmode="lin" valueType="num">
                                          <p:cBhvr additive="base">
                                            <p:cTn id="15" dur="500" fill="hold"/>
                                            <p:tgtEl>
                                              <p:spTgt spid="201"/>
                                            </p:tgtEl>
                                            <p:attrNameLst>
                                              <p:attrName>ppt_x</p:attrName>
                                            </p:attrNameLst>
                                          </p:cBhvr>
                                          <p:tavLst>
                                            <p:tav tm="0">
                                              <p:val>
                                                <p:strVal val="#ppt_x"/>
                                              </p:val>
                                            </p:tav>
                                            <p:tav tm="100000">
                                              <p:val>
                                                <p:strVal val="#ppt_x"/>
                                              </p:val>
                                            </p:tav>
                                          </p:tavLst>
                                        </p:anim>
                                        <p:anim calcmode="lin" valueType="num">
                                          <p:cBhvr additive="base">
                                            <p:cTn id="16" dur="500" fill="hold"/>
                                            <p:tgtEl>
                                              <p:spTgt spid="201"/>
                                            </p:tgtEl>
                                            <p:attrNameLst>
                                              <p:attrName>ppt_y</p:attrName>
                                            </p:attrNameLst>
                                          </p:cBhvr>
                                          <p:tavLst>
                                            <p:tav tm="0">
                                              <p:val>
                                                <p:strVal val="0-#ppt_h/2"/>
                                              </p:val>
                                            </p:tav>
                                            <p:tav tm="100000">
                                              <p:val>
                                                <p:strVal val="#ppt_y"/>
                                              </p:val>
                                            </p:tav>
                                          </p:tavLst>
                                        </p:anim>
                                      </p:childTnLst>
                                    </p:cTn>
                                  </p:par>
                                  <p:par>
                                    <p:cTn id="17" presetID="23" presetClass="entr" presetSubtype="16" fill="hold" nodeType="withEffect">
                                      <p:stCondLst>
                                        <p:cond delay="100"/>
                                      </p:stCondLst>
                                      <p:childTnLst>
                                        <p:set>
                                          <p:cBhvr>
                                            <p:cTn id="18" dur="1" fill="hold">
                                              <p:stCondLst>
                                                <p:cond delay="0"/>
                                              </p:stCondLst>
                                            </p:cTn>
                                            <p:tgtEl>
                                              <p:spTgt spid="24"/>
                                            </p:tgtEl>
                                            <p:attrNameLst>
                                              <p:attrName>style.visibility</p:attrName>
                                            </p:attrNameLst>
                                          </p:cBhvr>
                                          <p:to>
                                            <p:strVal val="visible"/>
                                          </p:to>
                                        </p:set>
                                        <p:anim calcmode="lin" valueType="num">
                                          <p:cBhvr>
                                            <p:cTn id="19" dur="200" fill="hold"/>
                                            <p:tgtEl>
                                              <p:spTgt spid="24"/>
                                            </p:tgtEl>
                                            <p:attrNameLst>
                                              <p:attrName>ppt_w</p:attrName>
                                            </p:attrNameLst>
                                          </p:cBhvr>
                                          <p:tavLst>
                                            <p:tav tm="0">
                                              <p:val>
                                                <p:fltVal val="0"/>
                                              </p:val>
                                            </p:tav>
                                            <p:tav tm="100000">
                                              <p:val>
                                                <p:strVal val="#ppt_w"/>
                                              </p:val>
                                            </p:tav>
                                          </p:tavLst>
                                        </p:anim>
                                        <p:anim calcmode="lin" valueType="num">
                                          <p:cBhvr>
                                            <p:cTn id="20" dur="200" fill="hold"/>
                                            <p:tgtEl>
                                              <p:spTgt spid="24"/>
                                            </p:tgtEl>
                                            <p:attrNameLst>
                                              <p:attrName>ppt_h</p:attrName>
                                            </p:attrNameLst>
                                          </p:cBhvr>
                                          <p:tavLst>
                                            <p:tav tm="0">
                                              <p:val>
                                                <p:fltVal val="0"/>
                                              </p:val>
                                            </p:tav>
                                            <p:tav tm="100000">
                                              <p:val>
                                                <p:strVal val="#ppt_h"/>
                                              </p:val>
                                            </p:tav>
                                          </p:tavLst>
                                        </p:anim>
                                      </p:childTnLst>
                                    </p:cTn>
                                  </p:par>
                                  <p:par>
                                    <p:cTn id="21" presetID="6" presetClass="emph" presetSubtype="0" fill="hold" nodeType="withEffect" p14:presetBounceEnd="99000">
                                      <p:stCondLst>
                                        <p:cond delay="100"/>
                                      </p:stCondLst>
                                      <p:childTnLst>
                                        <p:animScale p14:bounceEnd="99000">
                                          <p:cBhvr>
                                            <p:cTn id="22" dur="1000" fill="hold"/>
                                            <p:tgtEl>
                                              <p:spTgt spid="24"/>
                                            </p:tgtEl>
                                          </p:cBhvr>
                                          <p:by x="110000" y="110000"/>
                                        </p:animScale>
                                      </p:childTnLst>
                                    </p:cTn>
                                  </p:par>
                                  <p:par>
                                    <p:cTn id="23" presetID="6" presetClass="emph" presetSubtype="0" accel="50000" decel="50000" fill="hold" nodeType="withEffect">
                                      <p:stCondLst>
                                        <p:cond delay="100"/>
                                      </p:stCondLst>
                                      <p:childTnLst>
                                        <p:animScale>
                                          <p:cBhvr>
                                            <p:cTn id="24" dur="250" fill="hold"/>
                                            <p:tgtEl>
                                              <p:spTgt spid="24"/>
                                            </p:tgtEl>
                                          </p:cBhvr>
                                          <p:by x="91000" y="91000"/>
                                        </p:animScale>
                                      </p:childTnLst>
                                    </p:cTn>
                                  </p:par>
                                  <p:par>
                                    <p:cTn id="25" presetID="23" presetClass="entr" presetSubtype="16" fill="hold" nodeType="withEffect">
                                      <p:stCondLst>
                                        <p:cond delay="200"/>
                                      </p:stCondLst>
                                      <p:childTnLst>
                                        <p:set>
                                          <p:cBhvr>
                                            <p:cTn id="26" dur="1" fill="hold">
                                              <p:stCondLst>
                                                <p:cond delay="0"/>
                                              </p:stCondLst>
                                            </p:cTn>
                                            <p:tgtEl>
                                              <p:spTgt spid="21"/>
                                            </p:tgtEl>
                                            <p:attrNameLst>
                                              <p:attrName>style.visibility</p:attrName>
                                            </p:attrNameLst>
                                          </p:cBhvr>
                                          <p:to>
                                            <p:strVal val="visible"/>
                                          </p:to>
                                        </p:set>
                                        <p:anim calcmode="lin" valueType="num">
                                          <p:cBhvr>
                                            <p:cTn id="27" dur="200" fill="hold"/>
                                            <p:tgtEl>
                                              <p:spTgt spid="21"/>
                                            </p:tgtEl>
                                            <p:attrNameLst>
                                              <p:attrName>ppt_w</p:attrName>
                                            </p:attrNameLst>
                                          </p:cBhvr>
                                          <p:tavLst>
                                            <p:tav tm="0">
                                              <p:val>
                                                <p:fltVal val="0"/>
                                              </p:val>
                                            </p:tav>
                                            <p:tav tm="100000">
                                              <p:val>
                                                <p:strVal val="#ppt_w"/>
                                              </p:val>
                                            </p:tav>
                                          </p:tavLst>
                                        </p:anim>
                                        <p:anim calcmode="lin" valueType="num">
                                          <p:cBhvr>
                                            <p:cTn id="28" dur="200" fill="hold"/>
                                            <p:tgtEl>
                                              <p:spTgt spid="21"/>
                                            </p:tgtEl>
                                            <p:attrNameLst>
                                              <p:attrName>ppt_h</p:attrName>
                                            </p:attrNameLst>
                                          </p:cBhvr>
                                          <p:tavLst>
                                            <p:tav tm="0">
                                              <p:val>
                                                <p:fltVal val="0"/>
                                              </p:val>
                                            </p:tav>
                                            <p:tav tm="100000">
                                              <p:val>
                                                <p:strVal val="#ppt_h"/>
                                              </p:val>
                                            </p:tav>
                                          </p:tavLst>
                                        </p:anim>
                                      </p:childTnLst>
                                    </p:cTn>
                                  </p:par>
                                  <p:par>
                                    <p:cTn id="29" presetID="6" presetClass="emph" presetSubtype="0" fill="hold" nodeType="withEffect" p14:presetBounceEnd="99000">
                                      <p:stCondLst>
                                        <p:cond delay="200"/>
                                      </p:stCondLst>
                                      <p:childTnLst>
                                        <p:animScale p14:bounceEnd="99000">
                                          <p:cBhvr>
                                            <p:cTn id="30" dur="1000" fill="hold"/>
                                            <p:tgtEl>
                                              <p:spTgt spid="21"/>
                                            </p:tgtEl>
                                          </p:cBhvr>
                                          <p:by x="110000" y="110000"/>
                                        </p:animScale>
                                      </p:childTnLst>
                                    </p:cTn>
                                  </p:par>
                                  <p:par>
                                    <p:cTn id="31" presetID="6" presetClass="emph" presetSubtype="0" accel="50000" decel="50000" fill="hold" nodeType="withEffect">
                                      <p:stCondLst>
                                        <p:cond delay="200"/>
                                      </p:stCondLst>
                                      <p:childTnLst>
                                        <p:animScale>
                                          <p:cBhvr>
                                            <p:cTn id="32" dur="250" fill="hold"/>
                                            <p:tgtEl>
                                              <p:spTgt spid="21"/>
                                            </p:tgtEl>
                                          </p:cBhvr>
                                          <p:by x="91000" y="91000"/>
                                        </p:animScale>
                                      </p:childTnLst>
                                    </p:cTn>
                                  </p:par>
                                  <p:par>
                                    <p:cTn id="33" presetID="23" presetClass="entr" presetSubtype="16" fill="hold" nodeType="withEffect">
                                      <p:stCondLst>
                                        <p:cond delay="300"/>
                                      </p:stCondLst>
                                      <p:childTnLst>
                                        <p:set>
                                          <p:cBhvr>
                                            <p:cTn id="34" dur="1" fill="hold">
                                              <p:stCondLst>
                                                <p:cond delay="0"/>
                                              </p:stCondLst>
                                            </p:cTn>
                                            <p:tgtEl>
                                              <p:spTgt spid="18"/>
                                            </p:tgtEl>
                                            <p:attrNameLst>
                                              <p:attrName>style.visibility</p:attrName>
                                            </p:attrNameLst>
                                          </p:cBhvr>
                                          <p:to>
                                            <p:strVal val="visible"/>
                                          </p:to>
                                        </p:set>
                                        <p:anim calcmode="lin" valueType="num">
                                          <p:cBhvr>
                                            <p:cTn id="35" dur="200" fill="hold"/>
                                            <p:tgtEl>
                                              <p:spTgt spid="18"/>
                                            </p:tgtEl>
                                            <p:attrNameLst>
                                              <p:attrName>ppt_w</p:attrName>
                                            </p:attrNameLst>
                                          </p:cBhvr>
                                          <p:tavLst>
                                            <p:tav tm="0">
                                              <p:val>
                                                <p:fltVal val="0"/>
                                              </p:val>
                                            </p:tav>
                                            <p:tav tm="100000">
                                              <p:val>
                                                <p:strVal val="#ppt_w"/>
                                              </p:val>
                                            </p:tav>
                                          </p:tavLst>
                                        </p:anim>
                                        <p:anim calcmode="lin" valueType="num">
                                          <p:cBhvr>
                                            <p:cTn id="36" dur="200" fill="hold"/>
                                            <p:tgtEl>
                                              <p:spTgt spid="18"/>
                                            </p:tgtEl>
                                            <p:attrNameLst>
                                              <p:attrName>ppt_h</p:attrName>
                                            </p:attrNameLst>
                                          </p:cBhvr>
                                          <p:tavLst>
                                            <p:tav tm="0">
                                              <p:val>
                                                <p:fltVal val="0"/>
                                              </p:val>
                                            </p:tav>
                                            <p:tav tm="100000">
                                              <p:val>
                                                <p:strVal val="#ppt_h"/>
                                              </p:val>
                                            </p:tav>
                                          </p:tavLst>
                                        </p:anim>
                                      </p:childTnLst>
                                    </p:cTn>
                                  </p:par>
                                  <p:par>
                                    <p:cTn id="37" presetID="6" presetClass="emph" presetSubtype="0" fill="hold" nodeType="withEffect" p14:presetBounceEnd="99000">
                                      <p:stCondLst>
                                        <p:cond delay="300"/>
                                      </p:stCondLst>
                                      <p:childTnLst>
                                        <p:animScale p14:bounceEnd="99000">
                                          <p:cBhvr>
                                            <p:cTn id="38" dur="1000" fill="hold"/>
                                            <p:tgtEl>
                                              <p:spTgt spid="18"/>
                                            </p:tgtEl>
                                          </p:cBhvr>
                                          <p:by x="110000" y="110000"/>
                                        </p:animScale>
                                      </p:childTnLst>
                                    </p:cTn>
                                  </p:par>
                                  <p:par>
                                    <p:cTn id="39" presetID="6" presetClass="emph" presetSubtype="0" accel="50000" decel="50000" fill="hold" nodeType="withEffect">
                                      <p:stCondLst>
                                        <p:cond delay="300"/>
                                      </p:stCondLst>
                                      <p:childTnLst>
                                        <p:animScale>
                                          <p:cBhvr>
                                            <p:cTn id="40" dur="250" fill="hold"/>
                                            <p:tgtEl>
                                              <p:spTgt spid="18"/>
                                            </p:tgtEl>
                                          </p:cBhvr>
                                          <p:by x="91000" y="91000"/>
                                        </p:animScale>
                                      </p:childTnLst>
                                    </p:cTn>
                                  </p:par>
                                  <p:par>
                                    <p:cTn id="41" presetID="23" presetClass="entr" presetSubtype="16" fill="hold" nodeType="withEffect">
                                      <p:stCondLst>
                                        <p:cond delay="400"/>
                                      </p:stCondLst>
                                      <p:childTnLst>
                                        <p:set>
                                          <p:cBhvr>
                                            <p:cTn id="42" dur="1" fill="hold">
                                              <p:stCondLst>
                                                <p:cond delay="0"/>
                                              </p:stCondLst>
                                            </p:cTn>
                                            <p:tgtEl>
                                              <p:spTgt spid="19"/>
                                            </p:tgtEl>
                                            <p:attrNameLst>
                                              <p:attrName>style.visibility</p:attrName>
                                            </p:attrNameLst>
                                          </p:cBhvr>
                                          <p:to>
                                            <p:strVal val="visible"/>
                                          </p:to>
                                        </p:set>
                                        <p:anim calcmode="lin" valueType="num">
                                          <p:cBhvr>
                                            <p:cTn id="43" dur="200" fill="hold"/>
                                            <p:tgtEl>
                                              <p:spTgt spid="19"/>
                                            </p:tgtEl>
                                            <p:attrNameLst>
                                              <p:attrName>ppt_w</p:attrName>
                                            </p:attrNameLst>
                                          </p:cBhvr>
                                          <p:tavLst>
                                            <p:tav tm="0">
                                              <p:val>
                                                <p:fltVal val="0"/>
                                              </p:val>
                                            </p:tav>
                                            <p:tav tm="100000">
                                              <p:val>
                                                <p:strVal val="#ppt_w"/>
                                              </p:val>
                                            </p:tav>
                                          </p:tavLst>
                                        </p:anim>
                                        <p:anim calcmode="lin" valueType="num">
                                          <p:cBhvr>
                                            <p:cTn id="44" dur="200" fill="hold"/>
                                            <p:tgtEl>
                                              <p:spTgt spid="19"/>
                                            </p:tgtEl>
                                            <p:attrNameLst>
                                              <p:attrName>ppt_h</p:attrName>
                                            </p:attrNameLst>
                                          </p:cBhvr>
                                          <p:tavLst>
                                            <p:tav tm="0">
                                              <p:val>
                                                <p:fltVal val="0"/>
                                              </p:val>
                                            </p:tav>
                                            <p:tav tm="100000">
                                              <p:val>
                                                <p:strVal val="#ppt_h"/>
                                              </p:val>
                                            </p:tav>
                                          </p:tavLst>
                                        </p:anim>
                                      </p:childTnLst>
                                    </p:cTn>
                                  </p:par>
                                  <p:par>
                                    <p:cTn id="45" presetID="6" presetClass="emph" presetSubtype="0" fill="hold" nodeType="withEffect" p14:presetBounceEnd="99000">
                                      <p:stCondLst>
                                        <p:cond delay="400"/>
                                      </p:stCondLst>
                                      <p:childTnLst>
                                        <p:animScale p14:bounceEnd="99000">
                                          <p:cBhvr>
                                            <p:cTn id="46" dur="1000" fill="hold"/>
                                            <p:tgtEl>
                                              <p:spTgt spid="19"/>
                                            </p:tgtEl>
                                          </p:cBhvr>
                                          <p:by x="110000" y="110000"/>
                                        </p:animScale>
                                      </p:childTnLst>
                                    </p:cTn>
                                  </p:par>
                                  <p:par>
                                    <p:cTn id="47" presetID="6" presetClass="emph" presetSubtype="0" accel="50000" decel="50000" fill="hold" nodeType="withEffect">
                                      <p:stCondLst>
                                        <p:cond delay="400"/>
                                      </p:stCondLst>
                                      <p:childTnLst>
                                        <p:animScale>
                                          <p:cBhvr>
                                            <p:cTn id="48" dur="250" fill="hold"/>
                                            <p:tgtEl>
                                              <p:spTgt spid="19"/>
                                            </p:tgtEl>
                                          </p:cBhvr>
                                          <p:by x="91000" y="91000"/>
                                        </p:animScale>
                                      </p:childTnLst>
                                    </p:cTn>
                                  </p:par>
                                  <p:par>
                                    <p:cTn id="49" presetID="23" presetClass="entr" presetSubtype="16" fill="hold" nodeType="withEffect">
                                      <p:stCondLst>
                                        <p:cond delay="500"/>
                                      </p:stCondLst>
                                      <p:childTnLst>
                                        <p:set>
                                          <p:cBhvr>
                                            <p:cTn id="50" dur="1" fill="hold">
                                              <p:stCondLst>
                                                <p:cond delay="0"/>
                                              </p:stCondLst>
                                            </p:cTn>
                                            <p:tgtEl>
                                              <p:spTgt spid="20"/>
                                            </p:tgtEl>
                                            <p:attrNameLst>
                                              <p:attrName>style.visibility</p:attrName>
                                            </p:attrNameLst>
                                          </p:cBhvr>
                                          <p:to>
                                            <p:strVal val="visible"/>
                                          </p:to>
                                        </p:set>
                                        <p:anim calcmode="lin" valueType="num">
                                          <p:cBhvr>
                                            <p:cTn id="51" dur="200" fill="hold"/>
                                            <p:tgtEl>
                                              <p:spTgt spid="20"/>
                                            </p:tgtEl>
                                            <p:attrNameLst>
                                              <p:attrName>ppt_w</p:attrName>
                                            </p:attrNameLst>
                                          </p:cBhvr>
                                          <p:tavLst>
                                            <p:tav tm="0">
                                              <p:val>
                                                <p:fltVal val="0"/>
                                              </p:val>
                                            </p:tav>
                                            <p:tav tm="100000">
                                              <p:val>
                                                <p:strVal val="#ppt_w"/>
                                              </p:val>
                                            </p:tav>
                                          </p:tavLst>
                                        </p:anim>
                                        <p:anim calcmode="lin" valueType="num">
                                          <p:cBhvr>
                                            <p:cTn id="52" dur="200" fill="hold"/>
                                            <p:tgtEl>
                                              <p:spTgt spid="20"/>
                                            </p:tgtEl>
                                            <p:attrNameLst>
                                              <p:attrName>ppt_h</p:attrName>
                                            </p:attrNameLst>
                                          </p:cBhvr>
                                          <p:tavLst>
                                            <p:tav tm="0">
                                              <p:val>
                                                <p:fltVal val="0"/>
                                              </p:val>
                                            </p:tav>
                                            <p:tav tm="100000">
                                              <p:val>
                                                <p:strVal val="#ppt_h"/>
                                              </p:val>
                                            </p:tav>
                                          </p:tavLst>
                                        </p:anim>
                                      </p:childTnLst>
                                    </p:cTn>
                                  </p:par>
                                  <p:par>
                                    <p:cTn id="53" presetID="6" presetClass="emph" presetSubtype="0" fill="hold" nodeType="withEffect" p14:presetBounceEnd="99000">
                                      <p:stCondLst>
                                        <p:cond delay="500"/>
                                      </p:stCondLst>
                                      <p:childTnLst>
                                        <p:animScale p14:bounceEnd="99000">
                                          <p:cBhvr>
                                            <p:cTn id="54" dur="1000" fill="hold"/>
                                            <p:tgtEl>
                                              <p:spTgt spid="20"/>
                                            </p:tgtEl>
                                          </p:cBhvr>
                                          <p:by x="110000" y="110000"/>
                                        </p:animScale>
                                      </p:childTnLst>
                                    </p:cTn>
                                  </p:par>
                                  <p:par>
                                    <p:cTn id="55" presetID="6" presetClass="emph" presetSubtype="0" accel="50000" decel="50000" fill="hold" nodeType="withEffect">
                                      <p:stCondLst>
                                        <p:cond delay="500"/>
                                      </p:stCondLst>
                                      <p:childTnLst>
                                        <p:animScale>
                                          <p:cBhvr>
                                            <p:cTn id="56" dur="250" fill="hold"/>
                                            <p:tgtEl>
                                              <p:spTgt spid="20"/>
                                            </p:tgtEl>
                                          </p:cBhvr>
                                          <p:by x="91000" y="91000"/>
                                        </p:animScale>
                                      </p:childTnLst>
                                    </p:cTn>
                                  </p:par>
                                  <p:par>
                                    <p:cTn id="57" presetID="23" presetClass="entr" presetSubtype="16" fill="hold" nodeType="withEffect">
                                      <p:stCondLst>
                                        <p:cond delay="600"/>
                                      </p:stCondLst>
                                      <p:childTnLst>
                                        <p:set>
                                          <p:cBhvr>
                                            <p:cTn id="58" dur="1" fill="hold">
                                              <p:stCondLst>
                                                <p:cond delay="0"/>
                                              </p:stCondLst>
                                            </p:cTn>
                                            <p:tgtEl>
                                              <p:spTgt spid="17"/>
                                            </p:tgtEl>
                                            <p:attrNameLst>
                                              <p:attrName>style.visibility</p:attrName>
                                            </p:attrNameLst>
                                          </p:cBhvr>
                                          <p:to>
                                            <p:strVal val="visible"/>
                                          </p:to>
                                        </p:set>
                                        <p:anim calcmode="lin" valueType="num">
                                          <p:cBhvr>
                                            <p:cTn id="59" dur="200" fill="hold"/>
                                            <p:tgtEl>
                                              <p:spTgt spid="17"/>
                                            </p:tgtEl>
                                            <p:attrNameLst>
                                              <p:attrName>ppt_w</p:attrName>
                                            </p:attrNameLst>
                                          </p:cBhvr>
                                          <p:tavLst>
                                            <p:tav tm="0">
                                              <p:val>
                                                <p:fltVal val="0"/>
                                              </p:val>
                                            </p:tav>
                                            <p:tav tm="100000">
                                              <p:val>
                                                <p:strVal val="#ppt_w"/>
                                              </p:val>
                                            </p:tav>
                                          </p:tavLst>
                                        </p:anim>
                                        <p:anim calcmode="lin" valueType="num">
                                          <p:cBhvr>
                                            <p:cTn id="60" dur="200" fill="hold"/>
                                            <p:tgtEl>
                                              <p:spTgt spid="17"/>
                                            </p:tgtEl>
                                            <p:attrNameLst>
                                              <p:attrName>ppt_h</p:attrName>
                                            </p:attrNameLst>
                                          </p:cBhvr>
                                          <p:tavLst>
                                            <p:tav tm="0">
                                              <p:val>
                                                <p:fltVal val="0"/>
                                              </p:val>
                                            </p:tav>
                                            <p:tav tm="100000">
                                              <p:val>
                                                <p:strVal val="#ppt_h"/>
                                              </p:val>
                                            </p:tav>
                                          </p:tavLst>
                                        </p:anim>
                                      </p:childTnLst>
                                    </p:cTn>
                                  </p:par>
                                  <p:par>
                                    <p:cTn id="61" presetID="6" presetClass="emph" presetSubtype="0" fill="hold" nodeType="withEffect" p14:presetBounceEnd="99000">
                                      <p:stCondLst>
                                        <p:cond delay="600"/>
                                      </p:stCondLst>
                                      <p:childTnLst>
                                        <p:animScale p14:bounceEnd="99000">
                                          <p:cBhvr>
                                            <p:cTn id="62" dur="1000" fill="hold"/>
                                            <p:tgtEl>
                                              <p:spTgt spid="17"/>
                                            </p:tgtEl>
                                          </p:cBhvr>
                                          <p:by x="110000" y="110000"/>
                                        </p:animScale>
                                      </p:childTnLst>
                                    </p:cTn>
                                  </p:par>
                                  <p:par>
                                    <p:cTn id="63" presetID="6" presetClass="emph" presetSubtype="0" accel="50000" decel="50000" fill="hold" nodeType="withEffect">
                                      <p:stCondLst>
                                        <p:cond delay="600"/>
                                      </p:stCondLst>
                                      <p:childTnLst>
                                        <p:animScale>
                                          <p:cBhvr>
                                            <p:cTn id="64" dur="250" fill="hold"/>
                                            <p:tgtEl>
                                              <p:spTgt spid="17"/>
                                            </p:tgtEl>
                                          </p:cBhvr>
                                          <p:by x="91000" y="91000"/>
                                        </p:animScale>
                                      </p:childTnLst>
                                    </p:cTn>
                                  </p:par>
                                  <p:par>
                                    <p:cTn id="65" presetID="10" presetClass="entr" presetSubtype="0" fill="hold" grpId="0" nodeType="withEffect">
                                      <p:stCondLst>
                                        <p:cond delay="50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8" presetClass="entr" presetSubtype="6" fill="hold" grpId="0" nodeType="withEffect">
                                      <p:stCondLst>
                                        <p:cond delay="600"/>
                                      </p:stCondLst>
                                      <p:childTnLst>
                                        <p:set>
                                          <p:cBhvr>
                                            <p:cTn id="69" dur="1" fill="hold">
                                              <p:stCondLst>
                                                <p:cond delay="0"/>
                                              </p:stCondLst>
                                            </p:cTn>
                                            <p:tgtEl>
                                              <p:spTgt spid="2"/>
                                            </p:tgtEl>
                                            <p:attrNameLst>
                                              <p:attrName>style.visibility</p:attrName>
                                            </p:attrNameLst>
                                          </p:cBhvr>
                                          <p:to>
                                            <p:strVal val="visible"/>
                                          </p:to>
                                        </p:set>
                                        <p:animEffect transition="in" filter="strips(downRight)">
                                          <p:cBhvr>
                                            <p:cTn id="70" dur="1000"/>
                                            <p:tgtEl>
                                              <p:spTgt spid="2"/>
                                            </p:tgtEl>
                                          </p:cBhvr>
                                        </p:animEffect>
                                      </p:childTnLst>
                                    </p:cTn>
                                  </p:par>
                                  <p:par>
                                    <p:cTn id="71" presetID="10" presetClass="entr" presetSubtype="0" fill="hold" grpId="0" nodeType="withEffect">
                                      <p:stCondLst>
                                        <p:cond delay="60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500"/>
                                            <p:tgtEl>
                                              <p:spTgt spid="26"/>
                                            </p:tgtEl>
                                          </p:cBhvr>
                                        </p:animEffect>
                                      </p:childTnLst>
                                    </p:cTn>
                                  </p:par>
                                  <p:par>
                                    <p:cTn id="74" presetID="42" presetClass="path" presetSubtype="0" decel="100000" fill="hold" grpId="1" nodeType="withEffect">
                                      <p:stCondLst>
                                        <p:cond delay="600"/>
                                      </p:stCondLst>
                                      <p:childTnLst>
                                        <p:animMotion origin="layout" path="M -3.125E-6 1.85185E-6 L -3.125E-6 0.08194 " pathEditMode="relative" rAng="0" ptsTypes="AA">
                                          <p:cBhvr>
                                            <p:cTn id="75" dur="750" spd="-100000" fill="hold"/>
                                            <p:tgtEl>
                                              <p:spTgt spid="26"/>
                                            </p:tgtEl>
                                            <p:attrNameLst>
                                              <p:attrName>ppt_x</p:attrName>
                                              <p:attrName>ppt_y</p:attrName>
                                            </p:attrNameLst>
                                          </p:cBhvr>
                                          <p:rCtr x="0" y="4097"/>
                                        </p:animMotion>
                                      </p:childTnLst>
                                    </p:cTn>
                                  </p:par>
                                  <p:par>
                                    <p:cTn id="76" presetID="10" presetClass="entr" presetSubtype="0" fill="hold" grpId="0" nodeType="withEffect">
                                      <p:stCondLst>
                                        <p:cond delay="600"/>
                                      </p:stCondLst>
                                      <p:childTnLst>
                                        <p:set>
                                          <p:cBhvr>
                                            <p:cTn id="77" dur="1" fill="hold">
                                              <p:stCondLst>
                                                <p:cond delay="0"/>
                                              </p:stCondLst>
                                            </p:cTn>
                                            <p:tgtEl>
                                              <p:spTgt spid="77"/>
                                            </p:tgtEl>
                                            <p:attrNameLst>
                                              <p:attrName>style.visibility</p:attrName>
                                            </p:attrNameLst>
                                          </p:cBhvr>
                                          <p:to>
                                            <p:strVal val="visible"/>
                                          </p:to>
                                        </p:set>
                                        <p:animEffect transition="in" filter="fade">
                                          <p:cBhvr>
                                            <p:cTn id="78" dur="500"/>
                                            <p:tgtEl>
                                              <p:spTgt spid="77"/>
                                            </p:tgtEl>
                                          </p:cBhvr>
                                        </p:animEffect>
                                      </p:childTnLst>
                                    </p:cTn>
                                  </p:par>
                                  <p:par>
                                    <p:cTn id="79" presetID="10" presetClass="entr" presetSubtype="0" fill="hold" nodeType="withEffect">
                                      <p:stCondLst>
                                        <p:cond delay="600"/>
                                      </p:stCondLst>
                                      <p:childTnLst>
                                        <p:set>
                                          <p:cBhvr>
                                            <p:cTn id="80" dur="1" fill="hold">
                                              <p:stCondLst>
                                                <p:cond delay="0"/>
                                              </p:stCondLst>
                                            </p:cTn>
                                            <p:tgtEl>
                                              <p:spTgt spid="207"/>
                                            </p:tgtEl>
                                            <p:attrNameLst>
                                              <p:attrName>style.visibility</p:attrName>
                                            </p:attrNameLst>
                                          </p:cBhvr>
                                          <p:to>
                                            <p:strVal val="visible"/>
                                          </p:to>
                                        </p:set>
                                        <p:animEffect transition="in" filter="fade">
                                          <p:cBhvr>
                                            <p:cTn id="81" dur="500"/>
                                            <p:tgtEl>
                                              <p:spTgt spid="207"/>
                                            </p:tgtEl>
                                          </p:cBhvr>
                                        </p:animEffect>
                                      </p:childTnLst>
                                    </p:cTn>
                                  </p:par>
                                  <p:par>
                                    <p:cTn id="82" presetID="10" presetClass="entr" presetSubtype="0" fill="hold" nodeType="withEffect">
                                      <p:stCondLst>
                                        <p:cond delay="600"/>
                                      </p:stCondLst>
                                      <p:childTnLst>
                                        <p:set>
                                          <p:cBhvr>
                                            <p:cTn id="83" dur="1" fill="hold">
                                              <p:stCondLst>
                                                <p:cond delay="0"/>
                                              </p:stCondLst>
                                            </p:cTn>
                                            <p:tgtEl>
                                              <p:spTgt spid="208"/>
                                            </p:tgtEl>
                                            <p:attrNameLst>
                                              <p:attrName>style.visibility</p:attrName>
                                            </p:attrNameLst>
                                          </p:cBhvr>
                                          <p:to>
                                            <p:strVal val="visible"/>
                                          </p:to>
                                        </p:set>
                                        <p:animEffect transition="in" filter="fade">
                                          <p:cBhvr>
                                            <p:cTn id="84" dur="500"/>
                                            <p:tgtEl>
                                              <p:spTgt spid="208"/>
                                            </p:tgtEl>
                                          </p:cBhvr>
                                        </p:animEffect>
                                      </p:childTnLst>
                                    </p:cTn>
                                  </p:par>
                                  <p:par>
                                    <p:cTn id="85" presetID="16" presetClass="entr" presetSubtype="37" fill="hold" nodeType="withEffect">
                                      <p:stCondLst>
                                        <p:cond delay="600"/>
                                      </p:stCondLst>
                                      <p:childTnLst>
                                        <p:set>
                                          <p:cBhvr>
                                            <p:cTn id="86" dur="1" fill="hold">
                                              <p:stCondLst>
                                                <p:cond delay="0"/>
                                              </p:stCondLst>
                                            </p:cTn>
                                            <p:tgtEl>
                                              <p:spTgt spid="66"/>
                                            </p:tgtEl>
                                            <p:attrNameLst>
                                              <p:attrName>style.visibility</p:attrName>
                                            </p:attrNameLst>
                                          </p:cBhvr>
                                          <p:to>
                                            <p:strVal val="visible"/>
                                          </p:to>
                                        </p:set>
                                        <p:animEffect transition="in" filter="barn(outVertical)">
                                          <p:cBhvr>
                                            <p:cTn id="87" dur="500"/>
                                            <p:tgtEl>
                                              <p:spTgt spid="66"/>
                                            </p:tgtEl>
                                          </p:cBhvr>
                                        </p:animEffect>
                                      </p:childTnLst>
                                    </p:cTn>
                                  </p:par>
                                  <p:par>
                                    <p:cTn id="88" presetID="16" presetClass="entr" presetSubtype="37" fill="hold" nodeType="withEffect">
                                      <p:stCondLst>
                                        <p:cond delay="600"/>
                                      </p:stCondLst>
                                      <p:childTnLst>
                                        <p:set>
                                          <p:cBhvr>
                                            <p:cTn id="89" dur="1" fill="hold">
                                              <p:stCondLst>
                                                <p:cond delay="0"/>
                                              </p:stCondLst>
                                            </p:cTn>
                                            <p:tgtEl>
                                              <p:spTgt spid="69"/>
                                            </p:tgtEl>
                                            <p:attrNameLst>
                                              <p:attrName>style.visibility</p:attrName>
                                            </p:attrNameLst>
                                          </p:cBhvr>
                                          <p:to>
                                            <p:strVal val="visible"/>
                                          </p:to>
                                        </p:set>
                                        <p:animEffect transition="in" filter="barn(outVertical)">
                                          <p:cBhvr>
                                            <p:cTn id="90" dur="500"/>
                                            <p:tgtEl>
                                              <p:spTgt spid="69"/>
                                            </p:tgtEl>
                                          </p:cBhvr>
                                        </p:animEffect>
                                      </p:childTnLst>
                                    </p:cTn>
                                  </p:par>
                                  <p:par>
                                    <p:cTn id="91" presetID="16" presetClass="entr" presetSubtype="37" fill="hold" nodeType="withEffect">
                                      <p:stCondLst>
                                        <p:cond delay="600"/>
                                      </p:stCondLst>
                                      <p:childTnLst>
                                        <p:set>
                                          <p:cBhvr>
                                            <p:cTn id="92" dur="1" fill="hold">
                                              <p:stCondLst>
                                                <p:cond delay="0"/>
                                              </p:stCondLst>
                                            </p:cTn>
                                            <p:tgtEl>
                                              <p:spTgt spid="71"/>
                                            </p:tgtEl>
                                            <p:attrNameLst>
                                              <p:attrName>style.visibility</p:attrName>
                                            </p:attrNameLst>
                                          </p:cBhvr>
                                          <p:to>
                                            <p:strVal val="visible"/>
                                          </p:to>
                                        </p:set>
                                        <p:animEffect transition="in" filter="barn(outVertical)">
                                          <p:cBhvr>
                                            <p:cTn id="93" dur="500"/>
                                            <p:tgtEl>
                                              <p:spTgt spid="71"/>
                                            </p:tgtEl>
                                          </p:cBhvr>
                                        </p:animEffect>
                                      </p:childTnLst>
                                    </p:cTn>
                                  </p:par>
                                  <p:par>
                                    <p:cTn id="94" presetID="16" presetClass="entr" presetSubtype="37" fill="hold" nodeType="withEffect">
                                      <p:stCondLst>
                                        <p:cond delay="600"/>
                                      </p:stCondLst>
                                      <p:childTnLst>
                                        <p:set>
                                          <p:cBhvr>
                                            <p:cTn id="95" dur="1" fill="hold">
                                              <p:stCondLst>
                                                <p:cond delay="0"/>
                                              </p:stCondLst>
                                            </p:cTn>
                                            <p:tgtEl>
                                              <p:spTgt spid="73"/>
                                            </p:tgtEl>
                                            <p:attrNameLst>
                                              <p:attrName>style.visibility</p:attrName>
                                            </p:attrNameLst>
                                          </p:cBhvr>
                                          <p:to>
                                            <p:strVal val="visible"/>
                                          </p:to>
                                        </p:set>
                                        <p:animEffect transition="in" filter="barn(outVertical)">
                                          <p:cBhvr>
                                            <p:cTn id="96" dur="500"/>
                                            <p:tgtEl>
                                              <p:spTgt spid="73"/>
                                            </p:tgtEl>
                                          </p:cBhvr>
                                        </p:animEffect>
                                      </p:childTnLst>
                                    </p:cTn>
                                  </p:par>
                                  <p:par>
                                    <p:cTn id="97" presetID="10" presetClass="entr" presetSubtype="0" fill="hold" grpId="0" nodeType="withEffect">
                                      <p:stCondLst>
                                        <p:cond delay="600"/>
                                      </p:stCondLst>
                                      <p:childTnLst>
                                        <p:set>
                                          <p:cBhvr>
                                            <p:cTn id="98" dur="1" fill="hold">
                                              <p:stCondLst>
                                                <p:cond delay="0"/>
                                              </p:stCondLst>
                                            </p:cTn>
                                            <p:tgtEl>
                                              <p:spTgt spid="61"/>
                                            </p:tgtEl>
                                            <p:attrNameLst>
                                              <p:attrName>style.visibility</p:attrName>
                                            </p:attrNameLst>
                                          </p:cBhvr>
                                          <p:to>
                                            <p:strVal val="visible"/>
                                          </p:to>
                                        </p:set>
                                        <p:animEffect transition="in" filter="fade">
                                          <p:cBhvr>
                                            <p:cTn id="99" dur="500"/>
                                            <p:tgtEl>
                                              <p:spTgt spid="61"/>
                                            </p:tgtEl>
                                          </p:cBhvr>
                                        </p:animEffect>
                                      </p:childTnLst>
                                    </p:cTn>
                                  </p:par>
                                  <p:par>
                                    <p:cTn id="100" presetID="42" presetClass="path" presetSubtype="0" decel="100000" fill="hold" grpId="1" nodeType="withEffect">
                                      <p:stCondLst>
                                        <p:cond delay="600"/>
                                      </p:stCondLst>
                                      <p:childTnLst>
                                        <p:animMotion origin="layout" path="M 1.875E-6 1.48148E-6 L 1.875E-6 0.04421 " pathEditMode="relative" rAng="0" ptsTypes="AA">
                                          <p:cBhvr>
                                            <p:cTn id="101" dur="750" spd="-100000" fill="hold"/>
                                            <p:tgtEl>
                                              <p:spTgt spid="61"/>
                                            </p:tgtEl>
                                            <p:attrNameLst>
                                              <p:attrName>ppt_x</p:attrName>
                                              <p:attrName>ppt_y</p:attrName>
                                            </p:attrNameLst>
                                          </p:cBhvr>
                                          <p:rCtr x="0" y="2199"/>
                                        </p:animMotion>
                                      </p:childTnLst>
                                    </p:cTn>
                                  </p:par>
                                  <p:par>
                                    <p:cTn id="102" presetID="10" presetClass="entr" presetSubtype="0" fill="hold" grpId="0" nodeType="withEffect">
                                      <p:stCondLst>
                                        <p:cond delay="600"/>
                                      </p:stCondLst>
                                      <p:childTnLst>
                                        <p:set>
                                          <p:cBhvr>
                                            <p:cTn id="103" dur="1" fill="hold">
                                              <p:stCondLst>
                                                <p:cond delay="0"/>
                                              </p:stCondLst>
                                            </p:cTn>
                                            <p:tgtEl>
                                              <p:spTgt spid="62"/>
                                            </p:tgtEl>
                                            <p:attrNameLst>
                                              <p:attrName>style.visibility</p:attrName>
                                            </p:attrNameLst>
                                          </p:cBhvr>
                                          <p:to>
                                            <p:strVal val="visible"/>
                                          </p:to>
                                        </p:set>
                                        <p:animEffect transition="in" filter="fade">
                                          <p:cBhvr>
                                            <p:cTn id="104" dur="500"/>
                                            <p:tgtEl>
                                              <p:spTgt spid="62"/>
                                            </p:tgtEl>
                                          </p:cBhvr>
                                        </p:animEffect>
                                      </p:childTnLst>
                                    </p:cTn>
                                  </p:par>
                                  <p:par>
                                    <p:cTn id="105" presetID="42" presetClass="path" presetSubtype="0" decel="100000" fill="hold" grpId="1" nodeType="withEffect">
                                      <p:stCondLst>
                                        <p:cond delay="600"/>
                                      </p:stCondLst>
                                      <p:childTnLst>
                                        <p:animMotion origin="layout" path="M -3.95833E-6 4.44444E-6 L -3.95833E-6 0.04421 " pathEditMode="relative" rAng="0" ptsTypes="AA">
                                          <p:cBhvr>
                                            <p:cTn id="106" dur="750" spd="-100000" fill="hold"/>
                                            <p:tgtEl>
                                              <p:spTgt spid="62"/>
                                            </p:tgtEl>
                                            <p:attrNameLst>
                                              <p:attrName>ppt_x</p:attrName>
                                              <p:attrName>ppt_y</p:attrName>
                                            </p:attrNameLst>
                                          </p:cBhvr>
                                          <p:rCtr x="0" y="2199"/>
                                        </p:animMotion>
                                      </p:childTnLst>
                                    </p:cTn>
                                  </p:par>
                                  <p:par>
                                    <p:cTn id="107" presetID="10" presetClass="entr" presetSubtype="0" fill="hold" grpId="0" nodeType="withEffect">
                                      <p:stCondLst>
                                        <p:cond delay="600"/>
                                      </p:stCondLst>
                                      <p:childTnLst>
                                        <p:set>
                                          <p:cBhvr>
                                            <p:cTn id="108" dur="1" fill="hold">
                                              <p:stCondLst>
                                                <p:cond delay="0"/>
                                              </p:stCondLst>
                                            </p:cTn>
                                            <p:tgtEl>
                                              <p:spTgt spid="63"/>
                                            </p:tgtEl>
                                            <p:attrNameLst>
                                              <p:attrName>style.visibility</p:attrName>
                                            </p:attrNameLst>
                                          </p:cBhvr>
                                          <p:to>
                                            <p:strVal val="visible"/>
                                          </p:to>
                                        </p:set>
                                        <p:animEffect transition="in" filter="fade">
                                          <p:cBhvr>
                                            <p:cTn id="109" dur="500"/>
                                            <p:tgtEl>
                                              <p:spTgt spid="63"/>
                                            </p:tgtEl>
                                          </p:cBhvr>
                                        </p:animEffect>
                                      </p:childTnLst>
                                    </p:cTn>
                                  </p:par>
                                  <p:par>
                                    <p:cTn id="110" presetID="42" presetClass="path" presetSubtype="0" decel="100000" fill="hold" grpId="1" nodeType="withEffect">
                                      <p:stCondLst>
                                        <p:cond delay="600"/>
                                      </p:stCondLst>
                                      <p:childTnLst>
                                        <p:animMotion origin="layout" path="M -2.70833E-6 4.44444E-6 L -2.70833E-6 0.04421 " pathEditMode="relative" rAng="0" ptsTypes="AA">
                                          <p:cBhvr>
                                            <p:cTn id="111" dur="750" spd="-100000" fill="hold"/>
                                            <p:tgtEl>
                                              <p:spTgt spid="63"/>
                                            </p:tgtEl>
                                            <p:attrNameLst>
                                              <p:attrName>ppt_x</p:attrName>
                                              <p:attrName>ppt_y</p:attrName>
                                            </p:attrNameLst>
                                          </p:cBhvr>
                                          <p:rCtr x="0" y="2199"/>
                                        </p:animMotion>
                                      </p:childTnLst>
                                    </p:cTn>
                                  </p:par>
                                  <p:par>
                                    <p:cTn id="112" presetID="10" presetClass="entr" presetSubtype="0" fill="hold" grpId="0" nodeType="withEffect">
                                      <p:stCondLst>
                                        <p:cond delay="600"/>
                                      </p:stCondLst>
                                      <p:childTnLst>
                                        <p:set>
                                          <p:cBhvr>
                                            <p:cTn id="113" dur="1" fill="hold">
                                              <p:stCondLst>
                                                <p:cond delay="0"/>
                                              </p:stCondLst>
                                            </p:cTn>
                                            <p:tgtEl>
                                              <p:spTgt spid="64"/>
                                            </p:tgtEl>
                                            <p:attrNameLst>
                                              <p:attrName>style.visibility</p:attrName>
                                            </p:attrNameLst>
                                          </p:cBhvr>
                                          <p:to>
                                            <p:strVal val="visible"/>
                                          </p:to>
                                        </p:set>
                                        <p:animEffect transition="in" filter="fade">
                                          <p:cBhvr>
                                            <p:cTn id="114" dur="500"/>
                                            <p:tgtEl>
                                              <p:spTgt spid="64"/>
                                            </p:tgtEl>
                                          </p:cBhvr>
                                        </p:animEffect>
                                      </p:childTnLst>
                                    </p:cTn>
                                  </p:par>
                                  <p:par>
                                    <p:cTn id="115" presetID="42" presetClass="path" presetSubtype="0" decel="100000" fill="hold" grpId="1" nodeType="withEffect">
                                      <p:stCondLst>
                                        <p:cond delay="600"/>
                                      </p:stCondLst>
                                      <p:childTnLst>
                                        <p:animMotion origin="layout" path="M -4.16667E-7 4.44444E-6 L -4.16667E-7 0.04421 " pathEditMode="relative" rAng="0" ptsTypes="AA">
                                          <p:cBhvr>
                                            <p:cTn id="116" dur="750" spd="-100000" fill="hold"/>
                                            <p:tgtEl>
                                              <p:spTgt spid="64"/>
                                            </p:tgtEl>
                                            <p:attrNameLst>
                                              <p:attrName>ppt_x</p:attrName>
                                              <p:attrName>ppt_y</p:attrName>
                                            </p:attrNameLst>
                                          </p:cBhvr>
                                          <p:rCtr x="0" y="2199"/>
                                        </p:animMotion>
                                      </p:childTnLst>
                                    </p:cTn>
                                  </p:par>
                                  <p:par>
                                    <p:cTn id="117" presetID="22" presetClass="entr" presetSubtype="8" fill="hold" nodeType="withEffect">
                                      <p:stCondLst>
                                        <p:cond delay="600"/>
                                      </p:stCondLst>
                                      <p:childTnLst>
                                        <p:set>
                                          <p:cBhvr>
                                            <p:cTn id="118" dur="1" fill="hold">
                                              <p:stCondLst>
                                                <p:cond delay="0"/>
                                              </p:stCondLst>
                                            </p:cTn>
                                            <p:tgtEl>
                                              <p:spTgt spid="209"/>
                                            </p:tgtEl>
                                            <p:attrNameLst>
                                              <p:attrName>style.visibility</p:attrName>
                                            </p:attrNameLst>
                                          </p:cBhvr>
                                          <p:to>
                                            <p:strVal val="visible"/>
                                          </p:to>
                                        </p:set>
                                        <p:animEffect transition="in" filter="wipe(left)">
                                          <p:cBhvr>
                                            <p:cTn id="119" dur="750"/>
                                            <p:tgtEl>
                                              <p:spTgt spid="209"/>
                                            </p:tgtEl>
                                          </p:cBhvr>
                                        </p:animEffect>
                                      </p:childTnLst>
                                    </p:cTn>
                                  </p:par>
                                  <p:par>
                                    <p:cTn id="120" presetID="10" presetClass="entr" presetSubtype="0" fill="hold" grpId="0" nodeType="withEffect">
                                      <p:stCondLst>
                                        <p:cond delay="1250"/>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500"/>
                                            <p:tgtEl>
                                              <p:spTgt spid="27"/>
                                            </p:tgtEl>
                                          </p:cBhvr>
                                        </p:animEffect>
                                      </p:childTnLst>
                                    </p:cTn>
                                  </p:par>
                                  <p:par>
                                    <p:cTn id="123" presetID="63" presetClass="path" presetSubtype="0" decel="100000" fill="hold" grpId="1" nodeType="withEffect">
                                      <p:stCondLst>
                                        <p:cond delay="1250"/>
                                      </p:stCondLst>
                                      <p:childTnLst>
                                        <p:animMotion origin="layout" path="M -3.75E-6 -3.33333E-6 L -0.05599 -3.33333E-6 " pathEditMode="relative" rAng="0" ptsTypes="AA">
                                          <p:cBhvr>
                                            <p:cTn id="124" dur="750" spd="-100000" fill="hold"/>
                                            <p:tgtEl>
                                              <p:spTgt spid="27"/>
                                            </p:tgtEl>
                                            <p:attrNameLst>
                                              <p:attrName>ppt_x</p:attrName>
                                              <p:attrName>ppt_y</p:attrName>
                                            </p:attrNameLst>
                                          </p:cBhvr>
                                          <p:rCtr x="-279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1" grpId="1"/>
          <p:bldP spid="62" grpId="0"/>
          <p:bldP spid="62" grpId="1"/>
          <p:bldP spid="63" grpId="0"/>
          <p:bldP spid="63" grpId="1"/>
          <p:bldP spid="64" grpId="0"/>
          <p:bldP spid="64" grpId="1"/>
          <p:bldP spid="2" grpId="0" animBg="1"/>
          <p:bldP spid="26" grpId="0"/>
          <p:bldP spid="26" grpId="1"/>
          <p:bldP spid="27" grpId="0"/>
          <p:bldP spid="27" grpId="1"/>
          <p:bldP spid="77" grpId="0"/>
          <p:bldP spid="25"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200" fill="hold"/>
                                            <p:tgtEl>
                                              <p:spTgt spid="23"/>
                                            </p:tgtEl>
                                            <p:attrNameLst>
                                              <p:attrName>ppt_w</p:attrName>
                                            </p:attrNameLst>
                                          </p:cBhvr>
                                          <p:tavLst>
                                            <p:tav tm="0">
                                              <p:val>
                                                <p:fltVal val="0"/>
                                              </p:val>
                                            </p:tav>
                                            <p:tav tm="100000">
                                              <p:val>
                                                <p:strVal val="#ppt_w"/>
                                              </p:val>
                                            </p:tav>
                                          </p:tavLst>
                                        </p:anim>
                                        <p:anim calcmode="lin" valueType="num">
                                          <p:cBhvr>
                                            <p:cTn id="8" dur="200" fill="hold"/>
                                            <p:tgtEl>
                                              <p:spTgt spid="23"/>
                                            </p:tgtEl>
                                            <p:attrNameLst>
                                              <p:attrName>ppt_h</p:attrName>
                                            </p:attrNameLst>
                                          </p:cBhvr>
                                          <p:tavLst>
                                            <p:tav tm="0">
                                              <p:val>
                                                <p:fltVal val="0"/>
                                              </p:val>
                                            </p:tav>
                                            <p:tav tm="100000">
                                              <p:val>
                                                <p:strVal val="#ppt_h"/>
                                              </p:val>
                                            </p:tav>
                                          </p:tavLst>
                                        </p:anim>
                                      </p:childTnLst>
                                    </p:cTn>
                                  </p:par>
                                  <p:par>
                                    <p:cTn id="9" presetID="6" presetClass="emph" presetSubtype="0" fill="hold" nodeType="withEffect">
                                      <p:stCondLst>
                                        <p:cond delay="0"/>
                                      </p:stCondLst>
                                      <p:childTnLst>
                                        <p:animScale>
                                          <p:cBhvr>
                                            <p:cTn id="10" dur="1000" fill="hold"/>
                                            <p:tgtEl>
                                              <p:spTgt spid="23"/>
                                            </p:tgtEl>
                                          </p:cBhvr>
                                          <p:by x="110000" y="110000"/>
                                        </p:animScale>
                                      </p:childTnLst>
                                    </p:cTn>
                                  </p:par>
                                  <p:par>
                                    <p:cTn id="11" presetID="6" presetClass="emph" presetSubtype="0" accel="50000" decel="50000" fill="hold" nodeType="withEffect">
                                      <p:stCondLst>
                                        <p:cond delay="0"/>
                                      </p:stCondLst>
                                      <p:childTnLst>
                                        <p:animScale>
                                          <p:cBhvr>
                                            <p:cTn id="12" dur="250" fill="hold"/>
                                            <p:tgtEl>
                                              <p:spTgt spid="23"/>
                                            </p:tgtEl>
                                          </p:cBhvr>
                                          <p:by x="91000" y="91000"/>
                                        </p:animScale>
                                      </p:childTnLst>
                                    </p:cTn>
                                  </p:par>
                                  <p:par>
                                    <p:cTn id="13" presetID="2" presetClass="entr" presetSubtype="1" decel="100000" fill="hold" nodeType="withEffect">
                                      <p:stCondLst>
                                        <p:cond delay="0"/>
                                      </p:stCondLst>
                                      <p:childTnLst>
                                        <p:set>
                                          <p:cBhvr>
                                            <p:cTn id="14" dur="1" fill="hold">
                                              <p:stCondLst>
                                                <p:cond delay="0"/>
                                              </p:stCondLst>
                                            </p:cTn>
                                            <p:tgtEl>
                                              <p:spTgt spid="201"/>
                                            </p:tgtEl>
                                            <p:attrNameLst>
                                              <p:attrName>style.visibility</p:attrName>
                                            </p:attrNameLst>
                                          </p:cBhvr>
                                          <p:to>
                                            <p:strVal val="visible"/>
                                          </p:to>
                                        </p:set>
                                        <p:anim calcmode="lin" valueType="num">
                                          <p:cBhvr additive="base">
                                            <p:cTn id="15" dur="500" fill="hold"/>
                                            <p:tgtEl>
                                              <p:spTgt spid="201"/>
                                            </p:tgtEl>
                                            <p:attrNameLst>
                                              <p:attrName>ppt_x</p:attrName>
                                            </p:attrNameLst>
                                          </p:cBhvr>
                                          <p:tavLst>
                                            <p:tav tm="0">
                                              <p:val>
                                                <p:strVal val="#ppt_x"/>
                                              </p:val>
                                            </p:tav>
                                            <p:tav tm="100000">
                                              <p:val>
                                                <p:strVal val="#ppt_x"/>
                                              </p:val>
                                            </p:tav>
                                          </p:tavLst>
                                        </p:anim>
                                        <p:anim calcmode="lin" valueType="num">
                                          <p:cBhvr additive="base">
                                            <p:cTn id="16" dur="500" fill="hold"/>
                                            <p:tgtEl>
                                              <p:spTgt spid="201"/>
                                            </p:tgtEl>
                                            <p:attrNameLst>
                                              <p:attrName>ppt_y</p:attrName>
                                            </p:attrNameLst>
                                          </p:cBhvr>
                                          <p:tavLst>
                                            <p:tav tm="0">
                                              <p:val>
                                                <p:strVal val="0-#ppt_h/2"/>
                                              </p:val>
                                            </p:tav>
                                            <p:tav tm="100000">
                                              <p:val>
                                                <p:strVal val="#ppt_y"/>
                                              </p:val>
                                            </p:tav>
                                          </p:tavLst>
                                        </p:anim>
                                      </p:childTnLst>
                                    </p:cTn>
                                  </p:par>
                                  <p:par>
                                    <p:cTn id="17" presetID="23" presetClass="entr" presetSubtype="16" fill="hold" nodeType="withEffect">
                                      <p:stCondLst>
                                        <p:cond delay="100"/>
                                      </p:stCondLst>
                                      <p:childTnLst>
                                        <p:set>
                                          <p:cBhvr>
                                            <p:cTn id="18" dur="1" fill="hold">
                                              <p:stCondLst>
                                                <p:cond delay="0"/>
                                              </p:stCondLst>
                                            </p:cTn>
                                            <p:tgtEl>
                                              <p:spTgt spid="24"/>
                                            </p:tgtEl>
                                            <p:attrNameLst>
                                              <p:attrName>style.visibility</p:attrName>
                                            </p:attrNameLst>
                                          </p:cBhvr>
                                          <p:to>
                                            <p:strVal val="visible"/>
                                          </p:to>
                                        </p:set>
                                        <p:anim calcmode="lin" valueType="num">
                                          <p:cBhvr>
                                            <p:cTn id="19" dur="200" fill="hold"/>
                                            <p:tgtEl>
                                              <p:spTgt spid="24"/>
                                            </p:tgtEl>
                                            <p:attrNameLst>
                                              <p:attrName>ppt_w</p:attrName>
                                            </p:attrNameLst>
                                          </p:cBhvr>
                                          <p:tavLst>
                                            <p:tav tm="0">
                                              <p:val>
                                                <p:fltVal val="0"/>
                                              </p:val>
                                            </p:tav>
                                            <p:tav tm="100000">
                                              <p:val>
                                                <p:strVal val="#ppt_w"/>
                                              </p:val>
                                            </p:tav>
                                          </p:tavLst>
                                        </p:anim>
                                        <p:anim calcmode="lin" valueType="num">
                                          <p:cBhvr>
                                            <p:cTn id="20" dur="200" fill="hold"/>
                                            <p:tgtEl>
                                              <p:spTgt spid="24"/>
                                            </p:tgtEl>
                                            <p:attrNameLst>
                                              <p:attrName>ppt_h</p:attrName>
                                            </p:attrNameLst>
                                          </p:cBhvr>
                                          <p:tavLst>
                                            <p:tav tm="0">
                                              <p:val>
                                                <p:fltVal val="0"/>
                                              </p:val>
                                            </p:tav>
                                            <p:tav tm="100000">
                                              <p:val>
                                                <p:strVal val="#ppt_h"/>
                                              </p:val>
                                            </p:tav>
                                          </p:tavLst>
                                        </p:anim>
                                      </p:childTnLst>
                                    </p:cTn>
                                  </p:par>
                                  <p:par>
                                    <p:cTn id="21" presetID="6" presetClass="emph" presetSubtype="0" fill="hold" nodeType="withEffect">
                                      <p:stCondLst>
                                        <p:cond delay="100"/>
                                      </p:stCondLst>
                                      <p:childTnLst>
                                        <p:animScale>
                                          <p:cBhvr>
                                            <p:cTn id="22" dur="1000" fill="hold"/>
                                            <p:tgtEl>
                                              <p:spTgt spid="24"/>
                                            </p:tgtEl>
                                          </p:cBhvr>
                                          <p:by x="110000" y="110000"/>
                                        </p:animScale>
                                      </p:childTnLst>
                                    </p:cTn>
                                  </p:par>
                                  <p:par>
                                    <p:cTn id="23" presetID="6" presetClass="emph" presetSubtype="0" accel="50000" decel="50000" fill="hold" nodeType="withEffect">
                                      <p:stCondLst>
                                        <p:cond delay="100"/>
                                      </p:stCondLst>
                                      <p:childTnLst>
                                        <p:animScale>
                                          <p:cBhvr>
                                            <p:cTn id="24" dur="250" fill="hold"/>
                                            <p:tgtEl>
                                              <p:spTgt spid="24"/>
                                            </p:tgtEl>
                                          </p:cBhvr>
                                          <p:by x="91000" y="91000"/>
                                        </p:animScale>
                                      </p:childTnLst>
                                    </p:cTn>
                                  </p:par>
                                  <p:par>
                                    <p:cTn id="25" presetID="23" presetClass="entr" presetSubtype="16" fill="hold" nodeType="withEffect">
                                      <p:stCondLst>
                                        <p:cond delay="200"/>
                                      </p:stCondLst>
                                      <p:childTnLst>
                                        <p:set>
                                          <p:cBhvr>
                                            <p:cTn id="26" dur="1" fill="hold">
                                              <p:stCondLst>
                                                <p:cond delay="0"/>
                                              </p:stCondLst>
                                            </p:cTn>
                                            <p:tgtEl>
                                              <p:spTgt spid="21"/>
                                            </p:tgtEl>
                                            <p:attrNameLst>
                                              <p:attrName>style.visibility</p:attrName>
                                            </p:attrNameLst>
                                          </p:cBhvr>
                                          <p:to>
                                            <p:strVal val="visible"/>
                                          </p:to>
                                        </p:set>
                                        <p:anim calcmode="lin" valueType="num">
                                          <p:cBhvr>
                                            <p:cTn id="27" dur="200" fill="hold"/>
                                            <p:tgtEl>
                                              <p:spTgt spid="21"/>
                                            </p:tgtEl>
                                            <p:attrNameLst>
                                              <p:attrName>ppt_w</p:attrName>
                                            </p:attrNameLst>
                                          </p:cBhvr>
                                          <p:tavLst>
                                            <p:tav tm="0">
                                              <p:val>
                                                <p:fltVal val="0"/>
                                              </p:val>
                                            </p:tav>
                                            <p:tav tm="100000">
                                              <p:val>
                                                <p:strVal val="#ppt_w"/>
                                              </p:val>
                                            </p:tav>
                                          </p:tavLst>
                                        </p:anim>
                                        <p:anim calcmode="lin" valueType="num">
                                          <p:cBhvr>
                                            <p:cTn id="28" dur="200" fill="hold"/>
                                            <p:tgtEl>
                                              <p:spTgt spid="21"/>
                                            </p:tgtEl>
                                            <p:attrNameLst>
                                              <p:attrName>ppt_h</p:attrName>
                                            </p:attrNameLst>
                                          </p:cBhvr>
                                          <p:tavLst>
                                            <p:tav tm="0">
                                              <p:val>
                                                <p:fltVal val="0"/>
                                              </p:val>
                                            </p:tav>
                                            <p:tav tm="100000">
                                              <p:val>
                                                <p:strVal val="#ppt_h"/>
                                              </p:val>
                                            </p:tav>
                                          </p:tavLst>
                                        </p:anim>
                                      </p:childTnLst>
                                    </p:cTn>
                                  </p:par>
                                  <p:par>
                                    <p:cTn id="29" presetID="6" presetClass="emph" presetSubtype="0" fill="hold" nodeType="withEffect">
                                      <p:stCondLst>
                                        <p:cond delay="200"/>
                                      </p:stCondLst>
                                      <p:childTnLst>
                                        <p:animScale>
                                          <p:cBhvr>
                                            <p:cTn id="30" dur="1000" fill="hold"/>
                                            <p:tgtEl>
                                              <p:spTgt spid="21"/>
                                            </p:tgtEl>
                                          </p:cBhvr>
                                          <p:by x="110000" y="110000"/>
                                        </p:animScale>
                                      </p:childTnLst>
                                    </p:cTn>
                                  </p:par>
                                  <p:par>
                                    <p:cTn id="31" presetID="6" presetClass="emph" presetSubtype="0" accel="50000" decel="50000" fill="hold" nodeType="withEffect">
                                      <p:stCondLst>
                                        <p:cond delay="200"/>
                                      </p:stCondLst>
                                      <p:childTnLst>
                                        <p:animScale>
                                          <p:cBhvr>
                                            <p:cTn id="32" dur="250" fill="hold"/>
                                            <p:tgtEl>
                                              <p:spTgt spid="21"/>
                                            </p:tgtEl>
                                          </p:cBhvr>
                                          <p:by x="91000" y="91000"/>
                                        </p:animScale>
                                      </p:childTnLst>
                                    </p:cTn>
                                  </p:par>
                                  <p:par>
                                    <p:cTn id="33" presetID="23" presetClass="entr" presetSubtype="16" fill="hold" nodeType="withEffect">
                                      <p:stCondLst>
                                        <p:cond delay="300"/>
                                      </p:stCondLst>
                                      <p:childTnLst>
                                        <p:set>
                                          <p:cBhvr>
                                            <p:cTn id="34" dur="1" fill="hold">
                                              <p:stCondLst>
                                                <p:cond delay="0"/>
                                              </p:stCondLst>
                                            </p:cTn>
                                            <p:tgtEl>
                                              <p:spTgt spid="18"/>
                                            </p:tgtEl>
                                            <p:attrNameLst>
                                              <p:attrName>style.visibility</p:attrName>
                                            </p:attrNameLst>
                                          </p:cBhvr>
                                          <p:to>
                                            <p:strVal val="visible"/>
                                          </p:to>
                                        </p:set>
                                        <p:anim calcmode="lin" valueType="num">
                                          <p:cBhvr>
                                            <p:cTn id="35" dur="200" fill="hold"/>
                                            <p:tgtEl>
                                              <p:spTgt spid="18"/>
                                            </p:tgtEl>
                                            <p:attrNameLst>
                                              <p:attrName>ppt_w</p:attrName>
                                            </p:attrNameLst>
                                          </p:cBhvr>
                                          <p:tavLst>
                                            <p:tav tm="0">
                                              <p:val>
                                                <p:fltVal val="0"/>
                                              </p:val>
                                            </p:tav>
                                            <p:tav tm="100000">
                                              <p:val>
                                                <p:strVal val="#ppt_w"/>
                                              </p:val>
                                            </p:tav>
                                          </p:tavLst>
                                        </p:anim>
                                        <p:anim calcmode="lin" valueType="num">
                                          <p:cBhvr>
                                            <p:cTn id="36" dur="200" fill="hold"/>
                                            <p:tgtEl>
                                              <p:spTgt spid="18"/>
                                            </p:tgtEl>
                                            <p:attrNameLst>
                                              <p:attrName>ppt_h</p:attrName>
                                            </p:attrNameLst>
                                          </p:cBhvr>
                                          <p:tavLst>
                                            <p:tav tm="0">
                                              <p:val>
                                                <p:fltVal val="0"/>
                                              </p:val>
                                            </p:tav>
                                            <p:tav tm="100000">
                                              <p:val>
                                                <p:strVal val="#ppt_h"/>
                                              </p:val>
                                            </p:tav>
                                          </p:tavLst>
                                        </p:anim>
                                      </p:childTnLst>
                                    </p:cTn>
                                  </p:par>
                                  <p:par>
                                    <p:cTn id="37" presetID="6" presetClass="emph" presetSubtype="0" fill="hold" nodeType="withEffect">
                                      <p:stCondLst>
                                        <p:cond delay="300"/>
                                      </p:stCondLst>
                                      <p:childTnLst>
                                        <p:animScale>
                                          <p:cBhvr>
                                            <p:cTn id="38" dur="1000" fill="hold"/>
                                            <p:tgtEl>
                                              <p:spTgt spid="18"/>
                                            </p:tgtEl>
                                          </p:cBhvr>
                                          <p:by x="110000" y="110000"/>
                                        </p:animScale>
                                      </p:childTnLst>
                                    </p:cTn>
                                  </p:par>
                                  <p:par>
                                    <p:cTn id="39" presetID="6" presetClass="emph" presetSubtype="0" accel="50000" decel="50000" fill="hold" nodeType="withEffect">
                                      <p:stCondLst>
                                        <p:cond delay="300"/>
                                      </p:stCondLst>
                                      <p:childTnLst>
                                        <p:animScale>
                                          <p:cBhvr>
                                            <p:cTn id="40" dur="250" fill="hold"/>
                                            <p:tgtEl>
                                              <p:spTgt spid="18"/>
                                            </p:tgtEl>
                                          </p:cBhvr>
                                          <p:by x="91000" y="91000"/>
                                        </p:animScale>
                                      </p:childTnLst>
                                    </p:cTn>
                                  </p:par>
                                  <p:par>
                                    <p:cTn id="41" presetID="23" presetClass="entr" presetSubtype="16" fill="hold" nodeType="withEffect">
                                      <p:stCondLst>
                                        <p:cond delay="400"/>
                                      </p:stCondLst>
                                      <p:childTnLst>
                                        <p:set>
                                          <p:cBhvr>
                                            <p:cTn id="42" dur="1" fill="hold">
                                              <p:stCondLst>
                                                <p:cond delay="0"/>
                                              </p:stCondLst>
                                            </p:cTn>
                                            <p:tgtEl>
                                              <p:spTgt spid="19"/>
                                            </p:tgtEl>
                                            <p:attrNameLst>
                                              <p:attrName>style.visibility</p:attrName>
                                            </p:attrNameLst>
                                          </p:cBhvr>
                                          <p:to>
                                            <p:strVal val="visible"/>
                                          </p:to>
                                        </p:set>
                                        <p:anim calcmode="lin" valueType="num">
                                          <p:cBhvr>
                                            <p:cTn id="43" dur="200" fill="hold"/>
                                            <p:tgtEl>
                                              <p:spTgt spid="19"/>
                                            </p:tgtEl>
                                            <p:attrNameLst>
                                              <p:attrName>ppt_w</p:attrName>
                                            </p:attrNameLst>
                                          </p:cBhvr>
                                          <p:tavLst>
                                            <p:tav tm="0">
                                              <p:val>
                                                <p:fltVal val="0"/>
                                              </p:val>
                                            </p:tav>
                                            <p:tav tm="100000">
                                              <p:val>
                                                <p:strVal val="#ppt_w"/>
                                              </p:val>
                                            </p:tav>
                                          </p:tavLst>
                                        </p:anim>
                                        <p:anim calcmode="lin" valueType="num">
                                          <p:cBhvr>
                                            <p:cTn id="44" dur="200" fill="hold"/>
                                            <p:tgtEl>
                                              <p:spTgt spid="19"/>
                                            </p:tgtEl>
                                            <p:attrNameLst>
                                              <p:attrName>ppt_h</p:attrName>
                                            </p:attrNameLst>
                                          </p:cBhvr>
                                          <p:tavLst>
                                            <p:tav tm="0">
                                              <p:val>
                                                <p:fltVal val="0"/>
                                              </p:val>
                                            </p:tav>
                                            <p:tav tm="100000">
                                              <p:val>
                                                <p:strVal val="#ppt_h"/>
                                              </p:val>
                                            </p:tav>
                                          </p:tavLst>
                                        </p:anim>
                                      </p:childTnLst>
                                    </p:cTn>
                                  </p:par>
                                  <p:par>
                                    <p:cTn id="45" presetID="6" presetClass="emph" presetSubtype="0" fill="hold" nodeType="withEffect">
                                      <p:stCondLst>
                                        <p:cond delay="400"/>
                                      </p:stCondLst>
                                      <p:childTnLst>
                                        <p:animScale>
                                          <p:cBhvr>
                                            <p:cTn id="46" dur="1000" fill="hold"/>
                                            <p:tgtEl>
                                              <p:spTgt spid="19"/>
                                            </p:tgtEl>
                                          </p:cBhvr>
                                          <p:by x="110000" y="110000"/>
                                        </p:animScale>
                                      </p:childTnLst>
                                    </p:cTn>
                                  </p:par>
                                  <p:par>
                                    <p:cTn id="47" presetID="6" presetClass="emph" presetSubtype="0" accel="50000" decel="50000" fill="hold" nodeType="withEffect">
                                      <p:stCondLst>
                                        <p:cond delay="400"/>
                                      </p:stCondLst>
                                      <p:childTnLst>
                                        <p:animScale>
                                          <p:cBhvr>
                                            <p:cTn id="48" dur="250" fill="hold"/>
                                            <p:tgtEl>
                                              <p:spTgt spid="19"/>
                                            </p:tgtEl>
                                          </p:cBhvr>
                                          <p:by x="91000" y="91000"/>
                                        </p:animScale>
                                      </p:childTnLst>
                                    </p:cTn>
                                  </p:par>
                                  <p:par>
                                    <p:cTn id="49" presetID="23" presetClass="entr" presetSubtype="16" fill="hold" nodeType="withEffect">
                                      <p:stCondLst>
                                        <p:cond delay="500"/>
                                      </p:stCondLst>
                                      <p:childTnLst>
                                        <p:set>
                                          <p:cBhvr>
                                            <p:cTn id="50" dur="1" fill="hold">
                                              <p:stCondLst>
                                                <p:cond delay="0"/>
                                              </p:stCondLst>
                                            </p:cTn>
                                            <p:tgtEl>
                                              <p:spTgt spid="20"/>
                                            </p:tgtEl>
                                            <p:attrNameLst>
                                              <p:attrName>style.visibility</p:attrName>
                                            </p:attrNameLst>
                                          </p:cBhvr>
                                          <p:to>
                                            <p:strVal val="visible"/>
                                          </p:to>
                                        </p:set>
                                        <p:anim calcmode="lin" valueType="num">
                                          <p:cBhvr>
                                            <p:cTn id="51" dur="200" fill="hold"/>
                                            <p:tgtEl>
                                              <p:spTgt spid="20"/>
                                            </p:tgtEl>
                                            <p:attrNameLst>
                                              <p:attrName>ppt_w</p:attrName>
                                            </p:attrNameLst>
                                          </p:cBhvr>
                                          <p:tavLst>
                                            <p:tav tm="0">
                                              <p:val>
                                                <p:fltVal val="0"/>
                                              </p:val>
                                            </p:tav>
                                            <p:tav tm="100000">
                                              <p:val>
                                                <p:strVal val="#ppt_w"/>
                                              </p:val>
                                            </p:tav>
                                          </p:tavLst>
                                        </p:anim>
                                        <p:anim calcmode="lin" valueType="num">
                                          <p:cBhvr>
                                            <p:cTn id="52" dur="200" fill="hold"/>
                                            <p:tgtEl>
                                              <p:spTgt spid="20"/>
                                            </p:tgtEl>
                                            <p:attrNameLst>
                                              <p:attrName>ppt_h</p:attrName>
                                            </p:attrNameLst>
                                          </p:cBhvr>
                                          <p:tavLst>
                                            <p:tav tm="0">
                                              <p:val>
                                                <p:fltVal val="0"/>
                                              </p:val>
                                            </p:tav>
                                            <p:tav tm="100000">
                                              <p:val>
                                                <p:strVal val="#ppt_h"/>
                                              </p:val>
                                            </p:tav>
                                          </p:tavLst>
                                        </p:anim>
                                      </p:childTnLst>
                                    </p:cTn>
                                  </p:par>
                                  <p:par>
                                    <p:cTn id="53" presetID="6" presetClass="emph" presetSubtype="0" fill="hold" nodeType="withEffect">
                                      <p:stCondLst>
                                        <p:cond delay="500"/>
                                      </p:stCondLst>
                                      <p:childTnLst>
                                        <p:animScale>
                                          <p:cBhvr>
                                            <p:cTn id="54" dur="1000" fill="hold"/>
                                            <p:tgtEl>
                                              <p:spTgt spid="20"/>
                                            </p:tgtEl>
                                          </p:cBhvr>
                                          <p:by x="110000" y="110000"/>
                                        </p:animScale>
                                      </p:childTnLst>
                                    </p:cTn>
                                  </p:par>
                                  <p:par>
                                    <p:cTn id="55" presetID="6" presetClass="emph" presetSubtype="0" accel="50000" decel="50000" fill="hold" nodeType="withEffect">
                                      <p:stCondLst>
                                        <p:cond delay="500"/>
                                      </p:stCondLst>
                                      <p:childTnLst>
                                        <p:animScale>
                                          <p:cBhvr>
                                            <p:cTn id="56" dur="250" fill="hold"/>
                                            <p:tgtEl>
                                              <p:spTgt spid="20"/>
                                            </p:tgtEl>
                                          </p:cBhvr>
                                          <p:by x="91000" y="91000"/>
                                        </p:animScale>
                                      </p:childTnLst>
                                    </p:cTn>
                                  </p:par>
                                  <p:par>
                                    <p:cTn id="57" presetID="23" presetClass="entr" presetSubtype="16" fill="hold" nodeType="withEffect">
                                      <p:stCondLst>
                                        <p:cond delay="600"/>
                                      </p:stCondLst>
                                      <p:childTnLst>
                                        <p:set>
                                          <p:cBhvr>
                                            <p:cTn id="58" dur="1" fill="hold">
                                              <p:stCondLst>
                                                <p:cond delay="0"/>
                                              </p:stCondLst>
                                            </p:cTn>
                                            <p:tgtEl>
                                              <p:spTgt spid="17"/>
                                            </p:tgtEl>
                                            <p:attrNameLst>
                                              <p:attrName>style.visibility</p:attrName>
                                            </p:attrNameLst>
                                          </p:cBhvr>
                                          <p:to>
                                            <p:strVal val="visible"/>
                                          </p:to>
                                        </p:set>
                                        <p:anim calcmode="lin" valueType="num">
                                          <p:cBhvr>
                                            <p:cTn id="59" dur="200" fill="hold"/>
                                            <p:tgtEl>
                                              <p:spTgt spid="17"/>
                                            </p:tgtEl>
                                            <p:attrNameLst>
                                              <p:attrName>ppt_w</p:attrName>
                                            </p:attrNameLst>
                                          </p:cBhvr>
                                          <p:tavLst>
                                            <p:tav tm="0">
                                              <p:val>
                                                <p:fltVal val="0"/>
                                              </p:val>
                                            </p:tav>
                                            <p:tav tm="100000">
                                              <p:val>
                                                <p:strVal val="#ppt_w"/>
                                              </p:val>
                                            </p:tav>
                                          </p:tavLst>
                                        </p:anim>
                                        <p:anim calcmode="lin" valueType="num">
                                          <p:cBhvr>
                                            <p:cTn id="60" dur="200" fill="hold"/>
                                            <p:tgtEl>
                                              <p:spTgt spid="17"/>
                                            </p:tgtEl>
                                            <p:attrNameLst>
                                              <p:attrName>ppt_h</p:attrName>
                                            </p:attrNameLst>
                                          </p:cBhvr>
                                          <p:tavLst>
                                            <p:tav tm="0">
                                              <p:val>
                                                <p:fltVal val="0"/>
                                              </p:val>
                                            </p:tav>
                                            <p:tav tm="100000">
                                              <p:val>
                                                <p:strVal val="#ppt_h"/>
                                              </p:val>
                                            </p:tav>
                                          </p:tavLst>
                                        </p:anim>
                                      </p:childTnLst>
                                    </p:cTn>
                                  </p:par>
                                  <p:par>
                                    <p:cTn id="61" presetID="6" presetClass="emph" presetSubtype="0" fill="hold" nodeType="withEffect">
                                      <p:stCondLst>
                                        <p:cond delay="600"/>
                                      </p:stCondLst>
                                      <p:childTnLst>
                                        <p:animScale>
                                          <p:cBhvr>
                                            <p:cTn id="62" dur="1000" fill="hold"/>
                                            <p:tgtEl>
                                              <p:spTgt spid="17"/>
                                            </p:tgtEl>
                                          </p:cBhvr>
                                          <p:by x="110000" y="110000"/>
                                        </p:animScale>
                                      </p:childTnLst>
                                    </p:cTn>
                                  </p:par>
                                  <p:par>
                                    <p:cTn id="63" presetID="6" presetClass="emph" presetSubtype="0" accel="50000" decel="50000" fill="hold" nodeType="withEffect">
                                      <p:stCondLst>
                                        <p:cond delay="600"/>
                                      </p:stCondLst>
                                      <p:childTnLst>
                                        <p:animScale>
                                          <p:cBhvr>
                                            <p:cTn id="64" dur="250" fill="hold"/>
                                            <p:tgtEl>
                                              <p:spTgt spid="17"/>
                                            </p:tgtEl>
                                          </p:cBhvr>
                                          <p:by x="91000" y="91000"/>
                                        </p:animScale>
                                      </p:childTnLst>
                                    </p:cTn>
                                  </p:par>
                                  <p:par>
                                    <p:cTn id="65" presetID="10" presetClass="entr" presetSubtype="0" fill="hold" grpId="0" nodeType="withEffect">
                                      <p:stCondLst>
                                        <p:cond delay="50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8" presetClass="entr" presetSubtype="6" fill="hold" grpId="0" nodeType="withEffect">
                                      <p:stCondLst>
                                        <p:cond delay="600"/>
                                      </p:stCondLst>
                                      <p:childTnLst>
                                        <p:set>
                                          <p:cBhvr>
                                            <p:cTn id="69" dur="1" fill="hold">
                                              <p:stCondLst>
                                                <p:cond delay="0"/>
                                              </p:stCondLst>
                                            </p:cTn>
                                            <p:tgtEl>
                                              <p:spTgt spid="2"/>
                                            </p:tgtEl>
                                            <p:attrNameLst>
                                              <p:attrName>style.visibility</p:attrName>
                                            </p:attrNameLst>
                                          </p:cBhvr>
                                          <p:to>
                                            <p:strVal val="visible"/>
                                          </p:to>
                                        </p:set>
                                        <p:animEffect transition="in" filter="strips(downRight)">
                                          <p:cBhvr>
                                            <p:cTn id="70" dur="1000"/>
                                            <p:tgtEl>
                                              <p:spTgt spid="2"/>
                                            </p:tgtEl>
                                          </p:cBhvr>
                                        </p:animEffect>
                                      </p:childTnLst>
                                    </p:cTn>
                                  </p:par>
                                  <p:par>
                                    <p:cTn id="71" presetID="10" presetClass="entr" presetSubtype="0" fill="hold" grpId="0" nodeType="withEffect">
                                      <p:stCondLst>
                                        <p:cond delay="60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500"/>
                                            <p:tgtEl>
                                              <p:spTgt spid="26"/>
                                            </p:tgtEl>
                                          </p:cBhvr>
                                        </p:animEffect>
                                      </p:childTnLst>
                                    </p:cTn>
                                  </p:par>
                                  <p:par>
                                    <p:cTn id="74" presetID="42" presetClass="path" presetSubtype="0" decel="100000" fill="hold" grpId="1" nodeType="withEffect">
                                      <p:stCondLst>
                                        <p:cond delay="600"/>
                                      </p:stCondLst>
                                      <p:childTnLst>
                                        <p:animMotion origin="layout" path="M -3.125E-6 1.85185E-6 L -3.125E-6 0.08194 " pathEditMode="relative" rAng="0" ptsTypes="AA">
                                          <p:cBhvr>
                                            <p:cTn id="75" dur="750" spd="-100000" fill="hold"/>
                                            <p:tgtEl>
                                              <p:spTgt spid="26"/>
                                            </p:tgtEl>
                                            <p:attrNameLst>
                                              <p:attrName>ppt_x</p:attrName>
                                              <p:attrName>ppt_y</p:attrName>
                                            </p:attrNameLst>
                                          </p:cBhvr>
                                          <p:rCtr x="0" y="4097"/>
                                        </p:animMotion>
                                      </p:childTnLst>
                                    </p:cTn>
                                  </p:par>
                                  <p:par>
                                    <p:cTn id="76" presetID="10" presetClass="entr" presetSubtype="0" fill="hold" grpId="0" nodeType="withEffect">
                                      <p:stCondLst>
                                        <p:cond delay="600"/>
                                      </p:stCondLst>
                                      <p:childTnLst>
                                        <p:set>
                                          <p:cBhvr>
                                            <p:cTn id="77" dur="1" fill="hold">
                                              <p:stCondLst>
                                                <p:cond delay="0"/>
                                              </p:stCondLst>
                                            </p:cTn>
                                            <p:tgtEl>
                                              <p:spTgt spid="77"/>
                                            </p:tgtEl>
                                            <p:attrNameLst>
                                              <p:attrName>style.visibility</p:attrName>
                                            </p:attrNameLst>
                                          </p:cBhvr>
                                          <p:to>
                                            <p:strVal val="visible"/>
                                          </p:to>
                                        </p:set>
                                        <p:animEffect transition="in" filter="fade">
                                          <p:cBhvr>
                                            <p:cTn id="78" dur="500"/>
                                            <p:tgtEl>
                                              <p:spTgt spid="77"/>
                                            </p:tgtEl>
                                          </p:cBhvr>
                                        </p:animEffect>
                                      </p:childTnLst>
                                    </p:cTn>
                                  </p:par>
                                  <p:par>
                                    <p:cTn id="79" presetID="10" presetClass="entr" presetSubtype="0" fill="hold" nodeType="withEffect">
                                      <p:stCondLst>
                                        <p:cond delay="600"/>
                                      </p:stCondLst>
                                      <p:childTnLst>
                                        <p:set>
                                          <p:cBhvr>
                                            <p:cTn id="80" dur="1" fill="hold">
                                              <p:stCondLst>
                                                <p:cond delay="0"/>
                                              </p:stCondLst>
                                            </p:cTn>
                                            <p:tgtEl>
                                              <p:spTgt spid="207"/>
                                            </p:tgtEl>
                                            <p:attrNameLst>
                                              <p:attrName>style.visibility</p:attrName>
                                            </p:attrNameLst>
                                          </p:cBhvr>
                                          <p:to>
                                            <p:strVal val="visible"/>
                                          </p:to>
                                        </p:set>
                                        <p:animEffect transition="in" filter="fade">
                                          <p:cBhvr>
                                            <p:cTn id="81" dur="500"/>
                                            <p:tgtEl>
                                              <p:spTgt spid="207"/>
                                            </p:tgtEl>
                                          </p:cBhvr>
                                        </p:animEffect>
                                      </p:childTnLst>
                                    </p:cTn>
                                  </p:par>
                                  <p:par>
                                    <p:cTn id="82" presetID="10" presetClass="entr" presetSubtype="0" fill="hold" nodeType="withEffect">
                                      <p:stCondLst>
                                        <p:cond delay="600"/>
                                      </p:stCondLst>
                                      <p:childTnLst>
                                        <p:set>
                                          <p:cBhvr>
                                            <p:cTn id="83" dur="1" fill="hold">
                                              <p:stCondLst>
                                                <p:cond delay="0"/>
                                              </p:stCondLst>
                                            </p:cTn>
                                            <p:tgtEl>
                                              <p:spTgt spid="208"/>
                                            </p:tgtEl>
                                            <p:attrNameLst>
                                              <p:attrName>style.visibility</p:attrName>
                                            </p:attrNameLst>
                                          </p:cBhvr>
                                          <p:to>
                                            <p:strVal val="visible"/>
                                          </p:to>
                                        </p:set>
                                        <p:animEffect transition="in" filter="fade">
                                          <p:cBhvr>
                                            <p:cTn id="84" dur="500"/>
                                            <p:tgtEl>
                                              <p:spTgt spid="208"/>
                                            </p:tgtEl>
                                          </p:cBhvr>
                                        </p:animEffect>
                                      </p:childTnLst>
                                    </p:cTn>
                                  </p:par>
                                  <p:par>
                                    <p:cTn id="85" presetID="16" presetClass="entr" presetSubtype="37" fill="hold" nodeType="withEffect">
                                      <p:stCondLst>
                                        <p:cond delay="600"/>
                                      </p:stCondLst>
                                      <p:childTnLst>
                                        <p:set>
                                          <p:cBhvr>
                                            <p:cTn id="86" dur="1" fill="hold">
                                              <p:stCondLst>
                                                <p:cond delay="0"/>
                                              </p:stCondLst>
                                            </p:cTn>
                                            <p:tgtEl>
                                              <p:spTgt spid="66"/>
                                            </p:tgtEl>
                                            <p:attrNameLst>
                                              <p:attrName>style.visibility</p:attrName>
                                            </p:attrNameLst>
                                          </p:cBhvr>
                                          <p:to>
                                            <p:strVal val="visible"/>
                                          </p:to>
                                        </p:set>
                                        <p:animEffect transition="in" filter="barn(outVertical)">
                                          <p:cBhvr>
                                            <p:cTn id="87" dur="500"/>
                                            <p:tgtEl>
                                              <p:spTgt spid="66"/>
                                            </p:tgtEl>
                                          </p:cBhvr>
                                        </p:animEffect>
                                      </p:childTnLst>
                                    </p:cTn>
                                  </p:par>
                                  <p:par>
                                    <p:cTn id="88" presetID="16" presetClass="entr" presetSubtype="37" fill="hold" nodeType="withEffect">
                                      <p:stCondLst>
                                        <p:cond delay="600"/>
                                      </p:stCondLst>
                                      <p:childTnLst>
                                        <p:set>
                                          <p:cBhvr>
                                            <p:cTn id="89" dur="1" fill="hold">
                                              <p:stCondLst>
                                                <p:cond delay="0"/>
                                              </p:stCondLst>
                                            </p:cTn>
                                            <p:tgtEl>
                                              <p:spTgt spid="69"/>
                                            </p:tgtEl>
                                            <p:attrNameLst>
                                              <p:attrName>style.visibility</p:attrName>
                                            </p:attrNameLst>
                                          </p:cBhvr>
                                          <p:to>
                                            <p:strVal val="visible"/>
                                          </p:to>
                                        </p:set>
                                        <p:animEffect transition="in" filter="barn(outVertical)">
                                          <p:cBhvr>
                                            <p:cTn id="90" dur="500"/>
                                            <p:tgtEl>
                                              <p:spTgt spid="69"/>
                                            </p:tgtEl>
                                          </p:cBhvr>
                                        </p:animEffect>
                                      </p:childTnLst>
                                    </p:cTn>
                                  </p:par>
                                  <p:par>
                                    <p:cTn id="91" presetID="16" presetClass="entr" presetSubtype="37" fill="hold" nodeType="withEffect">
                                      <p:stCondLst>
                                        <p:cond delay="600"/>
                                      </p:stCondLst>
                                      <p:childTnLst>
                                        <p:set>
                                          <p:cBhvr>
                                            <p:cTn id="92" dur="1" fill="hold">
                                              <p:stCondLst>
                                                <p:cond delay="0"/>
                                              </p:stCondLst>
                                            </p:cTn>
                                            <p:tgtEl>
                                              <p:spTgt spid="71"/>
                                            </p:tgtEl>
                                            <p:attrNameLst>
                                              <p:attrName>style.visibility</p:attrName>
                                            </p:attrNameLst>
                                          </p:cBhvr>
                                          <p:to>
                                            <p:strVal val="visible"/>
                                          </p:to>
                                        </p:set>
                                        <p:animEffect transition="in" filter="barn(outVertical)">
                                          <p:cBhvr>
                                            <p:cTn id="93" dur="500"/>
                                            <p:tgtEl>
                                              <p:spTgt spid="71"/>
                                            </p:tgtEl>
                                          </p:cBhvr>
                                        </p:animEffect>
                                      </p:childTnLst>
                                    </p:cTn>
                                  </p:par>
                                  <p:par>
                                    <p:cTn id="94" presetID="16" presetClass="entr" presetSubtype="37" fill="hold" nodeType="withEffect">
                                      <p:stCondLst>
                                        <p:cond delay="600"/>
                                      </p:stCondLst>
                                      <p:childTnLst>
                                        <p:set>
                                          <p:cBhvr>
                                            <p:cTn id="95" dur="1" fill="hold">
                                              <p:stCondLst>
                                                <p:cond delay="0"/>
                                              </p:stCondLst>
                                            </p:cTn>
                                            <p:tgtEl>
                                              <p:spTgt spid="73"/>
                                            </p:tgtEl>
                                            <p:attrNameLst>
                                              <p:attrName>style.visibility</p:attrName>
                                            </p:attrNameLst>
                                          </p:cBhvr>
                                          <p:to>
                                            <p:strVal val="visible"/>
                                          </p:to>
                                        </p:set>
                                        <p:animEffect transition="in" filter="barn(outVertical)">
                                          <p:cBhvr>
                                            <p:cTn id="96" dur="500"/>
                                            <p:tgtEl>
                                              <p:spTgt spid="73"/>
                                            </p:tgtEl>
                                          </p:cBhvr>
                                        </p:animEffect>
                                      </p:childTnLst>
                                    </p:cTn>
                                  </p:par>
                                  <p:par>
                                    <p:cTn id="97" presetID="10" presetClass="entr" presetSubtype="0" fill="hold" grpId="0" nodeType="withEffect">
                                      <p:stCondLst>
                                        <p:cond delay="600"/>
                                      </p:stCondLst>
                                      <p:childTnLst>
                                        <p:set>
                                          <p:cBhvr>
                                            <p:cTn id="98" dur="1" fill="hold">
                                              <p:stCondLst>
                                                <p:cond delay="0"/>
                                              </p:stCondLst>
                                            </p:cTn>
                                            <p:tgtEl>
                                              <p:spTgt spid="61"/>
                                            </p:tgtEl>
                                            <p:attrNameLst>
                                              <p:attrName>style.visibility</p:attrName>
                                            </p:attrNameLst>
                                          </p:cBhvr>
                                          <p:to>
                                            <p:strVal val="visible"/>
                                          </p:to>
                                        </p:set>
                                        <p:animEffect transition="in" filter="fade">
                                          <p:cBhvr>
                                            <p:cTn id="99" dur="500"/>
                                            <p:tgtEl>
                                              <p:spTgt spid="61"/>
                                            </p:tgtEl>
                                          </p:cBhvr>
                                        </p:animEffect>
                                      </p:childTnLst>
                                    </p:cTn>
                                  </p:par>
                                  <p:par>
                                    <p:cTn id="100" presetID="42" presetClass="path" presetSubtype="0" decel="100000" fill="hold" grpId="1" nodeType="withEffect">
                                      <p:stCondLst>
                                        <p:cond delay="600"/>
                                      </p:stCondLst>
                                      <p:childTnLst>
                                        <p:animMotion origin="layout" path="M 1.875E-6 1.48148E-6 L 1.875E-6 0.04421 " pathEditMode="relative" rAng="0" ptsTypes="AA">
                                          <p:cBhvr>
                                            <p:cTn id="101" dur="750" spd="-100000" fill="hold"/>
                                            <p:tgtEl>
                                              <p:spTgt spid="61"/>
                                            </p:tgtEl>
                                            <p:attrNameLst>
                                              <p:attrName>ppt_x</p:attrName>
                                              <p:attrName>ppt_y</p:attrName>
                                            </p:attrNameLst>
                                          </p:cBhvr>
                                          <p:rCtr x="0" y="2199"/>
                                        </p:animMotion>
                                      </p:childTnLst>
                                    </p:cTn>
                                  </p:par>
                                  <p:par>
                                    <p:cTn id="102" presetID="10" presetClass="entr" presetSubtype="0" fill="hold" grpId="0" nodeType="withEffect">
                                      <p:stCondLst>
                                        <p:cond delay="600"/>
                                      </p:stCondLst>
                                      <p:childTnLst>
                                        <p:set>
                                          <p:cBhvr>
                                            <p:cTn id="103" dur="1" fill="hold">
                                              <p:stCondLst>
                                                <p:cond delay="0"/>
                                              </p:stCondLst>
                                            </p:cTn>
                                            <p:tgtEl>
                                              <p:spTgt spid="62"/>
                                            </p:tgtEl>
                                            <p:attrNameLst>
                                              <p:attrName>style.visibility</p:attrName>
                                            </p:attrNameLst>
                                          </p:cBhvr>
                                          <p:to>
                                            <p:strVal val="visible"/>
                                          </p:to>
                                        </p:set>
                                        <p:animEffect transition="in" filter="fade">
                                          <p:cBhvr>
                                            <p:cTn id="104" dur="500"/>
                                            <p:tgtEl>
                                              <p:spTgt spid="62"/>
                                            </p:tgtEl>
                                          </p:cBhvr>
                                        </p:animEffect>
                                      </p:childTnLst>
                                    </p:cTn>
                                  </p:par>
                                  <p:par>
                                    <p:cTn id="105" presetID="42" presetClass="path" presetSubtype="0" decel="100000" fill="hold" grpId="1" nodeType="withEffect">
                                      <p:stCondLst>
                                        <p:cond delay="600"/>
                                      </p:stCondLst>
                                      <p:childTnLst>
                                        <p:animMotion origin="layout" path="M -3.95833E-6 4.44444E-6 L -3.95833E-6 0.04421 " pathEditMode="relative" rAng="0" ptsTypes="AA">
                                          <p:cBhvr>
                                            <p:cTn id="106" dur="750" spd="-100000" fill="hold"/>
                                            <p:tgtEl>
                                              <p:spTgt spid="62"/>
                                            </p:tgtEl>
                                            <p:attrNameLst>
                                              <p:attrName>ppt_x</p:attrName>
                                              <p:attrName>ppt_y</p:attrName>
                                            </p:attrNameLst>
                                          </p:cBhvr>
                                          <p:rCtr x="0" y="2199"/>
                                        </p:animMotion>
                                      </p:childTnLst>
                                    </p:cTn>
                                  </p:par>
                                  <p:par>
                                    <p:cTn id="107" presetID="10" presetClass="entr" presetSubtype="0" fill="hold" grpId="0" nodeType="withEffect">
                                      <p:stCondLst>
                                        <p:cond delay="600"/>
                                      </p:stCondLst>
                                      <p:childTnLst>
                                        <p:set>
                                          <p:cBhvr>
                                            <p:cTn id="108" dur="1" fill="hold">
                                              <p:stCondLst>
                                                <p:cond delay="0"/>
                                              </p:stCondLst>
                                            </p:cTn>
                                            <p:tgtEl>
                                              <p:spTgt spid="63"/>
                                            </p:tgtEl>
                                            <p:attrNameLst>
                                              <p:attrName>style.visibility</p:attrName>
                                            </p:attrNameLst>
                                          </p:cBhvr>
                                          <p:to>
                                            <p:strVal val="visible"/>
                                          </p:to>
                                        </p:set>
                                        <p:animEffect transition="in" filter="fade">
                                          <p:cBhvr>
                                            <p:cTn id="109" dur="500"/>
                                            <p:tgtEl>
                                              <p:spTgt spid="63"/>
                                            </p:tgtEl>
                                          </p:cBhvr>
                                        </p:animEffect>
                                      </p:childTnLst>
                                    </p:cTn>
                                  </p:par>
                                  <p:par>
                                    <p:cTn id="110" presetID="42" presetClass="path" presetSubtype="0" decel="100000" fill="hold" grpId="1" nodeType="withEffect">
                                      <p:stCondLst>
                                        <p:cond delay="600"/>
                                      </p:stCondLst>
                                      <p:childTnLst>
                                        <p:animMotion origin="layout" path="M -2.70833E-6 4.44444E-6 L -2.70833E-6 0.04421 " pathEditMode="relative" rAng="0" ptsTypes="AA">
                                          <p:cBhvr>
                                            <p:cTn id="111" dur="750" spd="-100000" fill="hold"/>
                                            <p:tgtEl>
                                              <p:spTgt spid="63"/>
                                            </p:tgtEl>
                                            <p:attrNameLst>
                                              <p:attrName>ppt_x</p:attrName>
                                              <p:attrName>ppt_y</p:attrName>
                                            </p:attrNameLst>
                                          </p:cBhvr>
                                          <p:rCtr x="0" y="2199"/>
                                        </p:animMotion>
                                      </p:childTnLst>
                                    </p:cTn>
                                  </p:par>
                                  <p:par>
                                    <p:cTn id="112" presetID="10" presetClass="entr" presetSubtype="0" fill="hold" grpId="0" nodeType="withEffect">
                                      <p:stCondLst>
                                        <p:cond delay="600"/>
                                      </p:stCondLst>
                                      <p:childTnLst>
                                        <p:set>
                                          <p:cBhvr>
                                            <p:cTn id="113" dur="1" fill="hold">
                                              <p:stCondLst>
                                                <p:cond delay="0"/>
                                              </p:stCondLst>
                                            </p:cTn>
                                            <p:tgtEl>
                                              <p:spTgt spid="64"/>
                                            </p:tgtEl>
                                            <p:attrNameLst>
                                              <p:attrName>style.visibility</p:attrName>
                                            </p:attrNameLst>
                                          </p:cBhvr>
                                          <p:to>
                                            <p:strVal val="visible"/>
                                          </p:to>
                                        </p:set>
                                        <p:animEffect transition="in" filter="fade">
                                          <p:cBhvr>
                                            <p:cTn id="114" dur="500"/>
                                            <p:tgtEl>
                                              <p:spTgt spid="64"/>
                                            </p:tgtEl>
                                          </p:cBhvr>
                                        </p:animEffect>
                                      </p:childTnLst>
                                    </p:cTn>
                                  </p:par>
                                  <p:par>
                                    <p:cTn id="115" presetID="42" presetClass="path" presetSubtype="0" decel="100000" fill="hold" grpId="1" nodeType="withEffect">
                                      <p:stCondLst>
                                        <p:cond delay="600"/>
                                      </p:stCondLst>
                                      <p:childTnLst>
                                        <p:animMotion origin="layout" path="M -4.16667E-7 4.44444E-6 L -4.16667E-7 0.04421 " pathEditMode="relative" rAng="0" ptsTypes="AA">
                                          <p:cBhvr>
                                            <p:cTn id="116" dur="750" spd="-100000" fill="hold"/>
                                            <p:tgtEl>
                                              <p:spTgt spid="64"/>
                                            </p:tgtEl>
                                            <p:attrNameLst>
                                              <p:attrName>ppt_x</p:attrName>
                                              <p:attrName>ppt_y</p:attrName>
                                            </p:attrNameLst>
                                          </p:cBhvr>
                                          <p:rCtr x="0" y="2199"/>
                                        </p:animMotion>
                                      </p:childTnLst>
                                    </p:cTn>
                                  </p:par>
                                  <p:par>
                                    <p:cTn id="117" presetID="22" presetClass="entr" presetSubtype="8" fill="hold" nodeType="withEffect">
                                      <p:stCondLst>
                                        <p:cond delay="600"/>
                                      </p:stCondLst>
                                      <p:childTnLst>
                                        <p:set>
                                          <p:cBhvr>
                                            <p:cTn id="118" dur="1" fill="hold">
                                              <p:stCondLst>
                                                <p:cond delay="0"/>
                                              </p:stCondLst>
                                            </p:cTn>
                                            <p:tgtEl>
                                              <p:spTgt spid="209"/>
                                            </p:tgtEl>
                                            <p:attrNameLst>
                                              <p:attrName>style.visibility</p:attrName>
                                            </p:attrNameLst>
                                          </p:cBhvr>
                                          <p:to>
                                            <p:strVal val="visible"/>
                                          </p:to>
                                        </p:set>
                                        <p:animEffect transition="in" filter="wipe(left)">
                                          <p:cBhvr>
                                            <p:cTn id="119" dur="750"/>
                                            <p:tgtEl>
                                              <p:spTgt spid="209"/>
                                            </p:tgtEl>
                                          </p:cBhvr>
                                        </p:animEffect>
                                      </p:childTnLst>
                                    </p:cTn>
                                  </p:par>
                                  <p:par>
                                    <p:cTn id="120" presetID="10" presetClass="entr" presetSubtype="0" fill="hold" grpId="0" nodeType="withEffect">
                                      <p:stCondLst>
                                        <p:cond delay="1250"/>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500"/>
                                            <p:tgtEl>
                                              <p:spTgt spid="27"/>
                                            </p:tgtEl>
                                          </p:cBhvr>
                                        </p:animEffect>
                                      </p:childTnLst>
                                    </p:cTn>
                                  </p:par>
                                  <p:par>
                                    <p:cTn id="123" presetID="63" presetClass="path" presetSubtype="0" decel="100000" fill="hold" grpId="1" nodeType="withEffect">
                                      <p:stCondLst>
                                        <p:cond delay="1250"/>
                                      </p:stCondLst>
                                      <p:childTnLst>
                                        <p:animMotion origin="layout" path="M -3.75E-6 -3.33333E-6 L -0.05599 -3.33333E-6 " pathEditMode="relative" rAng="0" ptsTypes="AA">
                                          <p:cBhvr>
                                            <p:cTn id="124" dur="750" spd="-100000" fill="hold"/>
                                            <p:tgtEl>
                                              <p:spTgt spid="27"/>
                                            </p:tgtEl>
                                            <p:attrNameLst>
                                              <p:attrName>ppt_x</p:attrName>
                                              <p:attrName>ppt_y</p:attrName>
                                            </p:attrNameLst>
                                          </p:cBhvr>
                                          <p:rCtr x="-279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1" grpId="1"/>
          <p:bldP spid="62" grpId="0"/>
          <p:bldP spid="62" grpId="1"/>
          <p:bldP spid="63" grpId="0"/>
          <p:bldP spid="63" grpId="1"/>
          <p:bldP spid="64" grpId="0"/>
          <p:bldP spid="64" grpId="1"/>
          <p:bldP spid="2" grpId="0" animBg="1"/>
          <p:bldP spid="26" grpId="0"/>
          <p:bldP spid="26" grpId="1"/>
          <p:bldP spid="27" grpId="0"/>
          <p:bldP spid="27" grpId="1"/>
          <p:bldP spid="77" grpId="0"/>
          <p:bldP spid="25" grpId="0"/>
        </p:bldLst>
      </p:timing>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Rounded Corners 64">
            <a:extLst>
              <a:ext uri="{FF2B5EF4-FFF2-40B4-BE49-F238E27FC236}">
                <a16:creationId xmlns:a16="http://schemas.microsoft.com/office/drawing/2014/main" id="{E566C728-A3F9-4898-B0EF-D580175F2D25}"/>
              </a:ext>
            </a:extLst>
          </p:cNvPr>
          <p:cNvSpPr/>
          <p:nvPr/>
        </p:nvSpPr>
        <p:spPr>
          <a:xfrm>
            <a:off x="571674" y="2424751"/>
            <a:ext cx="5524326" cy="901908"/>
          </a:xfrm>
          <a:prstGeom prst="roundRect">
            <a:avLst>
              <a:gd name="adj" fmla="val 50000"/>
            </a:avLst>
          </a:prstGeom>
          <a:solidFill>
            <a:srgbClr val="0048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0B194DFA-D81F-45C6-98D0-615747557E57}"/>
              </a:ext>
            </a:extLst>
          </p:cNvPr>
          <p:cNvSpPr/>
          <p:nvPr/>
        </p:nvSpPr>
        <p:spPr>
          <a:xfrm>
            <a:off x="0" y="3806240"/>
            <a:ext cx="12192000" cy="30517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Shape, circle&#10;&#10;Description automatically generated">
            <a:extLst>
              <a:ext uri="{FF2B5EF4-FFF2-40B4-BE49-F238E27FC236}">
                <a16:creationId xmlns:a16="http://schemas.microsoft.com/office/drawing/2014/main" id="{901A647B-49D3-416C-8A1B-A1F8DA6053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0520" y="283"/>
            <a:ext cx="5711480" cy="6857433"/>
          </a:xfrm>
          <a:prstGeom prst="rect">
            <a:avLst/>
          </a:prstGeom>
        </p:spPr>
      </p:pic>
      <p:sp>
        <p:nvSpPr>
          <p:cNvPr id="40" name="TextBox 39">
            <a:extLst>
              <a:ext uri="{FF2B5EF4-FFF2-40B4-BE49-F238E27FC236}">
                <a16:creationId xmlns:a16="http://schemas.microsoft.com/office/drawing/2014/main" id="{ECDE9CE6-BFDA-4CD5-949E-81DBF85B2D35}"/>
              </a:ext>
            </a:extLst>
          </p:cNvPr>
          <p:cNvSpPr txBox="1"/>
          <p:nvPr/>
        </p:nvSpPr>
        <p:spPr>
          <a:xfrm>
            <a:off x="602530" y="669542"/>
            <a:ext cx="5662548" cy="877163"/>
          </a:xfrm>
          <a:prstGeom prst="rect">
            <a:avLst/>
          </a:prstGeom>
          <a:noFill/>
        </p:spPr>
        <p:txBody>
          <a:bodyPr wrap="square" rtlCol="0">
            <a:spAutoFit/>
          </a:bodyPr>
          <a:lstStyle/>
          <a:p>
            <a:pPr lvl="0">
              <a:lnSpc>
                <a:spcPct val="85000"/>
              </a:lnSpc>
              <a:defRPr/>
            </a:pPr>
            <a:r>
              <a:rPr lang="pt-PT" sz="6000" b="1" spc="300" noProof="0" dirty="0">
                <a:solidFill>
                  <a:srgbClr val="022A79"/>
                </a:solidFill>
                <a:latin typeface="Trebuchet MS" panose="020B0603020202020204" pitchFamily="34" charset="0"/>
                <a:ea typeface="Verdana" panose="020B0604030504040204" pitchFamily="34" charset="0"/>
                <a:cs typeface="Zilla Slab Light"/>
                <a:sym typeface="Zilla Slab Light"/>
              </a:rPr>
              <a:t>TRATAMIENTO</a:t>
            </a:r>
            <a:endParaRPr kumimoji="0" lang="en-US" sz="6000" b="1" i="0" u="none" strike="noStrike" kern="1200" cap="none" spc="300" normalizeH="0" baseline="0" noProof="0" dirty="0">
              <a:ln>
                <a:noFill/>
              </a:ln>
              <a:solidFill>
                <a:srgbClr val="022A79"/>
              </a:solidFill>
              <a:uLnTx/>
              <a:uFillTx/>
              <a:latin typeface="Trebuchet MS" panose="020B0603020202020204" pitchFamily="34" charset="0"/>
              <a:ea typeface="Verdana" panose="020B0604030504040204" pitchFamily="34" charset="0"/>
              <a:cs typeface="Zilla Slab Light"/>
              <a:sym typeface="Zilla Slab Light"/>
            </a:endParaRPr>
          </a:p>
        </p:txBody>
      </p:sp>
      <p:sp>
        <p:nvSpPr>
          <p:cNvPr id="47" name="TextBox 46">
            <a:extLst>
              <a:ext uri="{FF2B5EF4-FFF2-40B4-BE49-F238E27FC236}">
                <a16:creationId xmlns:a16="http://schemas.microsoft.com/office/drawing/2014/main" id="{6F41B4C5-21BC-467A-922D-CBAA3402539F}"/>
              </a:ext>
            </a:extLst>
          </p:cNvPr>
          <p:cNvSpPr txBox="1"/>
          <p:nvPr/>
        </p:nvSpPr>
        <p:spPr>
          <a:xfrm>
            <a:off x="1722794" y="2659492"/>
            <a:ext cx="3222086" cy="432426"/>
          </a:xfrm>
          <a:prstGeom prst="rect">
            <a:avLst/>
          </a:prstGeom>
          <a:noFill/>
        </p:spPr>
        <p:txBody>
          <a:bodyPr wrap="square" rtlCol="0">
            <a:spAutoFit/>
          </a:bodyPr>
          <a:lstStyle/>
          <a:p>
            <a:pPr lvl="0">
              <a:lnSpc>
                <a:spcPct val="85000"/>
              </a:lnSpc>
              <a:defRPr/>
            </a:pPr>
            <a:r>
              <a:rPr lang="es-ES" sz="2600" b="1" dirty="0">
                <a:solidFill>
                  <a:schemeClr val="bg1"/>
                </a:solidFill>
                <a:latin typeface="Trebuchet MS" panose="020B0603020202020204" pitchFamily="34" charset="0"/>
                <a:ea typeface="Verdana" panose="020B0604030504040204" pitchFamily="34" charset="0"/>
                <a:cs typeface="Zilla Slab Light"/>
                <a:sym typeface="Zilla Slab Light"/>
              </a:rPr>
              <a:t>No farmacológico.</a:t>
            </a:r>
          </a:p>
        </p:txBody>
      </p:sp>
      <p:grpSp>
        <p:nvGrpSpPr>
          <p:cNvPr id="20" name="Group 19">
            <a:extLst>
              <a:ext uri="{FF2B5EF4-FFF2-40B4-BE49-F238E27FC236}">
                <a16:creationId xmlns:a16="http://schemas.microsoft.com/office/drawing/2014/main" id="{368F465E-1B83-4DD9-8BB4-70EAAE58BD99}"/>
              </a:ext>
            </a:extLst>
          </p:cNvPr>
          <p:cNvGrpSpPr/>
          <p:nvPr/>
        </p:nvGrpSpPr>
        <p:grpSpPr>
          <a:xfrm>
            <a:off x="252552" y="6342796"/>
            <a:ext cx="11686895" cy="398170"/>
            <a:chOff x="252552" y="6226684"/>
            <a:chExt cx="11686895" cy="398170"/>
          </a:xfrm>
        </p:grpSpPr>
        <p:grpSp>
          <p:nvGrpSpPr>
            <p:cNvPr id="37" name="Group 36">
              <a:extLst>
                <a:ext uri="{FF2B5EF4-FFF2-40B4-BE49-F238E27FC236}">
                  <a16:creationId xmlns:a16="http://schemas.microsoft.com/office/drawing/2014/main" id="{0BE31391-F1DC-411A-87D1-5112B9F266CA}"/>
                </a:ext>
              </a:extLst>
            </p:cNvPr>
            <p:cNvGrpSpPr/>
            <p:nvPr/>
          </p:nvGrpSpPr>
          <p:grpSpPr>
            <a:xfrm>
              <a:off x="252552" y="6293241"/>
              <a:ext cx="1266906" cy="265056"/>
              <a:chOff x="5600700" y="-854146"/>
              <a:chExt cx="989647" cy="207049"/>
            </a:xfrm>
          </p:grpSpPr>
          <p:sp>
            <p:nvSpPr>
              <p:cNvPr id="41" name="Freeform: Shape 40">
                <a:extLst>
                  <a:ext uri="{FF2B5EF4-FFF2-40B4-BE49-F238E27FC236}">
                    <a16:creationId xmlns:a16="http://schemas.microsoft.com/office/drawing/2014/main" id="{13F13A9E-8B05-4590-A769-7FB4E7D04AA7}"/>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C0B628-3DD6-4944-9D84-B56861B58EF6}"/>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017A177-EC27-403B-8372-86A3DBE3082E}"/>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E32EB9E-2686-4B42-9E63-9A43DDA63D58}"/>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2470303-A478-48C3-AD44-38AA76CC623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A6D117B-673B-41A6-9291-A0BBD1557E39}"/>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04C809F-31FC-48B3-A817-B6F57FFB20E1}"/>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5F7B8F6-61CC-412C-AEFF-BE182B64F64B}"/>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AC0821E-80AD-4AC4-8876-F78F55B9F41B}"/>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2541" y="6226684"/>
              <a:ext cx="1266906" cy="398170"/>
            </a:xfrm>
            <a:prstGeom prst="rect">
              <a:avLst/>
            </a:prstGeom>
          </p:spPr>
        </p:pic>
      </p:grpSp>
      <p:sp>
        <p:nvSpPr>
          <p:cNvPr id="68" name="Rectangle: Rounded Corners 67">
            <a:extLst>
              <a:ext uri="{FF2B5EF4-FFF2-40B4-BE49-F238E27FC236}">
                <a16:creationId xmlns:a16="http://schemas.microsoft.com/office/drawing/2014/main" id="{B975478B-4232-4641-99C9-C655C643DBA5}"/>
              </a:ext>
            </a:extLst>
          </p:cNvPr>
          <p:cNvSpPr/>
          <p:nvPr/>
        </p:nvSpPr>
        <p:spPr>
          <a:xfrm>
            <a:off x="478097" y="4541429"/>
            <a:ext cx="5524326" cy="901908"/>
          </a:xfrm>
          <a:prstGeom prst="roundRect">
            <a:avLst>
              <a:gd name="adj" fmla="val 50000"/>
            </a:avLst>
          </a:prstGeom>
          <a:solidFill>
            <a:srgbClr val="6C8C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TextBox 68">
            <a:extLst>
              <a:ext uri="{FF2B5EF4-FFF2-40B4-BE49-F238E27FC236}">
                <a16:creationId xmlns:a16="http://schemas.microsoft.com/office/drawing/2014/main" id="{04396BD6-23CE-40CB-A245-E85C0C97A841}"/>
              </a:ext>
            </a:extLst>
          </p:cNvPr>
          <p:cNvSpPr txBox="1"/>
          <p:nvPr/>
        </p:nvSpPr>
        <p:spPr>
          <a:xfrm>
            <a:off x="1629217" y="4776170"/>
            <a:ext cx="3222086" cy="432426"/>
          </a:xfrm>
          <a:prstGeom prst="rect">
            <a:avLst/>
          </a:prstGeom>
          <a:noFill/>
        </p:spPr>
        <p:txBody>
          <a:bodyPr wrap="square" rtlCol="0">
            <a:spAutoFit/>
          </a:bodyPr>
          <a:lstStyle/>
          <a:p>
            <a:pPr lvl="0">
              <a:lnSpc>
                <a:spcPct val="85000"/>
              </a:lnSpc>
              <a:defRPr/>
            </a:pPr>
            <a:r>
              <a:rPr lang="es-ES" sz="2600" b="1" dirty="0">
                <a:solidFill>
                  <a:schemeClr val="bg1"/>
                </a:solidFill>
                <a:latin typeface="Trebuchet MS" panose="020B0603020202020204" pitchFamily="34" charset="0"/>
                <a:ea typeface="Verdana" panose="020B0604030504040204" pitchFamily="34" charset="0"/>
                <a:cs typeface="Zilla Slab Light"/>
                <a:sym typeface="Zilla Slab Light"/>
              </a:rPr>
              <a:t>Farmacológico.</a:t>
            </a:r>
          </a:p>
        </p:txBody>
      </p:sp>
    </p:spTree>
    <p:extLst>
      <p:ext uri="{BB962C8B-B14F-4D97-AF65-F5344CB8AC3E}">
        <p14:creationId xmlns:p14="http://schemas.microsoft.com/office/powerpoint/2010/main" val="461223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63" presetClass="path" presetSubtype="0" decel="100000" fill="hold" grpId="1" nodeType="withEffect">
                                  <p:stCondLst>
                                    <p:cond delay="0"/>
                                  </p:stCondLst>
                                  <p:childTnLst>
                                    <p:animMotion origin="layout" path="M 1.25E-6 -4.07407E-6 L -0.05599 -4.07407E-6 " pathEditMode="relative" rAng="0" ptsTypes="AA">
                                      <p:cBhvr>
                                        <p:cTn id="9" dur="750" spd="-100000" fill="hold"/>
                                        <p:tgtEl>
                                          <p:spTgt spid="40"/>
                                        </p:tgtEl>
                                        <p:attrNameLst>
                                          <p:attrName>ppt_x</p:attrName>
                                          <p:attrName>ppt_y</p:attrName>
                                        </p:attrNameLst>
                                      </p:cBhvr>
                                      <p:rCtr x="-2799" y="0"/>
                                    </p:animMotion>
                                  </p:childTnLst>
                                </p:cTn>
                              </p:par>
                              <p:par>
                                <p:cTn id="10" presetID="2" presetClass="entr" presetSubtype="2" decel="10000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750" fill="hold"/>
                                        <p:tgtEl>
                                          <p:spTgt spid="9"/>
                                        </p:tgtEl>
                                        <p:attrNameLst>
                                          <p:attrName>ppt_x</p:attrName>
                                        </p:attrNameLst>
                                      </p:cBhvr>
                                      <p:tavLst>
                                        <p:tav tm="0">
                                          <p:val>
                                            <p:strVal val="1+#ppt_w/2"/>
                                          </p:val>
                                        </p:tav>
                                        <p:tav tm="100000">
                                          <p:val>
                                            <p:strVal val="#ppt_x"/>
                                          </p:val>
                                        </p:tav>
                                      </p:tavLst>
                                    </p:anim>
                                    <p:anim calcmode="lin" valueType="num">
                                      <p:cBhvr additive="base">
                                        <p:cTn id="13" dur="750" fill="hold"/>
                                        <p:tgtEl>
                                          <p:spTgt spid="9"/>
                                        </p:tgtEl>
                                        <p:attrNameLst>
                                          <p:attrName>ppt_y</p:attrName>
                                        </p:attrNameLst>
                                      </p:cBhvr>
                                      <p:tavLst>
                                        <p:tav tm="0">
                                          <p:val>
                                            <p:strVal val="#ppt_y"/>
                                          </p:val>
                                        </p:tav>
                                        <p:tav tm="100000">
                                          <p:val>
                                            <p:strVal val="#ppt_y"/>
                                          </p:val>
                                        </p:tav>
                                      </p:tavLst>
                                    </p:anim>
                                  </p:childTnLst>
                                </p:cTn>
                              </p:par>
                              <p:par>
                                <p:cTn id="14" presetID="2" presetClass="entr" presetSubtype="8" decel="10000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750" fill="hold"/>
                                        <p:tgtEl>
                                          <p:spTgt spid="6"/>
                                        </p:tgtEl>
                                        <p:attrNameLst>
                                          <p:attrName>ppt_x</p:attrName>
                                        </p:attrNameLst>
                                      </p:cBhvr>
                                      <p:tavLst>
                                        <p:tav tm="0">
                                          <p:val>
                                            <p:strVal val="0-#ppt_w/2"/>
                                          </p:val>
                                        </p:tav>
                                        <p:tav tm="100000">
                                          <p:val>
                                            <p:strVal val="#ppt_x"/>
                                          </p:val>
                                        </p:tav>
                                      </p:tavLst>
                                    </p:anim>
                                    <p:anim calcmode="lin" valueType="num">
                                      <p:cBhvr additive="base">
                                        <p:cTn id="17" dur="75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0" grpId="0"/>
      <p:bldP spid="40"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Isosceles Triangle 185">
            <a:extLst>
              <a:ext uri="{FF2B5EF4-FFF2-40B4-BE49-F238E27FC236}">
                <a16:creationId xmlns:a16="http://schemas.microsoft.com/office/drawing/2014/main" id="{B5365443-2AB0-4F9F-A251-4CFD23D10F11}"/>
              </a:ext>
            </a:extLst>
          </p:cNvPr>
          <p:cNvSpPr/>
          <p:nvPr/>
        </p:nvSpPr>
        <p:spPr>
          <a:xfrm rot="5400000">
            <a:off x="4186653" y="411907"/>
            <a:ext cx="303579" cy="138833"/>
          </a:xfrm>
          <a:prstGeom prst="triangle">
            <a:avLst/>
          </a:prstGeom>
          <a:solidFill>
            <a:srgbClr val="0077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B194DFA-D81F-45C6-98D0-615747557E57}"/>
              </a:ext>
            </a:extLst>
          </p:cNvPr>
          <p:cNvSpPr/>
          <p:nvPr/>
        </p:nvSpPr>
        <p:spPr>
          <a:xfrm>
            <a:off x="0" y="3814949"/>
            <a:ext cx="12192000" cy="30517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0" name="Picture 169" descr="Shape, circle&#10;&#10;Description automatically generated">
            <a:extLst>
              <a:ext uri="{FF2B5EF4-FFF2-40B4-BE49-F238E27FC236}">
                <a16:creationId xmlns:a16="http://schemas.microsoft.com/office/drawing/2014/main" id="{EEB2B992-2400-4EEE-A3C6-C52D633A15B2}"/>
              </a:ext>
            </a:extLst>
          </p:cNvPr>
          <p:cNvPicPr>
            <a:picLocks noChangeAspect="1"/>
          </p:cNvPicPr>
          <p:nvPr/>
        </p:nvPicPr>
        <p:blipFill rotWithShape="1">
          <a:blip r:embed="rId2">
            <a:extLst>
              <a:ext uri="{28A0092B-C50C-407E-A947-70E740481C1C}">
                <a14:useLocalDpi xmlns:a14="http://schemas.microsoft.com/office/drawing/2010/main" val="0"/>
              </a:ext>
            </a:extLst>
          </a:blip>
          <a:srcRect r="64988"/>
          <a:stretch/>
        </p:blipFill>
        <p:spPr>
          <a:xfrm>
            <a:off x="0" y="0"/>
            <a:ext cx="4268596" cy="6858000"/>
          </a:xfrm>
          <a:prstGeom prst="rect">
            <a:avLst/>
          </a:prstGeom>
        </p:spPr>
      </p:pic>
      <p:grpSp>
        <p:nvGrpSpPr>
          <p:cNvPr id="182" name="Group 181">
            <a:extLst>
              <a:ext uri="{FF2B5EF4-FFF2-40B4-BE49-F238E27FC236}">
                <a16:creationId xmlns:a16="http://schemas.microsoft.com/office/drawing/2014/main" id="{77396E5F-348C-4338-B293-968BEA981FDB}"/>
              </a:ext>
            </a:extLst>
          </p:cNvPr>
          <p:cNvGrpSpPr/>
          <p:nvPr/>
        </p:nvGrpSpPr>
        <p:grpSpPr>
          <a:xfrm>
            <a:off x="252552" y="6342796"/>
            <a:ext cx="11686895" cy="398170"/>
            <a:chOff x="252552" y="6226684"/>
            <a:chExt cx="11686895" cy="398170"/>
          </a:xfrm>
        </p:grpSpPr>
        <p:grpSp>
          <p:nvGrpSpPr>
            <p:cNvPr id="172" name="Group 171">
              <a:extLst>
                <a:ext uri="{FF2B5EF4-FFF2-40B4-BE49-F238E27FC236}">
                  <a16:creationId xmlns:a16="http://schemas.microsoft.com/office/drawing/2014/main" id="{043DA00A-4155-4488-8261-DB136097B10C}"/>
                </a:ext>
              </a:extLst>
            </p:cNvPr>
            <p:cNvGrpSpPr/>
            <p:nvPr/>
          </p:nvGrpSpPr>
          <p:grpSpPr>
            <a:xfrm>
              <a:off x="252552" y="6293241"/>
              <a:ext cx="1266906" cy="265056"/>
              <a:chOff x="5600700" y="-854146"/>
              <a:chExt cx="989647" cy="207049"/>
            </a:xfrm>
          </p:grpSpPr>
          <p:sp>
            <p:nvSpPr>
              <p:cNvPr id="173" name="Freeform: Shape 172">
                <a:extLst>
                  <a:ext uri="{FF2B5EF4-FFF2-40B4-BE49-F238E27FC236}">
                    <a16:creationId xmlns:a16="http://schemas.microsoft.com/office/drawing/2014/main" id="{5529D942-D3DC-4AA5-A11E-2EAD767EE35D}"/>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0755DD92-DC0C-4053-A436-745AF0A70850}"/>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4518EE33-E21D-4E76-B041-14F423E26EAD}"/>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4C711A2-EC08-414B-B62D-F848E4E33BC2}"/>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7152FC00-E28E-4906-9909-07FB83382FA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5C0BFA11-C3DB-4246-9AA5-3EC58FE54C46}"/>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D22D6EE2-4EA8-4E7A-B8FF-7F9FE44552D8}"/>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BDBBAA55-241D-4C91-804F-8945A70DB132}"/>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BE44E2D9-A68F-4AE8-873F-8B818D81D3B6}"/>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2541" y="6226684"/>
              <a:ext cx="1266906" cy="398170"/>
            </a:xfrm>
            <a:prstGeom prst="rect">
              <a:avLst/>
            </a:prstGeom>
          </p:spPr>
        </p:pic>
      </p:grpSp>
      <p:grpSp>
        <p:nvGrpSpPr>
          <p:cNvPr id="37" name="Group 36">
            <a:extLst>
              <a:ext uri="{FF2B5EF4-FFF2-40B4-BE49-F238E27FC236}">
                <a16:creationId xmlns:a16="http://schemas.microsoft.com/office/drawing/2014/main" id="{0BE31391-F1DC-411A-87D1-5112B9F266CA}"/>
              </a:ext>
            </a:extLst>
          </p:cNvPr>
          <p:cNvGrpSpPr/>
          <p:nvPr/>
        </p:nvGrpSpPr>
        <p:grpSpPr>
          <a:xfrm>
            <a:off x="252552" y="6409353"/>
            <a:ext cx="1266906" cy="265056"/>
            <a:chOff x="5600700" y="-854146"/>
            <a:chExt cx="989647" cy="207049"/>
          </a:xfrm>
          <a:solidFill>
            <a:schemeClr val="bg1"/>
          </a:solidFill>
        </p:grpSpPr>
        <p:sp>
          <p:nvSpPr>
            <p:cNvPr id="41" name="Freeform: Shape 40">
              <a:extLst>
                <a:ext uri="{FF2B5EF4-FFF2-40B4-BE49-F238E27FC236}">
                  <a16:creationId xmlns:a16="http://schemas.microsoft.com/office/drawing/2014/main" id="{13F13A9E-8B05-4590-A769-7FB4E7D04AA7}"/>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C0B628-3DD6-4944-9D84-B56861B58EF6}"/>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017A177-EC27-403B-8372-86A3DBE3082E}"/>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E32EB9E-2686-4B42-9E63-9A43DDA63D58}"/>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2470303-A478-48C3-AD44-38AA76CC623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A6D117B-673B-41A6-9291-A0BBD1557E39}"/>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04C809F-31FC-48B3-A817-B6F57FFB20E1}"/>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5F7B8F6-61CC-412C-AEFF-BE182B64F64B}"/>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AC0821E-80AD-4AC4-8876-F78F55B9F41B}"/>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grpFill/>
            <a:ln w="9525" cap="flat">
              <a:noFill/>
              <a:prstDash val="solid"/>
              <a:miter/>
            </a:ln>
          </p:spPr>
          <p:txBody>
            <a:bodyPr rtlCol="0" anchor="ctr"/>
            <a:lstStyle/>
            <a:p>
              <a:endParaRPr lang="en-US"/>
            </a:p>
          </p:txBody>
        </p:sp>
      </p:grpSp>
      <p:sp>
        <p:nvSpPr>
          <p:cNvPr id="223" name="TextBox 222">
            <a:extLst>
              <a:ext uri="{FF2B5EF4-FFF2-40B4-BE49-F238E27FC236}">
                <a16:creationId xmlns:a16="http://schemas.microsoft.com/office/drawing/2014/main" id="{E70EEC19-B0E3-4765-98C9-E87C6C1182C7}"/>
              </a:ext>
            </a:extLst>
          </p:cNvPr>
          <p:cNvSpPr txBox="1"/>
          <p:nvPr/>
        </p:nvSpPr>
        <p:spPr>
          <a:xfrm>
            <a:off x="4683761" y="6455230"/>
            <a:ext cx="5591683" cy="210058"/>
          </a:xfrm>
          <a:prstGeom prst="rect">
            <a:avLst/>
          </a:prstGeom>
          <a:noFill/>
        </p:spPr>
        <p:txBody>
          <a:bodyPr wrap="square" rtlCol="0">
            <a:spAutoFit/>
          </a:bodyPr>
          <a:lstStyle/>
          <a:p>
            <a:pPr lvl="0">
              <a:lnSpc>
                <a:spcPct val="85000"/>
              </a:lnSpc>
              <a:defRPr/>
            </a:pPr>
            <a:r>
              <a:rPr lang="en-US" sz="900" dirty="0">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Harrison's Principles of Internal Medicine. Nueva </a:t>
            </a:r>
            <a:r>
              <a:rPr lang="en-US" sz="900" dirty="0" err="1">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York:McGraw-Hill</a:t>
            </a:r>
            <a:r>
              <a:rPr lang="en-US" sz="900" dirty="0">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 Health Professions Division, 1998</a:t>
            </a:r>
          </a:p>
        </p:txBody>
      </p:sp>
      <p:sp>
        <p:nvSpPr>
          <p:cNvPr id="68" name="Rectangle: Rounded Corners 67">
            <a:extLst>
              <a:ext uri="{FF2B5EF4-FFF2-40B4-BE49-F238E27FC236}">
                <a16:creationId xmlns:a16="http://schemas.microsoft.com/office/drawing/2014/main" id="{0AAA0EA0-31E5-4901-8EF8-8DBBBD4FC50F}"/>
              </a:ext>
            </a:extLst>
          </p:cNvPr>
          <p:cNvSpPr/>
          <p:nvPr/>
        </p:nvSpPr>
        <p:spPr>
          <a:xfrm>
            <a:off x="1805217" y="1561472"/>
            <a:ext cx="4500000" cy="4719749"/>
          </a:xfrm>
          <a:prstGeom prst="roundRect">
            <a:avLst>
              <a:gd name="adj" fmla="val 3782"/>
            </a:avLst>
          </a:prstGeom>
          <a:solidFill>
            <a:schemeClr val="bg1"/>
          </a:solidFill>
          <a:ln>
            <a:noFill/>
          </a:ln>
          <a:effectLst>
            <a:outerShdw blurRad="5969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Rounded Corners 68">
            <a:extLst>
              <a:ext uri="{FF2B5EF4-FFF2-40B4-BE49-F238E27FC236}">
                <a16:creationId xmlns:a16="http://schemas.microsoft.com/office/drawing/2014/main" id="{63A548B5-545C-407C-AE3A-F74B23DBBA91}"/>
              </a:ext>
            </a:extLst>
          </p:cNvPr>
          <p:cNvSpPr/>
          <p:nvPr/>
        </p:nvSpPr>
        <p:spPr>
          <a:xfrm>
            <a:off x="6583681" y="1561472"/>
            <a:ext cx="4511036" cy="4719749"/>
          </a:xfrm>
          <a:prstGeom prst="roundRect">
            <a:avLst>
              <a:gd name="adj" fmla="val 3782"/>
            </a:avLst>
          </a:prstGeom>
          <a:solidFill>
            <a:schemeClr val="bg1"/>
          </a:solidFill>
          <a:ln>
            <a:noFill/>
          </a:ln>
          <a:effectLst>
            <a:outerShdw blurRad="5969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a:extLst>
              <a:ext uri="{FF2B5EF4-FFF2-40B4-BE49-F238E27FC236}">
                <a16:creationId xmlns:a16="http://schemas.microsoft.com/office/drawing/2014/main" id="{0FAAFD43-F1E3-4480-B0DF-218462FA73CF}"/>
              </a:ext>
            </a:extLst>
          </p:cNvPr>
          <p:cNvSpPr txBox="1"/>
          <p:nvPr/>
        </p:nvSpPr>
        <p:spPr>
          <a:xfrm>
            <a:off x="2107474" y="2022146"/>
            <a:ext cx="4049486" cy="3651769"/>
          </a:xfrm>
          <a:prstGeom prst="rect">
            <a:avLst/>
          </a:prstGeom>
          <a:noFill/>
        </p:spPr>
        <p:txBody>
          <a:bodyPr wrap="square" rtlCol="0">
            <a:spAutoFit/>
          </a:bodyPr>
          <a:lstStyle/>
          <a:p>
            <a:r>
              <a:rPr lang="es-ES" sz="2400" b="1" dirty="0">
                <a:solidFill>
                  <a:srgbClr val="F13045"/>
                </a:solidFill>
                <a:latin typeface="Trebuchet MS" panose="020B0603020202020204" pitchFamily="34" charset="0"/>
                <a:ea typeface="Verdana" panose="020B0604030504040204" pitchFamily="34" charset="0"/>
              </a:rPr>
              <a:t>Terapia sintomática</a:t>
            </a:r>
          </a:p>
          <a:p>
            <a:endParaRPr lang="es-ES" sz="1600" dirty="0">
              <a:latin typeface="Trebuchet MS" panose="020B0603020202020204" pitchFamily="34" charset="0"/>
              <a:ea typeface="Verdana" panose="020B0604030504040204" pitchFamily="34" charset="0"/>
            </a:endParaRPr>
          </a:p>
          <a:p>
            <a:pPr marL="285750" indent="-285750">
              <a:buFont typeface="Wingdings" panose="05000000000000000000" pitchFamily="2" charset="2"/>
              <a:buChar char="ü"/>
            </a:pPr>
            <a:r>
              <a:rPr lang="es-ES" sz="1600" dirty="0" err="1">
                <a:latin typeface="Trebuchet MS" panose="020B0603020202020204" pitchFamily="34" charset="0"/>
                <a:ea typeface="Verdana" panose="020B0604030504040204" pitchFamily="34" charset="0"/>
              </a:rPr>
              <a:t>AINEs</a:t>
            </a:r>
            <a:r>
              <a:rPr lang="es-ES" sz="1600" dirty="0">
                <a:latin typeface="Trebuchet MS" panose="020B0603020202020204" pitchFamily="34" charset="0"/>
                <a:ea typeface="Verdana" panose="020B0604030504040204" pitchFamily="34" charset="0"/>
              </a:rPr>
              <a:t> (naproxeno, ibuprofeno): reducen la gravedad y la duración del ataque de migraña</a:t>
            </a:r>
          </a:p>
          <a:p>
            <a:pPr marL="285750" indent="-285750">
              <a:buFont typeface="Wingdings" panose="05000000000000000000" pitchFamily="2" charset="2"/>
              <a:buChar char="ü"/>
            </a:pPr>
            <a:endParaRPr lang="es-ES" sz="1600" dirty="0">
              <a:latin typeface="Trebuchet MS" panose="020B0603020202020204" pitchFamily="34" charset="0"/>
              <a:ea typeface="Verdana" panose="020B0604030504040204" pitchFamily="34" charset="0"/>
            </a:endParaRPr>
          </a:p>
          <a:p>
            <a:pPr marL="285750" indent="-285750">
              <a:buFont typeface="Wingdings" panose="05000000000000000000" pitchFamily="2" charset="2"/>
              <a:buChar char="ü"/>
            </a:pPr>
            <a:r>
              <a:rPr lang="es-ES" sz="1600" dirty="0">
                <a:latin typeface="Trebuchet MS" panose="020B0603020202020204" pitchFamily="34" charset="0"/>
                <a:ea typeface="Verdana" panose="020B0604030504040204" pitchFamily="34" charset="0"/>
              </a:rPr>
              <a:t>Analgésicos: Paracetamol (acetaminofén)</a:t>
            </a:r>
          </a:p>
          <a:p>
            <a:pPr marL="285750" indent="-285750">
              <a:buFont typeface="Wingdings" panose="05000000000000000000" pitchFamily="2" charset="2"/>
              <a:buChar char="ü"/>
            </a:pPr>
            <a:endParaRPr lang="es-ES" sz="1600" dirty="0">
              <a:latin typeface="Trebuchet MS" panose="020B0603020202020204" pitchFamily="34" charset="0"/>
              <a:ea typeface="Verdana" panose="020B0604030504040204" pitchFamily="34" charset="0"/>
            </a:endParaRPr>
          </a:p>
          <a:p>
            <a:pPr marL="285750" indent="-285750">
              <a:buFont typeface="Wingdings" panose="05000000000000000000" pitchFamily="2" charset="2"/>
              <a:buChar char="ü"/>
            </a:pPr>
            <a:r>
              <a:rPr lang="es-ES" sz="1600" dirty="0">
                <a:latin typeface="Trebuchet MS" panose="020B0603020202020204" pitchFamily="34" charset="0"/>
                <a:ea typeface="Verdana" panose="020B0604030504040204" pitchFamily="34" charset="0"/>
              </a:rPr>
              <a:t> Antagonistas de la dopamina (la absorción del fármaco se ve afectada durante la migraña debido a la reducción de la motilidad gástrica)</a:t>
            </a:r>
          </a:p>
          <a:p>
            <a:pPr lvl="0">
              <a:lnSpc>
                <a:spcPct val="85000"/>
              </a:lnSpc>
              <a:defRPr/>
            </a:pPr>
            <a:endParaRPr lang="es-ES" dirty="0">
              <a:latin typeface="Trebuchet MS" panose="020B0603020202020204" pitchFamily="34" charset="0"/>
              <a:ea typeface="Verdana" panose="020B0604030504040204" pitchFamily="34" charset="0"/>
              <a:cs typeface="Zilla Slab Light"/>
              <a:sym typeface="Zilla Slab Light"/>
            </a:endParaRPr>
          </a:p>
        </p:txBody>
      </p:sp>
      <p:sp>
        <p:nvSpPr>
          <p:cNvPr id="75" name="TextBox 74">
            <a:extLst>
              <a:ext uri="{FF2B5EF4-FFF2-40B4-BE49-F238E27FC236}">
                <a16:creationId xmlns:a16="http://schemas.microsoft.com/office/drawing/2014/main" id="{54288532-9AB4-4A71-ACC6-049CB7B966D4}"/>
              </a:ext>
            </a:extLst>
          </p:cNvPr>
          <p:cNvSpPr txBox="1"/>
          <p:nvPr/>
        </p:nvSpPr>
        <p:spPr>
          <a:xfrm>
            <a:off x="6973849" y="1921613"/>
            <a:ext cx="3947067" cy="3447098"/>
          </a:xfrm>
          <a:prstGeom prst="rect">
            <a:avLst/>
          </a:prstGeom>
          <a:noFill/>
        </p:spPr>
        <p:txBody>
          <a:bodyPr wrap="square" rtlCol="0">
            <a:spAutoFit/>
          </a:bodyPr>
          <a:lstStyle/>
          <a:p>
            <a:r>
              <a:rPr lang="es-ES" sz="2400" b="1" dirty="0">
                <a:solidFill>
                  <a:srgbClr val="022A79"/>
                </a:solidFill>
                <a:latin typeface="Trebuchet MS" panose="020B0603020202020204" pitchFamily="34" charset="0"/>
                <a:ea typeface="Verdana" panose="020B0604030504040204" pitchFamily="34" charset="0"/>
              </a:rPr>
              <a:t>Terapia específica</a:t>
            </a:r>
            <a:br>
              <a:rPr lang="es-ES" dirty="0">
                <a:latin typeface="Trebuchet MS" panose="020B0603020202020204" pitchFamily="34" charset="0"/>
                <a:ea typeface="Verdana" panose="020B0604030504040204" pitchFamily="34" charset="0"/>
              </a:rPr>
            </a:br>
            <a:endParaRPr lang="es-ES" dirty="0">
              <a:latin typeface="Trebuchet MS" panose="020B0603020202020204" pitchFamily="34" charset="0"/>
              <a:ea typeface="Verdana" panose="020B0604030504040204" pitchFamily="34" charset="0"/>
            </a:endParaRPr>
          </a:p>
          <a:p>
            <a:pPr marL="285750" indent="-285750">
              <a:buFont typeface="Wingdings" panose="05000000000000000000" pitchFamily="2" charset="2"/>
              <a:buChar char="ü"/>
            </a:pPr>
            <a:r>
              <a:rPr lang="es-ES" sz="1600" dirty="0">
                <a:latin typeface="Trebuchet MS" panose="020B0603020202020204" pitchFamily="34" charset="0"/>
                <a:ea typeface="Verdana" panose="020B0604030504040204" pitchFamily="34" charset="0"/>
              </a:rPr>
              <a:t>Agonistas 5-HT1 (ergotamina y </a:t>
            </a:r>
            <a:r>
              <a:rPr lang="es-ES" sz="1600" dirty="0" err="1">
                <a:latin typeface="Trebuchet MS" panose="020B0603020202020204" pitchFamily="34" charset="0"/>
                <a:ea typeface="Verdana" panose="020B0604030504040204" pitchFamily="34" charset="0"/>
              </a:rPr>
              <a:t>triptanes</a:t>
            </a:r>
            <a:r>
              <a:rPr lang="es-ES" sz="1600" dirty="0">
                <a:latin typeface="Trebuchet MS" panose="020B0603020202020204" pitchFamily="34" charset="0"/>
                <a:ea typeface="Verdana" panose="020B0604030504040204" pitchFamily="34" charset="0"/>
              </a:rPr>
              <a:t>)</a:t>
            </a:r>
            <a:br>
              <a:rPr lang="es-ES" sz="1600" dirty="0">
                <a:latin typeface="Trebuchet MS" panose="020B0603020202020204" pitchFamily="34" charset="0"/>
                <a:ea typeface="Verdana" panose="020B0604030504040204" pitchFamily="34" charset="0"/>
              </a:rPr>
            </a:br>
            <a:r>
              <a:rPr lang="es-ES" sz="1600" dirty="0">
                <a:latin typeface="Trebuchet MS" panose="020B0603020202020204" pitchFamily="34" charset="0"/>
                <a:ea typeface="Verdana" panose="020B0604030504040204" pitchFamily="34" charset="0"/>
              </a:rPr>
              <a:t>(Los pacientes tratados con ergotamina tienen una menor recurrencia de la cefalea que los pacientes tratados con </a:t>
            </a:r>
            <a:r>
              <a:rPr lang="es-ES" sz="1600" dirty="0" err="1">
                <a:latin typeface="Trebuchet MS" panose="020B0603020202020204" pitchFamily="34" charset="0"/>
                <a:ea typeface="Verdana" panose="020B0604030504040204" pitchFamily="34" charset="0"/>
              </a:rPr>
              <a:t>triptanos</a:t>
            </a:r>
            <a:r>
              <a:rPr lang="es-ES" sz="1600" dirty="0">
                <a:latin typeface="Trebuchet MS" panose="020B0603020202020204" pitchFamily="34" charset="0"/>
                <a:ea typeface="Verdana" panose="020B0604030504040204" pitchFamily="34" charset="0"/>
              </a:rPr>
              <a:t>, si bien parecen tener una incidencia mucho mayor de náuseas)</a:t>
            </a:r>
            <a:br>
              <a:rPr lang="es-ES" sz="1600" dirty="0">
                <a:latin typeface="Trebuchet MS" panose="020B0603020202020204" pitchFamily="34" charset="0"/>
                <a:ea typeface="Verdana" panose="020B0604030504040204" pitchFamily="34" charset="0"/>
              </a:rPr>
            </a:br>
            <a:endParaRPr lang="es-ES" sz="1600" dirty="0">
              <a:latin typeface="Trebuchet MS" panose="020B0603020202020204" pitchFamily="34" charset="0"/>
              <a:ea typeface="Verdana" panose="020B0604030504040204" pitchFamily="34" charset="0"/>
            </a:endParaRPr>
          </a:p>
          <a:p>
            <a:pPr marL="285750" indent="-285750">
              <a:buFont typeface="Wingdings" panose="05000000000000000000" pitchFamily="2" charset="2"/>
              <a:buChar char="ü"/>
            </a:pPr>
            <a:r>
              <a:rPr lang="es-ES" sz="1600" dirty="0">
                <a:latin typeface="Trebuchet MS" panose="020B0603020202020204" pitchFamily="34" charset="0"/>
                <a:ea typeface="Verdana" panose="020B0604030504040204" pitchFamily="34" charset="0"/>
              </a:rPr>
              <a:t>Asociaciones de varios principios activos (</a:t>
            </a:r>
            <a:r>
              <a:rPr lang="es-ES" sz="1600" dirty="0" err="1">
                <a:latin typeface="Trebuchet MS" panose="020B0603020202020204" pitchFamily="34" charset="0"/>
                <a:ea typeface="Verdana" panose="020B0604030504040204" pitchFamily="34" charset="0"/>
              </a:rPr>
              <a:t>e.g</a:t>
            </a:r>
            <a:r>
              <a:rPr lang="es-ES" sz="1600" dirty="0">
                <a:latin typeface="Trebuchet MS" panose="020B0603020202020204" pitchFamily="34" charset="0"/>
                <a:ea typeface="Verdana" panose="020B0604030504040204" pitchFamily="34" charset="0"/>
              </a:rPr>
              <a:t>. </a:t>
            </a:r>
            <a:r>
              <a:rPr lang="es-ES" sz="1600" dirty="0" err="1">
                <a:latin typeface="Trebuchet MS" panose="020B0603020202020204" pitchFamily="34" charset="0"/>
                <a:ea typeface="Verdana" panose="020B0604030504040204" pitchFamily="34" charset="0"/>
              </a:rPr>
              <a:t>Migrétil</a:t>
            </a:r>
            <a:r>
              <a:rPr lang="es-ES" sz="1600" dirty="0">
                <a:latin typeface="Trebuchet MS" panose="020B0603020202020204" pitchFamily="34" charset="0"/>
                <a:ea typeface="Verdana" panose="020B0604030504040204" pitchFamily="34" charset="0"/>
              </a:rPr>
              <a:t>)</a:t>
            </a:r>
            <a:endParaRPr lang="es-ES" sz="1600" dirty="0">
              <a:latin typeface="Trebuchet MS" panose="020B0603020202020204" pitchFamily="34" charset="0"/>
              <a:ea typeface="Verdana" panose="020B0604030504040204" pitchFamily="34" charset="0"/>
              <a:cs typeface="Zilla Slab Light"/>
              <a:sym typeface="Zilla Slab Light"/>
            </a:endParaRPr>
          </a:p>
        </p:txBody>
      </p:sp>
      <p:sp>
        <p:nvSpPr>
          <p:cNvPr id="87" name="TextBox 86">
            <a:extLst>
              <a:ext uri="{FF2B5EF4-FFF2-40B4-BE49-F238E27FC236}">
                <a16:creationId xmlns:a16="http://schemas.microsoft.com/office/drawing/2014/main" id="{6FFF2967-5491-47BB-9C91-BF5186C7EA9F}"/>
              </a:ext>
            </a:extLst>
          </p:cNvPr>
          <p:cNvSpPr txBox="1"/>
          <p:nvPr/>
        </p:nvSpPr>
        <p:spPr>
          <a:xfrm>
            <a:off x="4754246" y="275218"/>
            <a:ext cx="6009547" cy="720197"/>
          </a:xfrm>
          <a:prstGeom prst="rect">
            <a:avLst/>
          </a:prstGeom>
          <a:noFill/>
        </p:spPr>
        <p:txBody>
          <a:bodyPr wrap="square" rtlCol="0">
            <a:spAutoFit/>
          </a:bodyPr>
          <a:lstStyle/>
          <a:p>
            <a:pPr lvl="0">
              <a:lnSpc>
                <a:spcPct val="85000"/>
              </a:lnSpc>
              <a:defRPr/>
            </a:pPr>
            <a:r>
              <a:rPr lang="es-ES" sz="2400" b="1" spc="300" dirty="0">
                <a:solidFill>
                  <a:srgbClr val="022A79"/>
                </a:solidFill>
                <a:latin typeface="Trebuchet MS" panose="020B0603020202020204" pitchFamily="34" charset="0"/>
                <a:ea typeface="Verdana" panose="020B0604030504040204" pitchFamily="34" charset="0"/>
                <a:cs typeface="Zilla Slab Light"/>
                <a:sym typeface="Zilla Slab Light"/>
              </a:rPr>
              <a:t>Los medicamentos para usar en crisis se pueden dividir en: </a:t>
            </a:r>
          </a:p>
        </p:txBody>
      </p:sp>
      <p:sp>
        <p:nvSpPr>
          <p:cNvPr id="48" name="TextBox 47">
            <a:extLst>
              <a:ext uri="{FF2B5EF4-FFF2-40B4-BE49-F238E27FC236}">
                <a16:creationId xmlns:a16="http://schemas.microsoft.com/office/drawing/2014/main" id="{82BD43C5-3EAC-426A-AFCE-EC4054E2142A}"/>
              </a:ext>
            </a:extLst>
          </p:cNvPr>
          <p:cNvSpPr txBox="1"/>
          <p:nvPr/>
        </p:nvSpPr>
        <p:spPr>
          <a:xfrm>
            <a:off x="468406" y="580642"/>
            <a:ext cx="3522155" cy="824841"/>
          </a:xfrm>
          <a:prstGeom prst="rect">
            <a:avLst/>
          </a:prstGeom>
          <a:noFill/>
        </p:spPr>
        <p:txBody>
          <a:bodyPr wrap="square" rtlCol="0">
            <a:spAutoFit/>
          </a:bodyPr>
          <a:lstStyle/>
          <a:p>
            <a:pPr lvl="0">
              <a:lnSpc>
                <a:spcPct val="85000"/>
              </a:lnSpc>
              <a:defRPr/>
            </a:pPr>
            <a:r>
              <a:rPr lang="pt-PT" sz="2800" b="1" spc="300" dirty="0">
                <a:solidFill>
                  <a:schemeClr val="bg1"/>
                </a:solidFill>
                <a:latin typeface="Trebuchet MS" panose="020B0603020202020204" pitchFamily="34" charset="0"/>
                <a:ea typeface="Verdana" panose="020B0604030504040204" pitchFamily="34" charset="0"/>
                <a:cs typeface="Zilla Slab Light"/>
                <a:sym typeface="Zilla Slab Light"/>
              </a:rPr>
              <a:t>TRATAMIENTO FARMACOLÓGICO</a:t>
            </a:r>
            <a:endParaRPr kumimoji="0" lang="en-US" sz="2800" b="1" i="0" u="none" strike="noStrike" kern="1200" cap="none" spc="300" normalizeH="0" baseline="30000" noProof="0" dirty="0">
              <a:ln>
                <a:noFill/>
              </a:ln>
              <a:solidFill>
                <a:schemeClr val="bg1"/>
              </a:solidFill>
              <a:uLnTx/>
              <a:uFillTx/>
              <a:latin typeface="Trebuchet MS" panose="020B0603020202020204" pitchFamily="34" charset="0"/>
              <a:ea typeface="Verdana" panose="020B0604030504040204" pitchFamily="34" charset="0"/>
              <a:cs typeface="Zilla Slab Light"/>
              <a:sym typeface="Zilla Slab Light"/>
            </a:endParaRPr>
          </a:p>
        </p:txBody>
      </p:sp>
    </p:spTree>
    <p:extLst>
      <p:ext uri="{BB962C8B-B14F-4D97-AF65-F5344CB8AC3E}">
        <p14:creationId xmlns:p14="http://schemas.microsoft.com/office/powerpoint/2010/main" val="3182799031"/>
      </p:ext>
    </p:extLst>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 presetClass="entr" presetSubtype="0" fill="hold" grpId="0" nodeType="withEffect">
                                  <p:stCondLst>
                                    <p:cond delay="750"/>
                                  </p:stCondLst>
                                  <p:childTnLst>
                                    <p:set>
                                      <p:cBhvr>
                                        <p:cTn id="13" dur="1" fill="hold">
                                          <p:stCondLst>
                                            <p:cond delay="0"/>
                                          </p:stCondLst>
                                        </p:cTn>
                                        <p:tgtEl>
                                          <p:spTgt spid="186"/>
                                        </p:tgtEl>
                                        <p:attrNameLst>
                                          <p:attrName>style.visibility</p:attrName>
                                        </p:attrNameLst>
                                      </p:cBhvr>
                                      <p:to>
                                        <p:strVal val="visible"/>
                                      </p:to>
                                    </p:set>
                                  </p:childTnLst>
                                </p:cTn>
                              </p:par>
                              <p:par>
                                <p:cTn id="14" presetID="35" presetClass="path" presetSubtype="0" decel="100000" fill="hold" grpId="1" nodeType="withEffect">
                                  <p:stCondLst>
                                    <p:cond delay="750"/>
                                  </p:stCondLst>
                                  <p:childTnLst>
                                    <p:animMotion origin="layout" path="M 8.33333E-7 2.59259E-6 L -0.01667 2.59259E-6 " pathEditMode="relative" rAng="0" ptsTypes="AA">
                                      <p:cBhvr>
                                        <p:cTn id="15" dur="750" spd="-100000" fill="hold"/>
                                        <p:tgtEl>
                                          <p:spTgt spid="186"/>
                                        </p:tgtEl>
                                        <p:attrNameLst>
                                          <p:attrName>ppt_x</p:attrName>
                                          <p:attrName>ppt_y</p:attrName>
                                        </p:attrNameLst>
                                      </p:cBhvr>
                                      <p:rCtr x="-833" y="0"/>
                                    </p:animMotion>
                                  </p:childTnLst>
                                </p:cTn>
                              </p:par>
                              <p:par>
                                <p:cTn id="16" presetID="10" presetClass="entr" presetSubtype="0" fill="hold" grpId="0" nodeType="withEffect">
                                  <p:stCondLst>
                                    <p:cond delay="1750"/>
                                  </p:stCondLst>
                                  <p:childTnLst>
                                    <p:set>
                                      <p:cBhvr>
                                        <p:cTn id="17" dur="1" fill="hold">
                                          <p:stCondLst>
                                            <p:cond delay="0"/>
                                          </p:stCondLst>
                                        </p:cTn>
                                        <p:tgtEl>
                                          <p:spTgt spid="223"/>
                                        </p:tgtEl>
                                        <p:attrNameLst>
                                          <p:attrName>style.visibility</p:attrName>
                                        </p:attrNameLst>
                                      </p:cBhvr>
                                      <p:to>
                                        <p:strVal val="visible"/>
                                      </p:to>
                                    </p:set>
                                    <p:animEffect transition="in" filter="fade">
                                      <p:cBhvr>
                                        <p:cTn id="18" dur="500"/>
                                        <p:tgtEl>
                                          <p:spTgt spid="223"/>
                                        </p:tgtEl>
                                      </p:cBhvr>
                                    </p:animEffect>
                                  </p:childTnLst>
                                </p:cTn>
                              </p:par>
                              <p:par>
                                <p:cTn id="19" presetID="10" presetClass="entr" presetSubtype="0" fill="hold" grpId="0" nodeType="withEffect">
                                  <p:stCondLst>
                                    <p:cond delay="1000"/>
                                  </p:stCondLst>
                                  <p:childTnLst>
                                    <p:set>
                                      <p:cBhvr>
                                        <p:cTn id="20" dur="1" fill="hold">
                                          <p:stCondLst>
                                            <p:cond delay="0"/>
                                          </p:stCondLst>
                                        </p:cTn>
                                        <p:tgtEl>
                                          <p:spTgt spid="68"/>
                                        </p:tgtEl>
                                        <p:attrNameLst>
                                          <p:attrName>style.visibility</p:attrName>
                                        </p:attrNameLst>
                                      </p:cBhvr>
                                      <p:to>
                                        <p:strVal val="visible"/>
                                      </p:to>
                                    </p:set>
                                    <p:animEffect transition="in" filter="fade">
                                      <p:cBhvr>
                                        <p:cTn id="21" dur="500"/>
                                        <p:tgtEl>
                                          <p:spTgt spid="68"/>
                                        </p:tgtEl>
                                      </p:cBhvr>
                                    </p:animEffect>
                                  </p:childTnLst>
                                </p:cTn>
                              </p:par>
                              <p:par>
                                <p:cTn id="22" presetID="10" presetClass="entr" presetSubtype="0" fill="hold" grpId="0" nodeType="withEffect">
                                  <p:stCondLst>
                                    <p:cond delay="1250"/>
                                  </p:stCondLst>
                                  <p:childTnLst>
                                    <p:set>
                                      <p:cBhvr>
                                        <p:cTn id="23" dur="1" fill="hold">
                                          <p:stCondLst>
                                            <p:cond delay="0"/>
                                          </p:stCondLst>
                                        </p:cTn>
                                        <p:tgtEl>
                                          <p:spTgt spid="69"/>
                                        </p:tgtEl>
                                        <p:attrNameLst>
                                          <p:attrName>style.visibility</p:attrName>
                                        </p:attrNameLst>
                                      </p:cBhvr>
                                      <p:to>
                                        <p:strVal val="visible"/>
                                      </p:to>
                                    </p:set>
                                    <p:animEffect transition="in" filter="fade">
                                      <p:cBhvr>
                                        <p:cTn id="24" dur="500"/>
                                        <p:tgtEl>
                                          <p:spTgt spid="69"/>
                                        </p:tgtEl>
                                      </p:cBhvr>
                                    </p:animEffect>
                                  </p:childTnLst>
                                </p:cTn>
                              </p:par>
                              <p:par>
                                <p:cTn id="25" presetID="10" presetClass="entr" presetSubtype="0" fill="hold" grpId="0" nodeType="withEffect">
                                  <p:stCondLst>
                                    <p:cond delay="500"/>
                                  </p:stCondLst>
                                  <p:childTnLst>
                                    <p:set>
                                      <p:cBhvr>
                                        <p:cTn id="26" dur="1" fill="hold">
                                          <p:stCondLst>
                                            <p:cond delay="0"/>
                                          </p:stCondLst>
                                        </p:cTn>
                                        <p:tgtEl>
                                          <p:spTgt spid="48"/>
                                        </p:tgtEl>
                                        <p:attrNameLst>
                                          <p:attrName>style.visibility</p:attrName>
                                        </p:attrNameLst>
                                      </p:cBhvr>
                                      <p:to>
                                        <p:strVal val="visible"/>
                                      </p:to>
                                    </p:set>
                                    <p:animEffect transition="in" filter="fade">
                                      <p:cBhvr>
                                        <p:cTn id="27" dur="500"/>
                                        <p:tgtEl>
                                          <p:spTgt spid="48"/>
                                        </p:tgtEl>
                                      </p:cBhvr>
                                    </p:animEffect>
                                  </p:childTnLst>
                                </p:cTn>
                              </p:par>
                              <p:par>
                                <p:cTn id="28" presetID="63" presetClass="path" presetSubtype="0" decel="100000" fill="hold" grpId="1" nodeType="withEffect">
                                  <p:stCondLst>
                                    <p:cond delay="500"/>
                                  </p:stCondLst>
                                  <p:childTnLst>
                                    <p:animMotion origin="layout" path="M -3.75E-6 -7.40741E-7 L 0.03907 -7.40741E-7 " pathEditMode="relative" rAng="0" ptsTypes="AA">
                                      <p:cBhvr>
                                        <p:cTn id="29" dur="750" spd="-100000" fill="hold"/>
                                        <p:tgtEl>
                                          <p:spTgt spid="48"/>
                                        </p:tgtEl>
                                        <p:attrNameLst>
                                          <p:attrName>ppt_x</p:attrName>
                                          <p:attrName>ppt_y</p:attrName>
                                        </p:attrNameLst>
                                      </p:cBhvr>
                                      <p:rCtr x="195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 grpId="0" animBg="1"/>
      <p:bldP spid="186" grpId="1" animBg="1"/>
      <p:bldP spid="223" grpId="0"/>
      <p:bldP spid="68" grpId="0" animBg="1"/>
      <p:bldP spid="69" grpId="0" animBg="1"/>
      <p:bldP spid="48" grpId="0"/>
      <p:bldP spid="48"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Shape, circle&#10;&#10;Description automatically generated">
            <a:extLst>
              <a:ext uri="{FF2B5EF4-FFF2-40B4-BE49-F238E27FC236}">
                <a16:creationId xmlns:a16="http://schemas.microsoft.com/office/drawing/2014/main" id="{4AFD2B23-B5C4-405F-B460-1A42B6438090}"/>
              </a:ext>
            </a:extLst>
          </p:cNvPr>
          <p:cNvPicPr>
            <a:picLocks noChangeAspect="1"/>
          </p:cNvPicPr>
          <p:nvPr/>
        </p:nvPicPr>
        <p:blipFill rotWithShape="1">
          <a:blip r:embed="rId2">
            <a:extLst>
              <a:ext uri="{28A0092B-C50C-407E-A947-70E740481C1C}">
                <a14:useLocalDpi xmlns:a14="http://schemas.microsoft.com/office/drawing/2010/main" val="0"/>
              </a:ext>
            </a:extLst>
          </a:blip>
          <a:srcRect l="53353"/>
          <a:stretch/>
        </p:blipFill>
        <p:spPr>
          <a:xfrm>
            <a:off x="6504864" y="0"/>
            <a:ext cx="5687135" cy="6858000"/>
          </a:xfrm>
          <a:prstGeom prst="rect">
            <a:avLst/>
          </a:prstGeom>
        </p:spPr>
      </p:pic>
      <p:sp>
        <p:nvSpPr>
          <p:cNvPr id="19" name="Rectangle: Rounded Corners 18">
            <a:extLst>
              <a:ext uri="{FF2B5EF4-FFF2-40B4-BE49-F238E27FC236}">
                <a16:creationId xmlns:a16="http://schemas.microsoft.com/office/drawing/2014/main" id="{FFA61448-2F71-4903-BFB9-D94E3D424C9E}"/>
              </a:ext>
            </a:extLst>
          </p:cNvPr>
          <p:cNvSpPr/>
          <p:nvPr/>
        </p:nvSpPr>
        <p:spPr>
          <a:xfrm>
            <a:off x="469901" y="727757"/>
            <a:ext cx="7049686" cy="5621471"/>
          </a:xfrm>
          <a:prstGeom prst="roundRect">
            <a:avLst>
              <a:gd name="adj" fmla="val 3782"/>
            </a:avLst>
          </a:prstGeom>
          <a:solidFill>
            <a:schemeClr val="bg1"/>
          </a:solidFill>
          <a:ln>
            <a:noFill/>
          </a:ln>
          <a:effectLst>
            <a:outerShdw blurRad="5969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9F97F176-BD65-4AA5-B106-1E62EC23271E}"/>
              </a:ext>
            </a:extLst>
          </p:cNvPr>
          <p:cNvGrpSpPr/>
          <p:nvPr/>
        </p:nvGrpSpPr>
        <p:grpSpPr>
          <a:xfrm>
            <a:off x="712615" y="1272571"/>
            <a:ext cx="6564258" cy="4439203"/>
            <a:chOff x="8336279" y="3063183"/>
            <a:chExt cx="3348991" cy="5528273"/>
          </a:xfrm>
        </p:grpSpPr>
        <p:sp>
          <p:nvSpPr>
            <p:cNvPr id="24" name="Retângulo: Cantos Arredondados 32">
              <a:extLst>
                <a:ext uri="{FF2B5EF4-FFF2-40B4-BE49-F238E27FC236}">
                  <a16:creationId xmlns:a16="http://schemas.microsoft.com/office/drawing/2014/main" id="{3C3B8D70-4A67-444F-9A37-65A1D39E2E21}"/>
                </a:ext>
              </a:extLst>
            </p:cNvPr>
            <p:cNvSpPr/>
            <p:nvPr/>
          </p:nvSpPr>
          <p:spPr>
            <a:xfrm rot="5400000" flipV="1">
              <a:off x="9739156" y="1660306"/>
              <a:ext cx="543237" cy="3348991"/>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25" name="Retângulo: Cantos Arredondados 32">
              <a:extLst>
                <a:ext uri="{FF2B5EF4-FFF2-40B4-BE49-F238E27FC236}">
                  <a16:creationId xmlns:a16="http://schemas.microsoft.com/office/drawing/2014/main" id="{0A3FF98A-FBCA-4F7F-9BE4-AA87D7662C60}"/>
                </a:ext>
              </a:extLst>
            </p:cNvPr>
            <p:cNvSpPr/>
            <p:nvPr/>
          </p:nvSpPr>
          <p:spPr>
            <a:xfrm rot="5400000" flipV="1">
              <a:off x="9739156" y="2873287"/>
              <a:ext cx="543237" cy="3348991"/>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26" name="Retângulo: Cantos Arredondados 32">
              <a:extLst>
                <a:ext uri="{FF2B5EF4-FFF2-40B4-BE49-F238E27FC236}">
                  <a16:creationId xmlns:a16="http://schemas.microsoft.com/office/drawing/2014/main" id="{D3177D71-708D-4470-BE7C-7165B7FDB1F8}"/>
                </a:ext>
              </a:extLst>
            </p:cNvPr>
            <p:cNvSpPr/>
            <p:nvPr/>
          </p:nvSpPr>
          <p:spPr>
            <a:xfrm rot="5400000" flipV="1">
              <a:off x="9739156" y="4118777"/>
              <a:ext cx="543237" cy="3348991"/>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37" name="Retângulo: Cantos Arredondados 32">
              <a:extLst>
                <a:ext uri="{FF2B5EF4-FFF2-40B4-BE49-F238E27FC236}">
                  <a16:creationId xmlns:a16="http://schemas.microsoft.com/office/drawing/2014/main" id="{447352A8-88E5-473C-B93B-1061FF862CE0}"/>
                </a:ext>
              </a:extLst>
            </p:cNvPr>
            <p:cNvSpPr/>
            <p:nvPr/>
          </p:nvSpPr>
          <p:spPr>
            <a:xfrm rot="5400000" flipV="1">
              <a:off x="9739156" y="5399853"/>
              <a:ext cx="543237" cy="3348991"/>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38" name="Retângulo: Cantos Arredondados 32">
              <a:extLst>
                <a:ext uri="{FF2B5EF4-FFF2-40B4-BE49-F238E27FC236}">
                  <a16:creationId xmlns:a16="http://schemas.microsoft.com/office/drawing/2014/main" id="{639441ED-830B-4E25-B5D3-FA0ADF1B2F06}"/>
                </a:ext>
              </a:extLst>
            </p:cNvPr>
            <p:cNvSpPr/>
            <p:nvPr/>
          </p:nvSpPr>
          <p:spPr>
            <a:xfrm rot="5400000" flipV="1">
              <a:off x="9739156" y="6645342"/>
              <a:ext cx="543237" cy="3348991"/>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FFFFFF"/>
                </a:solidFill>
                <a:effectLst/>
                <a:uLnTx/>
                <a:uFillTx/>
                <a:latin typeface="Verdana"/>
                <a:ea typeface="+mn-ea"/>
                <a:cs typeface="+mn-cs"/>
              </a:endParaRPr>
            </a:p>
          </p:txBody>
        </p:sp>
      </p:grpSp>
      <p:grpSp>
        <p:nvGrpSpPr>
          <p:cNvPr id="3" name="Group 2">
            <a:extLst>
              <a:ext uri="{FF2B5EF4-FFF2-40B4-BE49-F238E27FC236}">
                <a16:creationId xmlns:a16="http://schemas.microsoft.com/office/drawing/2014/main" id="{FCAAE50F-9A3D-4B21-81D6-355DEDAECD05}"/>
              </a:ext>
            </a:extLst>
          </p:cNvPr>
          <p:cNvGrpSpPr/>
          <p:nvPr/>
        </p:nvGrpSpPr>
        <p:grpSpPr>
          <a:xfrm>
            <a:off x="252552" y="6342796"/>
            <a:ext cx="11686895" cy="398170"/>
            <a:chOff x="252552" y="6226684"/>
            <a:chExt cx="11686895" cy="398170"/>
          </a:xfrm>
        </p:grpSpPr>
        <p:grpSp>
          <p:nvGrpSpPr>
            <p:cNvPr id="14" name="Group 13">
              <a:extLst>
                <a:ext uri="{FF2B5EF4-FFF2-40B4-BE49-F238E27FC236}">
                  <a16:creationId xmlns:a16="http://schemas.microsoft.com/office/drawing/2014/main" id="{073AD1A5-C9C1-4A54-9536-A64149F445B9}"/>
                </a:ext>
              </a:extLst>
            </p:cNvPr>
            <p:cNvGrpSpPr/>
            <p:nvPr/>
          </p:nvGrpSpPr>
          <p:grpSpPr>
            <a:xfrm>
              <a:off x="252552" y="6293241"/>
              <a:ext cx="1266906" cy="265056"/>
              <a:chOff x="5600700" y="-854146"/>
              <a:chExt cx="989647" cy="207049"/>
            </a:xfrm>
          </p:grpSpPr>
          <p:sp>
            <p:nvSpPr>
              <p:cNvPr id="5" name="Freeform: Shape 4">
                <a:extLst>
                  <a:ext uri="{FF2B5EF4-FFF2-40B4-BE49-F238E27FC236}">
                    <a16:creationId xmlns:a16="http://schemas.microsoft.com/office/drawing/2014/main" id="{2E39DA4E-C14C-4872-A5E3-4D96CC42AD1D}"/>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4629D4CD-5B4B-460C-8173-973EEEAE64C7}"/>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01243EF6-73A0-4E64-AE28-BBCB4643C978}"/>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792AE46-C446-4F34-8B69-0071FDBEE944}"/>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B2EA20F1-E6B1-41F8-91AE-3D45AD20ACC2}"/>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463F15C-D048-4DB5-A706-67AA9FBBAFC7}"/>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F96E3F5-E7C6-433B-B01B-62B8AED5B568}"/>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01EE354-E23C-48B6-86C8-CAC043AE58C6}"/>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F7546271-4274-4E97-AB86-C97D520C3D64}"/>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16" name="Graphic 15">
              <a:extLst>
                <a:ext uri="{FF2B5EF4-FFF2-40B4-BE49-F238E27FC236}">
                  <a16:creationId xmlns:a16="http://schemas.microsoft.com/office/drawing/2014/main" id="{CD787745-A225-44B9-9486-376DC2BF2E8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2541" y="6226684"/>
              <a:ext cx="1266906" cy="398170"/>
            </a:xfrm>
            <a:prstGeom prst="rect">
              <a:avLst/>
            </a:prstGeom>
          </p:spPr>
        </p:pic>
      </p:grpSp>
      <p:sp>
        <p:nvSpPr>
          <p:cNvPr id="32" name="Rectangle: Top Corners Rounded 31">
            <a:extLst>
              <a:ext uri="{FF2B5EF4-FFF2-40B4-BE49-F238E27FC236}">
                <a16:creationId xmlns:a16="http://schemas.microsoft.com/office/drawing/2014/main" id="{652BB91A-C955-4806-8C14-396278E541EE}"/>
              </a:ext>
            </a:extLst>
          </p:cNvPr>
          <p:cNvSpPr/>
          <p:nvPr/>
        </p:nvSpPr>
        <p:spPr>
          <a:xfrm flipV="1">
            <a:off x="712607" y="0"/>
            <a:ext cx="6564266" cy="1191984"/>
          </a:xfrm>
          <a:prstGeom prst="round2SameRect">
            <a:avLst/>
          </a:prstGeom>
          <a:solidFill>
            <a:srgbClr val="022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2" name="Table 5">
            <a:extLst>
              <a:ext uri="{FF2B5EF4-FFF2-40B4-BE49-F238E27FC236}">
                <a16:creationId xmlns:a16="http://schemas.microsoft.com/office/drawing/2014/main" id="{B6393FC2-1852-49A8-A052-3275810749F1}"/>
              </a:ext>
            </a:extLst>
          </p:cNvPr>
          <p:cNvGraphicFramePr>
            <a:graphicFrameLocks noGrp="1"/>
          </p:cNvGraphicFramePr>
          <p:nvPr>
            <p:extLst>
              <p:ext uri="{D42A27DB-BD31-4B8C-83A1-F6EECF244321}">
                <p14:modId xmlns:p14="http://schemas.microsoft.com/office/powerpoint/2010/main" val="4237943142"/>
              </p:ext>
            </p:extLst>
          </p:nvPr>
        </p:nvGraphicFramePr>
        <p:xfrm>
          <a:off x="712607" y="562629"/>
          <a:ext cx="6563568" cy="5741784"/>
        </p:xfrm>
        <a:graphic>
          <a:graphicData uri="http://schemas.openxmlformats.org/drawingml/2006/table">
            <a:tbl>
              <a:tblPr firstRow="1" bandRow="1">
                <a:tableStyleId>{2D5ABB26-0587-4C30-8999-92F81FD0307C}</a:tableStyleId>
              </a:tblPr>
              <a:tblGrid>
                <a:gridCol w="3281784">
                  <a:extLst>
                    <a:ext uri="{9D8B030D-6E8A-4147-A177-3AD203B41FA5}">
                      <a16:colId xmlns:a16="http://schemas.microsoft.com/office/drawing/2014/main" val="178815667"/>
                    </a:ext>
                  </a:extLst>
                </a:gridCol>
                <a:gridCol w="3281784">
                  <a:extLst>
                    <a:ext uri="{9D8B030D-6E8A-4147-A177-3AD203B41FA5}">
                      <a16:colId xmlns:a16="http://schemas.microsoft.com/office/drawing/2014/main" val="3673459262"/>
                    </a:ext>
                  </a:extLst>
                </a:gridCol>
              </a:tblGrid>
              <a:tr h="648000">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sz="1600" b="1" i="0" u="none" strike="noStrike" kern="1200" cap="none" spc="300" normalizeH="0" baseline="0" dirty="0">
                          <a:ln>
                            <a:noFill/>
                          </a:ln>
                          <a:solidFill>
                            <a:schemeClr val="bg1"/>
                          </a:solidFill>
                          <a:effectLst/>
                          <a:uLnTx/>
                          <a:uFillTx/>
                          <a:latin typeface="Trebuchet MS" panose="020B0603020202020204" pitchFamily="34" charset="0"/>
                          <a:ea typeface="Verdana" panose="020B0604030504040204" pitchFamily="34" charset="0"/>
                          <a:cs typeface="Arial" panose="020B0604020202020204" pitchFamily="34" charset="0"/>
                        </a:rPr>
                        <a:t>EFICACIA</a:t>
                      </a:r>
                      <a:br>
                        <a:rPr kumimoji="0" lang="en-US" sz="1600" b="1" i="0" u="none" strike="noStrike" kern="1200" cap="none" spc="300" normalizeH="0" baseline="0" dirty="0">
                          <a:ln>
                            <a:noFill/>
                          </a:ln>
                          <a:solidFill>
                            <a:schemeClr val="bg1"/>
                          </a:solidFill>
                          <a:effectLst/>
                          <a:uLnTx/>
                          <a:uFillTx/>
                          <a:latin typeface="Trebuchet MS" panose="020B0603020202020204" pitchFamily="34" charset="0"/>
                          <a:ea typeface="Verdana" panose="020B0604030504040204" pitchFamily="34" charset="0"/>
                          <a:cs typeface="Arial" panose="020B0604020202020204" pitchFamily="34" charset="0"/>
                        </a:rPr>
                      </a:br>
                      <a:r>
                        <a:rPr kumimoji="0" lang="en-US" sz="1600" b="1" i="0" u="none" strike="noStrike" kern="1200" cap="none" spc="300" normalizeH="0" baseline="0" dirty="0">
                          <a:ln>
                            <a:noFill/>
                          </a:ln>
                          <a:solidFill>
                            <a:schemeClr val="bg1"/>
                          </a:solidFill>
                          <a:effectLst/>
                          <a:uLnTx/>
                          <a:uFillTx/>
                          <a:latin typeface="Trebuchet MS" panose="020B0603020202020204" pitchFamily="34" charset="0"/>
                          <a:ea typeface="Verdana" panose="020B0604030504040204" pitchFamily="34" charset="0"/>
                          <a:cs typeface="Arial" panose="020B0604020202020204" pitchFamily="34" charset="0"/>
                        </a:rPr>
                        <a:t>ESTABLECIDA</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sz="1600" b="1" i="0" u="none" strike="noStrike" kern="1200" cap="none" spc="300" normalizeH="0" baseline="0" dirty="0">
                          <a:ln>
                            <a:noFill/>
                          </a:ln>
                          <a:solidFill>
                            <a:schemeClr val="bg1"/>
                          </a:solidFill>
                          <a:effectLst/>
                          <a:uLnTx/>
                          <a:uFillTx/>
                          <a:latin typeface="Trebuchet MS" panose="020B0603020202020204" pitchFamily="34" charset="0"/>
                          <a:ea typeface="Verdana" panose="020B0604030504040204" pitchFamily="34" charset="0"/>
                          <a:cs typeface="Arial" panose="020B0604020202020204" pitchFamily="34" charset="0"/>
                        </a:rPr>
                        <a:t>PROBABLEMENTE</a:t>
                      </a:r>
                      <a:br>
                        <a:rPr kumimoji="0" lang="en-US" sz="1600" b="1" i="0" u="none" strike="noStrike" kern="1200" cap="none" spc="300" normalizeH="0" baseline="0" dirty="0">
                          <a:ln>
                            <a:noFill/>
                          </a:ln>
                          <a:solidFill>
                            <a:schemeClr val="bg1"/>
                          </a:solidFill>
                          <a:effectLst/>
                          <a:uLnTx/>
                          <a:uFillTx/>
                          <a:latin typeface="Trebuchet MS" panose="020B0603020202020204" pitchFamily="34" charset="0"/>
                          <a:ea typeface="Verdana" panose="020B0604030504040204" pitchFamily="34" charset="0"/>
                          <a:cs typeface="Arial" panose="020B0604020202020204" pitchFamily="34" charset="0"/>
                        </a:rPr>
                      </a:br>
                      <a:r>
                        <a:rPr kumimoji="0" lang="en-US" sz="1600" b="1" i="0" u="none" strike="noStrike" kern="1200" cap="none" spc="300" normalizeH="0" baseline="0" dirty="0">
                          <a:ln>
                            <a:noFill/>
                          </a:ln>
                          <a:solidFill>
                            <a:schemeClr val="bg1"/>
                          </a:solidFill>
                          <a:effectLst/>
                          <a:uLnTx/>
                          <a:uFillTx/>
                          <a:latin typeface="Trebuchet MS" panose="020B0603020202020204" pitchFamily="34" charset="0"/>
                          <a:ea typeface="Verdana" panose="020B0604030504040204" pitchFamily="34" charset="0"/>
                          <a:cs typeface="Arial" panose="020B0604020202020204" pitchFamily="34" charset="0"/>
                        </a:rPr>
                        <a:t>EFICAZ</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714018230"/>
                  </a:ext>
                </a:extLst>
              </a:tr>
              <a:tr h="504000">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sz="1200" b="1"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Específico</a:t>
                      </a:r>
                      <a:r>
                        <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 para la </a:t>
                      </a:r>
                      <a:r>
                        <a:rPr kumimoji="0" lang="en-US" sz="1200" b="1"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migraña</a:t>
                      </a:r>
                      <a:endPar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endParaRPr kumimoji="0" lang="en-US" sz="1200" b="0"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688348128"/>
                  </a:ext>
                </a:extLst>
              </a:tr>
              <a:tr h="504000">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Triptanes</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sz="1200" b="0"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Ergotamina</a:t>
                      </a:r>
                      <a:endParaRPr kumimoji="0" lang="en-US" sz="1200" b="0"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182578113"/>
                  </a:ext>
                </a:extLst>
              </a:tr>
              <a:tr h="504000">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sz="1200" b="1"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Derivados</a:t>
                      </a:r>
                      <a:r>
                        <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 de la </a:t>
                      </a:r>
                      <a:r>
                        <a:rPr kumimoji="0" lang="en-US" sz="1200" b="1"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ergotamina</a:t>
                      </a:r>
                      <a:endPar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sz="1200" b="0"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Otras</a:t>
                      </a:r>
                      <a:r>
                        <a:rPr kumimoji="0" lang="en-US" sz="1200" b="0"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 </a:t>
                      </a:r>
                      <a:r>
                        <a:rPr kumimoji="0" lang="en-US" sz="1200" b="0"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formas</a:t>
                      </a:r>
                      <a:r>
                        <a:rPr kumimoji="0" lang="en-US" sz="1200" b="0"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 de </a:t>
                      </a:r>
                      <a:r>
                        <a:rPr kumimoji="0" lang="en-US" sz="1200" b="0"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dihidroergotamina</a:t>
                      </a:r>
                      <a:endParaRPr kumimoji="0" lang="en-US" sz="1200" b="0"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726139341"/>
                  </a:ext>
                </a:extLst>
              </a:tr>
              <a:tr h="504000">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sz="1200" b="1"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Gepantes</a:t>
                      </a:r>
                      <a:endPar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endParaRPr kumimoji="0" lang="en-US" sz="1200" b="0"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697017194"/>
                  </a:ext>
                </a:extLst>
              </a:tr>
              <a:tr h="504000">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Lasmiditan</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endParaRPr kumimoji="0" lang="en-US" sz="1200" b="0"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598758935"/>
                  </a:ext>
                </a:extLst>
              </a:tr>
              <a:tr h="504000">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No </a:t>
                      </a:r>
                      <a:r>
                        <a:rPr kumimoji="0" lang="en-US" sz="1200" b="1"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específicos</a:t>
                      </a:r>
                      <a:endPar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endParaRPr kumimoji="0" lang="en-US" sz="1200" b="0"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148705033"/>
                  </a:ext>
                </a:extLst>
              </a:tr>
              <a:tr h="504000">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AINEs: </a:t>
                      </a:r>
                      <a:r>
                        <a:rPr kumimoji="0" lang="en-US" sz="1200" b="1"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Aspirina</a:t>
                      </a:r>
                      <a:r>
                        <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 Celecoxib </a:t>
                      </a:r>
                      <a:r>
                        <a:rPr kumimoji="0" lang="en-US" sz="1200" b="1"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solución</a:t>
                      </a:r>
                      <a:r>
                        <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 oral, </a:t>
                      </a:r>
                      <a:r>
                        <a:rPr kumimoji="0" lang="en-US" sz="1200" b="1"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diclofenaco</a:t>
                      </a:r>
                      <a:r>
                        <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 </a:t>
                      </a:r>
                      <a:r>
                        <a:rPr kumimoji="0" lang="en-US" sz="1200" b="1"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ibuprofeno</a:t>
                      </a:r>
                      <a:r>
                        <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 </a:t>
                      </a:r>
                      <a:r>
                        <a:rPr kumimoji="0" lang="en-US" sz="1200" b="1"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naproxeno</a:t>
                      </a:r>
                      <a:endPar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AINEs: </a:t>
                      </a:r>
                      <a:r>
                        <a:rPr kumimoji="0" lang="en-US" sz="1200" b="0"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Flurbiprofeno</a:t>
                      </a:r>
                      <a:r>
                        <a:rPr kumimoji="0" lang="en-US" sz="1200" b="0"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 </a:t>
                      </a:r>
                      <a:r>
                        <a:rPr kumimoji="0" lang="en-US" sz="1200" b="0"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Ketoprofeno</a:t>
                      </a:r>
                      <a:r>
                        <a:rPr kumimoji="0" lang="en-US" sz="1200" b="0"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 </a:t>
                      </a:r>
                      <a:br>
                        <a:rPr kumimoji="0" lang="en-US" sz="1200" b="0"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br>
                      <a:r>
                        <a:rPr kumimoji="0" lang="en-US" sz="1200" b="0"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IV y Ketorolac IM</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595666905"/>
                  </a:ext>
                </a:extLst>
              </a:tr>
              <a:tr h="504000">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sz="1200" b="1"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Analgésico</a:t>
                      </a:r>
                      <a:r>
                        <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 </a:t>
                      </a:r>
                      <a:r>
                        <a:rPr kumimoji="0" lang="en-US" sz="1200" b="1"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combinado</a:t>
                      </a:r>
                      <a:r>
                        <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 </a:t>
                      </a:r>
                      <a:r>
                        <a:rPr kumimoji="0" lang="en-US" sz="1200" b="1"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Acetaminofén</a:t>
                      </a:r>
                      <a:r>
                        <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 </a:t>
                      </a:r>
                      <a:br>
                        <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br>
                      <a:r>
                        <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 </a:t>
                      </a:r>
                      <a:r>
                        <a:rPr kumimoji="0" lang="en-US" sz="1200" b="1"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Aspirina</a:t>
                      </a:r>
                      <a:r>
                        <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 + </a:t>
                      </a:r>
                      <a:r>
                        <a:rPr kumimoji="0" lang="en-US" sz="1200" b="1"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Cafeína</a:t>
                      </a:r>
                      <a:endPar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sz="1200" b="0"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Magnesio</a:t>
                      </a:r>
                      <a:r>
                        <a:rPr kumimoji="0" lang="en-US" sz="1200" b="0"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 IV</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4038727"/>
                  </a:ext>
                </a:extLst>
              </a:tr>
              <a:tr h="504000">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endPar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sz="1200" b="0"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Compuestos</a:t>
                      </a:r>
                      <a:r>
                        <a:rPr kumimoji="0" lang="en-US" sz="1200" b="0"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 con </a:t>
                      </a:r>
                      <a:r>
                        <a:rPr kumimoji="0" lang="en-US" sz="1200" b="0"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isometepteno</a:t>
                      </a:r>
                      <a:endParaRPr kumimoji="0" lang="en-US" sz="1200" b="0"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708638889"/>
                  </a:ext>
                </a:extLst>
              </a:tr>
              <a:tr h="504000">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endPar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en-US" sz="1200" b="1"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Antieméticos</a:t>
                      </a:r>
                      <a:r>
                        <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 </a:t>
                      </a:r>
                      <a:r>
                        <a:rPr kumimoji="0" lang="en-US" sz="1200" b="0"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clorpromazina</a:t>
                      </a:r>
                      <a:r>
                        <a:rPr kumimoji="0" lang="en-US" sz="1200" b="0"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 </a:t>
                      </a:r>
                      <a:r>
                        <a:rPr kumimoji="0" lang="en-US" sz="1200" b="0"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droperidol</a:t>
                      </a:r>
                      <a:r>
                        <a:rPr kumimoji="0" lang="en-US" sz="1200" b="0"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 </a:t>
                      </a:r>
                      <a:r>
                        <a:rPr kumimoji="0" lang="en-US" sz="1200" b="0"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metoclopramida</a:t>
                      </a:r>
                      <a:r>
                        <a:rPr kumimoji="0" lang="en-US" sz="1200" b="0"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 </a:t>
                      </a:r>
                      <a:r>
                        <a:rPr kumimoji="0" lang="en-US" sz="1200" b="0"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proclorperazina</a:t>
                      </a:r>
                      <a:r>
                        <a:rPr kumimoji="0" lang="en-US" sz="1200" b="0"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 </a:t>
                      </a:r>
                      <a:r>
                        <a:rPr kumimoji="0" lang="en-US" sz="1200" b="0" i="0" u="none" strike="noStrike" kern="1200" cap="none" spc="0" normalizeH="0" baseline="0" dirty="0" err="1">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rPr>
                        <a:t>prometazina</a:t>
                      </a:r>
                      <a:endParaRPr kumimoji="0" lang="en-US" sz="1200" b="0"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887471872"/>
                  </a:ext>
                </a:extLst>
              </a:tr>
            </a:tbl>
          </a:graphicData>
        </a:graphic>
      </p:graphicFrame>
      <p:cxnSp>
        <p:nvCxnSpPr>
          <p:cNvPr id="28" name="Straight Connector 27">
            <a:extLst>
              <a:ext uri="{FF2B5EF4-FFF2-40B4-BE49-F238E27FC236}">
                <a16:creationId xmlns:a16="http://schemas.microsoft.com/office/drawing/2014/main" id="{7E3A083E-5775-4897-A8C0-FCBEAB33DFF8}"/>
              </a:ext>
            </a:extLst>
          </p:cNvPr>
          <p:cNvCxnSpPr>
            <a:cxnSpLocks/>
          </p:cNvCxnSpPr>
          <p:nvPr/>
        </p:nvCxnSpPr>
        <p:spPr>
          <a:xfrm flipV="1">
            <a:off x="3994743" y="715029"/>
            <a:ext cx="0" cy="5562938"/>
          </a:xfrm>
          <a:prstGeom prst="line">
            <a:avLst/>
          </a:prstGeom>
          <a:ln w="9525" cap="flat">
            <a:solidFill>
              <a:schemeClr val="bg1">
                <a:lumMod val="75000"/>
              </a:schemeClr>
            </a:solidFill>
            <a:prstDash val="dash"/>
            <a:round/>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9F366D2-EE9D-4273-A34D-083C4E280D84}"/>
              </a:ext>
            </a:extLst>
          </p:cNvPr>
          <p:cNvSpPr txBox="1"/>
          <p:nvPr/>
        </p:nvSpPr>
        <p:spPr>
          <a:xfrm>
            <a:off x="7604255" y="5440815"/>
            <a:ext cx="3493558" cy="779059"/>
          </a:xfrm>
          <a:prstGeom prst="rect">
            <a:avLst/>
          </a:prstGeom>
          <a:noFill/>
        </p:spPr>
        <p:txBody>
          <a:bodyPr wrap="square" rtlCol="0">
            <a:spAutoFit/>
          </a:bodyPr>
          <a:lstStyle/>
          <a:p>
            <a:pPr lvl="0">
              <a:lnSpc>
                <a:spcPct val="85000"/>
              </a:lnSpc>
              <a:defRPr/>
            </a:pPr>
            <a:r>
              <a:rPr lang="en-US" sz="1050" dirty="0" err="1">
                <a:solidFill>
                  <a:schemeClr val="bg1"/>
                </a:solidFill>
                <a:latin typeface="Trebuchet MS" panose="020B0603020202020204" pitchFamily="34" charset="0"/>
                <a:ea typeface="Verdana" panose="020B0604030504040204" pitchFamily="34" charset="0"/>
                <a:cs typeface="Zilla Slab Light"/>
                <a:sym typeface="Zilla Slab Light"/>
              </a:rPr>
              <a:t>Adaptado</a:t>
            </a:r>
            <a:r>
              <a:rPr lang="en-US" sz="1050" dirty="0">
                <a:solidFill>
                  <a:schemeClr val="bg1"/>
                </a:solidFill>
                <a:latin typeface="Trebuchet MS" panose="020B0603020202020204" pitchFamily="34" charset="0"/>
                <a:ea typeface="Verdana" panose="020B0604030504040204" pitchFamily="34" charset="0"/>
                <a:cs typeface="Zilla Slab Light"/>
                <a:sym typeface="Zilla Slab Light"/>
              </a:rPr>
              <a:t> de </a:t>
            </a:r>
            <a:r>
              <a:rPr lang="en-US" sz="1050" dirty="0" err="1">
                <a:solidFill>
                  <a:schemeClr val="bg1"/>
                </a:solidFill>
                <a:latin typeface="Trebuchet MS" panose="020B0603020202020204" pitchFamily="34" charset="0"/>
                <a:ea typeface="Verdana" panose="020B0604030504040204" pitchFamily="34" charset="0"/>
                <a:cs typeface="Zilla Slab Light"/>
                <a:sym typeface="Zilla Slab Light"/>
              </a:rPr>
              <a:t>Ailani</a:t>
            </a:r>
            <a:r>
              <a:rPr lang="en-US" sz="1050" dirty="0">
                <a:solidFill>
                  <a:schemeClr val="bg1"/>
                </a:solidFill>
                <a:latin typeface="Trebuchet MS" panose="020B0603020202020204" pitchFamily="34" charset="0"/>
                <a:ea typeface="Verdana" panose="020B0604030504040204" pitchFamily="34" charset="0"/>
                <a:cs typeface="Zilla Slab Light"/>
                <a:sym typeface="Zilla Slab Light"/>
              </a:rPr>
              <a:t> J, Burch RC, Robbins MS; Board </a:t>
            </a:r>
            <a:br>
              <a:rPr lang="en-US" sz="1050" dirty="0">
                <a:solidFill>
                  <a:schemeClr val="bg1"/>
                </a:solidFill>
                <a:latin typeface="Trebuchet MS" panose="020B0603020202020204" pitchFamily="34" charset="0"/>
                <a:ea typeface="Verdana" panose="020B0604030504040204" pitchFamily="34" charset="0"/>
                <a:cs typeface="Zilla Slab Light"/>
                <a:sym typeface="Zilla Slab Light"/>
              </a:rPr>
            </a:br>
            <a:r>
              <a:rPr lang="en-US" sz="1050" dirty="0">
                <a:solidFill>
                  <a:schemeClr val="bg1"/>
                </a:solidFill>
                <a:latin typeface="Trebuchet MS" panose="020B0603020202020204" pitchFamily="34" charset="0"/>
                <a:ea typeface="Verdana" panose="020B0604030504040204" pitchFamily="34" charset="0"/>
                <a:cs typeface="Zilla Slab Light"/>
                <a:sym typeface="Zilla Slab Light"/>
              </a:rPr>
              <a:t>of Directors of the American Headache Society. </a:t>
            </a:r>
            <a:br>
              <a:rPr lang="en-US" sz="1050" dirty="0">
                <a:solidFill>
                  <a:schemeClr val="bg1"/>
                </a:solidFill>
                <a:latin typeface="Trebuchet MS" panose="020B0603020202020204" pitchFamily="34" charset="0"/>
                <a:ea typeface="Verdana" panose="020B0604030504040204" pitchFamily="34" charset="0"/>
                <a:cs typeface="Zilla Slab Light"/>
                <a:sym typeface="Zilla Slab Light"/>
              </a:rPr>
            </a:br>
            <a:r>
              <a:rPr lang="en-US" sz="1050" dirty="0">
                <a:solidFill>
                  <a:schemeClr val="bg1"/>
                </a:solidFill>
                <a:latin typeface="Trebuchet MS" panose="020B0603020202020204" pitchFamily="34" charset="0"/>
                <a:ea typeface="Verdana" panose="020B0604030504040204" pitchFamily="34" charset="0"/>
                <a:cs typeface="Zilla Slab Light"/>
                <a:sym typeface="Zilla Slab Light"/>
              </a:rPr>
              <a:t>The American Headache Society Consensus Statement: Update on integrating new migraine treatments into clinical practice. Headache. 2021 Jul;61(7):1021-1039</a:t>
            </a:r>
          </a:p>
        </p:txBody>
      </p:sp>
      <p:sp>
        <p:nvSpPr>
          <p:cNvPr id="42" name="Retângulo: Cantos Arredondados 32">
            <a:extLst>
              <a:ext uri="{FF2B5EF4-FFF2-40B4-BE49-F238E27FC236}">
                <a16:creationId xmlns:a16="http://schemas.microsoft.com/office/drawing/2014/main" id="{758D14B5-2D99-40F5-843A-E2D51788DB7E}"/>
              </a:ext>
            </a:extLst>
          </p:cNvPr>
          <p:cNvSpPr/>
          <p:nvPr/>
        </p:nvSpPr>
        <p:spPr>
          <a:xfrm rot="5400000" flipV="1">
            <a:off x="2131444" y="336628"/>
            <a:ext cx="444465" cy="3282136"/>
          </a:xfrm>
          <a:prstGeom prst="roundRect">
            <a:avLst>
              <a:gd name="adj" fmla="val 50000"/>
            </a:avLst>
          </a:prstGeom>
          <a:noFill/>
          <a:ln w="19050">
            <a:solidFill>
              <a:srgbClr val="FF6E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43" name="Retângulo: Cantos Arredondados 32">
            <a:extLst>
              <a:ext uri="{FF2B5EF4-FFF2-40B4-BE49-F238E27FC236}">
                <a16:creationId xmlns:a16="http://schemas.microsoft.com/office/drawing/2014/main" id="{213AC0AB-7091-478D-993F-02DC0D2C8838}"/>
              </a:ext>
            </a:extLst>
          </p:cNvPr>
          <p:cNvSpPr/>
          <p:nvPr/>
        </p:nvSpPr>
        <p:spPr>
          <a:xfrm rot="5400000" flipV="1">
            <a:off x="2144128" y="815077"/>
            <a:ext cx="419102" cy="3282135"/>
          </a:xfrm>
          <a:prstGeom prst="roundRect">
            <a:avLst>
              <a:gd name="adj" fmla="val 50000"/>
            </a:avLst>
          </a:prstGeom>
          <a:noFill/>
          <a:ln w="19050">
            <a:solidFill>
              <a:srgbClr val="FF6E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44" name="Retângulo: Cantos Arredondados 32">
            <a:extLst>
              <a:ext uri="{FF2B5EF4-FFF2-40B4-BE49-F238E27FC236}">
                <a16:creationId xmlns:a16="http://schemas.microsoft.com/office/drawing/2014/main" id="{AB2EFDA3-0107-4771-ADB5-DD27EA9C6A14}"/>
              </a:ext>
            </a:extLst>
          </p:cNvPr>
          <p:cNvSpPr/>
          <p:nvPr/>
        </p:nvSpPr>
        <p:spPr>
          <a:xfrm rot="5400000" flipV="1">
            <a:off x="2144128" y="2853428"/>
            <a:ext cx="419102" cy="3282135"/>
          </a:xfrm>
          <a:prstGeom prst="roundRect">
            <a:avLst>
              <a:gd name="adj" fmla="val 50000"/>
            </a:avLst>
          </a:prstGeom>
          <a:noFill/>
          <a:ln w="19050">
            <a:solidFill>
              <a:srgbClr val="FF6E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45" name="Retângulo: Cantos Arredondados 32">
            <a:extLst>
              <a:ext uri="{FF2B5EF4-FFF2-40B4-BE49-F238E27FC236}">
                <a16:creationId xmlns:a16="http://schemas.microsoft.com/office/drawing/2014/main" id="{ED0335C8-15C5-40EB-B57C-6553D7888698}"/>
              </a:ext>
            </a:extLst>
          </p:cNvPr>
          <p:cNvSpPr/>
          <p:nvPr/>
        </p:nvSpPr>
        <p:spPr>
          <a:xfrm rot="5400000" flipV="1">
            <a:off x="2144130" y="3348730"/>
            <a:ext cx="419102" cy="3282134"/>
          </a:xfrm>
          <a:prstGeom prst="roundRect">
            <a:avLst>
              <a:gd name="adj" fmla="val 50000"/>
            </a:avLst>
          </a:prstGeom>
          <a:noFill/>
          <a:ln w="19050">
            <a:solidFill>
              <a:srgbClr val="FF6E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46" name="Retângulo: Cantos Arredondados 32">
            <a:extLst>
              <a:ext uri="{FF2B5EF4-FFF2-40B4-BE49-F238E27FC236}">
                <a16:creationId xmlns:a16="http://schemas.microsoft.com/office/drawing/2014/main" id="{6143369A-3EC4-4F95-8239-2B72CBAE5F34}"/>
              </a:ext>
            </a:extLst>
          </p:cNvPr>
          <p:cNvSpPr/>
          <p:nvPr/>
        </p:nvSpPr>
        <p:spPr>
          <a:xfrm rot="5400000" flipV="1">
            <a:off x="4557521" y="5294702"/>
            <a:ext cx="175980" cy="1131677"/>
          </a:xfrm>
          <a:prstGeom prst="roundRect">
            <a:avLst>
              <a:gd name="adj" fmla="val 50000"/>
            </a:avLst>
          </a:prstGeom>
          <a:noFill/>
          <a:ln w="19050">
            <a:solidFill>
              <a:srgbClr val="FF6E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pic>
        <p:nvPicPr>
          <p:cNvPr id="50" name="Picture 49">
            <a:extLst>
              <a:ext uri="{FF2B5EF4-FFF2-40B4-BE49-F238E27FC236}">
                <a16:creationId xmlns:a16="http://schemas.microsoft.com/office/drawing/2014/main" id="{20FC865F-158A-4E32-9F54-9B73D151635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rot="12822635" flipH="1">
            <a:off x="2082716" y="5512984"/>
            <a:ext cx="922610" cy="757939"/>
          </a:xfrm>
          <a:prstGeom prst="rect">
            <a:avLst/>
          </a:prstGeom>
          <a:effectLst>
            <a:outerShdw blurRad="317500" sx="102000" sy="102000" algn="ctr" rotWithShape="0">
              <a:prstClr val="black">
                <a:alpha val="15000"/>
              </a:prstClr>
            </a:outerShdw>
          </a:effectLst>
        </p:spPr>
      </p:pic>
      <p:pic>
        <p:nvPicPr>
          <p:cNvPr id="52" name="Picture 51">
            <a:extLst>
              <a:ext uri="{FF2B5EF4-FFF2-40B4-BE49-F238E27FC236}">
                <a16:creationId xmlns:a16="http://schemas.microsoft.com/office/drawing/2014/main" id="{F0B96EC7-3B20-4B51-B772-30310F9EBD8F}"/>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rot="2163067">
            <a:off x="7134293" y="493122"/>
            <a:ext cx="669493" cy="671818"/>
          </a:xfrm>
          <a:prstGeom prst="rect">
            <a:avLst/>
          </a:prstGeom>
          <a:effectLst>
            <a:outerShdw blurRad="317500" sx="102000" sy="102000" algn="ctr" rotWithShape="0">
              <a:prstClr val="black">
                <a:alpha val="15000"/>
              </a:prstClr>
            </a:outerShdw>
          </a:effectLst>
        </p:spPr>
      </p:pic>
      <p:pic>
        <p:nvPicPr>
          <p:cNvPr id="34" name="Graphic 33">
            <a:extLst>
              <a:ext uri="{FF2B5EF4-FFF2-40B4-BE49-F238E27FC236}">
                <a16:creationId xmlns:a16="http://schemas.microsoft.com/office/drawing/2014/main" id="{01EEDFFB-A474-4866-BA1A-7763C004DCD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20903783">
            <a:off x="8132832" y="1755463"/>
            <a:ext cx="3152065" cy="2889395"/>
          </a:xfrm>
          <a:prstGeom prst="rect">
            <a:avLst/>
          </a:prstGeom>
        </p:spPr>
      </p:pic>
    </p:spTree>
    <p:extLst>
      <p:ext uri="{BB962C8B-B14F-4D97-AF65-F5344CB8AC3E}">
        <p14:creationId xmlns:p14="http://schemas.microsoft.com/office/powerpoint/2010/main" val="487248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750" fill="hold"/>
                                            <p:tgtEl>
                                              <p:spTgt spid="32"/>
                                            </p:tgtEl>
                                            <p:attrNameLst>
                                              <p:attrName>ppt_x</p:attrName>
                                            </p:attrNameLst>
                                          </p:cBhvr>
                                          <p:tavLst>
                                            <p:tav tm="0">
                                              <p:val>
                                                <p:strVal val="#ppt_x"/>
                                              </p:val>
                                            </p:tav>
                                            <p:tav tm="100000">
                                              <p:val>
                                                <p:strVal val="#ppt_x"/>
                                              </p:val>
                                            </p:tav>
                                          </p:tavLst>
                                        </p:anim>
                                        <p:anim calcmode="lin" valueType="num">
                                          <p:cBhvr additive="base">
                                            <p:cTn id="8" dur="750" fill="hold"/>
                                            <p:tgtEl>
                                              <p:spTgt spid="32"/>
                                            </p:tgtEl>
                                            <p:attrNameLst>
                                              <p:attrName>ppt_y</p:attrName>
                                            </p:attrNameLst>
                                          </p:cBhvr>
                                          <p:tavLst>
                                            <p:tav tm="0">
                                              <p:val>
                                                <p:strVal val="0-#ppt_h/2"/>
                                              </p:val>
                                            </p:tav>
                                            <p:tav tm="100000">
                                              <p:val>
                                                <p:strVal val="#ppt_y"/>
                                              </p:val>
                                            </p:tav>
                                          </p:tavLst>
                                        </p:anim>
                                      </p:childTnLst>
                                    </p:cTn>
                                  </p:par>
                                  <p:par>
                                    <p:cTn id="9" presetID="2" presetClass="entr" presetSubtype="4" decel="100000" fill="hold" nodeType="withEffect">
                                      <p:stCondLst>
                                        <p:cond delay="25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750" fill="hold"/>
                                            <p:tgtEl>
                                              <p:spTgt spid="18"/>
                                            </p:tgtEl>
                                            <p:attrNameLst>
                                              <p:attrName>ppt_x</p:attrName>
                                            </p:attrNameLst>
                                          </p:cBhvr>
                                          <p:tavLst>
                                            <p:tav tm="0">
                                              <p:val>
                                                <p:strVal val="#ppt_x"/>
                                              </p:val>
                                            </p:tav>
                                            <p:tav tm="100000">
                                              <p:val>
                                                <p:strVal val="#ppt_x"/>
                                              </p:val>
                                            </p:tav>
                                          </p:tavLst>
                                        </p:anim>
                                        <p:anim calcmode="lin" valueType="num">
                                          <p:cBhvr additive="base">
                                            <p:cTn id="12" dur="750" fill="hold"/>
                                            <p:tgtEl>
                                              <p:spTgt spid="18"/>
                                            </p:tgtEl>
                                            <p:attrNameLst>
                                              <p:attrName>ppt_y</p:attrName>
                                            </p:attrNameLst>
                                          </p:cBhvr>
                                          <p:tavLst>
                                            <p:tav tm="0">
                                              <p:val>
                                                <p:strVal val="1+#ppt_h/2"/>
                                              </p:val>
                                            </p:tav>
                                            <p:tav tm="100000">
                                              <p:val>
                                                <p:strVal val="#ppt_y"/>
                                              </p:val>
                                            </p:tav>
                                          </p:tavLst>
                                        </p:anim>
                                      </p:childTnLst>
                                    </p:cTn>
                                  </p:par>
                                  <p:par>
                                    <p:cTn id="13" presetID="10" presetClass="entr" presetSubtype="0" fill="hold" grpId="0" nodeType="withEffect">
                                      <p:stCondLst>
                                        <p:cond delay="25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250"/>
                                            <p:tgtEl>
                                              <p:spTgt spid="19"/>
                                            </p:tgtEl>
                                          </p:cBhvr>
                                        </p:animEffect>
                                      </p:childTnLst>
                                    </p:cTn>
                                  </p:par>
                                  <p:par>
                                    <p:cTn id="16" presetID="42" presetClass="path" presetSubtype="0" decel="100000" fill="hold" grpId="1" nodeType="withEffect">
                                      <p:stCondLst>
                                        <p:cond delay="250"/>
                                      </p:stCondLst>
                                      <p:childTnLst>
                                        <p:animMotion origin="layout" path="M -4.16667E-6 -2.22222E-6 L -4.16667E-6 0.09861 " pathEditMode="relative" rAng="0" ptsTypes="AA">
                                          <p:cBhvr>
                                            <p:cTn id="17" dur="750" spd="-100000" fill="hold"/>
                                            <p:tgtEl>
                                              <p:spTgt spid="19"/>
                                            </p:tgtEl>
                                            <p:attrNameLst>
                                              <p:attrName>ppt_x</p:attrName>
                                              <p:attrName>ppt_y</p:attrName>
                                            </p:attrNameLst>
                                          </p:cBhvr>
                                          <p:rCtr x="0" y="4931"/>
                                        </p:animMotion>
                                      </p:childTnLst>
                                    </p:cTn>
                                  </p:par>
                                  <p:par>
                                    <p:cTn id="18" presetID="10" presetClass="entr" presetSubtype="0" fill="hold" nodeType="withEffect">
                                      <p:stCondLst>
                                        <p:cond delay="75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500"/>
                                            <p:tgtEl>
                                              <p:spTgt spid="22"/>
                                            </p:tgtEl>
                                          </p:cBhvr>
                                        </p:animEffect>
                                      </p:childTnLst>
                                    </p:cTn>
                                  </p:par>
                                  <p:par>
                                    <p:cTn id="21" presetID="10" presetClass="entr" presetSubtype="0" fill="hold" nodeType="withEffect">
                                      <p:stCondLst>
                                        <p:cond delay="75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par>
                                    <p:cTn id="24" presetID="10" presetClass="entr" presetSubtype="0" fill="hold" nodeType="withEffect">
                                      <p:stCondLst>
                                        <p:cond delay="75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500"/>
                                            <p:tgtEl>
                                              <p:spTgt spid="28"/>
                                            </p:tgtEl>
                                          </p:cBhvr>
                                        </p:animEffect>
                                      </p:childTnLst>
                                    </p:cTn>
                                  </p:par>
                                  <p:par>
                                    <p:cTn id="27" presetID="18" presetClass="entr" presetSubtype="12" fill="hold" grpId="0" nodeType="withEffect">
                                      <p:stCondLst>
                                        <p:cond delay="1250"/>
                                      </p:stCondLst>
                                      <p:childTnLst>
                                        <p:set>
                                          <p:cBhvr>
                                            <p:cTn id="28" dur="1" fill="hold">
                                              <p:stCondLst>
                                                <p:cond delay="0"/>
                                              </p:stCondLst>
                                            </p:cTn>
                                            <p:tgtEl>
                                              <p:spTgt spid="42"/>
                                            </p:tgtEl>
                                            <p:attrNameLst>
                                              <p:attrName>style.visibility</p:attrName>
                                            </p:attrNameLst>
                                          </p:cBhvr>
                                          <p:to>
                                            <p:strVal val="visible"/>
                                          </p:to>
                                        </p:set>
                                        <p:animEffect transition="in" filter="strips(downLeft)">
                                          <p:cBhvr>
                                            <p:cTn id="29" dur="500"/>
                                            <p:tgtEl>
                                              <p:spTgt spid="42"/>
                                            </p:tgtEl>
                                          </p:cBhvr>
                                        </p:animEffect>
                                      </p:childTnLst>
                                    </p:cTn>
                                  </p:par>
                                  <p:par>
                                    <p:cTn id="30" presetID="18" presetClass="entr" presetSubtype="12" fill="hold" grpId="0" nodeType="withEffect">
                                      <p:stCondLst>
                                        <p:cond delay="1250"/>
                                      </p:stCondLst>
                                      <p:childTnLst>
                                        <p:set>
                                          <p:cBhvr>
                                            <p:cTn id="31" dur="1" fill="hold">
                                              <p:stCondLst>
                                                <p:cond delay="0"/>
                                              </p:stCondLst>
                                            </p:cTn>
                                            <p:tgtEl>
                                              <p:spTgt spid="43"/>
                                            </p:tgtEl>
                                            <p:attrNameLst>
                                              <p:attrName>style.visibility</p:attrName>
                                            </p:attrNameLst>
                                          </p:cBhvr>
                                          <p:to>
                                            <p:strVal val="visible"/>
                                          </p:to>
                                        </p:set>
                                        <p:animEffect transition="in" filter="strips(downLeft)">
                                          <p:cBhvr>
                                            <p:cTn id="32" dur="500"/>
                                            <p:tgtEl>
                                              <p:spTgt spid="43"/>
                                            </p:tgtEl>
                                          </p:cBhvr>
                                        </p:animEffect>
                                      </p:childTnLst>
                                    </p:cTn>
                                  </p:par>
                                  <p:par>
                                    <p:cTn id="33" presetID="18" presetClass="entr" presetSubtype="12" fill="hold" grpId="0" nodeType="withEffect">
                                      <p:stCondLst>
                                        <p:cond delay="1250"/>
                                      </p:stCondLst>
                                      <p:childTnLst>
                                        <p:set>
                                          <p:cBhvr>
                                            <p:cTn id="34" dur="1" fill="hold">
                                              <p:stCondLst>
                                                <p:cond delay="0"/>
                                              </p:stCondLst>
                                            </p:cTn>
                                            <p:tgtEl>
                                              <p:spTgt spid="44"/>
                                            </p:tgtEl>
                                            <p:attrNameLst>
                                              <p:attrName>style.visibility</p:attrName>
                                            </p:attrNameLst>
                                          </p:cBhvr>
                                          <p:to>
                                            <p:strVal val="visible"/>
                                          </p:to>
                                        </p:set>
                                        <p:animEffect transition="in" filter="strips(downLeft)">
                                          <p:cBhvr>
                                            <p:cTn id="35" dur="500"/>
                                            <p:tgtEl>
                                              <p:spTgt spid="44"/>
                                            </p:tgtEl>
                                          </p:cBhvr>
                                        </p:animEffect>
                                      </p:childTnLst>
                                    </p:cTn>
                                  </p:par>
                                  <p:par>
                                    <p:cTn id="36" presetID="18" presetClass="entr" presetSubtype="12" fill="hold" grpId="0" nodeType="withEffect">
                                      <p:stCondLst>
                                        <p:cond delay="1250"/>
                                      </p:stCondLst>
                                      <p:childTnLst>
                                        <p:set>
                                          <p:cBhvr>
                                            <p:cTn id="37" dur="1" fill="hold">
                                              <p:stCondLst>
                                                <p:cond delay="0"/>
                                              </p:stCondLst>
                                            </p:cTn>
                                            <p:tgtEl>
                                              <p:spTgt spid="45"/>
                                            </p:tgtEl>
                                            <p:attrNameLst>
                                              <p:attrName>style.visibility</p:attrName>
                                            </p:attrNameLst>
                                          </p:cBhvr>
                                          <p:to>
                                            <p:strVal val="visible"/>
                                          </p:to>
                                        </p:set>
                                        <p:animEffect transition="in" filter="strips(downLeft)">
                                          <p:cBhvr>
                                            <p:cTn id="38" dur="500"/>
                                            <p:tgtEl>
                                              <p:spTgt spid="45"/>
                                            </p:tgtEl>
                                          </p:cBhvr>
                                        </p:animEffect>
                                      </p:childTnLst>
                                    </p:cTn>
                                  </p:par>
                                  <p:par>
                                    <p:cTn id="39" presetID="18" presetClass="entr" presetSubtype="12" fill="hold" grpId="0" nodeType="withEffect">
                                      <p:stCondLst>
                                        <p:cond delay="1250"/>
                                      </p:stCondLst>
                                      <p:childTnLst>
                                        <p:set>
                                          <p:cBhvr>
                                            <p:cTn id="40" dur="1" fill="hold">
                                              <p:stCondLst>
                                                <p:cond delay="0"/>
                                              </p:stCondLst>
                                            </p:cTn>
                                            <p:tgtEl>
                                              <p:spTgt spid="46"/>
                                            </p:tgtEl>
                                            <p:attrNameLst>
                                              <p:attrName>style.visibility</p:attrName>
                                            </p:attrNameLst>
                                          </p:cBhvr>
                                          <p:to>
                                            <p:strVal val="visible"/>
                                          </p:to>
                                        </p:set>
                                        <p:animEffect transition="in" filter="strips(downLeft)">
                                          <p:cBhvr>
                                            <p:cTn id="41" dur="500"/>
                                            <p:tgtEl>
                                              <p:spTgt spid="46"/>
                                            </p:tgtEl>
                                          </p:cBhvr>
                                        </p:animEffect>
                                      </p:childTnLst>
                                    </p:cTn>
                                  </p:par>
                                  <p:par>
                                    <p:cTn id="42" presetID="10" presetClass="entr" presetSubtype="0" fill="hold" grpId="0" nodeType="withEffect">
                                      <p:stCondLst>
                                        <p:cond delay="125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par>
                                    <p:cTn id="45" presetID="10" presetClass="entr" presetSubtype="0" fill="hold" nodeType="withEffect">
                                      <p:stCondLst>
                                        <p:cond delay="1000"/>
                                      </p:stCondLst>
                                      <p:childTnLst>
                                        <p:set>
                                          <p:cBhvr>
                                            <p:cTn id="46" dur="1" fill="hold">
                                              <p:stCondLst>
                                                <p:cond delay="0"/>
                                              </p:stCondLst>
                                            </p:cTn>
                                            <p:tgtEl>
                                              <p:spTgt spid="50"/>
                                            </p:tgtEl>
                                            <p:attrNameLst>
                                              <p:attrName>style.visibility</p:attrName>
                                            </p:attrNameLst>
                                          </p:cBhvr>
                                          <p:to>
                                            <p:strVal val="visible"/>
                                          </p:to>
                                        </p:set>
                                        <p:animEffect transition="in" filter="fade">
                                          <p:cBhvr>
                                            <p:cTn id="47" dur="250"/>
                                            <p:tgtEl>
                                              <p:spTgt spid="50"/>
                                            </p:tgtEl>
                                          </p:cBhvr>
                                        </p:animEffect>
                                      </p:childTnLst>
                                    </p:cTn>
                                  </p:par>
                                  <p:par>
                                    <p:cTn id="48" presetID="42" presetClass="path" presetSubtype="0" decel="100000" fill="hold" nodeType="withEffect">
                                      <p:stCondLst>
                                        <p:cond delay="1000"/>
                                      </p:stCondLst>
                                      <p:childTnLst>
                                        <p:animMotion origin="layout" path="M -3.75E-6 2.22222E-6 L -0.03046 0.11134 " pathEditMode="relative" rAng="0" ptsTypes="AA">
                                          <p:cBhvr>
                                            <p:cTn id="49" dur="1000" spd="-100000" fill="hold"/>
                                            <p:tgtEl>
                                              <p:spTgt spid="50"/>
                                            </p:tgtEl>
                                            <p:attrNameLst>
                                              <p:attrName>ppt_x</p:attrName>
                                              <p:attrName>ppt_y</p:attrName>
                                            </p:attrNameLst>
                                          </p:cBhvr>
                                          <p:rCtr x="-1523" y="5556"/>
                                        </p:animMotion>
                                      </p:childTnLst>
                                    </p:cTn>
                                  </p:par>
                                  <p:par>
                                    <p:cTn id="50" presetID="10" presetClass="entr" presetSubtype="0" fill="hold" nodeType="withEffect">
                                      <p:stCondLst>
                                        <p:cond delay="1250"/>
                                      </p:stCondLst>
                                      <p:childTnLst>
                                        <p:set>
                                          <p:cBhvr>
                                            <p:cTn id="51" dur="1" fill="hold">
                                              <p:stCondLst>
                                                <p:cond delay="0"/>
                                              </p:stCondLst>
                                            </p:cTn>
                                            <p:tgtEl>
                                              <p:spTgt spid="52"/>
                                            </p:tgtEl>
                                            <p:attrNameLst>
                                              <p:attrName>style.visibility</p:attrName>
                                            </p:attrNameLst>
                                          </p:cBhvr>
                                          <p:to>
                                            <p:strVal val="visible"/>
                                          </p:to>
                                        </p:set>
                                        <p:animEffect transition="in" filter="fade">
                                          <p:cBhvr>
                                            <p:cTn id="52" dur="250"/>
                                            <p:tgtEl>
                                              <p:spTgt spid="52"/>
                                            </p:tgtEl>
                                          </p:cBhvr>
                                        </p:animEffect>
                                      </p:childTnLst>
                                    </p:cTn>
                                  </p:par>
                                  <p:par>
                                    <p:cTn id="53" presetID="42" presetClass="path" presetSubtype="0" decel="100000" fill="hold" nodeType="withEffect">
                                      <p:stCondLst>
                                        <p:cond delay="1250"/>
                                      </p:stCondLst>
                                      <p:childTnLst>
                                        <p:animMotion origin="layout" path="M -2.08333E-7 -3.33333E-6 L 0.02279 0.13658 " pathEditMode="relative" rAng="0" ptsTypes="AA">
                                          <p:cBhvr>
                                            <p:cTn id="54" dur="1000" spd="-100000" fill="hold"/>
                                            <p:tgtEl>
                                              <p:spTgt spid="52"/>
                                            </p:tgtEl>
                                            <p:attrNameLst>
                                              <p:attrName>ppt_x</p:attrName>
                                              <p:attrName>ppt_y</p:attrName>
                                            </p:attrNameLst>
                                          </p:cBhvr>
                                          <p:rCtr x="1133" y="682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32" grpId="0" animBg="1"/>
          <p:bldP spid="17" grpId="0"/>
          <p:bldP spid="42" grpId="0" animBg="1"/>
          <p:bldP spid="43" grpId="0" animBg="1"/>
          <p:bldP spid="44" grpId="0" animBg="1"/>
          <p:bldP spid="45" grpId="0" animBg="1"/>
          <p:bldP spid="46"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750" fill="hold"/>
                                            <p:tgtEl>
                                              <p:spTgt spid="32"/>
                                            </p:tgtEl>
                                            <p:attrNameLst>
                                              <p:attrName>ppt_x</p:attrName>
                                            </p:attrNameLst>
                                          </p:cBhvr>
                                          <p:tavLst>
                                            <p:tav tm="0">
                                              <p:val>
                                                <p:strVal val="#ppt_x"/>
                                              </p:val>
                                            </p:tav>
                                            <p:tav tm="100000">
                                              <p:val>
                                                <p:strVal val="#ppt_x"/>
                                              </p:val>
                                            </p:tav>
                                          </p:tavLst>
                                        </p:anim>
                                        <p:anim calcmode="lin" valueType="num">
                                          <p:cBhvr additive="base">
                                            <p:cTn id="8" dur="750" fill="hold"/>
                                            <p:tgtEl>
                                              <p:spTgt spid="32"/>
                                            </p:tgtEl>
                                            <p:attrNameLst>
                                              <p:attrName>ppt_y</p:attrName>
                                            </p:attrNameLst>
                                          </p:cBhvr>
                                          <p:tavLst>
                                            <p:tav tm="0">
                                              <p:val>
                                                <p:strVal val="0-#ppt_h/2"/>
                                              </p:val>
                                            </p:tav>
                                            <p:tav tm="100000">
                                              <p:val>
                                                <p:strVal val="#ppt_y"/>
                                              </p:val>
                                            </p:tav>
                                          </p:tavLst>
                                        </p:anim>
                                      </p:childTnLst>
                                    </p:cTn>
                                  </p:par>
                                  <p:par>
                                    <p:cTn id="9" presetID="2" presetClass="entr" presetSubtype="4" decel="100000" fill="hold" nodeType="withEffect">
                                      <p:stCondLst>
                                        <p:cond delay="25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750" fill="hold"/>
                                            <p:tgtEl>
                                              <p:spTgt spid="18"/>
                                            </p:tgtEl>
                                            <p:attrNameLst>
                                              <p:attrName>ppt_x</p:attrName>
                                            </p:attrNameLst>
                                          </p:cBhvr>
                                          <p:tavLst>
                                            <p:tav tm="0">
                                              <p:val>
                                                <p:strVal val="#ppt_x"/>
                                              </p:val>
                                            </p:tav>
                                            <p:tav tm="100000">
                                              <p:val>
                                                <p:strVal val="#ppt_x"/>
                                              </p:val>
                                            </p:tav>
                                          </p:tavLst>
                                        </p:anim>
                                        <p:anim calcmode="lin" valueType="num">
                                          <p:cBhvr additive="base">
                                            <p:cTn id="12" dur="750" fill="hold"/>
                                            <p:tgtEl>
                                              <p:spTgt spid="18"/>
                                            </p:tgtEl>
                                            <p:attrNameLst>
                                              <p:attrName>ppt_y</p:attrName>
                                            </p:attrNameLst>
                                          </p:cBhvr>
                                          <p:tavLst>
                                            <p:tav tm="0">
                                              <p:val>
                                                <p:strVal val="1+#ppt_h/2"/>
                                              </p:val>
                                            </p:tav>
                                            <p:tav tm="100000">
                                              <p:val>
                                                <p:strVal val="#ppt_y"/>
                                              </p:val>
                                            </p:tav>
                                          </p:tavLst>
                                        </p:anim>
                                      </p:childTnLst>
                                    </p:cTn>
                                  </p:par>
                                  <p:par>
                                    <p:cTn id="13" presetID="10" presetClass="entr" presetSubtype="0" fill="hold" grpId="0" nodeType="withEffect">
                                      <p:stCondLst>
                                        <p:cond delay="25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250"/>
                                            <p:tgtEl>
                                              <p:spTgt spid="19"/>
                                            </p:tgtEl>
                                          </p:cBhvr>
                                        </p:animEffect>
                                      </p:childTnLst>
                                    </p:cTn>
                                  </p:par>
                                  <p:par>
                                    <p:cTn id="16" presetID="42" presetClass="path" presetSubtype="0" decel="100000" fill="hold" grpId="1" nodeType="withEffect">
                                      <p:stCondLst>
                                        <p:cond delay="250"/>
                                      </p:stCondLst>
                                      <p:childTnLst>
                                        <p:animMotion origin="layout" path="M -4.16667E-6 -2.22222E-6 L -4.16667E-6 0.09861 " pathEditMode="relative" rAng="0" ptsTypes="AA">
                                          <p:cBhvr>
                                            <p:cTn id="17" dur="750" spd="-100000" fill="hold"/>
                                            <p:tgtEl>
                                              <p:spTgt spid="19"/>
                                            </p:tgtEl>
                                            <p:attrNameLst>
                                              <p:attrName>ppt_x</p:attrName>
                                              <p:attrName>ppt_y</p:attrName>
                                            </p:attrNameLst>
                                          </p:cBhvr>
                                          <p:rCtr x="0" y="4931"/>
                                        </p:animMotion>
                                      </p:childTnLst>
                                    </p:cTn>
                                  </p:par>
                                  <p:par>
                                    <p:cTn id="18" presetID="10" presetClass="entr" presetSubtype="0" fill="hold" nodeType="withEffect">
                                      <p:stCondLst>
                                        <p:cond delay="75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250"/>
                                            <p:tgtEl>
                                              <p:spTgt spid="21"/>
                                            </p:tgtEl>
                                          </p:cBhvr>
                                        </p:animEffect>
                                      </p:childTnLst>
                                    </p:cTn>
                                  </p:par>
                                  <p:par>
                                    <p:cTn id="21" presetID="35" presetClass="path" presetSubtype="0" decel="100000" fill="hold" nodeType="withEffect">
                                      <p:stCondLst>
                                        <p:cond delay="750"/>
                                      </p:stCondLst>
                                      <p:childTnLst>
                                        <p:animMotion origin="layout" path="M 1.04167E-6 2.22222E-6 L -0.17917 2.22222E-6 " pathEditMode="relative" rAng="0" ptsTypes="AA">
                                          <p:cBhvr>
                                            <p:cTn id="22" dur="750" spd="-100000" fill="hold"/>
                                            <p:tgtEl>
                                              <p:spTgt spid="21"/>
                                            </p:tgtEl>
                                            <p:attrNameLst>
                                              <p:attrName>ppt_x</p:attrName>
                                              <p:attrName>ppt_y</p:attrName>
                                            </p:attrNameLst>
                                          </p:cBhvr>
                                          <p:rCtr x="-8958" y="0"/>
                                        </p:animMotion>
                                      </p:childTnLst>
                                    </p:cTn>
                                  </p:par>
                                  <p:par>
                                    <p:cTn id="23" presetID="10" presetClass="entr" presetSubtype="0" fill="hold" nodeType="withEffect">
                                      <p:stCondLst>
                                        <p:cond delay="75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par>
                                    <p:cTn id="26" presetID="10" presetClass="entr" presetSubtype="0" fill="hold" nodeType="withEffect">
                                      <p:stCondLst>
                                        <p:cond delay="75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500"/>
                                            <p:tgtEl>
                                              <p:spTgt spid="23"/>
                                            </p:tgtEl>
                                          </p:cBhvr>
                                        </p:animEffect>
                                      </p:childTnLst>
                                    </p:cTn>
                                  </p:par>
                                  <p:par>
                                    <p:cTn id="29" presetID="10" presetClass="entr" presetSubtype="0" fill="hold" nodeType="withEffect">
                                      <p:stCondLst>
                                        <p:cond delay="75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00"/>
                                            <p:tgtEl>
                                              <p:spTgt spid="28"/>
                                            </p:tgtEl>
                                          </p:cBhvr>
                                        </p:animEffect>
                                      </p:childTnLst>
                                    </p:cTn>
                                  </p:par>
                                  <p:par>
                                    <p:cTn id="32" presetID="23" presetClass="entr" presetSubtype="16" fill="hold" nodeType="withEffect">
                                      <p:stCondLst>
                                        <p:cond delay="1250"/>
                                      </p:stCondLst>
                                      <p:childTnLst>
                                        <p:set>
                                          <p:cBhvr>
                                            <p:cTn id="33" dur="1" fill="hold">
                                              <p:stCondLst>
                                                <p:cond delay="0"/>
                                              </p:stCondLst>
                                            </p:cTn>
                                            <p:tgtEl>
                                              <p:spTgt spid="20"/>
                                            </p:tgtEl>
                                            <p:attrNameLst>
                                              <p:attrName>style.visibility</p:attrName>
                                            </p:attrNameLst>
                                          </p:cBhvr>
                                          <p:to>
                                            <p:strVal val="visible"/>
                                          </p:to>
                                        </p:set>
                                        <p:anim calcmode="lin" valueType="num">
                                          <p:cBhvr>
                                            <p:cTn id="34" dur="200" fill="hold"/>
                                            <p:tgtEl>
                                              <p:spTgt spid="20"/>
                                            </p:tgtEl>
                                            <p:attrNameLst>
                                              <p:attrName>ppt_w</p:attrName>
                                            </p:attrNameLst>
                                          </p:cBhvr>
                                          <p:tavLst>
                                            <p:tav tm="0">
                                              <p:val>
                                                <p:fltVal val="0"/>
                                              </p:val>
                                            </p:tav>
                                            <p:tav tm="100000">
                                              <p:val>
                                                <p:strVal val="#ppt_w"/>
                                              </p:val>
                                            </p:tav>
                                          </p:tavLst>
                                        </p:anim>
                                        <p:anim calcmode="lin" valueType="num">
                                          <p:cBhvr>
                                            <p:cTn id="35" dur="200" fill="hold"/>
                                            <p:tgtEl>
                                              <p:spTgt spid="20"/>
                                            </p:tgtEl>
                                            <p:attrNameLst>
                                              <p:attrName>ppt_h</p:attrName>
                                            </p:attrNameLst>
                                          </p:cBhvr>
                                          <p:tavLst>
                                            <p:tav tm="0">
                                              <p:val>
                                                <p:fltVal val="0"/>
                                              </p:val>
                                            </p:tav>
                                            <p:tav tm="100000">
                                              <p:val>
                                                <p:strVal val="#ppt_h"/>
                                              </p:val>
                                            </p:tav>
                                          </p:tavLst>
                                        </p:anim>
                                      </p:childTnLst>
                                    </p:cTn>
                                  </p:par>
                                  <p:par>
                                    <p:cTn id="36" presetID="6" presetClass="emph" presetSubtype="0" fill="hold" nodeType="withEffect">
                                      <p:stCondLst>
                                        <p:cond delay="1250"/>
                                      </p:stCondLst>
                                      <p:childTnLst>
                                        <p:animScale>
                                          <p:cBhvr>
                                            <p:cTn id="37" dur="1000" fill="hold"/>
                                            <p:tgtEl>
                                              <p:spTgt spid="20"/>
                                            </p:tgtEl>
                                          </p:cBhvr>
                                          <p:by x="110000" y="110000"/>
                                        </p:animScale>
                                      </p:childTnLst>
                                    </p:cTn>
                                  </p:par>
                                  <p:par>
                                    <p:cTn id="38" presetID="6" presetClass="emph" presetSubtype="0" accel="50000" decel="50000" fill="hold" nodeType="withEffect">
                                      <p:stCondLst>
                                        <p:cond delay="1250"/>
                                      </p:stCondLst>
                                      <p:childTnLst>
                                        <p:animScale>
                                          <p:cBhvr>
                                            <p:cTn id="39" dur="250" fill="hold"/>
                                            <p:tgtEl>
                                              <p:spTgt spid="20"/>
                                            </p:tgtEl>
                                          </p:cBhvr>
                                          <p:by x="91000" y="91000"/>
                                        </p:animScale>
                                      </p:childTnLst>
                                    </p:cTn>
                                  </p:par>
                                  <p:par>
                                    <p:cTn id="40" presetID="18" presetClass="entr" presetSubtype="12" fill="hold" grpId="0" nodeType="withEffect">
                                      <p:stCondLst>
                                        <p:cond delay="1250"/>
                                      </p:stCondLst>
                                      <p:childTnLst>
                                        <p:set>
                                          <p:cBhvr>
                                            <p:cTn id="41" dur="1" fill="hold">
                                              <p:stCondLst>
                                                <p:cond delay="0"/>
                                              </p:stCondLst>
                                            </p:cTn>
                                            <p:tgtEl>
                                              <p:spTgt spid="42"/>
                                            </p:tgtEl>
                                            <p:attrNameLst>
                                              <p:attrName>style.visibility</p:attrName>
                                            </p:attrNameLst>
                                          </p:cBhvr>
                                          <p:to>
                                            <p:strVal val="visible"/>
                                          </p:to>
                                        </p:set>
                                        <p:animEffect transition="in" filter="strips(downLeft)">
                                          <p:cBhvr>
                                            <p:cTn id="42" dur="500"/>
                                            <p:tgtEl>
                                              <p:spTgt spid="42"/>
                                            </p:tgtEl>
                                          </p:cBhvr>
                                        </p:animEffect>
                                      </p:childTnLst>
                                    </p:cTn>
                                  </p:par>
                                  <p:par>
                                    <p:cTn id="43" presetID="18" presetClass="entr" presetSubtype="12" fill="hold" grpId="0" nodeType="withEffect">
                                      <p:stCondLst>
                                        <p:cond delay="1250"/>
                                      </p:stCondLst>
                                      <p:childTnLst>
                                        <p:set>
                                          <p:cBhvr>
                                            <p:cTn id="44" dur="1" fill="hold">
                                              <p:stCondLst>
                                                <p:cond delay="0"/>
                                              </p:stCondLst>
                                            </p:cTn>
                                            <p:tgtEl>
                                              <p:spTgt spid="43"/>
                                            </p:tgtEl>
                                            <p:attrNameLst>
                                              <p:attrName>style.visibility</p:attrName>
                                            </p:attrNameLst>
                                          </p:cBhvr>
                                          <p:to>
                                            <p:strVal val="visible"/>
                                          </p:to>
                                        </p:set>
                                        <p:animEffect transition="in" filter="strips(downLeft)">
                                          <p:cBhvr>
                                            <p:cTn id="45" dur="500"/>
                                            <p:tgtEl>
                                              <p:spTgt spid="43"/>
                                            </p:tgtEl>
                                          </p:cBhvr>
                                        </p:animEffect>
                                      </p:childTnLst>
                                    </p:cTn>
                                  </p:par>
                                  <p:par>
                                    <p:cTn id="46" presetID="18" presetClass="entr" presetSubtype="12" fill="hold" grpId="0" nodeType="withEffect">
                                      <p:stCondLst>
                                        <p:cond delay="1250"/>
                                      </p:stCondLst>
                                      <p:childTnLst>
                                        <p:set>
                                          <p:cBhvr>
                                            <p:cTn id="47" dur="1" fill="hold">
                                              <p:stCondLst>
                                                <p:cond delay="0"/>
                                              </p:stCondLst>
                                            </p:cTn>
                                            <p:tgtEl>
                                              <p:spTgt spid="44"/>
                                            </p:tgtEl>
                                            <p:attrNameLst>
                                              <p:attrName>style.visibility</p:attrName>
                                            </p:attrNameLst>
                                          </p:cBhvr>
                                          <p:to>
                                            <p:strVal val="visible"/>
                                          </p:to>
                                        </p:set>
                                        <p:animEffect transition="in" filter="strips(downLeft)">
                                          <p:cBhvr>
                                            <p:cTn id="48" dur="500"/>
                                            <p:tgtEl>
                                              <p:spTgt spid="44"/>
                                            </p:tgtEl>
                                          </p:cBhvr>
                                        </p:animEffect>
                                      </p:childTnLst>
                                    </p:cTn>
                                  </p:par>
                                  <p:par>
                                    <p:cTn id="49" presetID="18" presetClass="entr" presetSubtype="12" fill="hold" grpId="0" nodeType="withEffect">
                                      <p:stCondLst>
                                        <p:cond delay="1250"/>
                                      </p:stCondLst>
                                      <p:childTnLst>
                                        <p:set>
                                          <p:cBhvr>
                                            <p:cTn id="50" dur="1" fill="hold">
                                              <p:stCondLst>
                                                <p:cond delay="0"/>
                                              </p:stCondLst>
                                            </p:cTn>
                                            <p:tgtEl>
                                              <p:spTgt spid="45"/>
                                            </p:tgtEl>
                                            <p:attrNameLst>
                                              <p:attrName>style.visibility</p:attrName>
                                            </p:attrNameLst>
                                          </p:cBhvr>
                                          <p:to>
                                            <p:strVal val="visible"/>
                                          </p:to>
                                        </p:set>
                                        <p:animEffect transition="in" filter="strips(downLeft)">
                                          <p:cBhvr>
                                            <p:cTn id="51" dur="500"/>
                                            <p:tgtEl>
                                              <p:spTgt spid="45"/>
                                            </p:tgtEl>
                                          </p:cBhvr>
                                        </p:animEffect>
                                      </p:childTnLst>
                                    </p:cTn>
                                  </p:par>
                                  <p:par>
                                    <p:cTn id="52" presetID="18" presetClass="entr" presetSubtype="12" fill="hold" grpId="0" nodeType="withEffect">
                                      <p:stCondLst>
                                        <p:cond delay="1250"/>
                                      </p:stCondLst>
                                      <p:childTnLst>
                                        <p:set>
                                          <p:cBhvr>
                                            <p:cTn id="53" dur="1" fill="hold">
                                              <p:stCondLst>
                                                <p:cond delay="0"/>
                                              </p:stCondLst>
                                            </p:cTn>
                                            <p:tgtEl>
                                              <p:spTgt spid="46"/>
                                            </p:tgtEl>
                                            <p:attrNameLst>
                                              <p:attrName>style.visibility</p:attrName>
                                            </p:attrNameLst>
                                          </p:cBhvr>
                                          <p:to>
                                            <p:strVal val="visible"/>
                                          </p:to>
                                        </p:set>
                                        <p:animEffect transition="in" filter="strips(downLeft)">
                                          <p:cBhvr>
                                            <p:cTn id="54" dur="500"/>
                                            <p:tgtEl>
                                              <p:spTgt spid="46"/>
                                            </p:tgtEl>
                                          </p:cBhvr>
                                        </p:animEffect>
                                      </p:childTnLst>
                                    </p:cTn>
                                  </p:par>
                                  <p:par>
                                    <p:cTn id="55" presetID="10" presetClass="entr" presetSubtype="0" fill="hold" grpId="0" nodeType="withEffect">
                                      <p:stCondLst>
                                        <p:cond delay="125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500"/>
                                            <p:tgtEl>
                                              <p:spTgt spid="17"/>
                                            </p:tgtEl>
                                          </p:cBhvr>
                                        </p:animEffect>
                                      </p:childTnLst>
                                    </p:cTn>
                                  </p:par>
                                  <p:par>
                                    <p:cTn id="58" presetID="10" presetClass="entr" presetSubtype="0" fill="hold" nodeType="withEffect">
                                      <p:stCondLst>
                                        <p:cond delay="1000"/>
                                      </p:stCondLst>
                                      <p:childTnLst>
                                        <p:set>
                                          <p:cBhvr>
                                            <p:cTn id="59" dur="1" fill="hold">
                                              <p:stCondLst>
                                                <p:cond delay="0"/>
                                              </p:stCondLst>
                                            </p:cTn>
                                            <p:tgtEl>
                                              <p:spTgt spid="50"/>
                                            </p:tgtEl>
                                            <p:attrNameLst>
                                              <p:attrName>style.visibility</p:attrName>
                                            </p:attrNameLst>
                                          </p:cBhvr>
                                          <p:to>
                                            <p:strVal val="visible"/>
                                          </p:to>
                                        </p:set>
                                        <p:animEffect transition="in" filter="fade">
                                          <p:cBhvr>
                                            <p:cTn id="60" dur="250"/>
                                            <p:tgtEl>
                                              <p:spTgt spid="50"/>
                                            </p:tgtEl>
                                          </p:cBhvr>
                                        </p:animEffect>
                                      </p:childTnLst>
                                    </p:cTn>
                                  </p:par>
                                  <p:par>
                                    <p:cTn id="61" presetID="42" presetClass="path" presetSubtype="0" decel="100000" fill="hold" nodeType="withEffect">
                                      <p:stCondLst>
                                        <p:cond delay="1000"/>
                                      </p:stCondLst>
                                      <p:childTnLst>
                                        <p:animMotion origin="layout" path="M -3.75E-6 2.22222E-6 L -0.03046 0.11134 " pathEditMode="relative" rAng="0" ptsTypes="AA">
                                          <p:cBhvr>
                                            <p:cTn id="62" dur="1000" spd="-100000" fill="hold"/>
                                            <p:tgtEl>
                                              <p:spTgt spid="50"/>
                                            </p:tgtEl>
                                            <p:attrNameLst>
                                              <p:attrName>ppt_x</p:attrName>
                                              <p:attrName>ppt_y</p:attrName>
                                            </p:attrNameLst>
                                          </p:cBhvr>
                                          <p:rCtr x="-1523" y="5556"/>
                                        </p:animMotion>
                                      </p:childTnLst>
                                    </p:cTn>
                                  </p:par>
                                  <p:par>
                                    <p:cTn id="63" presetID="10" presetClass="entr" presetSubtype="0" fill="hold" nodeType="withEffect">
                                      <p:stCondLst>
                                        <p:cond delay="1250"/>
                                      </p:stCondLst>
                                      <p:childTnLst>
                                        <p:set>
                                          <p:cBhvr>
                                            <p:cTn id="64" dur="1" fill="hold">
                                              <p:stCondLst>
                                                <p:cond delay="0"/>
                                              </p:stCondLst>
                                            </p:cTn>
                                            <p:tgtEl>
                                              <p:spTgt spid="52"/>
                                            </p:tgtEl>
                                            <p:attrNameLst>
                                              <p:attrName>style.visibility</p:attrName>
                                            </p:attrNameLst>
                                          </p:cBhvr>
                                          <p:to>
                                            <p:strVal val="visible"/>
                                          </p:to>
                                        </p:set>
                                        <p:animEffect transition="in" filter="fade">
                                          <p:cBhvr>
                                            <p:cTn id="65" dur="250"/>
                                            <p:tgtEl>
                                              <p:spTgt spid="52"/>
                                            </p:tgtEl>
                                          </p:cBhvr>
                                        </p:animEffect>
                                      </p:childTnLst>
                                    </p:cTn>
                                  </p:par>
                                  <p:par>
                                    <p:cTn id="66" presetID="42" presetClass="path" presetSubtype="0" decel="100000" fill="hold" nodeType="withEffect">
                                      <p:stCondLst>
                                        <p:cond delay="1250"/>
                                      </p:stCondLst>
                                      <p:childTnLst>
                                        <p:animMotion origin="layout" path="M -2.08333E-7 -3.33333E-6 L 0.02279 0.13658 " pathEditMode="relative" rAng="0" ptsTypes="AA">
                                          <p:cBhvr>
                                            <p:cTn id="67" dur="1000" spd="-100000" fill="hold"/>
                                            <p:tgtEl>
                                              <p:spTgt spid="52"/>
                                            </p:tgtEl>
                                            <p:attrNameLst>
                                              <p:attrName>ppt_x</p:attrName>
                                              <p:attrName>ppt_y</p:attrName>
                                            </p:attrNameLst>
                                          </p:cBhvr>
                                          <p:rCtr x="1133" y="6829"/>
                                        </p:animMotion>
                                      </p:childTnLst>
                                    </p:cTn>
                                  </p:par>
                                  <p:par>
                                    <p:cTn id="68" presetID="10" presetClass="entr" presetSubtype="0" fill="hold" nodeType="withEffect">
                                      <p:stCondLst>
                                        <p:cond delay="1500"/>
                                      </p:stCondLst>
                                      <p:childTnLst>
                                        <p:set>
                                          <p:cBhvr>
                                            <p:cTn id="69" dur="1" fill="hold">
                                              <p:stCondLst>
                                                <p:cond delay="0"/>
                                              </p:stCondLst>
                                            </p:cTn>
                                            <p:tgtEl>
                                              <p:spTgt spid="48"/>
                                            </p:tgtEl>
                                            <p:attrNameLst>
                                              <p:attrName>style.visibility</p:attrName>
                                            </p:attrNameLst>
                                          </p:cBhvr>
                                          <p:to>
                                            <p:strVal val="visible"/>
                                          </p:to>
                                        </p:set>
                                        <p:animEffect transition="in" filter="fade">
                                          <p:cBhvr>
                                            <p:cTn id="70" dur="250"/>
                                            <p:tgtEl>
                                              <p:spTgt spid="48"/>
                                            </p:tgtEl>
                                          </p:cBhvr>
                                        </p:animEffect>
                                      </p:childTnLst>
                                    </p:cTn>
                                  </p:par>
                                  <p:par>
                                    <p:cTn id="71" presetID="42" presetClass="path" presetSubtype="0" decel="100000" fill="hold" nodeType="withEffect">
                                      <p:stCondLst>
                                        <p:cond delay="1500"/>
                                      </p:stCondLst>
                                      <p:childTnLst>
                                        <p:animMotion origin="layout" path="M 3.54167E-6 -1.48148E-6 L -0.08516 0.05278 " pathEditMode="relative" rAng="0" ptsTypes="AA">
                                          <p:cBhvr>
                                            <p:cTn id="72" dur="1000" spd="-100000" fill="hold"/>
                                            <p:tgtEl>
                                              <p:spTgt spid="48"/>
                                            </p:tgtEl>
                                            <p:attrNameLst>
                                              <p:attrName>ppt_x</p:attrName>
                                              <p:attrName>ppt_y</p:attrName>
                                            </p:attrNameLst>
                                          </p:cBhvr>
                                          <p:rCtr x="-4258" y="263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32" grpId="0" animBg="1"/>
          <p:bldP spid="17" grpId="0"/>
          <p:bldP spid="42" grpId="0" animBg="1"/>
          <p:bldP spid="43" grpId="0" animBg="1"/>
          <p:bldP spid="44" grpId="0" animBg="1"/>
          <p:bldP spid="45" grpId="0" animBg="1"/>
          <p:bldP spid="46" grpId="0" animBg="1"/>
        </p:bldLst>
      </p:timing>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B194DFA-D81F-45C6-98D0-615747557E57}"/>
              </a:ext>
            </a:extLst>
          </p:cNvPr>
          <p:cNvSpPr/>
          <p:nvPr/>
        </p:nvSpPr>
        <p:spPr>
          <a:xfrm>
            <a:off x="0" y="3806240"/>
            <a:ext cx="12192000" cy="30517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0" name="Picture 169" descr="Shape, circle&#10;&#10;Description automatically generated">
            <a:extLst>
              <a:ext uri="{FF2B5EF4-FFF2-40B4-BE49-F238E27FC236}">
                <a16:creationId xmlns:a16="http://schemas.microsoft.com/office/drawing/2014/main" id="{EEB2B992-2400-4EEE-A3C6-C52D633A15B2}"/>
              </a:ext>
            </a:extLst>
          </p:cNvPr>
          <p:cNvPicPr>
            <a:picLocks noChangeAspect="1"/>
          </p:cNvPicPr>
          <p:nvPr/>
        </p:nvPicPr>
        <p:blipFill rotWithShape="1">
          <a:blip r:embed="rId2">
            <a:extLst>
              <a:ext uri="{28A0092B-C50C-407E-A947-70E740481C1C}">
                <a14:useLocalDpi xmlns:a14="http://schemas.microsoft.com/office/drawing/2010/main" val="0"/>
              </a:ext>
            </a:extLst>
          </a:blip>
          <a:srcRect r="64988"/>
          <a:stretch/>
        </p:blipFill>
        <p:spPr>
          <a:xfrm>
            <a:off x="0" y="0"/>
            <a:ext cx="4268596" cy="6858000"/>
          </a:xfrm>
          <a:prstGeom prst="rect">
            <a:avLst/>
          </a:prstGeom>
        </p:spPr>
      </p:pic>
      <p:grpSp>
        <p:nvGrpSpPr>
          <p:cNvPr id="182" name="Group 181">
            <a:extLst>
              <a:ext uri="{FF2B5EF4-FFF2-40B4-BE49-F238E27FC236}">
                <a16:creationId xmlns:a16="http://schemas.microsoft.com/office/drawing/2014/main" id="{77396E5F-348C-4338-B293-968BEA981FDB}"/>
              </a:ext>
            </a:extLst>
          </p:cNvPr>
          <p:cNvGrpSpPr/>
          <p:nvPr/>
        </p:nvGrpSpPr>
        <p:grpSpPr>
          <a:xfrm>
            <a:off x="252552" y="6342796"/>
            <a:ext cx="11686895" cy="398170"/>
            <a:chOff x="252552" y="6226684"/>
            <a:chExt cx="11686895" cy="398170"/>
          </a:xfrm>
        </p:grpSpPr>
        <p:grpSp>
          <p:nvGrpSpPr>
            <p:cNvPr id="172" name="Group 171">
              <a:extLst>
                <a:ext uri="{FF2B5EF4-FFF2-40B4-BE49-F238E27FC236}">
                  <a16:creationId xmlns:a16="http://schemas.microsoft.com/office/drawing/2014/main" id="{043DA00A-4155-4488-8261-DB136097B10C}"/>
                </a:ext>
              </a:extLst>
            </p:cNvPr>
            <p:cNvGrpSpPr/>
            <p:nvPr/>
          </p:nvGrpSpPr>
          <p:grpSpPr>
            <a:xfrm>
              <a:off x="252552" y="6293241"/>
              <a:ext cx="1266906" cy="265056"/>
              <a:chOff x="5600700" y="-854146"/>
              <a:chExt cx="989647" cy="207049"/>
            </a:xfrm>
          </p:grpSpPr>
          <p:sp>
            <p:nvSpPr>
              <p:cNvPr id="173" name="Freeform: Shape 172">
                <a:extLst>
                  <a:ext uri="{FF2B5EF4-FFF2-40B4-BE49-F238E27FC236}">
                    <a16:creationId xmlns:a16="http://schemas.microsoft.com/office/drawing/2014/main" id="{5529D942-D3DC-4AA5-A11E-2EAD767EE35D}"/>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0755DD92-DC0C-4053-A436-745AF0A70850}"/>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4518EE33-E21D-4E76-B041-14F423E26EAD}"/>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4C711A2-EC08-414B-B62D-F848E4E33BC2}"/>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7152FC00-E28E-4906-9909-07FB83382FA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5C0BFA11-C3DB-4246-9AA5-3EC58FE54C46}"/>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D22D6EE2-4EA8-4E7A-B8FF-7F9FE44552D8}"/>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BDBBAA55-241D-4C91-804F-8945A70DB132}"/>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BE44E2D9-A68F-4AE8-873F-8B818D81D3B6}"/>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2541" y="6226684"/>
              <a:ext cx="1266906" cy="398170"/>
            </a:xfrm>
            <a:prstGeom prst="rect">
              <a:avLst/>
            </a:prstGeom>
          </p:spPr>
        </p:pic>
      </p:grpSp>
      <p:sp>
        <p:nvSpPr>
          <p:cNvPr id="150" name="TextBox 149">
            <a:extLst>
              <a:ext uri="{FF2B5EF4-FFF2-40B4-BE49-F238E27FC236}">
                <a16:creationId xmlns:a16="http://schemas.microsoft.com/office/drawing/2014/main" id="{97AE9CDE-843A-4016-BD11-6A012486773C}"/>
              </a:ext>
            </a:extLst>
          </p:cNvPr>
          <p:cNvSpPr txBox="1"/>
          <p:nvPr/>
        </p:nvSpPr>
        <p:spPr>
          <a:xfrm>
            <a:off x="468407" y="580642"/>
            <a:ext cx="3389218" cy="510909"/>
          </a:xfrm>
          <a:prstGeom prst="rect">
            <a:avLst/>
          </a:prstGeom>
          <a:noFill/>
        </p:spPr>
        <p:txBody>
          <a:bodyPr wrap="square" rtlCol="0">
            <a:spAutoFit/>
          </a:bodyPr>
          <a:lstStyle/>
          <a:p>
            <a:pPr lvl="0">
              <a:lnSpc>
                <a:spcPct val="85000"/>
              </a:lnSpc>
              <a:defRPr/>
            </a:pPr>
            <a:r>
              <a:rPr lang="pt-PT" sz="3200" b="1" spc="300" dirty="0">
                <a:solidFill>
                  <a:schemeClr val="bg1"/>
                </a:solidFill>
                <a:latin typeface="Trebuchet MS" panose="020B0603020202020204" pitchFamily="34" charset="0"/>
                <a:ea typeface="Verdana" panose="020B0604030504040204" pitchFamily="34" charset="0"/>
                <a:cs typeface="Zilla Slab Light"/>
                <a:sym typeface="Zilla Slab Light"/>
              </a:rPr>
              <a:t>MIGRÉTIL</a:t>
            </a:r>
            <a:endParaRPr kumimoji="0" lang="en-US" sz="3200" b="1" i="0" u="none" strike="noStrike" kern="1200" cap="none" spc="300" normalizeH="0" baseline="30000" noProof="0" dirty="0">
              <a:ln>
                <a:noFill/>
              </a:ln>
              <a:solidFill>
                <a:schemeClr val="bg1"/>
              </a:solidFill>
              <a:uLnTx/>
              <a:uFillTx/>
              <a:latin typeface="Trebuchet MS" panose="020B0603020202020204" pitchFamily="34" charset="0"/>
              <a:ea typeface="Verdana" panose="020B0604030504040204" pitchFamily="34" charset="0"/>
              <a:cs typeface="Zilla Slab Light"/>
              <a:sym typeface="Zilla Slab Light"/>
            </a:endParaRPr>
          </a:p>
        </p:txBody>
      </p:sp>
      <p:grpSp>
        <p:nvGrpSpPr>
          <p:cNvPr id="37" name="Group 36">
            <a:extLst>
              <a:ext uri="{FF2B5EF4-FFF2-40B4-BE49-F238E27FC236}">
                <a16:creationId xmlns:a16="http://schemas.microsoft.com/office/drawing/2014/main" id="{0BE31391-F1DC-411A-87D1-5112B9F266CA}"/>
              </a:ext>
            </a:extLst>
          </p:cNvPr>
          <p:cNvGrpSpPr/>
          <p:nvPr/>
        </p:nvGrpSpPr>
        <p:grpSpPr>
          <a:xfrm>
            <a:off x="252552" y="6409353"/>
            <a:ext cx="1266906" cy="265056"/>
            <a:chOff x="5600700" y="-854146"/>
            <a:chExt cx="989647" cy="207049"/>
          </a:xfrm>
          <a:solidFill>
            <a:schemeClr val="bg1"/>
          </a:solidFill>
        </p:grpSpPr>
        <p:sp>
          <p:nvSpPr>
            <p:cNvPr id="41" name="Freeform: Shape 40">
              <a:extLst>
                <a:ext uri="{FF2B5EF4-FFF2-40B4-BE49-F238E27FC236}">
                  <a16:creationId xmlns:a16="http://schemas.microsoft.com/office/drawing/2014/main" id="{13F13A9E-8B05-4590-A769-7FB4E7D04AA7}"/>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C0B628-3DD6-4944-9D84-B56861B58EF6}"/>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017A177-EC27-403B-8372-86A3DBE3082E}"/>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E32EB9E-2686-4B42-9E63-9A43DDA63D58}"/>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2470303-A478-48C3-AD44-38AA76CC623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A6D117B-673B-41A6-9291-A0BBD1557E39}"/>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04C809F-31FC-48B3-A817-B6F57FFB20E1}"/>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5F7B8F6-61CC-412C-AEFF-BE182B64F64B}"/>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AC0821E-80AD-4AC4-8876-F78F55B9F41B}"/>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grpFill/>
            <a:ln w="9525" cap="flat">
              <a:noFill/>
              <a:prstDash val="solid"/>
              <a:miter/>
            </a:ln>
          </p:spPr>
          <p:txBody>
            <a:bodyPr rtlCol="0" anchor="ctr"/>
            <a:lstStyle/>
            <a:p>
              <a:endParaRPr lang="en-US"/>
            </a:p>
          </p:txBody>
        </p:sp>
      </p:grpSp>
      <p:sp>
        <p:nvSpPr>
          <p:cNvPr id="223" name="TextBox 222">
            <a:extLst>
              <a:ext uri="{FF2B5EF4-FFF2-40B4-BE49-F238E27FC236}">
                <a16:creationId xmlns:a16="http://schemas.microsoft.com/office/drawing/2014/main" id="{E70EEC19-B0E3-4765-98C9-E87C6C1182C7}"/>
              </a:ext>
            </a:extLst>
          </p:cNvPr>
          <p:cNvSpPr txBox="1"/>
          <p:nvPr/>
        </p:nvSpPr>
        <p:spPr>
          <a:xfrm>
            <a:off x="4683761" y="6577154"/>
            <a:ext cx="5591683" cy="210058"/>
          </a:xfrm>
          <a:prstGeom prst="rect">
            <a:avLst/>
          </a:prstGeom>
          <a:noFill/>
        </p:spPr>
        <p:txBody>
          <a:bodyPr wrap="square" rtlCol="0">
            <a:spAutoFit/>
          </a:bodyPr>
          <a:lstStyle/>
          <a:p>
            <a:pPr lvl="0">
              <a:lnSpc>
                <a:spcPct val="85000"/>
              </a:lnSpc>
              <a:defRPr/>
            </a:pPr>
            <a:r>
              <a:rPr lang="en-US" sz="900" dirty="0">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RCP DE MIGRÉTIL</a:t>
            </a:r>
          </a:p>
        </p:txBody>
      </p:sp>
      <p:pic>
        <p:nvPicPr>
          <p:cNvPr id="100" name="Graphic 99">
            <a:extLst>
              <a:ext uri="{FF2B5EF4-FFF2-40B4-BE49-F238E27FC236}">
                <a16:creationId xmlns:a16="http://schemas.microsoft.com/office/drawing/2014/main" id="{95448BFF-4BE7-45ED-8CE1-B8AE69A5826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07803" y="2456766"/>
            <a:ext cx="2927599" cy="1631526"/>
          </a:xfrm>
          <a:prstGeom prst="rect">
            <a:avLst/>
          </a:prstGeom>
        </p:spPr>
      </p:pic>
      <p:pic>
        <p:nvPicPr>
          <p:cNvPr id="103" name="Picture 102" descr="A picture containing text&#10;&#10;Description automatically generated">
            <a:extLst>
              <a:ext uri="{FF2B5EF4-FFF2-40B4-BE49-F238E27FC236}">
                <a16:creationId xmlns:a16="http://schemas.microsoft.com/office/drawing/2014/main" id="{A978B731-12D7-4E74-8822-D38F2B646F6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3803" y="3709375"/>
            <a:ext cx="4099534" cy="1677833"/>
          </a:xfrm>
          <a:prstGeom prst="rect">
            <a:avLst/>
          </a:prstGeom>
        </p:spPr>
      </p:pic>
      <p:pic>
        <p:nvPicPr>
          <p:cNvPr id="104" name="Picture 103">
            <a:extLst>
              <a:ext uri="{FF2B5EF4-FFF2-40B4-BE49-F238E27FC236}">
                <a16:creationId xmlns:a16="http://schemas.microsoft.com/office/drawing/2014/main" id="{1CC6B801-4BAD-44BA-B87F-07624B7A8907}"/>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rot="2124397">
            <a:off x="3051916" y="5959422"/>
            <a:ext cx="780987" cy="607162"/>
          </a:xfrm>
          <a:prstGeom prst="rect">
            <a:avLst/>
          </a:prstGeom>
          <a:effectLst>
            <a:outerShdw blurRad="317500" sx="102000" sy="102000" algn="ctr" rotWithShape="0">
              <a:prstClr val="black">
                <a:alpha val="15000"/>
              </a:prstClr>
            </a:outerShdw>
          </a:effectLst>
        </p:spPr>
      </p:pic>
      <p:grpSp>
        <p:nvGrpSpPr>
          <p:cNvPr id="36" name="Group 35">
            <a:extLst>
              <a:ext uri="{FF2B5EF4-FFF2-40B4-BE49-F238E27FC236}">
                <a16:creationId xmlns:a16="http://schemas.microsoft.com/office/drawing/2014/main" id="{1465C34A-5FAC-4195-8258-D49778C87281}"/>
              </a:ext>
            </a:extLst>
          </p:cNvPr>
          <p:cNvGrpSpPr/>
          <p:nvPr/>
        </p:nvGrpSpPr>
        <p:grpSpPr>
          <a:xfrm>
            <a:off x="4939337" y="1665351"/>
            <a:ext cx="3310657" cy="1951844"/>
            <a:chOff x="6434250" y="3200819"/>
            <a:chExt cx="1753219" cy="1121638"/>
          </a:xfrm>
        </p:grpSpPr>
        <p:sp>
          <p:nvSpPr>
            <p:cNvPr id="38" name="Retângulo: Cantos Arredondados 32">
              <a:extLst>
                <a:ext uri="{FF2B5EF4-FFF2-40B4-BE49-F238E27FC236}">
                  <a16:creationId xmlns:a16="http://schemas.microsoft.com/office/drawing/2014/main" id="{974DD483-6BE1-452E-BF16-3A7571DFFF76}"/>
                </a:ext>
              </a:extLst>
            </p:cNvPr>
            <p:cNvSpPr/>
            <p:nvPr/>
          </p:nvSpPr>
          <p:spPr>
            <a:xfrm rot="5400000" flipV="1">
              <a:off x="6750041" y="2885028"/>
              <a:ext cx="1121638" cy="1753219"/>
            </a:xfrm>
            <a:prstGeom prst="roundRect">
              <a:avLst>
                <a:gd name="adj" fmla="val 3820"/>
              </a:avLst>
            </a:prstGeom>
            <a:solidFill>
              <a:srgbClr val="FDB913"/>
            </a:solidFill>
            <a:ln>
              <a:noFill/>
            </a:ln>
            <a:effectLst>
              <a:outerShdw blurRad="317500" dist="1270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39" name="TextBox 38">
              <a:extLst>
                <a:ext uri="{FF2B5EF4-FFF2-40B4-BE49-F238E27FC236}">
                  <a16:creationId xmlns:a16="http://schemas.microsoft.com/office/drawing/2014/main" id="{5D30B5A0-5217-4E7D-ACAF-F66B251C38CD}"/>
                </a:ext>
              </a:extLst>
            </p:cNvPr>
            <p:cNvSpPr txBox="1"/>
            <p:nvPr/>
          </p:nvSpPr>
          <p:spPr>
            <a:xfrm>
              <a:off x="6445356" y="3543116"/>
              <a:ext cx="1731008" cy="449238"/>
            </a:xfrm>
            <a:prstGeom prst="rect">
              <a:avLst/>
            </a:prstGeom>
            <a:noFill/>
          </p:spPr>
          <p:txBody>
            <a:bodyPr wrap="square" rtlCol="0">
              <a:spAutoFit/>
            </a:bodyPr>
            <a:lstStyle/>
            <a:p>
              <a:pPr lvl="0" algn="ctr">
                <a:lnSpc>
                  <a:spcPct val="80000"/>
                </a:lnSpc>
                <a:defRPr/>
              </a:pPr>
              <a:r>
                <a:rPr lang="es-ES" sz="2800" b="1" spc="300" dirty="0">
                  <a:solidFill>
                    <a:schemeClr val="bg1"/>
                  </a:solidFill>
                  <a:latin typeface="Trebuchet MS" panose="020B0603020202020204" pitchFamily="34" charset="0"/>
                  <a:ea typeface="Verdana" panose="020B0604030504040204" pitchFamily="34" charset="0"/>
                </a:rPr>
                <a:t>PARACETAMOL  400 mg</a:t>
              </a:r>
              <a:endParaRPr lang="es-ES" sz="2800" b="1" spc="300" dirty="0">
                <a:solidFill>
                  <a:schemeClr val="bg1"/>
                </a:solidFill>
                <a:latin typeface="Trebuchet MS" panose="020B0603020202020204" pitchFamily="34" charset="0"/>
                <a:ea typeface="Verdana" panose="020B0604030504040204" pitchFamily="34" charset="0"/>
                <a:sym typeface="Zilla Slab Light"/>
              </a:endParaRPr>
            </a:p>
          </p:txBody>
        </p:sp>
      </p:grpSp>
      <p:grpSp>
        <p:nvGrpSpPr>
          <p:cNvPr id="40" name="Group 39">
            <a:extLst>
              <a:ext uri="{FF2B5EF4-FFF2-40B4-BE49-F238E27FC236}">
                <a16:creationId xmlns:a16="http://schemas.microsoft.com/office/drawing/2014/main" id="{7CA60981-B983-400A-BC71-C456D9B33F3A}"/>
              </a:ext>
            </a:extLst>
          </p:cNvPr>
          <p:cNvGrpSpPr/>
          <p:nvPr/>
        </p:nvGrpSpPr>
        <p:grpSpPr>
          <a:xfrm>
            <a:off x="8414086" y="1665350"/>
            <a:ext cx="3310657" cy="1951844"/>
            <a:chOff x="6434250" y="3200819"/>
            <a:chExt cx="1753219" cy="1121638"/>
          </a:xfrm>
          <a:solidFill>
            <a:srgbClr val="004882"/>
          </a:solidFill>
        </p:grpSpPr>
        <p:sp>
          <p:nvSpPr>
            <p:cNvPr id="47" name="Retângulo: Cantos Arredondados 32">
              <a:extLst>
                <a:ext uri="{FF2B5EF4-FFF2-40B4-BE49-F238E27FC236}">
                  <a16:creationId xmlns:a16="http://schemas.microsoft.com/office/drawing/2014/main" id="{B64997E5-B864-494A-824E-021576E78B89}"/>
                </a:ext>
              </a:extLst>
            </p:cNvPr>
            <p:cNvSpPr/>
            <p:nvPr/>
          </p:nvSpPr>
          <p:spPr>
            <a:xfrm rot="5400000" flipV="1">
              <a:off x="6750041" y="2885028"/>
              <a:ext cx="1121638" cy="1753219"/>
            </a:xfrm>
            <a:prstGeom prst="roundRect">
              <a:avLst>
                <a:gd name="adj" fmla="val 3820"/>
              </a:avLst>
            </a:prstGeom>
            <a:grpFill/>
            <a:ln>
              <a:noFill/>
            </a:ln>
            <a:effectLst>
              <a:outerShdw blurRad="317500" dist="1270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48" name="TextBox 47">
              <a:extLst>
                <a:ext uri="{FF2B5EF4-FFF2-40B4-BE49-F238E27FC236}">
                  <a16:creationId xmlns:a16="http://schemas.microsoft.com/office/drawing/2014/main" id="{FDADF52E-4C09-4D07-AC2E-7BB933BE2FBB}"/>
                </a:ext>
              </a:extLst>
            </p:cNvPr>
            <p:cNvSpPr txBox="1"/>
            <p:nvPr/>
          </p:nvSpPr>
          <p:spPr>
            <a:xfrm>
              <a:off x="6445356" y="3543116"/>
              <a:ext cx="1731008" cy="449238"/>
            </a:xfrm>
            <a:prstGeom prst="rect">
              <a:avLst/>
            </a:prstGeom>
            <a:grpFill/>
          </p:spPr>
          <p:txBody>
            <a:bodyPr wrap="square" rtlCol="0">
              <a:spAutoFit/>
            </a:bodyPr>
            <a:lstStyle/>
            <a:p>
              <a:pPr lvl="0" algn="ctr">
                <a:lnSpc>
                  <a:spcPct val="80000"/>
                </a:lnSpc>
                <a:defRPr/>
              </a:pPr>
              <a:r>
                <a:rPr lang="es-ES" sz="2800" b="1" spc="300" dirty="0">
                  <a:solidFill>
                    <a:schemeClr val="bg1"/>
                  </a:solidFill>
                  <a:latin typeface="Trebuchet MS" panose="020B0603020202020204" pitchFamily="34" charset="0"/>
                  <a:ea typeface="Verdana" panose="020B0604030504040204" pitchFamily="34" charset="0"/>
                </a:rPr>
                <a:t>CAFEÍNA  100 mg</a:t>
              </a:r>
              <a:endParaRPr lang="es-ES" sz="2800" b="1" spc="300" dirty="0">
                <a:solidFill>
                  <a:schemeClr val="bg1"/>
                </a:solidFill>
                <a:latin typeface="Trebuchet MS" panose="020B0603020202020204" pitchFamily="34" charset="0"/>
                <a:ea typeface="Verdana" panose="020B0604030504040204" pitchFamily="34" charset="0"/>
                <a:sym typeface="Zilla Slab Light"/>
              </a:endParaRPr>
            </a:p>
          </p:txBody>
        </p:sp>
      </p:grpSp>
      <p:grpSp>
        <p:nvGrpSpPr>
          <p:cNvPr id="53" name="Group 52">
            <a:extLst>
              <a:ext uri="{FF2B5EF4-FFF2-40B4-BE49-F238E27FC236}">
                <a16:creationId xmlns:a16="http://schemas.microsoft.com/office/drawing/2014/main" id="{3C512A15-B393-4695-8776-24D265825564}"/>
              </a:ext>
            </a:extLst>
          </p:cNvPr>
          <p:cNvGrpSpPr/>
          <p:nvPr/>
        </p:nvGrpSpPr>
        <p:grpSpPr>
          <a:xfrm>
            <a:off x="4960307" y="4026731"/>
            <a:ext cx="3310657" cy="1951844"/>
            <a:chOff x="6434250" y="3200819"/>
            <a:chExt cx="1753219" cy="1121638"/>
          </a:xfrm>
          <a:solidFill>
            <a:srgbClr val="EB2127"/>
          </a:solidFill>
        </p:grpSpPr>
        <p:sp>
          <p:nvSpPr>
            <p:cNvPr id="54" name="Retângulo: Cantos Arredondados 32">
              <a:extLst>
                <a:ext uri="{FF2B5EF4-FFF2-40B4-BE49-F238E27FC236}">
                  <a16:creationId xmlns:a16="http://schemas.microsoft.com/office/drawing/2014/main" id="{D6200998-7E4D-42DC-9986-71FE31F69381}"/>
                </a:ext>
              </a:extLst>
            </p:cNvPr>
            <p:cNvSpPr/>
            <p:nvPr/>
          </p:nvSpPr>
          <p:spPr>
            <a:xfrm rot="5400000" flipV="1">
              <a:off x="6750041" y="2885028"/>
              <a:ext cx="1121638" cy="1753219"/>
            </a:xfrm>
            <a:prstGeom prst="roundRect">
              <a:avLst>
                <a:gd name="adj" fmla="val 3820"/>
              </a:avLst>
            </a:prstGeom>
            <a:grpFill/>
            <a:ln>
              <a:noFill/>
            </a:ln>
            <a:effectLst>
              <a:outerShdw blurRad="317500" dist="1270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55" name="TextBox 54">
              <a:extLst>
                <a:ext uri="{FF2B5EF4-FFF2-40B4-BE49-F238E27FC236}">
                  <a16:creationId xmlns:a16="http://schemas.microsoft.com/office/drawing/2014/main" id="{4DD079A3-1CC1-4A74-81DC-AD9055CAF595}"/>
                </a:ext>
              </a:extLst>
            </p:cNvPr>
            <p:cNvSpPr txBox="1"/>
            <p:nvPr/>
          </p:nvSpPr>
          <p:spPr>
            <a:xfrm>
              <a:off x="6445356" y="3543116"/>
              <a:ext cx="1731008" cy="647328"/>
            </a:xfrm>
            <a:prstGeom prst="rect">
              <a:avLst/>
            </a:prstGeom>
            <a:grpFill/>
          </p:spPr>
          <p:txBody>
            <a:bodyPr wrap="square" rtlCol="0">
              <a:spAutoFit/>
            </a:bodyPr>
            <a:lstStyle/>
            <a:p>
              <a:pPr lvl="0" algn="ctr">
                <a:lnSpc>
                  <a:spcPct val="80000"/>
                </a:lnSpc>
                <a:defRPr/>
              </a:pPr>
              <a:r>
                <a:rPr lang="es-ES" sz="2800" b="1" spc="300" dirty="0">
                  <a:solidFill>
                    <a:schemeClr val="bg1"/>
                  </a:solidFill>
                  <a:latin typeface="Trebuchet MS" panose="020B0603020202020204" pitchFamily="34" charset="0"/>
                  <a:ea typeface="Verdana" panose="020B0604030504040204" pitchFamily="34" charset="0"/>
                </a:rPr>
                <a:t>TARTRATO DE ERGOTAMINA  1 mg</a:t>
              </a:r>
              <a:endParaRPr lang="es-ES" sz="2800" b="1" spc="300" dirty="0">
                <a:solidFill>
                  <a:schemeClr val="bg1"/>
                </a:solidFill>
                <a:latin typeface="Trebuchet MS" panose="020B0603020202020204" pitchFamily="34" charset="0"/>
                <a:ea typeface="Verdana" panose="020B0604030504040204" pitchFamily="34" charset="0"/>
                <a:sym typeface="Zilla Slab Light"/>
              </a:endParaRPr>
            </a:p>
          </p:txBody>
        </p:sp>
      </p:grpSp>
      <p:grpSp>
        <p:nvGrpSpPr>
          <p:cNvPr id="56" name="Group 55">
            <a:extLst>
              <a:ext uri="{FF2B5EF4-FFF2-40B4-BE49-F238E27FC236}">
                <a16:creationId xmlns:a16="http://schemas.microsoft.com/office/drawing/2014/main" id="{2E229F4F-1AA6-4684-A45D-1E7E770AC49C}"/>
              </a:ext>
            </a:extLst>
          </p:cNvPr>
          <p:cNvGrpSpPr/>
          <p:nvPr/>
        </p:nvGrpSpPr>
        <p:grpSpPr>
          <a:xfrm>
            <a:off x="8393114" y="4026731"/>
            <a:ext cx="3310657" cy="1951844"/>
            <a:chOff x="6434250" y="3200819"/>
            <a:chExt cx="1753219" cy="1121638"/>
          </a:xfrm>
          <a:solidFill>
            <a:srgbClr val="6C8C3B"/>
          </a:solidFill>
        </p:grpSpPr>
        <p:sp>
          <p:nvSpPr>
            <p:cNvPr id="57" name="Retângulo: Cantos Arredondados 32">
              <a:extLst>
                <a:ext uri="{FF2B5EF4-FFF2-40B4-BE49-F238E27FC236}">
                  <a16:creationId xmlns:a16="http://schemas.microsoft.com/office/drawing/2014/main" id="{05BD86D2-D07F-4089-A030-2A69BD042757}"/>
                </a:ext>
              </a:extLst>
            </p:cNvPr>
            <p:cNvSpPr/>
            <p:nvPr/>
          </p:nvSpPr>
          <p:spPr>
            <a:xfrm rot="5400000" flipV="1">
              <a:off x="6750041" y="2885028"/>
              <a:ext cx="1121638" cy="1753219"/>
            </a:xfrm>
            <a:prstGeom prst="roundRect">
              <a:avLst>
                <a:gd name="adj" fmla="val 3820"/>
              </a:avLst>
            </a:prstGeom>
            <a:grpFill/>
            <a:ln>
              <a:noFill/>
            </a:ln>
            <a:effectLst>
              <a:outerShdw blurRad="317500" dist="1270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58" name="TextBox 57">
              <a:extLst>
                <a:ext uri="{FF2B5EF4-FFF2-40B4-BE49-F238E27FC236}">
                  <a16:creationId xmlns:a16="http://schemas.microsoft.com/office/drawing/2014/main" id="{66300EF0-A43C-4567-AEAB-FE64875D5C6D}"/>
                </a:ext>
              </a:extLst>
            </p:cNvPr>
            <p:cNvSpPr txBox="1"/>
            <p:nvPr/>
          </p:nvSpPr>
          <p:spPr>
            <a:xfrm>
              <a:off x="6445356" y="3543116"/>
              <a:ext cx="1731008" cy="647328"/>
            </a:xfrm>
            <a:prstGeom prst="rect">
              <a:avLst/>
            </a:prstGeom>
            <a:grpFill/>
          </p:spPr>
          <p:txBody>
            <a:bodyPr wrap="square" rtlCol="0">
              <a:spAutoFit/>
            </a:bodyPr>
            <a:lstStyle/>
            <a:p>
              <a:pPr lvl="0" algn="ctr">
                <a:lnSpc>
                  <a:spcPct val="80000"/>
                </a:lnSpc>
                <a:defRPr/>
              </a:pPr>
              <a:r>
                <a:rPr lang="es-ES" sz="2800" b="1" cap="all" spc="300" dirty="0">
                  <a:solidFill>
                    <a:schemeClr val="bg1"/>
                  </a:solidFill>
                  <a:latin typeface="Trebuchet MS" panose="020B0603020202020204" pitchFamily="34" charset="0"/>
                  <a:ea typeface="Verdana" panose="020B0604030504040204" pitchFamily="34" charset="0"/>
                </a:rPr>
                <a:t>Alcaloides de belladona  </a:t>
              </a:r>
              <a:r>
                <a:rPr lang="es-ES" sz="2800" b="1" spc="300" dirty="0">
                  <a:solidFill>
                    <a:schemeClr val="bg1"/>
                  </a:solidFill>
                  <a:latin typeface="Trebuchet MS" panose="020B0603020202020204" pitchFamily="34" charset="0"/>
                  <a:ea typeface="Verdana" panose="020B0604030504040204" pitchFamily="34" charset="0"/>
                </a:rPr>
                <a:t>0,1 mg</a:t>
              </a:r>
              <a:endParaRPr lang="es-ES" sz="2800" b="1" spc="300" dirty="0">
                <a:solidFill>
                  <a:schemeClr val="bg1"/>
                </a:solidFill>
                <a:latin typeface="Trebuchet MS" panose="020B0603020202020204" pitchFamily="34" charset="0"/>
                <a:ea typeface="Verdana" panose="020B0604030504040204" pitchFamily="34" charset="0"/>
                <a:sym typeface="Zilla Slab Light"/>
              </a:endParaRPr>
            </a:p>
          </p:txBody>
        </p:sp>
      </p:grpSp>
    </p:spTree>
    <p:extLst>
      <p:ext uri="{BB962C8B-B14F-4D97-AF65-F5344CB8AC3E}">
        <p14:creationId xmlns:p14="http://schemas.microsoft.com/office/powerpoint/2010/main" val="2953727502"/>
      </p:ext>
    </p:extLst>
  </p:cSld>
  <p:clrMapOvr>
    <a:masterClrMapping/>
  </p:clrMapOvr>
  <p:transition spd="slow">
    <p:push dir="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grpId="0" nodeType="withEffect">
                                      <p:stCondLst>
                                        <p:cond delay="1750"/>
                                      </p:stCondLst>
                                      <p:childTnLst>
                                        <p:set>
                                          <p:cBhvr>
                                            <p:cTn id="18" dur="1" fill="hold">
                                              <p:stCondLst>
                                                <p:cond delay="0"/>
                                              </p:stCondLst>
                                            </p:cTn>
                                            <p:tgtEl>
                                              <p:spTgt spid="223"/>
                                            </p:tgtEl>
                                            <p:attrNameLst>
                                              <p:attrName>style.visibility</p:attrName>
                                            </p:attrNameLst>
                                          </p:cBhvr>
                                          <p:to>
                                            <p:strVal val="visible"/>
                                          </p:to>
                                        </p:set>
                                        <p:animEffect transition="in" filter="fade">
                                          <p:cBhvr>
                                            <p:cTn id="19" dur="500"/>
                                            <p:tgtEl>
                                              <p:spTgt spid="223"/>
                                            </p:tgtEl>
                                          </p:cBhvr>
                                        </p:animEffect>
                                      </p:childTnLst>
                                    </p:cTn>
                                  </p:par>
                                  <p:par>
                                    <p:cTn id="20" presetID="10" presetClass="entr" presetSubtype="0" fill="hold" nodeType="withEffect">
                                      <p:stCondLst>
                                        <p:cond delay="75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250"/>
                                            <p:tgtEl>
                                              <p:spTgt spid="103"/>
                                            </p:tgtEl>
                                          </p:cBhvr>
                                        </p:animEffect>
                                      </p:childTnLst>
                                    </p:cTn>
                                  </p:par>
                                  <p:par>
                                    <p:cTn id="23" presetID="35" presetClass="path" presetSubtype="0" decel="100000" fill="hold" nodeType="withEffect">
                                      <p:stCondLst>
                                        <p:cond delay="750"/>
                                      </p:stCondLst>
                                      <p:childTnLst>
                                        <p:animMotion origin="layout" path="M 1.04167E-6 2.22222E-6 L -0.17917 2.22222E-6 " pathEditMode="relative" rAng="0" ptsTypes="AA">
                                          <p:cBhvr>
                                            <p:cTn id="24" dur="750" spd="-100000" fill="hold"/>
                                            <p:tgtEl>
                                              <p:spTgt spid="103"/>
                                            </p:tgtEl>
                                            <p:attrNameLst>
                                              <p:attrName>ppt_x</p:attrName>
                                              <p:attrName>ppt_y</p:attrName>
                                            </p:attrNameLst>
                                          </p:cBhvr>
                                          <p:rCtr x="-8958" y="0"/>
                                        </p:animMotion>
                                      </p:childTnLst>
                                    </p:cTn>
                                  </p:par>
                                  <p:par>
                                    <p:cTn id="25" presetID="23" presetClass="entr" presetSubtype="16" fill="hold" nodeType="withEffect">
                                      <p:stCondLst>
                                        <p:cond delay="1250"/>
                                      </p:stCondLst>
                                      <p:childTnLst>
                                        <p:set>
                                          <p:cBhvr>
                                            <p:cTn id="26" dur="1" fill="hold">
                                              <p:stCondLst>
                                                <p:cond delay="0"/>
                                              </p:stCondLst>
                                            </p:cTn>
                                            <p:tgtEl>
                                              <p:spTgt spid="100"/>
                                            </p:tgtEl>
                                            <p:attrNameLst>
                                              <p:attrName>style.visibility</p:attrName>
                                            </p:attrNameLst>
                                          </p:cBhvr>
                                          <p:to>
                                            <p:strVal val="visible"/>
                                          </p:to>
                                        </p:set>
                                        <p:anim calcmode="lin" valueType="num">
                                          <p:cBhvr>
                                            <p:cTn id="27" dur="200" fill="hold"/>
                                            <p:tgtEl>
                                              <p:spTgt spid="100"/>
                                            </p:tgtEl>
                                            <p:attrNameLst>
                                              <p:attrName>ppt_w</p:attrName>
                                            </p:attrNameLst>
                                          </p:cBhvr>
                                          <p:tavLst>
                                            <p:tav tm="0">
                                              <p:val>
                                                <p:fltVal val="0"/>
                                              </p:val>
                                            </p:tav>
                                            <p:tav tm="100000">
                                              <p:val>
                                                <p:strVal val="#ppt_w"/>
                                              </p:val>
                                            </p:tav>
                                          </p:tavLst>
                                        </p:anim>
                                        <p:anim calcmode="lin" valueType="num">
                                          <p:cBhvr>
                                            <p:cTn id="28" dur="200" fill="hold"/>
                                            <p:tgtEl>
                                              <p:spTgt spid="100"/>
                                            </p:tgtEl>
                                            <p:attrNameLst>
                                              <p:attrName>ppt_h</p:attrName>
                                            </p:attrNameLst>
                                          </p:cBhvr>
                                          <p:tavLst>
                                            <p:tav tm="0">
                                              <p:val>
                                                <p:fltVal val="0"/>
                                              </p:val>
                                            </p:tav>
                                            <p:tav tm="100000">
                                              <p:val>
                                                <p:strVal val="#ppt_h"/>
                                              </p:val>
                                            </p:tav>
                                          </p:tavLst>
                                        </p:anim>
                                      </p:childTnLst>
                                    </p:cTn>
                                  </p:par>
                                  <p:par>
                                    <p:cTn id="29" presetID="6" presetClass="emph" presetSubtype="0" fill="hold" nodeType="withEffect" p14:presetBounceEnd="99000">
                                      <p:stCondLst>
                                        <p:cond delay="1250"/>
                                      </p:stCondLst>
                                      <p:childTnLst>
                                        <p:animScale p14:bounceEnd="99000">
                                          <p:cBhvr>
                                            <p:cTn id="30" dur="1000" fill="hold"/>
                                            <p:tgtEl>
                                              <p:spTgt spid="100"/>
                                            </p:tgtEl>
                                          </p:cBhvr>
                                          <p:by x="110000" y="110000"/>
                                        </p:animScale>
                                      </p:childTnLst>
                                    </p:cTn>
                                  </p:par>
                                  <p:par>
                                    <p:cTn id="31" presetID="6" presetClass="emph" presetSubtype="0" accel="50000" decel="50000" fill="hold" nodeType="withEffect">
                                      <p:stCondLst>
                                        <p:cond delay="1250"/>
                                      </p:stCondLst>
                                      <p:childTnLst>
                                        <p:animScale>
                                          <p:cBhvr>
                                            <p:cTn id="32" dur="250" fill="hold"/>
                                            <p:tgtEl>
                                              <p:spTgt spid="100"/>
                                            </p:tgtEl>
                                          </p:cBhvr>
                                          <p:by x="91000" y="91000"/>
                                        </p:animScale>
                                      </p:childTnLst>
                                    </p:cTn>
                                  </p:par>
                                  <p:par>
                                    <p:cTn id="33" presetID="10" presetClass="entr" presetSubtype="0" fill="hold" nodeType="withEffect">
                                      <p:stCondLst>
                                        <p:cond delay="1500"/>
                                      </p:stCondLst>
                                      <p:childTnLst>
                                        <p:set>
                                          <p:cBhvr>
                                            <p:cTn id="34" dur="1" fill="hold">
                                              <p:stCondLst>
                                                <p:cond delay="0"/>
                                              </p:stCondLst>
                                            </p:cTn>
                                            <p:tgtEl>
                                              <p:spTgt spid="104"/>
                                            </p:tgtEl>
                                            <p:attrNameLst>
                                              <p:attrName>style.visibility</p:attrName>
                                            </p:attrNameLst>
                                          </p:cBhvr>
                                          <p:to>
                                            <p:strVal val="visible"/>
                                          </p:to>
                                        </p:set>
                                        <p:animEffect transition="in" filter="fade">
                                          <p:cBhvr>
                                            <p:cTn id="35" dur="250"/>
                                            <p:tgtEl>
                                              <p:spTgt spid="104"/>
                                            </p:tgtEl>
                                          </p:cBhvr>
                                        </p:animEffect>
                                      </p:childTnLst>
                                    </p:cTn>
                                  </p:par>
                                  <p:par>
                                    <p:cTn id="36" presetID="42" presetClass="path" presetSubtype="0" decel="100000" fill="hold" nodeType="withEffect">
                                      <p:stCondLst>
                                        <p:cond delay="1500"/>
                                      </p:stCondLst>
                                      <p:childTnLst>
                                        <p:animMotion origin="layout" path="M 3.54167E-6 -1.48148E-6 L -0.08516 0.05278 " pathEditMode="relative" rAng="0" ptsTypes="AA">
                                          <p:cBhvr>
                                            <p:cTn id="37" dur="1000" spd="-100000" fill="hold"/>
                                            <p:tgtEl>
                                              <p:spTgt spid="104"/>
                                            </p:tgtEl>
                                            <p:attrNameLst>
                                              <p:attrName>ppt_x</p:attrName>
                                              <p:attrName>ppt_y</p:attrName>
                                            </p:attrNameLst>
                                          </p:cBhvr>
                                          <p:rCtr x="-4258" y="2639"/>
                                        </p:animMotion>
                                      </p:childTnLst>
                                    </p:cTn>
                                  </p:par>
                                  <p:par>
                                    <p:cTn id="38" presetID="10" presetClass="entr" presetSubtype="0" fill="hold" nodeType="withEffect">
                                      <p:stCondLst>
                                        <p:cond delay="135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500"/>
                                            <p:tgtEl>
                                              <p:spTgt spid="36"/>
                                            </p:tgtEl>
                                          </p:cBhvr>
                                        </p:animEffect>
                                      </p:childTnLst>
                                    </p:cTn>
                                  </p:par>
                                  <p:par>
                                    <p:cTn id="41" presetID="63" presetClass="path" presetSubtype="0" decel="100000" fill="hold" nodeType="withEffect">
                                      <p:stCondLst>
                                        <p:cond delay="1350"/>
                                      </p:stCondLst>
                                      <p:childTnLst>
                                        <p:animMotion origin="layout" path="M 6.25E-7 3.7037E-7 L 0.03906 3.7037E-7 " pathEditMode="relative" rAng="0" ptsTypes="AA">
                                          <p:cBhvr>
                                            <p:cTn id="42" dur="750" spd="-100000" fill="hold"/>
                                            <p:tgtEl>
                                              <p:spTgt spid="36"/>
                                            </p:tgtEl>
                                            <p:attrNameLst>
                                              <p:attrName>ppt_x</p:attrName>
                                              <p:attrName>ppt_y</p:attrName>
                                            </p:attrNameLst>
                                          </p:cBhvr>
                                          <p:rCtr x="1953" y="0"/>
                                        </p:animMotion>
                                      </p:childTnLst>
                                    </p:cTn>
                                  </p:par>
                                  <p:par>
                                    <p:cTn id="43" presetID="10" presetClass="entr" presetSubtype="0" fill="hold" nodeType="withEffect">
                                      <p:stCondLst>
                                        <p:cond delay="1350"/>
                                      </p:stCondLst>
                                      <p:childTnLst>
                                        <p:set>
                                          <p:cBhvr>
                                            <p:cTn id="44" dur="1" fill="hold">
                                              <p:stCondLst>
                                                <p:cond delay="0"/>
                                              </p:stCondLst>
                                            </p:cTn>
                                            <p:tgtEl>
                                              <p:spTgt spid="40"/>
                                            </p:tgtEl>
                                            <p:attrNameLst>
                                              <p:attrName>style.visibility</p:attrName>
                                            </p:attrNameLst>
                                          </p:cBhvr>
                                          <p:to>
                                            <p:strVal val="visible"/>
                                          </p:to>
                                        </p:set>
                                        <p:animEffect transition="in" filter="fade">
                                          <p:cBhvr>
                                            <p:cTn id="45" dur="500"/>
                                            <p:tgtEl>
                                              <p:spTgt spid="40"/>
                                            </p:tgtEl>
                                          </p:cBhvr>
                                        </p:animEffect>
                                      </p:childTnLst>
                                    </p:cTn>
                                  </p:par>
                                  <p:par>
                                    <p:cTn id="46" presetID="63" presetClass="path" presetSubtype="0" decel="100000" fill="hold" nodeType="withEffect">
                                      <p:stCondLst>
                                        <p:cond delay="1350"/>
                                      </p:stCondLst>
                                      <p:childTnLst>
                                        <p:animMotion origin="layout" path="M 6.25E-7 3.7037E-7 L 0.03906 3.7037E-7 " pathEditMode="relative" rAng="0" ptsTypes="AA">
                                          <p:cBhvr>
                                            <p:cTn id="47" dur="750" spd="-100000" fill="hold"/>
                                            <p:tgtEl>
                                              <p:spTgt spid="40"/>
                                            </p:tgtEl>
                                            <p:attrNameLst>
                                              <p:attrName>ppt_x</p:attrName>
                                              <p:attrName>ppt_y</p:attrName>
                                            </p:attrNameLst>
                                          </p:cBhvr>
                                          <p:rCtr x="1953" y="0"/>
                                        </p:animMotion>
                                      </p:childTnLst>
                                    </p:cTn>
                                  </p:par>
                                  <p:par>
                                    <p:cTn id="48" presetID="10" presetClass="entr" presetSubtype="0" fill="hold" nodeType="withEffect">
                                      <p:stCondLst>
                                        <p:cond delay="1350"/>
                                      </p:stCondLst>
                                      <p:childTnLst>
                                        <p:set>
                                          <p:cBhvr>
                                            <p:cTn id="49" dur="1" fill="hold">
                                              <p:stCondLst>
                                                <p:cond delay="0"/>
                                              </p:stCondLst>
                                            </p:cTn>
                                            <p:tgtEl>
                                              <p:spTgt spid="53"/>
                                            </p:tgtEl>
                                            <p:attrNameLst>
                                              <p:attrName>style.visibility</p:attrName>
                                            </p:attrNameLst>
                                          </p:cBhvr>
                                          <p:to>
                                            <p:strVal val="visible"/>
                                          </p:to>
                                        </p:set>
                                        <p:animEffect transition="in" filter="fade">
                                          <p:cBhvr>
                                            <p:cTn id="50" dur="500"/>
                                            <p:tgtEl>
                                              <p:spTgt spid="53"/>
                                            </p:tgtEl>
                                          </p:cBhvr>
                                        </p:animEffect>
                                      </p:childTnLst>
                                    </p:cTn>
                                  </p:par>
                                  <p:par>
                                    <p:cTn id="51" presetID="63" presetClass="path" presetSubtype="0" decel="100000" fill="hold" nodeType="withEffect">
                                      <p:stCondLst>
                                        <p:cond delay="1350"/>
                                      </p:stCondLst>
                                      <p:childTnLst>
                                        <p:animMotion origin="layout" path="M 6.25E-7 3.7037E-7 L 0.03906 3.7037E-7 " pathEditMode="relative" rAng="0" ptsTypes="AA">
                                          <p:cBhvr>
                                            <p:cTn id="52" dur="750" spd="-100000" fill="hold"/>
                                            <p:tgtEl>
                                              <p:spTgt spid="53"/>
                                            </p:tgtEl>
                                            <p:attrNameLst>
                                              <p:attrName>ppt_x</p:attrName>
                                              <p:attrName>ppt_y</p:attrName>
                                            </p:attrNameLst>
                                          </p:cBhvr>
                                          <p:rCtr x="1953" y="0"/>
                                        </p:animMotion>
                                      </p:childTnLst>
                                    </p:cTn>
                                  </p:par>
                                  <p:par>
                                    <p:cTn id="53" presetID="10" presetClass="entr" presetSubtype="0" fill="hold" nodeType="withEffect">
                                      <p:stCondLst>
                                        <p:cond delay="1350"/>
                                      </p:stCondLst>
                                      <p:childTnLst>
                                        <p:set>
                                          <p:cBhvr>
                                            <p:cTn id="54" dur="1" fill="hold">
                                              <p:stCondLst>
                                                <p:cond delay="0"/>
                                              </p:stCondLst>
                                            </p:cTn>
                                            <p:tgtEl>
                                              <p:spTgt spid="56"/>
                                            </p:tgtEl>
                                            <p:attrNameLst>
                                              <p:attrName>style.visibility</p:attrName>
                                            </p:attrNameLst>
                                          </p:cBhvr>
                                          <p:to>
                                            <p:strVal val="visible"/>
                                          </p:to>
                                        </p:set>
                                        <p:animEffect transition="in" filter="fade">
                                          <p:cBhvr>
                                            <p:cTn id="55" dur="500"/>
                                            <p:tgtEl>
                                              <p:spTgt spid="56"/>
                                            </p:tgtEl>
                                          </p:cBhvr>
                                        </p:animEffect>
                                      </p:childTnLst>
                                    </p:cTn>
                                  </p:par>
                                  <p:par>
                                    <p:cTn id="56" presetID="63" presetClass="path" presetSubtype="0" decel="100000" fill="hold" nodeType="withEffect">
                                      <p:stCondLst>
                                        <p:cond delay="1350"/>
                                      </p:stCondLst>
                                      <p:childTnLst>
                                        <p:animMotion origin="layout" path="M 6.25E-7 3.7037E-7 L 0.03906 3.7037E-7 " pathEditMode="relative" rAng="0" ptsTypes="AA">
                                          <p:cBhvr>
                                            <p:cTn id="57" dur="750" spd="-100000" fill="hold"/>
                                            <p:tgtEl>
                                              <p:spTgt spid="56"/>
                                            </p:tgtEl>
                                            <p:attrNameLst>
                                              <p:attrName>ppt_x</p:attrName>
                                              <p:attrName>ppt_y</p:attrName>
                                            </p:attrNameLst>
                                          </p:cBhvr>
                                          <p:rCtr x="195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22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grpId="0" nodeType="withEffect">
                                      <p:stCondLst>
                                        <p:cond delay="1750"/>
                                      </p:stCondLst>
                                      <p:childTnLst>
                                        <p:set>
                                          <p:cBhvr>
                                            <p:cTn id="18" dur="1" fill="hold">
                                              <p:stCondLst>
                                                <p:cond delay="0"/>
                                              </p:stCondLst>
                                            </p:cTn>
                                            <p:tgtEl>
                                              <p:spTgt spid="223"/>
                                            </p:tgtEl>
                                            <p:attrNameLst>
                                              <p:attrName>style.visibility</p:attrName>
                                            </p:attrNameLst>
                                          </p:cBhvr>
                                          <p:to>
                                            <p:strVal val="visible"/>
                                          </p:to>
                                        </p:set>
                                        <p:animEffect transition="in" filter="fade">
                                          <p:cBhvr>
                                            <p:cTn id="19" dur="500"/>
                                            <p:tgtEl>
                                              <p:spTgt spid="223"/>
                                            </p:tgtEl>
                                          </p:cBhvr>
                                        </p:animEffect>
                                      </p:childTnLst>
                                    </p:cTn>
                                  </p:par>
                                  <p:par>
                                    <p:cTn id="20" presetID="10" presetClass="entr" presetSubtype="0" fill="hold" nodeType="withEffect">
                                      <p:stCondLst>
                                        <p:cond delay="75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250"/>
                                            <p:tgtEl>
                                              <p:spTgt spid="103"/>
                                            </p:tgtEl>
                                          </p:cBhvr>
                                        </p:animEffect>
                                      </p:childTnLst>
                                    </p:cTn>
                                  </p:par>
                                  <p:par>
                                    <p:cTn id="23" presetID="35" presetClass="path" presetSubtype="0" decel="100000" fill="hold" nodeType="withEffect">
                                      <p:stCondLst>
                                        <p:cond delay="750"/>
                                      </p:stCondLst>
                                      <p:childTnLst>
                                        <p:animMotion origin="layout" path="M 1.04167E-6 2.22222E-6 L -0.17917 2.22222E-6 " pathEditMode="relative" rAng="0" ptsTypes="AA">
                                          <p:cBhvr>
                                            <p:cTn id="24" dur="750" spd="-100000" fill="hold"/>
                                            <p:tgtEl>
                                              <p:spTgt spid="103"/>
                                            </p:tgtEl>
                                            <p:attrNameLst>
                                              <p:attrName>ppt_x</p:attrName>
                                              <p:attrName>ppt_y</p:attrName>
                                            </p:attrNameLst>
                                          </p:cBhvr>
                                          <p:rCtr x="-8958" y="0"/>
                                        </p:animMotion>
                                      </p:childTnLst>
                                    </p:cTn>
                                  </p:par>
                                  <p:par>
                                    <p:cTn id="25" presetID="23" presetClass="entr" presetSubtype="16" fill="hold" nodeType="withEffect">
                                      <p:stCondLst>
                                        <p:cond delay="1250"/>
                                      </p:stCondLst>
                                      <p:childTnLst>
                                        <p:set>
                                          <p:cBhvr>
                                            <p:cTn id="26" dur="1" fill="hold">
                                              <p:stCondLst>
                                                <p:cond delay="0"/>
                                              </p:stCondLst>
                                            </p:cTn>
                                            <p:tgtEl>
                                              <p:spTgt spid="100"/>
                                            </p:tgtEl>
                                            <p:attrNameLst>
                                              <p:attrName>style.visibility</p:attrName>
                                            </p:attrNameLst>
                                          </p:cBhvr>
                                          <p:to>
                                            <p:strVal val="visible"/>
                                          </p:to>
                                        </p:set>
                                        <p:anim calcmode="lin" valueType="num">
                                          <p:cBhvr>
                                            <p:cTn id="27" dur="200" fill="hold"/>
                                            <p:tgtEl>
                                              <p:spTgt spid="100"/>
                                            </p:tgtEl>
                                            <p:attrNameLst>
                                              <p:attrName>ppt_w</p:attrName>
                                            </p:attrNameLst>
                                          </p:cBhvr>
                                          <p:tavLst>
                                            <p:tav tm="0">
                                              <p:val>
                                                <p:fltVal val="0"/>
                                              </p:val>
                                            </p:tav>
                                            <p:tav tm="100000">
                                              <p:val>
                                                <p:strVal val="#ppt_w"/>
                                              </p:val>
                                            </p:tav>
                                          </p:tavLst>
                                        </p:anim>
                                        <p:anim calcmode="lin" valueType="num">
                                          <p:cBhvr>
                                            <p:cTn id="28" dur="200" fill="hold"/>
                                            <p:tgtEl>
                                              <p:spTgt spid="100"/>
                                            </p:tgtEl>
                                            <p:attrNameLst>
                                              <p:attrName>ppt_h</p:attrName>
                                            </p:attrNameLst>
                                          </p:cBhvr>
                                          <p:tavLst>
                                            <p:tav tm="0">
                                              <p:val>
                                                <p:fltVal val="0"/>
                                              </p:val>
                                            </p:tav>
                                            <p:tav tm="100000">
                                              <p:val>
                                                <p:strVal val="#ppt_h"/>
                                              </p:val>
                                            </p:tav>
                                          </p:tavLst>
                                        </p:anim>
                                      </p:childTnLst>
                                    </p:cTn>
                                  </p:par>
                                  <p:par>
                                    <p:cTn id="29" presetID="6" presetClass="emph" presetSubtype="0" fill="hold" nodeType="withEffect">
                                      <p:stCondLst>
                                        <p:cond delay="1250"/>
                                      </p:stCondLst>
                                      <p:childTnLst>
                                        <p:animScale>
                                          <p:cBhvr>
                                            <p:cTn id="30" dur="1000" fill="hold"/>
                                            <p:tgtEl>
                                              <p:spTgt spid="100"/>
                                            </p:tgtEl>
                                          </p:cBhvr>
                                          <p:by x="110000" y="110000"/>
                                        </p:animScale>
                                      </p:childTnLst>
                                    </p:cTn>
                                  </p:par>
                                  <p:par>
                                    <p:cTn id="31" presetID="6" presetClass="emph" presetSubtype="0" accel="50000" decel="50000" fill="hold" nodeType="withEffect">
                                      <p:stCondLst>
                                        <p:cond delay="1250"/>
                                      </p:stCondLst>
                                      <p:childTnLst>
                                        <p:animScale>
                                          <p:cBhvr>
                                            <p:cTn id="32" dur="250" fill="hold"/>
                                            <p:tgtEl>
                                              <p:spTgt spid="100"/>
                                            </p:tgtEl>
                                          </p:cBhvr>
                                          <p:by x="91000" y="91000"/>
                                        </p:animScale>
                                      </p:childTnLst>
                                    </p:cTn>
                                  </p:par>
                                  <p:par>
                                    <p:cTn id="33" presetID="10" presetClass="entr" presetSubtype="0" fill="hold" nodeType="withEffect">
                                      <p:stCondLst>
                                        <p:cond delay="1500"/>
                                      </p:stCondLst>
                                      <p:childTnLst>
                                        <p:set>
                                          <p:cBhvr>
                                            <p:cTn id="34" dur="1" fill="hold">
                                              <p:stCondLst>
                                                <p:cond delay="0"/>
                                              </p:stCondLst>
                                            </p:cTn>
                                            <p:tgtEl>
                                              <p:spTgt spid="104"/>
                                            </p:tgtEl>
                                            <p:attrNameLst>
                                              <p:attrName>style.visibility</p:attrName>
                                            </p:attrNameLst>
                                          </p:cBhvr>
                                          <p:to>
                                            <p:strVal val="visible"/>
                                          </p:to>
                                        </p:set>
                                        <p:animEffect transition="in" filter="fade">
                                          <p:cBhvr>
                                            <p:cTn id="35" dur="250"/>
                                            <p:tgtEl>
                                              <p:spTgt spid="104"/>
                                            </p:tgtEl>
                                          </p:cBhvr>
                                        </p:animEffect>
                                      </p:childTnLst>
                                    </p:cTn>
                                  </p:par>
                                  <p:par>
                                    <p:cTn id="36" presetID="42" presetClass="path" presetSubtype="0" decel="100000" fill="hold" nodeType="withEffect">
                                      <p:stCondLst>
                                        <p:cond delay="1500"/>
                                      </p:stCondLst>
                                      <p:childTnLst>
                                        <p:animMotion origin="layout" path="M 3.54167E-6 -1.48148E-6 L -0.08516 0.05278 " pathEditMode="relative" rAng="0" ptsTypes="AA">
                                          <p:cBhvr>
                                            <p:cTn id="37" dur="1000" spd="-100000" fill="hold"/>
                                            <p:tgtEl>
                                              <p:spTgt spid="104"/>
                                            </p:tgtEl>
                                            <p:attrNameLst>
                                              <p:attrName>ppt_x</p:attrName>
                                              <p:attrName>ppt_y</p:attrName>
                                            </p:attrNameLst>
                                          </p:cBhvr>
                                          <p:rCtr x="-4258" y="2639"/>
                                        </p:animMotion>
                                      </p:childTnLst>
                                    </p:cTn>
                                  </p:par>
                                  <p:par>
                                    <p:cTn id="38" presetID="10" presetClass="entr" presetSubtype="0" fill="hold" nodeType="withEffect">
                                      <p:stCondLst>
                                        <p:cond delay="135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500"/>
                                            <p:tgtEl>
                                              <p:spTgt spid="36"/>
                                            </p:tgtEl>
                                          </p:cBhvr>
                                        </p:animEffect>
                                      </p:childTnLst>
                                    </p:cTn>
                                  </p:par>
                                  <p:par>
                                    <p:cTn id="41" presetID="63" presetClass="path" presetSubtype="0" decel="100000" fill="hold" nodeType="withEffect">
                                      <p:stCondLst>
                                        <p:cond delay="1350"/>
                                      </p:stCondLst>
                                      <p:childTnLst>
                                        <p:animMotion origin="layout" path="M 6.25E-7 3.7037E-7 L 0.03906 3.7037E-7 " pathEditMode="relative" rAng="0" ptsTypes="AA">
                                          <p:cBhvr>
                                            <p:cTn id="42" dur="750" spd="-100000" fill="hold"/>
                                            <p:tgtEl>
                                              <p:spTgt spid="36"/>
                                            </p:tgtEl>
                                            <p:attrNameLst>
                                              <p:attrName>ppt_x</p:attrName>
                                              <p:attrName>ppt_y</p:attrName>
                                            </p:attrNameLst>
                                          </p:cBhvr>
                                          <p:rCtr x="1953" y="0"/>
                                        </p:animMotion>
                                      </p:childTnLst>
                                    </p:cTn>
                                  </p:par>
                                  <p:par>
                                    <p:cTn id="43" presetID="10" presetClass="entr" presetSubtype="0" fill="hold" nodeType="withEffect">
                                      <p:stCondLst>
                                        <p:cond delay="1350"/>
                                      </p:stCondLst>
                                      <p:childTnLst>
                                        <p:set>
                                          <p:cBhvr>
                                            <p:cTn id="44" dur="1" fill="hold">
                                              <p:stCondLst>
                                                <p:cond delay="0"/>
                                              </p:stCondLst>
                                            </p:cTn>
                                            <p:tgtEl>
                                              <p:spTgt spid="40"/>
                                            </p:tgtEl>
                                            <p:attrNameLst>
                                              <p:attrName>style.visibility</p:attrName>
                                            </p:attrNameLst>
                                          </p:cBhvr>
                                          <p:to>
                                            <p:strVal val="visible"/>
                                          </p:to>
                                        </p:set>
                                        <p:animEffect transition="in" filter="fade">
                                          <p:cBhvr>
                                            <p:cTn id="45" dur="500"/>
                                            <p:tgtEl>
                                              <p:spTgt spid="40"/>
                                            </p:tgtEl>
                                          </p:cBhvr>
                                        </p:animEffect>
                                      </p:childTnLst>
                                    </p:cTn>
                                  </p:par>
                                  <p:par>
                                    <p:cTn id="46" presetID="63" presetClass="path" presetSubtype="0" decel="100000" fill="hold" nodeType="withEffect">
                                      <p:stCondLst>
                                        <p:cond delay="1350"/>
                                      </p:stCondLst>
                                      <p:childTnLst>
                                        <p:animMotion origin="layout" path="M 6.25E-7 3.7037E-7 L 0.03906 3.7037E-7 " pathEditMode="relative" rAng="0" ptsTypes="AA">
                                          <p:cBhvr>
                                            <p:cTn id="47" dur="750" spd="-100000" fill="hold"/>
                                            <p:tgtEl>
                                              <p:spTgt spid="40"/>
                                            </p:tgtEl>
                                            <p:attrNameLst>
                                              <p:attrName>ppt_x</p:attrName>
                                              <p:attrName>ppt_y</p:attrName>
                                            </p:attrNameLst>
                                          </p:cBhvr>
                                          <p:rCtr x="1953" y="0"/>
                                        </p:animMotion>
                                      </p:childTnLst>
                                    </p:cTn>
                                  </p:par>
                                  <p:par>
                                    <p:cTn id="48" presetID="10" presetClass="entr" presetSubtype="0" fill="hold" nodeType="withEffect">
                                      <p:stCondLst>
                                        <p:cond delay="1350"/>
                                      </p:stCondLst>
                                      <p:childTnLst>
                                        <p:set>
                                          <p:cBhvr>
                                            <p:cTn id="49" dur="1" fill="hold">
                                              <p:stCondLst>
                                                <p:cond delay="0"/>
                                              </p:stCondLst>
                                            </p:cTn>
                                            <p:tgtEl>
                                              <p:spTgt spid="53"/>
                                            </p:tgtEl>
                                            <p:attrNameLst>
                                              <p:attrName>style.visibility</p:attrName>
                                            </p:attrNameLst>
                                          </p:cBhvr>
                                          <p:to>
                                            <p:strVal val="visible"/>
                                          </p:to>
                                        </p:set>
                                        <p:animEffect transition="in" filter="fade">
                                          <p:cBhvr>
                                            <p:cTn id="50" dur="500"/>
                                            <p:tgtEl>
                                              <p:spTgt spid="53"/>
                                            </p:tgtEl>
                                          </p:cBhvr>
                                        </p:animEffect>
                                      </p:childTnLst>
                                    </p:cTn>
                                  </p:par>
                                  <p:par>
                                    <p:cTn id="51" presetID="63" presetClass="path" presetSubtype="0" decel="100000" fill="hold" nodeType="withEffect">
                                      <p:stCondLst>
                                        <p:cond delay="1350"/>
                                      </p:stCondLst>
                                      <p:childTnLst>
                                        <p:animMotion origin="layout" path="M 6.25E-7 3.7037E-7 L 0.03906 3.7037E-7 " pathEditMode="relative" rAng="0" ptsTypes="AA">
                                          <p:cBhvr>
                                            <p:cTn id="52" dur="750" spd="-100000" fill="hold"/>
                                            <p:tgtEl>
                                              <p:spTgt spid="53"/>
                                            </p:tgtEl>
                                            <p:attrNameLst>
                                              <p:attrName>ppt_x</p:attrName>
                                              <p:attrName>ppt_y</p:attrName>
                                            </p:attrNameLst>
                                          </p:cBhvr>
                                          <p:rCtr x="1953" y="0"/>
                                        </p:animMotion>
                                      </p:childTnLst>
                                    </p:cTn>
                                  </p:par>
                                  <p:par>
                                    <p:cTn id="53" presetID="10" presetClass="entr" presetSubtype="0" fill="hold" nodeType="withEffect">
                                      <p:stCondLst>
                                        <p:cond delay="1350"/>
                                      </p:stCondLst>
                                      <p:childTnLst>
                                        <p:set>
                                          <p:cBhvr>
                                            <p:cTn id="54" dur="1" fill="hold">
                                              <p:stCondLst>
                                                <p:cond delay="0"/>
                                              </p:stCondLst>
                                            </p:cTn>
                                            <p:tgtEl>
                                              <p:spTgt spid="56"/>
                                            </p:tgtEl>
                                            <p:attrNameLst>
                                              <p:attrName>style.visibility</p:attrName>
                                            </p:attrNameLst>
                                          </p:cBhvr>
                                          <p:to>
                                            <p:strVal val="visible"/>
                                          </p:to>
                                        </p:set>
                                        <p:animEffect transition="in" filter="fade">
                                          <p:cBhvr>
                                            <p:cTn id="55" dur="500"/>
                                            <p:tgtEl>
                                              <p:spTgt spid="56"/>
                                            </p:tgtEl>
                                          </p:cBhvr>
                                        </p:animEffect>
                                      </p:childTnLst>
                                    </p:cTn>
                                  </p:par>
                                  <p:par>
                                    <p:cTn id="56" presetID="63" presetClass="path" presetSubtype="0" decel="100000" fill="hold" nodeType="withEffect">
                                      <p:stCondLst>
                                        <p:cond delay="1350"/>
                                      </p:stCondLst>
                                      <p:childTnLst>
                                        <p:animMotion origin="layout" path="M 6.25E-7 3.7037E-7 L 0.03906 3.7037E-7 " pathEditMode="relative" rAng="0" ptsTypes="AA">
                                          <p:cBhvr>
                                            <p:cTn id="57" dur="750" spd="-100000" fill="hold"/>
                                            <p:tgtEl>
                                              <p:spTgt spid="56"/>
                                            </p:tgtEl>
                                            <p:attrNameLst>
                                              <p:attrName>ppt_x</p:attrName>
                                              <p:attrName>ppt_y</p:attrName>
                                            </p:attrNameLst>
                                          </p:cBhvr>
                                          <p:rCtr x="195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223" grpId="0"/>
        </p:bldLst>
      </p:timing>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B194DFA-D81F-45C6-98D0-615747557E57}"/>
              </a:ext>
            </a:extLst>
          </p:cNvPr>
          <p:cNvSpPr/>
          <p:nvPr/>
        </p:nvSpPr>
        <p:spPr>
          <a:xfrm>
            <a:off x="0" y="3806240"/>
            <a:ext cx="12192000" cy="30517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0" name="Picture 169" descr="Shape, circle&#10;&#10;Description automatically generated">
            <a:extLst>
              <a:ext uri="{FF2B5EF4-FFF2-40B4-BE49-F238E27FC236}">
                <a16:creationId xmlns:a16="http://schemas.microsoft.com/office/drawing/2014/main" id="{EEB2B992-2400-4EEE-A3C6-C52D633A15B2}"/>
              </a:ext>
            </a:extLst>
          </p:cNvPr>
          <p:cNvPicPr>
            <a:picLocks noChangeAspect="1"/>
          </p:cNvPicPr>
          <p:nvPr/>
        </p:nvPicPr>
        <p:blipFill rotWithShape="1">
          <a:blip r:embed="rId2">
            <a:extLst>
              <a:ext uri="{28A0092B-C50C-407E-A947-70E740481C1C}">
                <a14:useLocalDpi xmlns:a14="http://schemas.microsoft.com/office/drawing/2010/main" val="0"/>
              </a:ext>
            </a:extLst>
          </a:blip>
          <a:srcRect r="64988"/>
          <a:stretch/>
        </p:blipFill>
        <p:spPr>
          <a:xfrm>
            <a:off x="0" y="0"/>
            <a:ext cx="4268596" cy="6858000"/>
          </a:xfrm>
          <a:prstGeom prst="rect">
            <a:avLst/>
          </a:prstGeom>
        </p:spPr>
      </p:pic>
      <p:grpSp>
        <p:nvGrpSpPr>
          <p:cNvPr id="182" name="Group 181">
            <a:extLst>
              <a:ext uri="{FF2B5EF4-FFF2-40B4-BE49-F238E27FC236}">
                <a16:creationId xmlns:a16="http://schemas.microsoft.com/office/drawing/2014/main" id="{77396E5F-348C-4338-B293-968BEA981FDB}"/>
              </a:ext>
            </a:extLst>
          </p:cNvPr>
          <p:cNvGrpSpPr/>
          <p:nvPr/>
        </p:nvGrpSpPr>
        <p:grpSpPr>
          <a:xfrm>
            <a:off x="252552" y="6342796"/>
            <a:ext cx="11686895" cy="398170"/>
            <a:chOff x="252552" y="6226684"/>
            <a:chExt cx="11686895" cy="398170"/>
          </a:xfrm>
        </p:grpSpPr>
        <p:grpSp>
          <p:nvGrpSpPr>
            <p:cNvPr id="172" name="Group 171">
              <a:extLst>
                <a:ext uri="{FF2B5EF4-FFF2-40B4-BE49-F238E27FC236}">
                  <a16:creationId xmlns:a16="http://schemas.microsoft.com/office/drawing/2014/main" id="{043DA00A-4155-4488-8261-DB136097B10C}"/>
                </a:ext>
              </a:extLst>
            </p:cNvPr>
            <p:cNvGrpSpPr/>
            <p:nvPr/>
          </p:nvGrpSpPr>
          <p:grpSpPr>
            <a:xfrm>
              <a:off x="252552" y="6293241"/>
              <a:ext cx="1266906" cy="265056"/>
              <a:chOff x="5600700" y="-854146"/>
              <a:chExt cx="989647" cy="207049"/>
            </a:xfrm>
          </p:grpSpPr>
          <p:sp>
            <p:nvSpPr>
              <p:cNvPr id="173" name="Freeform: Shape 172">
                <a:extLst>
                  <a:ext uri="{FF2B5EF4-FFF2-40B4-BE49-F238E27FC236}">
                    <a16:creationId xmlns:a16="http://schemas.microsoft.com/office/drawing/2014/main" id="{5529D942-D3DC-4AA5-A11E-2EAD767EE35D}"/>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0755DD92-DC0C-4053-A436-745AF0A70850}"/>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4518EE33-E21D-4E76-B041-14F423E26EAD}"/>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4C711A2-EC08-414B-B62D-F848E4E33BC2}"/>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7152FC00-E28E-4906-9909-07FB83382FA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5C0BFA11-C3DB-4246-9AA5-3EC58FE54C46}"/>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D22D6EE2-4EA8-4E7A-B8FF-7F9FE44552D8}"/>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BDBBAA55-241D-4C91-804F-8945A70DB132}"/>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BE44E2D9-A68F-4AE8-873F-8B818D81D3B6}"/>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2541" y="6226684"/>
              <a:ext cx="1266906" cy="398170"/>
            </a:xfrm>
            <a:prstGeom prst="rect">
              <a:avLst/>
            </a:prstGeom>
          </p:spPr>
        </p:pic>
      </p:grpSp>
      <p:sp>
        <p:nvSpPr>
          <p:cNvPr id="150" name="TextBox 149">
            <a:extLst>
              <a:ext uri="{FF2B5EF4-FFF2-40B4-BE49-F238E27FC236}">
                <a16:creationId xmlns:a16="http://schemas.microsoft.com/office/drawing/2014/main" id="{97AE9CDE-843A-4016-BD11-6A012486773C}"/>
              </a:ext>
            </a:extLst>
          </p:cNvPr>
          <p:cNvSpPr txBox="1"/>
          <p:nvPr/>
        </p:nvSpPr>
        <p:spPr>
          <a:xfrm>
            <a:off x="468407" y="580642"/>
            <a:ext cx="3389218" cy="510909"/>
          </a:xfrm>
          <a:prstGeom prst="rect">
            <a:avLst/>
          </a:prstGeom>
          <a:noFill/>
        </p:spPr>
        <p:txBody>
          <a:bodyPr wrap="square" rtlCol="0">
            <a:spAutoFit/>
          </a:bodyPr>
          <a:lstStyle/>
          <a:p>
            <a:pPr lvl="0">
              <a:lnSpc>
                <a:spcPct val="85000"/>
              </a:lnSpc>
              <a:defRPr/>
            </a:pPr>
            <a:r>
              <a:rPr lang="pt-PT" sz="3200" b="1" spc="300" dirty="0">
                <a:solidFill>
                  <a:schemeClr val="bg1"/>
                </a:solidFill>
                <a:latin typeface="Trebuchet MS" panose="020B0603020202020204" pitchFamily="34" charset="0"/>
                <a:ea typeface="Verdana" panose="020B0604030504040204" pitchFamily="34" charset="0"/>
                <a:cs typeface="Zilla Slab Light"/>
                <a:sym typeface="Zilla Slab Light"/>
              </a:rPr>
              <a:t>MIGRÉTIL</a:t>
            </a:r>
            <a:endParaRPr kumimoji="0" lang="en-US" sz="3200" b="1" i="0" u="none" strike="noStrike" kern="1200" cap="none" spc="300" normalizeH="0" baseline="30000" noProof="0" dirty="0">
              <a:ln>
                <a:noFill/>
              </a:ln>
              <a:solidFill>
                <a:schemeClr val="bg1"/>
              </a:solidFill>
              <a:uLnTx/>
              <a:uFillTx/>
              <a:latin typeface="Trebuchet MS" panose="020B0603020202020204" pitchFamily="34" charset="0"/>
              <a:ea typeface="Verdana" panose="020B0604030504040204" pitchFamily="34" charset="0"/>
              <a:cs typeface="Zilla Slab Light"/>
              <a:sym typeface="Zilla Slab Light"/>
            </a:endParaRPr>
          </a:p>
        </p:txBody>
      </p:sp>
      <p:grpSp>
        <p:nvGrpSpPr>
          <p:cNvPr id="37" name="Group 36">
            <a:extLst>
              <a:ext uri="{FF2B5EF4-FFF2-40B4-BE49-F238E27FC236}">
                <a16:creationId xmlns:a16="http://schemas.microsoft.com/office/drawing/2014/main" id="{0BE31391-F1DC-411A-87D1-5112B9F266CA}"/>
              </a:ext>
            </a:extLst>
          </p:cNvPr>
          <p:cNvGrpSpPr/>
          <p:nvPr/>
        </p:nvGrpSpPr>
        <p:grpSpPr>
          <a:xfrm>
            <a:off x="252552" y="6409353"/>
            <a:ext cx="1266906" cy="265056"/>
            <a:chOff x="5600700" y="-854146"/>
            <a:chExt cx="989647" cy="207049"/>
          </a:xfrm>
          <a:solidFill>
            <a:schemeClr val="bg1"/>
          </a:solidFill>
        </p:grpSpPr>
        <p:sp>
          <p:nvSpPr>
            <p:cNvPr id="41" name="Freeform: Shape 40">
              <a:extLst>
                <a:ext uri="{FF2B5EF4-FFF2-40B4-BE49-F238E27FC236}">
                  <a16:creationId xmlns:a16="http://schemas.microsoft.com/office/drawing/2014/main" id="{13F13A9E-8B05-4590-A769-7FB4E7D04AA7}"/>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C0B628-3DD6-4944-9D84-B56861B58EF6}"/>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017A177-EC27-403B-8372-86A3DBE3082E}"/>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E32EB9E-2686-4B42-9E63-9A43DDA63D58}"/>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2470303-A478-48C3-AD44-38AA76CC623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A6D117B-673B-41A6-9291-A0BBD1557E39}"/>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04C809F-31FC-48B3-A817-B6F57FFB20E1}"/>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5F7B8F6-61CC-412C-AEFF-BE182B64F64B}"/>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AC0821E-80AD-4AC4-8876-F78F55B9F41B}"/>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grpFill/>
            <a:ln w="9525" cap="flat">
              <a:noFill/>
              <a:prstDash val="solid"/>
              <a:miter/>
            </a:ln>
          </p:spPr>
          <p:txBody>
            <a:bodyPr rtlCol="0" anchor="ctr"/>
            <a:lstStyle/>
            <a:p>
              <a:endParaRPr lang="en-US"/>
            </a:p>
          </p:txBody>
        </p:sp>
      </p:grpSp>
      <p:sp>
        <p:nvSpPr>
          <p:cNvPr id="223" name="TextBox 222">
            <a:extLst>
              <a:ext uri="{FF2B5EF4-FFF2-40B4-BE49-F238E27FC236}">
                <a16:creationId xmlns:a16="http://schemas.microsoft.com/office/drawing/2014/main" id="{E70EEC19-B0E3-4765-98C9-E87C6C1182C7}"/>
              </a:ext>
            </a:extLst>
          </p:cNvPr>
          <p:cNvSpPr txBox="1"/>
          <p:nvPr/>
        </p:nvSpPr>
        <p:spPr>
          <a:xfrm>
            <a:off x="4683761" y="6577154"/>
            <a:ext cx="5591683" cy="210058"/>
          </a:xfrm>
          <a:prstGeom prst="rect">
            <a:avLst/>
          </a:prstGeom>
          <a:noFill/>
        </p:spPr>
        <p:txBody>
          <a:bodyPr wrap="square" rtlCol="0">
            <a:spAutoFit/>
          </a:bodyPr>
          <a:lstStyle/>
          <a:p>
            <a:pPr lvl="0">
              <a:lnSpc>
                <a:spcPct val="85000"/>
              </a:lnSpc>
              <a:defRPr/>
            </a:pPr>
            <a:r>
              <a:rPr lang="en-US" sz="900" dirty="0">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RCP DE MIGRÉTIL</a:t>
            </a:r>
          </a:p>
        </p:txBody>
      </p:sp>
      <p:pic>
        <p:nvPicPr>
          <p:cNvPr id="100" name="Graphic 99">
            <a:extLst>
              <a:ext uri="{FF2B5EF4-FFF2-40B4-BE49-F238E27FC236}">
                <a16:creationId xmlns:a16="http://schemas.microsoft.com/office/drawing/2014/main" id="{95448BFF-4BE7-45ED-8CE1-B8AE69A5826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07803" y="2456766"/>
            <a:ext cx="2927599" cy="1631526"/>
          </a:xfrm>
          <a:prstGeom prst="rect">
            <a:avLst/>
          </a:prstGeom>
        </p:spPr>
      </p:pic>
      <p:pic>
        <p:nvPicPr>
          <p:cNvPr id="103" name="Picture 102" descr="A picture containing text&#10;&#10;Description automatically generated">
            <a:extLst>
              <a:ext uri="{FF2B5EF4-FFF2-40B4-BE49-F238E27FC236}">
                <a16:creationId xmlns:a16="http://schemas.microsoft.com/office/drawing/2014/main" id="{A978B731-12D7-4E74-8822-D38F2B646F6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3803" y="3709375"/>
            <a:ext cx="4099534" cy="1677833"/>
          </a:xfrm>
          <a:prstGeom prst="rect">
            <a:avLst/>
          </a:prstGeom>
        </p:spPr>
      </p:pic>
      <p:pic>
        <p:nvPicPr>
          <p:cNvPr id="35" name="Picture 34">
            <a:extLst>
              <a:ext uri="{FF2B5EF4-FFF2-40B4-BE49-F238E27FC236}">
                <a16:creationId xmlns:a16="http://schemas.microsoft.com/office/drawing/2014/main" id="{05D5A597-0E1E-4AB3-BEDC-DA3BA8882368}"/>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rot="2124397">
            <a:off x="3051916" y="5959422"/>
            <a:ext cx="780987" cy="607162"/>
          </a:xfrm>
          <a:prstGeom prst="rect">
            <a:avLst/>
          </a:prstGeom>
          <a:effectLst>
            <a:outerShdw blurRad="317500" sx="102000" sy="102000" algn="ctr" rotWithShape="0">
              <a:prstClr val="black">
                <a:alpha val="15000"/>
              </a:prstClr>
            </a:outerShdw>
          </a:effectLst>
        </p:spPr>
      </p:pic>
      <p:sp>
        <p:nvSpPr>
          <p:cNvPr id="38" name="Rectangle: Rounded Corners 37">
            <a:extLst>
              <a:ext uri="{FF2B5EF4-FFF2-40B4-BE49-F238E27FC236}">
                <a16:creationId xmlns:a16="http://schemas.microsoft.com/office/drawing/2014/main" id="{347127F6-95D8-4386-AC8C-97CC1CFAB234}"/>
              </a:ext>
            </a:extLst>
          </p:cNvPr>
          <p:cNvSpPr/>
          <p:nvPr/>
        </p:nvSpPr>
        <p:spPr>
          <a:xfrm>
            <a:off x="4792399" y="1699302"/>
            <a:ext cx="6990298" cy="4441573"/>
          </a:xfrm>
          <a:prstGeom prst="roundRect">
            <a:avLst>
              <a:gd name="adj" fmla="val 3782"/>
            </a:avLst>
          </a:prstGeom>
          <a:solidFill>
            <a:schemeClr val="bg1"/>
          </a:solidFill>
          <a:ln>
            <a:noFill/>
          </a:ln>
          <a:effectLst>
            <a:outerShdw blurRad="5969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BFE16B6D-7726-455D-B957-79B03760B6B1}"/>
              </a:ext>
            </a:extLst>
          </p:cNvPr>
          <p:cNvGrpSpPr/>
          <p:nvPr/>
        </p:nvGrpSpPr>
        <p:grpSpPr>
          <a:xfrm>
            <a:off x="6332709" y="115629"/>
            <a:ext cx="3310657" cy="1951844"/>
            <a:chOff x="6434250" y="3200819"/>
            <a:chExt cx="1753219" cy="1121638"/>
          </a:xfrm>
        </p:grpSpPr>
        <p:sp>
          <p:nvSpPr>
            <p:cNvPr id="33" name="Retângulo: Cantos Arredondados 32">
              <a:extLst>
                <a:ext uri="{FF2B5EF4-FFF2-40B4-BE49-F238E27FC236}">
                  <a16:creationId xmlns:a16="http://schemas.microsoft.com/office/drawing/2014/main" id="{E587B5C8-209E-4EFA-8B44-F24FCF0A73DC}"/>
                </a:ext>
              </a:extLst>
            </p:cNvPr>
            <p:cNvSpPr/>
            <p:nvPr/>
          </p:nvSpPr>
          <p:spPr>
            <a:xfrm rot="5400000" flipV="1">
              <a:off x="6750041" y="2885028"/>
              <a:ext cx="1121638" cy="1753219"/>
            </a:xfrm>
            <a:prstGeom prst="roundRect">
              <a:avLst>
                <a:gd name="adj" fmla="val 3820"/>
              </a:avLst>
            </a:prstGeom>
            <a:solidFill>
              <a:srgbClr val="FDB913"/>
            </a:solidFill>
            <a:ln>
              <a:noFill/>
            </a:ln>
            <a:effectLst>
              <a:outerShdw blurRad="317500" dist="1270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34" name="TextBox 33">
              <a:extLst>
                <a:ext uri="{FF2B5EF4-FFF2-40B4-BE49-F238E27FC236}">
                  <a16:creationId xmlns:a16="http://schemas.microsoft.com/office/drawing/2014/main" id="{F69952E8-2772-4C84-ACC0-5B7323B00488}"/>
                </a:ext>
              </a:extLst>
            </p:cNvPr>
            <p:cNvSpPr txBox="1"/>
            <p:nvPr/>
          </p:nvSpPr>
          <p:spPr>
            <a:xfrm>
              <a:off x="6445356" y="3543116"/>
              <a:ext cx="1731008" cy="449238"/>
            </a:xfrm>
            <a:prstGeom prst="rect">
              <a:avLst/>
            </a:prstGeom>
            <a:noFill/>
          </p:spPr>
          <p:txBody>
            <a:bodyPr wrap="square" rtlCol="0">
              <a:spAutoFit/>
            </a:bodyPr>
            <a:lstStyle/>
            <a:p>
              <a:pPr lvl="0" algn="ctr">
                <a:lnSpc>
                  <a:spcPct val="80000"/>
                </a:lnSpc>
                <a:defRPr/>
              </a:pPr>
              <a:r>
                <a:rPr lang="es-ES" sz="2800" b="1" spc="300" dirty="0">
                  <a:solidFill>
                    <a:schemeClr val="bg1"/>
                  </a:solidFill>
                  <a:latin typeface="Trebuchet MS" panose="020B0603020202020204" pitchFamily="34" charset="0"/>
                  <a:ea typeface="Verdana" panose="020B0604030504040204" pitchFamily="34" charset="0"/>
                </a:rPr>
                <a:t>PARACETAMOL  400 mg</a:t>
              </a:r>
              <a:endParaRPr lang="es-ES" sz="2800" b="1" spc="300" dirty="0">
                <a:solidFill>
                  <a:schemeClr val="bg1"/>
                </a:solidFill>
                <a:latin typeface="Trebuchet MS" panose="020B0603020202020204" pitchFamily="34" charset="0"/>
                <a:ea typeface="Verdana" panose="020B0604030504040204" pitchFamily="34" charset="0"/>
                <a:sym typeface="Zilla Slab Light"/>
              </a:endParaRPr>
            </a:p>
          </p:txBody>
        </p:sp>
      </p:grpSp>
      <p:sp>
        <p:nvSpPr>
          <p:cNvPr id="39" name="Rectangle 38">
            <a:extLst>
              <a:ext uri="{FF2B5EF4-FFF2-40B4-BE49-F238E27FC236}">
                <a16:creationId xmlns:a16="http://schemas.microsoft.com/office/drawing/2014/main" id="{D1DDF0F3-581E-4AA4-B1AD-E6EE13876E2B}"/>
              </a:ext>
            </a:extLst>
          </p:cNvPr>
          <p:cNvSpPr/>
          <p:nvPr/>
        </p:nvSpPr>
        <p:spPr>
          <a:xfrm>
            <a:off x="4894345" y="2292684"/>
            <a:ext cx="6888352" cy="3046988"/>
          </a:xfrm>
          <a:prstGeom prst="rect">
            <a:avLst/>
          </a:prstGeom>
        </p:spPr>
        <p:txBody>
          <a:bodyPr wrap="square">
            <a:spAutoFit/>
          </a:bodyPr>
          <a:lstStyle/>
          <a:p>
            <a:pPr marL="285750" indent="-285750" fontAlgn="base">
              <a:buFont typeface="Arial" panose="020B0604020202020204" pitchFamily="34" charset="0"/>
              <a:buChar char="•"/>
            </a:pPr>
            <a:r>
              <a:rPr lang="es-ES" sz="1600" dirty="0">
                <a:latin typeface="Trebuchet MS" panose="020B0603020202020204" pitchFamily="34" charset="0"/>
                <a:ea typeface="Verdana" panose="020B0604030504040204" pitchFamily="34" charset="0"/>
              </a:rPr>
              <a:t>Efecto analgésico y antipirético (por un mecanismo que no se conoce completamente).</a:t>
            </a:r>
          </a:p>
          <a:p>
            <a:pPr fontAlgn="base"/>
            <a:endParaRPr lang="en-US" sz="1600"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es-ES" sz="1600" dirty="0">
                <a:latin typeface="Trebuchet MS" panose="020B0603020202020204" pitchFamily="34" charset="0"/>
                <a:ea typeface="Verdana" panose="020B0604030504040204" pitchFamily="34" charset="0"/>
              </a:rPr>
              <a:t>Efecto analgésico</a:t>
            </a:r>
          </a:p>
          <a:p>
            <a:pPr marL="742950" lvl="1" indent="-285750" fontAlgn="base">
              <a:buFont typeface="Arial" panose="020B0604020202020204" pitchFamily="34" charset="0"/>
              <a:buChar char="•"/>
            </a:pPr>
            <a:r>
              <a:rPr lang="es-ES" sz="1600" dirty="0">
                <a:latin typeface="Trebuchet MS" panose="020B0603020202020204" pitchFamily="34" charset="0"/>
                <a:ea typeface="Verdana" panose="020B0604030504040204" pitchFamily="34" charset="0"/>
              </a:rPr>
              <a:t>Puede actuar inhibiendo la síntesis de prostaglandinas en el SNC.</a:t>
            </a:r>
          </a:p>
          <a:p>
            <a:pPr marL="742950" lvl="1" indent="-285750" fontAlgn="base">
              <a:buFont typeface="Arial" panose="020B0604020202020204" pitchFamily="34" charset="0"/>
              <a:buChar char="•"/>
            </a:pPr>
            <a:r>
              <a:rPr lang="es-ES" sz="1600" dirty="0">
                <a:latin typeface="Trebuchet MS" panose="020B0603020202020204" pitchFamily="34" charset="0"/>
                <a:ea typeface="Verdana" panose="020B0604030504040204" pitchFamily="34" charset="0"/>
              </a:rPr>
              <a:t>Bloquea la génesis del impulso del dolor, periféricamente (por inhibición de las prostaglandinas y de otras sustancias).</a:t>
            </a:r>
          </a:p>
          <a:p>
            <a:pPr fontAlgn="base"/>
            <a:endParaRPr lang="en-US" sz="1600"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es-ES" sz="1600" dirty="0">
                <a:latin typeface="Trebuchet MS" panose="020B0603020202020204" pitchFamily="34" charset="0"/>
                <a:ea typeface="Verdana" panose="020B0604030504040204" pitchFamily="34" charset="0"/>
              </a:rPr>
              <a:t>Se absorbe rápida y casi completamente en el tracto gastrointestinal (</a:t>
            </a:r>
            <a:r>
              <a:rPr lang="es-ES" sz="1600" dirty="0" err="1">
                <a:latin typeface="Trebuchet MS" panose="020B0603020202020204" pitchFamily="34" charset="0"/>
                <a:ea typeface="Verdana" panose="020B0604030504040204" pitchFamily="34" charset="0"/>
              </a:rPr>
              <a:t>Cmáx</a:t>
            </a:r>
            <a:r>
              <a:rPr lang="es-ES" sz="1600" dirty="0">
                <a:latin typeface="Trebuchet MS" panose="020B0603020202020204" pitchFamily="34" charset="0"/>
                <a:ea typeface="Verdana" panose="020B0604030504040204" pitchFamily="34" charset="0"/>
              </a:rPr>
              <a:t> obtenida en 10-60 minutos).</a:t>
            </a:r>
          </a:p>
          <a:p>
            <a:pPr fontAlgn="base"/>
            <a:endParaRPr lang="en-US" sz="1600"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es-ES" sz="1600" dirty="0">
                <a:latin typeface="Trebuchet MS" panose="020B0603020202020204" pitchFamily="34" charset="0"/>
                <a:ea typeface="Verdana" panose="020B0604030504040204" pitchFamily="34" charset="0"/>
              </a:rPr>
              <a:t>Se excreta por vía urinaria.</a:t>
            </a:r>
          </a:p>
        </p:txBody>
      </p:sp>
      <p:pic>
        <p:nvPicPr>
          <p:cNvPr id="36" name="Picture 35" descr="Icon&#10;&#10;Description automatically generated">
            <a:extLst>
              <a:ext uri="{FF2B5EF4-FFF2-40B4-BE49-F238E27FC236}">
                <a16:creationId xmlns:a16="http://schemas.microsoft.com/office/drawing/2014/main" id="{0F14A597-42B0-4190-8A32-EAB1DA320E2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812429" y="278147"/>
            <a:ext cx="1594145" cy="1717846"/>
          </a:xfrm>
          <a:prstGeom prst="rect">
            <a:avLst/>
          </a:prstGeom>
        </p:spPr>
      </p:pic>
    </p:spTree>
    <p:extLst>
      <p:ext uri="{BB962C8B-B14F-4D97-AF65-F5344CB8AC3E}">
        <p14:creationId xmlns:p14="http://schemas.microsoft.com/office/powerpoint/2010/main" val="2803627088"/>
      </p:ext>
    </p:extLst>
  </p:cSld>
  <p:clrMapOvr>
    <a:masterClrMapping/>
  </p:clrMapOvr>
  <p:transition spd="slow">
    <p:push dir="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grpId="0" nodeType="withEffect">
                                      <p:stCondLst>
                                        <p:cond delay="1750"/>
                                      </p:stCondLst>
                                      <p:childTnLst>
                                        <p:set>
                                          <p:cBhvr>
                                            <p:cTn id="18" dur="1" fill="hold">
                                              <p:stCondLst>
                                                <p:cond delay="0"/>
                                              </p:stCondLst>
                                            </p:cTn>
                                            <p:tgtEl>
                                              <p:spTgt spid="223"/>
                                            </p:tgtEl>
                                            <p:attrNameLst>
                                              <p:attrName>style.visibility</p:attrName>
                                            </p:attrNameLst>
                                          </p:cBhvr>
                                          <p:to>
                                            <p:strVal val="visible"/>
                                          </p:to>
                                        </p:set>
                                        <p:animEffect transition="in" filter="fade">
                                          <p:cBhvr>
                                            <p:cTn id="19" dur="500"/>
                                            <p:tgtEl>
                                              <p:spTgt spid="223"/>
                                            </p:tgtEl>
                                          </p:cBhvr>
                                        </p:animEffect>
                                      </p:childTnLst>
                                    </p:cTn>
                                  </p:par>
                                  <p:par>
                                    <p:cTn id="20" presetID="10" presetClass="entr" presetSubtype="0" fill="hold" nodeType="withEffect">
                                      <p:stCondLst>
                                        <p:cond delay="75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250"/>
                                            <p:tgtEl>
                                              <p:spTgt spid="103"/>
                                            </p:tgtEl>
                                          </p:cBhvr>
                                        </p:animEffect>
                                      </p:childTnLst>
                                    </p:cTn>
                                  </p:par>
                                  <p:par>
                                    <p:cTn id="23" presetID="35" presetClass="path" presetSubtype="0" decel="100000" fill="hold" nodeType="withEffect">
                                      <p:stCondLst>
                                        <p:cond delay="750"/>
                                      </p:stCondLst>
                                      <p:childTnLst>
                                        <p:animMotion origin="layout" path="M 1.04167E-6 2.22222E-6 L -0.17917 2.22222E-6 " pathEditMode="relative" rAng="0" ptsTypes="AA">
                                          <p:cBhvr>
                                            <p:cTn id="24" dur="750" spd="-100000" fill="hold"/>
                                            <p:tgtEl>
                                              <p:spTgt spid="103"/>
                                            </p:tgtEl>
                                            <p:attrNameLst>
                                              <p:attrName>ppt_x</p:attrName>
                                              <p:attrName>ppt_y</p:attrName>
                                            </p:attrNameLst>
                                          </p:cBhvr>
                                          <p:rCtr x="-8958" y="0"/>
                                        </p:animMotion>
                                      </p:childTnLst>
                                    </p:cTn>
                                  </p:par>
                                  <p:par>
                                    <p:cTn id="25" presetID="23" presetClass="entr" presetSubtype="16" fill="hold" nodeType="withEffect">
                                      <p:stCondLst>
                                        <p:cond delay="1250"/>
                                      </p:stCondLst>
                                      <p:childTnLst>
                                        <p:set>
                                          <p:cBhvr>
                                            <p:cTn id="26" dur="1" fill="hold">
                                              <p:stCondLst>
                                                <p:cond delay="0"/>
                                              </p:stCondLst>
                                            </p:cTn>
                                            <p:tgtEl>
                                              <p:spTgt spid="100"/>
                                            </p:tgtEl>
                                            <p:attrNameLst>
                                              <p:attrName>style.visibility</p:attrName>
                                            </p:attrNameLst>
                                          </p:cBhvr>
                                          <p:to>
                                            <p:strVal val="visible"/>
                                          </p:to>
                                        </p:set>
                                        <p:anim calcmode="lin" valueType="num">
                                          <p:cBhvr>
                                            <p:cTn id="27" dur="200" fill="hold"/>
                                            <p:tgtEl>
                                              <p:spTgt spid="100"/>
                                            </p:tgtEl>
                                            <p:attrNameLst>
                                              <p:attrName>ppt_w</p:attrName>
                                            </p:attrNameLst>
                                          </p:cBhvr>
                                          <p:tavLst>
                                            <p:tav tm="0">
                                              <p:val>
                                                <p:fltVal val="0"/>
                                              </p:val>
                                            </p:tav>
                                            <p:tav tm="100000">
                                              <p:val>
                                                <p:strVal val="#ppt_w"/>
                                              </p:val>
                                            </p:tav>
                                          </p:tavLst>
                                        </p:anim>
                                        <p:anim calcmode="lin" valueType="num">
                                          <p:cBhvr>
                                            <p:cTn id="28" dur="200" fill="hold"/>
                                            <p:tgtEl>
                                              <p:spTgt spid="100"/>
                                            </p:tgtEl>
                                            <p:attrNameLst>
                                              <p:attrName>ppt_h</p:attrName>
                                            </p:attrNameLst>
                                          </p:cBhvr>
                                          <p:tavLst>
                                            <p:tav tm="0">
                                              <p:val>
                                                <p:fltVal val="0"/>
                                              </p:val>
                                            </p:tav>
                                            <p:tav tm="100000">
                                              <p:val>
                                                <p:strVal val="#ppt_h"/>
                                              </p:val>
                                            </p:tav>
                                          </p:tavLst>
                                        </p:anim>
                                      </p:childTnLst>
                                    </p:cTn>
                                  </p:par>
                                  <p:par>
                                    <p:cTn id="29" presetID="6" presetClass="emph" presetSubtype="0" fill="hold" nodeType="withEffect" p14:presetBounceEnd="99000">
                                      <p:stCondLst>
                                        <p:cond delay="1250"/>
                                      </p:stCondLst>
                                      <p:childTnLst>
                                        <p:animScale p14:bounceEnd="99000">
                                          <p:cBhvr>
                                            <p:cTn id="30" dur="1000" fill="hold"/>
                                            <p:tgtEl>
                                              <p:spTgt spid="100"/>
                                            </p:tgtEl>
                                          </p:cBhvr>
                                          <p:by x="110000" y="110000"/>
                                        </p:animScale>
                                      </p:childTnLst>
                                    </p:cTn>
                                  </p:par>
                                  <p:par>
                                    <p:cTn id="31" presetID="6" presetClass="emph" presetSubtype="0" accel="50000" decel="50000" fill="hold" nodeType="withEffect">
                                      <p:stCondLst>
                                        <p:cond delay="1250"/>
                                      </p:stCondLst>
                                      <p:childTnLst>
                                        <p:animScale>
                                          <p:cBhvr>
                                            <p:cTn id="32" dur="250" fill="hold"/>
                                            <p:tgtEl>
                                              <p:spTgt spid="100"/>
                                            </p:tgtEl>
                                          </p:cBhvr>
                                          <p:by x="91000" y="91000"/>
                                        </p:animScale>
                                      </p:childTnLst>
                                    </p:cTn>
                                  </p:par>
                                  <p:par>
                                    <p:cTn id="33" presetID="10" presetClass="entr" presetSubtype="0" fill="hold" nodeType="withEffect">
                                      <p:stCondLst>
                                        <p:cond delay="135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63" presetClass="path" presetSubtype="0" decel="100000" fill="hold" nodeType="withEffect">
                                      <p:stCondLst>
                                        <p:cond delay="1350"/>
                                      </p:stCondLst>
                                      <p:childTnLst>
                                        <p:animMotion origin="layout" path="M 6.25E-7 3.7037E-7 L 0.03906 3.7037E-7 " pathEditMode="relative" rAng="0" ptsTypes="AA">
                                          <p:cBhvr>
                                            <p:cTn id="37" dur="750" spd="-100000" fill="hold"/>
                                            <p:tgtEl>
                                              <p:spTgt spid="32"/>
                                            </p:tgtEl>
                                            <p:attrNameLst>
                                              <p:attrName>ppt_x</p:attrName>
                                              <p:attrName>ppt_y</p:attrName>
                                            </p:attrNameLst>
                                          </p:cBhvr>
                                          <p:rCtr x="1953" y="0"/>
                                        </p:animMotion>
                                      </p:childTnLst>
                                    </p:cTn>
                                  </p:par>
                                  <p:par>
                                    <p:cTn id="38" presetID="10" presetClass="entr" presetSubtype="0" fill="hold" nodeType="withEffect">
                                      <p:stCondLst>
                                        <p:cond delay="1500"/>
                                      </p:stCondLst>
                                      <p:childTnLst>
                                        <p:set>
                                          <p:cBhvr>
                                            <p:cTn id="39" dur="1" fill="hold">
                                              <p:stCondLst>
                                                <p:cond delay="0"/>
                                              </p:stCondLst>
                                            </p:cTn>
                                            <p:tgtEl>
                                              <p:spTgt spid="35"/>
                                            </p:tgtEl>
                                            <p:attrNameLst>
                                              <p:attrName>style.visibility</p:attrName>
                                            </p:attrNameLst>
                                          </p:cBhvr>
                                          <p:to>
                                            <p:strVal val="visible"/>
                                          </p:to>
                                        </p:set>
                                        <p:animEffect transition="in" filter="fade">
                                          <p:cBhvr>
                                            <p:cTn id="40" dur="250"/>
                                            <p:tgtEl>
                                              <p:spTgt spid="35"/>
                                            </p:tgtEl>
                                          </p:cBhvr>
                                        </p:animEffect>
                                      </p:childTnLst>
                                    </p:cTn>
                                  </p:par>
                                  <p:par>
                                    <p:cTn id="41" presetID="42" presetClass="path" presetSubtype="0" decel="100000" fill="hold" nodeType="withEffect">
                                      <p:stCondLst>
                                        <p:cond delay="1500"/>
                                      </p:stCondLst>
                                      <p:childTnLst>
                                        <p:animMotion origin="layout" path="M 3.54167E-6 -1.48148E-6 L -0.08516 0.05278 " pathEditMode="relative" rAng="0" ptsTypes="AA">
                                          <p:cBhvr>
                                            <p:cTn id="42" dur="1000" spd="-100000" fill="hold"/>
                                            <p:tgtEl>
                                              <p:spTgt spid="35"/>
                                            </p:tgtEl>
                                            <p:attrNameLst>
                                              <p:attrName>ppt_x</p:attrName>
                                              <p:attrName>ppt_y</p:attrName>
                                            </p:attrNameLst>
                                          </p:cBhvr>
                                          <p:rCtr x="-4258" y="2639"/>
                                        </p:animMotion>
                                      </p:childTnLst>
                                    </p:cTn>
                                  </p:par>
                                  <p:par>
                                    <p:cTn id="43" presetID="10" presetClass="entr" presetSubtype="0" fill="hold" grpId="0" nodeType="withEffect">
                                      <p:stCondLst>
                                        <p:cond delay="1000"/>
                                      </p:stCondLst>
                                      <p:childTnLst>
                                        <p:set>
                                          <p:cBhvr>
                                            <p:cTn id="44" dur="1" fill="hold">
                                              <p:stCondLst>
                                                <p:cond delay="0"/>
                                              </p:stCondLst>
                                            </p:cTn>
                                            <p:tgtEl>
                                              <p:spTgt spid="38"/>
                                            </p:tgtEl>
                                            <p:attrNameLst>
                                              <p:attrName>style.visibility</p:attrName>
                                            </p:attrNameLst>
                                          </p:cBhvr>
                                          <p:to>
                                            <p:strVal val="visible"/>
                                          </p:to>
                                        </p:set>
                                        <p:animEffect transition="in" filter="fade">
                                          <p:cBhvr>
                                            <p:cTn id="4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223" grpId="0"/>
          <p:bldP spid="38"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grpId="0" nodeType="withEffect">
                                      <p:stCondLst>
                                        <p:cond delay="1750"/>
                                      </p:stCondLst>
                                      <p:childTnLst>
                                        <p:set>
                                          <p:cBhvr>
                                            <p:cTn id="18" dur="1" fill="hold">
                                              <p:stCondLst>
                                                <p:cond delay="0"/>
                                              </p:stCondLst>
                                            </p:cTn>
                                            <p:tgtEl>
                                              <p:spTgt spid="223"/>
                                            </p:tgtEl>
                                            <p:attrNameLst>
                                              <p:attrName>style.visibility</p:attrName>
                                            </p:attrNameLst>
                                          </p:cBhvr>
                                          <p:to>
                                            <p:strVal val="visible"/>
                                          </p:to>
                                        </p:set>
                                        <p:animEffect transition="in" filter="fade">
                                          <p:cBhvr>
                                            <p:cTn id="19" dur="500"/>
                                            <p:tgtEl>
                                              <p:spTgt spid="223"/>
                                            </p:tgtEl>
                                          </p:cBhvr>
                                        </p:animEffect>
                                      </p:childTnLst>
                                    </p:cTn>
                                  </p:par>
                                  <p:par>
                                    <p:cTn id="20" presetID="10" presetClass="entr" presetSubtype="0" fill="hold" nodeType="withEffect">
                                      <p:stCondLst>
                                        <p:cond delay="75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250"/>
                                            <p:tgtEl>
                                              <p:spTgt spid="103"/>
                                            </p:tgtEl>
                                          </p:cBhvr>
                                        </p:animEffect>
                                      </p:childTnLst>
                                    </p:cTn>
                                  </p:par>
                                  <p:par>
                                    <p:cTn id="23" presetID="35" presetClass="path" presetSubtype="0" decel="100000" fill="hold" nodeType="withEffect">
                                      <p:stCondLst>
                                        <p:cond delay="750"/>
                                      </p:stCondLst>
                                      <p:childTnLst>
                                        <p:animMotion origin="layout" path="M 1.04167E-6 2.22222E-6 L -0.17917 2.22222E-6 " pathEditMode="relative" rAng="0" ptsTypes="AA">
                                          <p:cBhvr>
                                            <p:cTn id="24" dur="750" spd="-100000" fill="hold"/>
                                            <p:tgtEl>
                                              <p:spTgt spid="103"/>
                                            </p:tgtEl>
                                            <p:attrNameLst>
                                              <p:attrName>ppt_x</p:attrName>
                                              <p:attrName>ppt_y</p:attrName>
                                            </p:attrNameLst>
                                          </p:cBhvr>
                                          <p:rCtr x="-8958" y="0"/>
                                        </p:animMotion>
                                      </p:childTnLst>
                                    </p:cTn>
                                  </p:par>
                                  <p:par>
                                    <p:cTn id="25" presetID="23" presetClass="entr" presetSubtype="16" fill="hold" nodeType="withEffect">
                                      <p:stCondLst>
                                        <p:cond delay="1250"/>
                                      </p:stCondLst>
                                      <p:childTnLst>
                                        <p:set>
                                          <p:cBhvr>
                                            <p:cTn id="26" dur="1" fill="hold">
                                              <p:stCondLst>
                                                <p:cond delay="0"/>
                                              </p:stCondLst>
                                            </p:cTn>
                                            <p:tgtEl>
                                              <p:spTgt spid="100"/>
                                            </p:tgtEl>
                                            <p:attrNameLst>
                                              <p:attrName>style.visibility</p:attrName>
                                            </p:attrNameLst>
                                          </p:cBhvr>
                                          <p:to>
                                            <p:strVal val="visible"/>
                                          </p:to>
                                        </p:set>
                                        <p:anim calcmode="lin" valueType="num">
                                          <p:cBhvr>
                                            <p:cTn id="27" dur="200" fill="hold"/>
                                            <p:tgtEl>
                                              <p:spTgt spid="100"/>
                                            </p:tgtEl>
                                            <p:attrNameLst>
                                              <p:attrName>ppt_w</p:attrName>
                                            </p:attrNameLst>
                                          </p:cBhvr>
                                          <p:tavLst>
                                            <p:tav tm="0">
                                              <p:val>
                                                <p:fltVal val="0"/>
                                              </p:val>
                                            </p:tav>
                                            <p:tav tm="100000">
                                              <p:val>
                                                <p:strVal val="#ppt_w"/>
                                              </p:val>
                                            </p:tav>
                                          </p:tavLst>
                                        </p:anim>
                                        <p:anim calcmode="lin" valueType="num">
                                          <p:cBhvr>
                                            <p:cTn id="28" dur="200" fill="hold"/>
                                            <p:tgtEl>
                                              <p:spTgt spid="100"/>
                                            </p:tgtEl>
                                            <p:attrNameLst>
                                              <p:attrName>ppt_h</p:attrName>
                                            </p:attrNameLst>
                                          </p:cBhvr>
                                          <p:tavLst>
                                            <p:tav tm="0">
                                              <p:val>
                                                <p:fltVal val="0"/>
                                              </p:val>
                                            </p:tav>
                                            <p:tav tm="100000">
                                              <p:val>
                                                <p:strVal val="#ppt_h"/>
                                              </p:val>
                                            </p:tav>
                                          </p:tavLst>
                                        </p:anim>
                                      </p:childTnLst>
                                    </p:cTn>
                                  </p:par>
                                  <p:par>
                                    <p:cTn id="29" presetID="6" presetClass="emph" presetSubtype="0" fill="hold" nodeType="withEffect">
                                      <p:stCondLst>
                                        <p:cond delay="1250"/>
                                      </p:stCondLst>
                                      <p:childTnLst>
                                        <p:animScale>
                                          <p:cBhvr>
                                            <p:cTn id="30" dur="1000" fill="hold"/>
                                            <p:tgtEl>
                                              <p:spTgt spid="100"/>
                                            </p:tgtEl>
                                          </p:cBhvr>
                                          <p:by x="110000" y="110000"/>
                                        </p:animScale>
                                      </p:childTnLst>
                                    </p:cTn>
                                  </p:par>
                                  <p:par>
                                    <p:cTn id="31" presetID="6" presetClass="emph" presetSubtype="0" accel="50000" decel="50000" fill="hold" nodeType="withEffect">
                                      <p:stCondLst>
                                        <p:cond delay="1250"/>
                                      </p:stCondLst>
                                      <p:childTnLst>
                                        <p:animScale>
                                          <p:cBhvr>
                                            <p:cTn id="32" dur="250" fill="hold"/>
                                            <p:tgtEl>
                                              <p:spTgt spid="100"/>
                                            </p:tgtEl>
                                          </p:cBhvr>
                                          <p:by x="91000" y="91000"/>
                                        </p:animScale>
                                      </p:childTnLst>
                                    </p:cTn>
                                  </p:par>
                                  <p:par>
                                    <p:cTn id="33" presetID="10" presetClass="entr" presetSubtype="0" fill="hold" nodeType="withEffect">
                                      <p:stCondLst>
                                        <p:cond delay="135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63" presetClass="path" presetSubtype="0" decel="100000" fill="hold" nodeType="withEffect">
                                      <p:stCondLst>
                                        <p:cond delay="1350"/>
                                      </p:stCondLst>
                                      <p:childTnLst>
                                        <p:animMotion origin="layout" path="M 6.25E-7 3.7037E-7 L 0.03906 3.7037E-7 " pathEditMode="relative" rAng="0" ptsTypes="AA">
                                          <p:cBhvr>
                                            <p:cTn id="37" dur="750" spd="-100000" fill="hold"/>
                                            <p:tgtEl>
                                              <p:spTgt spid="32"/>
                                            </p:tgtEl>
                                            <p:attrNameLst>
                                              <p:attrName>ppt_x</p:attrName>
                                              <p:attrName>ppt_y</p:attrName>
                                            </p:attrNameLst>
                                          </p:cBhvr>
                                          <p:rCtr x="1953" y="0"/>
                                        </p:animMotion>
                                      </p:childTnLst>
                                    </p:cTn>
                                  </p:par>
                                  <p:par>
                                    <p:cTn id="38" presetID="10" presetClass="entr" presetSubtype="0" fill="hold" nodeType="withEffect">
                                      <p:stCondLst>
                                        <p:cond delay="1500"/>
                                      </p:stCondLst>
                                      <p:childTnLst>
                                        <p:set>
                                          <p:cBhvr>
                                            <p:cTn id="39" dur="1" fill="hold">
                                              <p:stCondLst>
                                                <p:cond delay="0"/>
                                              </p:stCondLst>
                                            </p:cTn>
                                            <p:tgtEl>
                                              <p:spTgt spid="35"/>
                                            </p:tgtEl>
                                            <p:attrNameLst>
                                              <p:attrName>style.visibility</p:attrName>
                                            </p:attrNameLst>
                                          </p:cBhvr>
                                          <p:to>
                                            <p:strVal val="visible"/>
                                          </p:to>
                                        </p:set>
                                        <p:animEffect transition="in" filter="fade">
                                          <p:cBhvr>
                                            <p:cTn id="40" dur="250"/>
                                            <p:tgtEl>
                                              <p:spTgt spid="35"/>
                                            </p:tgtEl>
                                          </p:cBhvr>
                                        </p:animEffect>
                                      </p:childTnLst>
                                    </p:cTn>
                                  </p:par>
                                  <p:par>
                                    <p:cTn id="41" presetID="42" presetClass="path" presetSubtype="0" decel="100000" fill="hold" nodeType="withEffect">
                                      <p:stCondLst>
                                        <p:cond delay="1500"/>
                                      </p:stCondLst>
                                      <p:childTnLst>
                                        <p:animMotion origin="layout" path="M 3.54167E-6 -1.48148E-6 L -0.08516 0.05278 " pathEditMode="relative" rAng="0" ptsTypes="AA">
                                          <p:cBhvr>
                                            <p:cTn id="42" dur="1000" spd="-100000" fill="hold"/>
                                            <p:tgtEl>
                                              <p:spTgt spid="35"/>
                                            </p:tgtEl>
                                            <p:attrNameLst>
                                              <p:attrName>ppt_x</p:attrName>
                                              <p:attrName>ppt_y</p:attrName>
                                            </p:attrNameLst>
                                          </p:cBhvr>
                                          <p:rCtr x="-4258" y="2639"/>
                                        </p:animMotion>
                                      </p:childTnLst>
                                    </p:cTn>
                                  </p:par>
                                  <p:par>
                                    <p:cTn id="43" presetID="10" presetClass="entr" presetSubtype="0" fill="hold" grpId="0" nodeType="withEffect">
                                      <p:stCondLst>
                                        <p:cond delay="1000"/>
                                      </p:stCondLst>
                                      <p:childTnLst>
                                        <p:set>
                                          <p:cBhvr>
                                            <p:cTn id="44" dur="1" fill="hold">
                                              <p:stCondLst>
                                                <p:cond delay="0"/>
                                              </p:stCondLst>
                                            </p:cTn>
                                            <p:tgtEl>
                                              <p:spTgt spid="38"/>
                                            </p:tgtEl>
                                            <p:attrNameLst>
                                              <p:attrName>style.visibility</p:attrName>
                                            </p:attrNameLst>
                                          </p:cBhvr>
                                          <p:to>
                                            <p:strVal val="visible"/>
                                          </p:to>
                                        </p:set>
                                        <p:animEffect transition="in" filter="fade">
                                          <p:cBhvr>
                                            <p:cTn id="4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223" grpId="0"/>
          <p:bldP spid="38" grpId="0" animBg="1"/>
        </p:bld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B194DFA-D81F-45C6-98D0-615747557E57}"/>
              </a:ext>
            </a:extLst>
          </p:cNvPr>
          <p:cNvSpPr/>
          <p:nvPr/>
        </p:nvSpPr>
        <p:spPr>
          <a:xfrm>
            <a:off x="0" y="3806240"/>
            <a:ext cx="12192000" cy="30517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0" name="Picture 169" descr="Shape, circle&#10;&#10;Description automatically generated">
            <a:extLst>
              <a:ext uri="{FF2B5EF4-FFF2-40B4-BE49-F238E27FC236}">
                <a16:creationId xmlns:a16="http://schemas.microsoft.com/office/drawing/2014/main" id="{EEB2B992-2400-4EEE-A3C6-C52D633A15B2}"/>
              </a:ext>
            </a:extLst>
          </p:cNvPr>
          <p:cNvPicPr>
            <a:picLocks noChangeAspect="1"/>
          </p:cNvPicPr>
          <p:nvPr/>
        </p:nvPicPr>
        <p:blipFill rotWithShape="1">
          <a:blip r:embed="rId2">
            <a:extLst>
              <a:ext uri="{28A0092B-C50C-407E-A947-70E740481C1C}">
                <a14:useLocalDpi xmlns:a14="http://schemas.microsoft.com/office/drawing/2010/main" val="0"/>
              </a:ext>
            </a:extLst>
          </a:blip>
          <a:srcRect r="64988"/>
          <a:stretch/>
        </p:blipFill>
        <p:spPr>
          <a:xfrm>
            <a:off x="0" y="0"/>
            <a:ext cx="4268596" cy="6858000"/>
          </a:xfrm>
          <a:prstGeom prst="rect">
            <a:avLst/>
          </a:prstGeom>
        </p:spPr>
      </p:pic>
      <p:grpSp>
        <p:nvGrpSpPr>
          <p:cNvPr id="182" name="Group 181">
            <a:extLst>
              <a:ext uri="{FF2B5EF4-FFF2-40B4-BE49-F238E27FC236}">
                <a16:creationId xmlns:a16="http://schemas.microsoft.com/office/drawing/2014/main" id="{77396E5F-348C-4338-B293-968BEA981FDB}"/>
              </a:ext>
            </a:extLst>
          </p:cNvPr>
          <p:cNvGrpSpPr/>
          <p:nvPr/>
        </p:nvGrpSpPr>
        <p:grpSpPr>
          <a:xfrm>
            <a:off x="252552" y="6342796"/>
            <a:ext cx="11686895" cy="398170"/>
            <a:chOff x="252552" y="6226684"/>
            <a:chExt cx="11686895" cy="398170"/>
          </a:xfrm>
        </p:grpSpPr>
        <p:grpSp>
          <p:nvGrpSpPr>
            <p:cNvPr id="172" name="Group 171">
              <a:extLst>
                <a:ext uri="{FF2B5EF4-FFF2-40B4-BE49-F238E27FC236}">
                  <a16:creationId xmlns:a16="http://schemas.microsoft.com/office/drawing/2014/main" id="{043DA00A-4155-4488-8261-DB136097B10C}"/>
                </a:ext>
              </a:extLst>
            </p:cNvPr>
            <p:cNvGrpSpPr/>
            <p:nvPr/>
          </p:nvGrpSpPr>
          <p:grpSpPr>
            <a:xfrm>
              <a:off x="252552" y="6293241"/>
              <a:ext cx="1266906" cy="265056"/>
              <a:chOff x="5600700" y="-854146"/>
              <a:chExt cx="989647" cy="207049"/>
            </a:xfrm>
          </p:grpSpPr>
          <p:sp>
            <p:nvSpPr>
              <p:cNvPr id="173" name="Freeform: Shape 172">
                <a:extLst>
                  <a:ext uri="{FF2B5EF4-FFF2-40B4-BE49-F238E27FC236}">
                    <a16:creationId xmlns:a16="http://schemas.microsoft.com/office/drawing/2014/main" id="{5529D942-D3DC-4AA5-A11E-2EAD767EE35D}"/>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0755DD92-DC0C-4053-A436-745AF0A70850}"/>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4518EE33-E21D-4E76-B041-14F423E26EAD}"/>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4C711A2-EC08-414B-B62D-F848E4E33BC2}"/>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7152FC00-E28E-4906-9909-07FB83382FA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5C0BFA11-C3DB-4246-9AA5-3EC58FE54C46}"/>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D22D6EE2-4EA8-4E7A-B8FF-7F9FE44552D8}"/>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BDBBAA55-241D-4C91-804F-8945A70DB132}"/>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BE44E2D9-A68F-4AE8-873F-8B818D81D3B6}"/>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2541" y="6226684"/>
              <a:ext cx="1266906" cy="398170"/>
            </a:xfrm>
            <a:prstGeom prst="rect">
              <a:avLst/>
            </a:prstGeom>
          </p:spPr>
        </p:pic>
      </p:grpSp>
      <p:sp>
        <p:nvSpPr>
          <p:cNvPr id="150" name="TextBox 149">
            <a:extLst>
              <a:ext uri="{FF2B5EF4-FFF2-40B4-BE49-F238E27FC236}">
                <a16:creationId xmlns:a16="http://schemas.microsoft.com/office/drawing/2014/main" id="{97AE9CDE-843A-4016-BD11-6A012486773C}"/>
              </a:ext>
            </a:extLst>
          </p:cNvPr>
          <p:cNvSpPr txBox="1"/>
          <p:nvPr/>
        </p:nvSpPr>
        <p:spPr>
          <a:xfrm>
            <a:off x="468407" y="580642"/>
            <a:ext cx="3389218" cy="510909"/>
          </a:xfrm>
          <a:prstGeom prst="rect">
            <a:avLst/>
          </a:prstGeom>
          <a:noFill/>
        </p:spPr>
        <p:txBody>
          <a:bodyPr wrap="square" rtlCol="0">
            <a:spAutoFit/>
          </a:bodyPr>
          <a:lstStyle/>
          <a:p>
            <a:pPr lvl="0">
              <a:lnSpc>
                <a:spcPct val="85000"/>
              </a:lnSpc>
              <a:defRPr/>
            </a:pPr>
            <a:r>
              <a:rPr lang="pt-PT" sz="3200" b="1" spc="300" dirty="0">
                <a:solidFill>
                  <a:schemeClr val="bg1"/>
                </a:solidFill>
                <a:latin typeface="Trebuchet MS" panose="020B0603020202020204" pitchFamily="34" charset="0"/>
                <a:ea typeface="Verdana" panose="020B0604030504040204" pitchFamily="34" charset="0"/>
                <a:cs typeface="Zilla Slab Light"/>
                <a:sym typeface="Zilla Slab Light"/>
              </a:rPr>
              <a:t>MIGRÉTIL</a:t>
            </a:r>
            <a:endParaRPr kumimoji="0" lang="en-US" sz="3200" b="1" i="0" u="none" strike="noStrike" kern="1200" cap="none" spc="300" normalizeH="0" baseline="30000" noProof="0" dirty="0">
              <a:ln>
                <a:noFill/>
              </a:ln>
              <a:solidFill>
                <a:schemeClr val="bg1"/>
              </a:solidFill>
              <a:uLnTx/>
              <a:uFillTx/>
              <a:latin typeface="Trebuchet MS" panose="020B0603020202020204" pitchFamily="34" charset="0"/>
              <a:ea typeface="Verdana" panose="020B0604030504040204" pitchFamily="34" charset="0"/>
              <a:cs typeface="Zilla Slab Light"/>
              <a:sym typeface="Zilla Slab Light"/>
            </a:endParaRPr>
          </a:p>
        </p:txBody>
      </p:sp>
      <p:grpSp>
        <p:nvGrpSpPr>
          <p:cNvPr id="37" name="Group 36">
            <a:extLst>
              <a:ext uri="{FF2B5EF4-FFF2-40B4-BE49-F238E27FC236}">
                <a16:creationId xmlns:a16="http://schemas.microsoft.com/office/drawing/2014/main" id="{0BE31391-F1DC-411A-87D1-5112B9F266CA}"/>
              </a:ext>
            </a:extLst>
          </p:cNvPr>
          <p:cNvGrpSpPr/>
          <p:nvPr/>
        </p:nvGrpSpPr>
        <p:grpSpPr>
          <a:xfrm>
            <a:off x="252552" y="6409353"/>
            <a:ext cx="1266906" cy="265056"/>
            <a:chOff x="5600700" y="-854146"/>
            <a:chExt cx="989647" cy="207049"/>
          </a:xfrm>
          <a:solidFill>
            <a:schemeClr val="bg1"/>
          </a:solidFill>
        </p:grpSpPr>
        <p:sp>
          <p:nvSpPr>
            <p:cNvPr id="41" name="Freeform: Shape 40">
              <a:extLst>
                <a:ext uri="{FF2B5EF4-FFF2-40B4-BE49-F238E27FC236}">
                  <a16:creationId xmlns:a16="http://schemas.microsoft.com/office/drawing/2014/main" id="{13F13A9E-8B05-4590-A769-7FB4E7D04AA7}"/>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C0B628-3DD6-4944-9D84-B56861B58EF6}"/>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017A177-EC27-403B-8372-86A3DBE3082E}"/>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E32EB9E-2686-4B42-9E63-9A43DDA63D58}"/>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2470303-A478-48C3-AD44-38AA76CC623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A6D117B-673B-41A6-9291-A0BBD1557E39}"/>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04C809F-31FC-48B3-A817-B6F57FFB20E1}"/>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5F7B8F6-61CC-412C-AEFF-BE182B64F64B}"/>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AC0821E-80AD-4AC4-8876-F78F55B9F41B}"/>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grpFill/>
            <a:ln w="9525" cap="flat">
              <a:noFill/>
              <a:prstDash val="solid"/>
              <a:miter/>
            </a:ln>
          </p:spPr>
          <p:txBody>
            <a:bodyPr rtlCol="0" anchor="ctr"/>
            <a:lstStyle/>
            <a:p>
              <a:endParaRPr lang="en-US"/>
            </a:p>
          </p:txBody>
        </p:sp>
      </p:grpSp>
      <p:sp>
        <p:nvSpPr>
          <p:cNvPr id="223" name="TextBox 222">
            <a:extLst>
              <a:ext uri="{FF2B5EF4-FFF2-40B4-BE49-F238E27FC236}">
                <a16:creationId xmlns:a16="http://schemas.microsoft.com/office/drawing/2014/main" id="{E70EEC19-B0E3-4765-98C9-E87C6C1182C7}"/>
              </a:ext>
            </a:extLst>
          </p:cNvPr>
          <p:cNvSpPr txBox="1"/>
          <p:nvPr/>
        </p:nvSpPr>
        <p:spPr>
          <a:xfrm>
            <a:off x="4683761" y="6577154"/>
            <a:ext cx="5591683" cy="210058"/>
          </a:xfrm>
          <a:prstGeom prst="rect">
            <a:avLst/>
          </a:prstGeom>
          <a:noFill/>
        </p:spPr>
        <p:txBody>
          <a:bodyPr wrap="square" rtlCol="0">
            <a:spAutoFit/>
          </a:bodyPr>
          <a:lstStyle/>
          <a:p>
            <a:pPr lvl="0">
              <a:lnSpc>
                <a:spcPct val="85000"/>
              </a:lnSpc>
              <a:defRPr/>
            </a:pPr>
            <a:r>
              <a:rPr lang="en-US" sz="900" dirty="0">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RCP DE MIGRÉTIL</a:t>
            </a:r>
          </a:p>
        </p:txBody>
      </p:sp>
      <p:pic>
        <p:nvPicPr>
          <p:cNvPr id="100" name="Graphic 99">
            <a:extLst>
              <a:ext uri="{FF2B5EF4-FFF2-40B4-BE49-F238E27FC236}">
                <a16:creationId xmlns:a16="http://schemas.microsoft.com/office/drawing/2014/main" id="{95448BFF-4BE7-45ED-8CE1-B8AE69A5826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07803" y="2456766"/>
            <a:ext cx="2927599" cy="1631526"/>
          </a:xfrm>
          <a:prstGeom prst="rect">
            <a:avLst/>
          </a:prstGeom>
        </p:spPr>
      </p:pic>
      <p:pic>
        <p:nvPicPr>
          <p:cNvPr id="103" name="Picture 102" descr="A picture containing text&#10;&#10;Description automatically generated">
            <a:extLst>
              <a:ext uri="{FF2B5EF4-FFF2-40B4-BE49-F238E27FC236}">
                <a16:creationId xmlns:a16="http://schemas.microsoft.com/office/drawing/2014/main" id="{A978B731-12D7-4E74-8822-D38F2B646F6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3803" y="3709375"/>
            <a:ext cx="4099534" cy="1677833"/>
          </a:xfrm>
          <a:prstGeom prst="rect">
            <a:avLst/>
          </a:prstGeom>
        </p:spPr>
      </p:pic>
      <p:pic>
        <p:nvPicPr>
          <p:cNvPr id="35" name="Picture 34">
            <a:extLst>
              <a:ext uri="{FF2B5EF4-FFF2-40B4-BE49-F238E27FC236}">
                <a16:creationId xmlns:a16="http://schemas.microsoft.com/office/drawing/2014/main" id="{05D5A597-0E1E-4AB3-BEDC-DA3BA8882368}"/>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rot="2124397">
            <a:off x="3051916" y="5959422"/>
            <a:ext cx="780987" cy="607162"/>
          </a:xfrm>
          <a:prstGeom prst="rect">
            <a:avLst/>
          </a:prstGeom>
          <a:effectLst>
            <a:outerShdw blurRad="317500" sx="102000" sy="102000" algn="ctr" rotWithShape="0">
              <a:prstClr val="black">
                <a:alpha val="15000"/>
              </a:prstClr>
            </a:outerShdw>
          </a:effectLst>
        </p:spPr>
      </p:pic>
      <p:sp>
        <p:nvSpPr>
          <p:cNvPr id="57" name="Rectangle: Rounded Corners 56">
            <a:extLst>
              <a:ext uri="{FF2B5EF4-FFF2-40B4-BE49-F238E27FC236}">
                <a16:creationId xmlns:a16="http://schemas.microsoft.com/office/drawing/2014/main" id="{8BF0C067-CBE1-4A97-82B8-0CC4013A2A40}"/>
              </a:ext>
            </a:extLst>
          </p:cNvPr>
          <p:cNvSpPr/>
          <p:nvPr/>
        </p:nvSpPr>
        <p:spPr>
          <a:xfrm>
            <a:off x="4818525" y="1705141"/>
            <a:ext cx="6990298" cy="4441574"/>
          </a:xfrm>
          <a:prstGeom prst="roundRect">
            <a:avLst>
              <a:gd name="adj" fmla="val 3782"/>
            </a:avLst>
          </a:prstGeom>
          <a:solidFill>
            <a:schemeClr val="bg1"/>
          </a:solidFill>
          <a:ln>
            <a:noFill/>
          </a:ln>
          <a:effectLst>
            <a:outerShdw blurRad="5969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B1FB9718-65B3-4A71-B293-9C8F2A81EFAF}"/>
              </a:ext>
            </a:extLst>
          </p:cNvPr>
          <p:cNvSpPr/>
          <p:nvPr/>
        </p:nvSpPr>
        <p:spPr>
          <a:xfrm>
            <a:off x="4894345" y="2292684"/>
            <a:ext cx="6888352" cy="3539430"/>
          </a:xfrm>
          <a:prstGeom prst="rect">
            <a:avLst/>
          </a:prstGeom>
        </p:spPr>
        <p:txBody>
          <a:bodyPr wrap="square">
            <a:spAutoFit/>
          </a:bodyPr>
          <a:lstStyle/>
          <a:p>
            <a:pPr fontAlgn="base"/>
            <a:r>
              <a:rPr lang="es-ES" sz="1600" b="1" dirty="0">
                <a:latin typeface="Trebuchet MS" panose="020B0603020202020204" pitchFamily="34" charset="0"/>
                <a:ea typeface="Verdana" panose="020B0604030504040204" pitchFamily="34" charset="0"/>
              </a:rPr>
              <a:t>Mecanismos de acción:</a:t>
            </a:r>
          </a:p>
          <a:p>
            <a:pPr marL="285750" indent="-285750" fontAlgn="base">
              <a:buFont typeface="Arial" panose="020B0604020202020204" pitchFamily="34" charset="0"/>
              <a:buChar char="•"/>
            </a:pPr>
            <a:endParaRPr lang="es-ES" sz="1600" b="1"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es-ES" sz="1600" dirty="0">
                <a:latin typeface="Trebuchet MS" panose="020B0603020202020204" pitchFamily="34" charset="0"/>
                <a:ea typeface="Verdana" panose="020B0604030504040204" pitchFamily="34" charset="0"/>
              </a:rPr>
              <a:t>Potencia la acción de la ergotamina al aumentar su absorción intestinal.</a:t>
            </a:r>
          </a:p>
          <a:p>
            <a:pPr fontAlgn="base"/>
            <a:endParaRPr lang="es-ES" sz="1600"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es-ES" sz="1600" dirty="0">
                <a:latin typeface="Trebuchet MS" panose="020B0603020202020204" pitchFamily="34" charset="0"/>
                <a:ea typeface="Verdana" panose="020B0604030504040204" pitchFamily="34" charset="0"/>
              </a:rPr>
              <a:t>Puede contribuir a la vasoconstricción cerebral y, como consecuencia, a la reducción del flujo sanguíneo y de la tensión local de oxígeno.</a:t>
            </a:r>
          </a:p>
          <a:p>
            <a:pPr marL="285750" indent="-285750" fontAlgn="base">
              <a:buFont typeface="Arial" panose="020B0604020202020204" pitchFamily="34" charset="0"/>
              <a:buChar char="•"/>
            </a:pPr>
            <a:endParaRPr lang="es-ES" sz="1600"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es-ES" sz="1600" dirty="0">
                <a:latin typeface="Trebuchet MS" panose="020B0603020202020204" pitchFamily="34" charset="0"/>
                <a:ea typeface="Verdana" panose="020B0604030504040204" pitchFamily="34" charset="0"/>
              </a:rPr>
              <a:t>La cafeína no ejerce ningún efecto analgésico intrínseco; sin embargo, se ha descrito que los preparados que contienen cafeína tienen un efecto analgésico más rápido y potente.</a:t>
            </a:r>
          </a:p>
          <a:p>
            <a:pPr marL="285750" indent="-285750" fontAlgn="base">
              <a:buFont typeface="Arial" panose="020B0604020202020204" pitchFamily="34" charset="0"/>
              <a:buChar char="•"/>
            </a:pPr>
            <a:endParaRPr lang="es-ES" sz="1600"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es-ES" sz="1600" dirty="0">
                <a:latin typeface="Trebuchet MS" panose="020B0603020202020204" pitchFamily="34" charset="0"/>
                <a:ea typeface="Verdana" panose="020B0604030504040204" pitchFamily="34" charset="0"/>
              </a:rPr>
              <a:t>Se absorbe fácilmente en el tracto gastrointestinal (</a:t>
            </a:r>
            <a:r>
              <a:rPr lang="es-ES" sz="1600" dirty="0" err="1">
                <a:latin typeface="Trebuchet MS" panose="020B0603020202020204" pitchFamily="34" charset="0"/>
                <a:ea typeface="Verdana" panose="020B0604030504040204" pitchFamily="34" charset="0"/>
              </a:rPr>
              <a:t>Cmáx</a:t>
            </a:r>
            <a:r>
              <a:rPr lang="es-ES" sz="1600" dirty="0">
                <a:latin typeface="Trebuchet MS" panose="020B0603020202020204" pitchFamily="34" charset="0"/>
                <a:ea typeface="Verdana" panose="020B0604030504040204" pitchFamily="34" charset="0"/>
              </a:rPr>
              <a:t> obtenida en 50-75 minutos).</a:t>
            </a:r>
          </a:p>
        </p:txBody>
      </p:sp>
      <p:grpSp>
        <p:nvGrpSpPr>
          <p:cNvPr id="47" name="Group 46">
            <a:extLst>
              <a:ext uri="{FF2B5EF4-FFF2-40B4-BE49-F238E27FC236}">
                <a16:creationId xmlns:a16="http://schemas.microsoft.com/office/drawing/2014/main" id="{8EB62722-571F-4310-A4F5-CE1AA82CF5E6}"/>
              </a:ext>
            </a:extLst>
          </p:cNvPr>
          <p:cNvGrpSpPr/>
          <p:nvPr/>
        </p:nvGrpSpPr>
        <p:grpSpPr>
          <a:xfrm>
            <a:off x="6332709" y="115627"/>
            <a:ext cx="3310657" cy="1951844"/>
            <a:chOff x="6434250" y="3200819"/>
            <a:chExt cx="1753219" cy="1121638"/>
          </a:xfrm>
          <a:solidFill>
            <a:srgbClr val="004882"/>
          </a:solidFill>
        </p:grpSpPr>
        <p:sp>
          <p:nvSpPr>
            <p:cNvPr id="48" name="Retângulo: Cantos Arredondados 32">
              <a:extLst>
                <a:ext uri="{FF2B5EF4-FFF2-40B4-BE49-F238E27FC236}">
                  <a16:creationId xmlns:a16="http://schemas.microsoft.com/office/drawing/2014/main" id="{4A666776-ABD8-434E-A28E-2815EFF19523}"/>
                </a:ext>
              </a:extLst>
            </p:cNvPr>
            <p:cNvSpPr/>
            <p:nvPr/>
          </p:nvSpPr>
          <p:spPr>
            <a:xfrm rot="5400000" flipV="1">
              <a:off x="6750041" y="2885028"/>
              <a:ext cx="1121638" cy="1753219"/>
            </a:xfrm>
            <a:prstGeom prst="roundRect">
              <a:avLst>
                <a:gd name="adj" fmla="val 3820"/>
              </a:avLst>
            </a:prstGeom>
            <a:grpFill/>
            <a:ln>
              <a:noFill/>
            </a:ln>
            <a:effectLst>
              <a:outerShdw blurRad="317500" dist="1270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53" name="TextBox 52">
              <a:extLst>
                <a:ext uri="{FF2B5EF4-FFF2-40B4-BE49-F238E27FC236}">
                  <a16:creationId xmlns:a16="http://schemas.microsoft.com/office/drawing/2014/main" id="{32266611-E6DE-4F82-85D5-FA3A29514AE6}"/>
                </a:ext>
              </a:extLst>
            </p:cNvPr>
            <p:cNvSpPr txBox="1"/>
            <p:nvPr/>
          </p:nvSpPr>
          <p:spPr>
            <a:xfrm>
              <a:off x="6445356" y="3543116"/>
              <a:ext cx="1731008" cy="449238"/>
            </a:xfrm>
            <a:prstGeom prst="rect">
              <a:avLst/>
            </a:prstGeom>
            <a:grpFill/>
          </p:spPr>
          <p:txBody>
            <a:bodyPr wrap="square" rtlCol="0">
              <a:spAutoFit/>
            </a:bodyPr>
            <a:lstStyle/>
            <a:p>
              <a:pPr lvl="0" algn="ctr">
                <a:lnSpc>
                  <a:spcPct val="80000"/>
                </a:lnSpc>
                <a:defRPr/>
              </a:pPr>
              <a:r>
                <a:rPr lang="es-ES" sz="2800" b="1" spc="300" dirty="0">
                  <a:solidFill>
                    <a:schemeClr val="bg1"/>
                  </a:solidFill>
                  <a:latin typeface="Trebuchet MS" panose="020B0603020202020204" pitchFamily="34" charset="0"/>
                  <a:ea typeface="Verdana" panose="020B0604030504040204" pitchFamily="34" charset="0"/>
                </a:rPr>
                <a:t>CAFEÍNA  100 mg</a:t>
              </a:r>
              <a:endParaRPr lang="es-ES" sz="2800" b="1" spc="300" dirty="0">
                <a:solidFill>
                  <a:schemeClr val="bg1"/>
                </a:solidFill>
                <a:latin typeface="Trebuchet MS" panose="020B0603020202020204" pitchFamily="34" charset="0"/>
                <a:ea typeface="Verdana" panose="020B0604030504040204" pitchFamily="34" charset="0"/>
                <a:sym typeface="Zilla Slab Light"/>
              </a:endParaRPr>
            </a:p>
          </p:txBody>
        </p:sp>
      </p:grpSp>
      <p:pic>
        <p:nvPicPr>
          <p:cNvPr id="36" name="Picture 35" descr="Icon&#10;&#10;Description automatically generated">
            <a:extLst>
              <a:ext uri="{FF2B5EF4-FFF2-40B4-BE49-F238E27FC236}">
                <a16:creationId xmlns:a16="http://schemas.microsoft.com/office/drawing/2014/main" id="{7136A425-21D2-4C5A-A410-6A4758DDC0EA}"/>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916280" y="409983"/>
            <a:ext cx="1512522" cy="1568100"/>
          </a:xfrm>
          <a:prstGeom prst="rect">
            <a:avLst/>
          </a:prstGeom>
        </p:spPr>
      </p:pic>
    </p:spTree>
    <p:extLst>
      <p:ext uri="{BB962C8B-B14F-4D97-AF65-F5344CB8AC3E}">
        <p14:creationId xmlns:p14="http://schemas.microsoft.com/office/powerpoint/2010/main" val="1456975756"/>
      </p:ext>
    </p:extLst>
  </p:cSld>
  <p:clrMapOvr>
    <a:masterClrMapping/>
  </p:clrMapOvr>
  <p:transition spd="slow">
    <p:push dir="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grpId="0" nodeType="withEffect">
                                      <p:stCondLst>
                                        <p:cond delay="1750"/>
                                      </p:stCondLst>
                                      <p:childTnLst>
                                        <p:set>
                                          <p:cBhvr>
                                            <p:cTn id="18" dur="1" fill="hold">
                                              <p:stCondLst>
                                                <p:cond delay="0"/>
                                              </p:stCondLst>
                                            </p:cTn>
                                            <p:tgtEl>
                                              <p:spTgt spid="223"/>
                                            </p:tgtEl>
                                            <p:attrNameLst>
                                              <p:attrName>style.visibility</p:attrName>
                                            </p:attrNameLst>
                                          </p:cBhvr>
                                          <p:to>
                                            <p:strVal val="visible"/>
                                          </p:to>
                                        </p:set>
                                        <p:animEffect transition="in" filter="fade">
                                          <p:cBhvr>
                                            <p:cTn id="19" dur="500"/>
                                            <p:tgtEl>
                                              <p:spTgt spid="223"/>
                                            </p:tgtEl>
                                          </p:cBhvr>
                                        </p:animEffect>
                                      </p:childTnLst>
                                    </p:cTn>
                                  </p:par>
                                  <p:par>
                                    <p:cTn id="20" presetID="10" presetClass="entr" presetSubtype="0" fill="hold" nodeType="withEffect">
                                      <p:stCondLst>
                                        <p:cond delay="75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250"/>
                                            <p:tgtEl>
                                              <p:spTgt spid="103"/>
                                            </p:tgtEl>
                                          </p:cBhvr>
                                        </p:animEffect>
                                      </p:childTnLst>
                                    </p:cTn>
                                  </p:par>
                                  <p:par>
                                    <p:cTn id="23" presetID="35" presetClass="path" presetSubtype="0" decel="100000" fill="hold" nodeType="withEffect">
                                      <p:stCondLst>
                                        <p:cond delay="750"/>
                                      </p:stCondLst>
                                      <p:childTnLst>
                                        <p:animMotion origin="layout" path="M 1.04167E-6 2.22222E-6 L -0.17917 2.22222E-6 " pathEditMode="relative" rAng="0" ptsTypes="AA">
                                          <p:cBhvr>
                                            <p:cTn id="24" dur="750" spd="-100000" fill="hold"/>
                                            <p:tgtEl>
                                              <p:spTgt spid="103"/>
                                            </p:tgtEl>
                                            <p:attrNameLst>
                                              <p:attrName>ppt_x</p:attrName>
                                              <p:attrName>ppt_y</p:attrName>
                                            </p:attrNameLst>
                                          </p:cBhvr>
                                          <p:rCtr x="-8958" y="0"/>
                                        </p:animMotion>
                                      </p:childTnLst>
                                    </p:cTn>
                                  </p:par>
                                  <p:par>
                                    <p:cTn id="25" presetID="23" presetClass="entr" presetSubtype="16" fill="hold" nodeType="withEffect">
                                      <p:stCondLst>
                                        <p:cond delay="1250"/>
                                      </p:stCondLst>
                                      <p:childTnLst>
                                        <p:set>
                                          <p:cBhvr>
                                            <p:cTn id="26" dur="1" fill="hold">
                                              <p:stCondLst>
                                                <p:cond delay="0"/>
                                              </p:stCondLst>
                                            </p:cTn>
                                            <p:tgtEl>
                                              <p:spTgt spid="100"/>
                                            </p:tgtEl>
                                            <p:attrNameLst>
                                              <p:attrName>style.visibility</p:attrName>
                                            </p:attrNameLst>
                                          </p:cBhvr>
                                          <p:to>
                                            <p:strVal val="visible"/>
                                          </p:to>
                                        </p:set>
                                        <p:anim calcmode="lin" valueType="num">
                                          <p:cBhvr>
                                            <p:cTn id="27" dur="200" fill="hold"/>
                                            <p:tgtEl>
                                              <p:spTgt spid="100"/>
                                            </p:tgtEl>
                                            <p:attrNameLst>
                                              <p:attrName>ppt_w</p:attrName>
                                            </p:attrNameLst>
                                          </p:cBhvr>
                                          <p:tavLst>
                                            <p:tav tm="0">
                                              <p:val>
                                                <p:fltVal val="0"/>
                                              </p:val>
                                            </p:tav>
                                            <p:tav tm="100000">
                                              <p:val>
                                                <p:strVal val="#ppt_w"/>
                                              </p:val>
                                            </p:tav>
                                          </p:tavLst>
                                        </p:anim>
                                        <p:anim calcmode="lin" valueType="num">
                                          <p:cBhvr>
                                            <p:cTn id="28" dur="200" fill="hold"/>
                                            <p:tgtEl>
                                              <p:spTgt spid="100"/>
                                            </p:tgtEl>
                                            <p:attrNameLst>
                                              <p:attrName>ppt_h</p:attrName>
                                            </p:attrNameLst>
                                          </p:cBhvr>
                                          <p:tavLst>
                                            <p:tav tm="0">
                                              <p:val>
                                                <p:fltVal val="0"/>
                                              </p:val>
                                            </p:tav>
                                            <p:tav tm="100000">
                                              <p:val>
                                                <p:strVal val="#ppt_h"/>
                                              </p:val>
                                            </p:tav>
                                          </p:tavLst>
                                        </p:anim>
                                      </p:childTnLst>
                                    </p:cTn>
                                  </p:par>
                                  <p:par>
                                    <p:cTn id="29" presetID="6" presetClass="emph" presetSubtype="0" fill="hold" nodeType="withEffect" p14:presetBounceEnd="99000">
                                      <p:stCondLst>
                                        <p:cond delay="1250"/>
                                      </p:stCondLst>
                                      <p:childTnLst>
                                        <p:animScale p14:bounceEnd="99000">
                                          <p:cBhvr>
                                            <p:cTn id="30" dur="1000" fill="hold"/>
                                            <p:tgtEl>
                                              <p:spTgt spid="100"/>
                                            </p:tgtEl>
                                          </p:cBhvr>
                                          <p:by x="110000" y="110000"/>
                                        </p:animScale>
                                      </p:childTnLst>
                                    </p:cTn>
                                  </p:par>
                                  <p:par>
                                    <p:cTn id="31" presetID="6" presetClass="emph" presetSubtype="0" accel="50000" decel="50000" fill="hold" nodeType="withEffect">
                                      <p:stCondLst>
                                        <p:cond delay="1250"/>
                                      </p:stCondLst>
                                      <p:childTnLst>
                                        <p:animScale>
                                          <p:cBhvr>
                                            <p:cTn id="32" dur="250" fill="hold"/>
                                            <p:tgtEl>
                                              <p:spTgt spid="100"/>
                                            </p:tgtEl>
                                          </p:cBhvr>
                                          <p:by x="91000" y="91000"/>
                                        </p:animScale>
                                      </p:childTnLst>
                                    </p:cTn>
                                  </p:par>
                                  <p:par>
                                    <p:cTn id="33" presetID="10" presetClass="entr" presetSubtype="0" fill="hold" nodeType="withEffect">
                                      <p:stCondLst>
                                        <p:cond delay="150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250"/>
                                            <p:tgtEl>
                                              <p:spTgt spid="35"/>
                                            </p:tgtEl>
                                          </p:cBhvr>
                                        </p:animEffect>
                                      </p:childTnLst>
                                    </p:cTn>
                                  </p:par>
                                  <p:par>
                                    <p:cTn id="36" presetID="42" presetClass="path" presetSubtype="0" decel="100000" fill="hold" nodeType="withEffect">
                                      <p:stCondLst>
                                        <p:cond delay="1500"/>
                                      </p:stCondLst>
                                      <p:childTnLst>
                                        <p:animMotion origin="layout" path="M 3.54167E-6 -1.48148E-6 L -0.08516 0.05278 " pathEditMode="relative" rAng="0" ptsTypes="AA">
                                          <p:cBhvr>
                                            <p:cTn id="37" dur="1000" spd="-100000" fill="hold"/>
                                            <p:tgtEl>
                                              <p:spTgt spid="35"/>
                                            </p:tgtEl>
                                            <p:attrNameLst>
                                              <p:attrName>ppt_x</p:attrName>
                                              <p:attrName>ppt_y</p:attrName>
                                            </p:attrNameLst>
                                          </p:cBhvr>
                                          <p:rCtr x="-4258" y="2639"/>
                                        </p:animMotion>
                                      </p:childTnLst>
                                    </p:cTn>
                                  </p:par>
                                  <p:par>
                                    <p:cTn id="38" presetID="10" presetClass="entr" presetSubtype="0" fill="hold" nodeType="withEffect">
                                      <p:stCondLst>
                                        <p:cond delay="1350"/>
                                      </p:stCondLst>
                                      <p:childTnLst>
                                        <p:set>
                                          <p:cBhvr>
                                            <p:cTn id="39" dur="1" fill="hold">
                                              <p:stCondLst>
                                                <p:cond delay="0"/>
                                              </p:stCondLst>
                                            </p:cTn>
                                            <p:tgtEl>
                                              <p:spTgt spid="47"/>
                                            </p:tgtEl>
                                            <p:attrNameLst>
                                              <p:attrName>style.visibility</p:attrName>
                                            </p:attrNameLst>
                                          </p:cBhvr>
                                          <p:to>
                                            <p:strVal val="visible"/>
                                          </p:to>
                                        </p:set>
                                        <p:animEffect transition="in" filter="fade">
                                          <p:cBhvr>
                                            <p:cTn id="40" dur="500"/>
                                            <p:tgtEl>
                                              <p:spTgt spid="47"/>
                                            </p:tgtEl>
                                          </p:cBhvr>
                                        </p:animEffect>
                                      </p:childTnLst>
                                    </p:cTn>
                                  </p:par>
                                  <p:par>
                                    <p:cTn id="41" presetID="63" presetClass="path" presetSubtype="0" decel="100000" fill="hold" nodeType="withEffect">
                                      <p:stCondLst>
                                        <p:cond delay="1350"/>
                                      </p:stCondLst>
                                      <p:childTnLst>
                                        <p:animMotion origin="layout" path="M 6.25E-7 3.7037E-7 L 0.03906 3.7037E-7 " pathEditMode="relative" rAng="0" ptsTypes="AA">
                                          <p:cBhvr>
                                            <p:cTn id="42" dur="750" spd="-100000" fill="hold"/>
                                            <p:tgtEl>
                                              <p:spTgt spid="47"/>
                                            </p:tgtEl>
                                            <p:attrNameLst>
                                              <p:attrName>ppt_x</p:attrName>
                                              <p:attrName>ppt_y</p:attrName>
                                            </p:attrNameLst>
                                          </p:cBhvr>
                                          <p:rCtr x="1953" y="0"/>
                                        </p:animMotion>
                                      </p:childTnLst>
                                    </p:cTn>
                                  </p:par>
                                  <p:par>
                                    <p:cTn id="43" presetID="10" presetClass="entr" presetSubtype="0" fill="hold" grpId="0" nodeType="withEffect">
                                      <p:stCondLst>
                                        <p:cond delay="1000"/>
                                      </p:stCondLst>
                                      <p:childTnLst>
                                        <p:set>
                                          <p:cBhvr>
                                            <p:cTn id="44" dur="1" fill="hold">
                                              <p:stCondLst>
                                                <p:cond delay="0"/>
                                              </p:stCondLst>
                                            </p:cTn>
                                            <p:tgtEl>
                                              <p:spTgt spid="57"/>
                                            </p:tgtEl>
                                            <p:attrNameLst>
                                              <p:attrName>style.visibility</p:attrName>
                                            </p:attrNameLst>
                                          </p:cBhvr>
                                          <p:to>
                                            <p:strVal val="visible"/>
                                          </p:to>
                                        </p:set>
                                        <p:animEffect transition="in" filter="fade">
                                          <p:cBhvr>
                                            <p:cTn id="45"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223" grpId="0"/>
          <p:bldP spid="57"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grpId="0" nodeType="withEffect">
                                      <p:stCondLst>
                                        <p:cond delay="1750"/>
                                      </p:stCondLst>
                                      <p:childTnLst>
                                        <p:set>
                                          <p:cBhvr>
                                            <p:cTn id="18" dur="1" fill="hold">
                                              <p:stCondLst>
                                                <p:cond delay="0"/>
                                              </p:stCondLst>
                                            </p:cTn>
                                            <p:tgtEl>
                                              <p:spTgt spid="223"/>
                                            </p:tgtEl>
                                            <p:attrNameLst>
                                              <p:attrName>style.visibility</p:attrName>
                                            </p:attrNameLst>
                                          </p:cBhvr>
                                          <p:to>
                                            <p:strVal val="visible"/>
                                          </p:to>
                                        </p:set>
                                        <p:animEffect transition="in" filter="fade">
                                          <p:cBhvr>
                                            <p:cTn id="19" dur="500"/>
                                            <p:tgtEl>
                                              <p:spTgt spid="223"/>
                                            </p:tgtEl>
                                          </p:cBhvr>
                                        </p:animEffect>
                                      </p:childTnLst>
                                    </p:cTn>
                                  </p:par>
                                  <p:par>
                                    <p:cTn id="20" presetID="10" presetClass="entr" presetSubtype="0" fill="hold" nodeType="withEffect">
                                      <p:stCondLst>
                                        <p:cond delay="75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250"/>
                                            <p:tgtEl>
                                              <p:spTgt spid="103"/>
                                            </p:tgtEl>
                                          </p:cBhvr>
                                        </p:animEffect>
                                      </p:childTnLst>
                                    </p:cTn>
                                  </p:par>
                                  <p:par>
                                    <p:cTn id="23" presetID="35" presetClass="path" presetSubtype="0" decel="100000" fill="hold" nodeType="withEffect">
                                      <p:stCondLst>
                                        <p:cond delay="750"/>
                                      </p:stCondLst>
                                      <p:childTnLst>
                                        <p:animMotion origin="layout" path="M 1.04167E-6 2.22222E-6 L -0.17917 2.22222E-6 " pathEditMode="relative" rAng="0" ptsTypes="AA">
                                          <p:cBhvr>
                                            <p:cTn id="24" dur="750" spd="-100000" fill="hold"/>
                                            <p:tgtEl>
                                              <p:spTgt spid="103"/>
                                            </p:tgtEl>
                                            <p:attrNameLst>
                                              <p:attrName>ppt_x</p:attrName>
                                              <p:attrName>ppt_y</p:attrName>
                                            </p:attrNameLst>
                                          </p:cBhvr>
                                          <p:rCtr x="-8958" y="0"/>
                                        </p:animMotion>
                                      </p:childTnLst>
                                    </p:cTn>
                                  </p:par>
                                  <p:par>
                                    <p:cTn id="25" presetID="23" presetClass="entr" presetSubtype="16" fill="hold" nodeType="withEffect">
                                      <p:stCondLst>
                                        <p:cond delay="1250"/>
                                      </p:stCondLst>
                                      <p:childTnLst>
                                        <p:set>
                                          <p:cBhvr>
                                            <p:cTn id="26" dur="1" fill="hold">
                                              <p:stCondLst>
                                                <p:cond delay="0"/>
                                              </p:stCondLst>
                                            </p:cTn>
                                            <p:tgtEl>
                                              <p:spTgt spid="100"/>
                                            </p:tgtEl>
                                            <p:attrNameLst>
                                              <p:attrName>style.visibility</p:attrName>
                                            </p:attrNameLst>
                                          </p:cBhvr>
                                          <p:to>
                                            <p:strVal val="visible"/>
                                          </p:to>
                                        </p:set>
                                        <p:anim calcmode="lin" valueType="num">
                                          <p:cBhvr>
                                            <p:cTn id="27" dur="200" fill="hold"/>
                                            <p:tgtEl>
                                              <p:spTgt spid="100"/>
                                            </p:tgtEl>
                                            <p:attrNameLst>
                                              <p:attrName>ppt_w</p:attrName>
                                            </p:attrNameLst>
                                          </p:cBhvr>
                                          <p:tavLst>
                                            <p:tav tm="0">
                                              <p:val>
                                                <p:fltVal val="0"/>
                                              </p:val>
                                            </p:tav>
                                            <p:tav tm="100000">
                                              <p:val>
                                                <p:strVal val="#ppt_w"/>
                                              </p:val>
                                            </p:tav>
                                          </p:tavLst>
                                        </p:anim>
                                        <p:anim calcmode="lin" valueType="num">
                                          <p:cBhvr>
                                            <p:cTn id="28" dur="200" fill="hold"/>
                                            <p:tgtEl>
                                              <p:spTgt spid="100"/>
                                            </p:tgtEl>
                                            <p:attrNameLst>
                                              <p:attrName>ppt_h</p:attrName>
                                            </p:attrNameLst>
                                          </p:cBhvr>
                                          <p:tavLst>
                                            <p:tav tm="0">
                                              <p:val>
                                                <p:fltVal val="0"/>
                                              </p:val>
                                            </p:tav>
                                            <p:tav tm="100000">
                                              <p:val>
                                                <p:strVal val="#ppt_h"/>
                                              </p:val>
                                            </p:tav>
                                          </p:tavLst>
                                        </p:anim>
                                      </p:childTnLst>
                                    </p:cTn>
                                  </p:par>
                                  <p:par>
                                    <p:cTn id="29" presetID="6" presetClass="emph" presetSubtype="0" fill="hold" nodeType="withEffect">
                                      <p:stCondLst>
                                        <p:cond delay="1250"/>
                                      </p:stCondLst>
                                      <p:childTnLst>
                                        <p:animScale>
                                          <p:cBhvr>
                                            <p:cTn id="30" dur="1000" fill="hold"/>
                                            <p:tgtEl>
                                              <p:spTgt spid="100"/>
                                            </p:tgtEl>
                                          </p:cBhvr>
                                          <p:by x="110000" y="110000"/>
                                        </p:animScale>
                                      </p:childTnLst>
                                    </p:cTn>
                                  </p:par>
                                  <p:par>
                                    <p:cTn id="31" presetID="6" presetClass="emph" presetSubtype="0" accel="50000" decel="50000" fill="hold" nodeType="withEffect">
                                      <p:stCondLst>
                                        <p:cond delay="1250"/>
                                      </p:stCondLst>
                                      <p:childTnLst>
                                        <p:animScale>
                                          <p:cBhvr>
                                            <p:cTn id="32" dur="250" fill="hold"/>
                                            <p:tgtEl>
                                              <p:spTgt spid="100"/>
                                            </p:tgtEl>
                                          </p:cBhvr>
                                          <p:by x="91000" y="91000"/>
                                        </p:animScale>
                                      </p:childTnLst>
                                    </p:cTn>
                                  </p:par>
                                  <p:par>
                                    <p:cTn id="33" presetID="10" presetClass="entr" presetSubtype="0" fill="hold" nodeType="withEffect">
                                      <p:stCondLst>
                                        <p:cond delay="150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250"/>
                                            <p:tgtEl>
                                              <p:spTgt spid="35"/>
                                            </p:tgtEl>
                                          </p:cBhvr>
                                        </p:animEffect>
                                      </p:childTnLst>
                                    </p:cTn>
                                  </p:par>
                                  <p:par>
                                    <p:cTn id="36" presetID="42" presetClass="path" presetSubtype="0" decel="100000" fill="hold" nodeType="withEffect">
                                      <p:stCondLst>
                                        <p:cond delay="1500"/>
                                      </p:stCondLst>
                                      <p:childTnLst>
                                        <p:animMotion origin="layout" path="M 3.54167E-6 -1.48148E-6 L -0.08516 0.05278 " pathEditMode="relative" rAng="0" ptsTypes="AA">
                                          <p:cBhvr>
                                            <p:cTn id="37" dur="1000" spd="-100000" fill="hold"/>
                                            <p:tgtEl>
                                              <p:spTgt spid="35"/>
                                            </p:tgtEl>
                                            <p:attrNameLst>
                                              <p:attrName>ppt_x</p:attrName>
                                              <p:attrName>ppt_y</p:attrName>
                                            </p:attrNameLst>
                                          </p:cBhvr>
                                          <p:rCtr x="-4258" y="2639"/>
                                        </p:animMotion>
                                      </p:childTnLst>
                                    </p:cTn>
                                  </p:par>
                                  <p:par>
                                    <p:cTn id="38" presetID="10" presetClass="entr" presetSubtype="0" fill="hold" nodeType="withEffect">
                                      <p:stCondLst>
                                        <p:cond delay="1350"/>
                                      </p:stCondLst>
                                      <p:childTnLst>
                                        <p:set>
                                          <p:cBhvr>
                                            <p:cTn id="39" dur="1" fill="hold">
                                              <p:stCondLst>
                                                <p:cond delay="0"/>
                                              </p:stCondLst>
                                            </p:cTn>
                                            <p:tgtEl>
                                              <p:spTgt spid="47"/>
                                            </p:tgtEl>
                                            <p:attrNameLst>
                                              <p:attrName>style.visibility</p:attrName>
                                            </p:attrNameLst>
                                          </p:cBhvr>
                                          <p:to>
                                            <p:strVal val="visible"/>
                                          </p:to>
                                        </p:set>
                                        <p:animEffect transition="in" filter="fade">
                                          <p:cBhvr>
                                            <p:cTn id="40" dur="500"/>
                                            <p:tgtEl>
                                              <p:spTgt spid="47"/>
                                            </p:tgtEl>
                                          </p:cBhvr>
                                        </p:animEffect>
                                      </p:childTnLst>
                                    </p:cTn>
                                  </p:par>
                                  <p:par>
                                    <p:cTn id="41" presetID="63" presetClass="path" presetSubtype="0" decel="100000" fill="hold" nodeType="withEffect">
                                      <p:stCondLst>
                                        <p:cond delay="1350"/>
                                      </p:stCondLst>
                                      <p:childTnLst>
                                        <p:animMotion origin="layout" path="M 6.25E-7 3.7037E-7 L 0.03906 3.7037E-7 " pathEditMode="relative" rAng="0" ptsTypes="AA">
                                          <p:cBhvr>
                                            <p:cTn id="42" dur="750" spd="-100000" fill="hold"/>
                                            <p:tgtEl>
                                              <p:spTgt spid="47"/>
                                            </p:tgtEl>
                                            <p:attrNameLst>
                                              <p:attrName>ppt_x</p:attrName>
                                              <p:attrName>ppt_y</p:attrName>
                                            </p:attrNameLst>
                                          </p:cBhvr>
                                          <p:rCtr x="1953" y="0"/>
                                        </p:animMotion>
                                      </p:childTnLst>
                                    </p:cTn>
                                  </p:par>
                                  <p:par>
                                    <p:cTn id="43" presetID="10" presetClass="entr" presetSubtype="0" fill="hold" grpId="0" nodeType="withEffect">
                                      <p:stCondLst>
                                        <p:cond delay="1000"/>
                                      </p:stCondLst>
                                      <p:childTnLst>
                                        <p:set>
                                          <p:cBhvr>
                                            <p:cTn id="44" dur="1" fill="hold">
                                              <p:stCondLst>
                                                <p:cond delay="0"/>
                                              </p:stCondLst>
                                            </p:cTn>
                                            <p:tgtEl>
                                              <p:spTgt spid="57"/>
                                            </p:tgtEl>
                                            <p:attrNameLst>
                                              <p:attrName>style.visibility</p:attrName>
                                            </p:attrNameLst>
                                          </p:cBhvr>
                                          <p:to>
                                            <p:strVal val="visible"/>
                                          </p:to>
                                        </p:set>
                                        <p:animEffect transition="in" filter="fade">
                                          <p:cBhvr>
                                            <p:cTn id="45"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223" grpId="0"/>
          <p:bldP spid="57" grpId="0" animBg="1"/>
        </p:bldLst>
      </p:timing>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B194DFA-D81F-45C6-98D0-615747557E57}"/>
              </a:ext>
            </a:extLst>
          </p:cNvPr>
          <p:cNvSpPr/>
          <p:nvPr/>
        </p:nvSpPr>
        <p:spPr>
          <a:xfrm>
            <a:off x="0" y="3806240"/>
            <a:ext cx="12192000" cy="30517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0" name="Picture 169" descr="Shape, circle&#10;&#10;Description automatically generated">
            <a:extLst>
              <a:ext uri="{FF2B5EF4-FFF2-40B4-BE49-F238E27FC236}">
                <a16:creationId xmlns:a16="http://schemas.microsoft.com/office/drawing/2014/main" id="{EEB2B992-2400-4EEE-A3C6-C52D633A15B2}"/>
              </a:ext>
            </a:extLst>
          </p:cNvPr>
          <p:cNvPicPr>
            <a:picLocks noChangeAspect="1"/>
          </p:cNvPicPr>
          <p:nvPr/>
        </p:nvPicPr>
        <p:blipFill rotWithShape="1">
          <a:blip r:embed="rId2">
            <a:extLst>
              <a:ext uri="{28A0092B-C50C-407E-A947-70E740481C1C}">
                <a14:useLocalDpi xmlns:a14="http://schemas.microsoft.com/office/drawing/2010/main" val="0"/>
              </a:ext>
            </a:extLst>
          </a:blip>
          <a:srcRect r="64988"/>
          <a:stretch/>
        </p:blipFill>
        <p:spPr>
          <a:xfrm>
            <a:off x="0" y="0"/>
            <a:ext cx="4268596" cy="6858000"/>
          </a:xfrm>
          <a:prstGeom prst="rect">
            <a:avLst/>
          </a:prstGeom>
        </p:spPr>
      </p:pic>
      <p:grpSp>
        <p:nvGrpSpPr>
          <p:cNvPr id="182" name="Group 181">
            <a:extLst>
              <a:ext uri="{FF2B5EF4-FFF2-40B4-BE49-F238E27FC236}">
                <a16:creationId xmlns:a16="http://schemas.microsoft.com/office/drawing/2014/main" id="{77396E5F-348C-4338-B293-968BEA981FDB}"/>
              </a:ext>
            </a:extLst>
          </p:cNvPr>
          <p:cNvGrpSpPr/>
          <p:nvPr/>
        </p:nvGrpSpPr>
        <p:grpSpPr>
          <a:xfrm>
            <a:off x="252552" y="6342796"/>
            <a:ext cx="11686895" cy="398170"/>
            <a:chOff x="252552" y="6226684"/>
            <a:chExt cx="11686895" cy="398170"/>
          </a:xfrm>
        </p:grpSpPr>
        <p:grpSp>
          <p:nvGrpSpPr>
            <p:cNvPr id="172" name="Group 171">
              <a:extLst>
                <a:ext uri="{FF2B5EF4-FFF2-40B4-BE49-F238E27FC236}">
                  <a16:creationId xmlns:a16="http://schemas.microsoft.com/office/drawing/2014/main" id="{043DA00A-4155-4488-8261-DB136097B10C}"/>
                </a:ext>
              </a:extLst>
            </p:cNvPr>
            <p:cNvGrpSpPr/>
            <p:nvPr/>
          </p:nvGrpSpPr>
          <p:grpSpPr>
            <a:xfrm>
              <a:off x="252552" y="6293241"/>
              <a:ext cx="1266906" cy="265056"/>
              <a:chOff x="5600700" y="-854146"/>
              <a:chExt cx="989647" cy="207049"/>
            </a:xfrm>
          </p:grpSpPr>
          <p:sp>
            <p:nvSpPr>
              <p:cNvPr id="173" name="Freeform: Shape 172">
                <a:extLst>
                  <a:ext uri="{FF2B5EF4-FFF2-40B4-BE49-F238E27FC236}">
                    <a16:creationId xmlns:a16="http://schemas.microsoft.com/office/drawing/2014/main" id="{5529D942-D3DC-4AA5-A11E-2EAD767EE35D}"/>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0755DD92-DC0C-4053-A436-745AF0A70850}"/>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4518EE33-E21D-4E76-B041-14F423E26EAD}"/>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4C711A2-EC08-414B-B62D-F848E4E33BC2}"/>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7152FC00-E28E-4906-9909-07FB83382FA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5C0BFA11-C3DB-4246-9AA5-3EC58FE54C46}"/>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D22D6EE2-4EA8-4E7A-B8FF-7F9FE44552D8}"/>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BDBBAA55-241D-4C91-804F-8945A70DB132}"/>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BE44E2D9-A68F-4AE8-873F-8B818D81D3B6}"/>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2541" y="6226684"/>
              <a:ext cx="1266906" cy="398170"/>
            </a:xfrm>
            <a:prstGeom prst="rect">
              <a:avLst/>
            </a:prstGeom>
          </p:spPr>
        </p:pic>
      </p:grpSp>
      <p:sp>
        <p:nvSpPr>
          <p:cNvPr id="150" name="TextBox 149">
            <a:extLst>
              <a:ext uri="{FF2B5EF4-FFF2-40B4-BE49-F238E27FC236}">
                <a16:creationId xmlns:a16="http://schemas.microsoft.com/office/drawing/2014/main" id="{97AE9CDE-843A-4016-BD11-6A012486773C}"/>
              </a:ext>
            </a:extLst>
          </p:cNvPr>
          <p:cNvSpPr txBox="1"/>
          <p:nvPr/>
        </p:nvSpPr>
        <p:spPr>
          <a:xfrm>
            <a:off x="468407" y="580642"/>
            <a:ext cx="3389218" cy="510909"/>
          </a:xfrm>
          <a:prstGeom prst="rect">
            <a:avLst/>
          </a:prstGeom>
          <a:noFill/>
        </p:spPr>
        <p:txBody>
          <a:bodyPr wrap="square" rtlCol="0">
            <a:spAutoFit/>
          </a:bodyPr>
          <a:lstStyle/>
          <a:p>
            <a:pPr lvl="0">
              <a:lnSpc>
                <a:spcPct val="85000"/>
              </a:lnSpc>
              <a:defRPr/>
            </a:pPr>
            <a:r>
              <a:rPr lang="pt-PT" sz="3200" b="1" spc="300" dirty="0">
                <a:solidFill>
                  <a:schemeClr val="bg1"/>
                </a:solidFill>
                <a:latin typeface="Trebuchet MS" panose="020B0603020202020204" pitchFamily="34" charset="0"/>
                <a:ea typeface="Verdana" panose="020B0604030504040204" pitchFamily="34" charset="0"/>
                <a:cs typeface="Zilla Slab Light"/>
                <a:sym typeface="Zilla Slab Light"/>
              </a:rPr>
              <a:t>MIGRÉTIL</a:t>
            </a:r>
            <a:endParaRPr kumimoji="0" lang="en-US" sz="3200" b="1" i="0" u="none" strike="noStrike" kern="1200" cap="none" spc="300" normalizeH="0" baseline="30000" noProof="0" dirty="0">
              <a:ln>
                <a:noFill/>
              </a:ln>
              <a:solidFill>
                <a:schemeClr val="bg1"/>
              </a:solidFill>
              <a:uLnTx/>
              <a:uFillTx/>
              <a:latin typeface="Trebuchet MS" panose="020B0603020202020204" pitchFamily="34" charset="0"/>
              <a:ea typeface="Verdana" panose="020B0604030504040204" pitchFamily="34" charset="0"/>
              <a:cs typeface="Zilla Slab Light"/>
              <a:sym typeface="Zilla Slab Light"/>
            </a:endParaRPr>
          </a:p>
        </p:txBody>
      </p:sp>
      <p:grpSp>
        <p:nvGrpSpPr>
          <p:cNvPr id="37" name="Group 36">
            <a:extLst>
              <a:ext uri="{FF2B5EF4-FFF2-40B4-BE49-F238E27FC236}">
                <a16:creationId xmlns:a16="http://schemas.microsoft.com/office/drawing/2014/main" id="{0BE31391-F1DC-411A-87D1-5112B9F266CA}"/>
              </a:ext>
            </a:extLst>
          </p:cNvPr>
          <p:cNvGrpSpPr/>
          <p:nvPr/>
        </p:nvGrpSpPr>
        <p:grpSpPr>
          <a:xfrm>
            <a:off x="252552" y="6409353"/>
            <a:ext cx="1266906" cy="265056"/>
            <a:chOff x="5600700" y="-854146"/>
            <a:chExt cx="989647" cy="207049"/>
          </a:xfrm>
          <a:solidFill>
            <a:schemeClr val="bg1"/>
          </a:solidFill>
        </p:grpSpPr>
        <p:sp>
          <p:nvSpPr>
            <p:cNvPr id="41" name="Freeform: Shape 40">
              <a:extLst>
                <a:ext uri="{FF2B5EF4-FFF2-40B4-BE49-F238E27FC236}">
                  <a16:creationId xmlns:a16="http://schemas.microsoft.com/office/drawing/2014/main" id="{13F13A9E-8B05-4590-A769-7FB4E7D04AA7}"/>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C0B628-3DD6-4944-9D84-B56861B58EF6}"/>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017A177-EC27-403B-8372-86A3DBE3082E}"/>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E32EB9E-2686-4B42-9E63-9A43DDA63D58}"/>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2470303-A478-48C3-AD44-38AA76CC623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A6D117B-673B-41A6-9291-A0BBD1557E39}"/>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04C809F-31FC-48B3-A817-B6F57FFB20E1}"/>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5F7B8F6-61CC-412C-AEFF-BE182B64F64B}"/>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AC0821E-80AD-4AC4-8876-F78F55B9F41B}"/>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grpFill/>
            <a:ln w="9525" cap="flat">
              <a:noFill/>
              <a:prstDash val="solid"/>
              <a:miter/>
            </a:ln>
          </p:spPr>
          <p:txBody>
            <a:bodyPr rtlCol="0" anchor="ctr"/>
            <a:lstStyle/>
            <a:p>
              <a:endParaRPr lang="en-US"/>
            </a:p>
          </p:txBody>
        </p:sp>
      </p:grpSp>
      <p:sp>
        <p:nvSpPr>
          <p:cNvPr id="223" name="TextBox 222">
            <a:extLst>
              <a:ext uri="{FF2B5EF4-FFF2-40B4-BE49-F238E27FC236}">
                <a16:creationId xmlns:a16="http://schemas.microsoft.com/office/drawing/2014/main" id="{E70EEC19-B0E3-4765-98C9-E87C6C1182C7}"/>
              </a:ext>
            </a:extLst>
          </p:cNvPr>
          <p:cNvSpPr txBox="1"/>
          <p:nvPr/>
        </p:nvSpPr>
        <p:spPr>
          <a:xfrm>
            <a:off x="4683761" y="6577154"/>
            <a:ext cx="5591683" cy="210058"/>
          </a:xfrm>
          <a:prstGeom prst="rect">
            <a:avLst/>
          </a:prstGeom>
          <a:noFill/>
        </p:spPr>
        <p:txBody>
          <a:bodyPr wrap="square" rtlCol="0">
            <a:spAutoFit/>
          </a:bodyPr>
          <a:lstStyle/>
          <a:p>
            <a:pPr lvl="0">
              <a:lnSpc>
                <a:spcPct val="85000"/>
              </a:lnSpc>
              <a:defRPr/>
            </a:pPr>
            <a:r>
              <a:rPr lang="en-US" sz="900" dirty="0">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RCP DE MIGRÉTIL</a:t>
            </a:r>
          </a:p>
        </p:txBody>
      </p:sp>
      <p:pic>
        <p:nvPicPr>
          <p:cNvPr id="100" name="Graphic 99">
            <a:extLst>
              <a:ext uri="{FF2B5EF4-FFF2-40B4-BE49-F238E27FC236}">
                <a16:creationId xmlns:a16="http://schemas.microsoft.com/office/drawing/2014/main" id="{95448BFF-4BE7-45ED-8CE1-B8AE69A5826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07803" y="2456766"/>
            <a:ext cx="2927599" cy="1631526"/>
          </a:xfrm>
          <a:prstGeom prst="rect">
            <a:avLst/>
          </a:prstGeom>
        </p:spPr>
      </p:pic>
      <p:pic>
        <p:nvPicPr>
          <p:cNvPr id="103" name="Picture 102" descr="A picture containing text&#10;&#10;Description automatically generated">
            <a:extLst>
              <a:ext uri="{FF2B5EF4-FFF2-40B4-BE49-F238E27FC236}">
                <a16:creationId xmlns:a16="http://schemas.microsoft.com/office/drawing/2014/main" id="{A978B731-12D7-4E74-8822-D38F2B646F6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3803" y="3709375"/>
            <a:ext cx="4099534" cy="1677833"/>
          </a:xfrm>
          <a:prstGeom prst="rect">
            <a:avLst/>
          </a:prstGeom>
        </p:spPr>
      </p:pic>
      <p:pic>
        <p:nvPicPr>
          <p:cNvPr id="35" name="Picture 34">
            <a:extLst>
              <a:ext uri="{FF2B5EF4-FFF2-40B4-BE49-F238E27FC236}">
                <a16:creationId xmlns:a16="http://schemas.microsoft.com/office/drawing/2014/main" id="{05D5A597-0E1E-4AB3-BEDC-DA3BA8882368}"/>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rot="2124397">
            <a:off x="3051916" y="5959422"/>
            <a:ext cx="780987" cy="607162"/>
          </a:xfrm>
          <a:prstGeom prst="rect">
            <a:avLst/>
          </a:prstGeom>
          <a:effectLst>
            <a:outerShdw blurRad="317500" sx="102000" sy="102000" algn="ctr" rotWithShape="0">
              <a:prstClr val="black">
                <a:alpha val="15000"/>
              </a:prstClr>
            </a:outerShdw>
          </a:effectLst>
        </p:spPr>
      </p:pic>
      <p:sp>
        <p:nvSpPr>
          <p:cNvPr id="53" name="Rectangle: Rounded Corners 52">
            <a:extLst>
              <a:ext uri="{FF2B5EF4-FFF2-40B4-BE49-F238E27FC236}">
                <a16:creationId xmlns:a16="http://schemas.microsoft.com/office/drawing/2014/main" id="{B6EB354E-808D-4EA0-9672-B77DFA106B1E}"/>
              </a:ext>
            </a:extLst>
          </p:cNvPr>
          <p:cNvSpPr/>
          <p:nvPr/>
        </p:nvSpPr>
        <p:spPr>
          <a:xfrm>
            <a:off x="4818525" y="1705141"/>
            <a:ext cx="6990298" cy="4441574"/>
          </a:xfrm>
          <a:prstGeom prst="roundRect">
            <a:avLst>
              <a:gd name="adj" fmla="val 3782"/>
            </a:avLst>
          </a:prstGeom>
          <a:solidFill>
            <a:schemeClr val="bg1"/>
          </a:solidFill>
          <a:ln>
            <a:noFill/>
          </a:ln>
          <a:effectLst>
            <a:outerShdw blurRad="5969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F82628B1-DF43-4CE5-8BBC-F8564043163A}"/>
              </a:ext>
            </a:extLst>
          </p:cNvPr>
          <p:cNvSpPr/>
          <p:nvPr/>
        </p:nvSpPr>
        <p:spPr>
          <a:xfrm>
            <a:off x="4894345" y="2292684"/>
            <a:ext cx="6888352" cy="3785652"/>
          </a:xfrm>
          <a:prstGeom prst="rect">
            <a:avLst/>
          </a:prstGeom>
        </p:spPr>
        <p:txBody>
          <a:bodyPr wrap="square">
            <a:spAutoFit/>
          </a:bodyPr>
          <a:lstStyle/>
          <a:p>
            <a:pPr fontAlgn="base"/>
            <a:r>
              <a:rPr lang="es-ES" sz="1600" b="1" dirty="0">
                <a:latin typeface="Trebuchet MS" panose="020B0603020202020204" pitchFamily="34" charset="0"/>
                <a:ea typeface="Verdana" panose="020B0604030504040204" pitchFamily="34" charset="0"/>
              </a:rPr>
              <a:t>Mecanismos de acción:</a:t>
            </a:r>
          </a:p>
          <a:p>
            <a:pPr fontAlgn="base">
              <a:buFont typeface="Arial" panose="020B0604020202020204" pitchFamily="34" charset="0"/>
              <a:buChar char="•"/>
            </a:pPr>
            <a:endParaRPr lang="es-ES" sz="1600" b="1"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es-ES" sz="1600" dirty="0">
                <a:latin typeface="Trebuchet MS" panose="020B0603020202020204" pitchFamily="34" charset="0"/>
                <a:ea typeface="Verdana" panose="020B0604030504040204" pitchFamily="34" charset="0"/>
              </a:rPr>
              <a:t>No se comprende completamente, pero se cree que afecta a la vasoconstricción de las arterias carótidas externas con una disminución concomitante de la amplitud del pulso.</a:t>
            </a:r>
          </a:p>
          <a:p>
            <a:pPr marL="285750" indent="-285750" fontAlgn="base">
              <a:buFont typeface="Arial" panose="020B0604020202020204" pitchFamily="34" charset="0"/>
              <a:buChar char="•"/>
            </a:pPr>
            <a:endParaRPr lang="es-ES" sz="1600"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es-ES" sz="1600" dirty="0">
                <a:latin typeface="Trebuchet MS" panose="020B0603020202020204" pitchFamily="34" charset="0"/>
                <a:ea typeface="Verdana" panose="020B0604030504040204" pitchFamily="34" charset="0"/>
              </a:rPr>
              <a:t>Efecto sobre las catecolaminas y la serotonina.</a:t>
            </a:r>
          </a:p>
          <a:p>
            <a:pPr marL="285750" indent="-285750" fontAlgn="base">
              <a:buFont typeface="Arial" panose="020B0604020202020204" pitchFamily="34" charset="0"/>
              <a:buChar char="•"/>
            </a:pPr>
            <a:endParaRPr lang="es-ES" sz="1600"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es-ES" sz="1600" dirty="0">
                <a:latin typeface="Trebuchet MS" panose="020B0603020202020204" pitchFamily="34" charset="0"/>
                <a:ea typeface="Verdana" panose="020B0604030504040204" pitchFamily="34" charset="0"/>
              </a:rPr>
              <a:t>Presenta una absorción gastrointestinal variable. Por lo general, la absorción es mayor en la primera hora después de la administración oral y en conjunción con cafeína.</a:t>
            </a:r>
          </a:p>
          <a:p>
            <a:pPr marL="285750" indent="-285750" fontAlgn="base">
              <a:buFont typeface="Arial" panose="020B0604020202020204" pitchFamily="34" charset="0"/>
              <a:buChar char="•"/>
            </a:pPr>
            <a:endParaRPr lang="es-ES" sz="1600"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es-ES" sz="1600" dirty="0">
                <a:latin typeface="Trebuchet MS" panose="020B0603020202020204" pitchFamily="34" charset="0"/>
                <a:ea typeface="Verdana" panose="020B0604030504040204" pitchFamily="34" charset="0"/>
              </a:rPr>
              <a:t>Tiempo hasta la </a:t>
            </a:r>
            <a:r>
              <a:rPr lang="es-ES" sz="1600" dirty="0" err="1">
                <a:latin typeface="Trebuchet MS" panose="020B0603020202020204" pitchFamily="34" charset="0"/>
                <a:ea typeface="Verdana" panose="020B0604030504040204" pitchFamily="34" charset="0"/>
              </a:rPr>
              <a:t>Cmáx</a:t>
            </a:r>
            <a:r>
              <a:rPr lang="es-ES" sz="1600" dirty="0">
                <a:latin typeface="Trebuchet MS" panose="020B0603020202020204" pitchFamily="34" charset="0"/>
                <a:ea typeface="Verdana" panose="020B0604030504040204" pitchFamily="34" charset="0"/>
              </a:rPr>
              <a:t>: 1h (con cafeína).</a:t>
            </a:r>
          </a:p>
          <a:p>
            <a:pPr marL="285750" indent="-285750" fontAlgn="base">
              <a:buFont typeface="Arial" panose="020B0604020202020204" pitchFamily="34" charset="0"/>
              <a:buChar char="•"/>
            </a:pPr>
            <a:endParaRPr lang="es-ES" sz="1600"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es-ES" sz="1600" dirty="0">
                <a:latin typeface="Trebuchet MS" panose="020B0603020202020204" pitchFamily="34" charset="0"/>
                <a:ea typeface="Verdana" panose="020B0604030504040204" pitchFamily="34" charset="0"/>
              </a:rPr>
              <a:t>Excreción fecal (biliar).</a:t>
            </a:r>
          </a:p>
        </p:txBody>
      </p:sp>
      <p:grpSp>
        <p:nvGrpSpPr>
          <p:cNvPr id="40" name="Group 39">
            <a:extLst>
              <a:ext uri="{FF2B5EF4-FFF2-40B4-BE49-F238E27FC236}">
                <a16:creationId xmlns:a16="http://schemas.microsoft.com/office/drawing/2014/main" id="{4E4DE1A8-14D0-451E-85B4-D09FBB357555}"/>
              </a:ext>
            </a:extLst>
          </p:cNvPr>
          <p:cNvGrpSpPr/>
          <p:nvPr/>
        </p:nvGrpSpPr>
        <p:grpSpPr>
          <a:xfrm>
            <a:off x="6332709" y="115629"/>
            <a:ext cx="3310657" cy="1951844"/>
            <a:chOff x="6434250" y="3200819"/>
            <a:chExt cx="1753219" cy="1121638"/>
          </a:xfrm>
          <a:solidFill>
            <a:srgbClr val="EB2127"/>
          </a:solidFill>
        </p:grpSpPr>
        <p:sp>
          <p:nvSpPr>
            <p:cNvPr id="47" name="Retângulo: Cantos Arredondados 32">
              <a:extLst>
                <a:ext uri="{FF2B5EF4-FFF2-40B4-BE49-F238E27FC236}">
                  <a16:creationId xmlns:a16="http://schemas.microsoft.com/office/drawing/2014/main" id="{BBD9F084-73F9-48DC-BE92-D92A470446C2}"/>
                </a:ext>
              </a:extLst>
            </p:cNvPr>
            <p:cNvSpPr/>
            <p:nvPr/>
          </p:nvSpPr>
          <p:spPr>
            <a:xfrm rot="5400000" flipV="1">
              <a:off x="6750041" y="2885028"/>
              <a:ext cx="1121638" cy="1753219"/>
            </a:xfrm>
            <a:prstGeom prst="roundRect">
              <a:avLst>
                <a:gd name="adj" fmla="val 3820"/>
              </a:avLst>
            </a:prstGeom>
            <a:grpFill/>
            <a:ln>
              <a:noFill/>
            </a:ln>
            <a:effectLst>
              <a:outerShdw blurRad="317500" dist="1270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48" name="TextBox 47">
              <a:extLst>
                <a:ext uri="{FF2B5EF4-FFF2-40B4-BE49-F238E27FC236}">
                  <a16:creationId xmlns:a16="http://schemas.microsoft.com/office/drawing/2014/main" id="{78BDC5DE-8DC2-4D1A-ADF2-74AB826F8A40}"/>
                </a:ext>
              </a:extLst>
            </p:cNvPr>
            <p:cNvSpPr txBox="1"/>
            <p:nvPr/>
          </p:nvSpPr>
          <p:spPr>
            <a:xfrm>
              <a:off x="6445356" y="3543116"/>
              <a:ext cx="1731008" cy="647328"/>
            </a:xfrm>
            <a:prstGeom prst="rect">
              <a:avLst/>
            </a:prstGeom>
            <a:grpFill/>
          </p:spPr>
          <p:txBody>
            <a:bodyPr wrap="square" rtlCol="0">
              <a:spAutoFit/>
            </a:bodyPr>
            <a:lstStyle/>
            <a:p>
              <a:pPr lvl="0" algn="ctr">
                <a:lnSpc>
                  <a:spcPct val="80000"/>
                </a:lnSpc>
                <a:defRPr/>
              </a:pPr>
              <a:r>
                <a:rPr lang="es-ES" sz="2800" b="1" spc="300" dirty="0">
                  <a:solidFill>
                    <a:schemeClr val="bg1"/>
                  </a:solidFill>
                  <a:latin typeface="Trebuchet MS" panose="020B0603020202020204" pitchFamily="34" charset="0"/>
                  <a:ea typeface="Verdana" panose="020B0604030504040204" pitchFamily="34" charset="0"/>
                </a:rPr>
                <a:t>TARTRATO DE ERGOTAMINA  1 mg</a:t>
              </a:r>
              <a:endParaRPr lang="es-ES" sz="2800" b="1" spc="300" dirty="0">
                <a:solidFill>
                  <a:schemeClr val="bg1"/>
                </a:solidFill>
                <a:latin typeface="Trebuchet MS" panose="020B0603020202020204" pitchFamily="34" charset="0"/>
                <a:ea typeface="Verdana" panose="020B0604030504040204" pitchFamily="34" charset="0"/>
                <a:sym typeface="Zilla Slab Light"/>
              </a:endParaRPr>
            </a:p>
          </p:txBody>
        </p:sp>
      </p:grpSp>
      <p:pic>
        <p:nvPicPr>
          <p:cNvPr id="36" name="Picture 35" descr="Icon&#10;&#10;Description automatically generated">
            <a:extLst>
              <a:ext uri="{FF2B5EF4-FFF2-40B4-BE49-F238E27FC236}">
                <a16:creationId xmlns:a16="http://schemas.microsoft.com/office/drawing/2014/main" id="{32058302-7127-4BF5-A758-1B9F0F269637}"/>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946463" y="580642"/>
            <a:ext cx="1452156" cy="1431717"/>
          </a:xfrm>
          <a:prstGeom prst="rect">
            <a:avLst/>
          </a:prstGeom>
        </p:spPr>
      </p:pic>
    </p:spTree>
    <p:extLst>
      <p:ext uri="{BB962C8B-B14F-4D97-AF65-F5344CB8AC3E}">
        <p14:creationId xmlns:p14="http://schemas.microsoft.com/office/powerpoint/2010/main" val="1713896534"/>
      </p:ext>
    </p:extLst>
  </p:cSld>
  <p:clrMapOvr>
    <a:masterClrMapping/>
  </p:clrMapOvr>
  <p:transition spd="slow">
    <p:push dir="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grpId="0" nodeType="withEffect">
                                      <p:stCondLst>
                                        <p:cond delay="1750"/>
                                      </p:stCondLst>
                                      <p:childTnLst>
                                        <p:set>
                                          <p:cBhvr>
                                            <p:cTn id="18" dur="1" fill="hold">
                                              <p:stCondLst>
                                                <p:cond delay="0"/>
                                              </p:stCondLst>
                                            </p:cTn>
                                            <p:tgtEl>
                                              <p:spTgt spid="223"/>
                                            </p:tgtEl>
                                            <p:attrNameLst>
                                              <p:attrName>style.visibility</p:attrName>
                                            </p:attrNameLst>
                                          </p:cBhvr>
                                          <p:to>
                                            <p:strVal val="visible"/>
                                          </p:to>
                                        </p:set>
                                        <p:animEffect transition="in" filter="fade">
                                          <p:cBhvr>
                                            <p:cTn id="19" dur="500"/>
                                            <p:tgtEl>
                                              <p:spTgt spid="223"/>
                                            </p:tgtEl>
                                          </p:cBhvr>
                                        </p:animEffect>
                                      </p:childTnLst>
                                    </p:cTn>
                                  </p:par>
                                  <p:par>
                                    <p:cTn id="20" presetID="10" presetClass="entr" presetSubtype="0" fill="hold" nodeType="withEffect">
                                      <p:stCondLst>
                                        <p:cond delay="75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250"/>
                                            <p:tgtEl>
                                              <p:spTgt spid="103"/>
                                            </p:tgtEl>
                                          </p:cBhvr>
                                        </p:animEffect>
                                      </p:childTnLst>
                                    </p:cTn>
                                  </p:par>
                                  <p:par>
                                    <p:cTn id="23" presetID="35" presetClass="path" presetSubtype="0" decel="100000" fill="hold" nodeType="withEffect">
                                      <p:stCondLst>
                                        <p:cond delay="750"/>
                                      </p:stCondLst>
                                      <p:childTnLst>
                                        <p:animMotion origin="layout" path="M 1.04167E-6 2.22222E-6 L -0.17917 2.22222E-6 " pathEditMode="relative" rAng="0" ptsTypes="AA">
                                          <p:cBhvr>
                                            <p:cTn id="24" dur="750" spd="-100000" fill="hold"/>
                                            <p:tgtEl>
                                              <p:spTgt spid="103"/>
                                            </p:tgtEl>
                                            <p:attrNameLst>
                                              <p:attrName>ppt_x</p:attrName>
                                              <p:attrName>ppt_y</p:attrName>
                                            </p:attrNameLst>
                                          </p:cBhvr>
                                          <p:rCtr x="-8958" y="0"/>
                                        </p:animMotion>
                                      </p:childTnLst>
                                    </p:cTn>
                                  </p:par>
                                  <p:par>
                                    <p:cTn id="25" presetID="23" presetClass="entr" presetSubtype="16" fill="hold" nodeType="withEffect">
                                      <p:stCondLst>
                                        <p:cond delay="1250"/>
                                      </p:stCondLst>
                                      <p:childTnLst>
                                        <p:set>
                                          <p:cBhvr>
                                            <p:cTn id="26" dur="1" fill="hold">
                                              <p:stCondLst>
                                                <p:cond delay="0"/>
                                              </p:stCondLst>
                                            </p:cTn>
                                            <p:tgtEl>
                                              <p:spTgt spid="100"/>
                                            </p:tgtEl>
                                            <p:attrNameLst>
                                              <p:attrName>style.visibility</p:attrName>
                                            </p:attrNameLst>
                                          </p:cBhvr>
                                          <p:to>
                                            <p:strVal val="visible"/>
                                          </p:to>
                                        </p:set>
                                        <p:anim calcmode="lin" valueType="num">
                                          <p:cBhvr>
                                            <p:cTn id="27" dur="200" fill="hold"/>
                                            <p:tgtEl>
                                              <p:spTgt spid="100"/>
                                            </p:tgtEl>
                                            <p:attrNameLst>
                                              <p:attrName>ppt_w</p:attrName>
                                            </p:attrNameLst>
                                          </p:cBhvr>
                                          <p:tavLst>
                                            <p:tav tm="0">
                                              <p:val>
                                                <p:fltVal val="0"/>
                                              </p:val>
                                            </p:tav>
                                            <p:tav tm="100000">
                                              <p:val>
                                                <p:strVal val="#ppt_w"/>
                                              </p:val>
                                            </p:tav>
                                          </p:tavLst>
                                        </p:anim>
                                        <p:anim calcmode="lin" valueType="num">
                                          <p:cBhvr>
                                            <p:cTn id="28" dur="200" fill="hold"/>
                                            <p:tgtEl>
                                              <p:spTgt spid="100"/>
                                            </p:tgtEl>
                                            <p:attrNameLst>
                                              <p:attrName>ppt_h</p:attrName>
                                            </p:attrNameLst>
                                          </p:cBhvr>
                                          <p:tavLst>
                                            <p:tav tm="0">
                                              <p:val>
                                                <p:fltVal val="0"/>
                                              </p:val>
                                            </p:tav>
                                            <p:tav tm="100000">
                                              <p:val>
                                                <p:strVal val="#ppt_h"/>
                                              </p:val>
                                            </p:tav>
                                          </p:tavLst>
                                        </p:anim>
                                      </p:childTnLst>
                                    </p:cTn>
                                  </p:par>
                                  <p:par>
                                    <p:cTn id="29" presetID="6" presetClass="emph" presetSubtype="0" fill="hold" nodeType="withEffect" p14:presetBounceEnd="99000">
                                      <p:stCondLst>
                                        <p:cond delay="1250"/>
                                      </p:stCondLst>
                                      <p:childTnLst>
                                        <p:animScale p14:bounceEnd="99000">
                                          <p:cBhvr>
                                            <p:cTn id="30" dur="1000" fill="hold"/>
                                            <p:tgtEl>
                                              <p:spTgt spid="100"/>
                                            </p:tgtEl>
                                          </p:cBhvr>
                                          <p:by x="110000" y="110000"/>
                                        </p:animScale>
                                      </p:childTnLst>
                                    </p:cTn>
                                  </p:par>
                                  <p:par>
                                    <p:cTn id="31" presetID="6" presetClass="emph" presetSubtype="0" accel="50000" decel="50000" fill="hold" nodeType="withEffect">
                                      <p:stCondLst>
                                        <p:cond delay="1250"/>
                                      </p:stCondLst>
                                      <p:childTnLst>
                                        <p:animScale>
                                          <p:cBhvr>
                                            <p:cTn id="32" dur="250" fill="hold"/>
                                            <p:tgtEl>
                                              <p:spTgt spid="100"/>
                                            </p:tgtEl>
                                          </p:cBhvr>
                                          <p:by x="91000" y="91000"/>
                                        </p:animScale>
                                      </p:childTnLst>
                                    </p:cTn>
                                  </p:par>
                                  <p:par>
                                    <p:cTn id="33" presetID="10" presetClass="entr" presetSubtype="0" fill="hold" nodeType="withEffect">
                                      <p:stCondLst>
                                        <p:cond delay="150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250"/>
                                            <p:tgtEl>
                                              <p:spTgt spid="35"/>
                                            </p:tgtEl>
                                          </p:cBhvr>
                                        </p:animEffect>
                                      </p:childTnLst>
                                    </p:cTn>
                                  </p:par>
                                  <p:par>
                                    <p:cTn id="36" presetID="42" presetClass="path" presetSubtype="0" decel="100000" fill="hold" nodeType="withEffect">
                                      <p:stCondLst>
                                        <p:cond delay="1500"/>
                                      </p:stCondLst>
                                      <p:childTnLst>
                                        <p:animMotion origin="layout" path="M 3.54167E-6 -1.48148E-6 L -0.08516 0.05278 " pathEditMode="relative" rAng="0" ptsTypes="AA">
                                          <p:cBhvr>
                                            <p:cTn id="37" dur="1000" spd="-100000" fill="hold"/>
                                            <p:tgtEl>
                                              <p:spTgt spid="35"/>
                                            </p:tgtEl>
                                            <p:attrNameLst>
                                              <p:attrName>ppt_x</p:attrName>
                                              <p:attrName>ppt_y</p:attrName>
                                            </p:attrNameLst>
                                          </p:cBhvr>
                                          <p:rCtr x="-4258" y="2639"/>
                                        </p:animMotion>
                                      </p:childTnLst>
                                    </p:cTn>
                                  </p:par>
                                  <p:par>
                                    <p:cTn id="38" presetID="10" presetClass="entr" presetSubtype="0" fill="hold" nodeType="withEffect">
                                      <p:stCondLst>
                                        <p:cond delay="1350"/>
                                      </p:stCondLst>
                                      <p:childTnLst>
                                        <p:set>
                                          <p:cBhvr>
                                            <p:cTn id="39" dur="1" fill="hold">
                                              <p:stCondLst>
                                                <p:cond delay="0"/>
                                              </p:stCondLst>
                                            </p:cTn>
                                            <p:tgtEl>
                                              <p:spTgt spid="40"/>
                                            </p:tgtEl>
                                            <p:attrNameLst>
                                              <p:attrName>style.visibility</p:attrName>
                                            </p:attrNameLst>
                                          </p:cBhvr>
                                          <p:to>
                                            <p:strVal val="visible"/>
                                          </p:to>
                                        </p:set>
                                        <p:animEffect transition="in" filter="fade">
                                          <p:cBhvr>
                                            <p:cTn id="40" dur="500"/>
                                            <p:tgtEl>
                                              <p:spTgt spid="40"/>
                                            </p:tgtEl>
                                          </p:cBhvr>
                                        </p:animEffect>
                                      </p:childTnLst>
                                    </p:cTn>
                                  </p:par>
                                  <p:par>
                                    <p:cTn id="41" presetID="63" presetClass="path" presetSubtype="0" decel="100000" fill="hold" nodeType="withEffect">
                                      <p:stCondLst>
                                        <p:cond delay="1350"/>
                                      </p:stCondLst>
                                      <p:childTnLst>
                                        <p:animMotion origin="layout" path="M 6.25E-7 3.7037E-7 L 0.03906 3.7037E-7 " pathEditMode="relative" rAng="0" ptsTypes="AA">
                                          <p:cBhvr>
                                            <p:cTn id="42" dur="750" spd="-100000" fill="hold"/>
                                            <p:tgtEl>
                                              <p:spTgt spid="40"/>
                                            </p:tgtEl>
                                            <p:attrNameLst>
                                              <p:attrName>ppt_x</p:attrName>
                                              <p:attrName>ppt_y</p:attrName>
                                            </p:attrNameLst>
                                          </p:cBhvr>
                                          <p:rCtr x="1953" y="0"/>
                                        </p:animMotion>
                                      </p:childTnLst>
                                    </p:cTn>
                                  </p:par>
                                  <p:par>
                                    <p:cTn id="43" presetID="10" presetClass="entr" presetSubtype="0" fill="hold" grpId="0" nodeType="withEffect">
                                      <p:stCondLst>
                                        <p:cond delay="1000"/>
                                      </p:stCondLst>
                                      <p:childTnLst>
                                        <p:set>
                                          <p:cBhvr>
                                            <p:cTn id="44" dur="1" fill="hold">
                                              <p:stCondLst>
                                                <p:cond delay="0"/>
                                              </p:stCondLst>
                                            </p:cTn>
                                            <p:tgtEl>
                                              <p:spTgt spid="53"/>
                                            </p:tgtEl>
                                            <p:attrNameLst>
                                              <p:attrName>style.visibility</p:attrName>
                                            </p:attrNameLst>
                                          </p:cBhvr>
                                          <p:to>
                                            <p:strVal val="visible"/>
                                          </p:to>
                                        </p:set>
                                        <p:animEffect transition="in" filter="fade">
                                          <p:cBhvr>
                                            <p:cTn id="45"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223" grpId="0"/>
          <p:bldP spid="53"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grpId="0" nodeType="withEffect">
                                      <p:stCondLst>
                                        <p:cond delay="1750"/>
                                      </p:stCondLst>
                                      <p:childTnLst>
                                        <p:set>
                                          <p:cBhvr>
                                            <p:cTn id="18" dur="1" fill="hold">
                                              <p:stCondLst>
                                                <p:cond delay="0"/>
                                              </p:stCondLst>
                                            </p:cTn>
                                            <p:tgtEl>
                                              <p:spTgt spid="223"/>
                                            </p:tgtEl>
                                            <p:attrNameLst>
                                              <p:attrName>style.visibility</p:attrName>
                                            </p:attrNameLst>
                                          </p:cBhvr>
                                          <p:to>
                                            <p:strVal val="visible"/>
                                          </p:to>
                                        </p:set>
                                        <p:animEffect transition="in" filter="fade">
                                          <p:cBhvr>
                                            <p:cTn id="19" dur="500"/>
                                            <p:tgtEl>
                                              <p:spTgt spid="223"/>
                                            </p:tgtEl>
                                          </p:cBhvr>
                                        </p:animEffect>
                                      </p:childTnLst>
                                    </p:cTn>
                                  </p:par>
                                  <p:par>
                                    <p:cTn id="20" presetID="10" presetClass="entr" presetSubtype="0" fill="hold" nodeType="withEffect">
                                      <p:stCondLst>
                                        <p:cond delay="75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250"/>
                                            <p:tgtEl>
                                              <p:spTgt spid="103"/>
                                            </p:tgtEl>
                                          </p:cBhvr>
                                        </p:animEffect>
                                      </p:childTnLst>
                                    </p:cTn>
                                  </p:par>
                                  <p:par>
                                    <p:cTn id="23" presetID="35" presetClass="path" presetSubtype="0" decel="100000" fill="hold" nodeType="withEffect">
                                      <p:stCondLst>
                                        <p:cond delay="750"/>
                                      </p:stCondLst>
                                      <p:childTnLst>
                                        <p:animMotion origin="layout" path="M 1.04167E-6 2.22222E-6 L -0.17917 2.22222E-6 " pathEditMode="relative" rAng="0" ptsTypes="AA">
                                          <p:cBhvr>
                                            <p:cTn id="24" dur="750" spd="-100000" fill="hold"/>
                                            <p:tgtEl>
                                              <p:spTgt spid="103"/>
                                            </p:tgtEl>
                                            <p:attrNameLst>
                                              <p:attrName>ppt_x</p:attrName>
                                              <p:attrName>ppt_y</p:attrName>
                                            </p:attrNameLst>
                                          </p:cBhvr>
                                          <p:rCtr x="-8958" y="0"/>
                                        </p:animMotion>
                                      </p:childTnLst>
                                    </p:cTn>
                                  </p:par>
                                  <p:par>
                                    <p:cTn id="25" presetID="23" presetClass="entr" presetSubtype="16" fill="hold" nodeType="withEffect">
                                      <p:stCondLst>
                                        <p:cond delay="1250"/>
                                      </p:stCondLst>
                                      <p:childTnLst>
                                        <p:set>
                                          <p:cBhvr>
                                            <p:cTn id="26" dur="1" fill="hold">
                                              <p:stCondLst>
                                                <p:cond delay="0"/>
                                              </p:stCondLst>
                                            </p:cTn>
                                            <p:tgtEl>
                                              <p:spTgt spid="100"/>
                                            </p:tgtEl>
                                            <p:attrNameLst>
                                              <p:attrName>style.visibility</p:attrName>
                                            </p:attrNameLst>
                                          </p:cBhvr>
                                          <p:to>
                                            <p:strVal val="visible"/>
                                          </p:to>
                                        </p:set>
                                        <p:anim calcmode="lin" valueType="num">
                                          <p:cBhvr>
                                            <p:cTn id="27" dur="200" fill="hold"/>
                                            <p:tgtEl>
                                              <p:spTgt spid="100"/>
                                            </p:tgtEl>
                                            <p:attrNameLst>
                                              <p:attrName>ppt_w</p:attrName>
                                            </p:attrNameLst>
                                          </p:cBhvr>
                                          <p:tavLst>
                                            <p:tav tm="0">
                                              <p:val>
                                                <p:fltVal val="0"/>
                                              </p:val>
                                            </p:tav>
                                            <p:tav tm="100000">
                                              <p:val>
                                                <p:strVal val="#ppt_w"/>
                                              </p:val>
                                            </p:tav>
                                          </p:tavLst>
                                        </p:anim>
                                        <p:anim calcmode="lin" valueType="num">
                                          <p:cBhvr>
                                            <p:cTn id="28" dur="200" fill="hold"/>
                                            <p:tgtEl>
                                              <p:spTgt spid="100"/>
                                            </p:tgtEl>
                                            <p:attrNameLst>
                                              <p:attrName>ppt_h</p:attrName>
                                            </p:attrNameLst>
                                          </p:cBhvr>
                                          <p:tavLst>
                                            <p:tav tm="0">
                                              <p:val>
                                                <p:fltVal val="0"/>
                                              </p:val>
                                            </p:tav>
                                            <p:tav tm="100000">
                                              <p:val>
                                                <p:strVal val="#ppt_h"/>
                                              </p:val>
                                            </p:tav>
                                          </p:tavLst>
                                        </p:anim>
                                      </p:childTnLst>
                                    </p:cTn>
                                  </p:par>
                                  <p:par>
                                    <p:cTn id="29" presetID="6" presetClass="emph" presetSubtype="0" fill="hold" nodeType="withEffect">
                                      <p:stCondLst>
                                        <p:cond delay="1250"/>
                                      </p:stCondLst>
                                      <p:childTnLst>
                                        <p:animScale>
                                          <p:cBhvr>
                                            <p:cTn id="30" dur="1000" fill="hold"/>
                                            <p:tgtEl>
                                              <p:spTgt spid="100"/>
                                            </p:tgtEl>
                                          </p:cBhvr>
                                          <p:by x="110000" y="110000"/>
                                        </p:animScale>
                                      </p:childTnLst>
                                    </p:cTn>
                                  </p:par>
                                  <p:par>
                                    <p:cTn id="31" presetID="6" presetClass="emph" presetSubtype="0" accel="50000" decel="50000" fill="hold" nodeType="withEffect">
                                      <p:stCondLst>
                                        <p:cond delay="1250"/>
                                      </p:stCondLst>
                                      <p:childTnLst>
                                        <p:animScale>
                                          <p:cBhvr>
                                            <p:cTn id="32" dur="250" fill="hold"/>
                                            <p:tgtEl>
                                              <p:spTgt spid="100"/>
                                            </p:tgtEl>
                                          </p:cBhvr>
                                          <p:by x="91000" y="91000"/>
                                        </p:animScale>
                                      </p:childTnLst>
                                    </p:cTn>
                                  </p:par>
                                  <p:par>
                                    <p:cTn id="33" presetID="10" presetClass="entr" presetSubtype="0" fill="hold" nodeType="withEffect">
                                      <p:stCondLst>
                                        <p:cond delay="150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250"/>
                                            <p:tgtEl>
                                              <p:spTgt spid="35"/>
                                            </p:tgtEl>
                                          </p:cBhvr>
                                        </p:animEffect>
                                      </p:childTnLst>
                                    </p:cTn>
                                  </p:par>
                                  <p:par>
                                    <p:cTn id="36" presetID="42" presetClass="path" presetSubtype="0" decel="100000" fill="hold" nodeType="withEffect">
                                      <p:stCondLst>
                                        <p:cond delay="1500"/>
                                      </p:stCondLst>
                                      <p:childTnLst>
                                        <p:animMotion origin="layout" path="M 3.54167E-6 -1.48148E-6 L -0.08516 0.05278 " pathEditMode="relative" rAng="0" ptsTypes="AA">
                                          <p:cBhvr>
                                            <p:cTn id="37" dur="1000" spd="-100000" fill="hold"/>
                                            <p:tgtEl>
                                              <p:spTgt spid="35"/>
                                            </p:tgtEl>
                                            <p:attrNameLst>
                                              <p:attrName>ppt_x</p:attrName>
                                              <p:attrName>ppt_y</p:attrName>
                                            </p:attrNameLst>
                                          </p:cBhvr>
                                          <p:rCtr x="-4258" y="2639"/>
                                        </p:animMotion>
                                      </p:childTnLst>
                                    </p:cTn>
                                  </p:par>
                                  <p:par>
                                    <p:cTn id="38" presetID="10" presetClass="entr" presetSubtype="0" fill="hold" nodeType="withEffect">
                                      <p:stCondLst>
                                        <p:cond delay="1350"/>
                                      </p:stCondLst>
                                      <p:childTnLst>
                                        <p:set>
                                          <p:cBhvr>
                                            <p:cTn id="39" dur="1" fill="hold">
                                              <p:stCondLst>
                                                <p:cond delay="0"/>
                                              </p:stCondLst>
                                            </p:cTn>
                                            <p:tgtEl>
                                              <p:spTgt spid="40"/>
                                            </p:tgtEl>
                                            <p:attrNameLst>
                                              <p:attrName>style.visibility</p:attrName>
                                            </p:attrNameLst>
                                          </p:cBhvr>
                                          <p:to>
                                            <p:strVal val="visible"/>
                                          </p:to>
                                        </p:set>
                                        <p:animEffect transition="in" filter="fade">
                                          <p:cBhvr>
                                            <p:cTn id="40" dur="500"/>
                                            <p:tgtEl>
                                              <p:spTgt spid="40"/>
                                            </p:tgtEl>
                                          </p:cBhvr>
                                        </p:animEffect>
                                      </p:childTnLst>
                                    </p:cTn>
                                  </p:par>
                                  <p:par>
                                    <p:cTn id="41" presetID="63" presetClass="path" presetSubtype="0" decel="100000" fill="hold" nodeType="withEffect">
                                      <p:stCondLst>
                                        <p:cond delay="1350"/>
                                      </p:stCondLst>
                                      <p:childTnLst>
                                        <p:animMotion origin="layout" path="M 6.25E-7 3.7037E-7 L 0.03906 3.7037E-7 " pathEditMode="relative" rAng="0" ptsTypes="AA">
                                          <p:cBhvr>
                                            <p:cTn id="42" dur="750" spd="-100000" fill="hold"/>
                                            <p:tgtEl>
                                              <p:spTgt spid="40"/>
                                            </p:tgtEl>
                                            <p:attrNameLst>
                                              <p:attrName>ppt_x</p:attrName>
                                              <p:attrName>ppt_y</p:attrName>
                                            </p:attrNameLst>
                                          </p:cBhvr>
                                          <p:rCtr x="1953" y="0"/>
                                        </p:animMotion>
                                      </p:childTnLst>
                                    </p:cTn>
                                  </p:par>
                                  <p:par>
                                    <p:cTn id="43" presetID="10" presetClass="entr" presetSubtype="0" fill="hold" grpId="0" nodeType="withEffect">
                                      <p:stCondLst>
                                        <p:cond delay="1000"/>
                                      </p:stCondLst>
                                      <p:childTnLst>
                                        <p:set>
                                          <p:cBhvr>
                                            <p:cTn id="44" dur="1" fill="hold">
                                              <p:stCondLst>
                                                <p:cond delay="0"/>
                                              </p:stCondLst>
                                            </p:cTn>
                                            <p:tgtEl>
                                              <p:spTgt spid="53"/>
                                            </p:tgtEl>
                                            <p:attrNameLst>
                                              <p:attrName>style.visibility</p:attrName>
                                            </p:attrNameLst>
                                          </p:cBhvr>
                                          <p:to>
                                            <p:strVal val="visible"/>
                                          </p:to>
                                        </p:set>
                                        <p:animEffect transition="in" filter="fade">
                                          <p:cBhvr>
                                            <p:cTn id="45"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223" grpId="0"/>
          <p:bldP spid="53" grpId="0" animBg="1"/>
        </p:bldLst>
      </p:timing>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B194DFA-D81F-45C6-98D0-615747557E57}"/>
              </a:ext>
            </a:extLst>
          </p:cNvPr>
          <p:cNvSpPr/>
          <p:nvPr/>
        </p:nvSpPr>
        <p:spPr>
          <a:xfrm>
            <a:off x="11389" y="3806241"/>
            <a:ext cx="12192000" cy="30517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0" name="Picture 169" descr="Shape, circle&#10;&#10;Description automatically generated">
            <a:extLst>
              <a:ext uri="{FF2B5EF4-FFF2-40B4-BE49-F238E27FC236}">
                <a16:creationId xmlns:a16="http://schemas.microsoft.com/office/drawing/2014/main" id="{EEB2B992-2400-4EEE-A3C6-C52D633A15B2}"/>
              </a:ext>
            </a:extLst>
          </p:cNvPr>
          <p:cNvPicPr>
            <a:picLocks noChangeAspect="1"/>
          </p:cNvPicPr>
          <p:nvPr/>
        </p:nvPicPr>
        <p:blipFill rotWithShape="1">
          <a:blip r:embed="rId2">
            <a:extLst>
              <a:ext uri="{28A0092B-C50C-407E-A947-70E740481C1C}">
                <a14:useLocalDpi xmlns:a14="http://schemas.microsoft.com/office/drawing/2010/main" val="0"/>
              </a:ext>
            </a:extLst>
          </a:blip>
          <a:srcRect r="64988"/>
          <a:stretch/>
        </p:blipFill>
        <p:spPr>
          <a:xfrm>
            <a:off x="0" y="0"/>
            <a:ext cx="4268596" cy="6858000"/>
          </a:xfrm>
          <a:prstGeom prst="rect">
            <a:avLst/>
          </a:prstGeom>
        </p:spPr>
      </p:pic>
      <p:grpSp>
        <p:nvGrpSpPr>
          <p:cNvPr id="182" name="Group 181">
            <a:extLst>
              <a:ext uri="{FF2B5EF4-FFF2-40B4-BE49-F238E27FC236}">
                <a16:creationId xmlns:a16="http://schemas.microsoft.com/office/drawing/2014/main" id="{77396E5F-348C-4338-B293-968BEA981FDB}"/>
              </a:ext>
            </a:extLst>
          </p:cNvPr>
          <p:cNvGrpSpPr/>
          <p:nvPr/>
        </p:nvGrpSpPr>
        <p:grpSpPr>
          <a:xfrm>
            <a:off x="252552" y="6342796"/>
            <a:ext cx="11686895" cy="398170"/>
            <a:chOff x="252552" y="6226684"/>
            <a:chExt cx="11686895" cy="398170"/>
          </a:xfrm>
        </p:grpSpPr>
        <p:grpSp>
          <p:nvGrpSpPr>
            <p:cNvPr id="172" name="Group 171">
              <a:extLst>
                <a:ext uri="{FF2B5EF4-FFF2-40B4-BE49-F238E27FC236}">
                  <a16:creationId xmlns:a16="http://schemas.microsoft.com/office/drawing/2014/main" id="{043DA00A-4155-4488-8261-DB136097B10C}"/>
                </a:ext>
              </a:extLst>
            </p:cNvPr>
            <p:cNvGrpSpPr/>
            <p:nvPr/>
          </p:nvGrpSpPr>
          <p:grpSpPr>
            <a:xfrm>
              <a:off x="252552" y="6293241"/>
              <a:ext cx="1266906" cy="265056"/>
              <a:chOff x="5600700" y="-854146"/>
              <a:chExt cx="989647" cy="207049"/>
            </a:xfrm>
          </p:grpSpPr>
          <p:sp>
            <p:nvSpPr>
              <p:cNvPr id="173" name="Freeform: Shape 172">
                <a:extLst>
                  <a:ext uri="{FF2B5EF4-FFF2-40B4-BE49-F238E27FC236}">
                    <a16:creationId xmlns:a16="http://schemas.microsoft.com/office/drawing/2014/main" id="{5529D942-D3DC-4AA5-A11E-2EAD767EE35D}"/>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0755DD92-DC0C-4053-A436-745AF0A70850}"/>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4518EE33-E21D-4E76-B041-14F423E26EAD}"/>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4C711A2-EC08-414B-B62D-F848E4E33BC2}"/>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7152FC00-E28E-4906-9909-07FB83382FA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5C0BFA11-C3DB-4246-9AA5-3EC58FE54C46}"/>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D22D6EE2-4EA8-4E7A-B8FF-7F9FE44552D8}"/>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BDBBAA55-241D-4C91-804F-8945A70DB132}"/>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BE44E2D9-A68F-4AE8-873F-8B818D81D3B6}"/>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2541" y="6226684"/>
              <a:ext cx="1266906" cy="398170"/>
            </a:xfrm>
            <a:prstGeom prst="rect">
              <a:avLst/>
            </a:prstGeom>
          </p:spPr>
        </p:pic>
      </p:grpSp>
      <p:sp>
        <p:nvSpPr>
          <p:cNvPr id="150" name="TextBox 149">
            <a:extLst>
              <a:ext uri="{FF2B5EF4-FFF2-40B4-BE49-F238E27FC236}">
                <a16:creationId xmlns:a16="http://schemas.microsoft.com/office/drawing/2014/main" id="{97AE9CDE-843A-4016-BD11-6A012486773C}"/>
              </a:ext>
            </a:extLst>
          </p:cNvPr>
          <p:cNvSpPr txBox="1"/>
          <p:nvPr/>
        </p:nvSpPr>
        <p:spPr>
          <a:xfrm>
            <a:off x="468407" y="580642"/>
            <a:ext cx="3389218" cy="510909"/>
          </a:xfrm>
          <a:prstGeom prst="rect">
            <a:avLst/>
          </a:prstGeom>
          <a:noFill/>
        </p:spPr>
        <p:txBody>
          <a:bodyPr wrap="square" rtlCol="0">
            <a:spAutoFit/>
          </a:bodyPr>
          <a:lstStyle/>
          <a:p>
            <a:pPr lvl="0">
              <a:lnSpc>
                <a:spcPct val="85000"/>
              </a:lnSpc>
              <a:defRPr/>
            </a:pPr>
            <a:r>
              <a:rPr lang="pt-PT" sz="3200" b="1" spc="300" dirty="0">
                <a:solidFill>
                  <a:schemeClr val="bg1"/>
                </a:solidFill>
                <a:latin typeface="Trebuchet MS" panose="020B0603020202020204" pitchFamily="34" charset="0"/>
                <a:ea typeface="Verdana" panose="020B0604030504040204" pitchFamily="34" charset="0"/>
                <a:cs typeface="Zilla Slab Light"/>
                <a:sym typeface="Zilla Slab Light"/>
              </a:rPr>
              <a:t>MIGRÉTIL</a:t>
            </a:r>
            <a:endParaRPr kumimoji="0" lang="en-US" sz="3200" b="1" i="0" u="none" strike="noStrike" kern="1200" cap="none" spc="300" normalizeH="0" baseline="30000" noProof="0" dirty="0">
              <a:ln>
                <a:noFill/>
              </a:ln>
              <a:solidFill>
                <a:schemeClr val="bg1"/>
              </a:solidFill>
              <a:uLnTx/>
              <a:uFillTx/>
              <a:latin typeface="Trebuchet MS" panose="020B0603020202020204" pitchFamily="34" charset="0"/>
              <a:ea typeface="Verdana" panose="020B0604030504040204" pitchFamily="34" charset="0"/>
              <a:cs typeface="Zilla Slab Light"/>
              <a:sym typeface="Zilla Slab Light"/>
            </a:endParaRPr>
          </a:p>
        </p:txBody>
      </p:sp>
      <p:grpSp>
        <p:nvGrpSpPr>
          <p:cNvPr id="37" name="Group 36">
            <a:extLst>
              <a:ext uri="{FF2B5EF4-FFF2-40B4-BE49-F238E27FC236}">
                <a16:creationId xmlns:a16="http://schemas.microsoft.com/office/drawing/2014/main" id="{0BE31391-F1DC-411A-87D1-5112B9F266CA}"/>
              </a:ext>
            </a:extLst>
          </p:cNvPr>
          <p:cNvGrpSpPr/>
          <p:nvPr/>
        </p:nvGrpSpPr>
        <p:grpSpPr>
          <a:xfrm>
            <a:off x="252552" y="6409353"/>
            <a:ext cx="1266906" cy="265056"/>
            <a:chOff x="5600700" y="-854146"/>
            <a:chExt cx="989647" cy="207049"/>
          </a:xfrm>
          <a:solidFill>
            <a:schemeClr val="bg1"/>
          </a:solidFill>
        </p:grpSpPr>
        <p:sp>
          <p:nvSpPr>
            <p:cNvPr id="41" name="Freeform: Shape 40">
              <a:extLst>
                <a:ext uri="{FF2B5EF4-FFF2-40B4-BE49-F238E27FC236}">
                  <a16:creationId xmlns:a16="http://schemas.microsoft.com/office/drawing/2014/main" id="{13F13A9E-8B05-4590-A769-7FB4E7D04AA7}"/>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C0B628-3DD6-4944-9D84-B56861B58EF6}"/>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017A177-EC27-403B-8372-86A3DBE3082E}"/>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E32EB9E-2686-4B42-9E63-9A43DDA63D58}"/>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2470303-A478-48C3-AD44-38AA76CC623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A6D117B-673B-41A6-9291-A0BBD1557E39}"/>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04C809F-31FC-48B3-A817-B6F57FFB20E1}"/>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5F7B8F6-61CC-412C-AEFF-BE182B64F64B}"/>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AC0821E-80AD-4AC4-8876-F78F55B9F41B}"/>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grpFill/>
            <a:ln w="9525" cap="flat">
              <a:noFill/>
              <a:prstDash val="solid"/>
              <a:miter/>
            </a:ln>
          </p:spPr>
          <p:txBody>
            <a:bodyPr rtlCol="0" anchor="ctr"/>
            <a:lstStyle/>
            <a:p>
              <a:endParaRPr lang="en-US"/>
            </a:p>
          </p:txBody>
        </p:sp>
      </p:grpSp>
      <p:sp>
        <p:nvSpPr>
          <p:cNvPr id="223" name="TextBox 222">
            <a:extLst>
              <a:ext uri="{FF2B5EF4-FFF2-40B4-BE49-F238E27FC236}">
                <a16:creationId xmlns:a16="http://schemas.microsoft.com/office/drawing/2014/main" id="{E70EEC19-B0E3-4765-98C9-E87C6C1182C7}"/>
              </a:ext>
            </a:extLst>
          </p:cNvPr>
          <p:cNvSpPr txBox="1"/>
          <p:nvPr/>
        </p:nvSpPr>
        <p:spPr>
          <a:xfrm>
            <a:off x="4683761" y="6577154"/>
            <a:ext cx="5591683" cy="210058"/>
          </a:xfrm>
          <a:prstGeom prst="rect">
            <a:avLst/>
          </a:prstGeom>
          <a:noFill/>
        </p:spPr>
        <p:txBody>
          <a:bodyPr wrap="square" rtlCol="0">
            <a:spAutoFit/>
          </a:bodyPr>
          <a:lstStyle/>
          <a:p>
            <a:pPr lvl="0">
              <a:lnSpc>
                <a:spcPct val="85000"/>
              </a:lnSpc>
              <a:defRPr/>
            </a:pPr>
            <a:r>
              <a:rPr lang="en-US" sz="900" dirty="0">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RCP DE MIGRÉTIL</a:t>
            </a:r>
          </a:p>
        </p:txBody>
      </p:sp>
      <p:pic>
        <p:nvPicPr>
          <p:cNvPr id="100" name="Graphic 99">
            <a:extLst>
              <a:ext uri="{FF2B5EF4-FFF2-40B4-BE49-F238E27FC236}">
                <a16:creationId xmlns:a16="http://schemas.microsoft.com/office/drawing/2014/main" id="{95448BFF-4BE7-45ED-8CE1-B8AE69A5826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07803" y="2456766"/>
            <a:ext cx="2927599" cy="1631526"/>
          </a:xfrm>
          <a:prstGeom prst="rect">
            <a:avLst/>
          </a:prstGeom>
        </p:spPr>
      </p:pic>
      <p:pic>
        <p:nvPicPr>
          <p:cNvPr id="103" name="Picture 102" descr="A picture containing text&#10;&#10;Description automatically generated">
            <a:extLst>
              <a:ext uri="{FF2B5EF4-FFF2-40B4-BE49-F238E27FC236}">
                <a16:creationId xmlns:a16="http://schemas.microsoft.com/office/drawing/2014/main" id="{A978B731-12D7-4E74-8822-D38F2B646F6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3803" y="3709375"/>
            <a:ext cx="4099534" cy="1677833"/>
          </a:xfrm>
          <a:prstGeom prst="rect">
            <a:avLst/>
          </a:prstGeom>
        </p:spPr>
      </p:pic>
      <p:pic>
        <p:nvPicPr>
          <p:cNvPr id="35" name="Picture 34">
            <a:extLst>
              <a:ext uri="{FF2B5EF4-FFF2-40B4-BE49-F238E27FC236}">
                <a16:creationId xmlns:a16="http://schemas.microsoft.com/office/drawing/2014/main" id="{05D5A597-0E1E-4AB3-BEDC-DA3BA8882368}"/>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rot="2124397">
            <a:off x="3051916" y="5959422"/>
            <a:ext cx="780987" cy="607162"/>
          </a:xfrm>
          <a:prstGeom prst="rect">
            <a:avLst/>
          </a:prstGeom>
          <a:effectLst>
            <a:outerShdw blurRad="317500" sx="102000" sy="102000" algn="ctr" rotWithShape="0">
              <a:prstClr val="black">
                <a:alpha val="15000"/>
              </a:prstClr>
            </a:outerShdw>
          </a:effectLst>
        </p:spPr>
      </p:pic>
      <p:sp>
        <p:nvSpPr>
          <p:cNvPr id="53" name="Rectangle: Rounded Corners 52">
            <a:extLst>
              <a:ext uri="{FF2B5EF4-FFF2-40B4-BE49-F238E27FC236}">
                <a16:creationId xmlns:a16="http://schemas.microsoft.com/office/drawing/2014/main" id="{C5C5CFFC-37BF-421B-99CD-09C812EC255C}"/>
              </a:ext>
            </a:extLst>
          </p:cNvPr>
          <p:cNvSpPr/>
          <p:nvPr/>
        </p:nvSpPr>
        <p:spPr>
          <a:xfrm>
            <a:off x="4818525" y="1705141"/>
            <a:ext cx="6990298" cy="4441574"/>
          </a:xfrm>
          <a:prstGeom prst="roundRect">
            <a:avLst>
              <a:gd name="adj" fmla="val 3782"/>
            </a:avLst>
          </a:prstGeom>
          <a:solidFill>
            <a:schemeClr val="bg1"/>
          </a:solidFill>
          <a:ln>
            <a:noFill/>
          </a:ln>
          <a:effectLst>
            <a:outerShdw blurRad="5969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7CFBD2CB-FCD5-4553-8909-1AA117AEF421}"/>
              </a:ext>
            </a:extLst>
          </p:cNvPr>
          <p:cNvGrpSpPr/>
          <p:nvPr/>
        </p:nvGrpSpPr>
        <p:grpSpPr>
          <a:xfrm>
            <a:off x="6332709" y="115627"/>
            <a:ext cx="3310657" cy="1951844"/>
            <a:chOff x="6434250" y="3200819"/>
            <a:chExt cx="1753219" cy="1121638"/>
          </a:xfrm>
          <a:solidFill>
            <a:srgbClr val="6C8C3B"/>
          </a:solidFill>
        </p:grpSpPr>
        <p:sp>
          <p:nvSpPr>
            <p:cNvPr id="47" name="Retângulo: Cantos Arredondados 32">
              <a:extLst>
                <a:ext uri="{FF2B5EF4-FFF2-40B4-BE49-F238E27FC236}">
                  <a16:creationId xmlns:a16="http://schemas.microsoft.com/office/drawing/2014/main" id="{8CE002AF-1237-4E5B-8BB0-7CD653734BFE}"/>
                </a:ext>
              </a:extLst>
            </p:cNvPr>
            <p:cNvSpPr/>
            <p:nvPr/>
          </p:nvSpPr>
          <p:spPr>
            <a:xfrm rot="5400000" flipV="1">
              <a:off x="6750041" y="2885028"/>
              <a:ext cx="1121638" cy="1753219"/>
            </a:xfrm>
            <a:prstGeom prst="roundRect">
              <a:avLst>
                <a:gd name="adj" fmla="val 3820"/>
              </a:avLst>
            </a:prstGeom>
            <a:grpFill/>
            <a:ln>
              <a:noFill/>
            </a:ln>
            <a:effectLst>
              <a:outerShdw blurRad="317500" dist="1270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48" name="TextBox 47">
              <a:extLst>
                <a:ext uri="{FF2B5EF4-FFF2-40B4-BE49-F238E27FC236}">
                  <a16:creationId xmlns:a16="http://schemas.microsoft.com/office/drawing/2014/main" id="{8F807F8C-A7F0-4F56-8262-C01F4C394404}"/>
                </a:ext>
              </a:extLst>
            </p:cNvPr>
            <p:cNvSpPr txBox="1"/>
            <p:nvPr/>
          </p:nvSpPr>
          <p:spPr>
            <a:xfrm>
              <a:off x="6445356" y="3543116"/>
              <a:ext cx="1731008" cy="647328"/>
            </a:xfrm>
            <a:prstGeom prst="rect">
              <a:avLst/>
            </a:prstGeom>
            <a:grpFill/>
          </p:spPr>
          <p:txBody>
            <a:bodyPr wrap="square" rtlCol="0">
              <a:spAutoFit/>
            </a:bodyPr>
            <a:lstStyle/>
            <a:p>
              <a:pPr lvl="0" algn="ctr">
                <a:lnSpc>
                  <a:spcPct val="80000"/>
                </a:lnSpc>
                <a:defRPr/>
              </a:pPr>
              <a:r>
                <a:rPr lang="es-ES" sz="2800" b="1" cap="all" spc="300" dirty="0">
                  <a:solidFill>
                    <a:schemeClr val="bg1"/>
                  </a:solidFill>
                  <a:latin typeface="Trebuchet MS" panose="020B0603020202020204" pitchFamily="34" charset="0"/>
                  <a:ea typeface="Verdana" panose="020B0604030504040204" pitchFamily="34" charset="0"/>
                </a:rPr>
                <a:t>Alcaloides de belladona  </a:t>
              </a:r>
              <a:r>
                <a:rPr lang="es-ES" sz="2800" b="1" spc="300" dirty="0">
                  <a:solidFill>
                    <a:schemeClr val="bg1"/>
                  </a:solidFill>
                  <a:latin typeface="Trebuchet MS" panose="020B0603020202020204" pitchFamily="34" charset="0"/>
                  <a:ea typeface="Verdana" panose="020B0604030504040204" pitchFamily="34" charset="0"/>
                </a:rPr>
                <a:t>0,1 mg</a:t>
              </a:r>
              <a:endParaRPr lang="es-ES" sz="2800" b="1" spc="300" dirty="0">
                <a:solidFill>
                  <a:schemeClr val="bg1"/>
                </a:solidFill>
                <a:latin typeface="Trebuchet MS" panose="020B0603020202020204" pitchFamily="34" charset="0"/>
                <a:ea typeface="Verdana" panose="020B0604030504040204" pitchFamily="34" charset="0"/>
                <a:sym typeface="Zilla Slab Light"/>
              </a:endParaRPr>
            </a:p>
          </p:txBody>
        </p:sp>
      </p:grpSp>
      <p:sp>
        <p:nvSpPr>
          <p:cNvPr id="54" name="Rectangle 53">
            <a:extLst>
              <a:ext uri="{FF2B5EF4-FFF2-40B4-BE49-F238E27FC236}">
                <a16:creationId xmlns:a16="http://schemas.microsoft.com/office/drawing/2014/main" id="{D213F6AB-2AAD-476D-BB4C-4B83B716CC6D}"/>
              </a:ext>
            </a:extLst>
          </p:cNvPr>
          <p:cNvSpPr/>
          <p:nvPr/>
        </p:nvSpPr>
        <p:spPr>
          <a:xfrm>
            <a:off x="4894345" y="2292684"/>
            <a:ext cx="6888352" cy="2062103"/>
          </a:xfrm>
          <a:prstGeom prst="rect">
            <a:avLst/>
          </a:prstGeom>
        </p:spPr>
        <p:txBody>
          <a:bodyPr wrap="square">
            <a:spAutoFit/>
          </a:bodyPr>
          <a:lstStyle/>
          <a:p>
            <a:pPr marL="285750" indent="-285750" fontAlgn="base">
              <a:buFont typeface="Arial" panose="020B0604020202020204" pitchFamily="34" charset="0"/>
              <a:buChar char="•"/>
            </a:pPr>
            <a:r>
              <a:rPr lang="es-ES" sz="1600" dirty="0">
                <a:latin typeface="Trebuchet MS" panose="020B0603020202020204" pitchFamily="34" charset="0"/>
                <a:ea typeface="Verdana" panose="020B0604030504040204" pitchFamily="34" charset="0"/>
              </a:rPr>
              <a:t>Los alcaloides de belladona ejercen un efecto antiemético beneficioso y contribuyen al alivio sintomático del ataque.</a:t>
            </a:r>
          </a:p>
          <a:p>
            <a:pPr marL="742950" lvl="1" indent="-285750" fontAlgn="base">
              <a:buFont typeface="Arial" panose="020B0604020202020204" pitchFamily="34" charset="0"/>
              <a:buChar char="•"/>
            </a:pPr>
            <a:r>
              <a:rPr lang="es-ES" sz="1600" dirty="0">
                <a:solidFill>
                  <a:srgbClr val="6C8C3B"/>
                </a:solidFill>
                <a:latin typeface="Trebuchet MS" panose="020B0603020202020204" pitchFamily="34" charset="0"/>
                <a:ea typeface="Verdana" panose="020B0604030504040204" pitchFamily="34" charset="0"/>
              </a:rPr>
              <a:t>La estasis gástrica, las náuseas y los vómitos son síntomas y signos presentes en la mayoría de los casos de migraña.</a:t>
            </a:r>
          </a:p>
          <a:p>
            <a:pPr fontAlgn="base"/>
            <a:endParaRPr lang="es-ES" sz="1600"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es-ES" sz="1600" dirty="0">
                <a:latin typeface="Trebuchet MS" panose="020B0603020202020204" pitchFamily="34" charset="0"/>
                <a:ea typeface="Verdana" panose="020B0604030504040204" pitchFamily="34" charset="0"/>
              </a:rPr>
              <a:t>Se absorbe bien en el tracto gastrointestinal</a:t>
            </a:r>
          </a:p>
          <a:p>
            <a:pPr fontAlgn="base"/>
            <a:endParaRPr lang="es-ES" sz="1600"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es-ES" sz="1600" dirty="0">
                <a:latin typeface="Trebuchet MS" panose="020B0603020202020204" pitchFamily="34" charset="0"/>
                <a:ea typeface="Verdana" panose="020B0604030504040204" pitchFamily="34" charset="0"/>
              </a:rPr>
              <a:t>Excreción urinaria y fecal</a:t>
            </a:r>
          </a:p>
        </p:txBody>
      </p:sp>
      <p:pic>
        <p:nvPicPr>
          <p:cNvPr id="38" name="Picture 37" descr="Shape, icon&#10;&#10;Description automatically generated">
            <a:extLst>
              <a:ext uri="{FF2B5EF4-FFF2-40B4-BE49-F238E27FC236}">
                <a16:creationId xmlns:a16="http://schemas.microsoft.com/office/drawing/2014/main" id="{52121ED6-447F-46BA-9015-71838DB380F1}"/>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975814" y="526498"/>
            <a:ext cx="1500562" cy="1483350"/>
          </a:xfrm>
          <a:prstGeom prst="rect">
            <a:avLst/>
          </a:prstGeom>
        </p:spPr>
      </p:pic>
    </p:spTree>
    <p:extLst>
      <p:ext uri="{BB962C8B-B14F-4D97-AF65-F5344CB8AC3E}">
        <p14:creationId xmlns:p14="http://schemas.microsoft.com/office/powerpoint/2010/main" val="3865617395"/>
      </p:ext>
    </p:extLst>
  </p:cSld>
  <p:clrMapOvr>
    <a:masterClrMapping/>
  </p:clrMapOvr>
  <p:transition spd="slow">
    <p:push dir="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grpId="0" nodeType="withEffect">
                                      <p:stCondLst>
                                        <p:cond delay="1750"/>
                                      </p:stCondLst>
                                      <p:childTnLst>
                                        <p:set>
                                          <p:cBhvr>
                                            <p:cTn id="18" dur="1" fill="hold">
                                              <p:stCondLst>
                                                <p:cond delay="0"/>
                                              </p:stCondLst>
                                            </p:cTn>
                                            <p:tgtEl>
                                              <p:spTgt spid="223"/>
                                            </p:tgtEl>
                                            <p:attrNameLst>
                                              <p:attrName>style.visibility</p:attrName>
                                            </p:attrNameLst>
                                          </p:cBhvr>
                                          <p:to>
                                            <p:strVal val="visible"/>
                                          </p:to>
                                        </p:set>
                                        <p:animEffect transition="in" filter="fade">
                                          <p:cBhvr>
                                            <p:cTn id="19" dur="500"/>
                                            <p:tgtEl>
                                              <p:spTgt spid="223"/>
                                            </p:tgtEl>
                                          </p:cBhvr>
                                        </p:animEffect>
                                      </p:childTnLst>
                                    </p:cTn>
                                  </p:par>
                                  <p:par>
                                    <p:cTn id="20" presetID="10" presetClass="entr" presetSubtype="0" fill="hold" nodeType="withEffect">
                                      <p:stCondLst>
                                        <p:cond delay="75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250"/>
                                            <p:tgtEl>
                                              <p:spTgt spid="103"/>
                                            </p:tgtEl>
                                          </p:cBhvr>
                                        </p:animEffect>
                                      </p:childTnLst>
                                    </p:cTn>
                                  </p:par>
                                  <p:par>
                                    <p:cTn id="23" presetID="35" presetClass="path" presetSubtype="0" decel="100000" fill="hold" nodeType="withEffect">
                                      <p:stCondLst>
                                        <p:cond delay="750"/>
                                      </p:stCondLst>
                                      <p:childTnLst>
                                        <p:animMotion origin="layout" path="M 1.04167E-6 2.22222E-6 L -0.17917 2.22222E-6 " pathEditMode="relative" rAng="0" ptsTypes="AA">
                                          <p:cBhvr>
                                            <p:cTn id="24" dur="750" spd="-100000" fill="hold"/>
                                            <p:tgtEl>
                                              <p:spTgt spid="103"/>
                                            </p:tgtEl>
                                            <p:attrNameLst>
                                              <p:attrName>ppt_x</p:attrName>
                                              <p:attrName>ppt_y</p:attrName>
                                            </p:attrNameLst>
                                          </p:cBhvr>
                                          <p:rCtr x="-8958" y="0"/>
                                        </p:animMotion>
                                      </p:childTnLst>
                                    </p:cTn>
                                  </p:par>
                                  <p:par>
                                    <p:cTn id="25" presetID="23" presetClass="entr" presetSubtype="16" fill="hold" nodeType="withEffect">
                                      <p:stCondLst>
                                        <p:cond delay="1250"/>
                                      </p:stCondLst>
                                      <p:childTnLst>
                                        <p:set>
                                          <p:cBhvr>
                                            <p:cTn id="26" dur="1" fill="hold">
                                              <p:stCondLst>
                                                <p:cond delay="0"/>
                                              </p:stCondLst>
                                            </p:cTn>
                                            <p:tgtEl>
                                              <p:spTgt spid="100"/>
                                            </p:tgtEl>
                                            <p:attrNameLst>
                                              <p:attrName>style.visibility</p:attrName>
                                            </p:attrNameLst>
                                          </p:cBhvr>
                                          <p:to>
                                            <p:strVal val="visible"/>
                                          </p:to>
                                        </p:set>
                                        <p:anim calcmode="lin" valueType="num">
                                          <p:cBhvr>
                                            <p:cTn id="27" dur="200" fill="hold"/>
                                            <p:tgtEl>
                                              <p:spTgt spid="100"/>
                                            </p:tgtEl>
                                            <p:attrNameLst>
                                              <p:attrName>ppt_w</p:attrName>
                                            </p:attrNameLst>
                                          </p:cBhvr>
                                          <p:tavLst>
                                            <p:tav tm="0">
                                              <p:val>
                                                <p:fltVal val="0"/>
                                              </p:val>
                                            </p:tav>
                                            <p:tav tm="100000">
                                              <p:val>
                                                <p:strVal val="#ppt_w"/>
                                              </p:val>
                                            </p:tav>
                                          </p:tavLst>
                                        </p:anim>
                                        <p:anim calcmode="lin" valueType="num">
                                          <p:cBhvr>
                                            <p:cTn id="28" dur="200" fill="hold"/>
                                            <p:tgtEl>
                                              <p:spTgt spid="100"/>
                                            </p:tgtEl>
                                            <p:attrNameLst>
                                              <p:attrName>ppt_h</p:attrName>
                                            </p:attrNameLst>
                                          </p:cBhvr>
                                          <p:tavLst>
                                            <p:tav tm="0">
                                              <p:val>
                                                <p:fltVal val="0"/>
                                              </p:val>
                                            </p:tav>
                                            <p:tav tm="100000">
                                              <p:val>
                                                <p:strVal val="#ppt_h"/>
                                              </p:val>
                                            </p:tav>
                                          </p:tavLst>
                                        </p:anim>
                                      </p:childTnLst>
                                    </p:cTn>
                                  </p:par>
                                  <p:par>
                                    <p:cTn id="29" presetID="6" presetClass="emph" presetSubtype="0" fill="hold" nodeType="withEffect" p14:presetBounceEnd="99000">
                                      <p:stCondLst>
                                        <p:cond delay="1250"/>
                                      </p:stCondLst>
                                      <p:childTnLst>
                                        <p:animScale p14:bounceEnd="99000">
                                          <p:cBhvr>
                                            <p:cTn id="30" dur="1000" fill="hold"/>
                                            <p:tgtEl>
                                              <p:spTgt spid="100"/>
                                            </p:tgtEl>
                                          </p:cBhvr>
                                          <p:by x="110000" y="110000"/>
                                        </p:animScale>
                                      </p:childTnLst>
                                    </p:cTn>
                                  </p:par>
                                  <p:par>
                                    <p:cTn id="31" presetID="6" presetClass="emph" presetSubtype="0" accel="50000" decel="50000" fill="hold" nodeType="withEffect">
                                      <p:stCondLst>
                                        <p:cond delay="1250"/>
                                      </p:stCondLst>
                                      <p:childTnLst>
                                        <p:animScale>
                                          <p:cBhvr>
                                            <p:cTn id="32" dur="250" fill="hold"/>
                                            <p:tgtEl>
                                              <p:spTgt spid="100"/>
                                            </p:tgtEl>
                                          </p:cBhvr>
                                          <p:by x="91000" y="91000"/>
                                        </p:animScale>
                                      </p:childTnLst>
                                    </p:cTn>
                                  </p:par>
                                  <p:par>
                                    <p:cTn id="33" presetID="10" presetClass="entr" presetSubtype="0" fill="hold" nodeType="withEffect">
                                      <p:stCondLst>
                                        <p:cond delay="150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250"/>
                                            <p:tgtEl>
                                              <p:spTgt spid="35"/>
                                            </p:tgtEl>
                                          </p:cBhvr>
                                        </p:animEffect>
                                      </p:childTnLst>
                                    </p:cTn>
                                  </p:par>
                                  <p:par>
                                    <p:cTn id="36" presetID="42" presetClass="path" presetSubtype="0" decel="100000" fill="hold" nodeType="withEffect">
                                      <p:stCondLst>
                                        <p:cond delay="1500"/>
                                      </p:stCondLst>
                                      <p:childTnLst>
                                        <p:animMotion origin="layout" path="M 3.54167E-6 -1.48148E-6 L -0.08516 0.05278 " pathEditMode="relative" rAng="0" ptsTypes="AA">
                                          <p:cBhvr>
                                            <p:cTn id="37" dur="1000" spd="-100000" fill="hold"/>
                                            <p:tgtEl>
                                              <p:spTgt spid="35"/>
                                            </p:tgtEl>
                                            <p:attrNameLst>
                                              <p:attrName>ppt_x</p:attrName>
                                              <p:attrName>ppt_y</p:attrName>
                                            </p:attrNameLst>
                                          </p:cBhvr>
                                          <p:rCtr x="-4258" y="2639"/>
                                        </p:animMotion>
                                      </p:childTnLst>
                                    </p:cTn>
                                  </p:par>
                                  <p:par>
                                    <p:cTn id="38" presetID="10" presetClass="entr" presetSubtype="0" fill="hold" nodeType="withEffect">
                                      <p:stCondLst>
                                        <p:cond delay="1350"/>
                                      </p:stCondLst>
                                      <p:childTnLst>
                                        <p:set>
                                          <p:cBhvr>
                                            <p:cTn id="39" dur="1" fill="hold">
                                              <p:stCondLst>
                                                <p:cond delay="0"/>
                                              </p:stCondLst>
                                            </p:cTn>
                                            <p:tgtEl>
                                              <p:spTgt spid="40"/>
                                            </p:tgtEl>
                                            <p:attrNameLst>
                                              <p:attrName>style.visibility</p:attrName>
                                            </p:attrNameLst>
                                          </p:cBhvr>
                                          <p:to>
                                            <p:strVal val="visible"/>
                                          </p:to>
                                        </p:set>
                                        <p:animEffect transition="in" filter="fade">
                                          <p:cBhvr>
                                            <p:cTn id="40" dur="500"/>
                                            <p:tgtEl>
                                              <p:spTgt spid="40"/>
                                            </p:tgtEl>
                                          </p:cBhvr>
                                        </p:animEffect>
                                      </p:childTnLst>
                                    </p:cTn>
                                  </p:par>
                                  <p:par>
                                    <p:cTn id="41" presetID="63" presetClass="path" presetSubtype="0" decel="100000" fill="hold" nodeType="withEffect">
                                      <p:stCondLst>
                                        <p:cond delay="1350"/>
                                      </p:stCondLst>
                                      <p:childTnLst>
                                        <p:animMotion origin="layout" path="M 6.25E-7 3.7037E-7 L 0.03906 3.7037E-7 " pathEditMode="relative" rAng="0" ptsTypes="AA">
                                          <p:cBhvr>
                                            <p:cTn id="42" dur="750" spd="-100000" fill="hold"/>
                                            <p:tgtEl>
                                              <p:spTgt spid="40"/>
                                            </p:tgtEl>
                                            <p:attrNameLst>
                                              <p:attrName>ppt_x</p:attrName>
                                              <p:attrName>ppt_y</p:attrName>
                                            </p:attrNameLst>
                                          </p:cBhvr>
                                          <p:rCtr x="1953" y="0"/>
                                        </p:animMotion>
                                      </p:childTnLst>
                                    </p:cTn>
                                  </p:par>
                                  <p:par>
                                    <p:cTn id="43" presetID="10" presetClass="entr" presetSubtype="0" fill="hold" grpId="0" nodeType="withEffect">
                                      <p:stCondLst>
                                        <p:cond delay="1000"/>
                                      </p:stCondLst>
                                      <p:childTnLst>
                                        <p:set>
                                          <p:cBhvr>
                                            <p:cTn id="44" dur="1" fill="hold">
                                              <p:stCondLst>
                                                <p:cond delay="0"/>
                                              </p:stCondLst>
                                            </p:cTn>
                                            <p:tgtEl>
                                              <p:spTgt spid="53"/>
                                            </p:tgtEl>
                                            <p:attrNameLst>
                                              <p:attrName>style.visibility</p:attrName>
                                            </p:attrNameLst>
                                          </p:cBhvr>
                                          <p:to>
                                            <p:strVal val="visible"/>
                                          </p:to>
                                        </p:set>
                                        <p:animEffect transition="in" filter="fade">
                                          <p:cBhvr>
                                            <p:cTn id="45"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223" grpId="0"/>
          <p:bldP spid="53"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grpId="0" nodeType="withEffect">
                                      <p:stCondLst>
                                        <p:cond delay="1750"/>
                                      </p:stCondLst>
                                      <p:childTnLst>
                                        <p:set>
                                          <p:cBhvr>
                                            <p:cTn id="18" dur="1" fill="hold">
                                              <p:stCondLst>
                                                <p:cond delay="0"/>
                                              </p:stCondLst>
                                            </p:cTn>
                                            <p:tgtEl>
                                              <p:spTgt spid="223"/>
                                            </p:tgtEl>
                                            <p:attrNameLst>
                                              <p:attrName>style.visibility</p:attrName>
                                            </p:attrNameLst>
                                          </p:cBhvr>
                                          <p:to>
                                            <p:strVal val="visible"/>
                                          </p:to>
                                        </p:set>
                                        <p:animEffect transition="in" filter="fade">
                                          <p:cBhvr>
                                            <p:cTn id="19" dur="500"/>
                                            <p:tgtEl>
                                              <p:spTgt spid="223"/>
                                            </p:tgtEl>
                                          </p:cBhvr>
                                        </p:animEffect>
                                      </p:childTnLst>
                                    </p:cTn>
                                  </p:par>
                                  <p:par>
                                    <p:cTn id="20" presetID="10" presetClass="entr" presetSubtype="0" fill="hold" nodeType="withEffect">
                                      <p:stCondLst>
                                        <p:cond delay="75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250"/>
                                            <p:tgtEl>
                                              <p:spTgt spid="103"/>
                                            </p:tgtEl>
                                          </p:cBhvr>
                                        </p:animEffect>
                                      </p:childTnLst>
                                    </p:cTn>
                                  </p:par>
                                  <p:par>
                                    <p:cTn id="23" presetID="35" presetClass="path" presetSubtype="0" decel="100000" fill="hold" nodeType="withEffect">
                                      <p:stCondLst>
                                        <p:cond delay="750"/>
                                      </p:stCondLst>
                                      <p:childTnLst>
                                        <p:animMotion origin="layout" path="M 1.04167E-6 2.22222E-6 L -0.17917 2.22222E-6 " pathEditMode="relative" rAng="0" ptsTypes="AA">
                                          <p:cBhvr>
                                            <p:cTn id="24" dur="750" spd="-100000" fill="hold"/>
                                            <p:tgtEl>
                                              <p:spTgt spid="103"/>
                                            </p:tgtEl>
                                            <p:attrNameLst>
                                              <p:attrName>ppt_x</p:attrName>
                                              <p:attrName>ppt_y</p:attrName>
                                            </p:attrNameLst>
                                          </p:cBhvr>
                                          <p:rCtr x="-8958" y="0"/>
                                        </p:animMotion>
                                      </p:childTnLst>
                                    </p:cTn>
                                  </p:par>
                                  <p:par>
                                    <p:cTn id="25" presetID="23" presetClass="entr" presetSubtype="16" fill="hold" nodeType="withEffect">
                                      <p:stCondLst>
                                        <p:cond delay="1250"/>
                                      </p:stCondLst>
                                      <p:childTnLst>
                                        <p:set>
                                          <p:cBhvr>
                                            <p:cTn id="26" dur="1" fill="hold">
                                              <p:stCondLst>
                                                <p:cond delay="0"/>
                                              </p:stCondLst>
                                            </p:cTn>
                                            <p:tgtEl>
                                              <p:spTgt spid="100"/>
                                            </p:tgtEl>
                                            <p:attrNameLst>
                                              <p:attrName>style.visibility</p:attrName>
                                            </p:attrNameLst>
                                          </p:cBhvr>
                                          <p:to>
                                            <p:strVal val="visible"/>
                                          </p:to>
                                        </p:set>
                                        <p:anim calcmode="lin" valueType="num">
                                          <p:cBhvr>
                                            <p:cTn id="27" dur="200" fill="hold"/>
                                            <p:tgtEl>
                                              <p:spTgt spid="100"/>
                                            </p:tgtEl>
                                            <p:attrNameLst>
                                              <p:attrName>ppt_w</p:attrName>
                                            </p:attrNameLst>
                                          </p:cBhvr>
                                          <p:tavLst>
                                            <p:tav tm="0">
                                              <p:val>
                                                <p:fltVal val="0"/>
                                              </p:val>
                                            </p:tav>
                                            <p:tav tm="100000">
                                              <p:val>
                                                <p:strVal val="#ppt_w"/>
                                              </p:val>
                                            </p:tav>
                                          </p:tavLst>
                                        </p:anim>
                                        <p:anim calcmode="lin" valueType="num">
                                          <p:cBhvr>
                                            <p:cTn id="28" dur="200" fill="hold"/>
                                            <p:tgtEl>
                                              <p:spTgt spid="100"/>
                                            </p:tgtEl>
                                            <p:attrNameLst>
                                              <p:attrName>ppt_h</p:attrName>
                                            </p:attrNameLst>
                                          </p:cBhvr>
                                          <p:tavLst>
                                            <p:tav tm="0">
                                              <p:val>
                                                <p:fltVal val="0"/>
                                              </p:val>
                                            </p:tav>
                                            <p:tav tm="100000">
                                              <p:val>
                                                <p:strVal val="#ppt_h"/>
                                              </p:val>
                                            </p:tav>
                                          </p:tavLst>
                                        </p:anim>
                                      </p:childTnLst>
                                    </p:cTn>
                                  </p:par>
                                  <p:par>
                                    <p:cTn id="29" presetID="6" presetClass="emph" presetSubtype="0" fill="hold" nodeType="withEffect">
                                      <p:stCondLst>
                                        <p:cond delay="1250"/>
                                      </p:stCondLst>
                                      <p:childTnLst>
                                        <p:animScale>
                                          <p:cBhvr>
                                            <p:cTn id="30" dur="1000" fill="hold"/>
                                            <p:tgtEl>
                                              <p:spTgt spid="100"/>
                                            </p:tgtEl>
                                          </p:cBhvr>
                                          <p:by x="110000" y="110000"/>
                                        </p:animScale>
                                      </p:childTnLst>
                                    </p:cTn>
                                  </p:par>
                                  <p:par>
                                    <p:cTn id="31" presetID="6" presetClass="emph" presetSubtype="0" accel="50000" decel="50000" fill="hold" nodeType="withEffect">
                                      <p:stCondLst>
                                        <p:cond delay="1250"/>
                                      </p:stCondLst>
                                      <p:childTnLst>
                                        <p:animScale>
                                          <p:cBhvr>
                                            <p:cTn id="32" dur="250" fill="hold"/>
                                            <p:tgtEl>
                                              <p:spTgt spid="100"/>
                                            </p:tgtEl>
                                          </p:cBhvr>
                                          <p:by x="91000" y="91000"/>
                                        </p:animScale>
                                      </p:childTnLst>
                                    </p:cTn>
                                  </p:par>
                                  <p:par>
                                    <p:cTn id="33" presetID="10" presetClass="entr" presetSubtype="0" fill="hold" nodeType="withEffect">
                                      <p:stCondLst>
                                        <p:cond delay="150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250"/>
                                            <p:tgtEl>
                                              <p:spTgt spid="35"/>
                                            </p:tgtEl>
                                          </p:cBhvr>
                                        </p:animEffect>
                                      </p:childTnLst>
                                    </p:cTn>
                                  </p:par>
                                  <p:par>
                                    <p:cTn id="36" presetID="42" presetClass="path" presetSubtype="0" decel="100000" fill="hold" nodeType="withEffect">
                                      <p:stCondLst>
                                        <p:cond delay="1500"/>
                                      </p:stCondLst>
                                      <p:childTnLst>
                                        <p:animMotion origin="layout" path="M 3.54167E-6 -1.48148E-6 L -0.08516 0.05278 " pathEditMode="relative" rAng="0" ptsTypes="AA">
                                          <p:cBhvr>
                                            <p:cTn id="37" dur="1000" spd="-100000" fill="hold"/>
                                            <p:tgtEl>
                                              <p:spTgt spid="35"/>
                                            </p:tgtEl>
                                            <p:attrNameLst>
                                              <p:attrName>ppt_x</p:attrName>
                                              <p:attrName>ppt_y</p:attrName>
                                            </p:attrNameLst>
                                          </p:cBhvr>
                                          <p:rCtr x="-4258" y="2639"/>
                                        </p:animMotion>
                                      </p:childTnLst>
                                    </p:cTn>
                                  </p:par>
                                  <p:par>
                                    <p:cTn id="38" presetID="10" presetClass="entr" presetSubtype="0" fill="hold" nodeType="withEffect">
                                      <p:stCondLst>
                                        <p:cond delay="1350"/>
                                      </p:stCondLst>
                                      <p:childTnLst>
                                        <p:set>
                                          <p:cBhvr>
                                            <p:cTn id="39" dur="1" fill="hold">
                                              <p:stCondLst>
                                                <p:cond delay="0"/>
                                              </p:stCondLst>
                                            </p:cTn>
                                            <p:tgtEl>
                                              <p:spTgt spid="40"/>
                                            </p:tgtEl>
                                            <p:attrNameLst>
                                              <p:attrName>style.visibility</p:attrName>
                                            </p:attrNameLst>
                                          </p:cBhvr>
                                          <p:to>
                                            <p:strVal val="visible"/>
                                          </p:to>
                                        </p:set>
                                        <p:animEffect transition="in" filter="fade">
                                          <p:cBhvr>
                                            <p:cTn id="40" dur="500"/>
                                            <p:tgtEl>
                                              <p:spTgt spid="40"/>
                                            </p:tgtEl>
                                          </p:cBhvr>
                                        </p:animEffect>
                                      </p:childTnLst>
                                    </p:cTn>
                                  </p:par>
                                  <p:par>
                                    <p:cTn id="41" presetID="63" presetClass="path" presetSubtype="0" decel="100000" fill="hold" nodeType="withEffect">
                                      <p:stCondLst>
                                        <p:cond delay="1350"/>
                                      </p:stCondLst>
                                      <p:childTnLst>
                                        <p:animMotion origin="layout" path="M 6.25E-7 3.7037E-7 L 0.03906 3.7037E-7 " pathEditMode="relative" rAng="0" ptsTypes="AA">
                                          <p:cBhvr>
                                            <p:cTn id="42" dur="750" spd="-100000" fill="hold"/>
                                            <p:tgtEl>
                                              <p:spTgt spid="40"/>
                                            </p:tgtEl>
                                            <p:attrNameLst>
                                              <p:attrName>ppt_x</p:attrName>
                                              <p:attrName>ppt_y</p:attrName>
                                            </p:attrNameLst>
                                          </p:cBhvr>
                                          <p:rCtr x="1953" y="0"/>
                                        </p:animMotion>
                                      </p:childTnLst>
                                    </p:cTn>
                                  </p:par>
                                  <p:par>
                                    <p:cTn id="43" presetID="10" presetClass="entr" presetSubtype="0" fill="hold" grpId="0" nodeType="withEffect">
                                      <p:stCondLst>
                                        <p:cond delay="1000"/>
                                      </p:stCondLst>
                                      <p:childTnLst>
                                        <p:set>
                                          <p:cBhvr>
                                            <p:cTn id="44" dur="1" fill="hold">
                                              <p:stCondLst>
                                                <p:cond delay="0"/>
                                              </p:stCondLst>
                                            </p:cTn>
                                            <p:tgtEl>
                                              <p:spTgt spid="53"/>
                                            </p:tgtEl>
                                            <p:attrNameLst>
                                              <p:attrName>style.visibility</p:attrName>
                                            </p:attrNameLst>
                                          </p:cBhvr>
                                          <p:to>
                                            <p:strVal val="visible"/>
                                          </p:to>
                                        </p:set>
                                        <p:animEffect transition="in" filter="fade">
                                          <p:cBhvr>
                                            <p:cTn id="45"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223" grpId="0"/>
          <p:bldP spid="53" grpId="0" animBg="1"/>
        </p:bldLst>
      </p:timing>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B194DFA-D81F-45C6-98D0-615747557E57}"/>
              </a:ext>
            </a:extLst>
          </p:cNvPr>
          <p:cNvSpPr/>
          <p:nvPr/>
        </p:nvSpPr>
        <p:spPr>
          <a:xfrm>
            <a:off x="0" y="3806240"/>
            <a:ext cx="12192000" cy="30517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0" name="Picture 169" descr="Shape, circle&#10;&#10;Description automatically generated">
            <a:extLst>
              <a:ext uri="{FF2B5EF4-FFF2-40B4-BE49-F238E27FC236}">
                <a16:creationId xmlns:a16="http://schemas.microsoft.com/office/drawing/2014/main" id="{EEB2B992-2400-4EEE-A3C6-C52D633A15B2}"/>
              </a:ext>
            </a:extLst>
          </p:cNvPr>
          <p:cNvPicPr>
            <a:picLocks noChangeAspect="1"/>
          </p:cNvPicPr>
          <p:nvPr/>
        </p:nvPicPr>
        <p:blipFill rotWithShape="1">
          <a:blip r:embed="rId2">
            <a:extLst>
              <a:ext uri="{28A0092B-C50C-407E-A947-70E740481C1C}">
                <a14:useLocalDpi xmlns:a14="http://schemas.microsoft.com/office/drawing/2010/main" val="0"/>
              </a:ext>
            </a:extLst>
          </a:blip>
          <a:srcRect r="64988"/>
          <a:stretch/>
        </p:blipFill>
        <p:spPr>
          <a:xfrm>
            <a:off x="0" y="0"/>
            <a:ext cx="4268596" cy="6858000"/>
          </a:xfrm>
          <a:prstGeom prst="rect">
            <a:avLst/>
          </a:prstGeom>
        </p:spPr>
      </p:pic>
      <p:grpSp>
        <p:nvGrpSpPr>
          <p:cNvPr id="182" name="Group 181">
            <a:extLst>
              <a:ext uri="{FF2B5EF4-FFF2-40B4-BE49-F238E27FC236}">
                <a16:creationId xmlns:a16="http://schemas.microsoft.com/office/drawing/2014/main" id="{77396E5F-348C-4338-B293-968BEA981FDB}"/>
              </a:ext>
            </a:extLst>
          </p:cNvPr>
          <p:cNvGrpSpPr/>
          <p:nvPr/>
        </p:nvGrpSpPr>
        <p:grpSpPr>
          <a:xfrm>
            <a:off x="252552" y="6342796"/>
            <a:ext cx="11686895" cy="398170"/>
            <a:chOff x="252552" y="6226684"/>
            <a:chExt cx="11686895" cy="398170"/>
          </a:xfrm>
        </p:grpSpPr>
        <p:grpSp>
          <p:nvGrpSpPr>
            <p:cNvPr id="172" name="Group 171">
              <a:extLst>
                <a:ext uri="{FF2B5EF4-FFF2-40B4-BE49-F238E27FC236}">
                  <a16:creationId xmlns:a16="http://schemas.microsoft.com/office/drawing/2014/main" id="{043DA00A-4155-4488-8261-DB136097B10C}"/>
                </a:ext>
              </a:extLst>
            </p:cNvPr>
            <p:cNvGrpSpPr/>
            <p:nvPr/>
          </p:nvGrpSpPr>
          <p:grpSpPr>
            <a:xfrm>
              <a:off x="252552" y="6293241"/>
              <a:ext cx="1266906" cy="265056"/>
              <a:chOff x="5600700" y="-854146"/>
              <a:chExt cx="989647" cy="207049"/>
            </a:xfrm>
          </p:grpSpPr>
          <p:sp>
            <p:nvSpPr>
              <p:cNvPr id="173" name="Freeform: Shape 172">
                <a:extLst>
                  <a:ext uri="{FF2B5EF4-FFF2-40B4-BE49-F238E27FC236}">
                    <a16:creationId xmlns:a16="http://schemas.microsoft.com/office/drawing/2014/main" id="{5529D942-D3DC-4AA5-A11E-2EAD767EE35D}"/>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0755DD92-DC0C-4053-A436-745AF0A70850}"/>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4518EE33-E21D-4E76-B041-14F423E26EAD}"/>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4C711A2-EC08-414B-B62D-F848E4E33BC2}"/>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7152FC00-E28E-4906-9909-07FB83382FA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5C0BFA11-C3DB-4246-9AA5-3EC58FE54C46}"/>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D22D6EE2-4EA8-4E7A-B8FF-7F9FE44552D8}"/>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BDBBAA55-241D-4C91-804F-8945A70DB132}"/>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BE44E2D9-A68F-4AE8-873F-8B818D81D3B6}"/>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2541" y="6226684"/>
              <a:ext cx="1266906" cy="398170"/>
            </a:xfrm>
            <a:prstGeom prst="rect">
              <a:avLst/>
            </a:prstGeom>
          </p:spPr>
        </p:pic>
      </p:grpSp>
      <p:sp>
        <p:nvSpPr>
          <p:cNvPr id="150" name="TextBox 149">
            <a:extLst>
              <a:ext uri="{FF2B5EF4-FFF2-40B4-BE49-F238E27FC236}">
                <a16:creationId xmlns:a16="http://schemas.microsoft.com/office/drawing/2014/main" id="{97AE9CDE-843A-4016-BD11-6A012486773C}"/>
              </a:ext>
            </a:extLst>
          </p:cNvPr>
          <p:cNvSpPr txBox="1"/>
          <p:nvPr/>
        </p:nvSpPr>
        <p:spPr>
          <a:xfrm>
            <a:off x="468407" y="580642"/>
            <a:ext cx="3389218" cy="510909"/>
          </a:xfrm>
          <a:prstGeom prst="rect">
            <a:avLst/>
          </a:prstGeom>
          <a:noFill/>
        </p:spPr>
        <p:txBody>
          <a:bodyPr wrap="square" rtlCol="0">
            <a:spAutoFit/>
          </a:bodyPr>
          <a:lstStyle/>
          <a:p>
            <a:pPr lvl="0">
              <a:lnSpc>
                <a:spcPct val="85000"/>
              </a:lnSpc>
              <a:defRPr/>
            </a:pPr>
            <a:r>
              <a:rPr lang="pt-PT" sz="3200" b="1" spc="300" dirty="0">
                <a:solidFill>
                  <a:schemeClr val="bg1"/>
                </a:solidFill>
                <a:latin typeface="Trebuchet MS" panose="020B0603020202020204" pitchFamily="34" charset="0"/>
                <a:ea typeface="Verdana" panose="020B0604030504040204" pitchFamily="34" charset="0"/>
                <a:cs typeface="Zilla Slab Light"/>
                <a:sym typeface="Zilla Slab Light"/>
              </a:rPr>
              <a:t>MIGRÉTIL</a:t>
            </a:r>
            <a:endParaRPr kumimoji="0" lang="en-US" sz="3200" b="1" i="0" u="none" strike="noStrike" kern="1200" cap="none" spc="300" normalizeH="0" baseline="30000" noProof="0" dirty="0">
              <a:ln>
                <a:noFill/>
              </a:ln>
              <a:solidFill>
                <a:schemeClr val="bg1"/>
              </a:solidFill>
              <a:uLnTx/>
              <a:uFillTx/>
              <a:latin typeface="Trebuchet MS" panose="020B0603020202020204" pitchFamily="34" charset="0"/>
              <a:ea typeface="Verdana" panose="020B0604030504040204" pitchFamily="34" charset="0"/>
              <a:cs typeface="Zilla Slab Light"/>
              <a:sym typeface="Zilla Slab Light"/>
            </a:endParaRPr>
          </a:p>
        </p:txBody>
      </p:sp>
      <p:grpSp>
        <p:nvGrpSpPr>
          <p:cNvPr id="37" name="Group 36">
            <a:extLst>
              <a:ext uri="{FF2B5EF4-FFF2-40B4-BE49-F238E27FC236}">
                <a16:creationId xmlns:a16="http://schemas.microsoft.com/office/drawing/2014/main" id="{0BE31391-F1DC-411A-87D1-5112B9F266CA}"/>
              </a:ext>
            </a:extLst>
          </p:cNvPr>
          <p:cNvGrpSpPr/>
          <p:nvPr/>
        </p:nvGrpSpPr>
        <p:grpSpPr>
          <a:xfrm>
            <a:off x="252552" y="6409353"/>
            <a:ext cx="1266906" cy="265056"/>
            <a:chOff x="5600700" y="-854146"/>
            <a:chExt cx="989647" cy="207049"/>
          </a:xfrm>
          <a:solidFill>
            <a:schemeClr val="bg1"/>
          </a:solidFill>
        </p:grpSpPr>
        <p:sp>
          <p:nvSpPr>
            <p:cNvPr id="41" name="Freeform: Shape 40">
              <a:extLst>
                <a:ext uri="{FF2B5EF4-FFF2-40B4-BE49-F238E27FC236}">
                  <a16:creationId xmlns:a16="http://schemas.microsoft.com/office/drawing/2014/main" id="{13F13A9E-8B05-4590-A769-7FB4E7D04AA7}"/>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C0B628-3DD6-4944-9D84-B56861B58EF6}"/>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017A177-EC27-403B-8372-86A3DBE3082E}"/>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E32EB9E-2686-4B42-9E63-9A43DDA63D58}"/>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2470303-A478-48C3-AD44-38AA76CC623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A6D117B-673B-41A6-9291-A0BBD1557E39}"/>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04C809F-31FC-48B3-A817-B6F57FFB20E1}"/>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5F7B8F6-61CC-412C-AEFF-BE182B64F64B}"/>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AC0821E-80AD-4AC4-8876-F78F55B9F41B}"/>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grpFill/>
            <a:ln w="9525" cap="flat">
              <a:noFill/>
              <a:prstDash val="solid"/>
              <a:miter/>
            </a:ln>
          </p:spPr>
          <p:txBody>
            <a:bodyPr rtlCol="0" anchor="ctr"/>
            <a:lstStyle/>
            <a:p>
              <a:endParaRPr lang="en-US"/>
            </a:p>
          </p:txBody>
        </p:sp>
      </p:grpSp>
      <p:sp>
        <p:nvSpPr>
          <p:cNvPr id="223" name="TextBox 222">
            <a:extLst>
              <a:ext uri="{FF2B5EF4-FFF2-40B4-BE49-F238E27FC236}">
                <a16:creationId xmlns:a16="http://schemas.microsoft.com/office/drawing/2014/main" id="{E70EEC19-B0E3-4765-98C9-E87C6C1182C7}"/>
              </a:ext>
            </a:extLst>
          </p:cNvPr>
          <p:cNvSpPr txBox="1"/>
          <p:nvPr/>
        </p:nvSpPr>
        <p:spPr>
          <a:xfrm>
            <a:off x="4683761" y="6577154"/>
            <a:ext cx="5591683" cy="210058"/>
          </a:xfrm>
          <a:prstGeom prst="rect">
            <a:avLst/>
          </a:prstGeom>
          <a:noFill/>
        </p:spPr>
        <p:txBody>
          <a:bodyPr wrap="square" rtlCol="0">
            <a:spAutoFit/>
          </a:bodyPr>
          <a:lstStyle/>
          <a:p>
            <a:pPr lvl="0">
              <a:lnSpc>
                <a:spcPct val="85000"/>
              </a:lnSpc>
              <a:defRPr/>
            </a:pPr>
            <a:r>
              <a:rPr lang="en-US" sz="900" dirty="0">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RCP DE MIGRÉTIL</a:t>
            </a:r>
          </a:p>
        </p:txBody>
      </p:sp>
      <p:pic>
        <p:nvPicPr>
          <p:cNvPr id="100" name="Graphic 99">
            <a:extLst>
              <a:ext uri="{FF2B5EF4-FFF2-40B4-BE49-F238E27FC236}">
                <a16:creationId xmlns:a16="http://schemas.microsoft.com/office/drawing/2014/main" id="{95448BFF-4BE7-45ED-8CE1-B8AE69A5826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89150" y="1317419"/>
            <a:ext cx="6679047" cy="3722176"/>
          </a:xfrm>
          <a:prstGeom prst="rect">
            <a:avLst/>
          </a:prstGeom>
        </p:spPr>
      </p:pic>
      <p:pic>
        <p:nvPicPr>
          <p:cNvPr id="103" name="Picture 102" descr="A picture containing text&#10;&#10;Description automatically generated">
            <a:extLst>
              <a:ext uri="{FF2B5EF4-FFF2-40B4-BE49-F238E27FC236}">
                <a16:creationId xmlns:a16="http://schemas.microsoft.com/office/drawing/2014/main" id="{A978B731-12D7-4E74-8822-D38F2B646F6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3803" y="3709375"/>
            <a:ext cx="4099534" cy="1677833"/>
          </a:xfrm>
          <a:prstGeom prst="rect">
            <a:avLst/>
          </a:prstGeom>
        </p:spPr>
      </p:pic>
      <p:pic>
        <p:nvPicPr>
          <p:cNvPr id="35" name="Picture 34">
            <a:extLst>
              <a:ext uri="{FF2B5EF4-FFF2-40B4-BE49-F238E27FC236}">
                <a16:creationId xmlns:a16="http://schemas.microsoft.com/office/drawing/2014/main" id="{05D5A597-0E1E-4AB3-BEDC-DA3BA8882368}"/>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rot="2124397">
            <a:off x="3051916" y="5959422"/>
            <a:ext cx="780987" cy="607162"/>
          </a:xfrm>
          <a:prstGeom prst="rect">
            <a:avLst/>
          </a:prstGeom>
          <a:effectLst>
            <a:outerShdw blurRad="317500" sx="102000" sy="102000" algn="ctr" rotWithShape="0">
              <a:prstClr val="black">
                <a:alpha val="15000"/>
              </a:prstClr>
            </a:outerShdw>
          </a:effectLst>
        </p:spPr>
      </p:pic>
      <p:sp>
        <p:nvSpPr>
          <p:cNvPr id="38" name="TextBox 37">
            <a:extLst>
              <a:ext uri="{FF2B5EF4-FFF2-40B4-BE49-F238E27FC236}">
                <a16:creationId xmlns:a16="http://schemas.microsoft.com/office/drawing/2014/main" id="{2BE69811-96B7-4004-BBC9-70D97981DB29}"/>
              </a:ext>
            </a:extLst>
          </p:cNvPr>
          <p:cNvSpPr txBox="1"/>
          <p:nvPr/>
        </p:nvSpPr>
        <p:spPr>
          <a:xfrm>
            <a:off x="6561052" y="240652"/>
            <a:ext cx="3714392" cy="929485"/>
          </a:xfrm>
          <a:prstGeom prst="rect">
            <a:avLst/>
          </a:prstGeom>
          <a:noFill/>
        </p:spPr>
        <p:txBody>
          <a:bodyPr wrap="square" rtlCol="0">
            <a:spAutoFit/>
          </a:bodyPr>
          <a:lstStyle/>
          <a:p>
            <a:pPr lvl="0">
              <a:lnSpc>
                <a:spcPct val="85000"/>
              </a:lnSpc>
              <a:defRPr/>
            </a:pPr>
            <a:r>
              <a:rPr lang="pt-PT" sz="3200" b="1" spc="300" dirty="0">
                <a:solidFill>
                  <a:srgbClr val="004882"/>
                </a:solidFill>
                <a:latin typeface="Trebuchet MS" panose="020B0603020202020204" pitchFamily="34" charset="0"/>
                <a:ea typeface="Verdana" panose="020B0604030504040204" pitchFamily="34" charset="0"/>
                <a:cs typeface="Zilla Slab Light"/>
                <a:sym typeface="Zilla Slab Light"/>
              </a:rPr>
              <a:t>INDICACIONES TERAPÊUTICAS</a:t>
            </a:r>
            <a:endParaRPr kumimoji="0" lang="en-US" sz="3200" b="1" i="0" u="none" strike="noStrike" kern="1200" cap="none" spc="300" normalizeH="0" baseline="30000" noProof="0" dirty="0">
              <a:ln>
                <a:noFill/>
              </a:ln>
              <a:solidFill>
                <a:srgbClr val="004882"/>
              </a:solidFill>
              <a:uLnTx/>
              <a:uFillTx/>
              <a:latin typeface="Trebuchet MS" panose="020B0603020202020204" pitchFamily="34" charset="0"/>
              <a:ea typeface="Verdana" panose="020B0604030504040204" pitchFamily="34" charset="0"/>
              <a:cs typeface="Zilla Slab Light"/>
              <a:sym typeface="Zilla Slab Light"/>
            </a:endParaRPr>
          </a:p>
        </p:txBody>
      </p:sp>
      <p:sp>
        <p:nvSpPr>
          <p:cNvPr id="33" name="TextBox 32">
            <a:extLst>
              <a:ext uri="{FF2B5EF4-FFF2-40B4-BE49-F238E27FC236}">
                <a16:creationId xmlns:a16="http://schemas.microsoft.com/office/drawing/2014/main" id="{BBC2D81A-81FF-4C7D-A722-AF26095AB827}"/>
              </a:ext>
            </a:extLst>
          </p:cNvPr>
          <p:cNvSpPr txBox="1"/>
          <p:nvPr/>
        </p:nvSpPr>
        <p:spPr>
          <a:xfrm>
            <a:off x="6096000" y="2332121"/>
            <a:ext cx="6096000" cy="1600438"/>
          </a:xfrm>
          <a:prstGeom prst="rect">
            <a:avLst/>
          </a:prstGeom>
          <a:noFill/>
        </p:spPr>
        <p:txBody>
          <a:bodyPr wrap="square">
            <a:spAutoFit/>
          </a:bodyPr>
          <a:lstStyle/>
          <a:p>
            <a:pPr marL="0" indent="0">
              <a:buNone/>
            </a:pPr>
            <a:r>
              <a:rPr lang="es-ES" sz="2800" dirty="0">
                <a:solidFill>
                  <a:schemeClr val="lt1"/>
                </a:solidFill>
                <a:latin typeface="Trebuchet MS" panose="020B0603020202020204" pitchFamily="34" charset="0"/>
                <a:ea typeface="Verdana" panose="020B0604030504040204" pitchFamily="34" charset="0"/>
              </a:rPr>
              <a:t>Tratamiento de los ataques de migraña. </a:t>
            </a:r>
          </a:p>
          <a:p>
            <a:pPr marL="0" indent="0">
              <a:buNone/>
            </a:pPr>
            <a:endParaRPr lang="es-ES" sz="2800" dirty="0">
              <a:solidFill>
                <a:schemeClr val="lt1"/>
              </a:solidFill>
              <a:latin typeface="Trebuchet MS" panose="020B0603020202020204" pitchFamily="34" charset="0"/>
              <a:ea typeface="Verdana" panose="020B0604030504040204" pitchFamily="34" charset="0"/>
            </a:endParaRPr>
          </a:p>
          <a:p>
            <a:pPr marL="0" indent="0">
              <a:buNone/>
            </a:pPr>
            <a:r>
              <a:rPr lang="es-ES" sz="1400" dirty="0">
                <a:solidFill>
                  <a:schemeClr val="lt1"/>
                </a:solidFill>
                <a:latin typeface="Trebuchet MS" panose="020B0603020202020204" pitchFamily="34" charset="0"/>
                <a:ea typeface="Verdana" panose="020B0604030504040204" pitchFamily="34" charset="0"/>
              </a:rPr>
              <a:t>No está indicado como tratamiento preventivo.</a:t>
            </a:r>
          </a:p>
        </p:txBody>
      </p:sp>
    </p:spTree>
    <p:extLst>
      <p:ext uri="{BB962C8B-B14F-4D97-AF65-F5344CB8AC3E}">
        <p14:creationId xmlns:p14="http://schemas.microsoft.com/office/powerpoint/2010/main" val="3167876853"/>
      </p:ext>
    </p:extLst>
  </p:cSld>
  <p:clrMapOvr>
    <a:masterClrMapping/>
  </p:clrMapOvr>
  <p:transition spd="slow">
    <p:push dir="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grpId="0" nodeType="withEffect">
                                      <p:stCondLst>
                                        <p:cond delay="1750"/>
                                      </p:stCondLst>
                                      <p:childTnLst>
                                        <p:set>
                                          <p:cBhvr>
                                            <p:cTn id="18" dur="1" fill="hold">
                                              <p:stCondLst>
                                                <p:cond delay="0"/>
                                              </p:stCondLst>
                                            </p:cTn>
                                            <p:tgtEl>
                                              <p:spTgt spid="223"/>
                                            </p:tgtEl>
                                            <p:attrNameLst>
                                              <p:attrName>style.visibility</p:attrName>
                                            </p:attrNameLst>
                                          </p:cBhvr>
                                          <p:to>
                                            <p:strVal val="visible"/>
                                          </p:to>
                                        </p:set>
                                        <p:animEffect transition="in" filter="fade">
                                          <p:cBhvr>
                                            <p:cTn id="19" dur="500"/>
                                            <p:tgtEl>
                                              <p:spTgt spid="223"/>
                                            </p:tgtEl>
                                          </p:cBhvr>
                                        </p:animEffect>
                                      </p:childTnLst>
                                    </p:cTn>
                                  </p:par>
                                  <p:par>
                                    <p:cTn id="20" presetID="10" presetClass="entr" presetSubtype="0" fill="hold" nodeType="withEffect">
                                      <p:stCondLst>
                                        <p:cond delay="75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250"/>
                                            <p:tgtEl>
                                              <p:spTgt spid="103"/>
                                            </p:tgtEl>
                                          </p:cBhvr>
                                        </p:animEffect>
                                      </p:childTnLst>
                                    </p:cTn>
                                  </p:par>
                                  <p:par>
                                    <p:cTn id="23" presetID="35" presetClass="path" presetSubtype="0" decel="100000" fill="hold" nodeType="withEffect">
                                      <p:stCondLst>
                                        <p:cond delay="750"/>
                                      </p:stCondLst>
                                      <p:childTnLst>
                                        <p:animMotion origin="layout" path="M 1.04167E-6 2.22222E-6 L -0.17917 2.22222E-6 " pathEditMode="relative" rAng="0" ptsTypes="AA">
                                          <p:cBhvr>
                                            <p:cTn id="24" dur="750" spd="-100000" fill="hold"/>
                                            <p:tgtEl>
                                              <p:spTgt spid="103"/>
                                            </p:tgtEl>
                                            <p:attrNameLst>
                                              <p:attrName>ppt_x</p:attrName>
                                              <p:attrName>ppt_y</p:attrName>
                                            </p:attrNameLst>
                                          </p:cBhvr>
                                          <p:rCtr x="-8958" y="0"/>
                                        </p:animMotion>
                                      </p:childTnLst>
                                    </p:cTn>
                                  </p:par>
                                  <p:par>
                                    <p:cTn id="25" presetID="23" presetClass="entr" presetSubtype="16" fill="hold" nodeType="withEffect">
                                      <p:stCondLst>
                                        <p:cond delay="1250"/>
                                      </p:stCondLst>
                                      <p:childTnLst>
                                        <p:set>
                                          <p:cBhvr>
                                            <p:cTn id="26" dur="1" fill="hold">
                                              <p:stCondLst>
                                                <p:cond delay="0"/>
                                              </p:stCondLst>
                                            </p:cTn>
                                            <p:tgtEl>
                                              <p:spTgt spid="100"/>
                                            </p:tgtEl>
                                            <p:attrNameLst>
                                              <p:attrName>style.visibility</p:attrName>
                                            </p:attrNameLst>
                                          </p:cBhvr>
                                          <p:to>
                                            <p:strVal val="visible"/>
                                          </p:to>
                                        </p:set>
                                        <p:anim calcmode="lin" valueType="num">
                                          <p:cBhvr>
                                            <p:cTn id="27" dur="200" fill="hold"/>
                                            <p:tgtEl>
                                              <p:spTgt spid="100"/>
                                            </p:tgtEl>
                                            <p:attrNameLst>
                                              <p:attrName>ppt_w</p:attrName>
                                            </p:attrNameLst>
                                          </p:cBhvr>
                                          <p:tavLst>
                                            <p:tav tm="0">
                                              <p:val>
                                                <p:fltVal val="0"/>
                                              </p:val>
                                            </p:tav>
                                            <p:tav tm="100000">
                                              <p:val>
                                                <p:strVal val="#ppt_w"/>
                                              </p:val>
                                            </p:tav>
                                          </p:tavLst>
                                        </p:anim>
                                        <p:anim calcmode="lin" valueType="num">
                                          <p:cBhvr>
                                            <p:cTn id="28" dur="200" fill="hold"/>
                                            <p:tgtEl>
                                              <p:spTgt spid="100"/>
                                            </p:tgtEl>
                                            <p:attrNameLst>
                                              <p:attrName>ppt_h</p:attrName>
                                            </p:attrNameLst>
                                          </p:cBhvr>
                                          <p:tavLst>
                                            <p:tav tm="0">
                                              <p:val>
                                                <p:fltVal val="0"/>
                                              </p:val>
                                            </p:tav>
                                            <p:tav tm="100000">
                                              <p:val>
                                                <p:strVal val="#ppt_h"/>
                                              </p:val>
                                            </p:tav>
                                          </p:tavLst>
                                        </p:anim>
                                      </p:childTnLst>
                                    </p:cTn>
                                  </p:par>
                                  <p:par>
                                    <p:cTn id="29" presetID="6" presetClass="emph" presetSubtype="0" fill="hold" nodeType="withEffect" p14:presetBounceEnd="99000">
                                      <p:stCondLst>
                                        <p:cond delay="1250"/>
                                      </p:stCondLst>
                                      <p:childTnLst>
                                        <p:animScale p14:bounceEnd="99000">
                                          <p:cBhvr>
                                            <p:cTn id="30" dur="1000" fill="hold"/>
                                            <p:tgtEl>
                                              <p:spTgt spid="100"/>
                                            </p:tgtEl>
                                          </p:cBhvr>
                                          <p:by x="110000" y="110000"/>
                                        </p:animScale>
                                      </p:childTnLst>
                                    </p:cTn>
                                  </p:par>
                                  <p:par>
                                    <p:cTn id="31" presetID="6" presetClass="emph" presetSubtype="0" accel="50000" decel="50000" fill="hold" nodeType="withEffect">
                                      <p:stCondLst>
                                        <p:cond delay="1250"/>
                                      </p:stCondLst>
                                      <p:childTnLst>
                                        <p:animScale>
                                          <p:cBhvr>
                                            <p:cTn id="32" dur="250" fill="hold"/>
                                            <p:tgtEl>
                                              <p:spTgt spid="100"/>
                                            </p:tgtEl>
                                          </p:cBhvr>
                                          <p:by x="91000" y="91000"/>
                                        </p:animScale>
                                      </p:childTnLst>
                                    </p:cTn>
                                  </p:par>
                                  <p:par>
                                    <p:cTn id="33" presetID="10" presetClass="entr" presetSubtype="0" fill="hold" nodeType="withEffect">
                                      <p:stCondLst>
                                        <p:cond delay="150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250"/>
                                            <p:tgtEl>
                                              <p:spTgt spid="35"/>
                                            </p:tgtEl>
                                          </p:cBhvr>
                                        </p:animEffect>
                                      </p:childTnLst>
                                    </p:cTn>
                                  </p:par>
                                  <p:par>
                                    <p:cTn id="36" presetID="42" presetClass="path" presetSubtype="0" decel="100000" fill="hold" nodeType="withEffect">
                                      <p:stCondLst>
                                        <p:cond delay="1500"/>
                                      </p:stCondLst>
                                      <p:childTnLst>
                                        <p:animMotion origin="layout" path="M 3.54167E-6 -1.48148E-6 L -0.08516 0.05278 " pathEditMode="relative" rAng="0" ptsTypes="AA">
                                          <p:cBhvr>
                                            <p:cTn id="37" dur="1000" spd="-100000" fill="hold"/>
                                            <p:tgtEl>
                                              <p:spTgt spid="35"/>
                                            </p:tgtEl>
                                            <p:attrNameLst>
                                              <p:attrName>ppt_x</p:attrName>
                                              <p:attrName>ppt_y</p:attrName>
                                            </p:attrNameLst>
                                          </p:cBhvr>
                                          <p:rCtr x="-4258" y="2639"/>
                                        </p:animMotion>
                                      </p:childTnLst>
                                    </p:cTn>
                                  </p:par>
                                  <p:par>
                                    <p:cTn id="38" presetID="10" presetClass="entr" presetSubtype="0" fill="hold" grpId="0" nodeType="withEffect">
                                      <p:stCondLst>
                                        <p:cond delay="500"/>
                                      </p:stCondLst>
                                      <p:childTnLst>
                                        <p:set>
                                          <p:cBhvr>
                                            <p:cTn id="39" dur="1" fill="hold">
                                              <p:stCondLst>
                                                <p:cond delay="0"/>
                                              </p:stCondLst>
                                            </p:cTn>
                                            <p:tgtEl>
                                              <p:spTgt spid="38"/>
                                            </p:tgtEl>
                                            <p:attrNameLst>
                                              <p:attrName>style.visibility</p:attrName>
                                            </p:attrNameLst>
                                          </p:cBhvr>
                                          <p:to>
                                            <p:strVal val="visible"/>
                                          </p:to>
                                        </p:set>
                                        <p:animEffect transition="in" filter="fade">
                                          <p:cBhvr>
                                            <p:cTn id="40" dur="500"/>
                                            <p:tgtEl>
                                              <p:spTgt spid="38"/>
                                            </p:tgtEl>
                                          </p:cBhvr>
                                        </p:animEffect>
                                      </p:childTnLst>
                                    </p:cTn>
                                  </p:par>
                                  <p:par>
                                    <p:cTn id="41" presetID="63" presetClass="path" presetSubtype="0" decel="100000" fill="hold" grpId="1" nodeType="withEffect">
                                      <p:stCondLst>
                                        <p:cond delay="500"/>
                                      </p:stCondLst>
                                      <p:childTnLst>
                                        <p:animMotion origin="layout" path="M -3.75E-6 -7.40741E-7 L 0.03907 -7.40741E-7 " pathEditMode="relative" rAng="0" ptsTypes="AA">
                                          <p:cBhvr>
                                            <p:cTn id="42" dur="750" spd="-100000" fill="hold"/>
                                            <p:tgtEl>
                                              <p:spTgt spid="38"/>
                                            </p:tgtEl>
                                            <p:attrNameLst>
                                              <p:attrName>ppt_x</p:attrName>
                                              <p:attrName>ppt_y</p:attrName>
                                            </p:attrNameLst>
                                          </p:cBhvr>
                                          <p:rCtr x="195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223" grpId="0"/>
          <p:bldP spid="38" grpId="0"/>
          <p:bldP spid="38"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grpId="0" nodeType="withEffect">
                                      <p:stCondLst>
                                        <p:cond delay="1750"/>
                                      </p:stCondLst>
                                      <p:childTnLst>
                                        <p:set>
                                          <p:cBhvr>
                                            <p:cTn id="18" dur="1" fill="hold">
                                              <p:stCondLst>
                                                <p:cond delay="0"/>
                                              </p:stCondLst>
                                            </p:cTn>
                                            <p:tgtEl>
                                              <p:spTgt spid="223"/>
                                            </p:tgtEl>
                                            <p:attrNameLst>
                                              <p:attrName>style.visibility</p:attrName>
                                            </p:attrNameLst>
                                          </p:cBhvr>
                                          <p:to>
                                            <p:strVal val="visible"/>
                                          </p:to>
                                        </p:set>
                                        <p:animEffect transition="in" filter="fade">
                                          <p:cBhvr>
                                            <p:cTn id="19" dur="500"/>
                                            <p:tgtEl>
                                              <p:spTgt spid="223"/>
                                            </p:tgtEl>
                                          </p:cBhvr>
                                        </p:animEffect>
                                      </p:childTnLst>
                                    </p:cTn>
                                  </p:par>
                                  <p:par>
                                    <p:cTn id="20" presetID="10" presetClass="entr" presetSubtype="0" fill="hold" nodeType="withEffect">
                                      <p:stCondLst>
                                        <p:cond delay="75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250"/>
                                            <p:tgtEl>
                                              <p:spTgt spid="103"/>
                                            </p:tgtEl>
                                          </p:cBhvr>
                                        </p:animEffect>
                                      </p:childTnLst>
                                    </p:cTn>
                                  </p:par>
                                  <p:par>
                                    <p:cTn id="23" presetID="35" presetClass="path" presetSubtype="0" decel="100000" fill="hold" nodeType="withEffect">
                                      <p:stCondLst>
                                        <p:cond delay="750"/>
                                      </p:stCondLst>
                                      <p:childTnLst>
                                        <p:animMotion origin="layout" path="M 1.04167E-6 2.22222E-6 L -0.17917 2.22222E-6 " pathEditMode="relative" rAng="0" ptsTypes="AA">
                                          <p:cBhvr>
                                            <p:cTn id="24" dur="750" spd="-100000" fill="hold"/>
                                            <p:tgtEl>
                                              <p:spTgt spid="103"/>
                                            </p:tgtEl>
                                            <p:attrNameLst>
                                              <p:attrName>ppt_x</p:attrName>
                                              <p:attrName>ppt_y</p:attrName>
                                            </p:attrNameLst>
                                          </p:cBhvr>
                                          <p:rCtr x="-8958" y="0"/>
                                        </p:animMotion>
                                      </p:childTnLst>
                                    </p:cTn>
                                  </p:par>
                                  <p:par>
                                    <p:cTn id="25" presetID="23" presetClass="entr" presetSubtype="16" fill="hold" nodeType="withEffect">
                                      <p:stCondLst>
                                        <p:cond delay="1250"/>
                                      </p:stCondLst>
                                      <p:childTnLst>
                                        <p:set>
                                          <p:cBhvr>
                                            <p:cTn id="26" dur="1" fill="hold">
                                              <p:stCondLst>
                                                <p:cond delay="0"/>
                                              </p:stCondLst>
                                            </p:cTn>
                                            <p:tgtEl>
                                              <p:spTgt spid="100"/>
                                            </p:tgtEl>
                                            <p:attrNameLst>
                                              <p:attrName>style.visibility</p:attrName>
                                            </p:attrNameLst>
                                          </p:cBhvr>
                                          <p:to>
                                            <p:strVal val="visible"/>
                                          </p:to>
                                        </p:set>
                                        <p:anim calcmode="lin" valueType="num">
                                          <p:cBhvr>
                                            <p:cTn id="27" dur="200" fill="hold"/>
                                            <p:tgtEl>
                                              <p:spTgt spid="100"/>
                                            </p:tgtEl>
                                            <p:attrNameLst>
                                              <p:attrName>ppt_w</p:attrName>
                                            </p:attrNameLst>
                                          </p:cBhvr>
                                          <p:tavLst>
                                            <p:tav tm="0">
                                              <p:val>
                                                <p:fltVal val="0"/>
                                              </p:val>
                                            </p:tav>
                                            <p:tav tm="100000">
                                              <p:val>
                                                <p:strVal val="#ppt_w"/>
                                              </p:val>
                                            </p:tav>
                                          </p:tavLst>
                                        </p:anim>
                                        <p:anim calcmode="lin" valueType="num">
                                          <p:cBhvr>
                                            <p:cTn id="28" dur="200" fill="hold"/>
                                            <p:tgtEl>
                                              <p:spTgt spid="100"/>
                                            </p:tgtEl>
                                            <p:attrNameLst>
                                              <p:attrName>ppt_h</p:attrName>
                                            </p:attrNameLst>
                                          </p:cBhvr>
                                          <p:tavLst>
                                            <p:tav tm="0">
                                              <p:val>
                                                <p:fltVal val="0"/>
                                              </p:val>
                                            </p:tav>
                                            <p:tav tm="100000">
                                              <p:val>
                                                <p:strVal val="#ppt_h"/>
                                              </p:val>
                                            </p:tav>
                                          </p:tavLst>
                                        </p:anim>
                                      </p:childTnLst>
                                    </p:cTn>
                                  </p:par>
                                  <p:par>
                                    <p:cTn id="29" presetID="6" presetClass="emph" presetSubtype="0" fill="hold" nodeType="withEffect">
                                      <p:stCondLst>
                                        <p:cond delay="1250"/>
                                      </p:stCondLst>
                                      <p:childTnLst>
                                        <p:animScale>
                                          <p:cBhvr>
                                            <p:cTn id="30" dur="1000" fill="hold"/>
                                            <p:tgtEl>
                                              <p:spTgt spid="100"/>
                                            </p:tgtEl>
                                          </p:cBhvr>
                                          <p:by x="110000" y="110000"/>
                                        </p:animScale>
                                      </p:childTnLst>
                                    </p:cTn>
                                  </p:par>
                                  <p:par>
                                    <p:cTn id="31" presetID="6" presetClass="emph" presetSubtype="0" accel="50000" decel="50000" fill="hold" nodeType="withEffect">
                                      <p:stCondLst>
                                        <p:cond delay="1250"/>
                                      </p:stCondLst>
                                      <p:childTnLst>
                                        <p:animScale>
                                          <p:cBhvr>
                                            <p:cTn id="32" dur="250" fill="hold"/>
                                            <p:tgtEl>
                                              <p:spTgt spid="100"/>
                                            </p:tgtEl>
                                          </p:cBhvr>
                                          <p:by x="91000" y="91000"/>
                                        </p:animScale>
                                      </p:childTnLst>
                                    </p:cTn>
                                  </p:par>
                                  <p:par>
                                    <p:cTn id="33" presetID="10" presetClass="entr" presetSubtype="0" fill="hold" nodeType="withEffect">
                                      <p:stCondLst>
                                        <p:cond delay="150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250"/>
                                            <p:tgtEl>
                                              <p:spTgt spid="35"/>
                                            </p:tgtEl>
                                          </p:cBhvr>
                                        </p:animEffect>
                                      </p:childTnLst>
                                    </p:cTn>
                                  </p:par>
                                  <p:par>
                                    <p:cTn id="36" presetID="42" presetClass="path" presetSubtype="0" decel="100000" fill="hold" nodeType="withEffect">
                                      <p:stCondLst>
                                        <p:cond delay="1500"/>
                                      </p:stCondLst>
                                      <p:childTnLst>
                                        <p:animMotion origin="layout" path="M 3.54167E-6 -1.48148E-6 L -0.08516 0.05278 " pathEditMode="relative" rAng="0" ptsTypes="AA">
                                          <p:cBhvr>
                                            <p:cTn id="37" dur="1000" spd="-100000" fill="hold"/>
                                            <p:tgtEl>
                                              <p:spTgt spid="35"/>
                                            </p:tgtEl>
                                            <p:attrNameLst>
                                              <p:attrName>ppt_x</p:attrName>
                                              <p:attrName>ppt_y</p:attrName>
                                            </p:attrNameLst>
                                          </p:cBhvr>
                                          <p:rCtr x="-4258" y="2639"/>
                                        </p:animMotion>
                                      </p:childTnLst>
                                    </p:cTn>
                                  </p:par>
                                  <p:par>
                                    <p:cTn id="38" presetID="10" presetClass="entr" presetSubtype="0" fill="hold" grpId="0" nodeType="withEffect">
                                      <p:stCondLst>
                                        <p:cond delay="500"/>
                                      </p:stCondLst>
                                      <p:childTnLst>
                                        <p:set>
                                          <p:cBhvr>
                                            <p:cTn id="39" dur="1" fill="hold">
                                              <p:stCondLst>
                                                <p:cond delay="0"/>
                                              </p:stCondLst>
                                            </p:cTn>
                                            <p:tgtEl>
                                              <p:spTgt spid="38"/>
                                            </p:tgtEl>
                                            <p:attrNameLst>
                                              <p:attrName>style.visibility</p:attrName>
                                            </p:attrNameLst>
                                          </p:cBhvr>
                                          <p:to>
                                            <p:strVal val="visible"/>
                                          </p:to>
                                        </p:set>
                                        <p:animEffect transition="in" filter="fade">
                                          <p:cBhvr>
                                            <p:cTn id="40" dur="500"/>
                                            <p:tgtEl>
                                              <p:spTgt spid="38"/>
                                            </p:tgtEl>
                                          </p:cBhvr>
                                        </p:animEffect>
                                      </p:childTnLst>
                                    </p:cTn>
                                  </p:par>
                                  <p:par>
                                    <p:cTn id="41" presetID="63" presetClass="path" presetSubtype="0" decel="100000" fill="hold" grpId="1" nodeType="withEffect">
                                      <p:stCondLst>
                                        <p:cond delay="500"/>
                                      </p:stCondLst>
                                      <p:childTnLst>
                                        <p:animMotion origin="layout" path="M -3.75E-6 -7.40741E-7 L 0.03907 -7.40741E-7 " pathEditMode="relative" rAng="0" ptsTypes="AA">
                                          <p:cBhvr>
                                            <p:cTn id="42" dur="750" spd="-100000" fill="hold"/>
                                            <p:tgtEl>
                                              <p:spTgt spid="38"/>
                                            </p:tgtEl>
                                            <p:attrNameLst>
                                              <p:attrName>ppt_x</p:attrName>
                                              <p:attrName>ppt_y</p:attrName>
                                            </p:attrNameLst>
                                          </p:cBhvr>
                                          <p:rCtr x="195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223" grpId="0"/>
          <p:bldP spid="38" grpId="0"/>
          <p:bldP spid="38" grpId="1"/>
        </p:bldLst>
      </p:timing>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Rounded Corners 64">
            <a:extLst>
              <a:ext uri="{FF2B5EF4-FFF2-40B4-BE49-F238E27FC236}">
                <a16:creationId xmlns:a16="http://schemas.microsoft.com/office/drawing/2014/main" id="{E566C728-A3F9-4898-B0EF-D580175F2D25}"/>
              </a:ext>
            </a:extLst>
          </p:cNvPr>
          <p:cNvSpPr/>
          <p:nvPr/>
        </p:nvSpPr>
        <p:spPr>
          <a:xfrm>
            <a:off x="368621" y="1609714"/>
            <a:ext cx="5524326" cy="667167"/>
          </a:xfrm>
          <a:prstGeom prst="roundRect">
            <a:avLst>
              <a:gd name="adj" fmla="val 50000"/>
            </a:avLst>
          </a:prstGeom>
          <a:solidFill>
            <a:srgbClr val="0048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0B194DFA-D81F-45C6-98D0-615747557E57}"/>
              </a:ext>
            </a:extLst>
          </p:cNvPr>
          <p:cNvSpPr/>
          <p:nvPr/>
        </p:nvSpPr>
        <p:spPr>
          <a:xfrm>
            <a:off x="0" y="3806240"/>
            <a:ext cx="12192000" cy="30517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Shape, circle&#10;&#10;Description automatically generated">
            <a:extLst>
              <a:ext uri="{FF2B5EF4-FFF2-40B4-BE49-F238E27FC236}">
                <a16:creationId xmlns:a16="http://schemas.microsoft.com/office/drawing/2014/main" id="{901A647B-49D3-416C-8A1B-A1F8DA6053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8390" y="283"/>
            <a:ext cx="4883610" cy="6857433"/>
          </a:xfrm>
          <a:prstGeom prst="rect">
            <a:avLst/>
          </a:prstGeom>
        </p:spPr>
      </p:pic>
      <p:sp>
        <p:nvSpPr>
          <p:cNvPr id="40" name="TextBox 39">
            <a:extLst>
              <a:ext uri="{FF2B5EF4-FFF2-40B4-BE49-F238E27FC236}">
                <a16:creationId xmlns:a16="http://schemas.microsoft.com/office/drawing/2014/main" id="{ECDE9CE6-BFDA-4CD5-949E-81DBF85B2D35}"/>
              </a:ext>
            </a:extLst>
          </p:cNvPr>
          <p:cNvSpPr txBox="1"/>
          <p:nvPr/>
        </p:nvSpPr>
        <p:spPr>
          <a:xfrm>
            <a:off x="602530" y="669542"/>
            <a:ext cx="5662548" cy="877163"/>
          </a:xfrm>
          <a:prstGeom prst="rect">
            <a:avLst/>
          </a:prstGeom>
          <a:noFill/>
        </p:spPr>
        <p:txBody>
          <a:bodyPr wrap="square" rtlCol="0">
            <a:spAutoFit/>
          </a:bodyPr>
          <a:lstStyle/>
          <a:p>
            <a:pPr lvl="0">
              <a:lnSpc>
                <a:spcPct val="85000"/>
              </a:lnSpc>
              <a:defRPr/>
            </a:pPr>
            <a:r>
              <a:rPr lang="pt-PT" sz="6000" b="1" spc="300" noProof="0" dirty="0">
                <a:solidFill>
                  <a:srgbClr val="022A79"/>
                </a:solidFill>
                <a:latin typeface="Trebuchet MS" panose="020B0603020202020204" pitchFamily="34" charset="0"/>
                <a:ea typeface="Verdana" panose="020B0604030504040204" pitchFamily="34" charset="0"/>
                <a:cs typeface="Zilla Slab Light"/>
                <a:sym typeface="Zilla Slab Light"/>
              </a:rPr>
              <a:t>POSOLOGÍA</a:t>
            </a:r>
            <a:endParaRPr kumimoji="0" lang="en-US" sz="6000" b="1" i="0" u="none" strike="noStrike" kern="1200" cap="none" spc="300" normalizeH="0" baseline="0" noProof="0" dirty="0">
              <a:ln>
                <a:noFill/>
              </a:ln>
              <a:solidFill>
                <a:srgbClr val="022A79"/>
              </a:solidFill>
              <a:uLnTx/>
              <a:uFillTx/>
              <a:latin typeface="Trebuchet MS" panose="020B0603020202020204" pitchFamily="34" charset="0"/>
              <a:ea typeface="Verdana" panose="020B0604030504040204" pitchFamily="34" charset="0"/>
              <a:cs typeface="Zilla Slab Light"/>
              <a:sym typeface="Zilla Slab Light"/>
            </a:endParaRPr>
          </a:p>
        </p:txBody>
      </p:sp>
      <p:sp>
        <p:nvSpPr>
          <p:cNvPr id="47" name="TextBox 46">
            <a:extLst>
              <a:ext uri="{FF2B5EF4-FFF2-40B4-BE49-F238E27FC236}">
                <a16:creationId xmlns:a16="http://schemas.microsoft.com/office/drawing/2014/main" id="{6F41B4C5-21BC-467A-922D-CBAA3402539F}"/>
              </a:ext>
            </a:extLst>
          </p:cNvPr>
          <p:cNvSpPr txBox="1"/>
          <p:nvPr/>
        </p:nvSpPr>
        <p:spPr>
          <a:xfrm>
            <a:off x="732475" y="1753211"/>
            <a:ext cx="3222086" cy="432426"/>
          </a:xfrm>
          <a:prstGeom prst="rect">
            <a:avLst/>
          </a:prstGeom>
          <a:noFill/>
        </p:spPr>
        <p:txBody>
          <a:bodyPr wrap="square" rtlCol="0">
            <a:spAutoFit/>
          </a:bodyPr>
          <a:lstStyle/>
          <a:p>
            <a:pPr lvl="0">
              <a:lnSpc>
                <a:spcPct val="85000"/>
              </a:lnSpc>
              <a:defRPr/>
            </a:pPr>
            <a:r>
              <a:rPr lang="es-ES" sz="2600" b="1" dirty="0">
                <a:solidFill>
                  <a:schemeClr val="bg1"/>
                </a:solidFill>
                <a:latin typeface="Trebuchet MS" panose="020B0603020202020204" pitchFamily="34" charset="0"/>
                <a:ea typeface="Verdana" panose="020B0604030504040204" pitchFamily="34" charset="0"/>
                <a:cs typeface="Zilla Slab Light"/>
                <a:sym typeface="Zilla Slab Light"/>
              </a:rPr>
              <a:t>ADULTOS</a:t>
            </a:r>
          </a:p>
        </p:txBody>
      </p:sp>
      <p:grpSp>
        <p:nvGrpSpPr>
          <p:cNvPr id="20" name="Group 19">
            <a:extLst>
              <a:ext uri="{FF2B5EF4-FFF2-40B4-BE49-F238E27FC236}">
                <a16:creationId xmlns:a16="http://schemas.microsoft.com/office/drawing/2014/main" id="{368F465E-1B83-4DD9-8BB4-70EAAE58BD99}"/>
              </a:ext>
            </a:extLst>
          </p:cNvPr>
          <p:cNvGrpSpPr/>
          <p:nvPr/>
        </p:nvGrpSpPr>
        <p:grpSpPr>
          <a:xfrm>
            <a:off x="252552" y="6342796"/>
            <a:ext cx="11686895" cy="398170"/>
            <a:chOff x="252552" y="6226684"/>
            <a:chExt cx="11686895" cy="398170"/>
          </a:xfrm>
        </p:grpSpPr>
        <p:grpSp>
          <p:nvGrpSpPr>
            <p:cNvPr id="37" name="Group 36">
              <a:extLst>
                <a:ext uri="{FF2B5EF4-FFF2-40B4-BE49-F238E27FC236}">
                  <a16:creationId xmlns:a16="http://schemas.microsoft.com/office/drawing/2014/main" id="{0BE31391-F1DC-411A-87D1-5112B9F266CA}"/>
                </a:ext>
              </a:extLst>
            </p:cNvPr>
            <p:cNvGrpSpPr/>
            <p:nvPr/>
          </p:nvGrpSpPr>
          <p:grpSpPr>
            <a:xfrm>
              <a:off x="252552" y="6293241"/>
              <a:ext cx="1266906" cy="265056"/>
              <a:chOff x="5600700" y="-854146"/>
              <a:chExt cx="989647" cy="207049"/>
            </a:xfrm>
          </p:grpSpPr>
          <p:sp>
            <p:nvSpPr>
              <p:cNvPr id="41" name="Freeform: Shape 40">
                <a:extLst>
                  <a:ext uri="{FF2B5EF4-FFF2-40B4-BE49-F238E27FC236}">
                    <a16:creationId xmlns:a16="http://schemas.microsoft.com/office/drawing/2014/main" id="{13F13A9E-8B05-4590-A769-7FB4E7D04AA7}"/>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C0B628-3DD6-4944-9D84-B56861B58EF6}"/>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017A177-EC27-403B-8372-86A3DBE3082E}"/>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E32EB9E-2686-4B42-9E63-9A43DDA63D58}"/>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2470303-A478-48C3-AD44-38AA76CC623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A6D117B-673B-41A6-9291-A0BBD1557E39}"/>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04C809F-31FC-48B3-A817-B6F57FFB20E1}"/>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5F7B8F6-61CC-412C-AEFF-BE182B64F64B}"/>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AC0821E-80AD-4AC4-8876-F78F55B9F41B}"/>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2541" y="6226684"/>
              <a:ext cx="1266906" cy="398170"/>
            </a:xfrm>
            <a:prstGeom prst="rect">
              <a:avLst/>
            </a:prstGeom>
          </p:spPr>
        </p:pic>
      </p:grpSp>
      <p:pic>
        <p:nvPicPr>
          <p:cNvPr id="21" name="Picture 20" descr="A picture containing text&#10;&#10;Description automatically generated">
            <a:extLst>
              <a:ext uri="{FF2B5EF4-FFF2-40B4-BE49-F238E27FC236}">
                <a16:creationId xmlns:a16="http://schemas.microsoft.com/office/drawing/2014/main" id="{CFE48280-7C89-4172-A5F9-06C4F3E9060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866928" y="1504522"/>
            <a:ext cx="5015303" cy="2052633"/>
          </a:xfrm>
          <a:prstGeom prst="rect">
            <a:avLst/>
          </a:prstGeom>
        </p:spPr>
      </p:pic>
      <p:pic>
        <p:nvPicPr>
          <p:cNvPr id="22" name="Picture 21">
            <a:extLst>
              <a:ext uri="{FF2B5EF4-FFF2-40B4-BE49-F238E27FC236}">
                <a16:creationId xmlns:a16="http://schemas.microsoft.com/office/drawing/2014/main" id="{C6721E9E-4A5B-4A9A-8BAC-76514FCF22F7}"/>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rot="2163067">
            <a:off x="333357" y="2478189"/>
            <a:ext cx="669493" cy="671818"/>
          </a:xfrm>
          <a:prstGeom prst="rect">
            <a:avLst/>
          </a:prstGeom>
          <a:effectLst>
            <a:outerShdw blurRad="317500" sx="102000" sy="102000" algn="ctr" rotWithShape="0">
              <a:prstClr val="black">
                <a:alpha val="15000"/>
              </a:prstClr>
            </a:outerShdw>
          </a:effectLst>
        </p:spPr>
      </p:pic>
      <p:pic>
        <p:nvPicPr>
          <p:cNvPr id="23" name="Picture 22">
            <a:extLst>
              <a:ext uri="{FF2B5EF4-FFF2-40B4-BE49-F238E27FC236}">
                <a16:creationId xmlns:a16="http://schemas.microsoft.com/office/drawing/2014/main" id="{9008D76F-5FDC-454E-BDA2-F49108527394}"/>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rot="2163067">
            <a:off x="1132764" y="2471314"/>
            <a:ext cx="669493" cy="671818"/>
          </a:xfrm>
          <a:prstGeom prst="rect">
            <a:avLst/>
          </a:prstGeom>
          <a:effectLst>
            <a:outerShdw blurRad="317500" sx="102000" sy="102000" algn="ctr" rotWithShape="0">
              <a:prstClr val="black">
                <a:alpha val="15000"/>
              </a:prstClr>
            </a:outerShdw>
          </a:effectLst>
        </p:spPr>
      </p:pic>
      <p:grpSp>
        <p:nvGrpSpPr>
          <p:cNvPr id="24" name="Group 23">
            <a:extLst>
              <a:ext uri="{FF2B5EF4-FFF2-40B4-BE49-F238E27FC236}">
                <a16:creationId xmlns:a16="http://schemas.microsoft.com/office/drawing/2014/main" id="{D6A359BB-3DF8-48A1-8A73-B1180A56E78C}"/>
              </a:ext>
            </a:extLst>
          </p:cNvPr>
          <p:cNvGrpSpPr/>
          <p:nvPr/>
        </p:nvGrpSpPr>
        <p:grpSpPr>
          <a:xfrm>
            <a:off x="2060007" y="2321462"/>
            <a:ext cx="936651" cy="937163"/>
            <a:chOff x="6648942" y="1865275"/>
            <a:chExt cx="1075932" cy="1076669"/>
          </a:xfrm>
        </p:grpSpPr>
        <p:sp>
          <p:nvSpPr>
            <p:cNvPr id="25" name="Freeform: Shape 24">
              <a:extLst>
                <a:ext uri="{FF2B5EF4-FFF2-40B4-BE49-F238E27FC236}">
                  <a16:creationId xmlns:a16="http://schemas.microsoft.com/office/drawing/2014/main" id="{C7D6ED20-BABF-4639-9A8E-CBBACB17F5B0}"/>
                </a:ext>
              </a:extLst>
            </p:cNvPr>
            <p:cNvSpPr/>
            <p:nvPr/>
          </p:nvSpPr>
          <p:spPr>
            <a:xfrm>
              <a:off x="7169851" y="1866011"/>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8A002AB-0650-47C8-85FA-857215AD6228}"/>
                </a:ext>
              </a:extLst>
            </p:cNvPr>
            <p:cNvSpPr/>
            <p:nvPr/>
          </p:nvSpPr>
          <p:spPr>
            <a:xfrm>
              <a:off x="7169851" y="285226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97EA158C-454D-4153-9928-38C9E76EDBC7}"/>
                </a:ext>
              </a:extLst>
            </p:cNvPr>
            <p:cNvSpPr/>
            <p:nvPr/>
          </p:nvSpPr>
          <p:spPr>
            <a:xfrm rot="21240002">
              <a:off x="7118467" y="186883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BE65CFFA-70BB-4776-B974-7668B422696E}"/>
                </a:ext>
              </a:extLst>
            </p:cNvPr>
            <p:cNvSpPr/>
            <p:nvPr/>
          </p:nvSpPr>
          <p:spPr>
            <a:xfrm rot="21240002">
              <a:off x="7221438" y="284955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3B1523E-3E0D-47E8-87AD-2BD79620D5B0}"/>
                </a:ext>
              </a:extLst>
            </p:cNvPr>
            <p:cNvSpPr/>
            <p:nvPr/>
          </p:nvSpPr>
          <p:spPr>
            <a:xfrm rot="20879999">
              <a:off x="7067782" y="187692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2CA961E-C2D4-45B8-9D23-142E72356B77}"/>
                </a:ext>
              </a:extLst>
            </p:cNvPr>
            <p:cNvSpPr/>
            <p:nvPr/>
          </p:nvSpPr>
          <p:spPr>
            <a:xfrm rot="20879999">
              <a:off x="7272840" y="2841542"/>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63932137-2D97-4C03-AE4A-A787D44BD36B}"/>
                </a:ext>
              </a:extLst>
            </p:cNvPr>
            <p:cNvSpPr/>
            <p:nvPr/>
          </p:nvSpPr>
          <p:spPr>
            <a:xfrm rot="20520000">
              <a:off x="7017943" y="1890124"/>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A0CA47C4-552B-47F4-981A-364589378942}"/>
                </a:ext>
              </a:extLst>
            </p:cNvPr>
            <p:cNvSpPr/>
            <p:nvPr/>
          </p:nvSpPr>
          <p:spPr>
            <a:xfrm rot="20520000">
              <a:off x="7322927" y="2828210"/>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293DB8E-AF89-40AC-9566-C43449531468}"/>
                </a:ext>
              </a:extLst>
            </p:cNvPr>
            <p:cNvSpPr/>
            <p:nvPr/>
          </p:nvSpPr>
          <p:spPr>
            <a:xfrm rot="20159998">
              <a:off x="6970094" y="1908707"/>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8B0975EB-E293-4541-BB9A-D89F6A8F9A1A}"/>
                </a:ext>
              </a:extLst>
            </p:cNvPr>
            <p:cNvSpPr/>
            <p:nvPr/>
          </p:nvSpPr>
          <p:spPr>
            <a:xfrm rot="20159998">
              <a:off x="7371092" y="280963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63F127C2-0A75-499C-BD2B-DED5BC547B7B}"/>
                </a:ext>
              </a:extLst>
            </p:cNvPr>
            <p:cNvSpPr/>
            <p:nvPr/>
          </p:nvSpPr>
          <p:spPr>
            <a:xfrm rot="19799999">
              <a:off x="6924105" y="1931989"/>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EDA64A02-49E4-48A2-A647-A6E22CC05864}"/>
                </a:ext>
              </a:extLst>
            </p:cNvPr>
            <p:cNvSpPr/>
            <p:nvPr/>
          </p:nvSpPr>
          <p:spPr>
            <a:xfrm rot="19799999">
              <a:off x="7417250" y="2786045"/>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39CF7D44-ABF7-457A-B824-9D91CE50B27D}"/>
                </a:ext>
              </a:extLst>
            </p:cNvPr>
            <p:cNvSpPr/>
            <p:nvPr/>
          </p:nvSpPr>
          <p:spPr>
            <a:xfrm rot="19440001">
              <a:off x="6880995" y="1960284"/>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D9368C7C-1E42-458D-9207-39CF61ADE027}"/>
                </a:ext>
              </a:extLst>
            </p:cNvPr>
            <p:cNvSpPr/>
            <p:nvPr/>
          </p:nvSpPr>
          <p:spPr>
            <a:xfrm rot="19440001">
              <a:off x="7460795" y="275800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98C31E1E-7373-484C-BE95-7B8AFEA08FD2}"/>
                </a:ext>
              </a:extLst>
            </p:cNvPr>
            <p:cNvSpPr/>
            <p:nvPr/>
          </p:nvSpPr>
          <p:spPr>
            <a:xfrm rot="19079999">
              <a:off x="6841230" y="1992369"/>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558DC7BD-B6C8-4ABF-B437-713D7ABC1116}"/>
                </a:ext>
              </a:extLst>
            </p:cNvPr>
            <p:cNvSpPr/>
            <p:nvPr/>
          </p:nvSpPr>
          <p:spPr>
            <a:xfrm rot="19079999">
              <a:off x="7501089" y="272554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1A8AB72A-76AF-48FE-BDF9-CCBC3BD5EA67}"/>
                </a:ext>
              </a:extLst>
            </p:cNvPr>
            <p:cNvSpPr/>
            <p:nvPr/>
          </p:nvSpPr>
          <p:spPr>
            <a:xfrm rot="18720001">
              <a:off x="6804853" y="2028840"/>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401D128D-8831-4908-8084-868C518C5FB1}"/>
                </a:ext>
              </a:extLst>
            </p:cNvPr>
            <p:cNvSpPr/>
            <p:nvPr/>
          </p:nvSpPr>
          <p:spPr>
            <a:xfrm rot="18720001">
              <a:off x="7537791" y="2688772"/>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E23C55D7-3951-4348-AEE3-FA14321FA4B5}"/>
                </a:ext>
              </a:extLst>
            </p:cNvPr>
            <p:cNvSpPr/>
            <p:nvPr/>
          </p:nvSpPr>
          <p:spPr>
            <a:xfrm rot="18359999">
              <a:off x="6772436" y="206876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7F4802D3-5830-4760-B1AA-54A1DA798F27}"/>
                </a:ext>
              </a:extLst>
            </p:cNvPr>
            <p:cNvSpPr/>
            <p:nvPr/>
          </p:nvSpPr>
          <p:spPr>
            <a:xfrm rot="18359999">
              <a:off x="7570406" y="264869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F2CC828A-35E3-49A8-9EDD-65798CE21291}"/>
                </a:ext>
              </a:extLst>
            </p:cNvPr>
            <p:cNvSpPr/>
            <p:nvPr/>
          </p:nvSpPr>
          <p:spPr>
            <a:xfrm rot="18000001">
              <a:off x="6744533" y="2111907"/>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6BAD46BB-6916-4BFC-B1BA-FE9469740E4D}"/>
                </a:ext>
              </a:extLst>
            </p:cNvPr>
            <p:cNvSpPr/>
            <p:nvPr/>
          </p:nvSpPr>
          <p:spPr>
            <a:xfrm rot="18000001">
              <a:off x="7598637" y="2605065"/>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4F90CE8A-1EF6-44DF-B2E6-E1925B80131D}"/>
                </a:ext>
              </a:extLst>
            </p:cNvPr>
            <p:cNvSpPr/>
            <p:nvPr/>
          </p:nvSpPr>
          <p:spPr>
            <a:xfrm rot="17640002">
              <a:off x="6721213" y="2157923"/>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4A134114-8068-4BCC-966A-7E2093B0C2C9}"/>
                </a:ext>
              </a:extLst>
            </p:cNvPr>
            <p:cNvSpPr/>
            <p:nvPr/>
          </p:nvSpPr>
          <p:spPr>
            <a:xfrm rot="17640002">
              <a:off x="7622080" y="2559062"/>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79F2CE76-6F44-4C8D-9272-CC895BC9EE8D}"/>
                </a:ext>
              </a:extLst>
            </p:cNvPr>
            <p:cNvSpPr/>
            <p:nvPr/>
          </p:nvSpPr>
          <p:spPr>
            <a:xfrm rot="17279999">
              <a:off x="6702801" y="2205944"/>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FEDF00FE-9EB0-47CA-8F2F-6FAE5D8C155D}"/>
                </a:ext>
              </a:extLst>
            </p:cNvPr>
            <p:cNvSpPr/>
            <p:nvPr/>
          </p:nvSpPr>
          <p:spPr>
            <a:xfrm rot="17279999">
              <a:off x="7640842" y="251068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7A458D2A-1E50-4120-8AC5-EAFAD659D452}"/>
                </a:ext>
              </a:extLst>
            </p:cNvPr>
            <p:cNvSpPr/>
            <p:nvPr/>
          </p:nvSpPr>
          <p:spPr>
            <a:xfrm rot="16920001">
              <a:off x="6689463" y="225549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B34E238-E798-4585-AB4E-9A37AA967EC3}"/>
                </a:ext>
              </a:extLst>
            </p:cNvPr>
            <p:cNvSpPr/>
            <p:nvPr/>
          </p:nvSpPr>
          <p:spPr>
            <a:xfrm rot="16920001">
              <a:off x="7654232" y="246057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998CE77B-BB8A-4033-A993-7A728D368D1E}"/>
                </a:ext>
              </a:extLst>
            </p:cNvPr>
            <p:cNvSpPr/>
            <p:nvPr/>
          </p:nvSpPr>
          <p:spPr>
            <a:xfrm rot="16559998">
              <a:off x="6681561" y="2306460"/>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AFB563AB-CE0E-4D2C-92AD-998435FD0694}"/>
                </a:ext>
              </a:extLst>
            </p:cNvPr>
            <p:cNvSpPr/>
            <p:nvPr/>
          </p:nvSpPr>
          <p:spPr>
            <a:xfrm rot="16559998">
              <a:off x="7662133" y="2409414"/>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9F265653-E693-4787-81E9-7C0225278DC5}"/>
                </a:ext>
              </a:extLst>
            </p:cNvPr>
            <p:cNvSpPr/>
            <p:nvPr/>
          </p:nvSpPr>
          <p:spPr>
            <a:xfrm>
              <a:off x="6648942" y="238773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64BCC0E5-AF06-4B89-853D-0B77336B45BE}"/>
                </a:ext>
              </a:extLst>
            </p:cNvPr>
            <p:cNvSpPr/>
            <p:nvPr/>
          </p:nvSpPr>
          <p:spPr>
            <a:xfrm>
              <a:off x="7635196" y="238773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B92CC886-B7F2-4A3D-92A9-804C34EC292D}"/>
                </a:ext>
              </a:extLst>
            </p:cNvPr>
            <p:cNvSpPr/>
            <p:nvPr/>
          </p:nvSpPr>
          <p:spPr>
            <a:xfrm rot="21239400">
              <a:off x="6651618" y="2438967"/>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63371544-CA5B-45C9-8978-3B16A5FD0FC0}"/>
                </a:ext>
              </a:extLst>
            </p:cNvPr>
            <p:cNvSpPr/>
            <p:nvPr/>
          </p:nvSpPr>
          <p:spPr>
            <a:xfrm rot="21239400">
              <a:off x="7632507" y="233580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255DE3DB-2D65-4B96-8669-C0B5C7339E12}"/>
                </a:ext>
              </a:extLst>
            </p:cNvPr>
            <p:cNvSpPr/>
            <p:nvPr/>
          </p:nvSpPr>
          <p:spPr>
            <a:xfrm rot="20880600">
              <a:off x="6659715" y="2489867"/>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992ABAC9-300B-43E2-83B5-CD95BA293ADA}"/>
                </a:ext>
              </a:extLst>
            </p:cNvPr>
            <p:cNvSpPr/>
            <p:nvPr/>
          </p:nvSpPr>
          <p:spPr>
            <a:xfrm rot="20880600">
              <a:off x="7624400" y="228496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AD6F2242-B3BD-4D9A-957C-06E39CD4F659}"/>
                </a:ext>
              </a:extLst>
            </p:cNvPr>
            <p:cNvSpPr/>
            <p:nvPr/>
          </p:nvSpPr>
          <p:spPr>
            <a:xfrm rot="20520000">
              <a:off x="6673038" y="2539573"/>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F9F69179-F33F-4382-95C6-F7BE341BE9A1}"/>
                </a:ext>
              </a:extLst>
            </p:cNvPr>
            <p:cNvSpPr/>
            <p:nvPr/>
          </p:nvSpPr>
          <p:spPr>
            <a:xfrm rot="20520000">
              <a:off x="7611124" y="2234794"/>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7F37039D-9F07-4C7F-AE41-D7A51C8D3EA6}"/>
                </a:ext>
              </a:extLst>
            </p:cNvPr>
            <p:cNvSpPr/>
            <p:nvPr/>
          </p:nvSpPr>
          <p:spPr>
            <a:xfrm rot="20159998">
              <a:off x="6691699" y="258755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1E4363E7-E41F-4CBD-AF2A-7EE2A5B54D6E}"/>
                </a:ext>
              </a:extLst>
            </p:cNvPr>
            <p:cNvSpPr/>
            <p:nvPr/>
          </p:nvSpPr>
          <p:spPr>
            <a:xfrm rot="20159998">
              <a:off x="7592545" y="2186169"/>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149F6D1F-B4B2-4BC3-A56B-798E330BC6B0}"/>
                </a:ext>
              </a:extLst>
            </p:cNvPr>
            <p:cNvSpPr/>
            <p:nvPr/>
          </p:nvSpPr>
          <p:spPr>
            <a:xfrm rot="19799999">
              <a:off x="6714886" y="263336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C2599CEB-D081-4293-9114-A1A9B0354EDD}"/>
                </a:ext>
              </a:extLst>
            </p:cNvPr>
            <p:cNvSpPr/>
            <p:nvPr/>
          </p:nvSpPr>
          <p:spPr>
            <a:xfrm rot="19799999">
              <a:off x="7568943" y="2140221"/>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577C60A4-9A90-4CA4-B7C8-3F4A392A50F0}"/>
                </a:ext>
              </a:extLst>
            </p:cNvPr>
            <p:cNvSpPr/>
            <p:nvPr/>
          </p:nvSpPr>
          <p:spPr>
            <a:xfrm rot="19439400">
              <a:off x="6742962" y="267630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E31862AF-9E0A-4616-A80D-A72E4AF19A31}"/>
                </a:ext>
              </a:extLst>
            </p:cNvPr>
            <p:cNvSpPr/>
            <p:nvPr/>
          </p:nvSpPr>
          <p:spPr>
            <a:xfrm rot="19439400">
              <a:off x="7540685" y="2096533"/>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7E0F104-9309-45FD-9E5A-90D7E6BE3EDC}"/>
                </a:ext>
              </a:extLst>
            </p:cNvPr>
            <p:cNvSpPr/>
            <p:nvPr/>
          </p:nvSpPr>
          <p:spPr>
            <a:xfrm rot="19079999">
              <a:off x="6775340" y="271648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AFA8FB08-C506-4CB7-9AB0-3DB08BDC2439}"/>
                </a:ext>
              </a:extLst>
            </p:cNvPr>
            <p:cNvSpPr/>
            <p:nvPr/>
          </p:nvSpPr>
          <p:spPr>
            <a:xfrm rot="19079999">
              <a:off x="7508380" y="2056273"/>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B2EE3569-2202-438C-810B-CB7C3C3FD4A2}"/>
                </a:ext>
              </a:extLst>
            </p:cNvPr>
            <p:cNvSpPr/>
            <p:nvPr/>
          </p:nvSpPr>
          <p:spPr>
            <a:xfrm rot="18720599">
              <a:off x="6811591" y="275275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35456A37-EA4D-483E-A7B9-5EDB047CEEE8}"/>
                </a:ext>
              </a:extLst>
            </p:cNvPr>
            <p:cNvSpPr/>
            <p:nvPr/>
          </p:nvSpPr>
          <p:spPr>
            <a:xfrm rot="18720599">
              <a:off x="7471846" y="2019729"/>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EE2B7215-DF1B-449C-9D87-548E21F8AE6A}"/>
                </a:ext>
              </a:extLst>
            </p:cNvPr>
            <p:cNvSpPr/>
            <p:nvPr/>
          </p:nvSpPr>
          <p:spPr>
            <a:xfrm rot="18360599">
              <a:off x="6851750" y="2785073"/>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59EAED39-690D-4732-9FBA-CBEF6D6622C5}"/>
                </a:ext>
              </a:extLst>
            </p:cNvPr>
            <p:cNvSpPr/>
            <p:nvPr/>
          </p:nvSpPr>
          <p:spPr>
            <a:xfrm rot="18359999">
              <a:off x="7431576" y="1987030"/>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3FF2DC9C-0F4F-4C1D-91E3-DB993F821FFA}"/>
                </a:ext>
              </a:extLst>
            </p:cNvPr>
            <p:cNvSpPr/>
            <p:nvPr/>
          </p:nvSpPr>
          <p:spPr>
            <a:xfrm rot="18000001">
              <a:off x="6894897" y="281298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D9E81941-6A52-4723-B344-29847531094A}"/>
                </a:ext>
              </a:extLst>
            </p:cNvPr>
            <p:cNvSpPr/>
            <p:nvPr/>
          </p:nvSpPr>
          <p:spPr>
            <a:xfrm rot="18000001">
              <a:off x="7388055" y="195888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8D5A5907-7937-4AD4-8041-CD4361B39A78}"/>
                </a:ext>
              </a:extLst>
            </p:cNvPr>
            <p:cNvSpPr/>
            <p:nvPr/>
          </p:nvSpPr>
          <p:spPr>
            <a:xfrm rot="17639400">
              <a:off x="6940701" y="283610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6B776D41-DCCB-47F4-B124-DA96637D800F}"/>
                </a:ext>
              </a:extLst>
            </p:cNvPr>
            <p:cNvSpPr/>
            <p:nvPr/>
          </p:nvSpPr>
          <p:spPr>
            <a:xfrm rot="17639400">
              <a:off x="7341730" y="193527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252D9DDC-5967-4D0F-9B8A-4853D0E7110F}"/>
                </a:ext>
              </a:extLst>
            </p:cNvPr>
            <p:cNvSpPr/>
            <p:nvPr/>
          </p:nvSpPr>
          <p:spPr>
            <a:xfrm rot="17279999">
              <a:off x="6988776" y="285471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88E8B861-8E86-4B35-ABFF-08A6F825C703}"/>
                </a:ext>
              </a:extLst>
            </p:cNvPr>
            <p:cNvSpPr/>
            <p:nvPr/>
          </p:nvSpPr>
          <p:spPr>
            <a:xfrm rot="17279999">
              <a:off x="7293518" y="1916671"/>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7AD13BC7-CD47-45AC-9D45-5AF3113F7D1D}"/>
                </a:ext>
              </a:extLst>
            </p:cNvPr>
            <p:cNvSpPr/>
            <p:nvPr/>
          </p:nvSpPr>
          <p:spPr>
            <a:xfrm rot="16920001">
              <a:off x="7038424" y="286779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9372532E-F4FB-4194-BACF-FD248B803C6E}"/>
                </a:ext>
              </a:extLst>
            </p:cNvPr>
            <p:cNvSpPr/>
            <p:nvPr/>
          </p:nvSpPr>
          <p:spPr>
            <a:xfrm rot="16920599">
              <a:off x="7243611" y="190326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AB102CFF-3990-4671-B05B-17F90DACC27F}"/>
                </a:ext>
              </a:extLst>
            </p:cNvPr>
            <p:cNvSpPr/>
            <p:nvPr/>
          </p:nvSpPr>
          <p:spPr>
            <a:xfrm rot="16559998">
              <a:off x="7089216" y="2875957"/>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BD3CCC46-965B-43E1-9927-ECD030AC8815}"/>
                </a:ext>
              </a:extLst>
            </p:cNvPr>
            <p:cNvSpPr/>
            <p:nvPr/>
          </p:nvSpPr>
          <p:spPr>
            <a:xfrm rot="16559998">
              <a:off x="7192372" y="189520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grpSp>
      <p:pic>
        <p:nvPicPr>
          <p:cNvPr id="101" name="Picture 100">
            <a:extLst>
              <a:ext uri="{FF2B5EF4-FFF2-40B4-BE49-F238E27FC236}">
                <a16:creationId xmlns:a16="http://schemas.microsoft.com/office/drawing/2014/main" id="{45C8237C-8CA0-44D5-A473-E8F30E2910C2}"/>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rot="2163067">
            <a:off x="3408299" y="2454135"/>
            <a:ext cx="669493" cy="671818"/>
          </a:xfrm>
          <a:prstGeom prst="rect">
            <a:avLst/>
          </a:prstGeom>
          <a:effectLst>
            <a:outerShdw blurRad="317500" sx="102000" sy="102000" algn="ctr" rotWithShape="0">
              <a:prstClr val="black">
                <a:alpha val="15000"/>
              </a:prstClr>
            </a:outerShdw>
          </a:effectLst>
        </p:spPr>
      </p:pic>
      <p:grpSp>
        <p:nvGrpSpPr>
          <p:cNvPr id="102" name="Group 101">
            <a:extLst>
              <a:ext uri="{FF2B5EF4-FFF2-40B4-BE49-F238E27FC236}">
                <a16:creationId xmlns:a16="http://schemas.microsoft.com/office/drawing/2014/main" id="{61BA27F7-72D3-432A-BB9F-1FE183B6FBAC}"/>
              </a:ext>
            </a:extLst>
          </p:cNvPr>
          <p:cNvGrpSpPr/>
          <p:nvPr/>
        </p:nvGrpSpPr>
        <p:grpSpPr>
          <a:xfrm>
            <a:off x="4356976" y="2316566"/>
            <a:ext cx="936651" cy="937163"/>
            <a:chOff x="6648942" y="1865275"/>
            <a:chExt cx="1075932" cy="1076669"/>
          </a:xfrm>
        </p:grpSpPr>
        <p:sp>
          <p:nvSpPr>
            <p:cNvPr id="103" name="Freeform: Shape 102">
              <a:extLst>
                <a:ext uri="{FF2B5EF4-FFF2-40B4-BE49-F238E27FC236}">
                  <a16:creationId xmlns:a16="http://schemas.microsoft.com/office/drawing/2014/main" id="{E0C5A97A-F4AA-4676-8247-D868DD367F16}"/>
                </a:ext>
              </a:extLst>
            </p:cNvPr>
            <p:cNvSpPr/>
            <p:nvPr/>
          </p:nvSpPr>
          <p:spPr>
            <a:xfrm>
              <a:off x="7169851" y="1866011"/>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913DB43C-C103-4EAF-8510-78A1FE7CB917}"/>
                </a:ext>
              </a:extLst>
            </p:cNvPr>
            <p:cNvSpPr/>
            <p:nvPr/>
          </p:nvSpPr>
          <p:spPr>
            <a:xfrm>
              <a:off x="7169851" y="285226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5F8B4A8B-4627-4E22-9238-EBC4A924D6A8}"/>
                </a:ext>
              </a:extLst>
            </p:cNvPr>
            <p:cNvSpPr/>
            <p:nvPr/>
          </p:nvSpPr>
          <p:spPr>
            <a:xfrm rot="21240002">
              <a:off x="7118467" y="186883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83377211-96B2-43C5-972C-24B585DDB581}"/>
                </a:ext>
              </a:extLst>
            </p:cNvPr>
            <p:cNvSpPr/>
            <p:nvPr/>
          </p:nvSpPr>
          <p:spPr>
            <a:xfrm rot="21240002">
              <a:off x="7221438" y="284955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BD03BDAE-67F8-44B2-B6B3-F8B761FEF5A4}"/>
                </a:ext>
              </a:extLst>
            </p:cNvPr>
            <p:cNvSpPr/>
            <p:nvPr/>
          </p:nvSpPr>
          <p:spPr>
            <a:xfrm rot="20879999">
              <a:off x="7067782" y="187692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C7D0C481-883F-4F4B-852C-593F4A5995F6}"/>
                </a:ext>
              </a:extLst>
            </p:cNvPr>
            <p:cNvSpPr/>
            <p:nvPr/>
          </p:nvSpPr>
          <p:spPr>
            <a:xfrm rot="20879999">
              <a:off x="7272840" y="2841542"/>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6C90B42E-9631-4D07-AE9B-1EC38B965823}"/>
                </a:ext>
              </a:extLst>
            </p:cNvPr>
            <p:cNvSpPr/>
            <p:nvPr/>
          </p:nvSpPr>
          <p:spPr>
            <a:xfrm rot="20520000">
              <a:off x="7017943" y="1890124"/>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687FBF68-08D9-439D-B7E2-933016430819}"/>
                </a:ext>
              </a:extLst>
            </p:cNvPr>
            <p:cNvSpPr/>
            <p:nvPr/>
          </p:nvSpPr>
          <p:spPr>
            <a:xfrm rot="20520000">
              <a:off x="7322927" y="2828210"/>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B62D7D4A-3949-412A-B129-EF898EDC97AC}"/>
                </a:ext>
              </a:extLst>
            </p:cNvPr>
            <p:cNvSpPr/>
            <p:nvPr/>
          </p:nvSpPr>
          <p:spPr>
            <a:xfrm rot="20159998">
              <a:off x="6970094" y="1908707"/>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0D5BD563-66F9-43B7-9FA6-8B48860EB87E}"/>
                </a:ext>
              </a:extLst>
            </p:cNvPr>
            <p:cNvSpPr/>
            <p:nvPr/>
          </p:nvSpPr>
          <p:spPr>
            <a:xfrm rot="20159998">
              <a:off x="7371092" y="280963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D9D46BED-F31E-4CC6-B98B-5213C61D4C3D}"/>
                </a:ext>
              </a:extLst>
            </p:cNvPr>
            <p:cNvSpPr/>
            <p:nvPr/>
          </p:nvSpPr>
          <p:spPr>
            <a:xfrm rot="19799999">
              <a:off x="6924105" y="1931989"/>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9AA1E1A4-7B09-404D-86BD-56FB249AA4B6}"/>
                </a:ext>
              </a:extLst>
            </p:cNvPr>
            <p:cNvSpPr/>
            <p:nvPr/>
          </p:nvSpPr>
          <p:spPr>
            <a:xfrm rot="19799999">
              <a:off x="7417250" y="2786045"/>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001EABAC-A155-4EB2-9F60-6969A53EE6BE}"/>
                </a:ext>
              </a:extLst>
            </p:cNvPr>
            <p:cNvSpPr/>
            <p:nvPr/>
          </p:nvSpPr>
          <p:spPr>
            <a:xfrm rot="19440001">
              <a:off x="6880995" y="1960284"/>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63ADDB98-F71D-4BB9-8F60-FDEEABCEC8C7}"/>
                </a:ext>
              </a:extLst>
            </p:cNvPr>
            <p:cNvSpPr/>
            <p:nvPr/>
          </p:nvSpPr>
          <p:spPr>
            <a:xfrm rot="19440001">
              <a:off x="7460795" y="275800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CA0B5F98-AB46-446F-8E05-752616DFEC17}"/>
                </a:ext>
              </a:extLst>
            </p:cNvPr>
            <p:cNvSpPr/>
            <p:nvPr/>
          </p:nvSpPr>
          <p:spPr>
            <a:xfrm rot="19079999">
              <a:off x="6841230" y="1992369"/>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CCAB475B-2FEC-40B0-BE01-204239EBDC1B}"/>
                </a:ext>
              </a:extLst>
            </p:cNvPr>
            <p:cNvSpPr/>
            <p:nvPr/>
          </p:nvSpPr>
          <p:spPr>
            <a:xfrm rot="19079999">
              <a:off x="7501089" y="272554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3F0A8EDE-FB0D-4005-B172-6D4850EEB6F5}"/>
                </a:ext>
              </a:extLst>
            </p:cNvPr>
            <p:cNvSpPr/>
            <p:nvPr/>
          </p:nvSpPr>
          <p:spPr>
            <a:xfrm rot="18720001">
              <a:off x="6804853" y="2028840"/>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D0371DBA-BC0D-4B9B-B431-0DD7D8D450B9}"/>
                </a:ext>
              </a:extLst>
            </p:cNvPr>
            <p:cNvSpPr/>
            <p:nvPr/>
          </p:nvSpPr>
          <p:spPr>
            <a:xfrm rot="18720001">
              <a:off x="7537791" y="2688772"/>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D071D3D5-A80F-43E4-A918-EEE58870D944}"/>
                </a:ext>
              </a:extLst>
            </p:cNvPr>
            <p:cNvSpPr/>
            <p:nvPr/>
          </p:nvSpPr>
          <p:spPr>
            <a:xfrm rot="18359999">
              <a:off x="6772436" y="206876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0C80AEE7-6A5E-460F-A70B-A81C03971837}"/>
                </a:ext>
              </a:extLst>
            </p:cNvPr>
            <p:cNvSpPr/>
            <p:nvPr/>
          </p:nvSpPr>
          <p:spPr>
            <a:xfrm rot="18359999">
              <a:off x="7570406" y="264869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2F39A4ED-B50E-48ED-A260-9F1D40A80638}"/>
                </a:ext>
              </a:extLst>
            </p:cNvPr>
            <p:cNvSpPr/>
            <p:nvPr/>
          </p:nvSpPr>
          <p:spPr>
            <a:xfrm rot="18000001">
              <a:off x="6744533" y="2111907"/>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83CBF284-1465-45F3-8F83-0CB7A0192C1C}"/>
                </a:ext>
              </a:extLst>
            </p:cNvPr>
            <p:cNvSpPr/>
            <p:nvPr/>
          </p:nvSpPr>
          <p:spPr>
            <a:xfrm rot="18000001">
              <a:off x="7598637" y="2605065"/>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69BE31EE-5C9C-485C-BF87-71A1275C99DC}"/>
                </a:ext>
              </a:extLst>
            </p:cNvPr>
            <p:cNvSpPr/>
            <p:nvPr/>
          </p:nvSpPr>
          <p:spPr>
            <a:xfrm rot="17640002">
              <a:off x="6721213" y="2157923"/>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90C11DA5-1721-4538-A0E6-DE5114F1D40D}"/>
                </a:ext>
              </a:extLst>
            </p:cNvPr>
            <p:cNvSpPr/>
            <p:nvPr/>
          </p:nvSpPr>
          <p:spPr>
            <a:xfrm rot="17640002">
              <a:off x="7622080" y="2559062"/>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F7C263FE-8F9E-47B5-B32C-B3AE7F012EAB}"/>
                </a:ext>
              </a:extLst>
            </p:cNvPr>
            <p:cNvSpPr/>
            <p:nvPr/>
          </p:nvSpPr>
          <p:spPr>
            <a:xfrm rot="17279999">
              <a:off x="6702801" y="2205944"/>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C290C571-C8B9-4917-B061-00CB0C14158F}"/>
                </a:ext>
              </a:extLst>
            </p:cNvPr>
            <p:cNvSpPr/>
            <p:nvPr/>
          </p:nvSpPr>
          <p:spPr>
            <a:xfrm rot="17279999">
              <a:off x="7640842" y="251068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91F26ED0-D951-42C9-B1A7-935B2EB2A198}"/>
                </a:ext>
              </a:extLst>
            </p:cNvPr>
            <p:cNvSpPr/>
            <p:nvPr/>
          </p:nvSpPr>
          <p:spPr>
            <a:xfrm rot="16920001">
              <a:off x="6689463" y="225549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D1C30189-459F-4B8E-98EB-9750D7D4F18D}"/>
                </a:ext>
              </a:extLst>
            </p:cNvPr>
            <p:cNvSpPr/>
            <p:nvPr/>
          </p:nvSpPr>
          <p:spPr>
            <a:xfrm rot="16920001">
              <a:off x="7654232" y="246057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1404D7F8-119D-4A5D-AE48-E2605E5AE7F2}"/>
                </a:ext>
              </a:extLst>
            </p:cNvPr>
            <p:cNvSpPr/>
            <p:nvPr/>
          </p:nvSpPr>
          <p:spPr>
            <a:xfrm rot="16559998">
              <a:off x="6681561" y="2306460"/>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1CCF6562-FA7C-4C69-9F5A-CA0FB338BAB0}"/>
                </a:ext>
              </a:extLst>
            </p:cNvPr>
            <p:cNvSpPr/>
            <p:nvPr/>
          </p:nvSpPr>
          <p:spPr>
            <a:xfrm rot="16559998">
              <a:off x="7662133" y="2409414"/>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025467D3-6081-4618-9A44-74F36FBDBB2D}"/>
                </a:ext>
              </a:extLst>
            </p:cNvPr>
            <p:cNvSpPr/>
            <p:nvPr/>
          </p:nvSpPr>
          <p:spPr>
            <a:xfrm>
              <a:off x="6648942" y="238773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ADE0A5B6-2232-4297-828B-C90211A8BB0C}"/>
                </a:ext>
              </a:extLst>
            </p:cNvPr>
            <p:cNvSpPr/>
            <p:nvPr/>
          </p:nvSpPr>
          <p:spPr>
            <a:xfrm>
              <a:off x="7635196" y="238773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AA0F9839-0E63-46B2-B5D9-47F36FDBDBA1}"/>
                </a:ext>
              </a:extLst>
            </p:cNvPr>
            <p:cNvSpPr/>
            <p:nvPr/>
          </p:nvSpPr>
          <p:spPr>
            <a:xfrm rot="21239400">
              <a:off x="6651618" y="2438967"/>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446BE5C3-DBCC-405D-B209-EADCD1507704}"/>
                </a:ext>
              </a:extLst>
            </p:cNvPr>
            <p:cNvSpPr/>
            <p:nvPr/>
          </p:nvSpPr>
          <p:spPr>
            <a:xfrm rot="21239400">
              <a:off x="7632507" y="233580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B1E13232-5D49-49BD-A4C7-821F8D761EF1}"/>
                </a:ext>
              </a:extLst>
            </p:cNvPr>
            <p:cNvSpPr/>
            <p:nvPr/>
          </p:nvSpPr>
          <p:spPr>
            <a:xfrm rot="20880600">
              <a:off x="6659715" y="2489867"/>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4F6C0F7C-2B4E-4C5B-8E97-30A8193275F8}"/>
                </a:ext>
              </a:extLst>
            </p:cNvPr>
            <p:cNvSpPr/>
            <p:nvPr/>
          </p:nvSpPr>
          <p:spPr>
            <a:xfrm rot="20880600">
              <a:off x="7624400" y="228496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4B5AC8FB-44A3-4DDA-91D1-B4377E6732B5}"/>
                </a:ext>
              </a:extLst>
            </p:cNvPr>
            <p:cNvSpPr/>
            <p:nvPr/>
          </p:nvSpPr>
          <p:spPr>
            <a:xfrm rot="20520000">
              <a:off x="6673038" y="2539573"/>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959E1BFD-A79F-47F5-9A81-9848C49FE6F9}"/>
                </a:ext>
              </a:extLst>
            </p:cNvPr>
            <p:cNvSpPr/>
            <p:nvPr/>
          </p:nvSpPr>
          <p:spPr>
            <a:xfrm rot="20520000">
              <a:off x="7611124" y="2234794"/>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70861C77-E0A6-4A30-89DB-15D1B59A4853}"/>
                </a:ext>
              </a:extLst>
            </p:cNvPr>
            <p:cNvSpPr/>
            <p:nvPr/>
          </p:nvSpPr>
          <p:spPr>
            <a:xfrm rot="20159998">
              <a:off x="6691699" y="258755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ADF3BB4B-928C-4B9D-9BEE-AE5738B9AF6D}"/>
                </a:ext>
              </a:extLst>
            </p:cNvPr>
            <p:cNvSpPr/>
            <p:nvPr/>
          </p:nvSpPr>
          <p:spPr>
            <a:xfrm rot="20159998">
              <a:off x="7592545" y="2186169"/>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177A0233-A8DA-4D73-AD56-93D7554F44EB}"/>
                </a:ext>
              </a:extLst>
            </p:cNvPr>
            <p:cNvSpPr/>
            <p:nvPr/>
          </p:nvSpPr>
          <p:spPr>
            <a:xfrm rot="19799999">
              <a:off x="6714886" y="263336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D46DD9BC-C594-4C24-AB89-1E8C09944F25}"/>
                </a:ext>
              </a:extLst>
            </p:cNvPr>
            <p:cNvSpPr/>
            <p:nvPr/>
          </p:nvSpPr>
          <p:spPr>
            <a:xfrm rot="19799999">
              <a:off x="7568943" y="2140221"/>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0484DE96-ECFE-4FEC-8457-A02DC3E0C075}"/>
                </a:ext>
              </a:extLst>
            </p:cNvPr>
            <p:cNvSpPr/>
            <p:nvPr/>
          </p:nvSpPr>
          <p:spPr>
            <a:xfrm rot="19439400">
              <a:off x="6742962" y="267630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AA6C136C-F824-4A67-984B-BAFE5B733396}"/>
                </a:ext>
              </a:extLst>
            </p:cNvPr>
            <p:cNvSpPr/>
            <p:nvPr/>
          </p:nvSpPr>
          <p:spPr>
            <a:xfrm rot="19439400">
              <a:off x="7540685" y="2096533"/>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E9EF0A7F-737C-4987-B10D-6701A45C9C14}"/>
                </a:ext>
              </a:extLst>
            </p:cNvPr>
            <p:cNvSpPr/>
            <p:nvPr/>
          </p:nvSpPr>
          <p:spPr>
            <a:xfrm rot="19079999">
              <a:off x="6775340" y="271648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1B38BCF0-6070-47A0-AAA7-2A5FBDE6A88F}"/>
                </a:ext>
              </a:extLst>
            </p:cNvPr>
            <p:cNvSpPr/>
            <p:nvPr/>
          </p:nvSpPr>
          <p:spPr>
            <a:xfrm rot="19079999">
              <a:off x="7508380" y="2056273"/>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98D1CA3B-ADBC-4B29-BFAB-BCF273996F5E}"/>
                </a:ext>
              </a:extLst>
            </p:cNvPr>
            <p:cNvSpPr/>
            <p:nvPr/>
          </p:nvSpPr>
          <p:spPr>
            <a:xfrm rot="18720599">
              <a:off x="6811591" y="275275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3AB24B4E-A88F-49D6-8504-CA1E3A30B5C0}"/>
                </a:ext>
              </a:extLst>
            </p:cNvPr>
            <p:cNvSpPr/>
            <p:nvPr/>
          </p:nvSpPr>
          <p:spPr>
            <a:xfrm rot="18720599">
              <a:off x="7471846" y="2019729"/>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7A6B521C-0863-4905-BD3A-F17F45BB8895}"/>
                </a:ext>
              </a:extLst>
            </p:cNvPr>
            <p:cNvSpPr/>
            <p:nvPr/>
          </p:nvSpPr>
          <p:spPr>
            <a:xfrm rot="18360599">
              <a:off x="6851750" y="2785073"/>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FB3F5C1C-4BBA-4D60-8B0B-53A53FB60178}"/>
                </a:ext>
              </a:extLst>
            </p:cNvPr>
            <p:cNvSpPr/>
            <p:nvPr/>
          </p:nvSpPr>
          <p:spPr>
            <a:xfrm rot="18359999">
              <a:off x="7431576" y="1987030"/>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FC184553-3FB0-49B7-A8F5-212868AE2953}"/>
                </a:ext>
              </a:extLst>
            </p:cNvPr>
            <p:cNvSpPr/>
            <p:nvPr/>
          </p:nvSpPr>
          <p:spPr>
            <a:xfrm rot="18000001">
              <a:off x="6894897" y="281298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E972B813-FF23-41F3-BF9E-6AA0E40BD8F1}"/>
                </a:ext>
              </a:extLst>
            </p:cNvPr>
            <p:cNvSpPr/>
            <p:nvPr/>
          </p:nvSpPr>
          <p:spPr>
            <a:xfrm rot="18000001">
              <a:off x="7388055" y="195888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62542833-8964-445A-9A62-41F48E3A1662}"/>
                </a:ext>
              </a:extLst>
            </p:cNvPr>
            <p:cNvSpPr/>
            <p:nvPr/>
          </p:nvSpPr>
          <p:spPr>
            <a:xfrm rot="17639400">
              <a:off x="6940701" y="283610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3CBF592B-9A96-41A1-8E9B-EB87A2733A1D}"/>
                </a:ext>
              </a:extLst>
            </p:cNvPr>
            <p:cNvSpPr/>
            <p:nvPr/>
          </p:nvSpPr>
          <p:spPr>
            <a:xfrm rot="17639400">
              <a:off x="7341730" y="193527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2ABAFF95-7D97-48FE-A4AA-307E47C80A69}"/>
                </a:ext>
              </a:extLst>
            </p:cNvPr>
            <p:cNvSpPr/>
            <p:nvPr/>
          </p:nvSpPr>
          <p:spPr>
            <a:xfrm rot="17279999">
              <a:off x="6988776" y="285471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023A93D6-D252-417D-AFC9-CFD07DD7BA05}"/>
                </a:ext>
              </a:extLst>
            </p:cNvPr>
            <p:cNvSpPr/>
            <p:nvPr/>
          </p:nvSpPr>
          <p:spPr>
            <a:xfrm rot="17279999">
              <a:off x="7293518" y="1916671"/>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2405B9FE-4C52-48CC-87CB-AFCC4D98D57B}"/>
                </a:ext>
              </a:extLst>
            </p:cNvPr>
            <p:cNvSpPr/>
            <p:nvPr/>
          </p:nvSpPr>
          <p:spPr>
            <a:xfrm rot="16920001">
              <a:off x="7038424" y="286779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15DC267C-8144-447F-AC78-F11338E2346C}"/>
                </a:ext>
              </a:extLst>
            </p:cNvPr>
            <p:cNvSpPr/>
            <p:nvPr/>
          </p:nvSpPr>
          <p:spPr>
            <a:xfrm rot="16920599">
              <a:off x="7243611" y="190326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10682CE7-2968-4757-8F8C-54BF2E200DFB}"/>
                </a:ext>
              </a:extLst>
            </p:cNvPr>
            <p:cNvSpPr/>
            <p:nvPr/>
          </p:nvSpPr>
          <p:spPr>
            <a:xfrm rot="16559998">
              <a:off x="7089216" y="2875957"/>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267242F4-EFF3-44B9-A2FA-A472449C4025}"/>
                </a:ext>
              </a:extLst>
            </p:cNvPr>
            <p:cNvSpPr/>
            <p:nvPr/>
          </p:nvSpPr>
          <p:spPr>
            <a:xfrm rot="16559998">
              <a:off x="7192372" y="189520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grpSp>
      <p:pic>
        <p:nvPicPr>
          <p:cNvPr id="163" name="Picture 162">
            <a:extLst>
              <a:ext uri="{FF2B5EF4-FFF2-40B4-BE49-F238E27FC236}">
                <a16:creationId xmlns:a16="http://schemas.microsoft.com/office/drawing/2014/main" id="{FA7E13D7-AAA6-41E9-8E0B-C55C57FFC1CE}"/>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rot="2163067">
            <a:off x="5692710" y="2427346"/>
            <a:ext cx="669493" cy="671818"/>
          </a:xfrm>
          <a:prstGeom prst="rect">
            <a:avLst/>
          </a:prstGeom>
          <a:effectLst>
            <a:outerShdw blurRad="317500" sx="102000" sy="102000" algn="ctr" rotWithShape="0">
              <a:prstClr val="black">
                <a:alpha val="15000"/>
              </a:prstClr>
            </a:outerShdw>
          </a:effectLst>
        </p:spPr>
      </p:pic>
      <p:sp>
        <p:nvSpPr>
          <p:cNvPr id="164" name="Rectangle: Rounded Corners 163">
            <a:extLst>
              <a:ext uri="{FF2B5EF4-FFF2-40B4-BE49-F238E27FC236}">
                <a16:creationId xmlns:a16="http://schemas.microsoft.com/office/drawing/2014/main" id="{97EB61C2-94E8-43E2-9721-411A118A2B33}"/>
              </a:ext>
            </a:extLst>
          </p:cNvPr>
          <p:cNvSpPr/>
          <p:nvPr/>
        </p:nvSpPr>
        <p:spPr>
          <a:xfrm>
            <a:off x="223705" y="3870520"/>
            <a:ext cx="5524326" cy="667167"/>
          </a:xfrm>
          <a:prstGeom prst="roundRect">
            <a:avLst>
              <a:gd name="adj" fmla="val 50000"/>
            </a:avLst>
          </a:prstGeom>
          <a:solidFill>
            <a:srgbClr val="0048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 name="TextBox 164">
            <a:extLst>
              <a:ext uri="{FF2B5EF4-FFF2-40B4-BE49-F238E27FC236}">
                <a16:creationId xmlns:a16="http://schemas.microsoft.com/office/drawing/2014/main" id="{5468B5EB-9BAD-410F-9564-7BBFB04338D1}"/>
              </a:ext>
            </a:extLst>
          </p:cNvPr>
          <p:cNvSpPr txBox="1"/>
          <p:nvPr/>
        </p:nvSpPr>
        <p:spPr>
          <a:xfrm>
            <a:off x="587559" y="4014017"/>
            <a:ext cx="3222086" cy="432426"/>
          </a:xfrm>
          <a:prstGeom prst="rect">
            <a:avLst/>
          </a:prstGeom>
          <a:noFill/>
        </p:spPr>
        <p:txBody>
          <a:bodyPr wrap="square" rtlCol="0">
            <a:spAutoFit/>
          </a:bodyPr>
          <a:lstStyle/>
          <a:p>
            <a:pPr lvl="0">
              <a:lnSpc>
                <a:spcPct val="85000"/>
              </a:lnSpc>
              <a:defRPr/>
            </a:pPr>
            <a:r>
              <a:rPr lang="es-ES" sz="2600" b="1" dirty="0">
                <a:solidFill>
                  <a:schemeClr val="bg1"/>
                </a:solidFill>
                <a:latin typeface="Trebuchet MS" panose="020B0603020202020204" pitchFamily="34" charset="0"/>
                <a:ea typeface="Verdana" panose="020B0604030504040204" pitchFamily="34" charset="0"/>
                <a:cs typeface="Zilla Slab Light"/>
                <a:sym typeface="Zilla Slab Light"/>
              </a:rPr>
              <a:t>ADOLESCENTES</a:t>
            </a:r>
          </a:p>
        </p:txBody>
      </p:sp>
      <p:pic>
        <p:nvPicPr>
          <p:cNvPr id="166" name="Picture 165">
            <a:extLst>
              <a:ext uri="{FF2B5EF4-FFF2-40B4-BE49-F238E27FC236}">
                <a16:creationId xmlns:a16="http://schemas.microsoft.com/office/drawing/2014/main" id="{DBE545A6-10D6-4A30-8143-E26379C58129}"/>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rot="2163067">
            <a:off x="524689" y="4901200"/>
            <a:ext cx="669493" cy="671818"/>
          </a:xfrm>
          <a:prstGeom prst="rect">
            <a:avLst/>
          </a:prstGeom>
          <a:effectLst>
            <a:outerShdw blurRad="317500" sx="102000" sy="102000" algn="ctr" rotWithShape="0">
              <a:prstClr val="black">
                <a:alpha val="15000"/>
              </a:prstClr>
            </a:outerShdw>
          </a:effectLst>
        </p:spPr>
      </p:pic>
      <p:grpSp>
        <p:nvGrpSpPr>
          <p:cNvPr id="167" name="Group 166">
            <a:extLst>
              <a:ext uri="{FF2B5EF4-FFF2-40B4-BE49-F238E27FC236}">
                <a16:creationId xmlns:a16="http://schemas.microsoft.com/office/drawing/2014/main" id="{18B2E477-BBC3-47E3-80E1-661342731DDE}"/>
              </a:ext>
            </a:extLst>
          </p:cNvPr>
          <p:cNvGrpSpPr/>
          <p:nvPr/>
        </p:nvGrpSpPr>
        <p:grpSpPr>
          <a:xfrm>
            <a:off x="1610414" y="4686276"/>
            <a:ext cx="936651" cy="937163"/>
            <a:chOff x="6648942" y="1865275"/>
            <a:chExt cx="1075932" cy="1076669"/>
          </a:xfrm>
        </p:grpSpPr>
        <p:sp>
          <p:nvSpPr>
            <p:cNvPr id="168" name="Freeform: Shape 167">
              <a:extLst>
                <a:ext uri="{FF2B5EF4-FFF2-40B4-BE49-F238E27FC236}">
                  <a16:creationId xmlns:a16="http://schemas.microsoft.com/office/drawing/2014/main" id="{D9DB3DFE-67BA-4117-997A-C1E4F2AE0902}"/>
                </a:ext>
              </a:extLst>
            </p:cNvPr>
            <p:cNvSpPr/>
            <p:nvPr/>
          </p:nvSpPr>
          <p:spPr>
            <a:xfrm>
              <a:off x="7169851" y="1866011"/>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FCD3ABB2-CD9A-454D-B563-6627D8BEC0CE}"/>
                </a:ext>
              </a:extLst>
            </p:cNvPr>
            <p:cNvSpPr/>
            <p:nvPr/>
          </p:nvSpPr>
          <p:spPr>
            <a:xfrm>
              <a:off x="7169851" y="285226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DE57CCFF-131B-410E-967D-0E4C1D2EDAB2}"/>
                </a:ext>
              </a:extLst>
            </p:cNvPr>
            <p:cNvSpPr/>
            <p:nvPr/>
          </p:nvSpPr>
          <p:spPr>
            <a:xfrm rot="21240002">
              <a:off x="7118467" y="186883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E7960A28-95C8-4348-8BB2-EAAF1CD3AE8A}"/>
                </a:ext>
              </a:extLst>
            </p:cNvPr>
            <p:cNvSpPr/>
            <p:nvPr/>
          </p:nvSpPr>
          <p:spPr>
            <a:xfrm rot="21240002">
              <a:off x="7221438" y="284955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0DD3FDE3-16CD-4395-A3A4-E9006D14508D}"/>
                </a:ext>
              </a:extLst>
            </p:cNvPr>
            <p:cNvSpPr/>
            <p:nvPr/>
          </p:nvSpPr>
          <p:spPr>
            <a:xfrm rot="20879999">
              <a:off x="7067782" y="187692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D921DA10-1A02-4405-82BC-28CF8019355F}"/>
                </a:ext>
              </a:extLst>
            </p:cNvPr>
            <p:cNvSpPr/>
            <p:nvPr/>
          </p:nvSpPr>
          <p:spPr>
            <a:xfrm rot="20879999">
              <a:off x="7272840" y="2841542"/>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F701D63B-D568-4BEA-9D18-054C0002C2C4}"/>
                </a:ext>
              </a:extLst>
            </p:cNvPr>
            <p:cNvSpPr/>
            <p:nvPr/>
          </p:nvSpPr>
          <p:spPr>
            <a:xfrm rot="20520000">
              <a:off x="7017943" y="1890124"/>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B97C2866-AF0F-497F-A030-1D85267BF549}"/>
                </a:ext>
              </a:extLst>
            </p:cNvPr>
            <p:cNvSpPr/>
            <p:nvPr/>
          </p:nvSpPr>
          <p:spPr>
            <a:xfrm rot="20520000">
              <a:off x="7322927" y="2828210"/>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403207AB-6355-41CB-B755-BD53C2368116}"/>
                </a:ext>
              </a:extLst>
            </p:cNvPr>
            <p:cNvSpPr/>
            <p:nvPr/>
          </p:nvSpPr>
          <p:spPr>
            <a:xfrm rot="20159998">
              <a:off x="6970094" y="1908707"/>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95572EB2-68DF-40FE-B044-7A949C4D5CDC}"/>
                </a:ext>
              </a:extLst>
            </p:cNvPr>
            <p:cNvSpPr/>
            <p:nvPr/>
          </p:nvSpPr>
          <p:spPr>
            <a:xfrm rot="20159998">
              <a:off x="7371092" y="280963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0FE731C8-F903-454D-9A22-2E3EC8348EDB}"/>
                </a:ext>
              </a:extLst>
            </p:cNvPr>
            <p:cNvSpPr/>
            <p:nvPr/>
          </p:nvSpPr>
          <p:spPr>
            <a:xfrm rot="19799999">
              <a:off x="6924105" y="1931989"/>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A136CA43-EDC1-4713-BEDC-8D6822D7E30F}"/>
                </a:ext>
              </a:extLst>
            </p:cNvPr>
            <p:cNvSpPr/>
            <p:nvPr/>
          </p:nvSpPr>
          <p:spPr>
            <a:xfrm rot="19799999">
              <a:off x="7417250" y="2786045"/>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FA3D3F8B-ECA4-4EA5-AE61-8C8BA2D7A6D7}"/>
                </a:ext>
              </a:extLst>
            </p:cNvPr>
            <p:cNvSpPr/>
            <p:nvPr/>
          </p:nvSpPr>
          <p:spPr>
            <a:xfrm rot="19440001">
              <a:off x="6880995" y="1960284"/>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97FDE34E-AB6F-4CB8-9105-B1116D6E499D}"/>
                </a:ext>
              </a:extLst>
            </p:cNvPr>
            <p:cNvSpPr/>
            <p:nvPr/>
          </p:nvSpPr>
          <p:spPr>
            <a:xfrm rot="19440001">
              <a:off x="7460795" y="275800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788C7DCF-14F2-4006-B87D-59ADFAC5857C}"/>
                </a:ext>
              </a:extLst>
            </p:cNvPr>
            <p:cNvSpPr/>
            <p:nvPr/>
          </p:nvSpPr>
          <p:spPr>
            <a:xfrm rot="19079999">
              <a:off x="6841230" y="1992369"/>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B56E96AC-7F41-42DD-A936-43C38CCA3A28}"/>
                </a:ext>
              </a:extLst>
            </p:cNvPr>
            <p:cNvSpPr/>
            <p:nvPr/>
          </p:nvSpPr>
          <p:spPr>
            <a:xfrm rot="19079999">
              <a:off x="7501089" y="272554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04876335-F966-497A-AA9F-7B2822073AF2}"/>
                </a:ext>
              </a:extLst>
            </p:cNvPr>
            <p:cNvSpPr/>
            <p:nvPr/>
          </p:nvSpPr>
          <p:spPr>
            <a:xfrm rot="18720001">
              <a:off x="6804853" y="2028840"/>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F8006D26-2663-43F9-8271-86E21DB7DF32}"/>
                </a:ext>
              </a:extLst>
            </p:cNvPr>
            <p:cNvSpPr/>
            <p:nvPr/>
          </p:nvSpPr>
          <p:spPr>
            <a:xfrm rot="18720001">
              <a:off x="7537791" y="2688772"/>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679E1D67-43F8-48CC-A815-7918260DEFAB}"/>
                </a:ext>
              </a:extLst>
            </p:cNvPr>
            <p:cNvSpPr/>
            <p:nvPr/>
          </p:nvSpPr>
          <p:spPr>
            <a:xfrm rot="18359999">
              <a:off x="6772436" y="206876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3B9C52D7-CBDD-4EE0-A61D-B2E6115D9935}"/>
                </a:ext>
              </a:extLst>
            </p:cNvPr>
            <p:cNvSpPr/>
            <p:nvPr/>
          </p:nvSpPr>
          <p:spPr>
            <a:xfrm rot="18359999">
              <a:off x="7570406" y="264869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F4F92973-C3FD-4868-9E8A-DB5F3719A4F5}"/>
                </a:ext>
              </a:extLst>
            </p:cNvPr>
            <p:cNvSpPr/>
            <p:nvPr/>
          </p:nvSpPr>
          <p:spPr>
            <a:xfrm rot="18000001">
              <a:off x="6744533" y="2111907"/>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301D3A41-9830-4738-86A5-9C1B5C3F95AD}"/>
                </a:ext>
              </a:extLst>
            </p:cNvPr>
            <p:cNvSpPr/>
            <p:nvPr/>
          </p:nvSpPr>
          <p:spPr>
            <a:xfrm rot="18000001">
              <a:off x="7598637" y="2605065"/>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F3420E3B-5846-41A0-A73F-4BB817659816}"/>
                </a:ext>
              </a:extLst>
            </p:cNvPr>
            <p:cNvSpPr/>
            <p:nvPr/>
          </p:nvSpPr>
          <p:spPr>
            <a:xfrm rot="17640002">
              <a:off x="6721213" y="2157923"/>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609981D6-D105-4907-AAAE-F3BB8F28D011}"/>
                </a:ext>
              </a:extLst>
            </p:cNvPr>
            <p:cNvSpPr/>
            <p:nvPr/>
          </p:nvSpPr>
          <p:spPr>
            <a:xfrm rot="17640002">
              <a:off x="7622080" y="2559062"/>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B0BC375D-50EE-4AB9-8E21-88FB6C092E6A}"/>
                </a:ext>
              </a:extLst>
            </p:cNvPr>
            <p:cNvSpPr/>
            <p:nvPr/>
          </p:nvSpPr>
          <p:spPr>
            <a:xfrm rot="17279999">
              <a:off x="6702801" y="2205944"/>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30F52A23-EF96-4EE8-968F-A0E9D8B1E6A7}"/>
                </a:ext>
              </a:extLst>
            </p:cNvPr>
            <p:cNvSpPr/>
            <p:nvPr/>
          </p:nvSpPr>
          <p:spPr>
            <a:xfrm rot="17279999">
              <a:off x="7640842" y="251068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B9C6EC29-75AF-4795-B7EC-DE903CCDE60B}"/>
                </a:ext>
              </a:extLst>
            </p:cNvPr>
            <p:cNvSpPr/>
            <p:nvPr/>
          </p:nvSpPr>
          <p:spPr>
            <a:xfrm rot="16920001">
              <a:off x="6689463" y="225549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DFA6BA6-86DA-48BD-A5DC-299A0571425A}"/>
                </a:ext>
              </a:extLst>
            </p:cNvPr>
            <p:cNvSpPr/>
            <p:nvPr/>
          </p:nvSpPr>
          <p:spPr>
            <a:xfrm rot="16920001">
              <a:off x="7654232" y="246057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80808D88-897B-4917-A146-8E07D4DD40DC}"/>
                </a:ext>
              </a:extLst>
            </p:cNvPr>
            <p:cNvSpPr/>
            <p:nvPr/>
          </p:nvSpPr>
          <p:spPr>
            <a:xfrm rot="16559998">
              <a:off x="6681561" y="2306460"/>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96C3E559-A568-4145-8CBF-1D333B3C16A4}"/>
                </a:ext>
              </a:extLst>
            </p:cNvPr>
            <p:cNvSpPr/>
            <p:nvPr/>
          </p:nvSpPr>
          <p:spPr>
            <a:xfrm rot="16559998">
              <a:off x="7662133" y="2409414"/>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588269A6-4AD0-44E3-863A-E133493630D7}"/>
                </a:ext>
              </a:extLst>
            </p:cNvPr>
            <p:cNvSpPr/>
            <p:nvPr/>
          </p:nvSpPr>
          <p:spPr>
            <a:xfrm>
              <a:off x="6648942" y="238773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D96B132F-BF14-44F6-A91E-955C5AB2D903}"/>
                </a:ext>
              </a:extLst>
            </p:cNvPr>
            <p:cNvSpPr/>
            <p:nvPr/>
          </p:nvSpPr>
          <p:spPr>
            <a:xfrm>
              <a:off x="7635196" y="238773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D76B9EC2-4893-40C7-83B3-CDFBD6DD3F18}"/>
                </a:ext>
              </a:extLst>
            </p:cNvPr>
            <p:cNvSpPr/>
            <p:nvPr/>
          </p:nvSpPr>
          <p:spPr>
            <a:xfrm rot="21239400">
              <a:off x="6651618" y="2438967"/>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F36359AB-084C-4860-BA76-4CF35778C929}"/>
                </a:ext>
              </a:extLst>
            </p:cNvPr>
            <p:cNvSpPr/>
            <p:nvPr/>
          </p:nvSpPr>
          <p:spPr>
            <a:xfrm rot="21239400">
              <a:off x="7632507" y="233580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EEF7F8F5-DEF9-4480-B161-C4C608FA6CF1}"/>
                </a:ext>
              </a:extLst>
            </p:cNvPr>
            <p:cNvSpPr/>
            <p:nvPr/>
          </p:nvSpPr>
          <p:spPr>
            <a:xfrm rot="20880600">
              <a:off x="6659715" y="2489867"/>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4D384527-4EAC-4EE4-AB5E-3EC41ED94710}"/>
                </a:ext>
              </a:extLst>
            </p:cNvPr>
            <p:cNvSpPr/>
            <p:nvPr/>
          </p:nvSpPr>
          <p:spPr>
            <a:xfrm rot="20880600">
              <a:off x="7624400" y="228496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AC83909D-F01B-43CE-BF1C-F73D22F02A85}"/>
                </a:ext>
              </a:extLst>
            </p:cNvPr>
            <p:cNvSpPr/>
            <p:nvPr/>
          </p:nvSpPr>
          <p:spPr>
            <a:xfrm rot="20520000">
              <a:off x="6673038" y="2539573"/>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4E2AD9E6-96BC-4A51-AD9A-CFD24B3346B0}"/>
                </a:ext>
              </a:extLst>
            </p:cNvPr>
            <p:cNvSpPr/>
            <p:nvPr/>
          </p:nvSpPr>
          <p:spPr>
            <a:xfrm rot="20520000">
              <a:off x="7611124" y="2234794"/>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ADCC2BBC-FE42-4D13-9532-53D20065ECFA}"/>
                </a:ext>
              </a:extLst>
            </p:cNvPr>
            <p:cNvSpPr/>
            <p:nvPr/>
          </p:nvSpPr>
          <p:spPr>
            <a:xfrm rot="20159998">
              <a:off x="6691699" y="258755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0BD26F6B-BC7D-4DFD-BD74-30519D78D9AE}"/>
                </a:ext>
              </a:extLst>
            </p:cNvPr>
            <p:cNvSpPr/>
            <p:nvPr/>
          </p:nvSpPr>
          <p:spPr>
            <a:xfrm rot="20159998">
              <a:off x="7592545" y="2186169"/>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001AF20B-7168-42C5-964F-2EC08DCB57F2}"/>
                </a:ext>
              </a:extLst>
            </p:cNvPr>
            <p:cNvSpPr/>
            <p:nvPr/>
          </p:nvSpPr>
          <p:spPr>
            <a:xfrm rot="19799999">
              <a:off x="6714886" y="263336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B7F1C13A-F8B2-4B43-8447-20CA219071B8}"/>
                </a:ext>
              </a:extLst>
            </p:cNvPr>
            <p:cNvSpPr/>
            <p:nvPr/>
          </p:nvSpPr>
          <p:spPr>
            <a:xfrm rot="19799999">
              <a:off x="7568943" y="2140221"/>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95EE14A1-97AD-47A0-856F-975639E23D37}"/>
                </a:ext>
              </a:extLst>
            </p:cNvPr>
            <p:cNvSpPr/>
            <p:nvPr/>
          </p:nvSpPr>
          <p:spPr>
            <a:xfrm rot="19439400">
              <a:off x="6742962" y="267630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480AD90F-931D-45B5-BBB4-37A49BBECAC4}"/>
                </a:ext>
              </a:extLst>
            </p:cNvPr>
            <p:cNvSpPr/>
            <p:nvPr/>
          </p:nvSpPr>
          <p:spPr>
            <a:xfrm rot="19439400">
              <a:off x="7540685" y="2096533"/>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A951B793-175F-4537-9884-9886F2A04D1D}"/>
                </a:ext>
              </a:extLst>
            </p:cNvPr>
            <p:cNvSpPr/>
            <p:nvPr/>
          </p:nvSpPr>
          <p:spPr>
            <a:xfrm rot="19079999">
              <a:off x="6775340" y="271648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1CBC3456-4C58-4725-9C9D-CBCEAE129D61}"/>
                </a:ext>
              </a:extLst>
            </p:cNvPr>
            <p:cNvSpPr/>
            <p:nvPr/>
          </p:nvSpPr>
          <p:spPr>
            <a:xfrm rot="19079999">
              <a:off x="7508380" y="2056273"/>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D59B175E-E623-4ADD-B79A-EB3723AB0D67}"/>
                </a:ext>
              </a:extLst>
            </p:cNvPr>
            <p:cNvSpPr/>
            <p:nvPr/>
          </p:nvSpPr>
          <p:spPr>
            <a:xfrm rot="18720599">
              <a:off x="6811591" y="275275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089FCDD4-F1F5-4409-8EE4-230BED63FEC0}"/>
                </a:ext>
              </a:extLst>
            </p:cNvPr>
            <p:cNvSpPr/>
            <p:nvPr/>
          </p:nvSpPr>
          <p:spPr>
            <a:xfrm rot="18720599">
              <a:off x="7471846" y="2019729"/>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1F7E610F-3C9B-4FAB-BC3E-459FC8ACF567}"/>
                </a:ext>
              </a:extLst>
            </p:cNvPr>
            <p:cNvSpPr/>
            <p:nvPr/>
          </p:nvSpPr>
          <p:spPr>
            <a:xfrm rot="18360599">
              <a:off x="6851750" y="2785073"/>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5613C4C7-8A5D-41FB-8852-0936C83F6832}"/>
                </a:ext>
              </a:extLst>
            </p:cNvPr>
            <p:cNvSpPr/>
            <p:nvPr/>
          </p:nvSpPr>
          <p:spPr>
            <a:xfrm rot="18359999">
              <a:off x="7431576" y="1987030"/>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B4620DC8-9277-4ADA-9640-BD77E089661F}"/>
                </a:ext>
              </a:extLst>
            </p:cNvPr>
            <p:cNvSpPr/>
            <p:nvPr/>
          </p:nvSpPr>
          <p:spPr>
            <a:xfrm rot="18000001">
              <a:off x="6894897" y="281298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43D877C7-0E7E-4A3A-AA51-52D249181391}"/>
                </a:ext>
              </a:extLst>
            </p:cNvPr>
            <p:cNvSpPr/>
            <p:nvPr/>
          </p:nvSpPr>
          <p:spPr>
            <a:xfrm rot="18000001">
              <a:off x="7388055" y="195888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2F4B270C-2520-4091-ADB9-3790079A56A5}"/>
                </a:ext>
              </a:extLst>
            </p:cNvPr>
            <p:cNvSpPr/>
            <p:nvPr/>
          </p:nvSpPr>
          <p:spPr>
            <a:xfrm rot="17639400">
              <a:off x="6940701" y="283610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4EFD77A7-A0A0-43F1-921A-38E744C49A0D}"/>
                </a:ext>
              </a:extLst>
            </p:cNvPr>
            <p:cNvSpPr/>
            <p:nvPr/>
          </p:nvSpPr>
          <p:spPr>
            <a:xfrm rot="17639400">
              <a:off x="7341730" y="193527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CD1150B8-0AFA-41EB-B105-7B9E88CF87F8}"/>
                </a:ext>
              </a:extLst>
            </p:cNvPr>
            <p:cNvSpPr/>
            <p:nvPr/>
          </p:nvSpPr>
          <p:spPr>
            <a:xfrm rot="17279999">
              <a:off x="6988776" y="285471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DA0474F3-B09D-4132-978F-A7FD0FD9B2EB}"/>
                </a:ext>
              </a:extLst>
            </p:cNvPr>
            <p:cNvSpPr/>
            <p:nvPr/>
          </p:nvSpPr>
          <p:spPr>
            <a:xfrm rot="17279999">
              <a:off x="7293518" y="1916671"/>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C4D0A8E1-BF8D-495F-9AD3-54DBF75B131B}"/>
                </a:ext>
              </a:extLst>
            </p:cNvPr>
            <p:cNvSpPr/>
            <p:nvPr/>
          </p:nvSpPr>
          <p:spPr>
            <a:xfrm rot="16920001">
              <a:off x="7038424" y="286779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70D57671-013A-44A3-90CD-414C46F6DF25}"/>
                </a:ext>
              </a:extLst>
            </p:cNvPr>
            <p:cNvSpPr/>
            <p:nvPr/>
          </p:nvSpPr>
          <p:spPr>
            <a:xfrm rot="16920599">
              <a:off x="7243611" y="190326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0612E59E-5283-428F-850B-52F12B7F738A}"/>
                </a:ext>
              </a:extLst>
            </p:cNvPr>
            <p:cNvSpPr/>
            <p:nvPr/>
          </p:nvSpPr>
          <p:spPr>
            <a:xfrm rot="16559998">
              <a:off x="7089216" y="2875957"/>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8DC01794-8CE1-4703-9D5A-C408E8B3A42F}"/>
                </a:ext>
              </a:extLst>
            </p:cNvPr>
            <p:cNvSpPr/>
            <p:nvPr/>
          </p:nvSpPr>
          <p:spPr>
            <a:xfrm rot="16559998">
              <a:off x="7192372" y="189520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grpSp>
      <p:pic>
        <p:nvPicPr>
          <p:cNvPr id="228" name="Picture 227">
            <a:extLst>
              <a:ext uri="{FF2B5EF4-FFF2-40B4-BE49-F238E27FC236}">
                <a16:creationId xmlns:a16="http://schemas.microsoft.com/office/drawing/2014/main" id="{90B6B96B-B63A-4EF7-93ED-9B9E7D31CD8C}"/>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rot="2163067">
            <a:off x="2861248" y="4850785"/>
            <a:ext cx="669493" cy="671818"/>
          </a:xfrm>
          <a:prstGeom prst="rect">
            <a:avLst/>
          </a:prstGeom>
          <a:effectLst>
            <a:outerShdw blurRad="317500" sx="102000" sy="102000" algn="ctr" rotWithShape="0">
              <a:prstClr val="black">
                <a:alpha val="15000"/>
              </a:prstClr>
            </a:outerShdw>
          </a:effectLst>
        </p:spPr>
      </p:pic>
      <p:sp>
        <p:nvSpPr>
          <p:cNvPr id="230" name="TextBox 229">
            <a:extLst>
              <a:ext uri="{FF2B5EF4-FFF2-40B4-BE49-F238E27FC236}">
                <a16:creationId xmlns:a16="http://schemas.microsoft.com/office/drawing/2014/main" id="{0473DD2D-8209-44F9-AD07-31F9B62A13BF}"/>
              </a:ext>
            </a:extLst>
          </p:cNvPr>
          <p:cNvSpPr txBox="1"/>
          <p:nvPr/>
        </p:nvSpPr>
        <p:spPr>
          <a:xfrm>
            <a:off x="237314" y="3144867"/>
            <a:ext cx="1896449" cy="646331"/>
          </a:xfrm>
          <a:prstGeom prst="rect">
            <a:avLst/>
          </a:prstGeom>
          <a:noFill/>
        </p:spPr>
        <p:txBody>
          <a:bodyPr wrap="square">
            <a:spAutoFit/>
          </a:bodyPr>
          <a:lstStyle/>
          <a:p>
            <a:pPr fontAlgn="base"/>
            <a:r>
              <a:rPr lang="es-ES" sz="1200" dirty="0">
                <a:latin typeface="Trebuchet MS" panose="020B0603020202020204" pitchFamily="34" charset="0"/>
                <a:ea typeface="Verdana" panose="020B0604030504040204" pitchFamily="34" charset="0"/>
              </a:rPr>
              <a:t>2 comprimidos, de una sola vez, durante el aura o al inicio de la cefalea.</a:t>
            </a:r>
          </a:p>
        </p:txBody>
      </p:sp>
      <p:sp>
        <p:nvSpPr>
          <p:cNvPr id="231" name="TextBox 230">
            <a:extLst>
              <a:ext uri="{FF2B5EF4-FFF2-40B4-BE49-F238E27FC236}">
                <a16:creationId xmlns:a16="http://schemas.microsoft.com/office/drawing/2014/main" id="{E074B325-44F5-43D1-8D5A-6FBDDC1B113E}"/>
              </a:ext>
            </a:extLst>
          </p:cNvPr>
          <p:cNvSpPr txBox="1"/>
          <p:nvPr/>
        </p:nvSpPr>
        <p:spPr>
          <a:xfrm>
            <a:off x="2561144" y="3295966"/>
            <a:ext cx="2325144" cy="461665"/>
          </a:xfrm>
          <a:prstGeom prst="rect">
            <a:avLst/>
          </a:prstGeom>
          <a:noFill/>
        </p:spPr>
        <p:txBody>
          <a:bodyPr wrap="square">
            <a:spAutoFit/>
          </a:bodyPr>
          <a:lstStyle/>
          <a:p>
            <a:pPr fontAlgn="base"/>
            <a:r>
              <a:rPr lang="es-ES" sz="1200" dirty="0">
                <a:latin typeface="Trebuchet MS" panose="020B0603020202020204" pitchFamily="34" charset="0"/>
                <a:ea typeface="Verdana" panose="020B0604030504040204" pitchFamily="34" charset="0"/>
              </a:rPr>
              <a:t>Si fuera necesario, administrar </a:t>
            </a:r>
          </a:p>
          <a:p>
            <a:pPr fontAlgn="base"/>
            <a:r>
              <a:rPr lang="es-ES" sz="1200" dirty="0">
                <a:latin typeface="Trebuchet MS" panose="020B0603020202020204" pitchFamily="34" charset="0"/>
                <a:ea typeface="Verdana" panose="020B0604030504040204" pitchFamily="34" charset="0"/>
              </a:rPr>
              <a:t>1 comprimido adicional.</a:t>
            </a:r>
          </a:p>
        </p:txBody>
      </p:sp>
      <p:sp>
        <p:nvSpPr>
          <p:cNvPr id="232" name="TextBox 231">
            <a:extLst>
              <a:ext uri="{FF2B5EF4-FFF2-40B4-BE49-F238E27FC236}">
                <a16:creationId xmlns:a16="http://schemas.microsoft.com/office/drawing/2014/main" id="{8D07F28D-99DE-4AF1-A2BC-891B485ACA94}"/>
              </a:ext>
            </a:extLst>
          </p:cNvPr>
          <p:cNvSpPr txBox="1"/>
          <p:nvPr/>
        </p:nvSpPr>
        <p:spPr>
          <a:xfrm>
            <a:off x="4973611" y="3292566"/>
            <a:ext cx="2325144" cy="461665"/>
          </a:xfrm>
          <a:prstGeom prst="rect">
            <a:avLst/>
          </a:prstGeom>
          <a:noFill/>
        </p:spPr>
        <p:txBody>
          <a:bodyPr wrap="square">
            <a:spAutoFit/>
          </a:bodyPr>
          <a:lstStyle/>
          <a:p>
            <a:pPr fontAlgn="base"/>
            <a:r>
              <a:rPr lang="es-ES" sz="1200" dirty="0">
                <a:latin typeface="Trebuchet MS" panose="020B0603020202020204" pitchFamily="34" charset="0"/>
                <a:ea typeface="Verdana" panose="020B0604030504040204" pitchFamily="34" charset="0"/>
              </a:rPr>
              <a:t>Si fuera necesario, administrar </a:t>
            </a:r>
          </a:p>
          <a:p>
            <a:pPr fontAlgn="base"/>
            <a:r>
              <a:rPr lang="es-ES" sz="1200" dirty="0">
                <a:latin typeface="Trebuchet MS" panose="020B0603020202020204" pitchFamily="34" charset="0"/>
                <a:ea typeface="Verdana" panose="020B0604030504040204" pitchFamily="34" charset="0"/>
              </a:rPr>
              <a:t>1 comprimido adicional.</a:t>
            </a:r>
          </a:p>
        </p:txBody>
      </p:sp>
      <p:pic>
        <p:nvPicPr>
          <p:cNvPr id="235" name="Graphic 234">
            <a:extLst>
              <a:ext uri="{FF2B5EF4-FFF2-40B4-BE49-F238E27FC236}">
                <a16:creationId xmlns:a16="http://schemas.microsoft.com/office/drawing/2014/main" id="{D6FD00C5-4535-4B24-9828-87BDA43DC2D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03631" y="4067621"/>
            <a:ext cx="2661702" cy="1483344"/>
          </a:xfrm>
          <a:prstGeom prst="rect">
            <a:avLst/>
          </a:prstGeom>
        </p:spPr>
      </p:pic>
      <p:sp>
        <p:nvSpPr>
          <p:cNvPr id="233" name="TextBox 232">
            <a:extLst>
              <a:ext uri="{FF2B5EF4-FFF2-40B4-BE49-F238E27FC236}">
                <a16:creationId xmlns:a16="http://schemas.microsoft.com/office/drawing/2014/main" id="{69C01D28-1ACE-4E8D-B584-28046431E757}"/>
              </a:ext>
            </a:extLst>
          </p:cNvPr>
          <p:cNvSpPr txBox="1"/>
          <p:nvPr/>
        </p:nvSpPr>
        <p:spPr>
          <a:xfrm>
            <a:off x="2409856" y="5761667"/>
            <a:ext cx="2325144" cy="461665"/>
          </a:xfrm>
          <a:prstGeom prst="rect">
            <a:avLst/>
          </a:prstGeom>
          <a:noFill/>
        </p:spPr>
        <p:txBody>
          <a:bodyPr wrap="square">
            <a:spAutoFit/>
          </a:bodyPr>
          <a:lstStyle/>
          <a:p>
            <a:pPr fontAlgn="base"/>
            <a:r>
              <a:rPr lang="es-ES" sz="1200" dirty="0">
                <a:latin typeface="Trebuchet MS" panose="020B0603020202020204" pitchFamily="34" charset="0"/>
                <a:ea typeface="Verdana" panose="020B0604030504040204" pitchFamily="34" charset="0"/>
              </a:rPr>
              <a:t>Si fuera necesario, administrar </a:t>
            </a:r>
          </a:p>
          <a:p>
            <a:pPr fontAlgn="base"/>
            <a:r>
              <a:rPr lang="es-ES" sz="1200" dirty="0">
                <a:latin typeface="Trebuchet MS" panose="020B0603020202020204" pitchFamily="34" charset="0"/>
                <a:ea typeface="Verdana" panose="020B0604030504040204" pitchFamily="34" charset="0"/>
              </a:rPr>
              <a:t>1 comprimido adicional.</a:t>
            </a:r>
          </a:p>
        </p:txBody>
      </p:sp>
      <p:sp>
        <p:nvSpPr>
          <p:cNvPr id="234" name="TextBox 233">
            <a:extLst>
              <a:ext uri="{FF2B5EF4-FFF2-40B4-BE49-F238E27FC236}">
                <a16:creationId xmlns:a16="http://schemas.microsoft.com/office/drawing/2014/main" id="{41FF6DE3-5AA5-4477-B912-9CF84BB8522F}"/>
              </a:ext>
            </a:extLst>
          </p:cNvPr>
          <p:cNvSpPr txBox="1"/>
          <p:nvPr/>
        </p:nvSpPr>
        <p:spPr>
          <a:xfrm>
            <a:off x="71498" y="5747042"/>
            <a:ext cx="2212372" cy="461665"/>
          </a:xfrm>
          <a:prstGeom prst="rect">
            <a:avLst/>
          </a:prstGeom>
          <a:noFill/>
        </p:spPr>
        <p:txBody>
          <a:bodyPr wrap="square">
            <a:spAutoFit/>
          </a:bodyPr>
          <a:lstStyle/>
          <a:p>
            <a:pPr fontAlgn="base"/>
            <a:r>
              <a:rPr lang="es-ES" sz="1200" dirty="0">
                <a:latin typeface="Trebuchet MS" panose="020B0603020202020204" pitchFamily="34" charset="0"/>
                <a:ea typeface="Verdana" panose="020B0604030504040204" pitchFamily="34" charset="0"/>
              </a:rPr>
              <a:t>1 comprimido, durante el aura o al inicio de la cefalea.</a:t>
            </a:r>
          </a:p>
        </p:txBody>
      </p:sp>
      <p:sp>
        <p:nvSpPr>
          <p:cNvPr id="229" name="TextBox 228">
            <a:extLst>
              <a:ext uri="{FF2B5EF4-FFF2-40B4-BE49-F238E27FC236}">
                <a16:creationId xmlns:a16="http://schemas.microsoft.com/office/drawing/2014/main" id="{60B1A101-9EE4-4972-B680-4F1417C841FA}"/>
              </a:ext>
            </a:extLst>
          </p:cNvPr>
          <p:cNvSpPr txBox="1"/>
          <p:nvPr/>
        </p:nvSpPr>
        <p:spPr>
          <a:xfrm>
            <a:off x="5169056" y="4374930"/>
            <a:ext cx="1821102" cy="738664"/>
          </a:xfrm>
          <a:prstGeom prst="rect">
            <a:avLst/>
          </a:prstGeom>
          <a:noFill/>
        </p:spPr>
        <p:txBody>
          <a:bodyPr wrap="square">
            <a:spAutoFit/>
          </a:bodyPr>
          <a:lstStyle/>
          <a:p>
            <a:pPr fontAlgn="base"/>
            <a:r>
              <a:rPr lang="es-ES" sz="1400" dirty="0">
                <a:solidFill>
                  <a:schemeClr val="bg1"/>
                </a:solidFill>
                <a:latin typeface="Trebuchet MS" panose="020B0603020202020204" pitchFamily="34" charset="0"/>
                <a:ea typeface="Verdana" panose="020B0604030504040204" pitchFamily="34" charset="0"/>
              </a:rPr>
              <a:t>No está indicado para niños menores de 12 años. </a:t>
            </a:r>
          </a:p>
        </p:txBody>
      </p:sp>
      <p:sp>
        <p:nvSpPr>
          <p:cNvPr id="3" name="TextBox 2">
            <a:extLst>
              <a:ext uri="{FF2B5EF4-FFF2-40B4-BE49-F238E27FC236}">
                <a16:creationId xmlns:a16="http://schemas.microsoft.com/office/drawing/2014/main" id="{C54B49DA-93C1-4FC1-BAFC-455204FC4C23}"/>
              </a:ext>
            </a:extLst>
          </p:cNvPr>
          <p:cNvSpPr txBox="1"/>
          <p:nvPr/>
        </p:nvSpPr>
        <p:spPr>
          <a:xfrm>
            <a:off x="2268266" y="2484487"/>
            <a:ext cx="530915" cy="584775"/>
          </a:xfrm>
          <a:prstGeom prst="rect">
            <a:avLst/>
          </a:prstGeom>
          <a:noFill/>
        </p:spPr>
        <p:txBody>
          <a:bodyPr wrap="none" rtlCol="0">
            <a:spAutoFit/>
          </a:bodyPr>
          <a:lstStyle/>
          <a:p>
            <a:pPr algn="ctr"/>
            <a:r>
              <a:rPr lang="pt-PT" sz="1600" b="1" dirty="0">
                <a:solidFill>
                  <a:srgbClr val="004882"/>
                </a:solidFill>
                <a:latin typeface="Trebuchet MS" panose="020B0603020202020204" pitchFamily="34" charset="0"/>
                <a:ea typeface="Verdana" panose="020B0604030504040204" pitchFamily="34" charset="0"/>
              </a:rPr>
              <a:t>30</a:t>
            </a:r>
          </a:p>
          <a:p>
            <a:pPr algn="ctr"/>
            <a:r>
              <a:rPr lang="pt-PT" sz="1600" b="1" dirty="0">
                <a:solidFill>
                  <a:srgbClr val="004882"/>
                </a:solidFill>
                <a:latin typeface="Trebuchet MS" panose="020B0603020202020204" pitchFamily="34" charset="0"/>
                <a:ea typeface="Verdana" panose="020B0604030504040204" pitchFamily="34" charset="0"/>
              </a:rPr>
              <a:t>MIN</a:t>
            </a:r>
          </a:p>
        </p:txBody>
      </p:sp>
      <p:sp>
        <p:nvSpPr>
          <p:cNvPr id="236" name="TextBox 235">
            <a:extLst>
              <a:ext uri="{FF2B5EF4-FFF2-40B4-BE49-F238E27FC236}">
                <a16:creationId xmlns:a16="http://schemas.microsoft.com/office/drawing/2014/main" id="{2C96FBB6-1D92-4C07-AD37-4A04C4E0D281}"/>
              </a:ext>
            </a:extLst>
          </p:cNvPr>
          <p:cNvSpPr txBox="1"/>
          <p:nvPr/>
        </p:nvSpPr>
        <p:spPr>
          <a:xfrm>
            <a:off x="4554063" y="2488773"/>
            <a:ext cx="530915" cy="584775"/>
          </a:xfrm>
          <a:prstGeom prst="rect">
            <a:avLst/>
          </a:prstGeom>
          <a:noFill/>
        </p:spPr>
        <p:txBody>
          <a:bodyPr wrap="none" rtlCol="0">
            <a:spAutoFit/>
          </a:bodyPr>
          <a:lstStyle/>
          <a:p>
            <a:pPr algn="ctr"/>
            <a:r>
              <a:rPr lang="pt-PT" sz="1600" b="1" dirty="0">
                <a:solidFill>
                  <a:srgbClr val="004882"/>
                </a:solidFill>
                <a:latin typeface="Trebuchet MS" panose="020B0603020202020204" pitchFamily="34" charset="0"/>
                <a:ea typeface="Verdana" panose="020B0604030504040204" pitchFamily="34" charset="0"/>
              </a:rPr>
              <a:t>30</a:t>
            </a:r>
          </a:p>
          <a:p>
            <a:pPr algn="ctr"/>
            <a:r>
              <a:rPr lang="pt-PT" sz="1600" b="1" dirty="0">
                <a:solidFill>
                  <a:srgbClr val="004882"/>
                </a:solidFill>
                <a:latin typeface="Trebuchet MS" panose="020B0603020202020204" pitchFamily="34" charset="0"/>
                <a:ea typeface="Verdana" panose="020B0604030504040204" pitchFamily="34" charset="0"/>
              </a:rPr>
              <a:t>MIN</a:t>
            </a:r>
          </a:p>
        </p:txBody>
      </p:sp>
      <p:sp>
        <p:nvSpPr>
          <p:cNvPr id="237" name="TextBox 236">
            <a:extLst>
              <a:ext uri="{FF2B5EF4-FFF2-40B4-BE49-F238E27FC236}">
                <a16:creationId xmlns:a16="http://schemas.microsoft.com/office/drawing/2014/main" id="{ECD3A082-2E98-47B3-845B-CF533C3BB65A}"/>
              </a:ext>
            </a:extLst>
          </p:cNvPr>
          <p:cNvSpPr txBox="1"/>
          <p:nvPr/>
        </p:nvSpPr>
        <p:spPr>
          <a:xfrm>
            <a:off x="1803241" y="4831013"/>
            <a:ext cx="530915" cy="584775"/>
          </a:xfrm>
          <a:prstGeom prst="rect">
            <a:avLst/>
          </a:prstGeom>
          <a:noFill/>
        </p:spPr>
        <p:txBody>
          <a:bodyPr wrap="none" rtlCol="0">
            <a:spAutoFit/>
          </a:bodyPr>
          <a:lstStyle/>
          <a:p>
            <a:pPr algn="ctr"/>
            <a:r>
              <a:rPr lang="pt-PT" sz="1600" b="1" dirty="0">
                <a:solidFill>
                  <a:srgbClr val="004882"/>
                </a:solidFill>
                <a:latin typeface="Trebuchet MS" panose="020B0603020202020204" pitchFamily="34" charset="0"/>
                <a:ea typeface="Verdana" panose="020B0604030504040204" pitchFamily="34" charset="0"/>
              </a:rPr>
              <a:t>30</a:t>
            </a:r>
          </a:p>
          <a:p>
            <a:pPr algn="ctr"/>
            <a:r>
              <a:rPr lang="pt-PT" sz="1600" b="1" dirty="0">
                <a:solidFill>
                  <a:srgbClr val="004882"/>
                </a:solidFill>
                <a:latin typeface="Trebuchet MS" panose="020B0603020202020204" pitchFamily="34" charset="0"/>
                <a:ea typeface="Verdana" panose="020B0604030504040204" pitchFamily="34" charset="0"/>
              </a:rPr>
              <a:t>MIN</a:t>
            </a:r>
          </a:p>
        </p:txBody>
      </p:sp>
      <p:sp>
        <p:nvSpPr>
          <p:cNvPr id="238" name="TextBox 237">
            <a:extLst>
              <a:ext uri="{FF2B5EF4-FFF2-40B4-BE49-F238E27FC236}">
                <a16:creationId xmlns:a16="http://schemas.microsoft.com/office/drawing/2014/main" id="{783807E6-D366-4EBC-ABF3-58D4EE95A03F}"/>
              </a:ext>
            </a:extLst>
          </p:cNvPr>
          <p:cNvSpPr txBox="1"/>
          <p:nvPr/>
        </p:nvSpPr>
        <p:spPr>
          <a:xfrm>
            <a:off x="1627252" y="6499968"/>
            <a:ext cx="5591683" cy="210058"/>
          </a:xfrm>
          <a:prstGeom prst="rect">
            <a:avLst/>
          </a:prstGeom>
          <a:noFill/>
        </p:spPr>
        <p:txBody>
          <a:bodyPr wrap="square" rtlCol="0">
            <a:spAutoFit/>
          </a:bodyPr>
          <a:lstStyle/>
          <a:p>
            <a:pPr lvl="0">
              <a:lnSpc>
                <a:spcPct val="85000"/>
              </a:lnSpc>
              <a:defRPr/>
            </a:pPr>
            <a:r>
              <a:rPr lang="en-US" sz="900" dirty="0">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RCP DE MIGRÉTIL</a:t>
            </a:r>
          </a:p>
        </p:txBody>
      </p:sp>
      <p:sp>
        <p:nvSpPr>
          <p:cNvPr id="239" name="TextBox 238">
            <a:extLst>
              <a:ext uri="{FF2B5EF4-FFF2-40B4-BE49-F238E27FC236}">
                <a16:creationId xmlns:a16="http://schemas.microsoft.com/office/drawing/2014/main" id="{37AD9E25-CD09-4A53-873E-A3F590ADC735}"/>
              </a:ext>
            </a:extLst>
          </p:cNvPr>
          <p:cNvSpPr txBox="1"/>
          <p:nvPr/>
        </p:nvSpPr>
        <p:spPr>
          <a:xfrm>
            <a:off x="8247289" y="3702892"/>
            <a:ext cx="3917496" cy="2246769"/>
          </a:xfrm>
          <a:prstGeom prst="rect">
            <a:avLst/>
          </a:prstGeom>
          <a:noFill/>
        </p:spPr>
        <p:txBody>
          <a:bodyPr wrap="square">
            <a:spAutoFit/>
          </a:bodyPr>
          <a:lstStyle/>
          <a:p>
            <a:pPr marL="285750" indent="-285750" fontAlgn="base">
              <a:buFont typeface="Arial" panose="020B0604020202020204" pitchFamily="34" charset="0"/>
              <a:buChar char="•"/>
            </a:pPr>
            <a:r>
              <a:rPr lang="es-ES" sz="1400" dirty="0">
                <a:solidFill>
                  <a:schemeClr val="bg1"/>
                </a:solidFill>
                <a:latin typeface="Trebuchet MS" panose="020B0603020202020204" pitchFamily="34" charset="0"/>
                <a:ea typeface="Verdana" panose="020B0604030504040204" pitchFamily="34" charset="0"/>
              </a:rPr>
              <a:t>Los comprimidos deben tomarse tan pronto como sea posible, después de la aparición de los primeros signos de un ataque de migraña.​</a:t>
            </a:r>
          </a:p>
          <a:p>
            <a:pPr marL="285750" indent="-285750" fontAlgn="base">
              <a:buFont typeface="Arial" panose="020B0604020202020204" pitchFamily="34" charset="0"/>
              <a:buChar char="•"/>
            </a:pPr>
            <a:endParaRPr lang="en-US" sz="1400" dirty="0">
              <a:solidFill>
                <a:schemeClr val="bg1"/>
              </a:solidFill>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es-ES" sz="1400" dirty="0">
                <a:solidFill>
                  <a:schemeClr val="bg1"/>
                </a:solidFill>
                <a:latin typeface="Trebuchet MS" panose="020B0603020202020204" pitchFamily="34" charset="0"/>
                <a:ea typeface="Verdana" panose="020B0604030504040204" pitchFamily="34" charset="0"/>
              </a:rPr>
              <a:t>No se deben tomar más de 6 comprimidos por día o 10-12 comprimidos por semana. ​</a:t>
            </a:r>
          </a:p>
          <a:p>
            <a:pPr marL="285750" indent="-285750" fontAlgn="base">
              <a:buFont typeface="Arial" panose="020B0604020202020204" pitchFamily="34" charset="0"/>
              <a:buChar char="•"/>
            </a:pPr>
            <a:endParaRPr lang="en-US" sz="1400" dirty="0">
              <a:solidFill>
                <a:schemeClr val="bg1"/>
              </a:solidFill>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es-ES" sz="1400" dirty="0">
                <a:solidFill>
                  <a:schemeClr val="bg1"/>
                </a:solidFill>
                <a:latin typeface="Trebuchet MS" panose="020B0603020202020204" pitchFamily="34" charset="0"/>
                <a:ea typeface="Verdana" panose="020B0604030504040204" pitchFamily="34" charset="0"/>
              </a:rPr>
              <a:t>Los comprimidos deben tragarse enteros, con un poco de agua.</a:t>
            </a:r>
          </a:p>
        </p:txBody>
      </p:sp>
    </p:spTree>
    <p:extLst>
      <p:ext uri="{BB962C8B-B14F-4D97-AF65-F5344CB8AC3E}">
        <p14:creationId xmlns:p14="http://schemas.microsoft.com/office/powerpoint/2010/main" val="1648655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63" presetClass="path" presetSubtype="0" decel="100000" fill="hold" grpId="1" nodeType="withEffect">
                                      <p:stCondLst>
                                        <p:cond delay="0"/>
                                      </p:stCondLst>
                                      <p:childTnLst>
                                        <p:animMotion origin="layout" path="M 1.25E-6 -4.07407E-6 L -0.05599 -4.07407E-6 " pathEditMode="relative" rAng="0" ptsTypes="AA">
                                          <p:cBhvr>
                                            <p:cTn id="9" dur="750" spd="-100000" fill="hold"/>
                                            <p:tgtEl>
                                              <p:spTgt spid="40"/>
                                            </p:tgtEl>
                                            <p:attrNameLst>
                                              <p:attrName>ppt_x</p:attrName>
                                              <p:attrName>ppt_y</p:attrName>
                                            </p:attrNameLst>
                                          </p:cBhvr>
                                          <p:rCtr x="-2799" y="0"/>
                                        </p:animMotion>
                                      </p:childTnLst>
                                    </p:cTn>
                                  </p:par>
                                  <p:par>
                                    <p:cTn id="10" presetID="2" presetClass="entr" presetSubtype="2" decel="10000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750" fill="hold"/>
                                            <p:tgtEl>
                                              <p:spTgt spid="9"/>
                                            </p:tgtEl>
                                            <p:attrNameLst>
                                              <p:attrName>ppt_x</p:attrName>
                                            </p:attrNameLst>
                                          </p:cBhvr>
                                          <p:tavLst>
                                            <p:tav tm="0">
                                              <p:val>
                                                <p:strVal val="1+#ppt_w/2"/>
                                              </p:val>
                                            </p:tav>
                                            <p:tav tm="100000">
                                              <p:val>
                                                <p:strVal val="#ppt_x"/>
                                              </p:val>
                                            </p:tav>
                                          </p:tavLst>
                                        </p:anim>
                                        <p:anim calcmode="lin" valueType="num">
                                          <p:cBhvr additive="base">
                                            <p:cTn id="13" dur="750" fill="hold"/>
                                            <p:tgtEl>
                                              <p:spTgt spid="9"/>
                                            </p:tgtEl>
                                            <p:attrNameLst>
                                              <p:attrName>ppt_y</p:attrName>
                                            </p:attrNameLst>
                                          </p:cBhvr>
                                          <p:tavLst>
                                            <p:tav tm="0">
                                              <p:val>
                                                <p:strVal val="#ppt_y"/>
                                              </p:val>
                                            </p:tav>
                                            <p:tav tm="100000">
                                              <p:val>
                                                <p:strVal val="#ppt_y"/>
                                              </p:val>
                                            </p:tav>
                                          </p:tavLst>
                                        </p:anim>
                                      </p:childTnLst>
                                    </p:cTn>
                                  </p:par>
                                  <p:par>
                                    <p:cTn id="14" presetID="2" presetClass="entr" presetSubtype="8" decel="10000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750" fill="hold"/>
                                            <p:tgtEl>
                                              <p:spTgt spid="6"/>
                                            </p:tgtEl>
                                            <p:attrNameLst>
                                              <p:attrName>ppt_x</p:attrName>
                                            </p:attrNameLst>
                                          </p:cBhvr>
                                          <p:tavLst>
                                            <p:tav tm="0">
                                              <p:val>
                                                <p:strVal val="0-#ppt_w/2"/>
                                              </p:val>
                                            </p:tav>
                                            <p:tav tm="100000">
                                              <p:val>
                                                <p:strVal val="#ppt_x"/>
                                              </p:val>
                                            </p:tav>
                                          </p:tavLst>
                                        </p:anim>
                                        <p:anim calcmode="lin" valueType="num">
                                          <p:cBhvr additive="base">
                                            <p:cTn id="17" dur="750" fill="hold"/>
                                            <p:tgtEl>
                                              <p:spTgt spid="6"/>
                                            </p:tgtEl>
                                            <p:attrNameLst>
                                              <p:attrName>ppt_y</p:attrName>
                                            </p:attrNameLst>
                                          </p:cBhvr>
                                          <p:tavLst>
                                            <p:tav tm="0">
                                              <p:val>
                                                <p:strVal val="#ppt_y"/>
                                              </p:val>
                                            </p:tav>
                                            <p:tav tm="100000">
                                              <p:val>
                                                <p:strVal val="#ppt_y"/>
                                              </p:val>
                                            </p:tav>
                                          </p:tavLst>
                                        </p:anim>
                                      </p:childTnLst>
                                    </p:cTn>
                                  </p:par>
                                  <p:par>
                                    <p:cTn id="18" presetID="10" presetClass="entr" presetSubtype="0" fill="hold" nodeType="withEffect">
                                      <p:stCondLst>
                                        <p:cond delay="75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250"/>
                                            <p:tgtEl>
                                              <p:spTgt spid="21"/>
                                            </p:tgtEl>
                                          </p:cBhvr>
                                        </p:animEffect>
                                      </p:childTnLst>
                                    </p:cTn>
                                  </p:par>
                                  <p:par>
                                    <p:cTn id="21" presetID="35" presetClass="path" presetSubtype="0" decel="100000" fill="hold" nodeType="withEffect">
                                      <p:stCondLst>
                                        <p:cond delay="750"/>
                                      </p:stCondLst>
                                      <p:childTnLst>
                                        <p:animMotion origin="layout" path="M 1.04167E-6 2.22222E-6 L -0.17917 2.22222E-6 " pathEditMode="relative" rAng="0" ptsTypes="AA">
                                          <p:cBhvr>
                                            <p:cTn id="22" dur="750" spd="-100000" fill="hold"/>
                                            <p:tgtEl>
                                              <p:spTgt spid="21"/>
                                            </p:tgtEl>
                                            <p:attrNameLst>
                                              <p:attrName>ppt_x</p:attrName>
                                              <p:attrName>ppt_y</p:attrName>
                                            </p:attrNameLst>
                                          </p:cBhvr>
                                          <p:rCtr x="-8958" y="0"/>
                                        </p:animMotion>
                                      </p:childTnLst>
                                    </p:cTn>
                                  </p:par>
                                  <p:par>
                                    <p:cTn id="23" presetID="10" presetClass="entr" presetSubtype="0" fill="hold" nodeType="withEffect">
                                      <p:stCondLst>
                                        <p:cond delay="125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250"/>
                                            <p:tgtEl>
                                              <p:spTgt spid="22"/>
                                            </p:tgtEl>
                                          </p:cBhvr>
                                        </p:animEffect>
                                      </p:childTnLst>
                                    </p:cTn>
                                  </p:par>
                                  <p:par>
                                    <p:cTn id="26" presetID="42" presetClass="path" presetSubtype="0" decel="100000" fill="hold" nodeType="withEffect">
                                      <p:stCondLst>
                                        <p:cond delay="1250"/>
                                      </p:stCondLst>
                                      <p:childTnLst>
                                        <p:animMotion origin="layout" path="M -2.08333E-7 -3.33333E-6 L 0.02279 0.13658 " pathEditMode="relative" rAng="0" ptsTypes="AA">
                                          <p:cBhvr>
                                            <p:cTn id="27" dur="1000" spd="-100000" fill="hold"/>
                                            <p:tgtEl>
                                              <p:spTgt spid="22"/>
                                            </p:tgtEl>
                                            <p:attrNameLst>
                                              <p:attrName>ppt_x</p:attrName>
                                              <p:attrName>ppt_y</p:attrName>
                                            </p:attrNameLst>
                                          </p:cBhvr>
                                          <p:rCtr x="1133" y="6829"/>
                                        </p:animMotion>
                                      </p:childTnLst>
                                    </p:cTn>
                                  </p:par>
                                  <p:par>
                                    <p:cTn id="28" presetID="10" presetClass="entr" presetSubtype="0" fill="hold" nodeType="withEffect">
                                      <p:stCondLst>
                                        <p:cond delay="125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250"/>
                                            <p:tgtEl>
                                              <p:spTgt spid="23"/>
                                            </p:tgtEl>
                                          </p:cBhvr>
                                        </p:animEffect>
                                      </p:childTnLst>
                                    </p:cTn>
                                  </p:par>
                                  <p:par>
                                    <p:cTn id="31" presetID="42" presetClass="path" presetSubtype="0" decel="100000" fill="hold" nodeType="withEffect">
                                      <p:stCondLst>
                                        <p:cond delay="1250"/>
                                      </p:stCondLst>
                                      <p:childTnLst>
                                        <p:animMotion origin="layout" path="M -2.08333E-7 -3.33333E-6 L 0.02279 0.13658 " pathEditMode="relative" rAng="0" ptsTypes="AA">
                                          <p:cBhvr>
                                            <p:cTn id="32" dur="1000" spd="-100000" fill="hold"/>
                                            <p:tgtEl>
                                              <p:spTgt spid="23"/>
                                            </p:tgtEl>
                                            <p:attrNameLst>
                                              <p:attrName>ppt_x</p:attrName>
                                              <p:attrName>ppt_y</p:attrName>
                                            </p:attrNameLst>
                                          </p:cBhvr>
                                          <p:rCtr x="1133" y="6829"/>
                                        </p:animMotion>
                                      </p:childTnLst>
                                    </p:cTn>
                                  </p:par>
                                  <p:par>
                                    <p:cTn id="33" presetID="10" presetClass="entr" presetSubtype="0" fill="hold" nodeType="withEffect">
                                      <p:stCondLst>
                                        <p:cond delay="1250"/>
                                      </p:stCondLst>
                                      <p:childTnLst>
                                        <p:set>
                                          <p:cBhvr>
                                            <p:cTn id="34" dur="1" fill="hold">
                                              <p:stCondLst>
                                                <p:cond delay="0"/>
                                              </p:stCondLst>
                                            </p:cTn>
                                            <p:tgtEl>
                                              <p:spTgt spid="101"/>
                                            </p:tgtEl>
                                            <p:attrNameLst>
                                              <p:attrName>style.visibility</p:attrName>
                                            </p:attrNameLst>
                                          </p:cBhvr>
                                          <p:to>
                                            <p:strVal val="visible"/>
                                          </p:to>
                                        </p:set>
                                        <p:animEffect transition="in" filter="fade">
                                          <p:cBhvr>
                                            <p:cTn id="35" dur="250"/>
                                            <p:tgtEl>
                                              <p:spTgt spid="101"/>
                                            </p:tgtEl>
                                          </p:cBhvr>
                                        </p:animEffect>
                                      </p:childTnLst>
                                    </p:cTn>
                                  </p:par>
                                  <p:par>
                                    <p:cTn id="36" presetID="42" presetClass="path" presetSubtype="0" decel="100000" fill="hold" nodeType="withEffect">
                                      <p:stCondLst>
                                        <p:cond delay="1250"/>
                                      </p:stCondLst>
                                      <p:childTnLst>
                                        <p:animMotion origin="layout" path="M -2.08333E-7 -3.33333E-6 L 0.02279 0.13658 " pathEditMode="relative" rAng="0" ptsTypes="AA">
                                          <p:cBhvr>
                                            <p:cTn id="37" dur="1000" spd="-100000" fill="hold"/>
                                            <p:tgtEl>
                                              <p:spTgt spid="101"/>
                                            </p:tgtEl>
                                            <p:attrNameLst>
                                              <p:attrName>ppt_x</p:attrName>
                                              <p:attrName>ppt_y</p:attrName>
                                            </p:attrNameLst>
                                          </p:cBhvr>
                                          <p:rCtr x="1133" y="6829"/>
                                        </p:animMotion>
                                      </p:childTnLst>
                                    </p:cTn>
                                  </p:par>
                                  <p:par>
                                    <p:cTn id="38" presetID="10" presetClass="entr" presetSubtype="0" fill="hold" nodeType="withEffect">
                                      <p:stCondLst>
                                        <p:cond delay="1250"/>
                                      </p:stCondLst>
                                      <p:childTnLst>
                                        <p:set>
                                          <p:cBhvr>
                                            <p:cTn id="39" dur="1" fill="hold">
                                              <p:stCondLst>
                                                <p:cond delay="0"/>
                                              </p:stCondLst>
                                            </p:cTn>
                                            <p:tgtEl>
                                              <p:spTgt spid="163"/>
                                            </p:tgtEl>
                                            <p:attrNameLst>
                                              <p:attrName>style.visibility</p:attrName>
                                            </p:attrNameLst>
                                          </p:cBhvr>
                                          <p:to>
                                            <p:strVal val="visible"/>
                                          </p:to>
                                        </p:set>
                                        <p:animEffect transition="in" filter="fade">
                                          <p:cBhvr>
                                            <p:cTn id="40" dur="250"/>
                                            <p:tgtEl>
                                              <p:spTgt spid="163"/>
                                            </p:tgtEl>
                                          </p:cBhvr>
                                        </p:animEffect>
                                      </p:childTnLst>
                                    </p:cTn>
                                  </p:par>
                                  <p:par>
                                    <p:cTn id="41" presetID="42" presetClass="path" presetSubtype="0" decel="100000" fill="hold" nodeType="withEffect">
                                      <p:stCondLst>
                                        <p:cond delay="1250"/>
                                      </p:stCondLst>
                                      <p:childTnLst>
                                        <p:animMotion origin="layout" path="M -2.08333E-7 -3.33333E-6 L 0.02279 0.13658 " pathEditMode="relative" rAng="0" ptsTypes="AA">
                                          <p:cBhvr>
                                            <p:cTn id="42" dur="1000" spd="-100000" fill="hold"/>
                                            <p:tgtEl>
                                              <p:spTgt spid="163"/>
                                            </p:tgtEl>
                                            <p:attrNameLst>
                                              <p:attrName>ppt_x</p:attrName>
                                              <p:attrName>ppt_y</p:attrName>
                                            </p:attrNameLst>
                                          </p:cBhvr>
                                          <p:rCtr x="1133" y="6829"/>
                                        </p:animMotion>
                                      </p:childTnLst>
                                    </p:cTn>
                                  </p:par>
                                  <p:par>
                                    <p:cTn id="43" presetID="10" presetClass="entr" presetSubtype="0" fill="hold" nodeType="withEffect">
                                      <p:stCondLst>
                                        <p:cond delay="1250"/>
                                      </p:stCondLst>
                                      <p:childTnLst>
                                        <p:set>
                                          <p:cBhvr>
                                            <p:cTn id="44" dur="1" fill="hold">
                                              <p:stCondLst>
                                                <p:cond delay="0"/>
                                              </p:stCondLst>
                                            </p:cTn>
                                            <p:tgtEl>
                                              <p:spTgt spid="166"/>
                                            </p:tgtEl>
                                            <p:attrNameLst>
                                              <p:attrName>style.visibility</p:attrName>
                                            </p:attrNameLst>
                                          </p:cBhvr>
                                          <p:to>
                                            <p:strVal val="visible"/>
                                          </p:to>
                                        </p:set>
                                        <p:animEffect transition="in" filter="fade">
                                          <p:cBhvr>
                                            <p:cTn id="45" dur="250"/>
                                            <p:tgtEl>
                                              <p:spTgt spid="166"/>
                                            </p:tgtEl>
                                          </p:cBhvr>
                                        </p:animEffect>
                                      </p:childTnLst>
                                    </p:cTn>
                                  </p:par>
                                  <p:par>
                                    <p:cTn id="46" presetID="42" presetClass="path" presetSubtype="0" decel="100000" fill="hold" nodeType="withEffect">
                                      <p:stCondLst>
                                        <p:cond delay="1250"/>
                                      </p:stCondLst>
                                      <p:childTnLst>
                                        <p:animMotion origin="layout" path="M -2.08333E-7 -3.33333E-6 L 0.02279 0.13658 " pathEditMode="relative" rAng="0" ptsTypes="AA">
                                          <p:cBhvr>
                                            <p:cTn id="47" dur="1000" spd="-100000" fill="hold"/>
                                            <p:tgtEl>
                                              <p:spTgt spid="166"/>
                                            </p:tgtEl>
                                            <p:attrNameLst>
                                              <p:attrName>ppt_x</p:attrName>
                                              <p:attrName>ppt_y</p:attrName>
                                            </p:attrNameLst>
                                          </p:cBhvr>
                                          <p:rCtr x="1133" y="6829"/>
                                        </p:animMotion>
                                      </p:childTnLst>
                                    </p:cTn>
                                  </p:par>
                                  <p:par>
                                    <p:cTn id="48" presetID="10" presetClass="entr" presetSubtype="0" fill="hold" nodeType="withEffect">
                                      <p:stCondLst>
                                        <p:cond delay="1250"/>
                                      </p:stCondLst>
                                      <p:childTnLst>
                                        <p:set>
                                          <p:cBhvr>
                                            <p:cTn id="49" dur="1" fill="hold">
                                              <p:stCondLst>
                                                <p:cond delay="0"/>
                                              </p:stCondLst>
                                            </p:cTn>
                                            <p:tgtEl>
                                              <p:spTgt spid="228"/>
                                            </p:tgtEl>
                                            <p:attrNameLst>
                                              <p:attrName>style.visibility</p:attrName>
                                            </p:attrNameLst>
                                          </p:cBhvr>
                                          <p:to>
                                            <p:strVal val="visible"/>
                                          </p:to>
                                        </p:set>
                                        <p:animEffect transition="in" filter="fade">
                                          <p:cBhvr>
                                            <p:cTn id="50" dur="250"/>
                                            <p:tgtEl>
                                              <p:spTgt spid="228"/>
                                            </p:tgtEl>
                                          </p:cBhvr>
                                        </p:animEffect>
                                      </p:childTnLst>
                                    </p:cTn>
                                  </p:par>
                                  <p:par>
                                    <p:cTn id="51" presetID="42" presetClass="path" presetSubtype="0" decel="100000" fill="hold" nodeType="withEffect">
                                      <p:stCondLst>
                                        <p:cond delay="1250"/>
                                      </p:stCondLst>
                                      <p:childTnLst>
                                        <p:animMotion origin="layout" path="M -2.08333E-7 -3.33333E-6 L 0.02279 0.13658 " pathEditMode="relative" rAng="0" ptsTypes="AA">
                                          <p:cBhvr>
                                            <p:cTn id="52" dur="1000" spd="-100000" fill="hold"/>
                                            <p:tgtEl>
                                              <p:spTgt spid="228"/>
                                            </p:tgtEl>
                                            <p:attrNameLst>
                                              <p:attrName>ppt_x</p:attrName>
                                              <p:attrName>ppt_y</p:attrName>
                                            </p:attrNameLst>
                                          </p:cBhvr>
                                          <p:rCtr x="1133" y="6829"/>
                                        </p:animMotion>
                                      </p:childTnLst>
                                    </p:cTn>
                                  </p:par>
                                  <p:par>
                                    <p:cTn id="53" presetID="23" presetClass="entr" presetSubtype="16" fill="hold" nodeType="withEffect">
                                      <p:stCondLst>
                                        <p:cond delay="1250"/>
                                      </p:stCondLst>
                                      <p:childTnLst>
                                        <p:set>
                                          <p:cBhvr>
                                            <p:cTn id="54" dur="1" fill="hold">
                                              <p:stCondLst>
                                                <p:cond delay="0"/>
                                              </p:stCondLst>
                                            </p:cTn>
                                            <p:tgtEl>
                                              <p:spTgt spid="235"/>
                                            </p:tgtEl>
                                            <p:attrNameLst>
                                              <p:attrName>style.visibility</p:attrName>
                                            </p:attrNameLst>
                                          </p:cBhvr>
                                          <p:to>
                                            <p:strVal val="visible"/>
                                          </p:to>
                                        </p:set>
                                        <p:anim calcmode="lin" valueType="num">
                                          <p:cBhvr>
                                            <p:cTn id="55" dur="200" fill="hold"/>
                                            <p:tgtEl>
                                              <p:spTgt spid="235"/>
                                            </p:tgtEl>
                                            <p:attrNameLst>
                                              <p:attrName>ppt_w</p:attrName>
                                            </p:attrNameLst>
                                          </p:cBhvr>
                                          <p:tavLst>
                                            <p:tav tm="0">
                                              <p:val>
                                                <p:fltVal val="0"/>
                                              </p:val>
                                            </p:tav>
                                            <p:tav tm="100000">
                                              <p:val>
                                                <p:strVal val="#ppt_w"/>
                                              </p:val>
                                            </p:tav>
                                          </p:tavLst>
                                        </p:anim>
                                        <p:anim calcmode="lin" valueType="num">
                                          <p:cBhvr>
                                            <p:cTn id="56" dur="200" fill="hold"/>
                                            <p:tgtEl>
                                              <p:spTgt spid="235"/>
                                            </p:tgtEl>
                                            <p:attrNameLst>
                                              <p:attrName>ppt_h</p:attrName>
                                            </p:attrNameLst>
                                          </p:cBhvr>
                                          <p:tavLst>
                                            <p:tav tm="0">
                                              <p:val>
                                                <p:fltVal val="0"/>
                                              </p:val>
                                            </p:tav>
                                            <p:tav tm="100000">
                                              <p:val>
                                                <p:strVal val="#ppt_h"/>
                                              </p:val>
                                            </p:tav>
                                          </p:tavLst>
                                        </p:anim>
                                      </p:childTnLst>
                                    </p:cTn>
                                  </p:par>
                                  <p:par>
                                    <p:cTn id="57" presetID="6" presetClass="emph" presetSubtype="0" fill="hold" nodeType="withEffect" p14:presetBounceEnd="99000">
                                      <p:stCondLst>
                                        <p:cond delay="1250"/>
                                      </p:stCondLst>
                                      <p:childTnLst>
                                        <p:animScale p14:bounceEnd="99000">
                                          <p:cBhvr>
                                            <p:cTn id="58" dur="1000" fill="hold"/>
                                            <p:tgtEl>
                                              <p:spTgt spid="235"/>
                                            </p:tgtEl>
                                          </p:cBhvr>
                                          <p:by x="110000" y="110000"/>
                                        </p:animScale>
                                      </p:childTnLst>
                                    </p:cTn>
                                  </p:par>
                                  <p:par>
                                    <p:cTn id="59" presetID="6" presetClass="emph" presetSubtype="0" accel="50000" decel="50000" fill="hold" nodeType="withEffect">
                                      <p:stCondLst>
                                        <p:cond delay="1250"/>
                                      </p:stCondLst>
                                      <p:childTnLst>
                                        <p:animScale>
                                          <p:cBhvr>
                                            <p:cTn id="60" dur="250" fill="hold"/>
                                            <p:tgtEl>
                                              <p:spTgt spid="235"/>
                                            </p:tgtEl>
                                          </p:cBhvr>
                                          <p:by x="91000" y="91000"/>
                                        </p:animScale>
                                      </p:childTnLst>
                                    </p:cTn>
                                  </p:par>
                                  <p:par>
                                    <p:cTn id="61" presetID="10" presetClass="entr" presetSubtype="0" fill="hold" grpId="0" nodeType="withEffect">
                                      <p:stCondLst>
                                        <p:cond delay="1750"/>
                                      </p:stCondLst>
                                      <p:childTnLst>
                                        <p:set>
                                          <p:cBhvr>
                                            <p:cTn id="62" dur="1" fill="hold">
                                              <p:stCondLst>
                                                <p:cond delay="0"/>
                                              </p:stCondLst>
                                            </p:cTn>
                                            <p:tgtEl>
                                              <p:spTgt spid="238"/>
                                            </p:tgtEl>
                                            <p:attrNameLst>
                                              <p:attrName>style.visibility</p:attrName>
                                            </p:attrNameLst>
                                          </p:cBhvr>
                                          <p:to>
                                            <p:strVal val="visible"/>
                                          </p:to>
                                        </p:set>
                                        <p:animEffect transition="in" filter="fade">
                                          <p:cBhvr>
                                            <p:cTn id="63" dur="500"/>
                                            <p:tgtEl>
                                              <p:spTgt spid="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0" grpId="0"/>
          <p:bldP spid="40" grpId="1"/>
          <p:bldP spid="23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63" presetClass="path" presetSubtype="0" decel="100000" fill="hold" grpId="1" nodeType="withEffect">
                                      <p:stCondLst>
                                        <p:cond delay="0"/>
                                      </p:stCondLst>
                                      <p:childTnLst>
                                        <p:animMotion origin="layout" path="M 1.25E-6 -4.07407E-6 L -0.05599 -4.07407E-6 " pathEditMode="relative" rAng="0" ptsTypes="AA">
                                          <p:cBhvr>
                                            <p:cTn id="9" dur="750" spd="-100000" fill="hold"/>
                                            <p:tgtEl>
                                              <p:spTgt spid="40"/>
                                            </p:tgtEl>
                                            <p:attrNameLst>
                                              <p:attrName>ppt_x</p:attrName>
                                              <p:attrName>ppt_y</p:attrName>
                                            </p:attrNameLst>
                                          </p:cBhvr>
                                          <p:rCtr x="-2799" y="0"/>
                                        </p:animMotion>
                                      </p:childTnLst>
                                    </p:cTn>
                                  </p:par>
                                  <p:par>
                                    <p:cTn id="10" presetID="2" presetClass="entr" presetSubtype="2" decel="10000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750" fill="hold"/>
                                            <p:tgtEl>
                                              <p:spTgt spid="9"/>
                                            </p:tgtEl>
                                            <p:attrNameLst>
                                              <p:attrName>ppt_x</p:attrName>
                                            </p:attrNameLst>
                                          </p:cBhvr>
                                          <p:tavLst>
                                            <p:tav tm="0">
                                              <p:val>
                                                <p:strVal val="1+#ppt_w/2"/>
                                              </p:val>
                                            </p:tav>
                                            <p:tav tm="100000">
                                              <p:val>
                                                <p:strVal val="#ppt_x"/>
                                              </p:val>
                                            </p:tav>
                                          </p:tavLst>
                                        </p:anim>
                                        <p:anim calcmode="lin" valueType="num">
                                          <p:cBhvr additive="base">
                                            <p:cTn id="13" dur="750" fill="hold"/>
                                            <p:tgtEl>
                                              <p:spTgt spid="9"/>
                                            </p:tgtEl>
                                            <p:attrNameLst>
                                              <p:attrName>ppt_y</p:attrName>
                                            </p:attrNameLst>
                                          </p:cBhvr>
                                          <p:tavLst>
                                            <p:tav tm="0">
                                              <p:val>
                                                <p:strVal val="#ppt_y"/>
                                              </p:val>
                                            </p:tav>
                                            <p:tav tm="100000">
                                              <p:val>
                                                <p:strVal val="#ppt_y"/>
                                              </p:val>
                                            </p:tav>
                                          </p:tavLst>
                                        </p:anim>
                                      </p:childTnLst>
                                    </p:cTn>
                                  </p:par>
                                  <p:par>
                                    <p:cTn id="14" presetID="2" presetClass="entr" presetSubtype="8" decel="10000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750" fill="hold"/>
                                            <p:tgtEl>
                                              <p:spTgt spid="6"/>
                                            </p:tgtEl>
                                            <p:attrNameLst>
                                              <p:attrName>ppt_x</p:attrName>
                                            </p:attrNameLst>
                                          </p:cBhvr>
                                          <p:tavLst>
                                            <p:tav tm="0">
                                              <p:val>
                                                <p:strVal val="0-#ppt_w/2"/>
                                              </p:val>
                                            </p:tav>
                                            <p:tav tm="100000">
                                              <p:val>
                                                <p:strVal val="#ppt_x"/>
                                              </p:val>
                                            </p:tav>
                                          </p:tavLst>
                                        </p:anim>
                                        <p:anim calcmode="lin" valueType="num">
                                          <p:cBhvr additive="base">
                                            <p:cTn id="17" dur="750" fill="hold"/>
                                            <p:tgtEl>
                                              <p:spTgt spid="6"/>
                                            </p:tgtEl>
                                            <p:attrNameLst>
                                              <p:attrName>ppt_y</p:attrName>
                                            </p:attrNameLst>
                                          </p:cBhvr>
                                          <p:tavLst>
                                            <p:tav tm="0">
                                              <p:val>
                                                <p:strVal val="#ppt_y"/>
                                              </p:val>
                                            </p:tav>
                                            <p:tav tm="100000">
                                              <p:val>
                                                <p:strVal val="#ppt_y"/>
                                              </p:val>
                                            </p:tav>
                                          </p:tavLst>
                                        </p:anim>
                                      </p:childTnLst>
                                    </p:cTn>
                                  </p:par>
                                  <p:par>
                                    <p:cTn id="18" presetID="10" presetClass="entr" presetSubtype="0" fill="hold" nodeType="withEffect">
                                      <p:stCondLst>
                                        <p:cond delay="75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250"/>
                                            <p:tgtEl>
                                              <p:spTgt spid="21"/>
                                            </p:tgtEl>
                                          </p:cBhvr>
                                        </p:animEffect>
                                      </p:childTnLst>
                                    </p:cTn>
                                  </p:par>
                                  <p:par>
                                    <p:cTn id="21" presetID="35" presetClass="path" presetSubtype="0" decel="100000" fill="hold" nodeType="withEffect">
                                      <p:stCondLst>
                                        <p:cond delay="750"/>
                                      </p:stCondLst>
                                      <p:childTnLst>
                                        <p:animMotion origin="layout" path="M 1.04167E-6 2.22222E-6 L -0.17917 2.22222E-6 " pathEditMode="relative" rAng="0" ptsTypes="AA">
                                          <p:cBhvr>
                                            <p:cTn id="22" dur="750" spd="-100000" fill="hold"/>
                                            <p:tgtEl>
                                              <p:spTgt spid="21"/>
                                            </p:tgtEl>
                                            <p:attrNameLst>
                                              <p:attrName>ppt_x</p:attrName>
                                              <p:attrName>ppt_y</p:attrName>
                                            </p:attrNameLst>
                                          </p:cBhvr>
                                          <p:rCtr x="-8958" y="0"/>
                                        </p:animMotion>
                                      </p:childTnLst>
                                    </p:cTn>
                                  </p:par>
                                  <p:par>
                                    <p:cTn id="23" presetID="10" presetClass="entr" presetSubtype="0" fill="hold" nodeType="withEffect">
                                      <p:stCondLst>
                                        <p:cond delay="125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250"/>
                                            <p:tgtEl>
                                              <p:spTgt spid="22"/>
                                            </p:tgtEl>
                                          </p:cBhvr>
                                        </p:animEffect>
                                      </p:childTnLst>
                                    </p:cTn>
                                  </p:par>
                                  <p:par>
                                    <p:cTn id="26" presetID="42" presetClass="path" presetSubtype="0" decel="100000" fill="hold" nodeType="withEffect">
                                      <p:stCondLst>
                                        <p:cond delay="1250"/>
                                      </p:stCondLst>
                                      <p:childTnLst>
                                        <p:animMotion origin="layout" path="M -2.08333E-7 -3.33333E-6 L 0.02279 0.13658 " pathEditMode="relative" rAng="0" ptsTypes="AA">
                                          <p:cBhvr>
                                            <p:cTn id="27" dur="1000" spd="-100000" fill="hold"/>
                                            <p:tgtEl>
                                              <p:spTgt spid="22"/>
                                            </p:tgtEl>
                                            <p:attrNameLst>
                                              <p:attrName>ppt_x</p:attrName>
                                              <p:attrName>ppt_y</p:attrName>
                                            </p:attrNameLst>
                                          </p:cBhvr>
                                          <p:rCtr x="1133" y="6829"/>
                                        </p:animMotion>
                                      </p:childTnLst>
                                    </p:cTn>
                                  </p:par>
                                  <p:par>
                                    <p:cTn id="28" presetID="10" presetClass="entr" presetSubtype="0" fill="hold" nodeType="withEffect">
                                      <p:stCondLst>
                                        <p:cond delay="125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250"/>
                                            <p:tgtEl>
                                              <p:spTgt spid="23"/>
                                            </p:tgtEl>
                                          </p:cBhvr>
                                        </p:animEffect>
                                      </p:childTnLst>
                                    </p:cTn>
                                  </p:par>
                                  <p:par>
                                    <p:cTn id="31" presetID="42" presetClass="path" presetSubtype="0" decel="100000" fill="hold" nodeType="withEffect">
                                      <p:stCondLst>
                                        <p:cond delay="1250"/>
                                      </p:stCondLst>
                                      <p:childTnLst>
                                        <p:animMotion origin="layout" path="M -2.08333E-7 -3.33333E-6 L 0.02279 0.13658 " pathEditMode="relative" rAng="0" ptsTypes="AA">
                                          <p:cBhvr>
                                            <p:cTn id="32" dur="1000" spd="-100000" fill="hold"/>
                                            <p:tgtEl>
                                              <p:spTgt spid="23"/>
                                            </p:tgtEl>
                                            <p:attrNameLst>
                                              <p:attrName>ppt_x</p:attrName>
                                              <p:attrName>ppt_y</p:attrName>
                                            </p:attrNameLst>
                                          </p:cBhvr>
                                          <p:rCtr x="1133" y="6829"/>
                                        </p:animMotion>
                                      </p:childTnLst>
                                    </p:cTn>
                                  </p:par>
                                  <p:par>
                                    <p:cTn id="33" presetID="10" presetClass="entr" presetSubtype="0" fill="hold" nodeType="withEffect">
                                      <p:stCondLst>
                                        <p:cond delay="1250"/>
                                      </p:stCondLst>
                                      <p:childTnLst>
                                        <p:set>
                                          <p:cBhvr>
                                            <p:cTn id="34" dur="1" fill="hold">
                                              <p:stCondLst>
                                                <p:cond delay="0"/>
                                              </p:stCondLst>
                                            </p:cTn>
                                            <p:tgtEl>
                                              <p:spTgt spid="101"/>
                                            </p:tgtEl>
                                            <p:attrNameLst>
                                              <p:attrName>style.visibility</p:attrName>
                                            </p:attrNameLst>
                                          </p:cBhvr>
                                          <p:to>
                                            <p:strVal val="visible"/>
                                          </p:to>
                                        </p:set>
                                        <p:animEffect transition="in" filter="fade">
                                          <p:cBhvr>
                                            <p:cTn id="35" dur="250"/>
                                            <p:tgtEl>
                                              <p:spTgt spid="101"/>
                                            </p:tgtEl>
                                          </p:cBhvr>
                                        </p:animEffect>
                                      </p:childTnLst>
                                    </p:cTn>
                                  </p:par>
                                  <p:par>
                                    <p:cTn id="36" presetID="42" presetClass="path" presetSubtype="0" decel="100000" fill="hold" nodeType="withEffect">
                                      <p:stCondLst>
                                        <p:cond delay="1250"/>
                                      </p:stCondLst>
                                      <p:childTnLst>
                                        <p:animMotion origin="layout" path="M -2.08333E-7 -3.33333E-6 L 0.02279 0.13658 " pathEditMode="relative" rAng="0" ptsTypes="AA">
                                          <p:cBhvr>
                                            <p:cTn id="37" dur="1000" spd="-100000" fill="hold"/>
                                            <p:tgtEl>
                                              <p:spTgt spid="101"/>
                                            </p:tgtEl>
                                            <p:attrNameLst>
                                              <p:attrName>ppt_x</p:attrName>
                                              <p:attrName>ppt_y</p:attrName>
                                            </p:attrNameLst>
                                          </p:cBhvr>
                                          <p:rCtr x="1133" y="6829"/>
                                        </p:animMotion>
                                      </p:childTnLst>
                                    </p:cTn>
                                  </p:par>
                                  <p:par>
                                    <p:cTn id="38" presetID="10" presetClass="entr" presetSubtype="0" fill="hold" nodeType="withEffect">
                                      <p:stCondLst>
                                        <p:cond delay="1250"/>
                                      </p:stCondLst>
                                      <p:childTnLst>
                                        <p:set>
                                          <p:cBhvr>
                                            <p:cTn id="39" dur="1" fill="hold">
                                              <p:stCondLst>
                                                <p:cond delay="0"/>
                                              </p:stCondLst>
                                            </p:cTn>
                                            <p:tgtEl>
                                              <p:spTgt spid="163"/>
                                            </p:tgtEl>
                                            <p:attrNameLst>
                                              <p:attrName>style.visibility</p:attrName>
                                            </p:attrNameLst>
                                          </p:cBhvr>
                                          <p:to>
                                            <p:strVal val="visible"/>
                                          </p:to>
                                        </p:set>
                                        <p:animEffect transition="in" filter="fade">
                                          <p:cBhvr>
                                            <p:cTn id="40" dur="250"/>
                                            <p:tgtEl>
                                              <p:spTgt spid="163"/>
                                            </p:tgtEl>
                                          </p:cBhvr>
                                        </p:animEffect>
                                      </p:childTnLst>
                                    </p:cTn>
                                  </p:par>
                                  <p:par>
                                    <p:cTn id="41" presetID="42" presetClass="path" presetSubtype="0" decel="100000" fill="hold" nodeType="withEffect">
                                      <p:stCondLst>
                                        <p:cond delay="1250"/>
                                      </p:stCondLst>
                                      <p:childTnLst>
                                        <p:animMotion origin="layout" path="M -2.08333E-7 -3.33333E-6 L 0.02279 0.13658 " pathEditMode="relative" rAng="0" ptsTypes="AA">
                                          <p:cBhvr>
                                            <p:cTn id="42" dur="1000" spd="-100000" fill="hold"/>
                                            <p:tgtEl>
                                              <p:spTgt spid="163"/>
                                            </p:tgtEl>
                                            <p:attrNameLst>
                                              <p:attrName>ppt_x</p:attrName>
                                              <p:attrName>ppt_y</p:attrName>
                                            </p:attrNameLst>
                                          </p:cBhvr>
                                          <p:rCtr x="1133" y="6829"/>
                                        </p:animMotion>
                                      </p:childTnLst>
                                    </p:cTn>
                                  </p:par>
                                  <p:par>
                                    <p:cTn id="43" presetID="10" presetClass="entr" presetSubtype="0" fill="hold" nodeType="withEffect">
                                      <p:stCondLst>
                                        <p:cond delay="1250"/>
                                      </p:stCondLst>
                                      <p:childTnLst>
                                        <p:set>
                                          <p:cBhvr>
                                            <p:cTn id="44" dur="1" fill="hold">
                                              <p:stCondLst>
                                                <p:cond delay="0"/>
                                              </p:stCondLst>
                                            </p:cTn>
                                            <p:tgtEl>
                                              <p:spTgt spid="166"/>
                                            </p:tgtEl>
                                            <p:attrNameLst>
                                              <p:attrName>style.visibility</p:attrName>
                                            </p:attrNameLst>
                                          </p:cBhvr>
                                          <p:to>
                                            <p:strVal val="visible"/>
                                          </p:to>
                                        </p:set>
                                        <p:animEffect transition="in" filter="fade">
                                          <p:cBhvr>
                                            <p:cTn id="45" dur="250"/>
                                            <p:tgtEl>
                                              <p:spTgt spid="166"/>
                                            </p:tgtEl>
                                          </p:cBhvr>
                                        </p:animEffect>
                                      </p:childTnLst>
                                    </p:cTn>
                                  </p:par>
                                  <p:par>
                                    <p:cTn id="46" presetID="42" presetClass="path" presetSubtype="0" decel="100000" fill="hold" nodeType="withEffect">
                                      <p:stCondLst>
                                        <p:cond delay="1250"/>
                                      </p:stCondLst>
                                      <p:childTnLst>
                                        <p:animMotion origin="layout" path="M -2.08333E-7 -3.33333E-6 L 0.02279 0.13658 " pathEditMode="relative" rAng="0" ptsTypes="AA">
                                          <p:cBhvr>
                                            <p:cTn id="47" dur="1000" spd="-100000" fill="hold"/>
                                            <p:tgtEl>
                                              <p:spTgt spid="166"/>
                                            </p:tgtEl>
                                            <p:attrNameLst>
                                              <p:attrName>ppt_x</p:attrName>
                                              <p:attrName>ppt_y</p:attrName>
                                            </p:attrNameLst>
                                          </p:cBhvr>
                                          <p:rCtr x="1133" y="6829"/>
                                        </p:animMotion>
                                      </p:childTnLst>
                                    </p:cTn>
                                  </p:par>
                                  <p:par>
                                    <p:cTn id="48" presetID="10" presetClass="entr" presetSubtype="0" fill="hold" nodeType="withEffect">
                                      <p:stCondLst>
                                        <p:cond delay="1250"/>
                                      </p:stCondLst>
                                      <p:childTnLst>
                                        <p:set>
                                          <p:cBhvr>
                                            <p:cTn id="49" dur="1" fill="hold">
                                              <p:stCondLst>
                                                <p:cond delay="0"/>
                                              </p:stCondLst>
                                            </p:cTn>
                                            <p:tgtEl>
                                              <p:spTgt spid="228"/>
                                            </p:tgtEl>
                                            <p:attrNameLst>
                                              <p:attrName>style.visibility</p:attrName>
                                            </p:attrNameLst>
                                          </p:cBhvr>
                                          <p:to>
                                            <p:strVal val="visible"/>
                                          </p:to>
                                        </p:set>
                                        <p:animEffect transition="in" filter="fade">
                                          <p:cBhvr>
                                            <p:cTn id="50" dur="250"/>
                                            <p:tgtEl>
                                              <p:spTgt spid="228"/>
                                            </p:tgtEl>
                                          </p:cBhvr>
                                        </p:animEffect>
                                      </p:childTnLst>
                                    </p:cTn>
                                  </p:par>
                                  <p:par>
                                    <p:cTn id="51" presetID="42" presetClass="path" presetSubtype="0" decel="100000" fill="hold" nodeType="withEffect">
                                      <p:stCondLst>
                                        <p:cond delay="1250"/>
                                      </p:stCondLst>
                                      <p:childTnLst>
                                        <p:animMotion origin="layout" path="M -2.08333E-7 -3.33333E-6 L 0.02279 0.13658 " pathEditMode="relative" rAng="0" ptsTypes="AA">
                                          <p:cBhvr>
                                            <p:cTn id="52" dur="1000" spd="-100000" fill="hold"/>
                                            <p:tgtEl>
                                              <p:spTgt spid="228"/>
                                            </p:tgtEl>
                                            <p:attrNameLst>
                                              <p:attrName>ppt_x</p:attrName>
                                              <p:attrName>ppt_y</p:attrName>
                                            </p:attrNameLst>
                                          </p:cBhvr>
                                          <p:rCtr x="1133" y="6829"/>
                                        </p:animMotion>
                                      </p:childTnLst>
                                    </p:cTn>
                                  </p:par>
                                  <p:par>
                                    <p:cTn id="53" presetID="23" presetClass="entr" presetSubtype="16" fill="hold" nodeType="withEffect">
                                      <p:stCondLst>
                                        <p:cond delay="1250"/>
                                      </p:stCondLst>
                                      <p:childTnLst>
                                        <p:set>
                                          <p:cBhvr>
                                            <p:cTn id="54" dur="1" fill="hold">
                                              <p:stCondLst>
                                                <p:cond delay="0"/>
                                              </p:stCondLst>
                                            </p:cTn>
                                            <p:tgtEl>
                                              <p:spTgt spid="235"/>
                                            </p:tgtEl>
                                            <p:attrNameLst>
                                              <p:attrName>style.visibility</p:attrName>
                                            </p:attrNameLst>
                                          </p:cBhvr>
                                          <p:to>
                                            <p:strVal val="visible"/>
                                          </p:to>
                                        </p:set>
                                        <p:anim calcmode="lin" valueType="num">
                                          <p:cBhvr>
                                            <p:cTn id="55" dur="200" fill="hold"/>
                                            <p:tgtEl>
                                              <p:spTgt spid="235"/>
                                            </p:tgtEl>
                                            <p:attrNameLst>
                                              <p:attrName>ppt_w</p:attrName>
                                            </p:attrNameLst>
                                          </p:cBhvr>
                                          <p:tavLst>
                                            <p:tav tm="0">
                                              <p:val>
                                                <p:fltVal val="0"/>
                                              </p:val>
                                            </p:tav>
                                            <p:tav tm="100000">
                                              <p:val>
                                                <p:strVal val="#ppt_w"/>
                                              </p:val>
                                            </p:tav>
                                          </p:tavLst>
                                        </p:anim>
                                        <p:anim calcmode="lin" valueType="num">
                                          <p:cBhvr>
                                            <p:cTn id="56" dur="200" fill="hold"/>
                                            <p:tgtEl>
                                              <p:spTgt spid="235"/>
                                            </p:tgtEl>
                                            <p:attrNameLst>
                                              <p:attrName>ppt_h</p:attrName>
                                            </p:attrNameLst>
                                          </p:cBhvr>
                                          <p:tavLst>
                                            <p:tav tm="0">
                                              <p:val>
                                                <p:fltVal val="0"/>
                                              </p:val>
                                            </p:tav>
                                            <p:tav tm="100000">
                                              <p:val>
                                                <p:strVal val="#ppt_h"/>
                                              </p:val>
                                            </p:tav>
                                          </p:tavLst>
                                        </p:anim>
                                      </p:childTnLst>
                                    </p:cTn>
                                  </p:par>
                                  <p:par>
                                    <p:cTn id="57" presetID="6" presetClass="emph" presetSubtype="0" fill="hold" nodeType="withEffect">
                                      <p:stCondLst>
                                        <p:cond delay="1250"/>
                                      </p:stCondLst>
                                      <p:childTnLst>
                                        <p:animScale>
                                          <p:cBhvr>
                                            <p:cTn id="58" dur="1000" fill="hold"/>
                                            <p:tgtEl>
                                              <p:spTgt spid="235"/>
                                            </p:tgtEl>
                                          </p:cBhvr>
                                          <p:by x="110000" y="110000"/>
                                        </p:animScale>
                                      </p:childTnLst>
                                    </p:cTn>
                                  </p:par>
                                  <p:par>
                                    <p:cTn id="59" presetID="6" presetClass="emph" presetSubtype="0" accel="50000" decel="50000" fill="hold" nodeType="withEffect">
                                      <p:stCondLst>
                                        <p:cond delay="1250"/>
                                      </p:stCondLst>
                                      <p:childTnLst>
                                        <p:animScale>
                                          <p:cBhvr>
                                            <p:cTn id="60" dur="250" fill="hold"/>
                                            <p:tgtEl>
                                              <p:spTgt spid="235"/>
                                            </p:tgtEl>
                                          </p:cBhvr>
                                          <p:by x="91000" y="91000"/>
                                        </p:animScale>
                                      </p:childTnLst>
                                    </p:cTn>
                                  </p:par>
                                  <p:par>
                                    <p:cTn id="61" presetID="10" presetClass="entr" presetSubtype="0" fill="hold" grpId="0" nodeType="withEffect">
                                      <p:stCondLst>
                                        <p:cond delay="1750"/>
                                      </p:stCondLst>
                                      <p:childTnLst>
                                        <p:set>
                                          <p:cBhvr>
                                            <p:cTn id="62" dur="1" fill="hold">
                                              <p:stCondLst>
                                                <p:cond delay="0"/>
                                              </p:stCondLst>
                                            </p:cTn>
                                            <p:tgtEl>
                                              <p:spTgt spid="238"/>
                                            </p:tgtEl>
                                            <p:attrNameLst>
                                              <p:attrName>style.visibility</p:attrName>
                                            </p:attrNameLst>
                                          </p:cBhvr>
                                          <p:to>
                                            <p:strVal val="visible"/>
                                          </p:to>
                                        </p:set>
                                        <p:animEffect transition="in" filter="fade">
                                          <p:cBhvr>
                                            <p:cTn id="63" dur="500"/>
                                            <p:tgtEl>
                                              <p:spTgt spid="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0" grpId="0"/>
          <p:bldP spid="40" grpId="1"/>
          <p:bldP spid="238" grpId="0"/>
        </p:bldLst>
      </p:timing>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B194DFA-D81F-45C6-98D0-615747557E57}"/>
              </a:ext>
            </a:extLst>
          </p:cNvPr>
          <p:cNvSpPr/>
          <p:nvPr/>
        </p:nvSpPr>
        <p:spPr>
          <a:xfrm>
            <a:off x="0" y="3814949"/>
            <a:ext cx="12192000" cy="30517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2" name="Group 181">
            <a:extLst>
              <a:ext uri="{FF2B5EF4-FFF2-40B4-BE49-F238E27FC236}">
                <a16:creationId xmlns:a16="http://schemas.microsoft.com/office/drawing/2014/main" id="{77396E5F-348C-4338-B293-968BEA981FDB}"/>
              </a:ext>
            </a:extLst>
          </p:cNvPr>
          <p:cNvGrpSpPr/>
          <p:nvPr/>
        </p:nvGrpSpPr>
        <p:grpSpPr>
          <a:xfrm>
            <a:off x="252552" y="6342796"/>
            <a:ext cx="11686895" cy="398170"/>
            <a:chOff x="252552" y="6226684"/>
            <a:chExt cx="11686895" cy="398170"/>
          </a:xfrm>
        </p:grpSpPr>
        <p:grpSp>
          <p:nvGrpSpPr>
            <p:cNvPr id="172" name="Group 171">
              <a:extLst>
                <a:ext uri="{FF2B5EF4-FFF2-40B4-BE49-F238E27FC236}">
                  <a16:creationId xmlns:a16="http://schemas.microsoft.com/office/drawing/2014/main" id="{043DA00A-4155-4488-8261-DB136097B10C}"/>
                </a:ext>
              </a:extLst>
            </p:cNvPr>
            <p:cNvGrpSpPr/>
            <p:nvPr/>
          </p:nvGrpSpPr>
          <p:grpSpPr>
            <a:xfrm>
              <a:off x="252552" y="6293241"/>
              <a:ext cx="1266906" cy="265056"/>
              <a:chOff x="5600700" y="-854146"/>
              <a:chExt cx="989647" cy="207049"/>
            </a:xfrm>
          </p:grpSpPr>
          <p:sp>
            <p:nvSpPr>
              <p:cNvPr id="173" name="Freeform: Shape 172">
                <a:extLst>
                  <a:ext uri="{FF2B5EF4-FFF2-40B4-BE49-F238E27FC236}">
                    <a16:creationId xmlns:a16="http://schemas.microsoft.com/office/drawing/2014/main" id="{5529D942-D3DC-4AA5-A11E-2EAD767EE35D}"/>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0755DD92-DC0C-4053-A436-745AF0A70850}"/>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4518EE33-E21D-4E76-B041-14F423E26EAD}"/>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4C711A2-EC08-414B-B62D-F848E4E33BC2}"/>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7152FC00-E28E-4906-9909-07FB83382FA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5C0BFA11-C3DB-4246-9AA5-3EC58FE54C46}"/>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D22D6EE2-4EA8-4E7A-B8FF-7F9FE44552D8}"/>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BDBBAA55-241D-4C91-804F-8945A70DB132}"/>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BE44E2D9-A68F-4AE8-873F-8B818D81D3B6}"/>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72541" y="6226684"/>
              <a:ext cx="1266906" cy="398170"/>
            </a:xfrm>
            <a:prstGeom prst="rect">
              <a:avLst/>
            </a:prstGeom>
          </p:spPr>
        </p:pic>
      </p:grpSp>
      <p:sp>
        <p:nvSpPr>
          <p:cNvPr id="34" name="TextBox 33">
            <a:extLst>
              <a:ext uri="{FF2B5EF4-FFF2-40B4-BE49-F238E27FC236}">
                <a16:creationId xmlns:a16="http://schemas.microsoft.com/office/drawing/2014/main" id="{12C2FC84-16A9-404C-B772-BCB47C6A8CAD}"/>
              </a:ext>
            </a:extLst>
          </p:cNvPr>
          <p:cNvSpPr txBox="1"/>
          <p:nvPr/>
        </p:nvSpPr>
        <p:spPr>
          <a:xfrm>
            <a:off x="1675636" y="6505364"/>
            <a:ext cx="5591683" cy="210058"/>
          </a:xfrm>
          <a:prstGeom prst="rect">
            <a:avLst/>
          </a:prstGeom>
          <a:noFill/>
        </p:spPr>
        <p:txBody>
          <a:bodyPr wrap="square" rtlCol="0">
            <a:spAutoFit/>
          </a:bodyPr>
          <a:lstStyle/>
          <a:p>
            <a:pPr lvl="0">
              <a:lnSpc>
                <a:spcPct val="85000"/>
              </a:lnSpc>
              <a:defRPr/>
            </a:pPr>
            <a:r>
              <a:rPr lang="en-US" sz="900" dirty="0">
                <a:solidFill>
                  <a:schemeClr val="bg1">
                    <a:lumMod val="50000"/>
                  </a:schemeClr>
                </a:solidFill>
                <a:latin typeface="Trebuchet MS" panose="020B0603020202020204" pitchFamily="34" charset="0"/>
                <a:ea typeface="Verdana" panose="020B0604030504040204" pitchFamily="34" charset="0"/>
                <a:cs typeface="Zilla Slab Light"/>
                <a:sym typeface="Zilla Slab Light"/>
              </a:rPr>
              <a:t>RCP DE MIGRÉTIL</a:t>
            </a:r>
          </a:p>
        </p:txBody>
      </p:sp>
      <p:sp>
        <p:nvSpPr>
          <p:cNvPr id="35" name="Rectangle: Rounded Corners 34">
            <a:extLst>
              <a:ext uri="{FF2B5EF4-FFF2-40B4-BE49-F238E27FC236}">
                <a16:creationId xmlns:a16="http://schemas.microsoft.com/office/drawing/2014/main" id="{DA1C655C-BCC0-4F57-94A4-901087C9D653}"/>
              </a:ext>
            </a:extLst>
          </p:cNvPr>
          <p:cNvSpPr/>
          <p:nvPr/>
        </p:nvSpPr>
        <p:spPr>
          <a:xfrm>
            <a:off x="436717" y="749209"/>
            <a:ext cx="3696922" cy="5359575"/>
          </a:xfrm>
          <a:prstGeom prst="roundRect">
            <a:avLst>
              <a:gd name="adj" fmla="val 3782"/>
            </a:avLst>
          </a:prstGeom>
          <a:solidFill>
            <a:schemeClr val="bg1"/>
          </a:solidFill>
          <a:ln>
            <a:noFill/>
          </a:ln>
          <a:effectLst>
            <a:outerShdw blurRad="5969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B7743AA2-C8F6-4079-99A8-E499AB6257A7}"/>
              </a:ext>
            </a:extLst>
          </p:cNvPr>
          <p:cNvSpPr/>
          <p:nvPr/>
        </p:nvSpPr>
        <p:spPr>
          <a:xfrm>
            <a:off x="4471478" y="749208"/>
            <a:ext cx="3696922" cy="5359575"/>
          </a:xfrm>
          <a:prstGeom prst="roundRect">
            <a:avLst>
              <a:gd name="adj" fmla="val 3782"/>
            </a:avLst>
          </a:prstGeom>
          <a:solidFill>
            <a:schemeClr val="bg1"/>
          </a:solidFill>
          <a:ln>
            <a:noFill/>
          </a:ln>
          <a:effectLst>
            <a:outerShdw blurRad="5969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Rounded Corners 39">
            <a:extLst>
              <a:ext uri="{FF2B5EF4-FFF2-40B4-BE49-F238E27FC236}">
                <a16:creationId xmlns:a16="http://schemas.microsoft.com/office/drawing/2014/main" id="{E57F75C4-D26B-4681-B1FB-F3F37834BF3F}"/>
              </a:ext>
            </a:extLst>
          </p:cNvPr>
          <p:cNvSpPr/>
          <p:nvPr/>
        </p:nvSpPr>
        <p:spPr>
          <a:xfrm>
            <a:off x="8371282" y="687152"/>
            <a:ext cx="3696922" cy="5359575"/>
          </a:xfrm>
          <a:prstGeom prst="roundRect">
            <a:avLst>
              <a:gd name="adj" fmla="val 3782"/>
            </a:avLst>
          </a:prstGeom>
          <a:solidFill>
            <a:schemeClr val="bg1"/>
          </a:solidFill>
          <a:ln>
            <a:noFill/>
          </a:ln>
          <a:effectLst>
            <a:outerShdw blurRad="5969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TextBox 74">
            <a:extLst>
              <a:ext uri="{FF2B5EF4-FFF2-40B4-BE49-F238E27FC236}">
                <a16:creationId xmlns:a16="http://schemas.microsoft.com/office/drawing/2014/main" id="{54288532-9AB4-4A71-ACC6-049CB7B966D4}"/>
              </a:ext>
            </a:extLst>
          </p:cNvPr>
          <p:cNvSpPr txBox="1"/>
          <p:nvPr/>
        </p:nvSpPr>
        <p:spPr>
          <a:xfrm>
            <a:off x="4605934" y="1247554"/>
            <a:ext cx="3548116" cy="4031873"/>
          </a:xfrm>
          <a:prstGeom prst="rect">
            <a:avLst/>
          </a:prstGeom>
          <a:noFill/>
        </p:spPr>
        <p:txBody>
          <a:bodyPr wrap="square" rtlCol="0">
            <a:spAutoFit/>
          </a:bodyPr>
          <a:lstStyle/>
          <a:p>
            <a:r>
              <a:rPr lang="es-ES" sz="1600" dirty="0">
                <a:latin typeface="Trebuchet MS" panose="020B0603020202020204" pitchFamily="34" charset="0"/>
                <a:ea typeface="Verdana" panose="020B0604030504040204" pitchFamily="34" charset="0"/>
              </a:rPr>
              <a:t>A LAS DOSIS RECOMENDADAS, MIGRÉTIL SUELE SER BIEN TOLERADO.</a:t>
            </a:r>
          </a:p>
          <a:p>
            <a:pPr marL="285750" indent="-285750">
              <a:buFont typeface="Wingdings" panose="05000000000000000000" pitchFamily="2" charset="2"/>
              <a:buChar char="ü"/>
            </a:pPr>
            <a:endParaRPr lang="es-ES" sz="1600" dirty="0">
              <a:latin typeface="Trebuchet MS" panose="020B0603020202020204" pitchFamily="34" charset="0"/>
              <a:ea typeface="Verdana" panose="020B0604030504040204" pitchFamily="34" charset="0"/>
            </a:endParaRPr>
          </a:p>
          <a:p>
            <a:r>
              <a:rPr lang="es-ES" sz="1600" dirty="0">
                <a:latin typeface="Trebuchet MS" panose="020B0603020202020204" pitchFamily="34" charset="0"/>
                <a:ea typeface="Verdana" panose="020B0604030504040204" pitchFamily="34" charset="0"/>
              </a:rPr>
              <a:t>Sin embargo, puede producir algunos efectos indeseables:</a:t>
            </a:r>
          </a:p>
          <a:p>
            <a:pPr marL="285750" indent="-285750">
              <a:buFont typeface="Arial" panose="020B0604020202020204" pitchFamily="34" charset="0"/>
              <a:buChar char="•"/>
            </a:pPr>
            <a:r>
              <a:rPr lang="es-ES" sz="1600" dirty="0">
                <a:latin typeface="Trebuchet MS" panose="020B0603020202020204" pitchFamily="34" charset="0"/>
                <a:ea typeface="Verdana" panose="020B0604030504040204" pitchFamily="34" charset="0"/>
              </a:rPr>
              <a:t>Reacciones cutáneas de hipersensibilidad</a:t>
            </a:r>
          </a:p>
          <a:p>
            <a:pPr marL="285750" indent="-285750">
              <a:buFont typeface="Arial" panose="020B0604020202020204" pitchFamily="34" charset="0"/>
              <a:buChar char="•"/>
            </a:pPr>
            <a:r>
              <a:rPr lang="es-ES" sz="1600" dirty="0">
                <a:latin typeface="Trebuchet MS" panose="020B0603020202020204" pitchFamily="34" charset="0"/>
                <a:ea typeface="Verdana" panose="020B0604030504040204" pitchFamily="34" charset="0"/>
              </a:rPr>
              <a:t>Signos de irritación gástrica, náuseas y diarrea</a:t>
            </a:r>
          </a:p>
          <a:p>
            <a:pPr marL="285750" indent="-285750">
              <a:buFont typeface="Arial" panose="020B0604020202020204" pitchFamily="34" charset="0"/>
              <a:buChar char="•"/>
            </a:pPr>
            <a:r>
              <a:rPr lang="es-ES" sz="1600" dirty="0">
                <a:latin typeface="Trebuchet MS" panose="020B0603020202020204" pitchFamily="34" charset="0"/>
                <a:ea typeface="Verdana" panose="020B0604030504040204" pitchFamily="34" charset="0"/>
              </a:rPr>
              <a:t>Insomnio, irritabilidad, vértigo</a:t>
            </a:r>
          </a:p>
          <a:p>
            <a:pPr marL="285750" indent="-285750">
              <a:buFont typeface="Arial" panose="020B0604020202020204" pitchFamily="34" charset="0"/>
              <a:buChar char="•"/>
            </a:pPr>
            <a:r>
              <a:rPr lang="es-ES" sz="1600" dirty="0">
                <a:latin typeface="Trebuchet MS" panose="020B0603020202020204" pitchFamily="34" charset="0"/>
                <a:ea typeface="Verdana" panose="020B0604030504040204" pitchFamily="34" charset="0"/>
              </a:rPr>
              <a:t>Mialgia, parestesia y debilidad en los miembros inferiores</a:t>
            </a:r>
          </a:p>
          <a:p>
            <a:pPr marL="285750" indent="-285750">
              <a:buFont typeface="Arial" panose="020B0604020202020204" pitchFamily="34" charset="0"/>
              <a:buChar char="•"/>
            </a:pPr>
            <a:r>
              <a:rPr lang="es-ES" sz="1600" dirty="0">
                <a:latin typeface="Trebuchet MS" panose="020B0603020202020204" pitchFamily="34" charset="0"/>
                <a:ea typeface="Verdana" panose="020B0604030504040204" pitchFamily="34" charset="0"/>
              </a:rPr>
              <a:t>Efectos vasoconstrictores (extremidades frías, adormecidas y dolorosas, con o sin parestesia)</a:t>
            </a:r>
          </a:p>
        </p:txBody>
      </p:sp>
      <p:sp>
        <p:nvSpPr>
          <p:cNvPr id="53" name="Rectangle: Rounded Corners 52">
            <a:extLst>
              <a:ext uri="{FF2B5EF4-FFF2-40B4-BE49-F238E27FC236}">
                <a16:creationId xmlns:a16="http://schemas.microsoft.com/office/drawing/2014/main" id="{C40E96AD-5FAE-4BD5-A55D-4B076D640D09}"/>
              </a:ext>
            </a:extLst>
          </p:cNvPr>
          <p:cNvSpPr/>
          <p:nvPr/>
        </p:nvSpPr>
        <p:spPr>
          <a:xfrm>
            <a:off x="4826419" y="226248"/>
            <a:ext cx="2987040" cy="901908"/>
          </a:xfrm>
          <a:prstGeom prst="roundRect">
            <a:avLst>
              <a:gd name="adj" fmla="val 50000"/>
            </a:avLst>
          </a:prstGeom>
          <a:solidFill>
            <a:srgbClr val="0048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 name="TextBox 46">
            <a:extLst>
              <a:ext uri="{FF2B5EF4-FFF2-40B4-BE49-F238E27FC236}">
                <a16:creationId xmlns:a16="http://schemas.microsoft.com/office/drawing/2014/main" id="{64A6EA01-5306-4B43-9BD9-C97B6C6DEE3A}"/>
              </a:ext>
            </a:extLst>
          </p:cNvPr>
          <p:cNvSpPr txBox="1"/>
          <p:nvPr/>
        </p:nvSpPr>
        <p:spPr>
          <a:xfrm>
            <a:off x="5244703" y="316054"/>
            <a:ext cx="2150472" cy="707886"/>
          </a:xfrm>
          <a:prstGeom prst="rect">
            <a:avLst/>
          </a:prstGeom>
          <a:noFill/>
        </p:spPr>
        <p:txBody>
          <a:bodyPr wrap="square">
            <a:spAutoFit/>
          </a:bodyPr>
          <a:lstStyle/>
          <a:p>
            <a:pPr algn="ctr"/>
            <a:r>
              <a:rPr lang="es-ES" sz="2000" b="1" dirty="0">
                <a:solidFill>
                  <a:schemeClr val="bg1"/>
                </a:solidFill>
                <a:latin typeface="Trebuchet MS" panose="020B0603020202020204" pitchFamily="34" charset="0"/>
                <a:ea typeface="Verdana" panose="020B0604030504040204" pitchFamily="34" charset="0"/>
              </a:rPr>
              <a:t>REACCIONES</a:t>
            </a:r>
          </a:p>
          <a:p>
            <a:pPr algn="ctr"/>
            <a:r>
              <a:rPr lang="es-ES" sz="2000" b="1" dirty="0">
                <a:solidFill>
                  <a:schemeClr val="bg1"/>
                </a:solidFill>
                <a:latin typeface="Trebuchet MS" panose="020B0603020202020204" pitchFamily="34" charset="0"/>
                <a:ea typeface="Verdana" panose="020B0604030504040204" pitchFamily="34" charset="0"/>
              </a:rPr>
              <a:t> ADVERSAS</a:t>
            </a:r>
            <a:endParaRPr lang="pt-PT" sz="2000" dirty="0">
              <a:solidFill>
                <a:schemeClr val="bg1"/>
              </a:solidFill>
            </a:endParaRPr>
          </a:p>
        </p:txBody>
      </p:sp>
      <p:sp>
        <p:nvSpPr>
          <p:cNvPr id="71" name="TextBox 70">
            <a:extLst>
              <a:ext uri="{FF2B5EF4-FFF2-40B4-BE49-F238E27FC236}">
                <a16:creationId xmlns:a16="http://schemas.microsoft.com/office/drawing/2014/main" id="{0FAAFD43-F1E3-4480-B0DF-218462FA73CF}"/>
              </a:ext>
            </a:extLst>
          </p:cNvPr>
          <p:cNvSpPr txBox="1"/>
          <p:nvPr/>
        </p:nvSpPr>
        <p:spPr>
          <a:xfrm>
            <a:off x="626771" y="1207746"/>
            <a:ext cx="3380914" cy="4031873"/>
          </a:xfrm>
          <a:prstGeom prst="rect">
            <a:avLst/>
          </a:prstGeom>
          <a:noFill/>
        </p:spPr>
        <p:txBody>
          <a:bodyPr wrap="square" rtlCol="0">
            <a:spAutoFit/>
          </a:bodyPr>
          <a:lstStyle/>
          <a:p>
            <a:pPr marL="285750" indent="-285750">
              <a:buFont typeface="Arial" panose="020B0604020202020204" pitchFamily="34" charset="0"/>
              <a:buChar char="•"/>
            </a:pPr>
            <a:r>
              <a:rPr lang="es-ES" sz="1600" dirty="0">
                <a:latin typeface="Trebuchet MS" panose="020B0603020202020204" pitchFamily="34" charset="0"/>
                <a:ea typeface="Verdana" panose="020B0604030504040204" pitchFamily="34" charset="0"/>
              </a:rPr>
              <a:t>Hipersensibilidad a cualquiera de sus componentes</a:t>
            </a:r>
          </a:p>
          <a:p>
            <a:pPr marL="285750" indent="-285750">
              <a:buFont typeface="Arial" panose="020B0604020202020204" pitchFamily="34" charset="0"/>
              <a:buChar char="•"/>
            </a:pPr>
            <a:r>
              <a:rPr lang="es-ES" sz="1600" dirty="0">
                <a:latin typeface="Trebuchet MS" panose="020B0603020202020204" pitchFamily="34" charset="0"/>
                <a:ea typeface="Verdana" panose="020B0604030504040204" pitchFamily="34" charset="0"/>
              </a:rPr>
              <a:t>Embarazo y lactancia &gt;&gt; puede provocar abortos y malformaciones fetales, por lo que no debe utilizarse durante el embarazo</a:t>
            </a:r>
          </a:p>
          <a:p>
            <a:pPr marL="285750" indent="-285750">
              <a:buFont typeface="Arial" panose="020B0604020202020204" pitchFamily="34" charset="0"/>
              <a:buChar char="•"/>
            </a:pPr>
            <a:r>
              <a:rPr lang="es-ES" sz="1600" dirty="0">
                <a:latin typeface="Trebuchet MS" panose="020B0603020202020204" pitchFamily="34" charset="0"/>
                <a:ea typeface="Verdana" panose="020B0604030504040204" pitchFamily="34" charset="0"/>
              </a:rPr>
              <a:t>Alcoholismo activo</a:t>
            </a:r>
          </a:p>
          <a:p>
            <a:pPr marL="285750" indent="-285750">
              <a:buFont typeface="Arial" panose="020B0604020202020204" pitchFamily="34" charset="0"/>
              <a:buChar char="•"/>
            </a:pPr>
            <a:r>
              <a:rPr lang="es-ES" sz="1600" dirty="0">
                <a:latin typeface="Trebuchet MS" panose="020B0603020202020204" pitchFamily="34" charset="0"/>
                <a:ea typeface="Verdana" panose="020B0604030504040204" pitchFamily="34" charset="0"/>
              </a:rPr>
              <a:t>Insuficiencia hepática significativa</a:t>
            </a:r>
          </a:p>
          <a:p>
            <a:pPr marL="285750" indent="-285750">
              <a:buFont typeface="Arial" panose="020B0604020202020204" pitchFamily="34" charset="0"/>
              <a:buChar char="•"/>
            </a:pPr>
            <a:r>
              <a:rPr lang="es-ES" sz="1600" dirty="0">
                <a:latin typeface="Trebuchet MS" panose="020B0603020202020204" pitchFamily="34" charset="0"/>
                <a:ea typeface="Verdana" panose="020B0604030504040204" pitchFamily="34" charset="0"/>
              </a:rPr>
              <a:t>Angioplastia o cirugía vascular reciente o prevista</a:t>
            </a:r>
          </a:p>
          <a:p>
            <a:pPr marL="285750" indent="-285750">
              <a:buFont typeface="Arial" panose="020B0604020202020204" pitchFamily="34" charset="0"/>
              <a:buChar char="•"/>
            </a:pPr>
            <a:r>
              <a:rPr lang="es-ES" sz="1600" dirty="0">
                <a:latin typeface="Trebuchet MS" panose="020B0603020202020204" pitchFamily="34" charset="0"/>
                <a:ea typeface="Verdana" panose="020B0604030504040204" pitchFamily="34" charset="0"/>
              </a:rPr>
              <a:t>Enfermedad vascular periférica oclusiva</a:t>
            </a:r>
          </a:p>
          <a:p>
            <a:pPr marL="285750" indent="-285750">
              <a:buFont typeface="Arial" panose="020B0604020202020204" pitchFamily="34" charset="0"/>
              <a:buChar char="•"/>
            </a:pPr>
            <a:r>
              <a:rPr lang="es-ES" sz="1600" dirty="0">
                <a:latin typeface="Trebuchet MS" panose="020B0603020202020204" pitchFamily="34" charset="0"/>
                <a:ea typeface="Verdana" panose="020B0604030504040204" pitchFamily="34" charset="0"/>
              </a:rPr>
              <a:t>Hipertensión no controlada</a:t>
            </a:r>
          </a:p>
          <a:p>
            <a:pPr marL="285750" indent="-285750">
              <a:buFont typeface="Arial" panose="020B0604020202020204" pitchFamily="34" charset="0"/>
              <a:buChar char="•"/>
            </a:pPr>
            <a:r>
              <a:rPr lang="es-ES" sz="1600" dirty="0">
                <a:latin typeface="Trebuchet MS" panose="020B0603020202020204" pitchFamily="34" charset="0"/>
                <a:ea typeface="Verdana" panose="020B0604030504040204" pitchFamily="34" charset="0"/>
              </a:rPr>
              <a:t>Enfermedad coronaria</a:t>
            </a:r>
            <a:endParaRPr lang="es-ES" dirty="0">
              <a:latin typeface="Trebuchet MS" panose="020B0603020202020204" pitchFamily="34" charset="0"/>
              <a:ea typeface="Verdana" panose="020B0604030504040204" pitchFamily="34" charset="0"/>
              <a:cs typeface="Zilla Slab Light"/>
              <a:sym typeface="Zilla Slab Light"/>
            </a:endParaRPr>
          </a:p>
        </p:txBody>
      </p:sp>
      <p:sp>
        <p:nvSpPr>
          <p:cNvPr id="55" name="Rectangle: Rounded Corners 54">
            <a:extLst>
              <a:ext uri="{FF2B5EF4-FFF2-40B4-BE49-F238E27FC236}">
                <a16:creationId xmlns:a16="http://schemas.microsoft.com/office/drawing/2014/main" id="{820B4644-3095-46C6-83AA-8F13066CA5E7}"/>
              </a:ext>
            </a:extLst>
          </p:cNvPr>
          <p:cNvSpPr/>
          <p:nvPr/>
        </p:nvSpPr>
        <p:spPr>
          <a:xfrm>
            <a:off x="801137" y="232211"/>
            <a:ext cx="2987040" cy="901908"/>
          </a:xfrm>
          <a:prstGeom prst="roundRect">
            <a:avLst>
              <a:gd name="adj" fmla="val 50000"/>
            </a:avLst>
          </a:prstGeom>
          <a:solidFill>
            <a:srgbClr val="F13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6" name="TextBox 55">
            <a:extLst>
              <a:ext uri="{FF2B5EF4-FFF2-40B4-BE49-F238E27FC236}">
                <a16:creationId xmlns:a16="http://schemas.microsoft.com/office/drawing/2014/main" id="{9138E32E-2626-4CEB-8E7B-E3489A62EDCB}"/>
              </a:ext>
            </a:extLst>
          </p:cNvPr>
          <p:cNvSpPr txBox="1"/>
          <p:nvPr/>
        </p:nvSpPr>
        <p:spPr>
          <a:xfrm>
            <a:off x="934412" y="510437"/>
            <a:ext cx="3537066" cy="400110"/>
          </a:xfrm>
          <a:prstGeom prst="rect">
            <a:avLst/>
          </a:prstGeom>
          <a:noFill/>
        </p:spPr>
        <p:txBody>
          <a:bodyPr wrap="square">
            <a:spAutoFit/>
          </a:bodyPr>
          <a:lstStyle/>
          <a:p>
            <a:r>
              <a:rPr lang="es-ES" sz="2000" b="1" dirty="0">
                <a:solidFill>
                  <a:schemeClr val="bg1"/>
                </a:solidFill>
                <a:latin typeface="Trebuchet MS" panose="020B0603020202020204" pitchFamily="34" charset="0"/>
                <a:ea typeface="Verdana" panose="020B0604030504040204" pitchFamily="34" charset="0"/>
              </a:rPr>
              <a:t>CONTRAINDICACIONES</a:t>
            </a:r>
          </a:p>
        </p:txBody>
      </p:sp>
      <p:sp>
        <p:nvSpPr>
          <p:cNvPr id="57" name="Rectangle: Rounded Corners 56">
            <a:extLst>
              <a:ext uri="{FF2B5EF4-FFF2-40B4-BE49-F238E27FC236}">
                <a16:creationId xmlns:a16="http://schemas.microsoft.com/office/drawing/2014/main" id="{64775BFD-5F0D-47EA-A21B-FEED911D11B7}"/>
              </a:ext>
            </a:extLst>
          </p:cNvPr>
          <p:cNvSpPr/>
          <p:nvPr/>
        </p:nvSpPr>
        <p:spPr>
          <a:xfrm>
            <a:off x="8768243" y="226248"/>
            <a:ext cx="2987040" cy="901908"/>
          </a:xfrm>
          <a:prstGeom prst="roundRect">
            <a:avLst>
              <a:gd name="adj" fmla="val 50000"/>
            </a:avLst>
          </a:prstGeom>
          <a:solidFill>
            <a:srgbClr val="FDB9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8" name="TextBox 57">
            <a:extLst>
              <a:ext uri="{FF2B5EF4-FFF2-40B4-BE49-F238E27FC236}">
                <a16:creationId xmlns:a16="http://schemas.microsoft.com/office/drawing/2014/main" id="{52E08B33-D00C-40D5-B408-7745CC46E9A0}"/>
              </a:ext>
            </a:extLst>
          </p:cNvPr>
          <p:cNvSpPr txBox="1"/>
          <p:nvPr/>
        </p:nvSpPr>
        <p:spPr>
          <a:xfrm>
            <a:off x="9337635" y="323259"/>
            <a:ext cx="2053228" cy="707886"/>
          </a:xfrm>
          <a:prstGeom prst="rect">
            <a:avLst/>
          </a:prstGeom>
          <a:noFill/>
        </p:spPr>
        <p:txBody>
          <a:bodyPr wrap="square">
            <a:spAutoFit/>
          </a:bodyPr>
          <a:lstStyle/>
          <a:p>
            <a:pPr algn="ctr"/>
            <a:r>
              <a:rPr lang="es-ES" sz="2000" b="1" cap="all" dirty="0">
                <a:solidFill>
                  <a:schemeClr val="bg1"/>
                </a:solidFill>
                <a:latin typeface="Trebuchet MS" panose="020B0603020202020204" pitchFamily="34" charset="0"/>
                <a:ea typeface="Verdana" panose="020B0604030504040204" pitchFamily="34" charset="0"/>
              </a:rPr>
              <a:t>Precauciones </a:t>
            </a:r>
          </a:p>
          <a:p>
            <a:pPr algn="ctr"/>
            <a:r>
              <a:rPr lang="es-ES" sz="2000" b="1" cap="all" dirty="0">
                <a:solidFill>
                  <a:schemeClr val="bg1"/>
                </a:solidFill>
                <a:latin typeface="Trebuchet MS" panose="020B0603020202020204" pitchFamily="34" charset="0"/>
                <a:ea typeface="Verdana" panose="020B0604030504040204" pitchFamily="34" charset="0"/>
              </a:rPr>
              <a:t>especiales</a:t>
            </a:r>
            <a:endParaRPr lang="pt-PT" sz="2000" cap="all" dirty="0">
              <a:solidFill>
                <a:schemeClr val="bg1"/>
              </a:solidFill>
            </a:endParaRPr>
          </a:p>
        </p:txBody>
      </p:sp>
      <p:sp>
        <p:nvSpPr>
          <p:cNvPr id="59" name="TextBox 58">
            <a:extLst>
              <a:ext uri="{FF2B5EF4-FFF2-40B4-BE49-F238E27FC236}">
                <a16:creationId xmlns:a16="http://schemas.microsoft.com/office/drawing/2014/main" id="{8BBED4B9-73A8-4FDF-AA9D-6F0CA7CF3965}"/>
              </a:ext>
            </a:extLst>
          </p:cNvPr>
          <p:cNvSpPr txBox="1"/>
          <p:nvPr/>
        </p:nvSpPr>
        <p:spPr>
          <a:xfrm>
            <a:off x="8523864" y="1207746"/>
            <a:ext cx="3380914" cy="5047536"/>
          </a:xfrm>
          <a:prstGeom prst="rect">
            <a:avLst/>
          </a:prstGeom>
          <a:noFill/>
        </p:spPr>
        <p:txBody>
          <a:bodyPr wrap="square" rtlCol="0">
            <a:spAutoFit/>
          </a:bodyPr>
          <a:lstStyle/>
          <a:p>
            <a:pPr marL="285750" indent="-285750">
              <a:buFont typeface="Arial" panose="020B0604020202020204" pitchFamily="34" charset="0"/>
              <a:buChar char="•"/>
            </a:pPr>
            <a:r>
              <a:rPr lang="es-ES" sz="1600" dirty="0">
                <a:latin typeface="Trebuchet MS" panose="020B0603020202020204" pitchFamily="34" charset="0"/>
                <a:ea typeface="Verdana" panose="020B0604030504040204" pitchFamily="34" charset="0"/>
              </a:rPr>
              <a:t>El riesgo de complicaciones aumenta en caso de infección grave, insuficiencia renal importante o edad avanzada.​</a:t>
            </a:r>
          </a:p>
          <a:p>
            <a:pPr marL="285750" indent="-285750">
              <a:buFont typeface="Arial" panose="020B0604020202020204" pitchFamily="34" charset="0"/>
              <a:buChar char="•"/>
            </a:pPr>
            <a:r>
              <a:rPr lang="es-ES" sz="1600" dirty="0">
                <a:latin typeface="Trebuchet MS" panose="020B0603020202020204" pitchFamily="34" charset="0"/>
                <a:ea typeface="Verdana" panose="020B0604030504040204" pitchFamily="34" charset="0"/>
              </a:rPr>
              <a:t>En pacientes con trastornos de ansiedad, la cafeína puede aumentar sus síntomas. Debe evitarse el uso concomitante de bebidas que contengan cafeína.​</a:t>
            </a:r>
          </a:p>
          <a:p>
            <a:pPr marL="285750" indent="-285750">
              <a:buFont typeface="Arial" panose="020B0604020202020204" pitchFamily="34" charset="0"/>
              <a:buChar char="•"/>
            </a:pPr>
            <a:r>
              <a:rPr lang="es-ES" sz="1600" dirty="0">
                <a:latin typeface="Trebuchet MS" panose="020B0603020202020204" pitchFamily="34" charset="0"/>
                <a:ea typeface="Verdana" panose="020B0604030504040204" pitchFamily="34" charset="0"/>
              </a:rPr>
              <a:t>Debido a los alcaloides de la belladona (propiedades anticolinérgicas), los pacientes con hipertrofia prostática, retención urinaria, enfermedad gastrointestinal oclusiva o glaucoma pueden reaccionar desfavorablemente, aunque las dosis incluidas son bajas.​</a:t>
            </a:r>
          </a:p>
          <a:p>
            <a:pPr marL="285750" indent="-285750">
              <a:buFont typeface="Arial" panose="020B0604020202020204" pitchFamily="34" charset="0"/>
              <a:buChar char="•"/>
            </a:pPr>
            <a:endParaRPr lang="es-ES" dirty="0">
              <a:latin typeface="Trebuchet MS" panose="020B0603020202020204" pitchFamily="34" charset="0"/>
              <a:ea typeface="Verdana" panose="020B0604030504040204" pitchFamily="34" charset="0"/>
              <a:cs typeface="Zilla Slab Light"/>
              <a:sym typeface="Zilla Slab Light"/>
            </a:endParaRPr>
          </a:p>
        </p:txBody>
      </p:sp>
    </p:spTree>
    <p:extLst>
      <p:ext uri="{BB962C8B-B14F-4D97-AF65-F5344CB8AC3E}">
        <p14:creationId xmlns:p14="http://schemas.microsoft.com/office/powerpoint/2010/main" val="2598215476"/>
      </p:ext>
    </p:extLst>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75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par>
                                <p:cTn id="8" presetID="10" presetClass="entr" presetSubtype="0" fill="hold" grpId="0" nodeType="withEffect">
                                  <p:stCondLst>
                                    <p:cond delay="1250"/>
                                  </p:stCondLst>
                                  <p:childTnLst>
                                    <p:set>
                                      <p:cBhvr>
                                        <p:cTn id="9" dur="1" fill="hold">
                                          <p:stCondLst>
                                            <p:cond delay="0"/>
                                          </p:stCondLst>
                                        </p:cTn>
                                        <p:tgtEl>
                                          <p:spTgt spid="35"/>
                                        </p:tgtEl>
                                        <p:attrNameLst>
                                          <p:attrName>style.visibility</p:attrName>
                                        </p:attrNameLst>
                                      </p:cBhvr>
                                      <p:to>
                                        <p:strVal val="visible"/>
                                      </p:to>
                                    </p:set>
                                    <p:animEffect transition="in" filter="fade">
                                      <p:cBhvr>
                                        <p:cTn id="10" dur="500"/>
                                        <p:tgtEl>
                                          <p:spTgt spid="35"/>
                                        </p:tgtEl>
                                      </p:cBhvr>
                                    </p:animEffect>
                                  </p:childTnLst>
                                </p:cTn>
                              </p:par>
                              <p:par>
                                <p:cTn id="11" presetID="10" presetClass="entr" presetSubtype="0" fill="hold" grpId="0" nodeType="withEffect">
                                  <p:stCondLst>
                                    <p:cond delay="125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500"/>
                                        <p:tgtEl>
                                          <p:spTgt spid="38"/>
                                        </p:tgtEl>
                                      </p:cBhvr>
                                    </p:animEffect>
                                  </p:childTnLst>
                                </p:cTn>
                              </p:par>
                              <p:par>
                                <p:cTn id="14" presetID="10" presetClass="entr" presetSubtype="0" fill="hold" grpId="0" nodeType="withEffect">
                                  <p:stCondLst>
                                    <p:cond delay="1250"/>
                                  </p:stCondLst>
                                  <p:childTnLst>
                                    <p:set>
                                      <p:cBhvr>
                                        <p:cTn id="15" dur="1" fill="hold">
                                          <p:stCondLst>
                                            <p:cond delay="0"/>
                                          </p:stCondLst>
                                        </p:cTn>
                                        <p:tgtEl>
                                          <p:spTgt spid="40"/>
                                        </p:tgtEl>
                                        <p:attrNameLst>
                                          <p:attrName>style.visibility</p:attrName>
                                        </p:attrNameLst>
                                      </p:cBhvr>
                                      <p:to>
                                        <p:strVal val="visible"/>
                                      </p:to>
                                    </p:set>
                                    <p:animEffect transition="in" filter="fade">
                                      <p:cBhvr>
                                        <p:cTn id="16"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animBg="1"/>
      <p:bldP spid="38" grpId="0" animBg="1"/>
      <p:bldP spid="4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 name="Picture 169" descr="Shape, circle&#10;&#10;Description automatically generated">
            <a:extLst>
              <a:ext uri="{FF2B5EF4-FFF2-40B4-BE49-F238E27FC236}">
                <a16:creationId xmlns:a16="http://schemas.microsoft.com/office/drawing/2014/main" id="{EEB2B992-2400-4EEE-A3C6-C52D633A15B2}"/>
              </a:ext>
            </a:extLst>
          </p:cNvPr>
          <p:cNvPicPr>
            <a:picLocks noChangeAspect="1"/>
          </p:cNvPicPr>
          <p:nvPr/>
        </p:nvPicPr>
        <p:blipFill rotWithShape="1">
          <a:blip r:embed="rId2">
            <a:extLst>
              <a:ext uri="{28A0092B-C50C-407E-A947-70E740481C1C}">
                <a14:useLocalDpi xmlns:a14="http://schemas.microsoft.com/office/drawing/2010/main" val="0"/>
              </a:ext>
            </a:extLst>
          </a:blip>
          <a:srcRect r="64988"/>
          <a:stretch/>
        </p:blipFill>
        <p:spPr>
          <a:xfrm>
            <a:off x="0" y="0"/>
            <a:ext cx="4268596" cy="6858000"/>
          </a:xfrm>
          <a:prstGeom prst="rect">
            <a:avLst/>
          </a:prstGeom>
        </p:spPr>
      </p:pic>
      <p:grpSp>
        <p:nvGrpSpPr>
          <p:cNvPr id="182" name="Group 181">
            <a:extLst>
              <a:ext uri="{FF2B5EF4-FFF2-40B4-BE49-F238E27FC236}">
                <a16:creationId xmlns:a16="http://schemas.microsoft.com/office/drawing/2014/main" id="{77396E5F-348C-4338-B293-968BEA981FDB}"/>
              </a:ext>
            </a:extLst>
          </p:cNvPr>
          <p:cNvGrpSpPr/>
          <p:nvPr/>
        </p:nvGrpSpPr>
        <p:grpSpPr>
          <a:xfrm>
            <a:off x="252552" y="6342796"/>
            <a:ext cx="11686895" cy="398170"/>
            <a:chOff x="252552" y="6226684"/>
            <a:chExt cx="11686895" cy="398170"/>
          </a:xfrm>
        </p:grpSpPr>
        <p:grpSp>
          <p:nvGrpSpPr>
            <p:cNvPr id="172" name="Group 171">
              <a:extLst>
                <a:ext uri="{FF2B5EF4-FFF2-40B4-BE49-F238E27FC236}">
                  <a16:creationId xmlns:a16="http://schemas.microsoft.com/office/drawing/2014/main" id="{043DA00A-4155-4488-8261-DB136097B10C}"/>
                </a:ext>
              </a:extLst>
            </p:cNvPr>
            <p:cNvGrpSpPr/>
            <p:nvPr/>
          </p:nvGrpSpPr>
          <p:grpSpPr>
            <a:xfrm>
              <a:off x="252552" y="6293241"/>
              <a:ext cx="1266906" cy="265056"/>
              <a:chOff x="5600700" y="-854146"/>
              <a:chExt cx="989647" cy="207049"/>
            </a:xfrm>
          </p:grpSpPr>
          <p:sp>
            <p:nvSpPr>
              <p:cNvPr id="173" name="Freeform: Shape 172">
                <a:extLst>
                  <a:ext uri="{FF2B5EF4-FFF2-40B4-BE49-F238E27FC236}">
                    <a16:creationId xmlns:a16="http://schemas.microsoft.com/office/drawing/2014/main" id="{5529D942-D3DC-4AA5-A11E-2EAD767EE35D}"/>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0755DD92-DC0C-4053-A436-745AF0A70850}"/>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4518EE33-E21D-4E76-B041-14F423E26EAD}"/>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4C711A2-EC08-414B-B62D-F848E4E33BC2}"/>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7152FC00-E28E-4906-9909-07FB83382FA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5C0BFA11-C3DB-4246-9AA5-3EC58FE54C46}"/>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D22D6EE2-4EA8-4E7A-B8FF-7F9FE44552D8}"/>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BDBBAA55-241D-4C91-804F-8945A70DB132}"/>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BE44E2D9-A68F-4AE8-873F-8B818D81D3B6}"/>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2541" y="6226684"/>
              <a:ext cx="1266906" cy="398170"/>
            </a:xfrm>
            <a:prstGeom prst="rect">
              <a:avLst/>
            </a:prstGeom>
          </p:spPr>
        </p:pic>
      </p:grpSp>
      <p:sp>
        <p:nvSpPr>
          <p:cNvPr id="150" name="TextBox 149">
            <a:extLst>
              <a:ext uri="{FF2B5EF4-FFF2-40B4-BE49-F238E27FC236}">
                <a16:creationId xmlns:a16="http://schemas.microsoft.com/office/drawing/2014/main" id="{97AE9CDE-843A-4016-BD11-6A012486773C}"/>
              </a:ext>
            </a:extLst>
          </p:cNvPr>
          <p:cNvSpPr txBox="1"/>
          <p:nvPr/>
        </p:nvSpPr>
        <p:spPr>
          <a:xfrm>
            <a:off x="468407" y="580642"/>
            <a:ext cx="3389218" cy="510909"/>
          </a:xfrm>
          <a:prstGeom prst="rect">
            <a:avLst/>
          </a:prstGeom>
          <a:noFill/>
        </p:spPr>
        <p:txBody>
          <a:bodyPr wrap="square" rtlCol="0">
            <a:spAutoFit/>
          </a:bodyPr>
          <a:lstStyle/>
          <a:p>
            <a:pPr lvl="0">
              <a:lnSpc>
                <a:spcPct val="85000"/>
              </a:lnSpc>
              <a:defRPr/>
            </a:pPr>
            <a:r>
              <a:rPr lang="pt-PT" sz="3200" b="1" spc="300" dirty="0">
                <a:solidFill>
                  <a:schemeClr val="bg1"/>
                </a:solidFill>
                <a:latin typeface="Trebuchet MS" panose="020B0603020202020204" pitchFamily="34" charset="0"/>
                <a:ea typeface="Verdana" panose="020B0604030504040204" pitchFamily="34" charset="0"/>
                <a:cs typeface="Zilla Slab Light"/>
                <a:sym typeface="Zilla Slab Light"/>
              </a:rPr>
              <a:t>MIGRÉTIL</a:t>
            </a:r>
            <a:endParaRPr kumimoji="0" lang="en-US" sz="3200" b="1" i="0" u="none" strike="noStrike" kern="1200" cap="none" spc="300" normalizeH="0" baseline="30000" noProof="0" dirty="0">
              <a:ln>
                <a:noFill/>
              </a:ln>
              <a:solidFill>
                <a:schemeClr val="bg1"/>
              </a:solidFill>
              <a:uLnTx/>
              <a:uFillTx/>
              <a:latin typeface="Trebuchet MS" panose="020B0603020202020204" pitchFamily="34" charset="0"/>
              <a:ea typeface="Verdana" panose="020B0604030504040204" pitchFamily="34" charset="0"/>
              <a:cs typeface="Zilla Slab Light"/>
              <a:sym typeface="Zilla Slab Light"/>
            </a:endParaRPr>
          </a:p>
        </p:txBody>
      </p:sp>
      <p:grpSp>
        <p:nvGrpSpPr>
          <p:cNvPr id="37" name="Group 36">
            <a:extLst>
              <a:ext uri="{FF2B5EF4-FFF2-40B4-BE49-F238E27FC236}">
                <a16:creationId xmlns:a16="http://schemas.microsoft.com/office/drawing/2014/main" id="{0BE31391-F1DC-411A-87D1-5112B9F266CA}"/>
              </a:ext>
            </a:extLst>
          </p:cNvPr>
          <p:cNvGrpSpPr/>
          <p:nvPr/>
        </p:nvGrpSpPr>
        <p:grpSpPr>
          <a:xfrm>
            <a:off x="252552" y="6409353"/>
            <a:ext cx="1266906" cy="265056"/>
            <a:chOff x="5600700" y="-854146"/>
            <a:chExt cx="989647" cy="207049"/>
          </a:xfrm>
          <a:solidFill>
            <a:schemeClr val="bg1"/>
          </a:solidFill>
        </p:grpSpPr>
        <p:sp>
          <p:nvSpPr>
            <p:cNvPr id="41" name="Freeform: Shape 40">
              <a:extLst>
                <a:ext uri="{FF2B5EF4-FFF2-40B4-BE49-F238E27FC236}">
                  <a16:creationId xmlns:a16="http://schemas.microsoft.com/office/drawing/2014/main" id="{13F13A9E-8B05-4590-A769-7FB4E7D04AA7}"/>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C0B628-3DD6-4944-9D84-B56861B58EF6}"/>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017A177-EC27-403B-8372-86A3DBE3082E}"/>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E32EB9E-2686-4B42-9E63-9A43DDA63D58}"/>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2470303-A478-48C3-AD44-38AA76CC623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A6D117B-673B-41A6-9291-A0BBD1557E39}"/>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04C809F-31FC-48B3-A817-B6F57FFB20E1}"/>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5F7B8F6-61CC-412C-AEFF-BE182B64F64B}"/>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AC0821E-80AD-4AC4-8876-F78F55B9F41B}"/>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grpFill/>
            <a:ln w="9525" cap="flat">
              <a:noFill/>
              <a:prstDash val="solid"/>
              <a:miter/>
            </a:ln>
          </p:spPr>
          <p:txBody>
            <a:bodyPr rtlCol="0" anchor="ctr"/>
            <a:lstStyle/>
            <a:p>
              <a:endParaRPr lang="en-US"/>
            </a:p>
          </p:txBody>
        </p:sp>
      </p:grpSp>
      <p:pic>
        <p:nvPicPr>
          <p:cNvPr id="103" name="Picture 102" descr="A picture containing text&#10;&#10;Description automatically generated">
            <a:extLst>
              <a:ext uri="{FF2B5EF4-FFF2-40B4-BE49-F238E27FC236}">
                <a16:creationId xmlns:a16="http://schemas.microsoft.com/office/drawing/2014/main" id="{A978B731-12D7-4E74-8822-D38F2B646F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3803" y="3709375"/>
            <a:ext cx="4099534" cy="1677833"/>
          </a:xfrm>
          <a:prstGeom prst="rect">
            <a:avLst/>
          </a:prstGeom>
        </p:spPr>
      </p:pic>
      <p:sp>
        <p:nvSpPr>
          <p:cNvPr id="3" name="Rectangle 2">
            <a:extLst>
              <a:ext uri="{FF2B5EF4-FFF2-40B4-BE49-F238E27FC236}">
                <a16:creationId xmlns:a16="http://schemas.microsoft.com/office/drawing/2014/main" id="{C9A2140B-A35C-4B4C-B027-AFC368937530}"/>
              </a:ext>
            </a:extLst>
          </p:cNvPr>
          <p:cNvSpPr>
            <a:spLocks noChangeArrowheads="1"/>
          </p:cNvSpPr>
          <p:nvPr/>
        </p:nvSpPr>
        <p:spPr bwMode="auto">
          <a:xfrm>
            <a:off x="4386078" y="127166"/>
            <a:ext cx="7727545" cy="621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04800" algn="l"/>
              </a:tabLst>
              <a:defRPr>
                <a:solidFill>
                  <a:schemeClr val="tx1"/>
                </a:solidFill>
                <a:latin typeface="Arial" panose="020B0604020202020204" pitchFamily="34" charset="0"/>
              </a:defRPr>
            </a:lvl1pPr>
            <a:lvl2pPr eaLnBrk="0" fontAlgn="base" hangingPunct="0">
              <a:spcBef>
                <a:spcPct val="0"/>
              </a:spcBef>
              <a:spcAft>
                <a:spcPct val="0"/>
              </a:spcAft>
              <a:tabLst>
                <a:tab pos="304800" algn="l"/>
              </a:tabLst>
              <a:defRPr>
                <a:solidFill>
                  <a:schemeClr val="tx1"/>
                </a:solidFill>
                <a:latin typeface="Arial" panose="020B0604020202020204" pitchFamily="34" charset="0"/>
              </a:defRPr>
            </a:lvl2pPr>
            <a:lvl3pPr eaLnBrk="0" fontAlgn="base" hangingPunct="0">
              <a:spcBef>
                <a:spcPct val="0"/>
              </a:spcBef>
              <a:spcAft>
                <a:spcPct val="0"/>
              </a:spcAft>
              <a:tabLst>
                <a:tab pos="304800" algn="l"/>
              </a:tabLst>
              <a:defRPr>
                <a:solidFill>
                  <a:schemeClr val="tx1"/>
                </a:solidFill>
                <a:latin typeface="Arial" panose="020B0604020202020204" pitchFamily="34" charset="0"/>
              </a:defRPr>
            </a:lvl3pPr>
            <a:lvl4pPr eaLnBrk="0" fontAlgn="base" hangingPunct="0">
              <a:spcBef>
                <a:spcPct val="0"/>
              </a:spcBef>
              <a:spcAft>
                <a:spcPct val="0"/>
              </a:spcAft>
              <a:tabLst>
                <a:tab pos="304800" algn="l"/>
              </a:tabLst>
              <a:defRPr>
                <a:solidFill>
                  <a:schemeClr val="tx1"/>
                </a:solidFill>
                <a:latin typeface="Arial" panose="020B0604020202020204" pitchFamily="34" charset="0"/>
              </a:defRPr>
            </a:lvl4pPr>
            <a:lvl5pPr eaLnBrk="0" fontAlgn="base" hangingPunct="0">
              <a:spcBef>
                <a:spcPct val="0"/>
              </a:spcBef>
              <a:spcAft>
                <a:spcPct val="0"/>
              </a:spcAft>
              <a:tabLst>
                <a:tab pos="304800" algn="l"/>
              </a:tabLst>
              <a:defRPr>
                <a:solidFill>
                  <a:schemeClr val="tx1"/>
                </a:solidFill>
                <a:latin typeface="Arial" panose="020B0604020202020204" pitchFamily="34" charset="0"/>
              </a:defRPr>
            </a:lvl5pPr>
            <a:lvl6pPr eaLnBrk="0" fontAlgn="base" hangingPunct="0">
              <a:spcBef>
                <a:spcPct val="0"/>
              </a:spcBef>
              <a:spcAft>
                <a:spcPct val="0"/>
              </a:spcAft>
              <a:tabLst>
                <a:tab pos="304800" algn="l"/>
              </a:tabLst>
              <a:defRPr>
                <a:solidFill>
                  <a:schemeClr val="tx1"/>
                </a:solidFill>
                <a:latin typeface="Arial" panose="020B0604020202020204" pitchFamily="34" charset="0"/>
              </a:defRPr>
            </a:lvl6pPr>
            <a:lvl7pPr eaLnBrk="0" fontAlgn="base" hangingPunct="0">
              <a:spcBef>
                <a:spcPct val="0"/>
              </a:spcBef>
              <a:spcAft>
                <a:spcPct val="0"/>
              </a:spcAft>
              <a:tabLst>
                <a:tab pos="304800" algn="l"/>
              </a:tabLst>
              <a:defRPr>
                <a:solidFill>
                  <a:schemeClr val="tx1"/>
                </a:solidFill>
                <a:latin typeface="Arial" panose="020B0604020202020204" pitchFamily="34" charset="0"/>
              </a:defRPr>
            </a:lvl7pPr>
            <a:lvl8pPr eaLnBrk="0" fontAlgn="base" hangingPunct="0">
              <a:spcBef>
                <a:spcPct val="0"/>
              </a:spcBef>
              <a:spcAft>
                <a:spcPct val="0"/>
              </a:spcAft>
              <a:tabLst>
                <a:tab pos="304800" algn="l"/>
              </a:tabLst>
              <a:defRPr>
                <a:solidFill>
                  <a:schemeClr val="tx1"/>
                </a:solidFill>
                <a:latin typeface="Arial" panose="020B0604020202020204" pitchFamily="34" charset="0"/>
              </a:defRPr>
            </a:lvl8pPr>
            <a:lvl9pPr eaLnBrk="0" fontAlgn="base" hangingPunct="0">
              <a:spcBef>
                <a:spcPct val="0"/>
              </a:spcBef>
              <a:spcAft>
                <a:spcPct val="0"/>
              </a:spcAft>
              <a:tabLst>
                <a:tab pos="3048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04800" algn="l"/>
              </a:tabLst>
            </a:pPr>
            <a:r>
              <a:rPr kumimoji="0" lang="es-ES_tradnl" altLang="pt-PT" sz="9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DENOMINACIÓN DEL MEDICAMENTO: </a:t>
            </a:r>
            <a:r>
              <a:rPr kumimoji="0" lang="es-ES_tradnl" altLang="pt-PT"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MIGRÉTIL. </a:t>
            </a:r>
            <a:r>
              <a:rPr kumimoji="0" lang="es-ES_tradnl" altLang="pt-PT" sz="9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COMPOSICIÓN CUALITATIVA Y CUANTITATIVA: </a:t>
            </a:r>
            <a:r>
              <a:rPr kumimoji="0" lang="es-ES_tradnl" altLang="pt-PT"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Paracetamol 400 mg; cafeína 100 mg; tartrato de ergotamina 1 mg; alcaloides de belladona 0,1 mg; por comprimido. </a:t>
            </a:r>
            <a:r>
              <a:rPr kumimoji="0" lang="es-ES_tradnl" altLang="pt-PT" sz="9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INDICACIONES TERAPÉUTICAS: </a:t>
            </a:r>
            <a:r>
              <a:rPr kumimoji="0" lang="es-ES_tradnl" altLang="pt-PT"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Tratamiento de las crisis de jaqueca: No está indicado como tratamiento preventivo</a:t>
            </a:r>
            <a:r>
              <a:rPr kumimoji="0" lang="es-ES_tradnl" altLang="pt-PT" sz="9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POSOLOGÍA Y FORMA DE ADMINISTRACIÓN: </a:t>
            </a:r>
            <a:r>
              <a:rPr kumimoji="0" lang="es-ES_tradnl" altLang="pt-PT"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Salvo otra prescripción indicada por el médico, MIGRÉTIL se tomará de la siguiente manera: </a:t>
            </a:r>
            <a:r>
              <a:rPr kumimoji="0" lang="es-ES_tradnl" altLang="pt-PT" sz="9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Adultos</a:t>
            </a:r>
            <a:r>
              <a:rPr kumimoji="0" lang="es-ES_tradnl" altLang="pt-PT"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Dos comprimidos a la vez, durante el aura o el inicio de la jaqueca. Si resulta necesario, administrar 1 comprimido después de media hora, y otro comprimido tras otra  media hora si los síntomas persisten. </a:t>
            </a:r>
            <a:r>
              <a:rPr kumimoji="0" lang="es-ES_tradnl" altLang="pt-PT" sz="9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Adolescentes</a:t>
            </a:r>
            <a:r>
              <a:rPr kumimoji="0" lang="es-ES_tradnl" altLang="pt-PT"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Un comprimido durante el aura o el inicio de la jaqueca. Si resulta necesario, administrar 1 comprimido después de media hora. No está indicado para niños menores de 12 años. Los comprimidos se tomarán lo más precozmente posible, tras los primeros síntomas de crisis de jaqueca. No ingerir más de 6 comprimidos al día o más de 10 o 12 comprimidos por semana. Los comprimidos se tomarán enteros con un poco de agua. </a:t>
            </a:r>
            <a:r>
              <a:rPr kumimoji="0" lang="es-ES_tradnl" altLang="pt-PT" sz="9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CONTRAINDICACIONES: </a:t>
            </a:r>
            <a:r>
              <a:rPr kumimoji="0" lang="es-ES_tradnl" altLang="pt-PT"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Hipersensibilidad a los principios activos o a algún de los excipientes. Embarazo y lactancia; alcoholismo activo; insuficiencia hepática significativa. Angioplastia o cirugía vascular recientes o previstas; enfermedad vascular periférica oclusiva; hipertensión no controlada; enfermedad coronaria. </a:t>
            </a:r>
            <a:r>
              <a:rPr kumimoji="0" lang="es-ES_tradnl" altLang="pt-PT" sz="9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ADVERTENCIAS Y PRECAUCIONES ESPECIALES DE EMPLEO: E</a:t>
            </a:r>
            <a:r>
              <a:rPr kumimoji="0" lang="es-ES_tradnl" altLang="pt-PT"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l riesgo de complicaciones aumenta en caso de infecciones graves, insuficiencia renal significativa y en los pacientes geriátricos. En los enfermos ansiosos la cafeína puede aumentar los síntomas. Debe evitarse el uso concomitante de bebidas conteniendo cafeína. Los enfermos con hipertrofia prostática, retención urinaria, enfermedad gastrointestinal oclusiva o glaucoma pueden ser objeto de acciones nocivas resultantes de los alcaloides de belladona, aunque las dosis utilizadas en MIGRÉTIL sean bajas. </a:t>
            </a:r>
            <a:r>
              <a:rPr kumimoji="0" lang="es-ES_tradnl" altLang="pt-PT" sz="9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INTERACCIONES CON OTROS MEDICAMENTOS Y OTRAS FORMAS DE INTERACCIÓN: </a:t>
            </a:r>
            <a:r>
              <a:rPr kumimoji="0" lang="es-ES_tradnl" altLang="pt-PT"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Las xantinas pueden incrementar los efectos de los estimulantes beta-adrenérgicos. La utilización concomitante de estimulantes del sistema nervioso central puede provocar efectos adicionales indeseables como, nerviosismo, irritabilidad, insomnio, convulsiones y arritmias. La utilización concomitante de inhibidores de la </a:t>
            </a:r>
            <a:r>
              <a:rPr kumimoji="0" lang="es-ES_tradnl" altLang="pt-PT" sz="900" b="0" i="0" u="none" strike="noStrike" cap="none" normalizeH="0" baseline="0" dirty="0" err="1">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monoaminooxidasa</a:t>
            </a:r>
            <a:r>
              <a:rPr kumimoji="0" lang="es-ES_tradnl" altLang="pt-PT"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puede causar taquicardia, arritmias o hipertensión. La cafeína antagoniza los efectos de la adenosina y de los bloqueadores beta. La administración concomitante de vasoconstrictores sistémicos (cocaína, epinefrina, </a:t>
            </a:r>
            <a:r>
              <a:rPr kumimoji="0" lang="es-ES_tradnl" altLang="pt-PT" sz="900" b="0" i="0" u="none" strike="noStrike" cap="none" normalizeH="0" baseline="0" dirty="0" err="1">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metaraminol</a:t>
            </a:r>
            <a:r>
              <a:rPr kumimoji="0" lang="es-ES_tradnl" altLang="pt-PT"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metoxamina, norepinefrina, fenilefrina, soluciones anestésicas locales con vasoconstrictores, aminas simpaticomiméticas), así como el tabaquismo, potencian los efectos vasopresores de los alcaloides del cornezuelo del centeno. Esta clase de fármacos antagoniza los efectos vasodilatadores de la nitroglicerina. Hay que tomar precauciones especiales con la utilización simultánea de </a:t>
            </a:r>
            <a:r>
              <a:rPr kumimoji="0" lang="es-ES_tradnl" altLang="pt-PT" sz="900" b="0" i="0" u="none" strike="noStrike" cap="none" normalizeH="0" baseline="0" dirty="0" err="1">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propranolol</a:t>
            </a:r>
            <a:r>
              <a:rPr kumimoji="0" lang="es-ES_tradnl" altLang="pt-PT"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y dosis elevadas de alcaloides del cornezuelo del centeno, considerando el riesgo de vasoconstricción periférica grave. El consumo excesivo de alcohol puede aumentar el riesgo de hepatotoxicidad inducida por el paracetamol. La cafeína potencia los efectos de las otras xantinas, pudiendo disminuir la eliminación de éstas. La eritromicina y la </a:t>
            </a:r>
            <a:r>
              <a:rPr kumimoji="0" lang="es-ES_tradnl" altLang="pt-PT" sz="900" b="0" i="0" u="none" strike="noStrike" cap="none" normalizeH="0" baseline="0" dirty="0" err="1">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troleandomicina</a:t>
            </a:r>
            <a:r>
              <a:rPr kumimoji="0" lang="es-ES_tradnl" altLang="pt-PT"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disminuyen el metabolismo de los alcaloides del cornezuelo del centeno, aumentando el riesgo de </a:t>
            </a:r>
            <a:r>
              <a:rPr kumimoji="0" lang="es-ES_tradnl" altLang="pt-PT" sz="900" b="0" i="0" u="none" strike="noStrike" cap="none" normalizeH="0" baseline="0" dirty="0" err="1">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vasospasmo</a:t>
            </a:r>
            <a:r>
              <a:rPr kumimoji="0" lang="es-ES_tradnl" altLang="pt-PT"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r>
              <a:rPr kumimoji="0" lang="es-ES_tradnl" altLang="pt-PT" sz="9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EMBARAZO Y LACTANCIA: </a:t>
            </a:r>
            <a:r>
              <a:rPr lang="es-ES_tradnl" altLang="pt-PT" sz="900" dirty="0">
                <a:ea typeface="Times New Roman" panose="02020603050405020304" pitchFamily="18" charset="0"/>
                <a:cs typeface="Arial" panose="020B0604020202020204" pitchFamily="34" charset="0"/>
              </a:rPr>
              <a:t> </a:t>
            </a:r>
            <a:r>
              <a:rPr kumimoji="0" lang="es-ES_tradnl" altLang="pt-PT"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No utilizar durante el embarazo y la lactancia. </a:t>
            </a:r>
            <a:r>
              <a:rPr kumimoji="0" lang="es-ES_tradnl" altLang="pt-PT" sz="9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EFECTOS SOBRE LA CAPACIDAD PARA CONDUCIR Y UTILIZAR MÁQUINAS: </a:t>
            </a:r>
            <a:r>
              <a:rPr kumimoji="0" lang="es-ES_tradnl" altLang="pt-PT"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No interfiere cuando se utilizan las dosis recomendadas. </a:t>
            </a:r>
            <a:r>
              <a:rPr kumimoji="0" lang="es-ES_tradnl" altLang="pt-PT" sz="9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REACCIONES ADVERSAS: </a:t>
            </a:r>
            <a:r>
              <a:rPr kumimoji="0" lang="es-ES_tradnl" altLang="pt-PT"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 las dosis recomendadas MIGRÉTIL es habitualmente bien tolerado. Pueden ocurrir reacciones de hipersensibilidad cutánea, signos de irritación gástrica, diarrea, insomnio, nerviosismo, mialgias, parestesias y disminución de fuerza en los miembros inferiores. Los efectos de vasoconstricción suelen sentirse en cualquier vaso, existiendo una gran variabilidad individual. Estos efectos suelen manifestarse por extremidades frías, adormecidas y dolorosas, con o sin parestesias. </a:t>
            </a:r>
            <a:r>
              <a:rPr kumimoji="0" lang="es-ES_tradnl" altLang="pt-PT" sz="9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SOBREDOSIS: </a:t>
            </a:r>
            <a:r>
              <a:rPr kumimoji="0" lang="es-ES_tradnl" altLang="pt-PT"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Casos de sobredosis o intoxicación aguda pueden aparecer, ocasionalmente, en enfermos que toman dosis más altas que las recomendadas o en individuos con intentos suicidas. Los síntomas de sobredosis pueden incluir náuseas, vómitos, dolor abdominal, cefaleas, excitabilidad, agitación, escotomas, </a:t>
            </a:r>
            <a:r>
              <a:rPr kumimoji="0" lang="es-ES_tradnl" altLang="pt-PT" sz="900" b="0" i="0" u="none" strike="noStrike" cap="none" normalizeH="0" baseline="0" dirty="0" err="1">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tinnitus</a:t>
            </a:r>
            <a:r>
              <a:rPr kumimoji="0" lang="es-ES_tradnl" altLang="pt-PT"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temblores, taquicardia, arritmias, aumento de la diuresis, mialgias, parestesias, disminución de la fuerza de los miembros inferiores y extremidades frías, adormecidas o dolorosas. En casos más graves puede observarse </a:t>
            </a:r>
            <a:r>
              <a:rPr kumimoji="0" lang="es-ES_tradnl" altLang="pt-PT" sz="900" b="0" i="0" u="none" strike="noStrike" cap="none" normalizeH="0" baseline="0" dirty="0" err="1">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angor</a:t>
            </a:r>
            <a:r>
              <a:rPr kumimoji="0" lang="es-ES_tradnl" altLang="pt-PT"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ceguera monocular transitoria, </a:t>
            </a:r>
            <a:r>
              <a:rPr kumimoji="0" lang="es-ES_tradnl" altLang="pt-PT" sz="900" b="0" i="0" u="none" strike="noStrike" cap="none" normalizeH="0" baseline="0" dirty="0" err="1">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papilitis</a:t>
            </a:r>
            <a:r>
              <a:rPr kumimoji="0" lang="es-ES_tradnl" altLang="pt-PT"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bilateral, colitis isquémica, vasoconstricción de la arteria renal, gangrena en las extremidades, necrosis hepática, alteración de la función mental, delirium, disnea, hipo o hipertensión, pulso débil, espasmos musculares, convulsiones, shock y muerte. El tratamiento de las situaciones de sobredosis aguda consiste en medidas generales de soporte y tratamiento sintomático. La inducción del vómito y lavado gástrico son importantes si la ingesta del fármaco hubiera sido efectuada hace menos de 4 horas, así como la administración de carbón activado. La utilización de demulcentes puede reducir la irritación gástrica. Habrá que prevenir el calentamiento de las extremidades y, eventualmente, la administración de vasodilatadores y heparina. En caso de necrosis hepática secundaria al paracetamol, hay que administrar acetilcisteína en las primeras 24 a 36 horas, siendo la eficacia mayor cuanto más precoz sea la actuación. </a:t>
            </a:r>
            <a:r>
              <a:rPr kumimoji="0" lang="es-ES_tradnl" altLang="pt-PT" sz="9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PRESENTACIÓN: </a:t>
            </a:r>
            <a:r>
              <a:rPr kumimoji="0" lang="es-ES_tradnl" altLang="pt-PT"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Caja de 20 comprimidos.</a:t>
            </a:r>
            <a:endParaRPr kumimoji="0" lang="pt-PT" altLang="pt-PT" sz="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304800" algn="l"/>
              </a:tabLst>
            </a:pPr>
            <a:r>
              <a:rPr kumimoji="0" lang="es-ES_tradnl" altLang="pt-PT" sz="9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Información complementaria bajo pedido</a:t>
            </a:r>
            <a:endParaRPr kumimoji="0" lang="es-ES_tradnl" altLang="pt-PT"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04800" algn="l"/>
              </a:tabLst>
            </a:pPr>
            <a:r>
              <a:rPr kumimoji="0" lang="es-ES_tradnl" altLang="pt-PT" sz="9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DIDSAM070702</a:t>
            </a:r>
            <a:r>
              <a:rPr kumimoji="0" lang="pt-PT" altLang="pt-PT" sz="700" b="0" i="0" u="none" strike="noStrike" cap="none" normalizeH="0" baseline="0" dirty="0">
                <a:ln>
                  <a:noFill/>
                </a:ln>
                <a:solidFill>
                  <a:schemeClr val="tx1"/>
                </a:solidFill>
                <a:effectLst/>
              </a:rPr>
              <a:t> </a:t>
            </a:r>
            <a:endParaRPr kumimoji="0" lang="pt-PT" altLang="pt-PT"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10195350"/>
      </p:ext>
    </p:extLst>
  </p:cSld>
  <p:clrMapOvr>
    <a:masterClrMapping/>
  </p:clrMapOvr>
  <p:transition spd="slow">
    <p:push dir="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nodeType="withEffect">
                                      <p:stCondLst>
                                        <p:cond delay="750"/>
                                      </p:stCondLst>
                                      <p:childTnLst>
                                        <p:set>
                                          <p:cBhvr>
                                            <p:cTn id="18" dur="1" fill="hold">
                                              <p:stCondLst>
                                                <p:cond delay="0"/>
                                              </p:stCondLst>
                                            </p:cTn>
                                            <p:tgtEl>
                                              <p:spTgt spid="103"/>
                                            </p:tgtEl>
                                            <p:attrNameLst>
                                              <p:attrName>style.visibility</p:attrName>
                                            </p:attrNameLst>
                                          </p:cBhvr>
                                          <p:to>
                                            <p:strVal val="visible"/>
                                          </p:to>
                                        </p:set>
                                        <p:animEffect transition="in" filter="fade">
                                          <p:cBhvr>
                                            <p:cTn id="19" dur="250"/>
                                            <p:tgtEl>
                                              <p:spTgt spid="103"/>
                                            </p:tgtEl>
                                          </p:cBhvr>
                                        </p:animEffect>
                                      </p:childTnLst>
                                    </p:cTn>
                                  </p:par>
                                  <p:par>
                                    <p:cTn id="20" presetID="35" presetClass="path" presetSubtype="0" decel="100000" fill="hold" nodeType="withEffect">
                                      <p:stCondLst>
                                        <p:cond delay="750"/>
                                      </p:stCondLst>
                                      <p:childTnLst>
                                        <p:animMotion origin="layout" path="M 1.04167E-6 2.22222E-6 L -0.17917 2.22222E-6 " pathEditMode="relative" rAng="0" ptsTypes="AA">
                                          <p:cBhvr>
                                            <p:cTn id="21" dur="750" spd="-100000" fill="hold"/>
                                            <p:tgtEl>
                                              <p:spTgt spid="103"/>
                                            </p:tgtEl>
                                            <p:attrNameLst>
                                              <p:attrName>ppt_x</p:attrName>
                                              <p:attrName>ppt_y</p:attrName>
                                            </p:attrNameLst>
                                          </p:cBhvr>
                                          <p:rCtr x="-895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grpId="0" nodeType="withEffect">
                                      <p:stCondLst>
                                        <p:cond delay="1750"/>
                                      </p:stCondLst>
                                      <p:childTnLst>
                                        <p:set>
                                          <p:cBhvr>
                                            <p:cTn id="18" dur="1" fill="hold">
                                              <p:stCondLst>
                                                <p:cond delay="0"/>
                                              </p:stCondLst>
                                            </p:cTn>
                                            <p:tgtEl>
                                              <p:spTgt spid="223"/>
                                            </p:tgtEl>
                                            <p:attrNameLst>
                                              <p:attrName>style.visibility</p:attrName>
                                            </p:attrNameLst>
                                          </p:cBhvr>
                                          <p:to>
                                            <p:strVal val="visible"/>
                                          </p:to>
                                        </p:set>
                                        <p:animEffect transition="in" filter="fade">
                                          <p:cBhvr>
                                            <p:cTn id="19" dur="500"/>
                                            <p:tgtEl>
                                              <p:spTgt spid="223"/>
                                            </p:tgtEl>
                                          </p:cBhvr>
                                        </p:animEffect>
                                      </p:childTnLst>
                                    </p:cTn>
                                  </p:par>
                                  <p:par>
                                    <p:cTn id="20" presetID="10" presetClass="entr" presetSubtype="0" fill="hold" nodeType="withEffect">
                                      <p:stCondLst>
                                        <p:cond delay="75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250"/>
                                            <p:tgtEl>
                                              <p:spTgt spid="103"/>
                                            </p:tgtEl>
                                          </p:cBhvr>
                                        </p:animEffect>
                                      </p:childTnLst>
                                    </p:cTn>
                                  </p:par>
                                  <p:par>
                                    <p:cTn id="23" presetID="35" presetClass="path" presetSubtype="0" decel="100000" fill="hold" nodeType="withEffect">
                                      <p:stCondLst>
                                        <p:cond delay="750"/>
                                      </p:stCondLst>
                                      <p:childTnLst>
                                        <p:animMotion origin="layout" path="M 1.04167E-6 2.22222E-6 L -0.17917 2.22222E-6 " pathEditMode="relative" rAng="0" ptsTypes="AA">
                                          <p:cBhvr>
                                            <p:cTn id="24" dur="750" spd="-100000" fill="hold"/>
                                            <p:tgtEl>
                                              <p:spTgt spid="103"/>
                                            </p:tgtEl>
                                            <p:attrNameLst>
                                              <p:attrName>ppt_x</p:attrName>
                                              <p:attrName>ppt_y</p:attrName>
                                            </p:attrNameLst>
                                          </p:cBhvr>
                                          <p:rCtr x="-8958" y="0"/>
                                        </p:animMotion>
                                      </p:childTnLst>
                                    </p:cTn>
                                  </p:par>
                                  <p:par>
                                    <p:cTn id="25" presetID="23" presetClass="entr" presetSubtype="16" fill="hold" nodeType="withEffect">
                                      <p:stCondLst>
                                        <p:cond delay="1250"/>
                                      </p:stCondLst>
                                      <p:childTnLst>
                                        <p:set>
                                          <p:cBhvr>
                                            <p:cTn id="26" dur="1" fill="hold">
                                              <p:stCondLst>
                                                <p:cond delay="0"/>
                                              </p:stCondLst>
                                            </p:cTn>
                                            <p:tgtEl>
                                              <p:spTgt spid="100"/>
                                            </p:tgtEl>
                                            <p:attrNameLst>
                                              <p:attrName>style.visibility</p:attrName>
                                            </p:attrNameLst>
                                          </p:cBhvr>
                                          <p:to>
                                            <p:strVal val="visible"/>
                                          </p:to>
                                        </p:set>
                                        <p:anim calcmode="lin" valueType="num">
                                          <p:cBhvr>
                                            <p:cTn id="27" dur="200" fill="hold"/>
                                            <p:tgtEl>
                                              <p:spTgt spid="100"/>
                                            </p:tgtEl>
                                            <p:attrNameLst>
                                              <p:attrName>ppt_w</p:attrName>
                                            </p:attrNameLst>
                                          </p:cBhvr>
                                          <p:tavLst>
                                            <p:tav tm="0">
                                              <p:val>
                                                <p:fltVal val="0"/>
                                              </p:val>
                                            </p:tav>
                                            <p:tav tm="100000">
                                              <p:val>
                                                <p:strVal val="#ppt_w"/>
                                              </p:val>
                                            </p:tav>
                                          </p:tavLst>
                                        </p:anim>
                                        <p:anim calcmode="lin" valueType="num">
                                          <p:cBhvr>
                                            <p:cTn id="28" dur="200" fill="hold"/>
                                            <p:tgtEl>
                                              <p:spTgt spid="100"/>
                                            </p:tgtEl>
                                            <p:attrNameLst>
                                              <p:attrName>ppt_h</p:attrName>
                                            </p:attrNameLst>
                                          </p:cBhvr>
                                          <p:tavLst>
                                            <p:tav tm="0">
                                              <p:val>
                                                <p:fltVal val="0"/>
                                              </p:val>
                                            </p:tav>
                                            <p:tav tm="100000">
                                              <p:val>
                                                <p:strVal val="#ppt_h"/>
                                              </p:val>
                                            </p:tav>
                                          </p:tavLst>
                                        </p:anim>
                                      </p:childTnLst>
                                    </p:cTn>
                                  </p:par>
                                  <p:par>
                                    <p:cTn id="29" presetID="6" presetClass="emph" presetSubtype="0" fill="hold" nodeType="withEffect">
                                      <p:stCondLst>
                                        <p:cond delay="1250"/>
                                      </p:stCondLst>
                                      <p:childTnLst>
                                        <p:animScale>
                                          <p:cBhvr>
                                            <p:cTn id="30" dur="1000" fill="hold"/>
                                            <p:tgtEl>
                                              <p:spTgt spid="100"/>
                                            </p:tgtEl>
                                          </p:cBhvr>
                                          <p:by x="110000" y="110000"/>
                                        </p:animScale>
                                      </p:childTnLst>
                                    </p:cTn>
                                  </p:par>
                                  <p:par>
                                    <p:cTn id="31" presetID="6" presetClass="emph" presetSubtype="0" accel="50000" decel="50000" fill="hold" nodeType="withEffect">
                                      <p:stCondLst>
                                        <p:cond delay="1250"/>
                                      </p:stCondLst>
                                      <p:childTnLst>
                                        <p:animScale>
                                          <p:cBhvr>
                                            <p:cTn id="32" dur="250" fill="hold"/>
                                            <p:tgtEl>
                                              <p:spTgt spid="100"/>
                                            </p:tgtEl>
                                          </p:cBhvr>
                                          <p:by x="91000" y="91000"/>
                                        </p:animScale>
                                      </p:childTnLst>
                                    </p:cTn>
                                  </p:par>
                                  <p:par>
                                    <p:cTn id="33" presetID="10" presetClass="entr" presetSubtype="0" fill="hold" nodeType="withEffect">
                                      <p:stCondLst>
                                        <p:cond delay="150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250"/>
                                            <p:tgtEl>
                                              <p:spTgt spid="35"/>
                                            </p:tgtEl>
                                          </p:cBhvr>
                                        </p:animEffect>
                                      </p:childTnLst>
                                    </p:cTn>
                                  </p:par>
                                  <p:par>
                                    <p:cTn id="36" presetID="42" presetClass="path" presetSubtype="0" decel="100000" fill="hold" nodeType="withEffect">
                                      <p:stCondLst>
                                        <p:cond delay="1500"/>
                                      </p:stCondLst>
                                      <p:childTnLst>
                                        <p:animMotion origin="layout" path="M 3.54167E-6 -1.48148E-6 L -0.08516 0.05278 " pathEditMode="relative" rAng="0" ptsTypes="AA">
                                          <p:cBhvr>
                                            <p:cTn id="37" dur="1000" spd="-100000" fill="hold"/>
                                            <p:tgtEl>
                                              <p:spTgt spid="35"/>
                                            </p:tgtEl>
                                            <p:attrNameLst>
                                              <p:attrName>ppt_x</p:attrName>
                                              <p:attrName>ppt_y</p:attrName>
                                            </p:attrNameLst>
                                          </p:cBhvr>
                                          <p:rCtr x="-4258" y="2639"/>
                                        </p:animMotion>
                                      </p:childTnLst>
                                    </p:cTn>
                                  </p:par>
                                  <p:par>
                                    <p:cTn id="38" presetID="10" presetClass="entr" presetSubtype="0" fill="hold" grpId="0" nodeType="withEffect">
                                      <p:stCondLst>
                                        <p:cond delay="500"/>
                                      </p:stCondLst>
                                      <p:childTnLst>
                                        <p:set>
                                          <p:cBhvr>
                                            <p:cTn id="39" dur="1" fill="hold">
                                              <p:stCondLst>
                                                <p:cond delay="0"/>
                                              </p:stCondLst>
                                            </p:cTn>
                                            <p:tgtEl>
                                              <p:spTgt spid="38"/>
                                            </p:tgtEl>
                                            <p:attrNameLst>
                                              <p:attrName>style.visibility</p:attrName>
                                            </p:attrNameLst>
                                          </p:cBhvr>
                                          <p:to>
                                            <p:strVal val="visible"/>
                                          </p:to>
                                        </p:set>
                                        <p:animEffect transition="in" filter="fade">
                                          <p:cBhvr>
                                            <p:cTn id="40" dur="500"/>
                                            <p:tgtEl>
                                              <p:spTgt spid="38"/>
                                            </p:tgtEl>
                                          </p:cBhvr>
                                        </p:animEffect>
                                      </p:childTnLst>
                                    </p:cTn>
                                  </p:par>
                                  <p:par>
                                    <p:cTn id="41" presetID="63" presetClass="path" presetSubtype="0" decel="100000" fill="hold" grpId="1" nodeType="withEffect">
                                      <p:stCondLst>
                                        <p:cond delay="500"/>
                                      </p:stCondLst>
                                      <p:childTnLst>
                                        <p:animMotion origin="layout" path="M -3.75E-6 -7.40741E-7 L 0.03907 -7.40741E-7 " pathEditMode="relative" rAng="0" ptsTypes="AA">
                                          <p:cBhvr>
                                            <p:cTn id="42" dur="750" spd="-100000" fill="hold"/>
                                            <p:tgtEl>
                                              <p:spTgt spid="38"/>
                                            </p:tgtEl>
                                            <p:attrNameLst>
                                              <p:attrName>ppt_x</p:attrName>
                                              <p:attrName>ppt_y</p:attrName>
                                            </p:attrNameLst>
                                          </p:cBhvr>
                                          <p:rCtr x="195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223" grpId="0"/>
          <p:bldP spid="38" grpId="0"/>
          <p:bldP spid="38" grpId="1"/>
        </p:bldLst>
      </p:timing>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DF7D792E8C4DA247BA13D3097A5B3651" ma:contentTypeVersion="19" ma:contentTypeDescription="Criar um novo documento." ma:contentTypeScope="" ma:versionID="feca8c51351b7dd2ebe379f83568fbca">
  <xsd:schema xmlns:xsd="http://www.w3.org/2001/XMLSchema" xmlns:xs="http://www.w3.org/2001/XMLSchema" xmlns:p="http://schemas.microsoft.com/office/2006/metadata/properties" xmlns:ns2="02969a41-4749-41bd-9c7b-d9741e2c579a" xmlns:ns3="89ea4605-a98c-4f8f-b4f4-c542867de630" targetNamespace="http://schemas.microsoft.com/office/2006/metadata/properties" ma:root="true" ma:fieldsID="df4199eb2ac8845ed51d786ca0c01ee1" ns2:_="" ns3:_="">
    <xsd:import namespace="02969a41-4749-41bd-9c7b-d9741e2c579a"/>
    <xsd:import namespace="89ea4605-a98c-4f8f-b4f4-c542867de63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3:SharedWithUsers" minOccurs="0"/>
                <xsd:element ref="ns3:SharedWithDetail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2969a41-4749-41bd-9c7b-d9741e2c57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Etiquetas de Imagem" ma:readOnly="false" ma:fieldId="{5cf76f15-5ced-4ddc-b409-7134ff3c332f}" ma:taxonomyMulti="true" ma:sspId="f0e915e2-2c61-4469-adf1-0bc69b39a59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9ea4605-a98c-4f8f-b4f4-c542867de630"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b6ae7d10-be01-4fdc-8ba2-d77ac22d0290}" ma:internalName="TaxCatchAll" ma:showField="CatchAllData" ma:web="89ea4605-a98c-4f8f-b4f4-c542867de630">
      <xsd:complexType>
        <xsd:complexContent>
          <xsd:extension base="dms:MultiChoiceLookup">
            <xsd:sequence>
              <xsd:element name="Value" type="dms:Lookup" maxOccurs="unbounded" minOccurs="0" nillable="true"/>
            </xsd:sequence>
          </xsd:extension>
        </xsd:complexContent>
      </xsd:complexType>
    </xsd:element>
    <xsd:element name="SharedWithUsers" ma:index="23" nillable="true" ma:displayName="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4" nillable="true" ma:displayName="Detalhes de Partilhado Com"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89ea4605-a98c-4f8f-b4f4-c542867de630" xsi:nil="true"/>
    <lcf76f155ced4ddcb4097134ff3c332f xmlns="02969a41-4749-41bd-9c7b-d9741e2c579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CBBD2CA-FD7B-4749-BB05-866DE39A49F9}"/>
</file>

<file path=customXml/itemProps2.xml><?xml version="1.0" encoding="utf-8"?>
<ds:datastoreItem xmlns:ds="http://schemas.openxmlformats.org/officeDocument/2006/customXml" ds:itemID="{134BFB51-A739-4F0D-A601-EB91B1DCB45A}">
  <ds:schemaRefs>
    <ds:schemaRef ds:uri="http://schemas.microsoft.com/sharepoint/v3/contenttype/forms"/>
  </ds:schemaRefs>
</ds:datastoreItem>
</file>

<file path=customXml/itemProps3.xml><?xml version="1.0" encoding="utf-8"?>
<ds:datastoreItem xmlns:ds="http://schemas.openxmlformats.org/officeDocument/2006/customXml" ds:itemID="{BDFAA639-D2AA-4BFC-962A-25BCA3356CBA}">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0</TotalTime>
  <Words>2635</Words>
  <Application>Microsoft Office PowerPoint</Application>
  <PresentationFormat>Widescreen</PresentationFormat>
  <Paragraphs>248</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Trebuchet MS</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Lara Neves</dc:creator>
  <cp:lastModifiedBy>Cláudia Meneses</cp:lastModifiedBy>
  <cp:revision>32</cp:revision>
  <dcterms:created xsi:type="dcterms:W3CDTF">2016-10-13T09:50:18Z</dcterms:created>
  <dcterms:modified xsi:type="dcterms:W3CDTF">2022-04-01T15:39:46Z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0x010100DF7D792E8C4DA247BA13D3097A5B3651</vt:lpwstr>
  </property>
  <property fmtid="{D5CDD505-2E9C-101B-9397-08002B2CF9AE}" pid="3" name="MediaServiceImageTags">
    <vt:lpwstr/>
  </property>
</Properties>
</file>