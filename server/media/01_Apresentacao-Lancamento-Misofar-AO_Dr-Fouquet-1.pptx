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8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9.xml" ContentType="application/vnd.openxmlformats-officedocument.presentationml.tags+xml"/>
  <Override PartName="/ppt/notesSlides/notesSlide19.xml" ContentType="application/vnd.openxmlformats-officedocument.presentationml.notesSlide+xml"/>
  <Override PartName="/ppt/tags/tag10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11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12.xml" ContentType="application/vnd.openxmlformats-officedocument.presentationml.tags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37"/>
  </p:notesMasterIdLst>
  <p:sldIdLst>
    <p:sldId id="653" r:id="rId4"/>
    <p:sldId id="609" r:id="rId5"/>
    <p:sldId id="700" r:id="rId6"/>
    <p:sldId id="682" r:id="rId7"/>
    <p:sldId id="668" r:id="rId8"/>
    <p:sldId id="681" r:id="rId9"/>
    <p:sldId id="678" r:id="rId10"/>
    <p:sldId id="705" r:id="rId11"/>
    <p:sldId id="691" r:id="rId12"/>
    <p:sldId id="716" r:id="rId13"/>
    <p:sldId id="655" r:id="rId14"/>
    <p:sldId id="680" r:id="rId15"/>
    <p:sldId id="689" r:id="rId16"/>
    <p:sldId id="690" r:id="rId17"/>
    <p:sldId id="634" r:id="rId18"/>
    <p:sldId id="706" r:id="rId19"/>
    <p:sldId id="707" r:id="rId20"/>
    <p:sldId id="292" r:id="rId21"/>
    <p:sldId id="683" r:id="rId22"/>
    <p:sldId id="670" r:id="rId23"/>
    <p:sldId id="699" r:id="rId24"/>
    <p:sldId id="692" r:id="rId25"/>
    <p:sldId id="694" r:id="rId26"/>
    <p:sldId id="698" r:id="rId27"/>
    <p:sldId id="693" r:id="rId28"/>
    <p:sldId id="708" r:id="rId29"/>
    <p:sldId id="712" r:id="rId30"/>
    <p:sldId id="713" r:id="rId31"/>
    <p:sldId id="704" r:id="rId32"/>
    <p:sldId id="701" r:id="rId33"/>
    <p:sldId id="715" r:id="rId34"/>
    <p:sldId id="702" r:id="rId35"/>
    <p:sldId id="714" r:id="rId3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0076"/>
    <a:srgbClr val="F7AABA"/>
    <a:srgbClr val="CF84AE"/>
    <a:srgbClr val="26AAE2"/>
    <a:srgbClr val="DFF2FB"/>
    <a:srgbClr val="6FCBBC"/>
    <a:srgbClr val="CE687F"/>
    <a:srgbClr val="E684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1332" autoAdjust="0"/>
  </p:normalViewPr>
  <p:slideViewPr>
    <p:cSldViewPr snapToGrid="0">
      <p:cViewPr varScale="1">
        <p:scale>
          <a:sx n="100" d="100"/>
          <a:sy n="100" d="100"/>
        </p:scale>
        <p:origin x="9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80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microsoft.com/office/2016/11/relationships/changesInfo" Target="changesInfos/changesInfo1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customXml" Target="../customXml/item3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áudia Meneses" userId="feadbd05-06d1-4fce-bac6-6c6642cde258" providerId="ADAL" clId="{9DED613C-60F5-40B9-9B42-F16EDD8CFE49}"/>
    <pc:docChg chg="modSld">
      <pc:chgData name="Cláudia Meneses" userId="feadbd05-06d1-4fce-bac6-6c6642cde258" providerId="ADAL" clId="{9DED613C-60F5-40B9-9B42-F16EDD8CFE49}" dt="2024-04-04T08:16:01.285" v="13" actId="20577"/>
      <pc:docMkLst>
        <pc:docMk/>
      </pc:docMkLst>
      <pc:sldChg chg="modSp mod">
        <pc:chgData name="Cláudia Meneses" userId="feadbd05-06d1-4fce-bac6-6c6642cde258" providerId="ADAL" clId="{9DED613C-60F5-40B9-9B42-F16EDD8CFE49}" dt="2024-04-04T08:16:01.285" v="13" actId="20577"/>
        <pc:sldMkLst>
          <pc:docMk/>
          <pc:sldMk cId="3867486190" sldId="653"/>
        </pc:sldMkLst>
        <pc:spChg chg="mod">
          <ac:chgData name="Cláudia Meneses" userId="feadbd05-06d1-4fce-bac6-6c6642cde258" providerId="ADAL" clId="{9DED613C-60F5-40B9-9B42-F16EDD8CFE49}" dt="2024-04-04T08:16:01.285" v="13" actId="20577"/>
          <ac:spMkLst>
            <pc:docMk/>
            <pc:sldMk cId="3867486190" sldId="653"/>
            <ac:spMk id="11" creationId="{7CCC63C0-D5F1-42AB-A3EA-682F83A448F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59A2A9-A3A5-47AB-AA8D-7868A75D2719}" type="datetimeFigureOut">
              <a:rPr lang="pt-PT" smtClean="0"/>
              <a:t>2024.04.04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42F8DE-ECF2-419C-BD2B-4D9F2B56B91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95568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s-ES_tradnl" altLang="es-ES" dirty="0">
              <a:ea typeface="ＭＳ Ｐゴシック" pitchFamily="34" charset="-128"/>
              <a:cs typeface="Arial" charset="0"/>
            </a:endParaRP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7E9506B-0110-495B-9B2F-8E98493D79C8}" type="slidenum">
              <a:rPr lang="es-ES_tradnl" altLang="es-ES" smtClean="0"/>
              <a:pPr algn="r" eaLnBrk="1" hangingPunct="1">
                <a:spcBef>
                  <a:spcPct val="0"/>
                </a:spcBef>
              </a:pPr>
              <a:t>1</a:t>
            </a:fld>
            <a:endParaRPr lang="es-ES_tradnl" altLang="es-ES"/>
          </a:p>
        </p:txBody>
      </p:sp>
    </p:spTree>
    <p:extLst>
      <p:ext uri="{BB962C8B-B14F-4D97-AF65-F5344CB8AC3E}">
        <p14:creationId xmlns:p14="http://schemas.microsoft.com/office/powerpoint/2010/main" val="15214708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algn="just" eaLnBrk="1" hangingPunct="1"/>
            <a:endParaRPr lang="es-ES" altLang="es-ES" dirty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-1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itchFamily="-1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-1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-1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-1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-1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-1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-1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-1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7604308-ACF8-4A8D-9F64-A11D74FD50E2}" type="slidenum">
              <a:rPr lang="es-ES_tradnl" altLang="es-ES" smtClean="0">
                <a:ea typeface="ＭＳ Ｐゴシック" pitchFamily="-1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s-ES_tradnl" altLang="es-ES">
              <a:ea typeface="ＭＳ Ｐゴシック" pitchFamily="-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42413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dirty="0"/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B76CCC-82B5-4760-9B8C-E756C9C2C5D0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6754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  <a:p>
            <a:endParaRPr lang="pt-PT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B76CCC-82B5-4760-9B8C-E756C9C2C5D0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0844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PT" dirty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-1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itchFamily="-1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-1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-1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-1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-1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-1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-1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-1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238454-BF5E-4249-9729-7739F5BE9893}" type="slidenum">
              <a:rPr kumimoji="0" lang="es-ES_tradnl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-1" charset="0"/>
                <a:ea typeface="ＭＳ Ｐゴシック" pitchFamily="-1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ES_tradnl" alt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-1" charset="0"/>
              <a:ea typeface="ＭＳ Ｐゴシック" pitchFamily="-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14269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pt-PT" dirty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37931725" indent="-37474525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C90B4C-3123-4242-BFA1-AF691878AD2F}" type="slidenum">
              <a:rPr kumimoji="0" lang="es-ES_tradnl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ES_tradnl" alt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291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pt-PT" dirty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37931725" indent="-37474525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C90B4C-3123-4242-BFA1-AF691878AD2F}" type="slidenum">
              <a:rPr kumimoji="0" lang="es-ES_tradnl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ES_tradnl" alt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51454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pt-PT" dirty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37931725" indent="-37474525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4F900D-BAEF-4248-81D3-78B57F83DB23}" type="slidenum">
              <a:rPr kumimoji="0" lang="es-ES_tradnl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ES_tradnl" alt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01871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1" i="0" u="none" strike="noStrike" cap="none" normalizeH="0" baseline="0" noProof="0" dirty="0" err="1">
                <a:ln>
                  <a:noFill/>
                </a:ln>
                <a:solidFill>
                  <a:srgbClr val="CF84AE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Misofar</a:t>
            </a:r>
            <a:r>
              <a:rPr kumimoji="0" lang="pt-PT" sz="1400" b="1" i="0" u="none" strike="noStrike" cap="none" normalizeH="0" baseline="0" noProof="0" dirty="0">
                <a:ln>
                  <a:noFill/>
                </a:ln>
                <a:solidFill>
                  <a:srgbClr val="CF84AE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 é um produto de uso exclusivo hospitalar. Apresenta-se em e</a:t>
            </a:r>
            <a:r>
              <a:rPr kumimoji="0" lang="pt-PT" sz="12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mbalagem de 8 comprimidos em blisters de alumínio. Período de validade de 36 meses. </a:t>
            </a:r>
            <a:r>
              <a:rPr kumimoji="0" lang="pt-PT" sz="12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Não requer condições especiais de conservação</a:t>
            </a: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B76CCC-82B5-4760-9B8C-E756C9C2C5D0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932038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dose deve ser adaptada à resposta de cada parturiente e deverá ser sempre mantida nas menores concentrações que garantam uma resposta uterina satisfatória.</a:t>
            </a:r>
          </a:p>
          <a:p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dose recomendada é de 25 microgramas de </a:t>
            </a:r>
            <a:r>
              <a:rPr lang="pt-PT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misoprostol</a:t>
            </a:r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intervalos de 4-6 horas, até um máximo de 4 a 6 comprimidos.</a:t>
            </a:r>
          </a:p>
          <a:p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segurança e eficácia de </a:t>
            </a:r>
            <a:r>
              <a:rPr lang="pt-PT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Misofar</a:t>
            </a:r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25 em mulheres grávidas com menos de 18 anos não foram estabelecidas.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B76CCC-82B5-4760-9B8C-E756C9C2C5D0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83827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PT" dirty="0"/>
              <a:t>Onde </a:t>
            </a:r>
            <a:r>
              <a:rPr lang="pt-PT" dirty="0" err="1"/>
              <a:t>actua</a:t>
            </a:r>
            <a:r>
              <a:rPr lang="pt-PT" dirty="0"/>
              <a:t> </a:t>
            </a:r>
            <a:r>
              <a:rPr lang="pt-PT" dirty="0" err="1"/>
              <a:t>Misofar</a:t>
            </a:r>
            <a:r>
              <a:rPr lang="pt-PT" dirty="0"/>
              <a:t> 25. </a:t>
            </a:r>
            <a:endParaRPr lang="pt-PT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pt-PT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Misofar</a:t>
            </a:r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25 é um agente </a:t>
            </a:r>
            <a:r>
              <a:rPr lang="pt-PT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uterotónico</a:t>
            </a:r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análogo sintético da prostaglandina E1, que está indicado para a maturação cervical e indução do parto de termo, sobretudo em casos de colo do útero imaturo, sempre que não existam contraindicações fetais ou maternas. </a:t>
            </a:r>
            <a:endParaRPr lang="pt-PT" dirty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37931725" indent="-37474525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266EE2-332D-455D-AA61-33423919A6EA}" type="slidenum">
              <a:rPr kumimoji="0" lang="es-ES_tradnl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ES_tradnl" alt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18670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B76CCC-82B5-4760-9B8C-E756C9C2C5D0}" type="slidenum">
              <a:rPr lang="pt-PT" smtClean="0"/>
              <a:t>13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121840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B76CCC-82B5-4760-9B8C-E756C9C2C5D0}" type="slidenum">
              <a:rPr lang="pt-PT" smtClean="0"/>
              <a:t>14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6711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B76CCC-82B5-4760-9B8C-E756C9C2C5D0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54826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B76CCC-82B5-4760-9B8C-E756C9C2C5D0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09984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B76CCC-82B5-4760-9B8C-E756C9C2C5D0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94141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2F8DE-ECF2-419C-BD2B-4D9F2B56B91C}" type="slidenum">
              <a:rPr lang="pt-PT" smtClean="0"/>
              <a:t>18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441426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2F8DE-ECF2-419C-BD2B-4D9F2B56B91C}" type="slidenum">
              <a:rPr lang="pt-PT" smtClean="0"/>
              <a:t>19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323987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Arial" panose="020B0604020202020204" pitchFamily="34" charset="0"/>
              </a:rPr>
              <a:t>Misofar 200</a:t>
            </a:r>
            <a:r>
              <a:rPr kumimoji="0" lang="pt-PT" sz="12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Arial" panose="020B0604020202020204" pitchFamily="34" charset="0"/>
              </a:rPr>
              <a:t> administrado antes de uma histeroscopia diminui a resistência cervical, reduz a necessidade de dilatação mecânica do colo do útero, facilita a inserção do histeroscópio e reduz a dor durante o procedimento</a:t>
            </a:r>
          </a:p>
          <a:p>
            <a:pPr eaLnBrk="1" hangingPunct="1">
              <a:spcBef>
                <a:spcPct val="0"/>
              </a:spcBef>
            </a:pPr>
            <a:endParaRPr lang="es-ES" altLang="es-ES" b="1" dirty="0"/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-1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itchFamily="-1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-1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-1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-1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-1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-1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-1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-1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7FA829A-7CB8-4699-846F-DF4F94217792}" type="slidenum">
              <a:rPr kumimoji="0" lang="es-ES_tradnl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-1" charset="0"/>
                <a:ea typeface="ＭＳ Ｐゴシック" pitchFamily="-1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s-ES_tradnl" alt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-1" charset="0"/>
              <a:ea typeface="ＭＳ Ｐゴシック" pitchFamily="-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5360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pt-PT" b="0" dirty="0">
              <a:ea typeface="ＭＳ Ｐゴシック" pitchFamily="34" charset="-128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37931725" indent="-37474525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D8B185-9520-4EF8-9F2D-425E5119D33D}" type="slidenum">
              <a:rPr kumimoji="0" lang="es-ES_tradnl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s-ES_tradnl" alt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27689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B76CCC-82B5-4760-9B8C-E756C9C2C5D0}" type="slidenum">
              <a:rPr lang="pt-PT" smtClean="0"/>
              <a:t>22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429997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B76CCC-82B5-4760-9B8C-E756C9C2C5D0}" type="slidenum">
              <a:rPr lang="pt-PT" smtClean="0"/>
              <a:t>23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315589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76CCC-82B5-4760-9B8C-E756C9C2C5D0}" type="slidenum">
              <a:rPr lang="pt-PT" smtClean="0"/>
              <a:t>24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974997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pt-PT" dirty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37931725" indent="-37474525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89B035-F44F-4EFA-8BB8-129849ED70F1}" type="slidenum">
              <a:rPr kumimoji="0" lang="es-ES_tradnl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s-ES_tradnl" alt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70105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2F8DE-ECF2-419C-BD2B-4D9F2B56B91C}" type="slidenum">
              <a:rPr lang="pt-PT" smtClean="0"/>
              <a:t>29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220809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B76CCC-82B5-4760-9B8C-E756C9C2C5D0}" type="slidenum">
              <a:rPr lang="pt-PT" smtClean="0"/>
              <a:t>30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509821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B76CCC-82B5-4760-9B8C-E756C9C2C5D0}" type="slidenum">
              <a:rPr lang="pt-PT" smtClean="0"/>
              <a:t>31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700303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B76CCC-82B5-4760-9B8C-E756C9C2C5D0}" type="slidenum">
              <a:rPr lang="pt-PT" smtClean="0"/>
              <a:t>32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917114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s-ES_tradnl" altLang="es-ES" dirty="0">
              <a:ea typeface="ＭＳ Ｐゴシック" pitchFamily="34" charset="-128"/>
              <a:cs typeface="Arial" charset="0"/>
            </a:endParaRP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 algn="just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algn="just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7E9506B-0110-495B-9B2F-8E98493D79C8}" type="slidenum">
              <a:rPr lang="es-ES_tradnl" altLang="es-ES" smtClean="0"/>
              <a:pPr algn="r" eaLnBrk="1" hangingPunct="1">
                <a:spcBef>
                  <a:spcPct val="0"/>
                </a:spcBef>
              </a:pPr>
              <a:t>33</a:t>
            </a:fld>
            <a:endParaRPr lang="es-ES_tradnl" altLang="es-ES"/>
          </a:p>
        </p:txBody>
      </p:sp>
    </p:spTree>
    <p:extLst>
      <p:ext uri="{BB962C8B-B14F-4D97-AF65-F5344CB8AC3E}">
        <p14:creationId xmlns:p14="http://schemas.microsoft.com/office/powerpoint/2010/main" val="3019586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4CA5C-FBB0-4D24-B1A6-A1CFC44894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4BEA6A-410C-4AFB-B87A-2CB2099E44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79E71-5E61-47C4-8E92-59B45C60D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BFBA-74F2-4D0F-9A1A-585982615C57}" type="datetimeFigureOut">
              <a:rPr lang="pt-PT" smtClean="0"/>
              <a:t>2024.04.04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BBCA0-2811-4E53-A289-744753E56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D5EF0-8635-4CE1-B998-EC28239D7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5B782-E8EB-44C3-90C3-D925681FE4D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84494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7081C-34A8-4F50-930A-05606B3ED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E4DFA-1EE1-4B9A-9817-81EF4E1D3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00E1C-8803-4B1F-BA6B-06693CDAB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BFBA-74F2-4D0F-9A1A-585982615C57}" type="datetimeFigureOut">
              <a:rPr lang="pt-PT" smtClean="0"/>
              <a:t>2024.04.04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0D099-5DF6-43AF-809B-3B9EF59CC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DD8B9-39F2-419B-AFAF-6ED7FB9E9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5B782-E8EB-44C3-90C3-D925681FE4D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40994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4CF7D-1016-4BF5-91FC-C385A6B6E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60334-CFA4-4A34-8EFB-37D84C088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75454-37A6-441D-836F-13BB7D199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BFBA-74F2-4D0F-9A1A-585982615C57}" type="datetimeFigureOut">
              <a:rPr lang="pt-PT" smtClean="0"/>
              <a:t>2024.04.04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1B2BF-EDE4-41D3-BDCB-E69761613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F5052-52C1-44DF-9D62-0B808D8A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5B782-E8EB-44C3-90C3-D925681FE4D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88803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3EE99-BBAF-47BC-986E-5B6753566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C285B-474B-4207-B870-C14FCC6BBF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79DAE6-044F-4CDF-A68A-0BBE8F045B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956E57-CFB8-4FFF-B946-10D32BC9E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BFBA-74F2-4D0F-9A1A-585982615C57}" type="datetimeFigureOut">
              <a:rPr lang="pt-PT" smtClean="0"/>
              <a:t>2024.04.04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19EA9C-3084-4D8C-B74B-0CF856723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799F9-8785-4775-84D9-39A700601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5B782-E8EB-44C3-90C3-D925681FE4D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37482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9FE42-E5FB-4334-8391-F8C0023ED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010CD-0A79-4821-BFA2-B5FCA5DB7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1F980C-9517-479A-92A2-670346E5C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DFD18B-2319-4695-A49A-078A824AF1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D4E3E0-E756-496D-A61C-C3AA8B3875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2ADA32-6540-4DEC-A9B6-1BEDEF82B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BFBA-74F2-4D0F-9A1A-585982615C57}" type="datetimeFigureOut">
              <a:rPr lang="pt-PT" smtClean="0"/>
              <a:t>2024.04.04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4A5108-9018-477B-9E30-CEE58E1E6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788665-AE54-4E1C-9848-9308329C4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5B782-E8EB-44C3-90C3-D925681FE4D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18267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CA848-2961-4618-BA31-1A7421303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3BC48A-9635-4129-A13D-B7D93C11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BFBA-74F2-4D0F-9A1A-585982615C57}" type="datetimeFigureOut">
              <a:rPr lang="pt-PT" smtClean="0"/>
              <a:t>2024.04.04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1F256E-2125-4FEF-99D4-880519AFB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576B1-8696-4E32-862F-3D6C13E12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5B782-E8EB-44C3-90C3-D925681FE4D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8217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96FA5C-2DDC-4778-8081-FD131E5B0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BFBA-74F2-4D0F-9A1A-585982615C57}" type="datetimeFigureOut">
              <a:rPr lang="pt-PT" smtClean="0"/>
              <a:t>2024.04.04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1FEF5C-517F-4E4F-9AA9-D5E88D804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FE7FE-B399-4A8A-B9FD-780246C6F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5B782-E8EB-44C3-90C3-D925681FE4D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8975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7CE9F-E01C-4AC7-9DE4-ED7B057B8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A665F-EED8-48B9-95A6-581BDB2A0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74A268-46EE-4D29-B415-BD9F31726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D9A036-95B6-4257-B4A4-0A8A3C568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BFBA-74F2-4D0F-9A1A-585982615C57}" type="datetimeFigureOut">
              <a:rPr lang="pt-PT" smtClean="0"/>
              <a:t>2024.04.04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EC0C5C-6DE3-418B-90B4-0AC0062B9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59098-782F-475C-B778-985EF261D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5B782-E8EB-44C3-90C3-D925681FE4D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50211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DBC65-2272-412C-8500-199FA1F3F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B954DB-55D0-43FC-96D8-C4C5772AEC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8ABDF-B079-4F61-A505-606F0D24B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CEDB0-4124-4B19-8DF1-1D0B6563C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BFBA-74F2-4D0F-9A1A-585982615C57}" type="datetimeFigureOut">
              <a:rPr lang="pt-PT" smtClean="0"/>
              <a:t>2024.04.04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7130F-1CCC-479F-9778-573156B84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919CEB-8CEC-4BBB-8E24-3DB7EF8F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5B782-E8EB-44C3-90C3-D925681FE4D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2436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38152-0EE3-45B9-8165-07E9645A6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836DEB-2842-4A08-AA87-C13EDD24B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7B2D6-A239-4EE6-B56F-F4600B6D6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BFBA-74F2-4D0F-9A1A-585982615C57}" type="datetimeFigureOut">
              <a:rPr lang="pt-PT" smtClean="0"/>
              <a:t>2024.04.04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83C6D-0779-402E-A3C9-921DF5B44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B8F63-5371-4CFF-91A7-A5A2D36BA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5B782-E8EB-44C3-90C3-D925681FE4D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50727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8C0E14-362A-45E2-B739-7D640ECC39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6790C9-7704-4B20-88DA-28DF2FBDC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FF03F-1843-41BD-B66F-B98A1BC80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BFBA-74F2-4D0F-9A1A-585982615C57}" type="datetimeFigureOut">
              <a:rPr lang="pt-PT" smtClean="0"/>
              <a:t>2024.04.04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D69BC-CC33-4D0F-BB37-A3AA8015A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8746B-2907-46F5-934C-952A0669F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5B782-E8EB-44C3-90C3-D925681FE4D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91884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36319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9144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035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9 Marcador de título"/>
          <p:cNvSpPr>
            <a:spLocks noGrp="1"/>
          </p:cNvSpPr>
          <p:nvPr>
            <p:ph type="title"/>
          </p:nvPr>
        </p:nvSpPr>
        <p:spPr>
          <a:xfrm>
            <a:off x="609600" y="-27384"/>
            <a:ext cx="8579893" cy="1143000"/>
          </a:xfrm>
          <a:prstGeom prst="rect">
            <a:avLst/>
          </a:prstGeom>
          <a:effectLst>
            <a:glow rad="101600">
              <a:schemeClr val="accent1">
                <a:alpha val="75000"/>
              </a:schemeClr>
            </a:glow>
          </a:effectLst>
        </p:spPr>
        <p:txBody>
          <a:bodyPr lIns="91427" tIns="45713" rIns="91427" bIns="45713" anchor="ctr"/>
          <a:lstStyle>
            <a:lvl1pPr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None/>
              <a:defRPr lang="es-ES" sz="3600" kern="1200" baseline="0" dirty="0">
                <a:solidFill>
                  <a:srgbClr val="77933C"/>
                </a:solidFill>
                <a:latin typeface="Calibri" pitchFamily="-1" charset="0"/>
                <a:ea typeface="+mn-ea"/>
                <a:cs typeface="+mn-cs"/>
              </a:defRPr>
            </a:lvl1pPr>
          </a:lstStyle>
          <a:p>
            <a:pPr lvl="0" algn="l" fontAlgn="auto">
              <a:spcBef>
                <a:spcPts val="0"/>
              </a:spcBef>
              <a:spcAft>
                <a:spcPts val="0"/>
              </a:spcAft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8994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~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0602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A5DCB4-07FE-41EF-9AE9-C047D48A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B0673-157A-4D80-8A16-4D1CC5BA0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17EE7-4062-4B5B-B3E5-242EF884D2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37BFBA-74F2-4D0F-9A1A-585982615C57}" type="datetimeFigureOut">
              <a:rPr lang="pt-PT" smtClean="0"/>
              <a:t>2024.04.04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9C42C-355B-4B97-AA43-D4A885D43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5E2EC-2445-4855-93F5-AF253004FD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5B782-E8EB-44C3-90C3-D925681FE4D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4379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8.xml"/><Relationship Id="rId6" Type="http://schemas.openxmlformats.org/officeDocument/2006/relationships/slide" Target="slide13.xml"/><Relationship Id="rId5" Type="http://schemas.openxmlformats.org/officeDocument/2006/relationships/slide" Target="slide4.xml"/><Relationship Id="rId4" Type="http://schemas.openxmlformats.org/officeDocument/2006/relationships/slide" Target="slide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9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5.png"/><Relationship Id="rId5" Type="http://schemas.openxmlformats.org/officeDocument/2006/relationships/slide" Target="slide13.xml"/><Relationship Id="rId4" Type="http://schemas.openxmlformats.org/officeDocument/2006/relationships/image" Target="../media/image6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5.png"/><Relationship Id="rId5" Type="http://schemas.openxmlformats.org/officeDocument/2006/relationships/image" Target="../media/image76.png"/><Relationship Id="rId4" Type="http://schemas.openxmlformats.org/officeDocument/2006/relationships/image" Target="../media/image6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audio" Target="../media/media1.wav"/><Relationship Id="rId7" Type="http://schemas.openxmlformats.org/officeDocument/2006/relationships/image" Target="../media/image2.png"/><Relationship Id="rId2" Type="http://schemas.microsoft.com/office/2007/relationships/media" Target="../media/media1.wav"/><Relationship Id="rId1" Type="http://schemas.openxmlformats.org/officeDocument/2006/relationships/tags" Target="../tags/tag12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07D0C1-0A34-4C77-B60B-9F8E6027FCF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9761" b="478"/>
          <a:stretch/>
        </p:blipFill>
        <p:spPr>
          <a:xfrm>
            <a:off x="0" y="0"/>
            <a:ext cx="12204700" cy="6858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2D33259-2A2D-49F0-8F71-37F879496F3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9760" b="479"/>
          <a:stretch/>
        </p:blipFill>
        <p:spPr>
          <a:xfrm>
            <a:off x="0" y="0"/>
            <a:ext cx="122047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203C33-1DAA-4EF4-8CEB-2EA5A35592AD}"/>
              </a:ext>
            </a:extLst>
          </p:cNvPr>
          <p:cNvSpPr txBox="1"/>
          <p:nvPr/>
        </p:nvSpPr>
        <p:spPr>
          <a:xfrm>
            <a:off x="536668" y="2185025"/>
            <a:ext cx="42766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0" b="1" dirty="0">
                <a:solidFill>
                  <a:srgbClr val="C10076"/>
                </a:solidFill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MISOFAR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C94598-AACA-4475-BD92-E31CEB42FEEA}"/>
              </a:ext>
            </a:extLst>
          </p:cNvPr>
          <p:cNvSpPr txBox="1"/>
          <p:nvPr/>
        </p:nvSpPr>
        <p:spPr>
          <a:xfrm>
            <a:off x="615748" y="1839327"/>
            <a:ext cx="3651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600" dirty="0">
                <a:solidFill>
                  <a:srgbClr val="231F20"/>
                </a:solidFill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Lançamento</a:t>
            </a:r>
          </a:p>
        </p:txBody>
      </p:sp>
      <p:sp>
        <p:nvSpPr>
          <p:cNvPr id="15" name="Double Bracket 14">
            <a:extLst>
              <a:ext uri="{FF2B5EF4-FFF2-40B4-BE49-F238E27FC236}">
                <a16:creationId xmlns:a16="http://schemas.microsoft.com/office/drawing/2014/main" id="{744BF6C5-98DA-4C73-A1E8-7F92E745F2E1}"/>
              </a:ext>
            </a:extLst>
          </p:cNvPr>
          <p:cNvSpPr/>
          <p:nvPr/>
        </p:nvSpPr>
        <p:spPr>
          <a:xfrm rot="10800000">
            <a:off x="4525509" y="3177713"/>
            <a:ext cx="608928" cy="608928"/>
          </a:xfrm>
          <a:custGeom>
            <a:avLst/>
            <a:gdLst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1258880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4" fmla="*/ 1878004 w 2381250"/>
              <a:gd name="connsiteY4" fmla="*/ 0 h 1762126"/>
              <a:gd name="connsiteX5" fmla="*/ 2381250 w 2381250"/>
              <a:gd name="connsiteY5" fmla="*/ 503246 h 1762126"/>
              <a:gd name="connsiteX6" fmla="*/ 2381250 w 2381250"/>
              <a:gd name="connsiteY6" fmla="*/ 1258880 h 1762126"/>
              <a:gd name="connsiteX7" fmla="*/ 1878004 w 2381250"/>
              <a:gd name="connsiteY7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7" fmla="*/ 503246 w 2381250"/>
              <a:gd name="connsiteY7" fmla="*/ 1762126 h 176212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878004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03246 w 2381250"/>
              <a:gd name="connsiteY6" fmla="*/ 1762126 h 1853566"/>
              <a:gd name="connsiteX7" fmla="*/ 0 w 2381250"/>
              <a:gd name="connsiteY7" fmla="*/ 1258880 h 1853566"/>
              <a:gd name="connsiteX8" fmla="*/ 0 w 2381250"/>
              <a:gd name="connsiteY8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209675 w 2381250"/>
              <a:gd name="connsiteY2" fmla="*/ 1 h 1853566"/>
              <a:gd name="connsiteX3" fmla="*/ 1878004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03246 w 2381250"/>
              <a:gd name="connsiteY7" fmla="*/ 1762126 h 1853566"/>
              <a:gd name="connsiteX8" fmla="*/ 0 w 2381250"/>
              <a:gd name="connsiteY8" fmla="*/ 1258880 h 1853566"/>
              <a:gd name="connsiteX9" fmla="*/ 0 w 2381250"/>
              <a:gd name="connsiteY9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9" fmla="*/ 1301115 w 2381250"/>
              <a:gd name="connsiteY9" fmla="*/ 91441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94686 w 2381250"/>
              <a:gd name="connsiteY7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0 w 2381250"/>
              <a:gd name="connsiteY1" fmla="*/ 503246 h 1853566"/>
              <a:gd name="connsiteX2" fmla="*/ 503246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94686 w 2381250"/>
              <a:gd name="connsiteY6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94686 w 2381250"/>
              <a:gd name="connsiteY5" fmla="*/ 1853566 h 185356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503246 w 2381250"/>
              <a:gd name="connsiteY4" fmla="*/ 1762126 h 1762126"/>
              <a:gd name="connsiteX5" fmla="*/ 0 w 2381250"/>
              <a:gd name="connsiteY5" fmla="*/ 1258880 h 1762126"/>
              <a:gd name="connsiteX6" fmla="*/ 0 w 2381250"/>
              <a:gd name="connsiteY6" fmla="*/ 503246 h 1762126"/>
              <a:gd name="connsiteX7" fmla="*/ 503246 w 2381250"/>
              <a:gd name="connsiteY7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1258880 h 1762126"/>
              <a:gd name="connsiteX5" fmla="*/ 0 w 2381250"/>
              <a:gd name="connsiteY5" fmla="*/ 503246 h 1762126"/>
              <a:gd name="connsiteX6" fmla="*/ 503246 w 2381250"/>
              <a:gd name="connsiteY6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503246 h 1762126"/>
              <a:gd name="connsiteX5" fmla="*/ 503246 w 2381250"/>
              <a:gd name="connsiteY5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0" fmla="*/ 1878004 w 1878004"/>
              <a:gd name="connsiteY0" fmla="*/ 1762126 h 1762126"/>
              <a:gd name="connsiteX1" fmla="*/ 0 w 1878004"/>
              <a:gd name="connsiteY1" fmla="*/ 503246 h 1762126"/>
              <a:gd name="connsiteX2" fmla="*/ 503246 w 1878004"/>
              <a:gd name="connsiteY2" fmla="*/ 0 h 1762126"/>
              <a:gd name="connsiteX0" fmla="*/ 0 w 1878004"/>
              <a:gd name="connsiteY0" fmla="*/ 503246 h 1762126"/>
              <a:gd name="connsiteX1" fmla="*/ 503246 w 1878004"/>
              <a:gd name="connsiteY1" fmla="*/ 0 h 1762126"/>
              <a:gd name="connsiteX0" fmla="*/ 0 w 503246"/>
              <a:gd name="connsiteY0" fmla="*/ 503246 h 503246"/>
              <a:gd name="connsiteX1" fmla="*/ 503246 w 503246"/>
              <a:gd name="connsiteY1" fmla="*/ 0 h 503246"/>
              <a:gd name="connsiteX0" fmla="*/ 0 w 503246"/>
              <a:gd name="connsiteY0" fmla="*/ 503246 h 503246"/>
              <a:gd name="connsiteX1" fmla="*/ 503246 w 503246"/>
              <a:gd name="connsiteY1" fmla="*/ 0 h 503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246" h="503246" stroke="0" extrusionOk="0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  <a:path w="503246" h="503246" fill="none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</a:pathLst>
          </a:custGeom>
          <a:noFill/>
          <a:ln w="25400" cap="rnd">
            <a:solidFill>
              <a:srgbClr val="C1007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>
              <a:solidFill>
                <a:schemeClr val="lt1"/>
              </a:solidFill>
            </a:endParaRPr>
          </a:p>
        </p:txBody>
      </p:sp>
      <p:sp>
        <p:nvSpPr>
          <p:cNvPr id="11" name="2 Título">
            <a:extLst>
              <a:ext uri="{FF2B5EF4-FFF2-40B4-BE49-F238E27FC236}">
                <a16:creationId xmlns:a16="http://schemas.microsoft.com/office/drawing/2014/main" id="{7CCC63C0-D5F1-42AB-A3EA-682F83A448FB}"/>
              </a:ext>
            </a:extLst>
          </p:cNvPr>
          <p:cNvSpPr txBox="1">
            <a:spLocks/>
          </p:cNvSpPr>
          <p:nvPr/>
        </p:nvSpPr>
        <p:spPr>
          <a:xfrm>
            <a:off x="10537794" y="5986410"/>
            <a:ext cx="1587007" cy="6089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PT" sz="1600" dirty="0">
                <a:solidFill>
                  <a:srgbClr val="231F20"/>
                </a:solidFill>
                <a:latin typeface="Trebuchet MS" panose="020B0603020202020204" pitchFamily="34" charset="0"/>
              </a:rPr>
              <a:t>Angola</a:t>
            </a:r>
          </a:p>
          <a:p>
            <a:pPr algn="r"/>
            <a:r>
              <a:rPr lang="pt-PT" sz="1600" dirty="0">
                <a:solidFill>
                  <a:srgbClr val="231F20"/>
                </a:solidFill>
                <a:latin typeface="Trebuchet MS" panose="020B0603020202020204" pitchFamily="34" charset="0"/>
              </a:rPr>
              <a:t>Abril de 2024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F17FBA80-55A0-4C43-9CEB-60C3163217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2280"/>
            <a:ext cx="1587007" cy="11219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67486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90840D-44D5-48F0-9B0C-E294F1005C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743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523999" y="-27384"/>
            <a:ext cx="7696200" cy="708025"/>
          </a:xfrm>
          <a:prstGeom prst="rect">
            <a:avLst/>
          </a:prstGeom>
          <a:effectLst>
            <a:glow rad="101600">
              <a:schemeClr val="accent1">
                <a:alpha val="75000"/>
              </a:schemeClr>
            </a:glo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-1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-1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-1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-1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-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" charset="-128"/>
              </a:defRPr>
            </a:lvl9pPr>
          </a:lstStyle>
          <a:p>
            <a:pPr eaLnBrk="1" hangingPunct="1">
              <a:defRPr/>
            </a:pPr>
            <a:endParaRPr lang="es-ES_tradnl" altLang="es-ES" sz="3600" dirty="0">
              <a:solidFill>
                <a:srgbClr val="77933C"/>
              </a:solidFill>
              <a:latin typeface="Calibri" pitchFamily="-1" charset="0"/>
            </a:endParaRPr>
          </a:p>
        </p:txBody>
      </p:sp>
      <p:sp>
        <p:nvSpPr>
          <p:cNvPr id="4" name="3 Título"/>
          <p:cNvSpPr>
            <a:spLocks noGrp="1"/>
          </p:cNvSpPr>
          <p:nvPr>
            <p:ph type="title" idx="4294967295"/>
          </p:nvPr>
        </p:nvSpPr>
        <p:spPr>
          <a:xfrm>
            <a:off x="3674437" y="421878"/>
            <a:ext cx="4843126" cy="1143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pt-PT" sz="2800">
                <a:solidFill>
                  <a:srgbClr val="231F20"/>
                </a:solidFill>
                <a:latin typeface="Trebuchet MS" panose="020B0603020202020204" pitchFamily="34" charset="0"/>
              </a:rPr>
              <a:t>SISTEMA</a:t>
            </a:r>
            <a:br>
              <a:rPr lang="pt-PT">
                <a:latin typeface="Trebuchet MS" panose="020B0603020202020204" pitchFamily="34" charset="0"/>
              </a:rPr>
            </a:br>
            <a:r>
              <a:rPr lang="pt-PT" sz="4400" b="1">
                <a:solidFill>
                  <a:schemeClr val="bg1"/>
                </a:solidFill>
                <a:latin typeface="Trebuchet MS" panose="020B0603020202020204" pitchFamily="34" charset="0"/>
              </a:rPr>
              <a:t>REPRODUTOR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2F23D77-23C0-48BC-BCCF-C61981F8C20D}"/>
              </a:ext>
            </a:extLst>
          </p:cNvPr>
          <p:cNvGrpSpPr/>
          <p:nvPr/>
        </p:nvGrpSpPr>
        <p:grpSpPr>
          <a:xfrm>
            <a:off x="6908800" y="4368800"/>
            <a:ext cx="436545" cy="1930400"/>
            <a:chOff x="6908800" y="4368800"/>
            <a:chExt cx="1358900" cy="1930400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8FA0F85C-BDAE-4801-9AB4-A36E2A3174F9}"/>
                </a:ext>
              </a:extLst>
            </p:cNvPr>
            <p:cNvSpPr/>
            <p:nvPr/>
          </p:nvSpPr>
          <p:spPr>
            <a:xfrm>
              <a:off x="6908800" y="4368800"/>
              <a:ext cx="749300" cy="1930400"/>
            </a:xfrm>
            <a:custGeom>
              <a:avLst/>
              <a:gdLst>
                <a:gd name="connsiteX0" fmla="*/ 0 w 635000"/>
                <a:gd name="connsiteY0" fmla="*/ 0 h 1930400"/>
                <a:gd name="connsiteX1" fmla="*/ 635000 w 635000"/>
                <a:gd name="connsiteY1" fmla="*/ 0 h 1930400"/>
                <a:gd name="connsiteX2" fmla="*/ 635000 w 635000"/>
                <a:gd name="connsiteY2" fmla="*/ 1930400 h 1930400"/>
                <a:gd name="connsiteX3" fmla="*/ 114300 w 635000"/>
                <a:gd name="connsiteY3" fmla="*/ 1930400 h 193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0" h="1930400">
                  <a:moveTo>
                    <a:pt x="0" y="0"/>
                  </a:moveTo>
                  <a:lnTo>
                    <a:pt x="635000" y="0"/>
                  </a:lnTo>
                  <a:lnTo>
                    <a:pt x="635000" y="1930400"/>
                  </a:lnTo>
                  <a:lnTo>
                    <a:pt x="114300" y="193040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E189D3C-DDBD-428A-843D-7F209513F88F}"/>
                </a:ext>
              </a:extLst>
            </p:cNvPr>
            <p:cNvSpPr/>
            <p:nvPr/>
          </p:nvSpPr>
          <p:spPr>
            <a:xfrm>
              <a:off x="7658100" y="5308600"/>
              <a:ext cx="609600" cy="0"/>
            </a:xfrm>
            <a:custGeom>
              <a:avLst/>
              <a:gdLst>
                <a:gd name="connsiteX0" fmla="*/ 0 w 609600"/>
                <a:gd name="connsiteY0" fmla="*/ 0 h 0"/>
                <a:gd name="connsiteX1" fmla="*/ 609600 w 6096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EA52BDC-DFA6-4DFC-901D-EFB3F7787146}"/>
              </a:ext>
            </a:extLst>
          </p:cNvPr>
          <p:cNvSpPr/>
          <p:nvPr/>
        </p:nvSpPr>
        <p:spPr>
          <a:xfrm>
            <a:off x="1689100" y="3175000"/>
            <a:ext cx="2171700" cy="965200"/>
          </a:xfrm>
          <a:custGeom>
            <a:avLst/>
            <a:gdLst>
              <a:gd name="connsiteX0" fmla="*/ 2171700 w 2171700"/>
              <a:gd name="connsiteY0" fmla="*/ 0 h 965200"/>
              <a:gd name="connsiteX1" fmla="*/ 1206500 w 2171700"/>
              <a:gd name="connsiteY1" fmla="*/ 965200 h 965200"/>
              <a:gd name="connsiteX2" fmla="*/ 0 w 2171700"/>
              <a:gd name="connsiteY2" fmla="*/ 96520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71700" h="965200">
                <a:moveTo>
                  <a:pt x="2171700" y="0"/>
                </a:moveTo>
                <a:lnTo>
                  <a:pt x="1206500" y="965200"/>
                </a:lnTo>
                <a:lnTo>
                  <a:pt x="0" y="96520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1FC4B71-D452-443F-AA49-3FAF11D0B579}"/>
              </a:ext>
            </a:extLst>
          </p:cNvPr>
          <p:cNvSpPr/>
          <p:nvPr/>
        </p:nvSpPr>
        <p:spPr>
          <a:xfrm>
            <a:off x="1651000" y="2628900"/>
            <a:ext cx="4368800" cy="2997200"/>
          </a:xfrm>
          <a:custGeom>
            <a:avLst/>
            <a:gdLst>
              <a:gd name="connsiteX0" fmla="*/ 4368800 w 4368800"/>
              <a:gd name="connsiteY0" fmla="*/ 0 h 2997200"/>
              <a:gd name="connsiteX1" fmla="*/ 1371600 w 4368800"/>
              <a:gd name="connsiteY1" fmla="*/ 2997200 h 2997200"/>
              <a:gd name="connsiteX2" fmla="*/ 0 w 4368800"/>
              <a:gd name="connsiteY2" fmla="*/ 2997200 h 299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68800" h="2997200">
                <a:moveTo>
                  <a:pt x="4368800" y="0"/>
                </a:moveTo>
                <a:lnTo>
                  <a:pt x="1371600" y="2997200"/>
                </a:lnTo>
                <a:lnTo>
                  <a:pt x="0" y="299720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D2F6EC6-65BC-40A8-96AC-0AA7E251D12C}"/>
              </a:ext>
            </a:extLst>
          </p:cNvPr>
          <p:cNvGrpSpPr/>
          <p:nvPr/>
        </p:nvGrpSpPr>
        <p:grpSpPr>
          <a:xfrm>
            <a:off x="6908800" y="3187700"/>
            <a:ext cx="436545" cy="1063828"/>
            <a:chOff x="6908800" y="4368800"/>
            <a:chExt cx="1358900" cy="1930400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72ADC6A-9AE0-402E-A9DD-8E6F971C8117}"/>
                </a:ext>
              </a:extLst>
            </p:cNvPr>
            <p:cNvSpPr/>
            <p:nvPr/>
          </p:nvSpPr>
          <p:spPr>
            <a:xfrm>
              <a:off x="6908800" y="4368800"/>
              <a:ext cx="749300" cy="1930400"/>
            </a:xfrm>
            <a:custGeom>
              <a:avLst/>
              <a:gdLst>
                <a:gd name="connsiteX0" fmla="*/ 0 w 635000"/>
                <a:gd name="connsiteY0" fmla="*/ 0 h 1930400"/>
                <a:gd name="connsiteX1" fmla="*/ 635000 w 635000"/>
                <a:gd name="connsiteY1" fmla="*/ 0 h 1930400"/>
                <a:gd name="connsiteX2" fmla="*/ 635000 w 635000"/>
                <a:gd name="connsiteY2" fmla="*/ 1930400 h 1930400"/>
                <a:gd name="connsiteX3" fmla="*/ 114300 w 635000"/>
                <a:gd name="connsiteY3" fmla="*/ 1930400 h 1930400"/>
                <a:gd name="connsiteX0" fmla="*/ 0 w 635000"/>
                <a:gd name="connsiteY0" fmla="*/ 0 h 1930400"/>
                <a:gd name="connsiteX1" fmla="*/ 635000 w 635000"/>
                <a:gd name="connsiteY1" fmla="*/ 0 h 1930400"/>
                <a:gd name="connsiteX2" fmla="*/ 635000 w 635000"/>
                <a:gd name="connsiteY2" fmla="*/ 1930400 h 1930400"/>
                <a:gd name="connsiteX3" fmla="*/ 13399 w 635000"/>
                <a:gd name="connsiteY3" fmla="*/ 1930400 h 193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0" h="1930400">
                  <a:moveTo>
                    <a:pt x="0" y="0"/>
                  </a:moveTo>
                  <a:lnTo>
                    <a:pt x="635000" y="0"/>
                  </a:lnTo>
                  <a:lnTo>
                    <a:pt x="635000" y="1930400"/>
                  </a:lnTo>
                  <a:lnTo>
                    <a:pt x="13399" y="193040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0E68D61-3A38-4BFF-94F4-A1C7F065C5B6}"/>
                </a:ext>
              </a:extLst>
            </p:cNvPr>
            <p:cNvSpPr/>
            <p:nvPr/>
          </p:nvSpPr>
          <p:spPr>
            <a:xfrm>
              <a:off x="7658100" y="5308600"/>
              <a:ext cx="609600" cy="0"/>
            </a:xfrm>
            <a:custGeom>
              <a:avLst/>
              <a:gdLst>
                <a:gd name="connsiteX0" fmla="*/ 0 w 609600"/>
                <a:gd name="connsiteY0" fmla="*/ 0 h 0"/>
                <a:gd name="connsiteX1" fmla="*/ 609600 w 6096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74172C8B-E167-4FB6-B32D-71DA250B7ADC}"/>
              </a:ext>
            </a:extLst>
          </p:cNvPr>
          <p:cNvSpPr/>
          <p:nvPr/>
        </p:nvSpPr>
        <p:spPr>
          <a:xfrm>
            <a:off x="1538374" y="3859384"/>
            <a:ext cx="1204825" cy="561632"/>
          </a:xfrm>
          <a:prstGeom prst="rect">
            <a:avLst/>
          </a:prstGeom>
          <a:solidFill>
            <a:srgbClr val="CF84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pt-PT" dirty="0">
                <a:solidFill>
                  <a:schemeClr val="bg1"/>
                </a:solidFill>
                <a:latin typeface="Trebuchet MS" panose="020B0603020202020204" pitchFamily="34" charset="0"/>
              </a:rPr>
              <a:t> Ovários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5136CE3-3ED9-4492-9335-E3D68C031A6E}"/>
              </a:ext>
            </a:extLst>
          </p:cNvPr>
          <p:cNvSpPr/>
          <p:nvPr/>
        </p:nvSpPr>
        <p:spPr>
          <a:xfrm>
            <a:off x="1538374" y="5334000"/>
            <a:ext cx="1204825" cy="561632"/>
          </a:xfrm>
          <a:prstGeom prst="rect">
            <a:avLst/>
          </a:prstGeom>
          <a:solidFill>
            <a:srgbClr val="CF84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pt-PT" dirty="0">
                <a:solidFill>
                  <a:schemeClr val="bg1"/>
                </a:solidFill>
                <a:latin typeface="Trebuchet MS" panose="020B0603020202020204" pitchFamily="34" charset="0"/>
              </a:rPr>
              <a:t>Útero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2CF9BDF-B21D-41F5-9776-8AB4CC15A9FE}"/>
              </a:ext>
            </a:extLst>
          </p:cNvPr>
          <p:cNvSpPr/>
          <p:nvPr/>
        </p:nvSpPr>
        <p:spPr>
          <a:xfrm>
            <a:off x="7350031" y="5027784"/>
            <a:ext cx="1204825" cy="561632"/>
          </a:xfrm>
          <a:prstGeom prst="rect">
            <a:avLst/>
          </a:prstGeom>
          <a:solidFill>
            <a:srgbClr val="CF84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pt-PT">
                <a:solidFill>
                  <a:schemeClr val="bg1"/>
                </a:solidFill>
                <a:latin typeface="Trebuchet MS" panose="020B0603020202020204" pitchFamily="34" charset="0"/>
              </a:rPr>
              <a:t>Vagina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30222D3-1F1C-4B85-9BC8-1AE3D55EEA20}"/>
              </a:ext>
            </a:extLst>
          </p:cNvPr>
          <p:cNvSpPr/>
          <p:nvPr/>
        </p:nvSpPr>
        <p:spPr>
          <a:xfrm>
            <a:off x="7350031" y="3414088"/>
            <a:ext cx="1204825" cy="561632"/>
          </a:xfrm>
          <a:prstGeom prst="rect">
            <a:avLst/>
          </a:prstGeom>
          <a:solidFill>
            <a:srgbClr val="CF84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pt-PT">
                <a:solidFill>
                  <a:schemeClr val="bg1"/>
                </a:solidFill>
                <a:latin typeface="Trebuchet MS" panose="020B0603020202020204" pitchFamily="34" charset="0"/>
              </a:rPr>
              <a:t>Colo do útero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A57C27-6287-4588-94E8-7B96D5DE1113}"/>
              </a:ext>
            </a:extLst>
          </p:cNvPr>
          <p:cNvSpPr/>
          <p:nvPr/>
        </p:nvSpPr>
        <p:spPr>
          <a:xfrm>
            <a:off x="1549136" y="5930710"/>
            <a:ext cx="3267961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pt-PT" sz="1200" dirty="0">
                <a:latin typeface="Trebuchet MS" panose="020B0603020202020204" pitchFamily="34" charset="0"/>
              </a:rPr>
              <a:t>Órgão muscular localizado entre a vagina e as trompas de Falópio, recebe o óvulo fertilizado, iniciando-se o processo de gestação.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4FDB72-EB6C-4A51-AB16-CB091FE50D50}"/>
              </a:ext>
            </a:extLst>
          </p:cNvPr>
          <p:cNvSpPr/>
          <p:nvPr/>
        </p:nvSpPr>
        <p:spPr>
          <a:xfrm>
            <a:off x="7343417" y="4029108"/>
            <a:ext cx="3159483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pt-PT" sz="1200" dirty="0">
                <a:latin typeface="Trebuchet MS" panose="020B0603020202020204" pitchFamily="34" charset="0"/>
              </a:rPr>
              <a:t>É a parte fibromuscular inferior do útero que liga o útero à vagina. Pode dilatar até 10 cm durante o trabalho de parto, para permitir a saída do feto. 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5E3E36D-F67E-4AC7-AFF6-4C57FB88AACB}"/>
              </a:ext>
            </a:extLst>
          </p:cNvPr>
          <p:cNvSpPr/>
          <p:nvPr/>
        </p:nvSpPr>
        <p:spPr>
          <a:xfrm rot="8153311">
            <a:off x="8472522" y="1249090"/>
            <a:ext cx="802501" cy="361177"/>
          </a:xfrm>
          <a:custGeom>
            <a:avLst/>
            <a:gdLst>
              <a:gd name="connsiteX0" fmla="*/ 2171700 w 2171700"/>
              <a:gd name="connsiteY0" fmla="*/ 0 h 965200"/>
              <a:gd name="connsiteX1" fmla="*/ 1206500 w 2171700"/>
              <a:gd name="connsiteY1" fmla="*/ 965200 h 965200"/>
              <a:gd name="connsiteX2" fmla="*/ 0 w 2171700"/>
              <a:gd name="connsiteY2" fmla="*/ 96520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71700" h="965200">
                <a:moveTo>
                  <a:pt x="2171700" y="0"/>
                </a:moveTo>
                <a:lnTo>
                  <a:pt x="1206500" y="965200"/>
                </a:lnTo>
                <a:lnTo>
                  <a:pt x="0" y="96520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C9AA3FC-17C2-4CCA-8F32-601B849C3692}"/>
              </a:ext>
            </a:extLst>
          </p:cNvPr>
          <p:cNvSpPr/>
          <p:nvPr/>
        </p:nvSpPr>
        <p:spPr>
          <a:xfrm>
            <a:off x="8861197" y="777306"/>
            <a:ext cx="1334534" cy="561632"/>
          </a:xfrm>
          <a:prstGeom prst="rect">
            <a:avLst/>
          </a:prstGeom>
          <a:solidFill>
            <a:srgbClr val="CF84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pt-PT" dirty="0">
                <a:solidFill>
                  <a:schemeClr val="bg1"/>
                </a:solidFill>
                <a:latin typeface="Trebuchet MS" panose="020B0603020202020204" pitchFamily="34" charset="0"/>
              </a:rPr>
              <a:t> Trompas de Falópio 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21">
            <a:extLst>
              <a:ext uri="{FF2B5EF4-FFF2-40B4-BE49-F238E27FC236}">
                <a16:creationId xmlns:a16="http://schemas.microsoft.com/office/drawing/2014/main" id="{A2F65322-8D00-4B36-B6D3-749AC23A2CD3}"/>
              </a:ext>
            </a:extLst>
          </p:cNvPr>
          <p:cNvSpPr txBox="1"/>
          <p:nvPr/>
        </p:nvSpPr>
        <p:spPr>
          <a:xfrm>
            <a:off x="1145214" y="305145"/>
            <a:ext cx="80082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4800" b="1" cap="all" dirty="0">
                <a:solidFill>
                  <a:srgbClr val="C10076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Perfil de paciente</a:t>
            </a:r>
          </a:p>
        </p:txBody>
      </p:sp>
      <p:grpSp>
        <p:nvGrpSpPr>
          <p:cNvPr id="154" name="Agrupar 153">
            <a:extLst>
              <a:ext uri="{FF2B5EF4-FFF2-40B4-BE49-F238E27FC236}">
                <a16:creationId xmlns:a16="http://schemas.microsoft.com/office/drawing/2014/main" id="{111C2864-7C55-4791-A4CC-4E25ADF0998A}"/>
              </a:ext>
            </a:extLst>
          </p:cNvPr>
          <p:cNvGrpSpPr/>
          <p:nvPr/>
        </p:nvGrpSpPr>
        <p:grpSpPr>
          <a:xfrm>
            <a:off x="600435" y="702798"/>
            <a:ext cx="6709109" cy="640148"/>
            <a:chOff x="2834588" y="957321"/>
            <a:chExt cx="9181200" cy="640148"/>
          </a:xfrm>
        </p:grpSpPr>
        <p:sp>
          <p:nvSpPr>
            <p:cNvPr id="64" name="Double Bracket 14">
              <a:extLst>
                <a:ext uri="{FF2B5EF4-FFF2-40B4-BE49-F238E27FC236}">
                  <a16:creationId xmlns:a16="http://schemas.microsoft.com/office/drawing/2014/main" id="{F3A9B49C-19BB-49E1-B678-B789429A0019}"/>
                </a:ext>
              </a:extLst>
            </p:cNvPr>
            <p:cNvSpPr/>
            <p:nvPr/>
          </p:nvSpPr>
          <p:spPr>
            <a:xfrm rot="16200000">
              <a:off x="4954845" y="-1162936"/>
              <a:ext cx="640148" cy="4880662"/>
            </a:xfrm>
            <a:custGeom>
              <a:avLst/>
              <a:gdLst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1878004 w 2381250"/>
                <a:gd name="connsiteY2" fmla="*/ 0 h 1762126"/>
                <a:gd name="connsiteX3" fmla="*/ 2381250 w 2381250"/>
                <a:gd name="connsiteY3" fmla="*/ 503246 h 1762126"/>
                <a:gd name="connsiteX4" fmla="*/ 2381250 w 2381250"/>
                <a:gd name="connsiteY4" fmla="*/ 1258880 h 1762126"/>
                <a:gd name="connsiteX5" fmla="*/ 1878004 w 2381250"/>
                <a:gd name="connsiteY5" fmla="*/ 1762126 h 1762126"/>
                <a:gd name="connsiteX6" fmla="*/ 503246 w 2381250"/>
                <a:gd name="connsiteY6" fmla="*/ 1762126 h 1762126"/>
                <a:gd name="connsiteX7" fmla="*/ 0 w 2381250"/>
                <a:gd name="connsiteY7" fmla="*/ 1258880 h 1762126"/>
                <a:gd name="connsiteX8" fmla="*/ 0 w 2381250"/>
                <a:gd name="connsiteY8" fmla="*/ 503246 h 1762126"/>
                <a:gd name="connsiteX0" fmla="*/ 503246 w 2381250"/>
                <a:gd name="connsiteY0" fmla="*/ 1762126 h 1762126"/>
                <a:gd name="connsiteX1" fmla="*/ 0 w 2381250"/>
                <a:gd name="connsiteY1" fmla="*/ 1258880 h 1762126"/>
                <a:gd name="connsiteX2" fmla="*/ 0 w 2381250"/>
                <a:gd name="connsiteY2" fmla="*/ 503246 h 1762126"/>
                <a:gd name="connsiteX3" fmla="*/ 503246 w 2381250"/>
                <a:gd name="connsiteY3" fmla="*/ 0 h 1762126"/>
                <a:gd name="connsiteX4" fmla="*/ 1878004 w 2381250"/>
                <a:gd name="connsiteY4" fmla="*/ 0 h 1762126"/>
                <a:gd name="connsiteX5" fmla="*/ 2381250 w 2381250"/>
                <a:gd name="connsiteY5" fmla="*/ 503246 h 1762126"/>
                <a:gd name="connsiteX6" fmla="*/ 2381250 w 2381250"/>
                <a:gd name="connsiteY6" fmla="*/ 1258880 h 1762126"/>
                <a:gd name="connsiteX7" fmla="*/ 1878004 w 2381250"/>
                <a:gd name="connsiteY7" fmla="*/ 1762126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1878004 w 2381250"/>
                <a:gd name="connsiteY2" fmla="*/ 0 h 1762126"/>
                <a:gd name="connsiteX3" fmla="*/ 2381250 w 2381250"/>
                <a:gd name="connsiteY3" fmla="*/ 503246 h 1762126"/>
                <a:gd name="connsiteX4" fmla="*/ 2381250 w 2381250"/>
                <a:gd name="connsiteY4" fmla="*/ 1258880 h 1762126"/>
                <a:gd name="connsiteX5" fmla="*/ 1878004 w 2381250"/>
                <a:gd name="connsiteY5" fmla="*/ 1762126 h 1762126"/>
                <a:gd name="connsiteX6" fmla="*/ 503246 w 2381250"/>
                <a:gd name="connsiteY6" fmla="*/ 1762126 h 1762126"/>
                <a:gd name="connsiteX7" fmla="*/ 0 w 2381250"/>
                <a:gd name="connsiteY7" fmla="*/ 1258880 h 1762126"/>
                <a:gd name="connsiteX8" fmla="*/ 0 w 2381250"/>
                <a:gd name="connsiteY8" fmla="*/ 503246 h 1762126"/>
                <a:gd name="connsiteX0" fmla="*/ 503246 w 2381250"/>
                <a:gd name="connsiteY0" fmla="*/ 1762126 h 1762126"/>
                <a:gd name="connsiteX1" fmla="*/ 0 w 2381250"/>
                <a:gd name="connsiteY1" fmla="*/ 503246 h 1762126"/>
                <a:gd name="connsiteX2" fmla="*/ 503246 w 2381250"/>
                <a:gd name="connsiteY2" fmla="*/ 0 h 1762126"/>
                <a:gd name="connsiteX3" fmla="*/ 1878004 w 2381250"/>
                <a:gd name="connsiteY3" fmla="*/ 0 h 1762126"/>
                <a:gd name="connsiteX4" fmla="*/ 2381250 w 2381250"/>
                <a:gd name="connsiteY4" fmla="*/ 503246 h 1762126"/>
                <a:gd name="connsiteX5" fmla="*/ 2381250 w 2381250"/>
                <a:gd name="connsiteY5" fmla="*/ 1258880 h 1762126"/>
                <a:gd name="connsiteX6" fmla="*/ 1878004 w 2381250"/>
                <a:gd name="connsiteY6" fmla="*/ 1762126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1878004 w 2381250"/>
                <a:gd name="connsiteY2" fmla="*/ 0 h 1762126"/>
                <a:gd name="connsiteX3" fmla="*/ 2381250 w 2381250"/>
                <a:gd name="connsiteY3" fmla="*/ 503246 h 1762126"/>
                <a:gd name="connsiteX4" fmla="*/ 2381250 w 2381250"/>
                <a:gd name="connsiteY4" fmla="*/ 1258880 h 1762126"/>
                <a:gd name="connsiteX5" fmla="*/ 1878004 w 2381250"/>
                <a:gd name="connsiteY5" fmla="*/ 1762126 h 1762126"/>
                <a:gd name="connsiteX6" fmla="*/ 503246 w 2381250"/>
                <a:gd name="connsiteY6" fmla="*/ 1762126 h 1762126"/>
                <a:gd name="connsiteX7" fmla="*/ 0 w 2381250"/>
                <a:gd name="connsiteY7" fmla="*/ 1258880 h 1762126"/>
                <a:gd name="connsiteX8" fmla="*/ 0 w 2381250"/>
                <a:gd name="connsiteY8" fmla="*/ 503246 h 1762126"/>
                <a:gd name="connsiteX0" fmla="*/ 503246 w 2381250"/>
                <a:gd name="connsiteY0" fmla="*/ 1762126 h 1762126"/>
                <a:gd name="connsiteX1" fmla="*/ 0 w 2381250"/>
                <a:gd name="connsiteY1" fmla="*/ 503246 h 1762126"/>
                <a:gd name="connsiteX2" fmla="*/ 503246 w 2381250"/>
                <a:gd name="connsiteY2" fmla="*/ 0 h 1762126"/>
                <a:gd name="connsiteX3" fmla="*/ 1878004 w 2381250"/>
                <a:gd name="connsiteY3" fmla="*/ 0 h 1762126"/>
                <a:gd name="connsiteX4" fmla="*/ 2381250 w 2381250"/>
                <a:gd name="connsiteY4" fmla="*/ 503246 h 1762126"/>
                <a:gd name="connsiteX5" fmla="*/ 2381250 w 2381250"/>
                <a:gd name="connsiteY5" fmla="*/ 1258880 h 1762126"/>
                <a:gd name="connsiteX6" fmla="*/ 1878004 w 2381250"/>
                <a:gd name="connsiteY6" fmla="*/ 1762126 h 1762126"/>
                <a:gd name="connsiteX7" fmla="*/ 503246 w 2381250"/>
                <a:gd name="connsiteY7" fmla="*/ 1762126 h 1762126"/>
                <a:gd name="connsiteX0" fmla="*/ 0 w 2381250"/>
                <a:gd name="connsiteY0" fmla="*/ 503246 h 1853566"/>
                <a:gd name="connsiteX1" fmla="*/ 503246 w 2381250"/>
                <a:gd name="connsiteY1" fmla="*/ 0 h 1853566"/>
                <a:gd name="connsiteX2" fmla="*/ 1878004 w 2381250"/>
                <a:gd name="connsiteY2" fmla="*/ 0 h 1853566"/>
                <a:gd name="connsiteX3" fmla="*/ 2381250 w 2381250"/>
                <a:gd name="connsiteY3" fmla="*/ 503246 h 1853566"/>
                <a:gd name="connsiteX4" fmla="*/ 2381250 w 2381250"/>
                <a:gd name="connsiteY4" fmla="*/ 1258880 h 1853566"/>
                <a:gd name="connsiteX5" fmla="*/ 1878004 w 2381250"/>
                <a:gd name="connsiteY5" fmla="*/ 1762126 h 1853566"/>
                <a:gd name="connsiteX6" fmla="*/ 503246 w 2381250"/>
                <a:gd name="connsiteY6" fmla="*/ 1762126 h 1853566"/>
                <a:gd name="connsiteX7" fmla="*/ 0 w 2381250"/>
                <a:gd name="connsiteY7" fmla="*/ 1258880 h 1853566"/>
                <a:gd name="connsiteX8" fmla="*/ 0 w 2381250"/>
                <a:gd name="connsiteY8" fmla="*/ 503246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0 w 2381250"/>
                <a:gd name="connsiteY0" fmla="*/ 503246 h 1853566"/>
                <a:gd name="connsiteX1" fmla="*/ 503246 w 2381250"/>
                <a:gd name="connsiteY1" fmla="*/ 0 h 1853566"/>
                <a:gd name="connsiteX2" fmla="*/ 1209675 w 2381250"/>
                <a:gd name="connsiteY2" fmla="*/ 1 h 1853566"/>
                <a:gd name="connsiteX3" fmla="*/ 1878004 w 2381250"/>
                <a:gd name="connsiteY3" fmla="*/ 0 h 1853566"/>
                <a:gd name="connsiteX4" fmla="*/ 2381250 w 2381250"/>
                <a:gd name="connsiteY4" fmla="*/ 503246 h 1853566"/>
                <a:gd name="connsiteX5" fmla="*/ 2381250 w 2381250"/>
                <a:gd name="connsiteY5" fmla="*/ 1258880 h 1853566"/>
                <a:gd name="connsiteX6" fmla="*/ 1878004 w 2381250"/>
                <a:gd name="connsiteY6" fmla="*/ 1762126 h 1853566"/>
                <a:gd name="connsiteX7" fmla="*/ 503246 w 2381250"/>
                <a:gd name="connsiteY7" fmla="*/ 1762126 h 1853566"/>
                <a:gd name="connsiteX8" fmla="*/ 0 w 2381250"/>
                <a:gd name="connsiteY8" fmla="*/ 1258880 h 1853566"/>
                <a:gd name="connsiteX9" fmla="*/ 0 w 2381250"/>
                <a:gd name="connsiteY9" fmla="*/ 503246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1209675 w 2381250"/>
                <a:gd name="connsiteY0" fmla="*/ 1 h 1853566"/>
                <a:gd name="connsiteX1" fmla="*/ 1878004 w 2381250"/>
                <a:gd name="connsiteY1" fmla="*/ 0 h 1853566"/>
                <a:gd name="connsiteX2" fmla="*/ 2381250 w 2381250"/>
                <a:gd name="connsiteY2" fmla="*/ 503246 h 1853566"/>
                <a:gd name="connsiteX3" fmla="*/ 2381250 w 2381250"/>
                <a:gd name="connsiteY3" fmla="*/ 1258880 h 1853566"/>
                <a:gd name="connsiteX4" fmla="*/ 1878004 w 2381250"/>
                <a:gd name="connsiteY4" fmla="*/ 1762126 h 1853566"/>
                <a:gd name="connsiteX5" fmla="*/ 503246 w 2381250"/>
                <a:gd name="connsiteY5" fmla="*/ 1762126 h 1853566"/>
                <a:gd name="connsiteX6" fmla="*/ 0 w 2381250"/>
                <a:gd name="connsiteY6" fmla="*/ 1258880 h 1853566"/>
                <a:gd name="connsiteX7" fmla="*/ 0 w 2381250"/>
                <a:gd name="connsiteY7" fmla="*/ 503246 h 1853566"/>
                <a:gd name="connsiteX8" fmla="*/ 503246 w 2381250"/>
                <a:gd name="connsiteY8" fmla="*/ 0 h 1853566"/>
                <a:gd name="connsiteX9" fmla="*/ 1301115 w 2381250"/>
                <a:gd name="connsiteY9" fmla="*/ 91441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1209675 w 2381250"/>
                <a:gd name="connsiteY0" fmla="*/ 1 h 1853566"/>
                <a:gd name="connsiteX1" fmla="*/ 1878004 w 2381250"/>
                <a:gd name="connsiteY1" fmla="*/ 0 h 1853566"/>
                <a:gd name="connsiteX2" fmla="*/ 2381250 w 2381250"/>
                <a:gd name="connsiteY2" fmla="*/ 503246 h 1853566"/>
                <a:gd name="connsiteX3" fmla="*/ 2381250 w 2381250"/>
                <a:gd name="connsiteY3" fmla="*/ 1258880 h 1853566"/>
                <a:gd name="connsiteX4" fmla="*/ 1878004 w 2381250"/>
                <a:gd name="connsiteY4" fmla="*/ 1762126 h 1853566"/>
                <a:gd name="connsiteX5" fmla="*/ 503246 w 2381250"/>
                <a:gd name="connsiteY5" fmla="*/ 1762126 h 1853566"/>
                <a:gd name="connsiteX6" fmla="*/ 0 w 2381250"/>
                <a:gd name="connsiteY6" fmla="*/ 1258880 h 1853566"/>
                <a:gd name="connsiteX7" fmla="*/ 0 w 2381250"/>
                <a:gd name="connsiteY7" fmla="*/ 503246 h 1853566"/>
                <a:gd name="connsiteX8" fmla="*/ 503246 w 2381250"/>
                <a:gd name="connsiteY8" fmla="*/ 0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1878004 w 2381250"/>
                <a:gd name="connsiteY0" fmla="*/ 0 h 1853566"/>
                <a:gd name="connsiteX1" fmla="*/ 2381250 w 2381250"/>
                <a:gd name="connsiteY1" fmla="*/ 503246 h 1853566"/>
                <a:gd name="connsiteX2" fmla="*/ 2381250 w 2381250"/>
                <a:gd name="connsiteY2" fmla="*/ 1258880 h 1853566"/>
                <a:gd name="connsiteX3" fmla="*/ 1878004 w 2381250"/>
                <a:gd name="connsiteY3" fmla="*/ 1762126 h 1853566"/>
                <a:gd name="connsiteX4" fmla="*/ 503246 w 2381250"/>
                <a:gd name="connsiteY4" fmla="*/ 1762126 h 1853566"/>
                <a:gd name="connsiteX5" fmla="*/ 0 w 2381250"/>
                <a:gd name="connsiteY5" fmla="*/ 1258880 h 1853566"/>
                <a:gd name="connsiteX6" fmla="*/ 0 w 2381250"/>
                <a:gd name="connsiteY6" fmla="*/ 503246 h 1853566"/>
                <a:gd name="connsiteX7" fmla="*/ 503246 w 2381250"/>
                <a:gd name="connsiteY7" fmla="*/ 0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1878004 w 2381250"/>
                <a:gd name="connsiteY0" fmla="*/ 0 h 1853566"/>
                <a:gd name="connsiteX1" fmla="*/ 2381250 w 2381250"/>
                <a:gd name="connsiteY1" fmla="*/ 503246 h 1853566"/>
                <a:gd name="connsiteX2" fmla="*/ 2381250 w 2381250"/>
                <a:gd name="connsiteY2" fmla="*/ 1258880 h 1853566"/>
                <a:gd name="connsiteX3" fmla="*/ 1878004 w 2381250"/>
                <a:gd name="connsiteY3" fmla="*/ 1762126 h 1853566"/>
                <a:gd name="connsiteX4" fmla="*/ 503246 w 2381250"/>
                <a:gd name="connsiteY4" fmla="*/ 1762126 h 1853566"/>
                <a:gd name="connsiteX5" fmla="*/ 0 w 2381250"/>
                <a:gd name="connsiteY5" fmla="*/ 1258880 h 1853566"/>
                <a:gd name="connsiteX6" fmla="*/ 0 w 2381250"/>
                <a:gd name="connsiteY6" fmla="*/ 503246 h 1853566"/>
                <a:gd name="connsiteX7" fmla="*/ 503246 w 2381250"/>
                <a:gd name="connsiteY7" fmla="*/ 0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2381250 w 2381250"/>
                <a:gd name="connsiteY4" fmla="*/ 503246 h 1853566"/>
                <a:gd name="connsiteX5" fmla="*/ 2381250 w 2381250"/>
                <a:gd name="connsiteY5" fmla="*/ 1258880 h 1853566"/>
                <a:gd name="connsiteX6" fmla="*/ 1878004 w 2381250"/>
                <a:gd name="connsiteY6" fmla="*/ 1762126 h 1853566"/>
                <a:gd name="connsiteX7" fmla="*/ 594686 w 2381250"/>
                <a:gd name="connsiteY7" fmla="*/ 1853566 h 1853566"/>
                <a:gd name="connsiteX0" fmla="*/ 1878004 w 2381250"/>
                <a:gd name="connsiteY0" fmla="*/ 0 h 1853566"/>
                <a:gd name="connsiteX1" fmla="*/ 2381250 w 2381250"/>
                <a:gd name="connsiteY1" fmla="*/ 503246 h 1853566"/>
                <a:gd name="connsiteX2" fmla="*/ 2381250 w 2381250"/>
                <a:gd name="connsiteY2" fmla="*/ 1258880 h 1853566"/>
                <a:gd name="connsiteX3" fmla="*/ 1878004 w 2381250"/>
                <a:gd name="connsiteY3" fmla="*/ 1762126 h 1853566"/>
                <a:gd name="connsiteX4" fmla="*/ 503246 w 2381250"/>
                <a:gd name="connsiteY4" fmla="*/ 1762126 h 1853566"/>
                <a:gd name="connsiteX5" fmla="*/ 0 w 2381250"/>
                <a:gd name="connsiteY5" fmla="*/ 1258880 h 1853566"/>
                <a:gd name="connsiteX6" fmla="*/ 0 w 2381250"/>
                <a:gd name="connsiteY6" fmla="*/ 503246 h 1853566"/>
                <a:gd name="connsiteX7" fmla="*/ 503246 w 2381250"/>
                <a:gd name="connsiteY7" fmla="*/ 0 h 1853566"/>
                <a:gd name="connsiteX0" fmla="*/ 503246 w 2381250"/>
                <a:gd name="connsiteY0" fmla="*/ 1762126 h 1853566"/>
                <a:gd name="connsiteX1" fmla="*/ 0 w 2381250"/>
                <a:gd name="connsiteY1" fmla="*/ 503246 h 1853566"/>
                <a:gd name="connsiteX2" fmla="*/ 503246 w 2381250"/>
                <a:gd name="connsiteY2" fmla="*/ 0 h 1853566"/>
                <a:gd name="connsiteX3" fmla="*/ 2381250 w 2381250"/>
                <a:gd name="connsiteY3" fmla="*/ 503246 h 1853566"/>
                <a:gd name="connsiteX4" fmla="*/ 2381250 w 2381250"/>
                <a:gd name="connsiteY4" fmla="*/ 1258880 h 1853566"/>
                <a:gd name="connsiteX5" fmla="*/ 1878004 w 2381250"/>
                <a:gd name="connsiteY5" fmla="*/ 1762126 h 1853566"/>
                <a:gd name="connsiteX6" fmla="*/ 594686 w 2381250"/>
                <a:gd name="connsiteY6" fmla="*/ 1853566 h 1853566"/>
                <a:gd name="connsiteX0" fmla="*/ 1878004 w 2381250"/>
                <a:gd name="connsiteY0" fmla="*/ 0 h 1853566"/>
                <a:gd name="connsiteX1" fmla="*/ 2381250 w 2381250"/>
                <a:gd name="connsiteY1" fmla="*/ 503246 h 1853566"/>
                <a:gd name="connsiteX2" fmla="*/ 2381250 w 2381250"/>
                <a:gd name="connsiteY2" fmla="*/ 1258880 h 1853566"/>
                <a:gd name="connsiteX3" fmla="*/ 1878004 w 2381250"/>
                <a:gd name="connsiteY3" fmla="*/ 1762126 h 1853566"/>
                <a:gd name="connsiteX4" fmla="*/ 503246 w 2381250"/>
                <a:gd name="connsiteY4" fmla="*/ 1762126 h 1853566"/>
                <a:gd name="connsiteX5" fmla="*/ 0 w 2381250"/>
                <a:gd name="connsiteY5" fmla="*/ 1258880 h 1853566"/>
                <a:gd name="connsiteX6" fmla="*/ 0 w 2381250"/>
                <a:gd name="connsiteY6" fmla="*/ 503246 h 1853566"/>
                <a:gd name="connsiteX7" fmla="*/ 503246 w 2381250"/>
                <a:gd name="connsiteY7" fmla="*/ 0 h 1853566"/>
                <a:gd name="connsiteX0" fmla="*/ 0 w 2381250"/>
                <a:gd name="connsiteY0" fmla="*/ 503246 h 1853566"/>
                <a:gd name="connsiteX1" fmla="*/ 503246 w 2381250"/>
                <a:gd name="connsiteY1" fmla="*/ 0 h 1853566"/>
                <a:gd name="connsiteX2" fmla="*/ 2381250 w 2381250"/>
                <a:gd name="connsiteY2" fmla="*/ 503246 h 1853566"/>
                <a:gd name="connsiteX3" fmla="*/ 2381250 w 2381250"/>
                <a:gd name="connsiteY3" fmla="*/ 1258880 h 1853566"/>
                <a:gd name="connsiteX4" fmla="*/ 1878004 w 2381250"/>
                <a:gd name="connsiteY4" fmla="*/ 1762126 h 1853566"/>
                <a:gd name="connsiteX5" fmla="*/ 594686 w 2381250"/>
                <a:gd name="connsiteY5" fmla="*/ 1853566 h 1853566"/>
                <a:gd name="connsiteX0" fmla="*/ 1878004 w 2381250"/>
                <a:gd name="connsiteY0" fmla="*/ 0 h 1762126"/>
                <a:gd name="connsiteX1" fmla="*/ 2381250 w 2381250"/>
                <a:gd name="connsiteY1" fmla="*/ 503246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4" fmla="*/ 503246 w 2381250"/>
                <a:gd name="connsiteY4" fmla="*/ 1762126 h 1762126"/>
                <a:gd name="connsiteX5" fmla="*/ 0 w 2381250"/>
                <a:gd name="connsiteY5" fmla="*/ 1258880 h 1762126"/>
                <a:gd name="connsiteX6" fmla="*/ 0 w 2381250"/>
                <a:gd name="connsiteY6" fmla="*/ 503246 h 1762126"/>
                <a:gd name="connsiteX7" fmla="*/ 503246 w 2381250"/>
                <a:gd name="connsiteY7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503246 h 1762126"/>
                <a:gd name="connsiteX3" fmla="*/ 2381250 w 2381250"/>
                <a:gd name="connsiteY3" fmla="*/ 1258880 h 1762126"/>
                <a:gd name="connsiteX4" fmla="*/ 1878004 w 2381250"/>
                <a:gd name="connsiteY4" fmla="*/ 1762126 h 1762126"/>
                <a:gd name="connsiteX0" fmla="*/ 1878004 w 2381250"/>
                <a:gd name="connsiteY0" fmla="*/ 0 h 1762126"/>
                <a:gd name="connsiteX1" fmla="*/ 2381250 w 2381250"/>
                <a:gd name="connsiteY1" fmla="*/ 503246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4" fmla="*/ 0 w 2381250"/>
                <a:gd name="connsiteY4" fmla="*/ 1258880 h 1762126"/>
                <a:gd name="connsiteX5" fmla="*/ 0 w 2381250"/>
                <a:gd name="connsiteY5" fmla="*/ 503246 h 1762126"/>
                <a:gd name="connsiteX6" fmla="*/ 503246 w 2381250"/>
                <a:gd name="connsiteY6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503246 h 1762126"/>
                <a:gd name="connsiteX3" fmla="*/ 2381250 w 2381250"/>
                <a:gd name="connsiteY3" fmla="*/ 1258880 h 1762126"/>
                <a:gd name="connsiteX4" fmla="*/ 1878004 w 2381250"/>
                <a:gd name="connsiteY4" fmla="*/ 1762126 h 1762126"/>
                <a:gd name="connsiteX0" fmla="*/ 1878004 w 2381250"/>
                <a:gd name="connsiteY0" fmla="*/ 0 h 1762126"/>
                <a:gd name="connsiteX1" fmla="*/ 2381250 w 2381250"/>
                <a:gd name="connsiteY1" fmla="*/ 503246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4" fmla="*/ 0 w 2381250"/>
                <a:gd name="connsiteY4" fmla="*/ 503246 h 1762126"/>
                <a:gd name="connsiteX5" fmla="*/ 503246 w 2381250"/>
                <a:gd name="connsiteY5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503246 h 1762126"/>
                <a:gd name="connsiteX3" fmla="*/ 2381250 w 2381250"/>
                <a:gd name="connsiteY3" fmla="*/ 1258880 h 1762126"/>
                <a:gd name="connsiteX4" fmla="*/ 1878004 w 2381250"/>
                <a:gd name="connsiteY4" fmla="*/ 1762126 h 1762126"/>
                <a:gd name="connsiteX0" fmla="*/ 2381250 w 2381250"/>
                <a:gd name="connsiteY0" fmla="*/ 503246 h 1762126"/>
                <a:gd name="connsiteX1" fmla="*/ 2381250 w 2381250"/>
                <a:gd name="connsiteY1" fmla="*/ 1258880 h 1762126"/>
                <a:gd name="connsiteX2" fmla="*/ 1878004 w 2381250"/>
                <a:gd name="connsiteY2" fmla="*/ 1762126 h 1762126"/>
                <a:gd name="connsiteX3" fmla="*/ 0 w 2381250"/>
                <a:gd name="connsiteY3" fmla="*/ 503246 h 1762126"/>
                <a:gd name="connsiteX4" fmla="*/ 503246 w 2381250"/>
                <a:gd name="connsiteY4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503246 h 1762126"/>
                <a:gd name="connsiteX3" fmla="*/ 2381250 w 2381250"/>
                <a:gd name="connsiteY3" fmla="*/ 1258880 h 1762126"/>
                <a:gd name="connsiteX4" fmla="*/ 1878004 w 2381250"/>
                <a:gd name="connsiteY4" fmla="*/ 1762126 h 1762126"/>
                <a:gd name="connsiteX0" fmla="*/ 2381250 w 2381250"/>
                <a:gd name="connsiteY0" fmla="*/ 503246 h 1762126"/>
                <a:gd name="connsiteX1" fmla="*/ 2381250 w 2381250"/>
                <a:gd name="connsiteY1" fmla="*/ 1258880 h 1762126"/>
                <a:gd name="connsiteX2" fmla="*/ 1878004 w 2381250"/>
                <a:gd name="connsiteY2" fmla="*/ 1762126 h 1762126"/>
                <a:gd name="connsiteX3" fmla="*/ 0 w 2381250"/>
                <a:gd name="connsiteY3" fmla="*/ 503246 h 1762126"/>
                <a:gd name="connsiteX4" fmla="*/ 503246 w 2381250"/>
                <a:gd name="connsiteY4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0" fmla="*/ 2381250 w 2381250"/>
                <a:gd name="connsiteY0" fmla="*/ 1258880 h 1762126"/>
                <a:gd name="connsiteX1" fmla="*/ 1878004 w 2381250"/>
                <a:gd name="connsiteY1" fmla="*/ 1762126 h 1762126"/>
                <a:gd name="connsiteX2" fmla="*/ 0 w 2381250"/>
                <a:gd name="connsiteY2" fmla="*/ 503246 h 1762126"/>
                <a:gd name="connsiteX3" fmla="*/ 503246 w 2381250"/>
                <a:gd name="connsiteY3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0" fmla="*/ 2381250 w 2381250"/>
                <a:gd name="connsiteY0" fmla="*/ 1258880 h 1762126"/>
                <a:gd name="connsiteX1" fmla="*/ 1878004 w 2381250"/>
                <a:gd name="connsiteY1" fmla="*/ 1762126 h 1762126"/>
                <a:gd name="connsiteX2" fmla="*/ 0 w 2381250"/>
                <a:gd name="connsiteY2" fmla="*/ 503246 h 1762126"/>
                <a:gd name="connsiteX3" fmla="*/ 503246 w 2381250"/>
                <a:gd name="connsiteY3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0" fmla="*/ 1878004 w 1878004"/>
                <a:gd name="connsiteY0" fmla="*/ 1762126 h 1762126"/>
                <a:gd name="connsiteX1" fmla="*/ 0 w 1878004"/>
                <a:gd name="connsiteY1" fmla="*/ 503246 h 1762126"/>
                <a:gd name="connsiteX2" fmla="*/ 503246 w 1878004"/>
                <a:gd name="connsiteY2" fmla="*/ 0 h 1762126"/>
                <a:gd name="connsiteX0" fmla="*/ 0 w 1878004"/>
                <a:gd name="connsiteY0" fmla="*/ 503246 h 1762126"/>
                <a:gd name="connsiteX1" fmla="*/ 503246 w 1878004"/>
                <a:gd name="connsiteY1" fmla="*/ 0 h 1762126"/>
                <a:gd name="connsiteX0" fmla="*/ 0 w 503246"/>
                <a:gd name="connsiteY0" fmla="*/ 503246 h 503246"/>
                <a:gd name="connsiteX1" fmla="*/ 503246 w 503246"/>
                <a:gd name="connsiteY1" fmla="*/ 0 h 503246"/>
                <a:gd name="connsiteX0" fmla="*/ 0 w 503246"/>
                <a:gd name="connsiteY0" fmla="*/ 503246 h 503246"/>
                <a:gd name="connsiteX1" fmla="*/ 503246 w 503246"/>
                <a:gd name="connsiteY1" fmla="*/ 0 h 503246"/>
                <a:gd name="connsiteX0" fmla="*/ 2880 w 506126"/>
                <a:gd name="connsiteY0" fmla="*/ 503246 h 503246"/>
                <a:gd name="connsiteX1" fmla="*/ 506126 w 506126"/>
                <a:gd name="connsiteY1" fmla="*/ 0 h 503246"/>
                <a:gd name="connsiteX0" fmla="*/ 2880 w 506126"/>
                <a:gd name="connsiteY0" fmla="*/ 503246 h 503246"/>
                <a:gd name="connsiteX1" fmla="*/ 0 w 506126"/>
                <a:gd name="connsiteY1" fmla="*/ 498555 h 503246"/>
                <a:gd name="connsiteX2" fmla="*/ 506126 w 506126"/>
                <a:gd name="connsiteY2" fmla="*/ 0 h 503246"/>
                <a:gd name="connsiteX0" fmla="*/ 987 w 504233"/>
                <a:gd name="connsiteY0" fmla="*/ 503246 h 503246"/>
                <a:gd name="connsiteX1" fmla="*/ 504233 w 504233"/>
                <a:gd name="connsiteY1" fmla="*/ 0 h 503246"/>
                <a:gd name="connsiteX0" fmla="*/ 987 w 504233"/>
                <a:gd name="connsiteY0" fmla="*/ 503246 h 503246"/>
                <a:gd name="connsiteX1" fmla="*/ 0 w 504233"/>
                <a:gd name="connsiteY1" fmla="*/ 415260 h 503246"/>
                <a:gd name="connsiteX2" fmla="*/ 504233 w 504233"/>
                <a:gd name="connsiteY2" fmla="*/ 0 h 503246"/>
                <a:gd name="connsiteX0" fmla="*/ 5680 w 508926"/>
                <a:gd name="connsiteY0" fmla="*/ 503246 h 1661839"/>
                <a:gd name="connsiteX1" fmla="*/ 508926 w 508926"/>
                <a:gd name="connsiteY1" fmla="*/ 0 h 1661839"/>
                <a:gd name="connsiteX0" fmla="*/ 0 w 508926"/>
                <a:gd name="connsiteY0" fmla="*/ 1661839 h 1661839"/>
                <a:gd name="connsiteX1" fmla="*/ 4693 w 508926"/>
                <a:gd name="connsiteY1" fmla="*/ 415260 h 1661839"/>
                <a:gd name="connsiteX2" fmla="*/ 508926 w 508926"/>
                <a:gd name="connsiteY2" fmla="*/ 0 h 1661839"/>
                <a:gd name="connsiteX0" fmla="*/ 5680 w 508926"/>
                <a:gd name="connsiteY0" fmla="*/ 503246 h 1661839"/>
                <a:gd name="connsiteX1" fmla="*/ 508926 w 508926"/>
                <a:gd name="connsiteY1" fmla="*/ 0 h 1661839"/>
                <a:gd name="connsiteX0" fmla="*/ 0 w 508926"/>
                <a:gd name="connsiteY0" fmla="*/ 1661839 h 1661839"/>
                <a:gd name="connsiteX1" fmla="*/ 4693 w 508926"/>
                <a:gd name="connsiteY1" fmla="*/ 509916 h 1661839"/>
                <a:gd name="connsiteX2" fmla="*/ 508926 w 508926"/>
                <a:gd name="connsiteY2" fmla="*/ 0 h 1661839"/>
                <a:gd name="connsiteX0" fmla="*/ 5680 w 508926"/>
                <a:gd name="connsiteY0" fmla="*/ 503246 h 3880192"/>
                <a:gd name="connsiteX1" fmla="*/ 508926 w 508926"/>
                <a:gd name="connsiteY1" fmla="*/ 0 h 3880192"/>
                <a:gd name="connsiteX0" fmla="*/ 0 w 508926"/>
                <a:gd name="connsiteY0" fmla="*/ 3880192 h 3880192"/>
                <a:gd name="connsiteX1" fmla="*/ 4693 w 508926"/>
                <a:gd name="connsiteY1" fmla="*/ 509916 h 3880192"/>
                <a:gd name="connsiteX2" fmla="*/ 508926 w 508926"/>
                <a:gd name="connsiteY2" fmla="*/ 0 h 3880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8926" h="3880192" stroke="0" extrusionOk="0">
                  <a:moveTo>
                    <a:pt x="5680" y="503246"/>
                  </a:moveTo>
                  <a:cubicBezTo>
                    <a:pt x="5680" y="225311"/>
                    <a:pt x="230991" y="0"/>
                    <a:pt x="508926" y="0"/>
                  </a:cubicBezTo>
                </a:path>
                <a:path w="508926" h="3880192" fill="none">
                  <a:moveTo>
                    <a:pt x="0" y="3880192"/>
                  </a:moveTo>
                  <a:cubicBezTo>
                    <a:pt x="1564" y="3464666"/>
                    <a:pt x="3129" y="925442"/>
                    <a:pt x="4693" y="509916"/>
                  </a:cubicBezTo>
                  <a:cubicBezTo>
                    <a:pt x="7573" y="236672"/>
                    <a:pt x="230991" y="0"/>
                    <a:pt x="508926" y="0"/>
                  </a:cubicBezTo>
                </a:path>
              </a:pathLst>
            </a:custGeom>
            <a:noFill/>
            <a:ln w="63500" cap="rnd">
              <a:solidFill>
                <a:srgbClr val="C1007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53" name="Conexão reta 152">
              <a:extLst>
                <a:ext uri="{FF2B5EF4-FFF2-40B4-BE49-F238E27FC236}">
                  <a16:creationId xmlns:a16="http://schemas.microsoft.com/office/drawing/2014/main" id="{4341ADA2-07B7-4243-9257-6FF45EB8F83B}"/>
                </a:ext>
              </a:extLst>
            </p:cNvPr>
            <p:cNvCxnSpPr/>
            <p:nvPr/>
          </p:nvCxnSpPr>
          <p:spPr>
            <a:xfrm>
              <a:off x="6377698" y="1597469"/>
              <a:ext cx="5638090" cy="0"/>
            </a:xfrm>
            <a:prstGeom prst="line">
              <a:avLst/>
            </a:prstGeom>
            <a:ln w="63500" cap="rnd">
              <a:solidFill>
                <a:srgbClr val="C1007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 descr="Logo, company name&#10;&#10;Description automatically generated">
            <a:extLst>
              <a:ext uri="{FF2B5EF4-FFF2-40B4-BE49-F238E27FC236}">
                <a16:creationId xmlns:a16="http://schemas.microsoft.com/office/drawing/2014/main" id="{DD1CA4D3-B956-49D1-A6E8-7644A9DA7FC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743" y="1434035"/>
            <a:ext cx="3180802" cy="1650098"/>
          </a:xfrm>
          <a:prstGeom prst="rect">
            <a:avLst/>
          </a:prstGeom>
        </p:spPr>
      </p:pic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534AFEC8-837B-48D1-91EB-0330E6E6EEF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133" y="1545840"/>
            <a:ext cx="2884350" cy="11505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6DCCDFD-FB04-4BF9-AD0D-17D59552DCA7}"/>
              </a:ext>
            </a:extLst>
          </p:cNvPr>
          <p:cNvSpPr txBox="1"/>
          <p:nvPr/>
        </p:nvSpPr>
        <p:spPr>
          <a:xfrm>
            <a:off x="2427133" y="3498171"/>
            <a:ext cx="414074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b="1" dirty="0">
                <a:solidFill>
                  <a:srgbClr val="231F20"/>
                </a:solidFill>
                <a:latin typeface="Trebuchet MS" panose="020B0603020202020204" pitchFamily="34" charset="0"/>
                <a:ea typeface="ＭＳ Ｐゴシック" pitchFamily="34" charset="-128"/>
                <a:cs typeface="Arial" panose="020B0604020202020204" pitchFamily="34" charset="0"/>
              </a:rPr>
              <a:t>Mulher grávida.</a:t>
            </a:r>
          </a:p>
          <a:p>
            <a:endParaRPr lang="pt-PT" sz="1600" b="1" dirty="0">
              <a:solidFill>
                <a:srgbClr val="231F20"/>
              </a:solidFill>
              <a:latin typeface="Trebuchet MS" panose="020B0603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rgbClr val="231F20"/>
                </a:solidFill>
                <a:latin typeface="Trebuchet MS" panose="020B0603020202020204" pitchFamily="34" charset="0"/>
                <a:ea typeface="ＭＳ Ｐゴシック" pitchFamily="34" charset="-128"/>
                <a:cs typeface="Arial" panose="020B0604020202020204" pitchFamily="34" charset="0"/>
              </a:rPr>
              <a:t>Gravidez a termo.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rgbClr val="231F20"/>
                </a:solidFill>
                <a:latin typeface="Trebuchet MS" panose="020B0603020202020204" pitchFamily="34" charset="0"/>
                <a:ea typeface="ＭＳ Ｐゴシック" pitchFamily="34" charset="-128"/>
                <a:cs typeface="Arial" panose="020B0604020202020204" pitchFamily="34" charset="0"/>
              </a:rPr>
              <a:t>Colo do útero imaturo.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rgbClr val="231F20"/>
                </a:solidFill>
                <a:latin typeface="Trebuchet MS" panose="020B0603020202020204" pitchFamily="34" charset="0"/>
                <a:ea typeface="ＭＳ Ｐゴシック" pitchFamily="34" charset="-128"/>
                <a:cs typeface="Arial" panose="020B0604020202020204" pitchFamily="34" charset="0"/>
              </a:rPr>
              <a:t>Membranas intactas.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rgbClr val="231F20"/>
                </a:solidFill>
                <a:latin typeface="Trebuchet MS" panose="020B0603020202020204" pitchFamily="34" charset="0"/>
                <a:ea typeface="ＭＳ Ｐゴシック" pitchFamily="34" charset="-128"/>
                <a:cs typeface="Arial" panose="020B0604020202020204" pitchFamily="34" charset="0"/>
              </a:rPr>
              <a:t>Sem história prévia de cesariana ou cirurgia uterina.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682C9A6-A5EC-4AC8-B7A1-E8EEAF28DC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9955" y="2784616"/>
            <a:ext cx="3025143" cy="3025143"/>
          </a:xfrm>
          <a:prstGeom prst="rect">
            <a:avLst/>
          </a:prstGeom>
        </p:spPr>
      </p:pic>
      <p:pic>
        <p:nvPicPr>
          <p:cNvPr id="15" name="Picture 14" descr="A picture containing shape&#10;&#10;Description automatically generated">
            <a:extLst>
              <a:ext uri="{FF2B5EF4-FFF2-40B4-BE49-F238E27FC236}">
                <a16:creationId xmlns:a16="http://schemas.microsoft.com/office/drawing/2014/main" id="{1E4F94F2-6277-498A-AE83-6FB3CBA334E7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9803" y="2791030"/>
            <a:ext cx="3129372" cy="312937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8EC47EF-8DE8-4AFD-97CB-B2ADA342249B}"/>
              </a:ext>
            </a:extLst>
          </p:cNvPr>
          <p:cNvSpPr txBox="1"/>
          <p:nvPr/>
        </p:nvSpPr>
        <p:spPr>
          <a:xfrm>
            <a:off x="5986480" y="3498172"/>
            <a:ext cx="4140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b="1">
                <a:solidFill>
                  <a:srgbClr val="231F20"/>
                </a:solidFill>
                <a:latin typeface="Trebuchet MS" panose="020B0603020202020204" pitchFamily="34" charset="0"/>
                <a:ea typeface="ＭＳ Ｐゴシック" pitchFamily="34" charset="-128"/>
                <a:cs typeface="Arial" panose="020B0604020202020204" pitchFamily="34" charset="0"/>
              </a:rPr>
              <a:t>Mulher não-grávida.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139632-852A-4667-9A43-0D8BB27C1CE9}"/>
              </a:ext>
            </a:extLst>
          </p:cNvPr>
          <p:cNvSpPr/>
          <p:nvPr/>
        </p:nvSpPr>
        <p:spPr>
          <a:xfrm>
            <a:off x="-12700" y="5312160"/>
            <a:ext cx="12204700" cy="1545840"/>
          </a:xfrm>
          <a:prstGeom prst="rect">
            <a:avLst/>
          </a:prstGeom>
          <a:solidFill>
            <a:srgbClr val="838F95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1683" tIns="65842" rIns="131683" bIns="6584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8301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84B5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45A981E-9698-4A92-BFB1-1DF9318915E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328"/>
          <a:stretch/>
        </p:blipFill>
        <p:spPr>
          <a:xfrm>
            <a:off x="-1" y="282008"/>
            <a:ext cx="4636883" cy="6293984"/>
          </a:xfrm>
          <a:prstGeom prst="rect">
            <a:avLst/>
          </a:prstGeom>
        </p:spPr>
      </p:pic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1012DAEB-C31A-4E75-9E6D-BBE7D5F0FF7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465" y="1263192"/>
            <a:ext cx="8680289" cy="450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335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7">
            <a:extLst>
              <a:ext uri="{FF2B5EF4-FFF2-40B4-BE49-F238E27FC236}">
                <a16:creationId xmlns:a16="http://schemas.microsoft.com/office/drawing/2014/main" id="{E32003AD-851A-453D-B8EC-BE572D6E10D1}"/>
              </a:ext>
            </a:extLst>
          </p:cNvPr>
          <p:cNvSpPr/>
          <p:nvPr/>
        </p:nvSpPr>
        <p:spPr>
          <a:xfrm>
            <a:off x="1" y="5207000"/>
            <a:ext cx="12192000" cy="1651000"/>
          </a:xfrm>
          <a:prstGeom prst="rect">
            <a:avLst/>
          </a:prstGeom>
          <a:solidFill>
            <a:srgbClr val="CED2D5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1683" tIns="65842" rIns="131683" bIns="6584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A7D8904-ED3E-416A-B9CB-20B0D17D177C}"/>
              </a:ext>
            </a:extLst>
          </p:cNvPr>
          <p:cNvSpPr/>
          <p:nvPr/>
        </p:nvSpPr>
        <p:spPr>
          <a:xfrm>
            <a:off x="3450789" y="303441"/>
            <a:ext cx="49960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800" b="0" i="0" u="none" strike="noStrike" cap="none" normalizeH="0" baseline="0" noProof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GESTAÇÃO E 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1419919-4D39-4DB8-9324-C1BC3D652521}"/>
              </a:ext>
            </a:extLst>
          </p:cNvPr>
          <p:cNvSpPr/>
          <p:nvPr/>
        </p:nvSpPr>
        <p:spPr>
          <a:xfrm>
            <a:off x="4697040" y="672446"/>
            <a:ext cx="250357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6600" b="1" i="0" u="none" strike="noStrike" cap="none" normalizeH="0" baseline="0" noProof="0">
                <a:ln>
                  <a:noFill/>
                </a:ln>
                <a:solidFill>
                  <a:srgbClr val="C10076"/>
                </a:solidFill>
                <a:uLnTx/>
                <a:uFillTx/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PARTO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4A98D9D-4861-4FE0-8535-FD87628917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" t="20529" r="36325" b="37621"/>
          <a:stretch/>
        </p:blipFill>
        <p:spPr>
          <a:xfrm>
            <a:off x="392900" y="1914026"/>
            <a:ext cx="4906453" cy="189842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CCCB5C6-5D6B-4652-8F3A-A05584CAB1B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3" t="46483" r="51563" b="12036"/>
          <a:stretch/>
        </p:blipFill>
        <p:spPr>
          <a:xfrm>
            <a:off x="392901" y="3670812"/>
            <a:ext cx="4978400" cy="2844800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7311B404-037A-4C45-95D4-1D114FA9E531}"/>
              </a:ext>
            </a:extLst>
          </p:cNvPr>
          <p:cNvSpPr/>
          <p:nvPr/>
        </p:nvSpPr>
        <p:spPr>
          <a:xfrm>
            <a:off x="5785830" y="5507644"/>
            <a:ext cx="2157952" cy="1007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>
                <a:srgbClr val="77933C"/>
              </a:buClr>
              <a:buSzTx/>
              <a:buFontTx/>
              <a:buNone/>
              <a:tabLst/>
              <a:defRPr/>
            </a:pPr>
            <a:r>
              <a:rPr kumimoji="0" lang="pt-PT" sz="1400" b="1" i="0" u="none" strike="noStrike" cap="none" normalizeH="0" baseline="0" noProof="0" dirty="0">
                <a:ln>
                  <a:noFill/>
                </a:ln>
                <a:solidFill>
                  <a:srgbClr val="C10076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O parto ou nascimento </a:t>
            </a:r>
            <a:r>
              <a:rPr kumimoji="0" lang="pt-PT" sz="14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é o culminar da gravidez humana, quando o feto sai do útero materno. 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29B13F0-981F-48B4-A28A-0D361D21F28F}"/>
              </a:ext>
            </a:extLst>
          </p:cNvPr>
          <p:cNvSpPr/>
          <p:nvPr/>
        </p:nvSpPr>
        <p:spPr>
          <a:xfrm>
            <a:off x="8242127" y="5517804"/>
            <a:ext cx="3838111" cy="119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>
                <a:srgbClr val="77933C"/>
              </a:buClr>
              <a:buSzTx/>
              <a:buFontTx/>
              <a:buNone/>
              <a:tabLst/>
              <a:defRPr/>
            </a:pPr>
            <a:r>
              <a:rPr kumimoji="0" lang="pt-PT" sz="14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Considera-se que as mulheres entram em trabalho de parto com o </a:t>
            </a:r>
            <a:r>
              <a:rPr kumimoji="0" lang="pt-PT" sz="1400" b="1" i="0" u="none" strike="noStrike" cap="none" normalizeH="0" baseline="0" noProof="0" dirty="0">
                <a:ln>
                  <a:noFill/>
                </a:ln>
                <a:solidFill>
                  <a:srgbClr val="C10076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aparecimento de contracções uterinas regulares</a:t>
            </a:r>
            <a:r>
              <a:rPr kumimoji="0" lang="pt-PT" sz="14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, as quais vão aumentando de intensidade e frequência enquanto o colo do útero sofre alterações fisiológicas.</a:t>
            </a:r>
          </a:p>
        </p:txBody>
      </p: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A61A9261-0696-4E5F-8664-FDDB14090420}"/>
              </a:ext>
            </a:extLst>
          </p:cNvPr>
          <p:cNvGrpSpPr/>
          <p:nvPr/>
        </p:nvGrpSpPr>
        <p:grpSpPr>
          <a:xfrm>
            <a:off x="6253317" y="2155340"/>
            <a:ext cx="5409302" cy="2854542"/>
            <a:chOff x="6253317" y="2155340"/>
            <a:chExt cx="5409302" cy="2854542"/>
          </a:xfrm>
        </p:grpSpPr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9C997A86-62AE-438F-97B7-2AA2F82652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730" t="35360" r="3900" b="27778"/>
            <a:stretch/>
          </p:blipFill>
          <p:spPr>
            <a:xfrm>
              <a:off x="6253317" y="2267838"/>
              <a:ext cx="5290424" cy="2419065"/>
            </a:xfrm>
            <a:prstGeom prst="rect">
              <a:avLst/>
            </a:prstGeom>
          </p:spPr>
        </p:pic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D9D314E4-307A-47FD-8890-7FCF0640D62B}"/>
                </a:ext>
              </a:extLst>
            </p:cNvPr>
            <p:cNvSpPr/>
            <p:nvPr/>
          </p:nvSpPr>
          <p:spPr>
            <a:xfrm>
              <a:off x="6657913" y="2155340"/>
              <a:ext cx="880350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cap="none" normalizeH="0" baseline="0" noProof="0" dirty="0">
                  <a:ln>
                    <a:noFill/>
                  </a:ln>
                  <a:solidFill>
                    <a:srgbClr val="CE687F"/>
                  </a:solidFill>
                  <a:uLnTx/>
                  <a:uFillTx/>
                  <a:latin typeface="Trebuchet MS" panose="020B0603020202020204" pitchFamily="34" charset="0"/>
                  <a:ea typeface="+mn-ea"/>
                  <a:cs typeface="+mn-cs"/>
                </a:rPr>
                <a:t>Dilatação         </a:t>
              </a:r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CDB19BB7-A69F-4779-BA37-D9CC8EB5151D}"/>
                </a:ext>
              </a:extLst>
            </p:cNvPr>
            <p:cNvSpPr/>
            <p:nvPr/>
          </p:nvSpPr>
          <p:spPr>
            <a:xfrm>
              <a:off x="6641883" y="4578995"/>
              <a:ext cx="683827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cap="none" normalizeH="0" baseline="0" noProof="0">
                  <a:ln>
                    <a:noFill/>
                  </a:ln>
                  <a:solidFill>
                    <a:srgbClr val="CE687F"/>
                  </a:solidFill>
                  <a:uLnTx/>
                  <a:uFillTx/>
                  <a:latin typeface="Trebuchet MS" panose="020B0603020202020204" pitchFamily="34" charset="0"/>
                  <a:ea typeface="+mn-ea"/>
                  <a:cs typeface="+mn-cs"/>
                </a:rPr>
                <a:t>Parto         </a:t>
              </a: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219E7A00-84F8-4BA8-83EC-9A08A7936D78}"/>
                </a:ext>
              </a:extLst>
            </p:cNvPr>
            <p:cNvSpPr/>
            <p:nvPr/>
          </p:nvSpPr>
          <p:spPr>
            <a:xfrm>
              <a:off x="9944990" y="4578995"/>
              <a:ext cx="1717629" cy="43088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cap="none" normalizeH="0" baseline="0" noProof="0" dirty="0">
                  <a:ln>
                    <a:noFill/>
                  </a:ln>
                  <a:solidFill>
                    <a:srgbClr val="CE687F"/>
                  </a:solidFill>
                  <a:uLnTx/>
                  <a:uFillTx/>
                  <a:latin typeface="Trebuchet MS" panose="020B0603020202020204" pitchFamily="34" charset="0"/>
                  <a:ea typeface="+mn-ea"/>
                  <a:cs typeface="+mn-cs"/>
                </a:rPr>
                <a:t>Dequitadura ou expulsão da placenta         </a:t>
              </a:r>
            </a:p>
          </p:txBody>
        </p:sp>
      </p:grp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BDEA9B46-10EB-4545-ACD5-F79D03503AD2}"/>
              </a:ext>
            </a:extLst>
          </p:cNvPr>
          <p:cNvGrpSpPr/>
          <p:nvPr/>
        </p:nvGrpSpPr>
        <p:grpSpPr>
          <a:xfrm>
            <a:off x="-1" y="1919965"/>
            <a:ext cx="12191999" cy="3308784"/>
            <a:chOff x="-42042" y="1919965"/>
            <a:chExt cx="12449665" cy="3308784"/>
          </a:xfrm>
        </p:grpSpPr>
        <p:sp>
          <p:nvSpPr>
            <p:cNvPr id="23" name="Double Bracket 14">
              <a:extLst>
                <a:ext uri="{FF2B5EF4-FFF2-40B4-BE49-F238E27FC236}">
                  <a16:creationId xmlns:a16="http://schemas.microsoft.com/office/drawing/2014/main" id="{4D6A705E-F7F0-42A6-B427-8D1B9421898B}"/>
                </a:ext>
              </a:extLst>
            </p:cNvPr>
            <p:cNvSpPr/>
            <p:nvPr/>
          </p:nvSpPr>
          <p:spPr>
            <a:xfrm rot="16200000">
              <a:off x="8714462" y="1535588"/>
              <a:ext cx="765760" cy="6620562"/>
            </a:xfrm>
            <a:custGeom>
              <a:avLst/>
              <a:gdLst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1878004 w 2381250"/>
                <a:gd name="connsiteY2" fmla="*/ 0 h 1762126"/>
                <a:gd name="connsiteX3" fmla="*/ 2381250 w 2381250"/>
                <a:gd name="connsiteY3" fmla="*/ 503246 h 1762126"/>
                <a:gd name="connsiteX4" fmla="*/ 2381250 w 2381250"/>
                <a:gd name="connsiteY4" fmla="*/ 1258880 h 1762126"/>
                <a:gd name="connsiteX5" fmla="*/ 1878004 w 2381250"/>
                <a:gd name="connsiteY5" fmla="*/ 1762126 h 1762126"/>
                <a:gd name="connsiteX6" fmla="*/ 503246 w 2381250"/>
                <a:gd name="connsiteY6" fmla="*/ 1762126 h 1762126"/>
                <a:gd name="connsiteX7" fmla="*/ 0 w 2381250"/>
                <a:gd name="connsiteY7" fmla="*/ 1258880 h 1762126"/>
                <a:gd name="connsiteX8" fmla="*/ 0 w 2381250"/>
                <a:gd name="connsiteY8" fmla="*/ 503246 h 1762126"/>
                <a:gd name="connsiteX0" fmla="*/ 503246 w 2381250"/>
                <a:gd name="connsiteY0" fmla="*/ 1762126 h 1762126"/>
                <a:gd name="connsiteX1" fmla="*/ 0 w 2381250"/>
                <a:gd name="connsiteY1" fmla="*/ 1258880 h 1762126"/>
                <a:gd name="connsiteX2" fmla="*/ 0 w 2381250"/>
                <a:gd name="connsiteY2" fmla="*/ 503246 h 1762126"/>
                <a:gd name="connsiteX3" fmla="*/ 503246 w 2381250"/>
                <a:gd name="connsiteY3" fmla="*/ 0 h 1762126"/>
                <a:gd name="connsiteX4" fmla="*/ 1878004 w 2381250"/>
                <a:gd name="connsiteY4" fmla="*/ 0 h 1762126"/>
                <a:gd name="connsiteX5" fmla="*/ 2381250 w 2381250"/>
                <a:gd name="connsiteY5" fmla="*/ 503246 h 1762126"/>
                <a:gd name="connsiteX6" fmla="*/ 2381250 w 2381250"/>
                <a:gd name="connsiteY6" fmla="*/ 1258880 h 1762126"/>
                <a:gd name="connsiteX7" fmla="*/ 1878004 w 2381250"/>
                <a:gd name="connsiteY7" fmla="*/ 1762126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1878004 w 2381250"/>
                <a:gd name="connsiteY2" fmla="*/ 0 h 1762126"/>
                <a:gd name="connsiteX3" fmla="*/ 2381250 w 2381250"/>
                <a:gd name="connsiteY3" fmla="*/ 503246 h 1762126"/>
                <a:gd name="connsiteX4" fmla="*/ 2381250 w 2381250"/>
                <a:gd name="connsiteY4" fmla="*/ 1258880 h 1762126"/>
                <a:gd name="connsiteX5" fmla="*/ 1878004 w 2381250"/>
                <a:gd name="connsiteY5" fmla="*/ 1762126 h 1762126"/>
                <a:gd name="connsiteX6" fmla="*/ 503246 w 2381250"/>
                <a:gd name="connsiteY6" fmla="*/ 1762126 h 1762126"/>
                <a:gd name="connsiteX7" fmla="*/ 0 w 2381250"/>
                <a:gd name="connsiteY7" fmla="*/ 1258880 h 1762126"/>
                <a:gd name="connsiteX8" fmla="*/ 0 w 2381250"/>
                <a:gd name="connsiteY8" fmla="*/ 503246 h 1762126"/>
                <a:gd name="connsiteX0" fmla="*/ 503246 w 2381250"/>
                <a:gd name="connsiteY0" fmla="*/ 1762126 h 1762126"/>
                <a:gd name="connsiteX1" fmla="*/ 0 w 2381250"/>
                <a:gd name="connsiteY1" fmla="*/ 503246 h 1762126"/>
                <a:gd name="connsiteX2" fmla="*/ 503246 w 2381250"/>
                <a:gd name="connsiteY2" fmla="*/ 0 h 1762126"/>
                <a:gd name="connsiteX3" fmla="*/ 1878004 w 2381250"/>
                <a:gd name="connsiteY3" fmla="*/ 0 h 1762126"/>
                <a:gd name="connsiteX4" fmla="*/ 2381250 w 2381250"/>
                <a:gd name="connsiteY4" fmla="*/ 503246 h 1762126"/>
                <a:gd name="connsiteX5" fmla="*/ 2381250 w 2381250"/>
                <a:gd name="connsiteY5" fmla="*/ 1258880 h 1762126"/>
                <a:gd name="connsiteX6" fmla="*/ 1878004 w 2381250"/>
                <a:gd name="connsiteY6" fmla="*/ 1762126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1878004 w 2381250"/>
                <a:gd name="connsiteY2" fmla="*/ 0 h 1762126"/>
                <a:gd name="connsiteX3" fmla="*/ 2381250 w 2381250"/>
                <a:gd name="connsiteY3" fmla="*/ 503246 h 1762126"/>
                <a:gd name="connsiteX4" fmla="*/ 2381250 w 2381250"/>
                <a:gd name="connsiteY4" fmla="*/ 1258880 h 1762126"/>
                <a:gd name="connsiteX5" fmla="*/ 1878004 w 2381250"/>
                <a:gd name="connsiteY5" fmla="*/ 1762126 h 1762126"/>
                <a:gd name="connsiteX6" fmla="*/ 503246 w 2381250"/>
                <a:gd name="connsiteY6" fmla="*/ 1762126 h 1762126"/>
                <a:gd name="connsiteX7" fmla="*/ 0 w 2381250"/>
                <a:gd name="connsiteY7" fmla="*/ 1258880 h 1762126"/>
                <a:gd name="connsiteX8" fmla="*/ 0 w 2381250"/>
                <a:gd name="connsiteY8" fmla="*/ 503246 h 1762126"/>
                <a:gd name="connsiteX0" fmla="*/ 503246 w 2381250"/>
                <a:gd name="connsiteY0" fmla="*/ 1762126 h 1762126"/>
                <a:gd name="connsiteX1" fmla="*/ 0 w 2381250"/>
                <a:gd name="connsiteY1" fmla="*/ 503246 h 1762126"/>
                <a:gd name="connsiteX2" fmla="*/ 503246 w 2381250"/>
                <a:gd name="connsiteY2" fmla="*/ 0 h 1762126"/>
                <a:gd name="connsiteX3" fmla="*/ 1878004 w 2381250"/>
                <a:gd name="connsiteY3" fmla="*/ 0 h 1762126"/>
                <a:gd name="connsiteX4" fmla="*/ 2381250 w 2381250"/>
                <a:gd name="connsiteY4" fmla="*/ 503246 h 1762126"/>
                <a:gd name="connsiteX5" fmla="*/ 2381250 w 2381250"/>
                <a:gd name="connsiteY5" fmla="*/ 1258880 h 1762126"/>
                <a:gd name="connsiteX6" fmla="*/ 1878004 w 2381250"/>
                <a:gd name="connsiteY6" fmla="*/ 1762126 h 1762126"/>
                <a:gd name="connsiteX7" fmla="*/ 503246 w 2381250"/>
                <a:gd name="connsiteY7" fmla="*/ 1762126 h 1762126"/>
                <a:gd name="connsiteX0" fmla="*/ 0 w 2381250"/>
                <a:gd name="connsiteY0" fmla="*/ 503246 h 1853566"/>
                <a:gd name="connsiteX1" fmla="*/ 503246 w 2381250"/>
                <a:gd name="connsiteY1" fmla="*/ 0 h 1853566"/>
                <a:gd name="connsiteX2" fmla="*/ 1878004 w 2381250"/>
                <a:gd name="connsiteY2" fmla="*/ 0 h 1853566"/>
                <a:gd name="connsiteX3" fmla="*/ 2381250 w 2381250"/>
                <a:gd name="connsiteY3" fmla="*/ 503246 h 1853566"/>
                <a:gd name="connsiteX4" fmla="*/ 2381250 w 2381250"/>
                <a:gd name="connsiteY4" fmla="*/ 1258880 h 1853566"/>
                <a:gd name="connsiteX5" fmla="*/ 1878004 w 2381250"/>
                <a:gd name="connsiteY5" fmla="*/ 1762126 h 1853566"/>
                <a:gd name="connsiteX6" fmla="*/ 503246 w 2381250"/>
                <a:gd name="connsiteY6" fmla="*/ 1762126 h 1853566"/>
                <a:gd name="connsiteX7" fmla="*/ 0 w 2381250"/>
                <a:gd name="connsiteY7" fmla="*/ 1258880 h 1853566"/>
                <a:gd name="connsiteX8" fmla="*/ 0 w 2381250"/>
                <a:gd name="connsiteY8" fmla="*/ 503246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0 w 2381250"/>
                <a:gd name="connsiteY0" fmla="*/ 503246 h 1853566"/>
                <a:gd name="connsiteX1" fmla="*/ 503246 w 2381250"/>
                <a:gd name="connsiteY1" fmla="*/ 0 h 1853566"/>
                <a:gd name="connsiteX2" fmla="*/ 1209675 w 2381250"/>
                <a:gd name="connsiteY2" fmla="*/ 1 h 1853566"/>
                <a:gd name="connsiteX3" fmla="*/ 1878004 w 2381250"/>
                <a:gd name="connsiteY3" fmla="*/ 0 h 1853566"/>
                <a:gd name="connsiteX4" fmla="*/ 2381250 w 2381250"/>
                <a:gd name="connsiteY4" fmla="*/ 503246 h 1853566"/>
                <a:gd name="connsiteX5" fmla="*/ 2381250 w 2381250"/>
                <a:gd name="connsiteY5" fmla="*/ 1258880 h 1853566"/>
                <a:gd name="connsiteX6" fmla="*/ 1878004 w 2381250"/>
                <a:gd name="connsiteY6" fmla="*/ 1762126 h 1853566"/>
                <a:gd name="connsiteX7" fmla="*/ 503246 w 2381250"/>
                <a:gd name="connsiteY7" fmla="*/ 1762126 h 1853566"/>
                <a:gd name="connsiteX8" fmla="*/ 0 w 2381250"/>
                <a:gd name="connsiteY8" fmla="*/ 1258880 h 1853566"/>
                <a:gd name="connsiteX9" fmla="*/ 0 w 2381250"/>
                <a:gd name="connsiteY9" fmla="*/ 503246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1209675 w 2381250"/>
                <a:gd name="connsiteY0" fmla="*/ 1 h 1853566"/>
                <a:gd name="connsiteX1" fmla="*/ 1878004 w 2381250"/>
                <a:gd name="connsiteY1" fmla="*/ 0 h 1853566"/>
                <a:gd name="connsiteX2" fmla="*/ 2381250 w 2381250"/>
                <a:gd name="connsiteY2" fmla="*/ 503246 h 1853566"/>
                <a:gd name="connsiteX3" fmla="*/ 2381250 w 2381250"/>
                <a:gd name="connsiteY3" fmla="*/ 1258880 h 1853566"/>
                <a:gd name="connsiteX4" fmla="*/ 1878004 w 2381250"/>
                <a:gd name="connsiteY4" fmla="*/ 1762126 h 1853566"/>
                <a:gd name="connsiteX5" fmla="*/ 503246 w 2381250"/>
                <a:gd name="connsiteY5" fmla="*/ 1762126 h 1853566"/>
                <a:gd name="connsiteX6" fmla="*/ 0 w 2381250"/>
                <a:gd name="connsiteY6" fmla="*/ 1258880 h 1853566"/>
                <a:gd name="connsiteX7" fmla="*/ 0 w 2381250"/>
                <a:gd name="connsiteY7" fmla="*/ 503246 h 1853566"/>
                <a:gd name="connsiteX8" fmla="*/ 503246 w 2381250"/>
                <a:gd name="connsiteY8" fmla="*/ 0 h 1853566"/>
                <a:gd name="connsiteX9" fmla="*/ 1301115 w 2381250"/>
                <a:gd name="connsiteY9" fmla="*/ 91441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1209675 w 2381250"/>
                <a:gd name="connsiteY0" fmla="*/ 1 h 1853566"/>
                <a:gd name="connsiteX1" fmla="*/ 1878004 w 2381250"/>
                <a:gd name="connsiteY1" fmla="*/ 0 h 1853566"/>
                <a:gd name="connsiteX2" fmla="*/ 2381250 w 2381250"/>
                <a:gd name="connsiteY2" fmla="*/ 503246 h 1853566"/>
                <a:gd name="connsiteX3" fmla="*/ 2381250 w 2381250"/>
                <a:gd name="connsiteY3" fmla="*/ 1258880 h 1853566"/>
                <a:gd name="connsiteX4" fmla="*/ 1878004 w 2381250"/>
                <a:gd name="connsiteY4" fmla="*/ 1762126 h 1853566"/>
                <a:gd name="connsiteX5" fmla="*/ 503246 w 2381250"/>
                <a:gd name="connsiteY5" fmla="*/ 1762126 h 1853566"/>
                <a:gd name="connsiteX6" fmla="*/ 0 w 2381250"/>
                <a:gd name="connsiteY6" fmla="*/ 1258880 h 1853566"/>
                <a:gd name="connsiteX7" fmla="*/ 0 w 2381250"/>
                <a:gd name="connsiteY7" fmla="*/ 503246 h 1853566"/>
                <a:gd name="connsiteX8" fmla="*/ 503246 w 2381250"/>
                <a:gd name="connsiteY8" fmla="*/ 0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1878004 w 2381250"/>
                <a:gd name="connsiteY0" fmla="*/ 0 h 1853566"/>
                <a:gd name="connsiteX1" fmla="*/ 2381250 w 2381250"/>
                <a:gd name="connsiteY1" fmla="*/ 503246 h 1853566"/>
                <a:gd name="connsiteX2" fmla="*/ 2381250 w 2381250"/>
                <a:gd name="connsiteY2" fmla="*/ 1258880 h 1853566"/>
                <a:gd name="connsiteX3" fmla="*/ 1878004 w 2381250"/>
                <a:gd name="connsiteY3" fmla="*/ 1762126 h 1853566"/>
                <a:gd name="connsiteX4" fmla="*/ 503246 w 2381250"/>
                <a:gd name="connsiteY4" fmla="*/ 1762126 h 1853566"/>
                <a:gd name="connsiteX5" fmla="*/ 0 w 2381250"/>
                <a:gd name="connsiteY5" fmla="*/ 1258880 h 1853566"/>
                <a:gd name="connsiteX6" fmla="*/ 0 w 2381250"/>
                <a:gd name="connsiteY6" fmla="*/ 503246 h 1853566"/>
                <a:gd name="connsiteX7" fmla="*/ 503246 w 2381250"/>
                <a:gd name="connsiteY7" fmla="*/ 0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1878004 w 2381250"/>
                <a:gd name="connsiteY0" fmla="*/ 0 h 1853566"/>
                <a:gd name="connsiteX1" fmla="*/ 2381250 w 2381250"/>
                <a:gd name="connsiteY1" fmla="*/ 503246 h 1853566"/>
                <a:gd name="connsiteX2" fmla="*/ 2381250 w 2381250"/>
                <a:gd name="connsiteY2" fmla="*/ 1258880 h 1853566"/>
                <a:gd name="connsiteX3" fmla="*/ 1878004 w 2381250"/>
                <a:gd name="connsiteY3" fmla="*/ 1762126 h 1853566"/>
                <a:gd name="connsiteX4" fmla="*/ 503246 w 2381250"/>
                <a:gd name="connsiteY4" fmla="*/ 1762126 h 1853566"/>
                <a:gd name="connsiteX5" fmla="*/ 0 w 2381250"/>
                <a:gd name="connsiteY5" fmla="*/ 1258880 h 1853566"/>
                <a:gd name="connsiteX6" fmla="*/ 0 w 2381250"/>
                <a:gd name="connsiteY6" fmla="*/ 503246 h 1853566"/>
                <a:gd name="connsiteX7" fmla="*/ 503246 w 2381250"/>
                <a:gd name="connsiteY7" fmla="*/ 0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2381250 w 2381250"/>
                <a:gd name="connsiteY4" fmla="*/ 503246 h 1853566"/>
                <a:gd name="connsiteX5" fmla="*/ 2381250 w 2381250"/>
                <a:gd name="connsiteY5" fmla="*/ 1258880 h 1853566"/>
                <a:gd name="connsiteX6" fmla="*/ 1878004 w 2381250"/>
                <a:gd name="connsiteY6" fmla="*/ 1762126 h 1853566"/>
                <a:gd name="connsiteX7" fmla="*/ 594686 w 2381250"/>
                <a:gd name="connsiteY7" fmla="*/ 1853566 h 1853566"/>
                <a:gd name="connsiteX0" fmla="*/ 1878004 w 2381250"/>
                <a:gd name="connsiteY0" fmla="*/ 0 h 1853566"/>
                <a:gd name="connsiteX1" fmla="*/ 2381250 w 2381250"/>
                <a:gd name="connsiteY1" fmla="*/ 503246 h 1853566"/>
                <a:gd name="connsiteX2" fmla="*/ 2381250 w 2381250"/>
                <a:gd name="connsiteY2" fmla="*/ 1258880 h 1853566"/>
                <a:gd name="connsiteX3" fmla="*/ 1878004 w 2381250"/>
                <a:gd name="connsiteY3" fmla="*/ 1762126 h 1853566"/>
                <a:gd name="connsiteX4" fmla="*/ 503246 w 2381250"/>
                <a:gd name="connsiteY4" fmla="*/ 1762126 h 1853566"/>
                <a:gd name="connsiteX5" fmla="*/ 0 w 2381250"/>
                <a:gd name="connsiteY5" fmla="*/ 1258880 h 1853566"/>
                <a:gd name="connsiteX6" fmla="*/ 0 w 2381250"/>
                <a:gd name="connsiteY6" fmla="*/ 503246 h 1853566"/>
                <a:gd name="connsiteX7" fmla="*/ 503246 w 2381250"/>
                <a:gd name="connsiteY7" fmla="*/ 0 h 1853566"/>
                <a:gd name="connsiteX0" fmla="*/ 503246 w 2381250"/>
                <a:gd name="connsiteY0" fmla="*/ 1762126 h 1853566"/>
                <a:gd name="connsiteX1" fmla="*/ 0 w 2381250"/>
                <a:gd name="connsiteY1" fmla="*/ 503246 h 1853566"/>
                <a:gd name="connsiteX2" fmla="*/ 503246 w 2381250"/>
                <a:gd name="connsiteY2" fmla="*/ 0 h 1853566"/>
                <a:gd name="connsiteX3" fmla="*/ 2381250 w 2381250"/>
                <a:gd name="connsiteY3" fmla="*/ 503246 h 1853566"/>
                <a:gd name="connsiteX4" fmla="*/ 2381250 w 2381250"/>
                <a:gd name="connsiteY4" fmla="*/ 1258880 h 1853566"/>
                <a:gd name="connsiteX5" fmla="*/ 1878004 w 2381250"/>
                <a:gd name="connsiteY5" fmla="*/ 1762126 h 1853566"/>
                <a:gd name="connsiteX6" fmla="*/ 594686 w 2381250"/>
                <a:gd name="connsiteY6" fmla="*/ 1853566 h 1853566"/>
                <a:gd name="connsiteX0" fmla="*/ 1878004 w 2381250"/>
                <a:gd name="connsiteY0" fmla="*/ 0 h 1853566"/>
                <a:gd name="connsiteX1" fmla="*/ 2381250 w 2381250"/>
                <a:gd name="connsiteY1" fmla="*/ 503246 h 1853566"/>
                <a:gd name="connsiteX2" fmla="*/ 2381250 w 2381250"/>
                <a:gd name="connsiteY2" fmla="*/ 1258880 h 1853566"/>
                <a:gd name="connsiteX3" fmla="*/ 1878004 w 2381250"/>
                <a:gd name="connsiteY3" fmla="*/ 1762126 h 1853566"/>
                <a:gd name="connsiteX4" fmla="*/ 503246 w 2381250"/>
                <a:gd name="connsiteY4" fmla="*/ 1762126 h 1853566"/>
                <a:gd name="connsiteX5" fmla="*/ 0 w 2381250"/>
                <a:gd name="connsiteY5" fmla="*/ 1258880 h 1853566"/>
                <a:gd name="connsiteX6" fmla="*/ 0 w 2381250"/>
                <a:gd name="connsiteY6" fmla="*/ 503246 h 1853566"/>
                <a:gd name="connsiteX7" fmla="*/ 503246 w 2381250"/>
                <a:gd name="connsiteY7" fmla="*/ 0 h 1853566"/>
                <a:gd name="connsiteX0" fmla="*/ 0 w 2381250"/>
                <a:gd name="connsiteY0" fmla="*/ 503246 h 1853566"/>
                <a:gd name="connsiteX1" fmla="*/ 503246 w 2381250"/>
                <a:gd name="connsiteY1" fmla="*/ 0 h 1853566"/>
                <a:gd name="connsiteX2" fmla="*/ 2381250 w 2381250"/>
                <a:gd name="connsiteY2" fmla="*/ 503246 h 1853566"/>
                <a:gd name="connsiteX3" fmla="*/ 2381250 w 2381250"/>
                <a:gd name="connsiteY3" fmla="*/ 1258880 h 1853566"/>
                <a:gd name="connsiteX4" fmla="*/ 1878004 w 2381250"/>
                <a:gd name="connsiteY4" fmla="*/ 1762126 h 1853566"/>
                <a:gd name="connsiteX5" fmla="*/ 594686 w 2381250"/>
                <a:gd name="connsiteY5" fmla="*/ 1853566 h 1853566"/>
                <a:gd name="connsiteX0" fmla="*/ 1878004 w 2381250"/>
                <a:gd name="connsiteY0" fmla="*/ 0 h 1762126"/>
                <a:gd name="connsiteX1" fmla="*/ 2381250 w 2381250"/>
                <a:gd name="connsiteY1" fmla="*/ 503246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4" fmla="*/ 503246 w 2381250"/>
                <a:gd name="connsiteY4" fmla="*/ 1762126 h 1762126"/>
                <a:gd name="connsiteX5" fmla="*/ 0 w 2381250"/>
                <a:gd name="connsiteY5" fmla="*/ 1258880 h 1762126"/>
                <a:gd name="connsiteX6" fmla="*/ 0 w 2381250"/>
                <a:gd name="connsiteY6" fmla="*/ 503246 h 1762126"/>
                <a:gd name="connsiteX7" fmla="*/ 503246 w 2381250"/>
                <a:gd name="connsiteY7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503246 h 1762126"/>
                <a:gd name="connsiteX3" fmla="*/ 2381250 w 2381250"/>
                <a:gd name="connsiteY3" fmla="*/ 1258880 h 1762126"/>
                <a:gd name="connsiteX4" fmla="*/ 1878004 w 2381250"/>
                <a:gd name="connsiteY4" fmla="*/ 1762126 h 1762126"/>
                <a:gd name="connsiteX0" fmla="*/ 1878004 w 2381250"/>
                <a:gd name="connsiteY0" fmla="*/ 0 h 1762126"/>
                <a:gd name="connsiteX1" fmla="*/ 2381250 w 2381250"/>
                <a:gd name="connsiteY1" fmla="*/ 503246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4" fmla="*/ 0 w 2381250"/>
                <a:gd name="connsiteY4" fmla="*/ 1258880 h 1762126"/>
                <a:gd name="connsiteX5" fmla="*/ 0 w 2381250"/>
                <a:gd name="connsiteY5" fmla="*/ 503246 h 1762126"/>
                <a:gd name="connsiteX6" fmla="*/ 503246 w 2381250"/>
                <a:gd name="connsiteY6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503246 h 1762126"/>
                <a:gd name="connsiteX3" fmla="*/ 2381250 w 2381250"/>
                <a:gd name="connsiteY3" fmla="*/ 1258880 h 1762126"/>
                <a:gd name="connsiteX4" fmla="*/ 1878004 w 2381250"/>
                <a:gd name="connsiteY4" fmla="*/ 1762126 h 1762126"/>
                <a:gd name="connsiteX0" fmla="*/ 1878004 w 2381250"/>
                <a:gd name="connsiteY0" fmla="*/ 0 h 1762126"/>
                <a:gd name="connsiteX1" fmla="*/ 2381250 w 2381250"/>
                <a:gd name="connsiteY1" fmla="*/ 503246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4" fmla="*/ 0 w 2381250"/>
                <a:gd name="connsiteY4" fmla="*/ 503246 h 1762126"/>
                <a:gd name="connsiteX5" fmla="*/ 503246 w 2381250"/>
                <a:gd name="connsiteY5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503246 h 1762126"/>
                <a:gd name="connsiteX3" fmla="*/ 2381250 w 2381250"/>
                <a:gd name="connsiteY3" fmla="*/ 1258880 h 1762126"/>
                <a:gd name="connsiteX4" fmla="*/ 1878004 w 2381250"/>
                <a:gd name="connsiteY4" fmla="*/ 1762126 h 1762126"/>
                <a:gd name="connsiteX0" fmla="*/ 2381250 w 2381250"/>
                <a:gd name="connsiteY0" fmla="*/ 503246 h 1762126"/>
                <a:gd name="connsiteX1" fmla="*/ 2381250 w 2381250"/>
                <a:gd name="connsiteY1" fmla="*/ 1258880 h 1762126"/>
                <a:gd name="connsiteX2" fmla="*/ 1878004 w 2381250"/>
                <a:gd name="connsiteY2" fmla="*/ 1762126 h 1762126"/>
                <a:gd name="connsiteX3" fmla="*/ 0 w 2381250"/>
                <a:gd name="connsiteY3" fmla="*/ 503246 h 1762126"/>
                <a:gd name="connsiteX4" fmla="*/ 503246 w 2381250"/>
                <a:gd name="connsiteY4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503246 h 1762126"/>
                <a:gd name="connsiteX3" fmla="*/ 2381250 w 2381250"/>
                <a:gd name="connsiteY3" fmla="*/ 1258880 h 1762126"/>
                <a:gd name="connsiteX4" fmla="*/ 1878004 w 2381250"/>
                <a:gd name="connsiteY4" fmla="*/ 1762126 h 1762126"/>
                <a:gd name="connsiteX0" fmla="*/ 2381250 w 2381250"/>
                <a:gd name="connsiteY0" fmla="*/ 503246 h 1762126"/>
                <a:gd name="connsiteX1" fmla="*/ 2381250 w 2381250"/>
                <a:gd name="connsiteY1" fmla="*/ 1258880 h 1762126"/>
                <a:gd name="connsiteX2" fmla="*/ 1878004 w 2381250"/>
                <a:gd name="connsiteY2" fmla="*/ 1762126 h 1762126"/>
                <a:gd name="connsiteX3" fmla="*/ 0 w 2381250"/>
                <a:gd name="connsiteY3" fmla="*/ 503246 h 1762126"/>
                <a:gd name="connsiteX4" fmla="*/ 503246 w 2381250"/>
                <a:gd name="connsiteY4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0" fmla="*/ 2381250 w 2381250"/>
                <a:gd name="connsiteY0" fmla="*/ 1258880 h 1762126"/>
                <a:gd name="connsiteX1" fmla="*/ 1878004 w 2381250"/>
                <a:gd name="connsiteY1" fmla="*/ 1762126 h 1762126"/>
                <a:gd name="connsiteX2" fmla="*/ 0 w 2381250"/>
                <a:gd name="connsiteY2" fmla="*/ 503246 h 1762126"/>
                <a:gd name="connsiteX3" fmla="*/ 503246 w 2381250"/>
                <a:gd name="connsiteY3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0" fmla="*/ 2381250 w 2381250"/>
                <a:gd name="connsiteY0" fmla="*/ 1258880 h 1762126"/>
                <a:gd name="connsiteX1" fmla="*/ 1878004 w 2381250"/>
                <a:gd name="connsiteY1" fmla="*/ 1762126 h 1762126"/>
                <a:gd name="connsiteX2" fmla="*/ 0 w 2381250"/>
                <a:gd name="connsiteY2" fmla="*/ 503246 h 1762126"/>
                <a:gd name="connsiteX3" fmla="*/ 503246 w 2381250"/>
                <a:gd name="connsiteY3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0" fmla="*/ 1878004 w 1878004"/>
                <a:gd name="connsiteY0" fmla="*/ 1762126 h 1762126"/>
                <a:gd name="connsiteX1" fmla="*/ 0 w 1878004"/>
                <a:gd name="connsiteY1" fmla="*/ 503246 h 1762126"/>
                <a:gd name="connsiteX2" fmla="*/ 503246 w 1878004"/>
                <a:gd name="connsiteY2" fmla="*/ 0 h 1762126"/>
                <a:gd name="connsiteX0" fmla="*/ 0 w 1878004"/>
                <a:gd name="connsiteY0" fmla="*/ 503246 h 1762126"/>
                <a:gd name="connsiteX1" fmla="*/ 503246 w 1878004"/>
                <a:gd name="connsiteY1" fmla="*/ 0 h 1762126"/>
                <a:gd name="connsiteX0" fmla="*/ 0 w 503246"/>
                <a:gd name="connsiteY0" fmla="*/ 503246 h 503246"/>
                <a:gd name="connsiteX1" fmla="*/ 503246 w 503246"/>
                <a:gd name="connsiteY1" fmla="*/ 0 h 503246"/>
                <a:gd name="connsiteX0" fmla="*/ 0 w 503246"/>
                <a:gd name="connsiteY0" fmla="*/ 503246 h 503246"/>
                <a:gd name="connsiteX1" fmla="*/ 503246 w 503246"/>
                <a:gd name="connsiteY1" fmla="*/ 0 h 503246"/>
                <a:gd name="connsiteX0" fmla="*/ 2880 w 506126"/>
                <a:gd name="connsiteY0" fmla="*/ 503246 h 503246"/>
                <a:gd name="connsiteX1" fmla="*/ 506126 w 506126"/>
                <a:gd name="connsiteY1" fmla="*/ 0 h 503246"/>
                <a:gd name="connsiteX0" fmla="*/ 2880 w 506126"/>
                <a:gd name="connsiteY0" fmla="*/ 503246 h 503246"/>
                <a:gd name="connsiteX1" fmla="*/ 0 w 506126"/>
                <a:gd name="connsiteY1" fmla="*/ 498555 h 503246"/>
                <a:gd name="connsiteX2" fmla="*/ 506126 w 506126"/>
                <a:gd name="connsiteY2" fmla="*/ 0 h 503246"/>
                <a:gd name="connsiteX0" fmla="*/ 987 w 504233"/>
                <a:gd name="connsiteY0" fmla="*/ 503246 h 503246"/>
                <a:gd name="connsiteX1" fmla="*/ 504233 w 504233"/>
                <a:gd name="connsiteY1" fmla="*/ 0 h 503246"/>
                <a:gd name="connsiteX0" fmla="*/ 987 w 504233"/>
                <a:gd name="connsiteY0" fmla="*/ 503246 h 503246"/>
                <a:gd name="connsiteX1" fmla="*/ 0 w 504233"/>
                <a:gd name="connsiteY1" fmla="*/ 415260 h 503246"/>
                <a:gd name="connsiteX2" fmla="*/ 504233 w 504233"/>
                <a:gd name="connsiteY2" fmla="*/ 0 h 503246"/>
                <a:gd name="connsiteX0" fmla="*/ 5680 w 508926"/>
                <a:gd name="connsiteY0" fmla="*/ 503246 h 1661839"/>
                <a:gd name="connsiteX1" fmla="*/ 508926 w 508926"/>
                <a:gd name="connsiteY1" fmla="*/ 0 h 1661839"/>
                <a:gd name="connsiteX0" fmla="*/ 0 w 508926"/>
                <a:gd name="connsiteY0" fmla="*/ 1661839 h 1661839"/>
                <a:gd name="connsiteX1" fmla="*/ 4693 w 508926"/>
                <a:gd name="connsiteY1" fmla="*/ 415260 h 1661839"/>
                <a:gd name="connsiteX2" fmla="*/ 508926 w 508926"/>
                <a:gd name="connsiteY2" fmla="*/ 0 h 1661839"/>
                <a:gd name="connsiteX0" fmla="*/ 5680 w 508926"/>
                <a:gd name="connsiteY0" fmla="*/ 503246 h 1661839"/>
                <a:gd name="connsiteX1" fmla="*/ 508926 w 508926"/>
                <a:gd name="connsiteY1" fmla="*/ 0 h 1661839"/>
                <a:gd name="connsiteX0" fmla="*/ 0 w 508926"/>
                <a:gd name="connsiteY0" fmla="*/ 1661839 h 1661839"/>
                <a:gd name="connsiteX1" fmla="*/ 4693 w 508926"/>
                <a:gd name="connsiteY1" fmla="*/ 509916 h 1661839"/>
                <a:gd name="connsiteX2" fmla="*/ 508926 w 508926"/>
                <a:gd name="connsiteY2" fmla="*/ 0 h 1661839"/>
                <a:gd name="connsiteX0" fmla="*/ 5680 w 508926"/>
                <a:gd name="connsiteY0" fmla="*/ 503246 h 3880192"/>
                <a:gd name="connsiteX1" fmla="*/ 508926 w 508926"/>
                <a:gd name="connsiteY1" fmla="*/ 0 h 3880192"/>
                <a:gd name="connsiteX0" fmla="*/ 0 w 508926"/>
                <a:gd name="connsiteY0" fmla="*/ 3880192 h 3880192"/>
                <a:gd name="connsiteX1" fmla="*/ 4693 w 508926"/>
                <a:gd name="connsiteY1" fmla="*/ 509916 h 3880192"/>
                <a:gd name="connsiteX2" fmla="*/ 508926 w 508926"/>
                <a:gd name="connsiteY2" fmla="*/ 0 h 3880192"/>
                <a:gd name="connsiteX0" fmla="*/ 14263 w 517509"/>
                <a:gd name="connsiteY0" fmla="*/ 503246 h 5263436"/>
                <a:gd name="connsiteX1" fmla="*/ 517509 w 517509"/>
                <a:gd name="connsiteY1" fmla="*/ 0 h 5263436"/>
                <a:gd name="connsiteX0" fmla="*/ 0 w 517509"/>
                <a:gd name="connsiteY0" fmla="*/ 5263436 h 5263436"/>
                <a:gd name="connsiteX1" fmla="*/ 13276 w 517509"/>
                <a:gd name="connsiteY1" fmla="*/ 509916 h 5263436"/>
                <a:gd name="connsiteX2" fmla="*/ 517509 w 517509"/>
                <a:gd name="connsiteY2" fmla="*/ 0 h 5263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7509" h="5263436" stroke="0" extrusionOk="0">
                  <a:moveTo>
                    <a:pt x="14263" y="503246"/>
                  </a:moveTo>
                  <a:cubicBezTo>
                    <a:pt x="14263" y="225311"/>
                    <a:pt x="239574" y="0"/>
                    <a:pt x="517509" y="0"/>
                  </a:cubicBezTo>
                </a:path>
                <a:path w="517509" h="5263436" fill="none">
                  <a:moveTo>
                    <a:pt x="0" y="5263436"/>
                  </a:moveTo>
                  <a:cubicBezTo>
                    <a:pt x="1564" y="4847910"/>
                    <a:pt x="11712" y="925442"/>
                    <a:pt x="13276" y="509916"/>
                  </a:cubicBezTo>
                  <a:cubicBezTo>
                    <a:pt x="16156" y="236672"/>
                    <a:pt x="239574" y="0"/>
                    <a:pt x="517509" y="0"/>
                  </a:cubicBezTo>
                </a:path>
              </a:pathLst>
            </a:custGeom>
            <a:noFill/>
            <a:ln w="38100" cap="rnd">
              <a:solidFill>
                <a:srgbClr val="E3B0B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Double Bracket 14">
              <a:extLst>
                <a:ext uri="{FF2B5EF4-FFF2-40B4-BE49-F238E27FC236}">
                  <a16:creationId xmlns:a16="http://schemas.microsoft.com/office/drawing/2014/main" id="{98D93A64-8813-424E-91DF-ACC8306FDA29}"/>
                </a:ext>
              </a:extLst>
            </p:cNvPr>
            <p:cNvSpPr/>
            <p:nvPr/>
          </p:nvSpPr>
          <p:spPr>
            <a:xfrm rot="16200000" flipH="1" flipV="1">
              <a:off x="2490792" y="-612869"/>
              <a:ext cx="753060" cy="5818727"/>
            </a:xfrm>
            <a:custGeom>
              <a:avLst/>
              <a:gdLst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1878004 w 2381250"/>
                <a:gd name="connsiteY2" fmla="*/ 0 h 1762126"/>
                <a:gd name="connsiteX3" fmla="*/ 2381250 w 2381250"/>
                <a:gd name="connsiteY3" fmla="*/ 503246 h 1762126"/>
                <a:gd name="connsiteX4" fmla="*/ 2381250 w 2381250"/>
                <a:gd name="connsiteY4" fmla="*/ 1258880 h 1762126"/>
                <a:gd name="connsiteX5" fmla="*/ 1878004 w 2381250"/>
                <a:gd name="connsiteY5" fmla="*/ 1762126 h 1762126"/>
                <a:gd name="connsiteX6" fmla="*/ 503246 w 2381250"/>
                <a:gd name="connsiteY6" fmla="*/ 1762126 h 1762126"/>
                <a:gd name="connsiteX7" fmla="*/ 0 w 2381250"/>
                <a:gd name="connsiteY7" fmla="*/ 1258880 h 1762126"/>
                <a:gd name="connsiteX8" fmla="*/ 0 w 2381250"/>
                <a:gd name="connsiteY8" fmla="*/ 503246 h 1762126"/>
                <a:gd name="connsiteX0" fmla="*/ 503246 w 2381250"/>
                <a:gd name="connsiteY0" fmla="*/ 1762126 h 1762126"/>
                <a:gd name="connsiteX1" fmla="*/ 0 w 2381250"/>
                <a:gd name="connsiteY1" fmla="*/ 1258880 h 1762126"/>
                <a:gd name="connsiteX2" fmla="*/ 0 w 2381250"/>
                <a:gd name="connsiteY2" fmla="*/ 503246 h 1762126"/>
                <a:gd name="connsiteX3" fmla="*/ 503246 w 2381250"/>
                <a:gd name="connsiteY3" fmla="*/ 0 h 1762126"/>
                <a:gd name="connsiteX4" fmla="*/ 1878004 w 2381250"/>
                <a:gd name="connsiteY4" fmla="*/ 0 h 1762126"/>
                <a:gd name="connsiteX5" fmla="*/ 2381250 w 2381250"/>
                <a:gd name="connsiteY5" fmla="*/ 503246 h 1762126"/>
                <a:gd name="connsiteX6" fmla="*/ 2381250 w 2381250"/>
                <a:gd name="connsiteY6" fmla="*/ 1258880 h 1762126"/>
                <a:gd name="connsiteX7" fmla="*/ 1878004 w 2381250"/>
                <a:gd name="connsiteY7" fmla="*/ 1762126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1878004 w 2381250"/>
                <a:gd name="connsiteY2" fmla="*/ 0 h 1762126"/>
                <a:gd name="connsiteX3" fmla="*/ 2381250 w 2381250"/>
                <a:gd name="connsiteY3" fmla="*/ 503246 h 1762126"/>
                <a:gd name="connsiteX4" fmla="*/ 2381250 w 2381250"/>
                <a:gd name="connsiteY4" fmla="*/ 1258880 h 1762126"/>
                <a:gd name="connsiteX5" fmla="*/ 1878004 w 2381250"/>
                <a:gd name="connsiteY5" fmla="*/ 1762126 h 1762126"/>
                <a:gd name="connsiteX6" fmla="*/ 503246 w 2381250"/>
                <a:gd name="connsiteY6" fmla="*/ 1762126 h 1762126"/>
                <a:gd name="connsiteX7" fmla="*/ 0 w 2381250"/>
                <a:gd name="connsiteY7" fmla="*/ 1258880 h 1762126"/>
                <a:gd name="connsiteX8" fmla="*/ 0 w 2381250"/>
                <a:gd name="connsiteY8" fmla="*/ 503246 h 1762126"/>
                <a:gd name="connsiteX0" fmla="*/ 503246 w 2381250"/>
                <a:gd name="connsiteY0" fmla="*/ 1762126 h 1762126"/>
                <a:gd name="connsiteX1" fmla="*/ 0 w 2381250"/>
                <a:gd name="connsiteY1" fmla="*/ 503246 h 1762126"/>
                <a:gd name="connsiteX2" fmla="*/ 503246 w 2381250"/>
                <a:gd name="connsiteY2" fmla="*/ 0 h 1762126"/>
                <a:gd name="connsiteX3" fmla="*/ 1878004 w 2381250"/>
                <a:gd name="connsiteY3" fmla="*/ 0 h 1762126"/>
                <a:gd name="connsiteX4" fmla="*/ 2381250 w 2381250"/>
                <a:gd name="connsiteY4" fmla="*/ 503246 h 1762126"/>
                <a:gd name="connsiteX5" fmla="*/ 2381250 w 2381250"/>
                <a:gd name="connsiteY5" fmla="*/ 1258880 h 1762126"/>
                <a:gd name="connsiteX6" fmla="*/ 1878004 w 2381250"/>
                <a:gd name="connsiteY6" fmla="*/ 1762126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1878004 w 2381250"/>
                <a:gd name="connsiteY2" fmla="*/ 0 h 1762126"/>
                <a:gd name="connsiteX3" fmla="*/ 2381250 w 2381250"/>
                <a:gd name="connsiteY3" fmla="*/ 503246 h 1762126"/>
                <a:gd name="connsiteX4" fmla="*/ 2381250 w 2381250"/>
                <a:gd name="connsiteY4" fmla="*/ 1258880 h 1762126"/>
                <a:gd name="connsiteX5" fmla="*/ 1878004 w 2381250"/>
                <a:gd name="connsiteY5" fmla="*/ 1762126 h 1762126"/>
                <a:gd name="connsiteX6" fmla="*/ 503246 w 2381250"/>
                <a:gd name="connsiteY6" fmla="*/ 1762126 h 1762126"/>
                <a:gd name="connsiteX7" fmla="*/ 0 w 2381250"/>
                <a:gd name="connsiteY7" fmla="*/ 1258880 h 1762126"/>
                <a:gd name="connsiteX8" fmla="*/ 0 w 2381250"/>
                <a:gd name="connsiteY8" fmla="*/ 503246 h 1762126"/>
                <a:gd name="connsiteX0" fmla="*/ 503246 w 2381250"/>
                <a:gd name="connsiteY0" fmla="*/ 1762126 h 1762126"/>
                <a:gd name="connsiteX1" fmla="*/ 0 w 2381250"/>
                <a:gd name="connsiteY1" fmla="*/ 503246 h 1762126"/>
                <a:gd name="connsiteX2" fmla="*/ 503246 w 2381250"/>
                <a:gd name="connsiteY2" fmla="*/ 0 h 1762126"/>
                <a:gd name="connsiteX3" fmla="*/ 1878004 w 2381250"/>
                <a:gd name="connsiteY3" fmla="*/ 0 h 1762126"/>
                <a:gd name="connsiteX4" fmla="*/ 2381250 w 2381250"/>
                <a:gd name="connsiteY4" fmla="*/ 503246 h 1762126"/>
                <a:gd name="connsiteX5" fmla="*/ 2381250 w 2381250"/>
                <a:gd name="connsiteY5" fmla="*/ 1258880 h 1762126"/>
                <a:gd name="connsiteX6" fmla="*/ 1878004 w 2381250"/>
                <a:gd name="connsiteY6" fmla="*/ 1762126 h 1762126"/>
                <a:gd name="connsiteX7" fmla="*/ 503246 w 2381250"/>
                <a:gd name="connsiteY7" fmla="*/ 1762126 h 1762126"/>
                <a:gd name="connsiteX0" fmla="*/ 0 w 2381250"/>
                <a:gd name="connsiteY0" fmla="*/ 503246 h 1853566"/>
                <a:gd name="connsiteX1" fmla="*/ 503246 w 2381250"/>
                <a:gd name="connsiteY1" fmla="*/ 0 h 1853566"/>
                <a:gd name="connsiteX2" fmla="*/ 1878004 w 2381250"/>
                <a:gd name="connsiteY2" fmla="*/ 0 h 1853566"/>
                <a:gd name="connsiteX3" fmla="*/ 2381250 w 2381250"/>
                <a:gd name="connsiteY3" fmla="*/ 503246 h 1853566"/>
                <a:gd name="connsiteX4" fmla="*/ 2381250 w 2381250"/>
                <a:gd name="connsiteY4" fmla="*/ 1258880 h 1853566"/>
                <a:gd name="connsiteX5" fmla="*/ 1878004 w 2381250"/>
                <a:gd name="connsiteY5" fmla="*/ 1762126 h 1853566"/>
                <a:gd name="connsiteX6" fmla="*/ 503246 w 2381250"/>
                <a:gd name="connsiteY6" fmla="*/ 1762126 h 1853566"/>
                <a:gd name="connsiteX7" fmla="*/ 0 w 2381250"/>
                <a:gd name="connsiteY7" fmla="*/ 1258880 h 1853566"/>
                <a:gd name="connsiteX8" fmla="*/ 0 w 2381250"/>
                <a:gd name="connsiteY8" fmla="*/ 503246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0 w 2381250"/>
                <a:gd name="connsiteY0" fmla="*/ 503246 h 1853566"/>
                <a:gd name="connsiteX1" fmla="*/ 503246 w 2381250"/>
                <a:gd name="connsiteY1" fmla="*/ 0 h 1853566"/>
                <a:gd name="connsiteX2" fmla="*/ 1209675 w 2381250"/>
                <a:gd name="connsiteY2" fmla="*/ 1 h 1853566"/>
                <a:gd name="connsiteX3" fmla="*/ 1878004 w 2381250"/>
                <a:gd name="connsiteY3" fmla="*/ 0 h 1853566"/>
                <a:gd name="connsiteX4" fmla="*/ 2381250 w 2381250"/>
                <a:gd name="connsiteY4" fmla="*/ 503246 h 1853566"/>
                <a:gd name="connsiteX5" fmla="*/ 2381250 w 2381250"/>
                <a:gd name="connsiteY5" fmla="*/ 1258880 h 1853566"/>
                <a:gd name="connsiteX6" fmla="*/ 1878004 w 2381250"/>
                <a:gd name="connsiteY6" fmla="*/ 1762126 h 1853566"/>
                <a:gd name="connsiteX7" fmla="*/ 503246 w 2381250"/>
                <a:gd name="connsiteY7" fmla="*/ 1762126 h 1853566"/>
                <a:gd name="connsiteX8" fmla="*/ 0 w 2381250"/>
                <a:gd name="connsiteY8" fmla="*/ 1258880 h 1853566"/>
                <a:gd name="connsiteX9" fmla="*/ 0 w 2381250"/>
                <a:gd name="connsiteY9" fmla="*/ 503246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1209675 w 2381250"/>
                <a:gd name="connsiteY0" fmla="*/ 1 h 1853566"/>
                <a:gd name="connsiteX1" fmla="*/ 1878004 w 2381250"/>
                <a:gd name="connsiteY1" fmla="*/ 0 h 1853566"/>
                <a:gd name="connsiteX2" fmla="*/ 2381250 w 2381250"/>
                <a:gd name="connsiteY2" fmla="*/ 503246 h 1853566"/>
                <a:gd name="connsiteX3" fmla="*/ 2381250 w 2381250"/>
                <a:gd name="connsiteY3" fmla="*/ 1258880 h 1853566"/>
                <a:gd name="connsiteX4" fmla="*/ 1878004 w 2381250"/>
                <a:gd name="connsiteY4" fmla="*/ 1762126 h 1853566"/>
                <a:gd name="connsiteX5" fmla="*/ 503246 w 2381250"/>
                <a:gd name="connsiteY5" fmla="*/ 1762126 h 1853566"/>
                <a:gd name="connsiteX6" fmla="*/ 0 w 2381250"/>
                <a:gd name="connsiteY6" fmla="*/ 1258880 h 1853566"/>
                <a:gd name="connsiteX7" fmla="*/ 0 w 2381250"/>
                <a:gd name="connsiteY7" fmla="*/ 503246 h 1853566"/>
                <a:gd name="connsiteX8" fmla="*/ 503246 w 2381250"/>
                <a:gd name="connsiteY8" fmla="*/ 0 h 1853566"/>
                <a:gd name="connsiteX9" fmla="*/ 1301115 w 2381250"/>
                <a:gd name="connsiteY9" fmla="*/ 91441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1209675 w 2381250"/>
                <a:gd name="connsiteY0" fmla="*/ 1 h 1853566"/>
                <a:gd name="connsiteX1" fmla="*/ 1878004 w 2381250"/>
                <a:gd name="connsiteY1" fmla="*/ 0 h 1853566"/>
                <a:gd name="connsiteX2" fmla="*/ 2381250 w 2381250"/>
                <a:gd name="connsiteY2" fmla="*/ 503246 h 1853566"/>
                <a:gd name="connsiteX3" fmla="*/ 2381250 w 2381250"/>
                <a:gd name="connsiteY3" fmla="*/ 1258880 h 1853566"/>
                <a:gd name="connsiteX4" fmla="*/ 1878004 w 2381250"/>
                <a:gd name="connsiteY4" fmla="*/ 1762126 h 1853566"/>
                <a:gd name="connsiteX5" fmla="*/ 503246 w 2381250"/>
                <a:gd name="connsiteY5" fmla="*/ 1762126 h 1853566"/>
                <a:gd name="connsiteX6" fmla="*/ 0 w 2381250"/>
                <a:gd name="connsiteY6" fmla="*/ 1258880 h 1853566"/>
                <a:gd name="connsiteX7" fmla="*/ 0 w 2381250"/>
                <a:gd name="connsiteY7" fmla="*/ 503246 h 1853566"/>
                <a:gd name="connsiteX8" fmla="*/ 503246 w 2381250"/>
                <a:gd name="connsiteY8" fmla="*/ 0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1878004 w 2381250"/>
                <a:gd name="connsiteY0" fmla="*/ 0 h 1853566"/>
                <a:gd name="connsiteX1" fmla="*/ 2381250 w 2381250"/>
                <a:gd name="connsiteY1" fmla="*/ 503246 h 1853566"/>
                <a:gd name="connsiteX2" fmla="*/ 2381250 w 2381250"/>
                <a:gd name="connsiteY2" fmla="*/ 1258880 h 1853566"/>
                <a:gd name="connsiteX3" fmla="*/ 1878004 w 2381250"/>
                <a:gd name="connsiteY3" fmla="*/ 1762126 h 1853566"/>
                <a:gd name="connsiteX4" fmla="*/ 503246 w 2381250"/>
                <a:gd name="connsiteY4" fmla="*/ 1762126 h 1853566"/>
                <a:gd name="connsiteX5" fmla="*/ 0 w 2381250"/>
                <a:gd name="connsiteY5" fmla="*/ 1258880 h 1853566"/>
                <a:gd name="connsiteX6" fmla="*/ 0 w 2381250"/>
                <a:gd name="connsiteY6" fmla="*/ 503246 h 1853566"/>
                <a:gd name="connsiteX7" fmla="*/ 503246 w 2381250"/>
                <a:gd name="connsiteY7" fmla="*/ 0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1878004 w 2381250"/>
                <a:gd name="connsiteY0" fmla="*/ 0 h 1853566"/>
                <a:gd name="connsiteX1" fmla="*/ 2381250 w 2381250"/>
                <a:gd name="connsiteY1" fmla="*/ 503246 h 1853566"/>
                <a:gd name="connsiteX2" fmla="*/ 2381250 w 2381250"/>
                <a:gd name="connsiteY2" fmla="*/ 1258880 h 1853566"/>
                <a:gd name="connsiteX3" fmla="*/ 1878004 w 2381250"/>
                <a:gd name="connsiteY3" fmla="*/ 1762126 h 1853566"/>
                <a:gd name="connsiteX4" fmla="*/ 503246 w 2381250"/>
                <a:gd name="connsiteY4" fmla="*/ 1762126 h 1853566"/>
                <a:gd name="connsiteX5" fmla="*/ 0 w 2381250"/>
                <a:gd name="connsiteY5" fmla="*/ 1258880 h 1853566"/>
                <a:gd name="connsiteX6" fmla="*/ 0 w 2381250"/>
                <a:gd name="connsiteY6" fmla="*/ 503246 h 1853566"/>
                <a:gd name="connsiteX7" fmla="*/ 503246 w 2381250"/>
                <a:gd name="connsiteY7" fmla="*/ 0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2381250 w 2381250"/>
                <a:gd name="connsiteY4" fmla="*/ 503246 h 1853566"/>
                <a:gd name="connsiteX5" fmla="*/ 2381250 w 2381250"/>
                <a:gd name="connsiteY5" fmla="*/ 1258880 h 1853566"/>
                <a:gd name="connsiteX6" fmla="*/ 1878004 w 2381250"/>
                <a:gd name="connsiteY6" fmla="*/ 1762126 h 1853566"/>
                <a:gd name="connsiteX7" fmla="*/ 594686 w 2381250"/>
                <a:gd name="connsiteY7" fmla="*/ 1853566 h 1853566"/>
                <a:gd name="connsiteX0" fmla="*/ 1878004 w 2381250"/>
                <a:gd name="connsiteY0" fmla="*/ 0 h 1853566"/>
                <a:gd name="connsiteX1" fmla="*/ 2381250 w 2381250"/>
                <a:gd name="connsiteY1" fmla="*/ 503246 h 1853566"/>
                <a:gd name="connsiteX2" fmla="*/ 2381250 w 2381250"/>
                <a:gd name="connsiteY2" fmla="*/ 1258880 h 1853566"/>
                <a:gd name="connsiteX3" fmla="*/ 1878004 w 2381250"/>
                <a:gd name="connsiteY3" fmla="*/ 1762126 h 1853566"/>
                <a:gd name="connsiteX4" fmla="*/ 503246 w 2381250"/>
                <a:gd name="connsiteY4" fmla="*/ 1762126 h 1853566"/>
                <a:gd name="connsiteX5" fmla="*/ 0 w 2381250"/>
                <a:gd name="connsiteY5" fmla="*/ 1258880 h 1853566"/>
                <a:gd name="connsiteX6" fmla="*/ 0 w 2381250"/>
                <a:gd name="connsiteY6" fmla="*/ 503246 h 1853566"/>
                <a:gd name="connsiteX7" fmla="*/ 503246 w 2381250"/>
                <a:gd name="connsiteY7" fmla="*/ 0 h 1853566"/>
                <a:gd name="connsiteX0" fmla="*/ 503246 w 2381250"/>
                <a:gd name="connsiteY0" fmla="*/ 1762126 h 1853566"/>
                <a:gd name="connsiteX1" fmla="*/ 0 w 2381250"/>
                <a:gd name="connsiteY1" fmla="*/ 503246 h 1853566"/>
                <a:gd name="connsiteX2" fmla="*/ 503246 w 2381250"/>
                <a:gd name="connsiteY2" fmla="*/ 0 h 1853566"/>
                <a:gd name="connsiteX3" fmla="*/ 2381250 w 2381250"/>
                <a:gd name="connsiteY3" fmla="*/ 503246 h 1853566"/>
                <a:gd name="connsiteX4" fmla="*/ 2381250 w 2381250"/>
                <a:gd name="connsiteY4" fmla="*/ 1258880 h 1853566"/>
                <a:gd name="connsiteX5" fmla="*/ 1878004 w 2381250"/>
                <a:gd name="connsiteY5" fmla="*/ 1762126 h 1853566"/>
                <a:gd name="connsiteX6" fmla="*/ 594686 w 2381250"/>
                <a:gd name="connsiteY6" fmla="*/ 1853566 h 1853566"/>
                <a:gd name="connsiteX0" fmla="*/ 1878004 w 2381250"/>
                <a:gd name="connsiteY0" fmla="*/ 0 h 1853566"/>
                <a:gd name="connsiteX1" fmla="*/ 2381250 w 2381250"/>
                <a:gd name="connsiteY1" fmla="*/ 503246 h 1853566"/>
                <a:gd name="connsiteX2" fmla="*/ 2381250 w 2381250"/>
                <a:gd name="connsiteY2" fmla="*/ 1258880 h 1853566"/>
                <a:gd name="connsiteX3" fmla="*/ 1878004 w 2381250"/>
                <a:gd name="connsiteY3" fmla="*/ 1762126 h 1853566"/>
                <a:gd name="connsiteX4" fmla="*/ 503246 w 2381250"/>
                <a:gd name="connsiteY4" fmla="*/ 1762126 h 1853566"/>
                <a:gd name="connsiteX5" fmla="*/ 0 w 2381250"/>
                <a:gd name="connsiteY5" fmla="*/ 1258880 h 1853566"/>
                <a:gd name="connsiteX6" fmla="*/ 0 w 2381250"/>
                <a:gd name="connsiteY6" fmla="*/ 503246 h 1853566"/>
                <a:gd name="connsiteX7" fmla="*/ 503246 w 2381250"/>
                <a:gd name="connsiteY7" fmla="*/ 0 h 1853566"/>
                <a:gd name="connsiteX0" fmla="*/ 0 w 2381250"/>
                <a:gd name="connsiteY0" fmla="*/ 503246 h 1853566"/>
                <a:gd name="connsiteX1" fmla="*/ 503246 w 2381250"/>
                <a:gd name="connsiteY1" fmla="*/ 0 h 1853566"/>
                <a:gd name="connsiteX2" fmla="*/ 2381250 w 2381250"/>
                <a:gd name="connsiteY2" fmla="*/ 503246 h 1853566"/>
                <a:gd name="connsiteX3" fmla="*/ 2381250 w 2381250"/>
                <a:gd name="connsiteY3" fmla="*/ 1258880 h 1853566"/>
                <a:gd name="connsiteX4" fmla="*/ 1878004 w 2381250"/>
                <a:gd name="connsiteY4" fmla="*/ 1762126 h 1853566"/>
                <a:gd name="connsiteX5" fmla="*/ 594686 w 2381250"/>
                <a:gd name="connsiteY5" fmla="*/ 1853566 h 1853566"/>
                <a:gd name="connsiteX0" fmla="*/ 1878004 w 2381250"/>
                <a:gd name="connsiteY0" fmla="*/ 0 h 1762126"/>
                <a:gd name="connsiteX1" fmla="*/ 2381250 w 2381250"/>
                <a:gd name="connsiteY1" fmla="*/ 503246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4" fmla="*/ 503246 w 2381250"/>
                <a:gd name="connsiteY4" fmla="*/ 1762126 h 1762126"/>
                <a:gd name="connsiteX5" fmla="*/ 0 w 2381250"/>
                <a:gd name="connsiteY5" fmla="*/ 1258880 h 1762126"/>
                <a:gd name="connsiteX6" fmla="*/ 0 w 2381250"/>
                <a:gd name="connsiteY6" fmla="*/ 503246 h 1762126"/>
                <a:gd name="connsiteX7" fmla="*/ 503246 w 2381250"/>
                <a:gd name="connsiteY7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503246 h 1762126"/>
                <a:gd name="connsiteX3" fmla="*/ 2381250 w 2381250"/>
                <a:gd name="connsiteY3" fmla="*/ 1258880 h 1762126"/>
                <a:gd name="connsiteX4" fmla="*/ 1878004 w 2381250"/>
                <a:gd name="connsiteY4" fmla="*/ 1762126 h 1762126"/>
                <a:gd name="connsiteX0" fmla="*/ 1878004 w 2381250"/>
                <a:gd name="connsiteY0" fmla="*/ 0 h 1762126"/>
                <a:gd name="connsiteX1" fmla="*/ 2381250 w 2381250"/>
                <a:gd name="connsiteY1" fmla="*/ 503246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4" fmla="*/ 0 w 2381250"/>
                <a:gd name="connsiteY4" fmla="*/ 1258880 h 1762126"/>
                <a:gd name="connsiteX5" fmla="*/ 0 w 2381250"/>
                <a:gd name="connsiteY5" fmla="*/ 503246 h 1762126"/>
                <a:gd name="connsiteX6" fmla="*/ 503246 w 2381250"/>
                <a:gd name="connsiteY6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503246 h 1762126"/>
                <a:gd name="connsiteX3" fmla="*/ 2381250 w 2381250"/>
                <a:gd name="connsiteY3" fmla="*/ 1258880 h 1762126"/>
                <a:gd name="connsiteX4" fmla="*/ 1878004 w 2381250"/>
                <a:gd name="connsiteY4" fmla="*/ 1762126 h 1762126"/>
                <a:gd name="connsiteX0" fmla="*/ 1878004 w 2381250"/>
                <a:gd name="connsiteY0" fmla="*/ 0 h 1762126"/>
                <a:gd name="connsiteX1" fmla="*/ 2381250 w 2381250"/>
                <a:gd name="connsiteY1" fmla="*/ 503246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4" fmla="*/ 0 w 2381250"/>
                <a:gd name="connsiteY4" fmla="*/ 503246 h 1762126"/>
                <a:gd name="connsiteX5" fmla="*/ 503246 w 2381250"/>
                <a:gd name="connsiteY5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503246 h 1762126"/>
                <a:gd name="connsiteX3" fmla="*/ 2381250 w 2381250"/>
                <a:gd name="connsiteY3" fmla="*/ 1258880 h 1762126"/>
                <a:gd name="connsiteX4" fmla="*/ 1878004 w 2381250"/>
                <a:gd name="connsiteY4" fmla="*/ 1762126 h 1762126"/>
                <a:gd name="connsiteX0" fmla="*/ 2381250 w 2381250"/>
                <a:gd name="connsiteY0" fmla="*/ 503246 h 1762126"/>
                <a:gd name="connsiteX1" fmla="*/ 2381250 w 2381250"/>
                <a:gd name="connsiteY1" fmla="*/ 1258880 h 1762126"/>
                <a:gd name="connsiteX2" fmla="*/ 1878004 w 2381250"/>
                <a:gd name="connsiteY2" fmla="*/ 1762126 h 1762126"/>
                <a:gd name="connsiteX3" fmla="*/ 0 w 2381250"/>
                <a:gd name="connsiteY3" fmla="*/ 503246 h 1762126"/>
                <a:gd name="connsiteX4" fmla="*/ 503246 w 2381250"/>
                <a:gd name="connsiteY4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503246 h 1762126"/>
                <a:gd name="connsiteX3" fmla="*/ 2381250 w 2381250"/>
                <a:gd name="connsiteY3" fmla="*/ 1258880 h 1762126"/>
                <a:gd name="connsiteX4" fmla="*/ 1878004 w 2381250"/>
                <a:gd name="connsiteY4" fmla="*/ 1762126 h 1762126"/>
                <a:gd name="connsiteX0" fmla="*/ 2381250 w 2381250"/>
                <a:gd name="connsiteY0" fmla="*/ 503246 h 1762126"/>
                <a:gd name="connsiteX1" fmla="*/ 2381250 w 2381250"/>
                <a:gd name="connsiteY1" fmla="*/ 1258880 h 1762126"/>
                <a:gd name="connsiteX2" fmla="*/ 1878004 w 2381250"/>
                <a:gd name="connsiteY2" fmla="*/ 1762126 h 1762126"/>
                <a:gd name="connsiteX3" fmla="*/ 0 w 2381250"/>
                <a:gd name="connsiteY3" fmla="*/ 503246 h 1762126"/>
                <a:gd name="connsiteX4" fmla="*/ 503246 w 2381250"/>
                <a:gd name="connsiteY4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0" fmla="*/ 2381250 w 2381250"/>
                <a:gd name="connsiteY0" fmla="*/ 1258880 h 1762126"/>
                <a:gd name="connsiteX1" fmla="*/ 1878004 w 2381250"/>
                <a:gd name="connsiteY1" fmla="*/ 1762126 h 1762126"/>
                <a:gd name="connsiteX2" fmla="*/ 0 w 2381250"/>
                <a:gd name="connsiteY2" fmla="*/ 503246 h 1762126"/>
                <a:gd name="connsiteX3" fmla="*/ 503246 w 2381250"/>
                <a:gd name="connsiteY3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0" fmla="*/ 2381250 w 2381250"/>
                <a:gd name="connsiteY0" fmla="*/ 1258880 h 1762126"/>
                <a:gd name="connsiteX1" fmla="*/ 1878004 w 2381250"/>
                <a:gd name="connsiteY1" fmla="*/ 1762126 h 1762126"/>
                <a:gd name="connsiteX2" fmla="*/ 0 w 2381250"/>
                <a:gd name="connsiteY2" fmla="*/ 503246 h 1762126"/>
                <a:gd name="connsiteX3" fmla="*/ 503246 w 2381250"/>
                <a:gd name="connsiteY3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0" fmla="*/ 1878004 w 1878004"/>
                <a:gd name="connsiteY0" fmla="*/ 1762126 h 1762126"/>
                <a:gd name="connsiteX1" fmla="*/ 0 w 1878004"/>
                <a:gd name="connsiteY1" fmla="*/ 503246 h 1762126"/>
                <a:gd name="connsiteX2" fmla="*/ 503246 w 1878004"/>
                <a:gd name="connsiteY2" fmla="*/ 0 h 1762126"/>
                <a:gd name="connsiteX0" fmla="*/ 0 w 1878004"/>
                <a:gd name="connsiteY0" fmla="*/ 503246 h 1762126"/>
                <a:gd name="connsiteX1" fmla="*/ 503246 w 1878004"/>
                <a:gd name="connsiteY1" fmla="*/ 0 h 1762126"/>
                <a:gd name="connsiteX0" fmla="*/ 0 w 503246"/>
                <a:gd name="connsiteY0" fmla="*/ 503246 h 503246"/>
                <a:gd name="connsiteX1" fmla="*/ 503246 w 503246"/>
                <a:gd name="connsiteY1" fmla="*/ 0 h 503246"/>
                <a:gd name="connsiteX0" fmla="*/ 0 w 503246"/>
                <a:gd name="connsiteY0" fmla="*/ 503246 h 503246"/>
                <a:gd name="connsiteX1" fmla="*/ 503246 w 503246"/>
                <a:gd name="connsiteY1" fmla="*/ 0 h 503246"/>
                <a:gd name="connsiteX0" fmla="*/ 2880 w 506126"/>
                <a:gd name="connsiteY0" fmla="*/ 503246 h 503246"/>
                <a:gd name="connsiteX1" fmla="*/ 506126 w 506126"/>
                <a:gd name="connsiteY1" fmla="*/ 0 h 503246"/>
                <a:gd name="connsiteX0" fmla="*/ 2880 w 506126"/>
                <a:gd name="connsiteY0" fmla="*/ 503246 h 503246"/>
                <a:gd name="connsiteX1" fmla="*/ 0 w 506126"/>
                <a:gd name="connsiteY1" fmla="*/ 498555 h 503246"/>
                <a:gd name="connsiteX2" fmla="*/ 506126 w 506126"/>
                <a:gd name="connsiteY2" fmla="*/ 0 h 503246"/>
                <a:gd name="connsiteX0" fmla="*/ 987 w 504233"/>
                <a:gd name="connsiteY0" fmla="*/ 503246 h 503246"/>
                <a:gd name="connsiteX1" fmla="*/ 504233 w 504233"/>
                <a:gd name="connsiteY1" fmla="*/ 0 h 503246"/>
                <a:gd name="connsiteX0" fmla="*/ 987 w 504233"/>
                <a:gd name="connsiteY0" fmla="*/ 503246 h 503246"/>
                <a:gd name="connsiteX1" fmla="*/ 0 w 504233"/>
                <a:gd name="connsiteY1" fmla="*/ 415260 h 503246"/>
                <a:gd name="connsiteX2" fmla="*/ 504233 w 504233"/>
                <a:gd name="connsiteY2" fmla="*/ 0 h 503246"/>
                <a:gd name="connsiteX0" fmla="*/ 5680 w 508926"/>
                <a:gd name="connsiteY0" fmla="*/ 503246 h 1661839"/>
                <a:gd name="connsiteX1" fmla="*/ 508926 w 508926"/>
                <a:gd name="connsiteY1" fmla="*/ 0 h 1661839"/>
                <a:gd name="connsiteX0" fmla="*/ 0 w 508926"/>
                <a:gd name="connsiteY0" fmla="*/ 1661839 h 1661839"/>
                <a:gd name="connsiteX1" fmla="*/ 4693 w 508926"/>
                <a:gd name="connsiteY1" fmla="*/ 415260 h 1661839"/>
                <a:gd name="connsiteX2" fmla="*/ 508926 w 508926"/>
                <a:gd name="connsiteY2" fmla="*/ 0 h 1661839"/>
                <a:gd name="connsiteX0" fmla="*/ 5680 w 508926"/>
                <a:gd name="connsiteY0" fmla="*/ 503246 h 1661839"/>
                <a:gd name="connsiteX1" fmla="*/ 508926 w 508926"/>
                <a:gd name="connsiteY1" fmla="*/ 0 h 1661839"/>
                <a:gd name="connsiteX0" fmla="*/ 0 w 508926"/>
                <a:gd name="connsiteY0" fmla="*/ 1661839 h 1661839"/>
                <a:gd name="connsiteX1" fmla="*/ 4693 w 508926"/>
                <a:gd name="connsiteY1" fmla="*/ 509916 h 1661839"/>
                <a:gd name="connsiteX2" fmla="*/ 508926 w 508926"/>
                <a:gd name="connsiteY2" fmla="*/ 0 h 1661839"/>
                <a:gd name="connsiteX0" fmla="*/ 5680 w 508926"/>
                <a:gd name="connsiteY0" fmla="*/ 503246 h 3880192"/>
                <a:gd name="connsiteX1" fmla="*/ 508926 w 508926"/>
                <a:gd name="connsiteY1" fmla="*/ 0 h 3880192"/>
                <a:gd name="connsiteX0" fmla="*/ 0 w 508926"/>
                <a:gd name="connsiteY0" fmla="*/ 3880192 h 3880192"/>
                <a:gd name="connsiteX1" fmla="*/ 4693 w 508926"/>
                <a:gd name="connsiteY1" fmla="*/ 509916 h 3880192"/>
                <a:gd name="connsiteX2" fmla="*/ 508926 w 508926"/>
                <a:gd name="connsiteY2" fmla="*/ 0 h 3880192"/>
                <a:gd name="connsiteX0" fmla="*/ 14263 w 517509"/>
                <a:gd name="connsiteY0" fmla="*/ 503246 h 5263436"/>
                <a:gd name="connsiteX1" fmla="*/ 517509 w 517509"/>
                <a:gd name="connsiteY1" fmla="*/ 0 h 5263436"/>
                <a:gd name="connsiteX0" fmla="*/ 0 w 517509"/>
                <a:gd name="connsiteY0" fmla="*/ 5263436 h 5263436"/>
                <a:gd name="connsiteX1" fmla="*/ 13276 w 517509"/>
                <a:gd name="connsiteY1" fmla="*/ 509916 h 5263436"/>
                <a:gd name="connsiteX2" fmla="*/ 517509 w 517509"/>
                <a:gd name="connsiteY2" fmla="*/ 0 h 5263436"/>
                <a:gd name="connsiteX0" fmla="*/ 5680 w 508926"/>
                <a:gd name="connsiteY0" fmla="*/ 503246 h 4546572"/>
                <a:gd name="connsiteX1" fmla="*/ 508926 w 508926"/>
                <a:gd name="connsiteY1" fmla="*/ 0 h 4546572"/>
                <a:gd name="connsiteX0" fmla="*/ 0 w 508926"/>
                <a:gd name="connsiteY0" fmla="*/ 4546572 h 4546572"/>
                <a:gd name="connsiteX1" fmla="*/ 4693 w 508926"/>
                <a:gd name="connsiteY1" fmla="*/ 509916 h 4546572"/>
                <a:gd name="connsiteX2" fmla="*/ 508926 w 508926"/>
                <a:gd name="connsiteY2" fmla="*/ 0 h 4546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8926" h="4546572" stroke="0" extrusionOk="0">
                  <a:moveTo>
                    <a:pt x="5680" y="503246"/>
                  </a:moveTo>
                  <a:cubicBezTo>
                    <a:pt x="5680" y="225311"/>
                    <a:pt x="230991" y="0"/>
                    <a:pt x="508926" y="0"/>
                  </a:cubicBezTo>
                </a:path>
                <a:path w="508926" h="4546572" fill="none">
                  <a:moveTo>
                    <a:pt x="0" y="4546572"/>
                  </a:moveTo>
                  <a:cubicBezTo>
                    <a:pt x="1564" y="4131046"/>
                    <a:pt x="3129" y="925442"/>
                    <a:pt x="4693" y="509916"/>
                  </a:cubicBezTo>
                  <a:cubicBezTo>
                    <a:pt x="7573" y="236672"/>
                    <a:pt x="230991" y="0"/>
                    <a:pt x="508926" y="0"/>
                  </a:cubicBezTo>
                </a:path>
              </a:pathLst>
            </a:custGeom>
            <a:noFill/>
            <a:ln w="38100" cap="rnd">
              <a:solidFill>
                <a:srgbClr val="E3B0B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6" name="Straight Connector 21">
              <a:extLst>
                <a:ext uri="{FF2B5EF4-FFF2-40B4-BE49-F238E27FC236}">
                  <a16:creationId xmlns:a16="http://schemas.microsoft.com/office/drawing/2014/main" id="{CA635F1E-E155-4C92-86BD-6AC7D97EAC0B}"/>
                </a:ext>
              </a:extLst>
            </p:cNvPr>
            <p:cNvCxnSpPr>
              <a:cxnSpLocks/>
            </p:cNvCxnSpPr>
            <p:nvPr/>
          </p:nvCxnSpPr>
          <p:spPr>
            <a:xfrm>
              <a:off x="5776686" y="2827903"/>
              <a:ext cx="0" cy="1492637"/>
            </a:xfrm>
            <a:prstGeom prst="line">
              <a:avLst/>
            </a:prstGeom>
            <a:noFill/>
            <a:ln w="38100" cap="rnd">
              <a:solidFill>
                <a:srgbClr val="E3B0BD"/>
              </a:solidFill>
              <a:prstDash val="sys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AA4501CC-797E-4201-8EDA-9C312D633F5A}"/>
              </a:ext>
            </a:extLst>
          </p:cNvPr>
          <p:cNvGrpSpPr/>
          <p:nvPr/>
        </p:nvGrpSpPr>
        <p:grpSpPr>
          <a:xfrm rot="5400000">
            <a:off x="7392619" y="6182824"/>
            <a:ext cx="1350358" cy="0"/>
            <a:chOff x="8582025" y="5326929"/>
            <a:chExt cx="1350358" cy="0"/>
          </a:xfrm>
        </p:grpSpPr>
        <p:cxnSp>
          <p:nvCxnSpPr>
            <p:cNvPr id="29" name="Straight Connector 19">
              <a:extLst>
                <a:ext uri="{FF2B5EF4-FFF2-40B4-BE49-F238E27FC236}">
                  <a16:creationId xmlns:a16="http://schemas.microsoft.com/office/drawing/2014/main" id="{AC1CE50D-4DBB-478E-9B3B-B3849271F79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257204" y="4651750"/>
              <a:ext cx="0" cy="1350358"/>
            </a:xfrm>
            <a:prstGeom prst="line">
              <a:avLst/>
            </a:prstGeom>
            <a:noFill/>
            <a:ln w="19050" cap="rnd">
              <a:solidFill>
                <a:srgbClr val="838F95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Straight Connector 22">
              <a:extLst>
                <a:ext uri="{FF2B5EF4-FFF2-40B4-BE49-F238E27FC236}">
                  <a16:creationId xmlns:a16="http://schemas.microsoft.com/office/drawing/2014/main" id="{F116E964-9A84-403D-82EB-AE3E429C48A0}"/>
                </a:ext>
              </a:extLst>
            </p:cNvPr>
            <p:cNvCxnSpPr>
              <a:cxnSpLocks/>
            </p:cNvCxnSpPr>
            <p:nvPr/>
          </p:nvCxnSpPr>
          <p:spPr>
            <a:xfrm>
              <a:off x="8582025" y="5326929"/>
              <a:ext cx="430000" cy="0"/>
            </a:xfrm>
            <a:prstGeom prst="line">
              <a:avLst/>
            </a:prstGeom>
            <a:noFill/>
            <a:ln w="50800" cap="rnd">
              <a:solidFill>
                <a:srgbClr val="C1007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33" name="Freeform: Shape 12">
            <a:extLst>
              <a:ext uri="{FF2B5EF4-FFF2-40B4-BE49-F238E27FC236}">
                <a16:creationId xmlns:a16="http://schemas.microsoft.com/office/drawing/2014/main" id="{FFB0E81E-3F8D-40A3-B953-0ABC338D1C10}"/>
              </a:ext>
            </a:extLst>
          </p:cNvPr>
          <p:cNvSpPr/>
          <p:nvPr/>
        </p:nvSpPr>
        <p:spPr>
          <a:xfrm>
            <a:off x="1659935" y="0"/>
            <a:ext cx="2804564" cy="1244599"/>
          </a:xfrm>
          <a:custGeom>
            <a:avLst/>
            <a:gdLst>
              <a:gd name="connsiteX0" fmla="*/ 0 w 4791075"/>
              <a:gd name="connsiteY0" fmla="*/ 0 h 1276350"/>
              <a:gd name="connsiteX1" fmla="*/ 0 w 4791075"/>
              <a:gd name="connsiteY1" fmla="*/ 1276350 h 1276350"/>
              <a:gd name="connsiteX2" fmla="*/ 4791075 w 4791075"/>
              <a:gd name="connsiteY2" fmla="*/ 1276350 h 127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91075" h="1276350">
                <a:moveTo>
                  <a:pt x="0" y="0"/>
                </a:moveTo>
                <a:lnTo>
                  <a:pt x="0" y="1276350"/>
                </a:lnTo>
                <a:lnTo>
                  <a:pt x="4791075" y="1276350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Double Bracket 14">
            <a:extLst>
              <a:ext uri="{FF2B5EF4-FFF2-40B4-BE49-F238E27FC236}">
                <a16:creationId xmlns:a16="http://schemas.microsoft.com/office/drawing/2014/main" id="{6454990F-0CE9-4881-A9E5-97389DB38FF9}"/>
              </a:ext>
            </a:extLst>
          </p:cNvPr>
          <p:cNvSpPr/>
          <p:nvPr/>
        </p:nvSpPr>
        <p:spPr>
          <a:xfrm>
            <a:off x="6096000" y="1929935"/>
            <a:ext cx="503246" cy="503246"/>
          </a:xfrm>
          <a:custGeom>
            <a:avLst/>
            <a:gdLst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1258880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4" fmla="*/ 1878004 w 2381250"/>
              <a:gd name="connsiteY4" fmla="*/ 0 h 1762126"/>
              <a:gd name="connsiteX5" fmla="*/ 2381250 w 2381250"/>
              <a:gd name="connsiteY5" fmla="*/ 503246 h 1762126"/>
              <a:gd name="connsiteX6" fmla="*/ 2381250 w 2381250"/>
              <a:gd name="connsiteY6" fmla="*/ 1258880 h 1762126"/>
              <a:gd name="connsiteX7" fmla="*/ 1878004 w 2381250"/>
              <a:gd name="connsiteY7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7" fmla="*/ 503246 w 2381250"/>
              <a:gd name="connsiteY7" fmla="*/ 1762126 h 176212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878004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03246 w 2381250"/>
              <a:gd name="connsiteY6" fmla="*/ 1762126 h 1853566"/>
              <a:gd name="connsiteX7" fmla="*/ 0 w 2381250"/>
              <a:gd name="connsiteY7" fmla="*/ 1258880 h 1853566"/>
              <a:gd name="connsiteX8" fmla="*/ 0 w 2381250"/>
              <a:gd name="connsiteY8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209675 w 2381250"/>
              <a:gd name="connsiteY2" fmla="*/ 1 h 1853566"/>
              <a:gd name="connsiteX3" fmla="*/ 1878004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03246 w 2381250"/>
              <a:gd name="connsiteY7" fmla="*/ 1762126 h 1853566"/>
              <a:gd name="connsiteX8" fmla="*/ 0 w 2381250"/>
              <a:gd name="connsiteY8" fmla="*/ 1258880 h 1853566"/>
              <a:gd name="connsiteX9" fmla="*/ 0 w 2381250"/>
              <a:gd name="connsiteY9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9" fmla="*/ 1301115 w 2381250"/>
              <a:gd name="connsiteY9" fmla="*/ 91441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94686 w 2381250"/>
              <a:gd name="connsiteY7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0 w 2381250"/>
              <a:gd name="connsiteY1" fmla="*/ 503246 h 1853566"/>
              <a:gd name="connsiteX2" fmla="*/ 503246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94686 w 2381250"/>
              <a:gd name="connsiteY6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94686 w 2381250"/>
              <a:gd name="connsiteY5" fmla="*/ 1853566 h 185356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503246 w 2381250"/>
              <a:gd name="connsiteY4" fmla="*/ 1762126 h 1762126"/>
              <a:gd name="connsiteX5" fmla="*/ 0 w 2381250"/>
              <a:gd name="connsiteY5" fmla="*/ 1258880 h 1762126"/>
              <a:gd name="connsiteX6" fmla="*/ 0 w 2381250"/>
              <a:gd name="connsiteY6" fmla="*/ 503246 h 1762126"/>
              <a:gd name="connsiteX7" fmla="*/ 503246 w 2381250"/>
              <a:gd name="connsiteY7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1258880 h 1762126"/>
              <a:gd name="connsiteX5" fmla="*/ 0 w 2381250"/>
              <a:gd name="connsiteY5" fmla="*/ 503246 h 1762126"/>
              <a:gd name="connsiteX6" fmla="*/ 503246 w 2381250"/>
              <a:gd name="connsiteY6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503246 h 1762126"/>
              <a:gd name="connsiteX5" fmla="*/ 503246 w 2381250"/>
              <a:gd name="connsiteY5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0" fmla="*/ 1878004 w 1878004"/>
              <a:gd name="connsiteY0" fmla="*/ 1762126 h 1762126"/>
              <a:gd name="connsiteX1" fmla="*/ 0 w 1878004"/>
              <a:gd name="connsiteY1" fmla="*/ 503246 h 1762126"/>
              <a:gd name="connsiteX2" fmla="*/ 503246 w 1878004"/>
              <a:gd name="connsiteY2" fmla="*/ 0 h 1762126"/>
              <a:gd name="connsiteX0" fmla="*/ 0 w 1878004"/>
              <a:gd name="connsiteY0" fmla="*/ 503246 h 1762126"/>
              <a:gd name="connsiteX1" fmla="*/ 503246 w 1878004"/>
              <a:gd name="connsiteY1" fmla="*/ 0 h 1762126"/>
              <a:gd name="connsiteX0" fmla="*/ 0 w 503246"/>
              <a:gd name="connsiteY0" fmla="*/ 503246 h 503246"/>
              <a:gd name="connsiteX1" fmla="*/ 503246 w 503246"/>
              <a:gd name="connsiteY1" fmla="*/ 0 h 503246"/>
              <a:gd name="connsiteX0" fmla="*/ 0 w 503246"/>
              <a:gd name="connsiteY0" fmla="*/ 503246 h 503246"/>
              <a:gd name="connsiteX1" fmla="*/ 503246 w 503246"/>
              <a:gd name="connsiteY1" fmla="*/ 0 h 503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246" h="503246" stroke="0" extrusionOk="0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  <a:path w="503246" h="503246" fill="none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</a:pathLst>
          </a:custGeom>
          <a:noFill/>
          <a:ln w="25400" cap="rnd">
            <a:solidFill>
              <a:srgbClr val="C1007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Double Bracket 14">
            <a:extLst>
              <a:ext uri="{FF2B5EF4-FFF2-40B4-BE49-F238E27FC236}">
                <a16:creationId xmlns:a16="http://schemas.microsoft.com/office/drawing/2014/main" id="{06CF2644-4496-4E78-B60D-3B69BD68580C}"/>
              </a:ext>
            </a:extLst>
          </p:cNvPr>
          <p:cNvSpPr/>
          <p:nvPr/>
        </p:nvSpPr>
        <p:spPr>
          <a:xfrm rot="10800000">
            <a:off x="11434251" y="4589966"/>
            <a:ext cx="503246" cy="503246"/>
          </a:xfrm>
          <a:custGeom>
            <a:avLst/>
            <a:gdLst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1258880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4" fmla="*/ 1878004 w 2381250"/>
              <a:gd name="connsiteY4" fmla="*/ 0 h 1762126"/>
              <a:gd name="connsiteX5" fmla="*/ 2381250 w 2381250"/>
              <a:gd name="connsiteY5" fmla="*/ 503246 h 1762126"/>
              <a:gd name="connsiteX6" fmla="*/ 2381250 w 2381250"/>
              <a:gd name="connsiteY6" fmla="*/ 1258880 h 1762126"/>
              <a:gd name="connsiteX7" fmla="*/ 1878004 w 2381250"/>
              <a:gd name="connsiteY7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7" fmla="*/ 503246 w 2381250"/>
              <a:gd name="connsiteY7" fmla="*/ 1762126 h 176212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878004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03246 w 2381250"/>
              <a:gd name="connsiteY6" fmla="*/ 1762126 h 1853566"/>
              <a:gd name="connsiteX7" fmla="*/ 0 w 2381250"/>
              <a:gd name="connsiteY7" fmla="*/ 1258880 h 1853566"/>
              <a:gd name="connsiteX8" fmla="*/ 0 w 2381250"/>
              <a:gd name="connsiteY8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209675 w 2381250"/>
              <a:gd name="connsiteY2" fmla="*/ 1 h 1853566"/>
              <a:gd name="connsiteX3" fmla="*/ 1878004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03246 w 2381250"/>
              <a:gd name="connsiteY7" fmla="*/ 1762126 h 1853566"/>
              <a:gd name="connsiteX8" fmla="*/ 0 w 2381250"/>
              <a:gd name="connsiteY8" fmla="*/ 1258880 h 1853566"/>
              <a:gd name="connsiteX9" fmla="*/ 0 w 2381250"/>
              <a:gd name="connsiteY9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9" fmla="*/ 1301115 w 2381250"/>
              <a:gd name="connsiteY9" fmla="*/ 91441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94686 w 2381250"/>
              <a:gd name="connsiteY7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0 w 2381250"/>
              <a:gd name="connsiteY1" fmla="*/ 503246 h 1853566"/>
              <a:gd name="connsiteX2" fmla="*/ 503246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94686 w 2381250"/>
              <a:gd name="connsiteY6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94686 w 2381250"/>
              <a:gd name="connsiteY5" fmla="*/ 1853566 h 185356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503246 w 2381250"/>
              <a:gd name="connsiteY4" fmla="*/ 1762126 h 1762126"/>
              <a:gd name="connsiteX5" fmla="*/ 0 w 2381250"/>
              <a:gd name="connsiteY5" fmla="*/ 1258880 h 1762126"/>
              <a:gd name="connsiteX6" fmla="*/ 0 w 2381250"/>
              <a:gd name="connsiteY6" fmla="*/ 503246 h 1762126"/>
              <a:gd name="connsiteX7" fmla="*/ 503246 w 2381250"/>
              <a:gd name="connsiteY7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1258880 h 1762126"/>
              <a:gd name="connsiteX5" fmla="*/ 0 w 2381250"/>
              <a:gd name="connsiteY5" fmla="*/ 503246 h 1762126"/>
              <a:gd name="connsiteX6" fmla="*/ 503246 w 2381250"/>
              <a:gd name="connsiteY6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503246 h 1762126"/>
              <a:gd name="connsiteX5" fmla="*/ 503246 w 2381250"/>
              <a:gd name="connsiteY5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0" fmla="*/ 1878004 w 1878004"/>
              <a:gd name="connsiteY0" fmla="*/ 1762126 h 1762126"/>
              <a:gd name="connsiteX1" fmla="*/ 0 w 1878004"/>
              <a:gd name="connsiteY1" fmla="*/ 503246 h 1762126"/>
              <a:gd name="connsiteX2" fmla="*/ 503246 w 1878004"/>
              <a:gd name="connsiteY2" fmla="*/ 0 h 1762126"/>
              <a:gd name="connsiteX0" fmla="*/ 0 w 1878004"/>
              <a:gd name="connsiteY0" fmla="*/ 503246 h 1762126"/>
              <a:gd name="connsiteX1" fmla="*/ 503246 w 1878004"/>
              <a:gd name="connsiteY1" fmla="*/ 0 h 1762126"/>
              <a:gd name="connsiteX0" fmla="*/ 0 w 503246"/>
              <a:gd name="connsiteY0" fmla="*/ 503246 h 503246"/>
              <a:gd name="connsiteX1" fmla="*/ 503246 w 503246"/>
              <a:gd name="connsiteY1" fmla="*/ 0 h 503246"/>
              <a:gd name="connsiteX0" fmla="*/ 0 w 503246"/>
              <a:gd name="connsiteY0" fmla="*/ 503246 h 503246"/>
              <a:gd name="connsiteX1" fmla="*/ 503246 w 503246"/>
              <a:gd name="connsiteY1" fmla="*/ 0 h 503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246" h="503246" stroke="0" extrusionOk="0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  <a:path w="503246" h="503246" fill="none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</a:pathLst>
          </a:custGeom>
          <a:noFill/>
          <a:ln w="25400" cap="rnd">
            <a:solidFill>
              <a:srgbClr val="C1007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Freeform: Shape 12">
            <a:extLst>
              <a:ext uri="{FF2B5EF4-FFF2-40B4-BE49-F238E27FC236}">
                <a16:creationId xmlns:a16="http://schemas.microsoft.com/office/drawing/2014/main" id="{A3FF57E8-EAFA-4D47-86E0-0FC6DA2B2088}"/>
              </a:ext>
            </a:extLst>
          </p:cNvPr>
          <p:cNvSpPr/>
          <p:nvPr/>
        </p:nvSpPr>
        <p:spPr>
          <a:xfrm flipH="1">
            <a:off x="7322639" y="0"/>
            <a:ext cx="2804564" cy="1244599"/>
          </a:xfrm>
          <a:custGeom>
            <a:avLst/>
            <a:gdLst>
              <a:gd name="connsiteX0" fmla="*/ 0 w 4791075"/>
              <a:gd name="connsiteY0" fmla="*/ 0 h 1276350"/>
              <a:gd name="connsiteX1" fmla="*/ 0 w 4791075"/>
              <a:gd name="connsiteY1" fmla="*/ 1276350 h 1276350"/>
              <a:gd name="connsiteX2" fmla="*/ 4791075 w 4791075"/>
              <a:gd name="connsiteY2" fmla="*/ 1276350 h 127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91075" h="1276350">
                <a:moveTo>
                  <a:pt x="0" y="0"/>
                </a:moveTo>
                <a:lnTo>
                  <a:pt x="0" y="1276350"/>
                </a:lnTo>
                <a:lnTo>
                  <a:pt x="4791075" y="1276350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70C143F5-BF9F-4C70-B550-08C343F59602}"/>
              </a:ext>
            </a:extLst>
          </p:cNvPr>
          <p:cNvGrpSpPr/>
          <p:nvPr/>
        </p:nvGrpSpPr>
        <p:grpSpPr>
          <a:xfrm>
            <a:off x="6432551" y="2082805"/>
            <a:ext cx="5308599" cy="2927073"/>
            <a:chOff x="6432551" y="2082805"/>
            <a:chExt cx="5308599" cy="2927073"/>
          </a:xfrm>
        </p:grpSpPr>
        <p:grpSp>
          <p:nvGrpSpPr>
            <p:cNvPr id="48" name="Agrupar 47">
              <a:extLst>
                <a:ext uri="{FF2B5EF4-FFF2-40B4-BE49-F238E27FC236}">
                  <a16:creationId xmlns:a16="http://schemas.microsoft.com/office/drawing/2014/main" id="{886B190E-2ED8-4422-B97D-50EA4F53371B}"/>
                </a:ext>
              </a:extLst>
            </p:cNvPr>
            <p:cNvGrpSpPr/>
            <p:nvPr/>
          </p:nvGrpSpPr>
          <p:grpSpPr>
            <a:xfrm>
              <a:off x="8068222" y="2082805"/>
              <a:ext cx="1761578" cy="2927073"/>
              <a:chOff x="8068222" y="2267838"/>
              <a:chExt cx="1767840" cy="2647062"/>
            </a:xfrm>
          </p:grpSpPr>
          <p:cxnSp>
            <p:nvCxnSpPr>
              <p:cNvPr id="41" name="Conector reto 40">
                <a:extLst>
                  <a:ext uri="{FF2B5EF4-FFF2-40B4-BE49-F238E27FC236}">
                    <a16:creationId xmlns:a16="http://schemas.microsoft.com/office/drawing/2014/main" id="{FC4841F6-39B2-47D9-A37D-5221EF0DF3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68222" y="2267838"/>
                <a:ext cx="0" cy="2647062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ector reto 43">
                <a:extLst>
                  <a:ext uri="{FF2B5EF4-FFF2-40B4-BE49-F238E27FC236}">
                    <a16:creationId xmlns:a16="http://schemas.microsoft.com/office/drawing/2014/main" id="{176E8BBC-73E0-48CA-B195-120E3704AA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36062" y="2267838"/>
                <a:ext cx="0" cy="2647062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" name="Conector reto 44">
              <a:extLst>
                <a:ext uri="{FF2B5EF4-FFF2-40B4-BE49-F238E27FC236}">
                  <a16:creationId xmlns:a16="http://schemas.microsoft.com/office/drawing/2014/main" id="{9C8A4C37-03A6-4753-A85F-43C84B81BD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2551" y="3429000"/>
              <a:ext cx="5308599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794D668-7C0D-49EE-916A-7FDB1EF187E1}"/>
              </a:ext>
            </a:extLst>
          </p:cNvPr>
          <p:cNvSpPr/>
          <p:nvPr/>
        </p:nvSpPr>
        <p:spPr>
          <a:xfrm>
            <a:off x="99506" y="1933567"/>
            <a:ext cx="48132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dirty="0">
                <a:solidFill>
                  <a:srgbClr val="231F20"/>
                </a:solidFill>
                <a:latin typeface="Trebuchet MS" panose="020B0603020202020204" pitchFamily="34" charset="0"/>
                <a:ea typeface="ＭＳ Ｐゴシック" pitchFamily="34" charset="-128"/>
              </a:rPr>
              <a:t>A duração normal da gestação situa-se entre </a:t>
            </a:r>
            <a:r>
              <a:rPr lang="pt-PT" b="1" dirty="0">
                <a:solidFill>
                  <a:srgbClr val="CF84AE"/>
                </a:solidFill>
                <a:latin typeface="Trebuchet MS" panose="020B0603020202020204" pitchFamily="34" charset="0"/>
                <a:ea typeface="ＭＳ Ｐゴシック" pitchFamily="34" charset="-128"/>
              </a:rPr>
              <a:t>38 e 42 semanas.</a:t>
            </a:r>
            <a:r>
              <a:rPr lang="pt-PT" dirty="0">
                <a:solidFill>
                  <a:srgbClr val="CF84AE"/>
                </a:solidFill>
                <a:latin typeface="Trebuchet MS" panose="020B0603020202020204" pitchFamily="34" charset="0"/>
                <a:ea typeface="ＭＳ Ｐゴシック" pitchFamily="34" charset="-128"/>
              </a:rPr>
              <a:t> 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230809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6" name="Rectangle 21525">
            <a:extLst>
              <a:ext uri="{FF2B5EF4-FFF2-40B4-BE49-F238E27FC236}">
                <a16:creationId xmlns:a16="http://schemas.microsoft.com/office/drawing/2014/main" id="{4FC80075-38C7-452F-BB66-851E0712DBD5}"/>
              </a:ext>
            </a:extLst>
          </p:cNvPr>
          <p:cNvSpPr/>
          <p:nvPr/>
        </p:nvSpPr>
        <p:spPr>
          <a:xfrm>
            <a:off x="2963166" y="2458058"/>
            <a:ext cx="9412642" cy="2786891"/>
          </a:xfrm>
          <a:prstGeom prst="rect">
            <a:avLst/>
          </a:prstGeom>
          <a:solidFill>
            <a:srgbClr val="D9D9D9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F9326FEB-4112-4768-9C25-1238B20117D2}"/>
              </a:ext>
            </a:extLst>
          </p:cNvPr>
          <p:cNvSpPr/>
          <p:nvPr/>
        </p:nvSpPr>
        <p:spPr>
          <a:xfrm>
            <a:off x="1" y="0"/>
            <a:ext cx="2963165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Double Bracket 14">
            <a:extLst>
              <a:ext uri="{FF2B5EF4-FFF2-40B4-BE49-F238E27FC236}">
                <a16:creationId xmlns:a16="http://schemas.microsoft.com/office/drawing/2014/main" id="{EE2145BA-3B4C-49B5-8BD4-DEC6055751EA}"/>
              </a:ext>
            </a:extLst>
          </p:cNvPr>
          <p:cNvSpPr/>
          <p:nvPr/>
        </p:nvSpPr>
        <p:spPr>
          <a:xfrm>
            <a:off x="3087463" y="147057"/>
            <a:ext cx="359693" cy="359693"/>
          </a:xfrm>
          <a:custGeom>
            <a:avLst/>
            <a:gdLst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1258880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4" fmla="*/ 1878004 w 2381250"/>
              <a:gd name="connsiteY4" fmla="*/ 0 h 1762126"/>
              <a:gd name="connsiteX5" fmla="*/ 2381250 w 2381250"/>
              <a:gd name="connsiteY5" fmla="*/ 503246 h 1762126"/>
              <a:gd name="connsiteX6" fmla="*/ 2381250 w 2381250"/>
              <a:gd name="connsiteY6" fmla="*/ 1258880 h 1762126"/>
              <a:gd name="connsiteX7" fmla="*/ 1878004 w 2381250"/>
              <a:gd name="connsiteY7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7" fmla="*/ 503246 w 2381250"/>
              <a:gd name="connsiteY7" fmla="*/ 1762126 h 176212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878004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03246 w 2381250"/>
              <a:gd name="connsiteY6" fmla="*/ 1762126 h 1853566"/>
              <a:gd name="connsiteX7" fmla="*/ 0 w 2381250"/>
              <a:gd name="connsiteY7" fmla="*/ 1258880 h 1853566"/>
              <a:gd name="connsiteX8" fmla="*/ 0 w 2381250"/>
              <a:gd name="connsiteY8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209675 w 2381250"/>
              <a:gd name="connsiteY2" fmla="*/ 1 h 1853566"/>
              <a:gd name="connsiteX3" fmla="*/ 1878004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03246 w 2381250"/>
              <a:gd name="connsiteY7" fmla="*/ 1762126 h 1853566"/>
              <a:gd name="connsiteX8" fmla="*/ 0 w 2381250"/>
              <a:gd name="connsiteY8" fmla="*/ 1258880 h 1853566"/>
              <a:gd name="connsiteX9" fmla="*/ 0 w 2381250"/>
              <a:gd name="connsiteY9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9" fmla="*/ 1301115 w 2381250"/>
              <a:gd name="connsiteY9" fmla="*/ 91441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94686 w 2381250"/>
              <a:gd name="connsiteY7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0 w 2381250"/>
              <a:gd name="connsiteY1" fmla="*/ 503246 h 1853566"/>
              <a:gd name="connsiteX2" fmla="*/ 503246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94686 w 2381250"/>
              <a:gd name="connsiteY6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94686 w 2381250"/>
              <a:gd name="connsiteY5" fmla="*/ 1853566 h 185356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503246 w 2381250"/>
              <a:gd name="connsiteY4" fmla="*/ 1762126 h 1762126"/>
              <a:gd name="connsiteX5" fmla="*/ 0 w 2381250"/>
              <a:gd name="connsiteY5" fmla="*/ 1258880 h 1762126"/>
              <a:gd name="connsiteX6" fmla="*/ 0 w 2381250"/>
              <a:gd name="connsiteY6" fmla="*/ 503246 h 1762126"/>
              <a:gd name="connsiteX7" fmla="*/ 503246 w 2381250"/>
              <a:gd name="connsiteY7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1258880 h 1762126"/>
              <a:gd name="connsiteX5" fmla="*/ 0 w 2381250"/>
              <a:gd name="connsiteY5" fmla="*/ 503246 h 1762126"/>
              <a:gd name="connsiteX6" fmla="*/ 503246 w 2381250"/>
              <a:gd name="connsiteY6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503246 h 1762126"/>
              <a:gd name="connsiteX5" fmla="*/ 503246 w 2381250"/>
              <a:gd name="connsiteY5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0" fmla="*/ 1878004 w 1878004"/>
              <a:gd name="connsiteY0" fmla="*/ 1762126 h 1762126"/>
              <a:gd name="connsiteX1" fmla="*/ 0 w 1878004"/>
              <a:gd name="connsiteY1" fmla="*/ 503246 h 1762126"/>
              <a:gd name="connsiteX2" fmla="*/ 503246 w 1878004"/>
              <a:gd name="connsiteY2" fmla="*/ 0 h 1762126"/>
              <a:gd name="connsiteX0" fmla="*/ 0 w 1878004"/>
              <a:gd name="connsiteY0" fmla="*/ 503246 h 1762126"/>
              <a:gd name="connsiteX1" fmla="*/ 503246 w 1878004"/>
              <a:gd name="connsiteY1" fmla="*/ 0 h 1762126"/>
              <a:gd name="connsiteX0" fmla="*/ 0 w 503246"/>
              <a:gd name="connsiteY0" fmla="*/ 503246 h 503246"/>
              <a:gd name="connsiteX1" fmla="*/ 503246 w 503246"/>
              <a:gd name="connsiteY1" fmla="*/ 0 h 503246"/>
              <a:gd name="connsiteX0" fmla="*/ 0 w 503246"/>
              <a:gd name="connsiteY0" fmla="*/ 503246 h 503246"/>
              <a:gd name="connsiteX1" fmla="*/ 503246 w 503246"/>
              <a:gd name="connsiteY1" fmla="*/ 0 h 503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246" h="503246" stroke="0" extrusionOk="0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  <a:path w="503246" h="503246" fill="none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</a:pathLst>
          </a:custGeom>
          <a:noFill/>
          <a:ln w="25400" cap="rnd">
            <a:solidFill>
              <a:srgbClr val="C1007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tângulo 2">
            <a:extLst>
              <a:ext uri="{FF2B5EF4-FFF2-40B4-BE49-F238E27FC236}">
                <a16:creationId xmlns:a16="http://schemas.microsoft.com/office/drawing/2014/main" id="{8B7882ED-2CEB-4A5D-A580-156C0AB3C69C}"/>
              </a:ext>
            </a:extLst>
          </p:cNvPr>
          <p:cNvSpPr/>
          <p:nvPr/>
        </p:nvSpPr>
        <p:spPr>
          <a:xfrm>
            <a:off x="3267310" y="204326"/>
            <a:ext cx="314393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5400" b="1" i="0" u="none" strike="noStrike" cap="none" normalizeH="0" baseline="0" noProof="0">
                <a:ln>
                  <a:noFill/>
                </a:ln>
                <a:solidFill>
                  <a:srgbClr val="C10076"/>
                </a:solidFill>
                <a:uLnTx/>
                <a:uFillTx/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DILATAÇÃO</a:t>
            </a:r>
          </a:p>
        </p:txBody>
      </p:sp>
      <p:sp>
        <p:nvSpPr>
          <p:cNvPr id="25" name="Retângulo 122">
            <a:extLst>
              <a:ext uri="{FF2B5EF4-FFF2-40B4-BE49-F238E27FC236}">
                <a16:creationId xmlns:a16="http://schemas.microsoft.com/office/drawing/2014/main" id="{2C899163-7014-406C-AF74-B63760DB6949}"/>
              </a:ext>
            </a:extLst>
          </p:cNvPr>
          <p:cNvSpPr/>
          <p:nvPr/>
        </p:nvSpPr>
        <p:spPr>
          <a:xfrm>
            <a:off x="3512697" y="1330974"/>
            <a:ext cx="39579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FASE LATENTE</a:t>
            </a:r>
          </a:p>
          <a:p>
            <a:pPr lvl="0">
              <a:defRPr/>
            </a:pPr>
            <a:r>
              <a:rPr lang="pt-PT" sz="1200" dirty="0">
                <a:latin typeface="Trebuchet MS" panose="020B0603020202020204" pitchFamily="34" charset="0"/>
              </a:rPr>
              <a:t>Inclui o tempo e as </a:t>
            </a:r>
            <a:r>
              <a:rPr lang="pt-PT" sz="1200" dirty="0" err="1">
                <a:latin typeface="Trebuchet MS" panose="020B0603020202020204" pitchFamily="34" charset="0"/>
              </a:rPr>
              <a:t>contracções</a:t>
            </a:r>
            <a:r>
              <a:rPr lang="pt-PT" sz="1200" dirty="0">
                <a:latin typeface="Trebuchet MS" panose="020B0603020202020204" pitchFamily="34" charset="0"/>
              </a:rPr>
              <a:t> necessárias para alcançar 4 cm de dilatação, altura em que se considera que o trabalho de parto está em curso.</a:t>
            </a:r>
            <a:endParaRPr kumimoji="0" lang="pt-PT" sz="1200" b="0" i="0" u="none" strike="noStrike" cap="none" normalizeH="0" baseline="0" noProof="0" dirty="0">
              <a:ln>
                <a:noFill/>
              </a:ln>
              <a:solidFill>
                <a:srgbClr val="231F20"/>
              </a:solidFill>
              <a:uLnTx/>
              <a:uFillTx/>
              <a:latin typeface="Trebuchet MS" panose="020B0603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B92278-480C-41FC-8672-8CFE7E61180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21" r="41630"/>
          <a:stretch/>
        </p:blipFill>
        <p:spPr>
          <a:xfrm>
            <a:off x="-10232" y="0"/>
            <a:ext cx="3189188" cy="689021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158DA90-0EED-4D9E-AAAB-D7ECDA7A56AA}"/>
              </a:ext>
            </a:extLst>
          </p:cNvPr>
          <p:cNvSpPr txBox="1"/>
          <p:nvPr/>
        </p:nvSpPr>
        <p:spPr>
          <a:xfrm>
            <a:off x="5197123" y="2775868"/>
            <a:ext cx="1387213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CE687F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Apagamento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CE687F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do colo do útero</a:t>
            </a:r>
          </a:p>
        </p:txBody>
      </p:sp>
      <p:sp>
        <p:nvSpPr>
          <p:cNvPr id="34" name="Rectangle 42">
            <a:extLst>
              <a:ext uri="{FF2B5EF4-FFF2-40B4-BE49-F238E27FC236}">
                <a16:creationId xmlns:a16="http://schemas.microsoft.com/office/drawing/2014/main" id="{66B414D6-AD64-4DA2-B4B7-2F6143413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4913" y="5386190"/>
            <a:ext cx="1926901" cy="100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37931725" indent="-37474525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lvl="0" eaLnBrk="1" hangingPunct="1">
              <a:lnSpc>
                <a:spcPct val="85000"/>
              </a:lnSpc>
              <a:spcBef>
                <a:spcPct val="0"/>
              </a:spcBef>
              <a:buClr>
                <a:srgbClr val="77933C"/>
              </a:buClr>
              <a:buNone/>
              <a:defRPr/>
            </a:pPr>
            <a:r>
              <a:rPr kumimoji="0" lang="pt-PT" sz="1400" b="1" i="0" u="none" strike="noStrike" cap="none" normalizeH="0" baseline="0" noProof="0" dirty="0">
                <a:ln>
                  <a:noFill/>
                </a:ln>
                <a:solidFill>
                  <a:srgbClr val="595959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Apagamento: </a:t>
            </a:r>
            <a:r>
              <a:rPr kumimoji="0" lang="pt-PT" sz="1400" i="0" u="none" strike="noStrike" cap="none" normalizeH="0" baseline="0" noProof="0" dirty="0">
                <a:ln>
                  <a:noFill/>
                </a:ln>
                <a:solidFill>
                  <a:srgbClr val="595959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torna o colo do útero </a:t>
            </a:r>
            <a:r>
              <a:rPr lang="pt-PT" sz="1400" dirty="0">
                <a:solidFill>
                  <a:srgbClr val="595959"/>
                </a:solidFill>
                <a:latin typeface="Trebuchet MS" panose="020B0603020202020204" pitchFamily="34" charset="0"/>
                <a:ea typeface="ＭＳ Ｐゴシック" pitchFamily="34" charset="-128"/>
              </a:rPr>
              <a:t>mais fino. Diminuição em altura do canal </a:t>
            </a:r>
            <a:r>
              <a:rPr lang="pt-PT" sz="1400" dirty="0" err="1">
                <a:solidFill>
                  <a:srgbClr val="595959"/>
                </a:solidFill>
                <a:latin typeface="Trebuchet MS" panose="020B0603020202020204" pitchFamily="34" charset="0"/>
                <a:ea typeface="ＭＳ Ｐゴシック" pitchFamily="34" charset="-128"/>
              </a:rPr>
              <a:t>endocervical</a:t>
            </a:r>
            <a:r>
              <a:rPr lang="pt-PT" sz="1400" dirty="0">
                <a:solidFill>
                  <a:srgbClr val="595959"/>
                </a:solidFill>
                <a:latin typeface="Trebuchet MS" panose="020B0603020202020204" pitchFamily="34" charset="0"/>
                <a:ea typeface="ＭＳ Ｐゴシック" pitchFamily="34" charset="-128"/>
              </a:rPr>
              <a:t>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CCD565-D2B0-408E-8350-BDAF01562101}"/>
              </a:ext>
            </a:extLst>
          </p:cNvPr>
          <p:cNvSpPr txBox="1"/>
          <p:nvPr/>
        </p:nvSpPr>
        <p:spPr>
          <a:xfrm>
            <a:off x="5346111" y="5386190"/>
            <a:ext cx="1998847" cy="1007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>
                <a:srgbClr val="77933C"/>
              </a:buClr>
              <a:buSzTx/>
              <a:buFontTx/>
              <a:buNone/>
              <a:tabLst/>
              <a:defRPr/>
            </a:pPr>
            <a:r>
              <a:rPr kumimoji="0" lang="pt-PT" sz="1400" b="1" i="0" u="none" strike="noStrike" cap="none" normalizeH="0" baseline="0" noProof="0" dirty="0">
                <a:ln>
                  <a:noFill/>
                </a:ln>
                <a:solidFill>
                  <a:srgbClr val="595959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Maturação do colo do útero: </a:t>
            </a:r>
            <a:r>
              <a:rPr kumimoji="0" lang="pt-PT" sz="1400" b="0" i="0" u="none" strike="noStrike" cap="none" normalizeH="0" baseline="0" noProof="0" dirty="0">
                <a:ln>
                  <a:noFill/>
                </a:ln>
                <a:solidFill>
                  <a:srgbClr val="595959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alteração na consistência </a:t>
            </a:r>
            <a:br>
              <a:rPr kumimoji="0" lang="pt-PT" sz="1400" b="0" i="0" u="none" strike="noStrike" cap="none" normalizeH="0" baseline="0" noProof="0" dirty="0">
                <a:ln>
                  <a:noFill/>
                </a:ln>
                <a:solidFill>
                  <a:srgbClr val="595959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</a:br>
            <a:r>
              <a:rPr kumimoji="0" lang="pt-PT" sz="1400" b="0" i="0" u="none" strike="noStrike" cap="none" normalizeH="0" baseline="0" noProof="0" dirty="0">
                <a:ln>
                  <a:noFill/>
                </a:ln>
                <a:solidFill>
                  <a:srgbClr val="595959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do colo do útero, que se torna mais mole.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3889C8-3C21-470B-BE21-CC81C6FB9DF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47" t="29389" r="7010" b="32275"/>
          <a:stretch/>
        </p:blipFill>
        <p:spPr>
          <a:xfrm>
            <a:off x="3156051" y="3076460"/>
            <a:ext cx="2493007" cy="1647768"/>
          </a:xfrm>
          <a:prstGeom prst="rect">
            <a:avLst/>
          </a:prstGeom>
        </p:spPr>
      </p:pic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FCB6D78-399D-4EFC-B986-24E0E25506D7}"/>
              </a:ext>
            </a:extLst>
          </p:cNvPr>
          <p:cNvCxnSpPr>
            <a:cxnSpLocks/>
          </p:cNvCxnSpPr>
          <p:nvPr/>
        </p:nvCxnSpPr>
        <p:spPr>
          <a:xfrm flipH="1" flipV="1">
            <a:off x="5258074" y="5375329"/>
            <a:ext cx="7487" cy="11207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03A09DD-1CC7-4CFE-A463-F35C8D8DDBB5}"/>
              </a:ext>
            </a:extLst>
          </p:cNvPr>
          <p:cNvGrpSpPr/>
          <p:nvPr/>
        </p:nvGrpSpPr>
        <p:grpSpPr>
          <a:xfrm flipH="1">
            <a:off x="5029743" y="3452402"/>
            <a:ext cx="361546" cy="856827"/>
            <a:chOff x="6355341" y="2529933"/>
            <a:chExt cx="905321" cy="514436"/>
          </a:xfrm>
        </p:grpSpPr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2AEB427C-E857-4FFC-9CD8-3551DED59083}"/>
                </a:ext>
              </a:extLst>
            </p:cNvPr>
            <p:cNvCxnSpPr>
              <a:cxnSpLocks/>
            </p:cNvCxnSpPr>
            <p:nvPr/>
          </p:nvCxnSpPr>
          <p:spPr>
            <a:xfrm>
              <a:off x="6620999" y="2529933"/>
              <a:ext cx="639663" cy="514436"/>
            </a:xfrm>
            <a:prstGeom prst="straightConnector1">
              <a:avLst/>
            </a:prstGeom>
            <a:ln w="12700" cap="rnd">
              <a:solidFill>
                <a:srgbClr val="CE687F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CB700D16-AA79-4F3F-AADC-2A78847B3AB9}"/>
                </a:ext>
              </a:extLst>
            </p:cNvPr>
            <p:cNvCxnSpPr/>
            <p:nvPr/>
          </p:nvCxnSpPr>
          <p:spPr>
            <a:xfrm flipH="1">
              <a:off x="6355341" y="2529933"/>
              <a:ext cx="265658" cy="0"/>
            </a:xfrm>
            <a:prstGeom prst="line">
              <a:avLst/>
            </a:prstGeom>
            <a:ln w="12700" cap="rnd">
              <a:solidFill>
                <a:srgbClr val="CE687F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etângulo 122">
            <a:extLst>
              <a:ext uri="{FF2B5EF4-FFF2-40B4-BE49-F238E27FC236}">
                <a16:creationId xmlns:a16="http://schemas.microsoft.com/office/drawing/2014/main" id="{C23D2D53-4472-4C8B-AEA7-4C44AFE1AF05}"/>
              </a:ext>
            </a:extLst>
          </p:cNvPr>
          <p:cNvSpPr/>
          <p:nvPr/>
        </p:nvSpPr>
        <p:spPr>
          <a:xfrm>
            <a:off x="7977823" y="1330974"/>
            <a:ext cx="387098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b="1" dirty="0">
                <a:solidFill>
                  <a:srgbClr val="231F20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FASE ACTIVA</a:t>
            </a:r>
          </a:p>
          <a:p>
            <a:pPr>
              <a:spcBef>
                <a:spcPct val="0"/>
              </a:spcBef>
            </a:pPr>
            <a:r>
              <a:rPr lang="pt-PT" sz="1200" dirty="0">
                <a:latin typeface="Trebuchet MS" panose="020B0603020202020204" pitchFamily="34" charset="0"/>
              </a:rPr>
              <a:t>Começa com a dilatação a 4 cm e culmina nos 10 cm de dilatação.</a:t>
            </a:r>
            <a:endParaRPr lang="pt-PT" sz="14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6C26081-3675-4ADC-9C4A-B7D3DC75EDA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57" t="24357" r="21676" b="32778"/>
          <a:stretch/>
        </p:blipFill>
        <p:spPr>
          <a:xfrm>
            <a:off x="8514983" y="3278994"/>
            <a:ext cx="2128574" cy="1525202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609CC37C-BCF5-4C8B-8D57-4844194D9887}"/>
              </a:ext>
            </a:extLst>
          </p:cNvPr>
          <p:cNvSpPr txBox="1"/>
          <p:nvPr/>
        </p:nvSpPr>
        <p:spPr>
          <a:xfrm>
            <a:off x="10715708" y="3136612"/>
            <a:ext cx="14668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CE687F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Aparecimento da cabeça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81EB001-EBCC-49CB-B983-D6F190A3EF70}"/>
              </a:ext>
            </a:extLst>
          </p:cNvPr>
          <p:cNvGrpSpPr/>
          <p:nvPr/>
        </p:nvGrpSpPr>
        <p:grpSpPr>
          <a:xfrm flipH="1">
            <a:off x="10379858" y="3608059"/>
            <a:ext cx="345087" cy="939638"/>
            <a:chOff x="6355341" y="2529933"/>
            <a:chExt cx="905321" cy="514436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30F1FDE7-7E39-4E2B-8224-B7E26E161A6B}"/>
                </a:ext>
              </a:extLst>
            </p:cNvPr>
            <p:cNvCxnSpPr>
              <a:cxnSpLocks/>
            </p:cNvCxnSpPr>
            <p:nvPr/>
          </p:nvCxnSpPr>
          <p:spPr>
            <a:xfrm>
              <a:off x="6620999" y="2529933"/>
              <a:ext cx="639663" cy="514436"/>
            </a:xfrm>
            <a:prstGeom prst="straightConnector1">
              <a:avLst/>
            </a:prstGeom>
            <a:ln w="12700" cap="rnd">
              <a:solidFill>
                <a:srgbClr val="CE687F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8E1C5CC-643F-48AC-B788-A44DFBDF1C16}"/>
                </a:ext>
              </a:extLst>
            </p:cNvPr>
            <p:cNvCxnSpPr/>
            <p:nvPr/>
          </p:nvCxnSpPr>
          <p:spPr>
            <a:xfrm flipH="1">
              <a:off x="6355341" y="2529933"/>
              <a:ext cx="265658" cy="0"/>
            </a:xfrm>
            <a:prstGeom prst="line">
              <a:avLst/>
            </a:prstGeom>
            <a:ln w="12700" cap="rnd">
              <a:solidFill>
                <a:srgbClr val="CE687F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30ACC21-AB94-4ADF-8CFE-AAA3108CEA18}"/>
              </a:ext>
            </a:extLst>
          </p:cNvPr>
          <p:cNvCxnSpPr>
            <a:cxnSpLocks/>
          </p:cNvCxnSpPr>
          <p:nvPr/>
        </p:nvCxnSpPr>
        <p:spPr>
          <a:xfrm flipV="1">
            <a:off x="7586630" y="1335091"/>
            <a:ext cx="0" cy="523998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42">
            <a:extLst>
              <a:ext uri="{FF2B5EF4-FFF2-40B4-BE49-F238E27FC236}">
                <a16:creationId xmlns:a16="http://schemas.microsoft.com/office/drawing/2014/main" id="{B38941EB-755F-40DD-9092-00638DEC2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9092" y="5386190"/>
            <a:ext cx="186301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37931725" indent="-37474525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77933C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pt-PT" sz="1500" b="0" i="0" u="none" strike="noStrike" cap="none" normalizeH="0" baseline="0" noProof="0" dirty="0">
                <a:ln>
                  <a:noFill/>
                </a:ln>
                <a:solidFill>
                  <a:srgbClr val="595959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Caracteriza-se pela sua progressiva dilatação do colo</a:t>
            </a:r>
            <a:r>
              <a:rPr kumimoji="0" lang="pt-PT" sz="1500" b="0" i="0" u="none" strike="noStrike" cap="none" normalizeH="0" noProof="0" dirty="0">
                <a:ln>
                  <a:noFill/>
                </a:ln>
                <a:solidFill>
                  <a:srgbClr val="595959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 do útero.</a:t>
            </a:r>
            <a:endParaRPr kumimoji="0" lang="pt-PT" sz="1500" b="0" i="0" u="none" strike="noStrike" cap="none" normalizeH="0" baseline="0" noProof="0" dirty="0">
              <a:ln>
                <a:noFill/>
              </a:ln>
              <a:solidFill>
                <a:srgbClr val="595959"/>
              </a:solidFill>
              <a:uLnTx/>
              <a:uFillTx/>
              <a:latin typeface="Trebuchet MS" panose="020B0603020202020204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74E684E-C459-4E2F-A8C7-17DE43010D93}"/>
              </a:ext>
            </a:extLst>
          </p:cNvPr>
          <p:cNvSpPr txBox="1"/>
          <p:nvPr/>
        </p:nvSpPr>
        <p:spPr>
          <a:xfrm>
            <a:off x="9794345" y="5381047"/>
            <a:ext cx="2388174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77933C"/>
              </a:buClr>
              <a:buSzTx/>
              <a:buFontTx/>
              <a:buNone/>
              <a:tabLst/>
              <a:defRPr/>
            </a:pPr>
            <a:r>
              <a:rPr kumimoji="0" lang="pt-PT" sz="1500" b="0" i="0" u="none" strike="noStrike" cap="none" normalizeH="0" baseline="0" noProof="0" dirty="0">
                <a:ln>
                  <a:noFill/>
                </a:ln>
                <a:solidFill>
                  <a:srgbClr val="595959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A dilatação é medida de 0 a 10 cm e </a:t>
            </a:r>
            <a:r>
              <a:rPr kumimoji="0" lang="pt-PT" sz="1500" b="1" i="0" u="none" strike="noStrike" cap="none" normalizeH="0" baseline="0" noProof="0" dirty="0">
                <a:ln>
                  <a:noFill/>
                </a:ln>
                <a:solidFill>
                  <a:srgbClr val="595959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considera-se que o trabalho de parto começa quando esta está em 3-4 cm.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C724A17-ACF5-4076-A3A8-3043CDF6F66E}"/>
              </a:ext>
            </a:extLst>
          </p:cNvPr>
          <p:cNvCxnSpPr>
            <a:cxnSpLocks/>
          </p:cNvCxnSpPr>
          <p:nvPr/>
        </p:nvCxnSpPr>
        <p:spPr>
          <a:xfrm flipH="1" flipV="1">
            <a:off x="9662283" y="5386190"/>
            <a:ext cx="7487" cy="11207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Picture 68">
            <a:extLst>
              <a:ext uri="{FF2B5EF4-FFF2-40B4-BE49-F238E27FC236}">
                <a16:creationId xmlns:a16="http://schemas.microsoft.com/office/drawing/2014/main" id="{7E1DAFAB-5917-4DE5-A99C-A795F3DF62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532" y="2211549"/>
            <a:ext cx="1715629" cy="1715629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00FF726-D7BE-4591-82AE-EE29FB944F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532" y="3581842"/>
            <a:ext cx="1715629" cy="1715629"/>
          </a:xfrm>
          <a:prstGeom prst="rect">
            <a:avLst/>
          </a:prstGeom>
        </p:spPr>
      </p:pic>
      <p:sp>
        <p:nvSpPr>
          <p:cNvPr id="71" name="Oval 70">
            <a:extLst>
              <a:ext uri="{FF2B5EF4-FFF2-40B4-BE49-F238E27FC236}">
                <a16:creationId xmlns:a16="http://schemas.microsoft.com/office/drawing/2014/main" id="{D720B886-64FA-4091-9E23-707E51ED22CB}"/>
              </a:ext>
            </a:extLst>
          </p:cNvPr>
          <p:cNvSpPr/>
          <p:nvPr/>
        </p:nvSpPr>
        <p:spPr>
          <a:xfrm rot="10800000">
            <a:off x="6761635" y="3589142"/>
            <a:ext cx="1719424" cy="1719422"/>
          </a:xfrm>
          <a:prstGeom prst="ellipse">
            <a:avLst/>
          </a:prstGeom>
          <a:noFill/>
          <a:ln w="25400">
            <a:solidFill>
              <a:srgbClr val="C100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382BFBA5-7472-449A-944D-6230DD47FF05}"/>
              </a:ext>
            </a:extLst>
          </p:cNvPr>
          <p:cNvSpPr/>
          <p:nvPr/>
        </p:nvSpPr>
        <p:spPr>
          <a:xfrm rot="10800000">
            <a:off x="6761635" y="2211274"/>
            <a:ext cx="1719424" cy="1719422"/>
          </a:xfrm>
          <a:prstGeom prst="ellipse">
            <a:avLst/>
          </a:prstGeom>
          <a:noFill/>
          <a:ln w="25400">
            <a:solidFill>
              <a:srgbClr val="CF84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DBD494A-6C3B-4485-81FC-47A6BFFF3367}"/>
              </a:ext>
            </a:extLst>
          </p:cNvPr>
          <p:cNvSpPr txBox="1"/>
          <p:nvPr/>
        </p:nvSpPr>
        <p:spPr>
          <a:xfrm rot="16200000">
            <a:off x="7468099" y="3576211"/>
            <a:ext cx="306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cap="none" normalizeH="0" baseline="0" noProof="0">
                <a:ln>
                  <a:noFill/>
                </a:ln>
                <a:solidFill>
                  <a:srgbClr val="838F95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&lt;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6BE7C677-9E0C-456D-ADA7-9B2A368AC561}"/>
              </a:ext>
            </a:extLst>
          </p:cNvPr>
          <p:cNvSpPr txBox="1"/>
          <p:nvPr/>
        </p:nvSpPr>
        <p:spPr>
          <a:xfrm>
            <a:off x="620644" y="785763"/>
            <a:ext cx="6161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3600" b="1" i="0" u="none" strike="noStrike" cap="none" normalizeH="0" baseline="0" noProof="0" dirty="0">
                <a:ln>
                  <a:noFill/>
                </a:ln>
                <a:solidFill>
                  <a:srgbClr val="C10076"/>
                </a:solidFill>
                <a:uLnTx/>
                <a:uFillTx/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PORQUÊ INDUÇÃO?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52CEDE-39C9-4851-9BC3-C8C1B857F12C}"/>
              </a:ext>
            </a:extLst>
          </p:cNvPr>
          <p:cNvSpPr txBox="1"/>
          <p:nvPr/>
        </p:nvSpPr>
        <p:spPr>
          <a:xfrm>
            <a:off x="620644" y="440065"/>
            <a:ext cx="3426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4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TRABALHO DE PARTO:</a:t>
            </a:r>
          </a:p>
        </p:txBody>
      </p:sp>
      <p:sp>
        <p:nvSpPr>
          <p:cNvPr id="60" name="Double Bracket 14">
            <a:extLst>
              <a:ext uri="{FF2B5EF4-FFF2-40B4-BE49-F238E27FC236}">
                <a16:creationId xmlns:a16="http://schemas.microsoft.com/office/drawing/2014/main" id="{9B40E54E-49AC-4545-BEA9-6F6559886C09}"/>
              </a:ext>
            </a:extLst>
          </p:cNvPr>
          <p:cNvSpPr/>
          <p:nvPr/>
        </p:nvSpPr>
        <p:spPr>
          <a:xfrm flipH="1">
            <a:off x="5152878" y="528965"/>
            <a:ext cx="457496" cy="457496"/>
          </a:xfrm>
          <a:custGeom>
            <a:avLst/>
            <a:gdLst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1258880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4" fmla="*/ 1878004 w 2381250"/>
              <a:gd name="connsiteY4" fmla="*/ 0 h 1762126"/>
              <a:gd name="connsiteX5" fmla="*/ 2381250 w 2381250"/>
              <a:gd name="connsiteY5" fmla="*/ 503246 h 1762126"/>
              <a:gd name="connsiteX6" fmla="*/ 2381250 w 2381250"/>
              <a:gd name="connsiteY6" fmla="*/ 1258880 h 1762126"/>
              <a:gd name="connsiteX7" fmla="*/ 1878004 w 2381250"/>
              <a:gd name="connsiteY7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7" fmla="*/ 503246 w 2381250"/>
              <a:gd name="connsiteY7" fmla="*/ 1762126 h 176212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878004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03246 w 2381250"/>
              <a:gd name="connsiteY6" fmla="*/ 1762126 h 1853566"/>
              <a:gd name="connsiteX7" fmla="*/ 0 w 2381250"/>
              <a:gd name="connsiteY7" fmla="*/ 1258880 h 1853566"/>
              <a:gd name="connsiteX8" fmla="*/ 0 w 2381250"/>
              <a:gd name="connsiteY8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209675 w 2381250"/>
              <a:gd name="connsiteY2" fmla="*/ 1 h 1853566"/>
              <a:gd name="connsiteX3" fmla="*/ 1878004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03246 w 2381250"/>
              <a:gd name="connsiteY7" fmla="*/ 1762126 h 1853566"/>
              <a:gd name="connsiteX8" fmla="*/ 0 w 2381250"/>
              <a:gd name="connsiteY8" fmla="*/ 1258880 h 1853566"/>
              <a:gd name="connsiteX9" fmla="*/ 0 w 2381250"/>
              <a:gd name="connsiteY9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9" fmla="*/ 1301115 w 2381250"/>
              <a:gd name="connsiteY9" fmla="*/ 91441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94686 w 2381250"/>
              <a:gd name="connsiteY7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0 w 2381250"/>
              <a:gd name="connsiteY1" fmla="*/ 503246 h 1853566"/>
              <a:gd name="connsiteX2" fmla="*/ 503246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94686 w 2381250"/>
              <a:gd name="connsiteY6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94686 w 2381250"/>
              <a:gd name="connsiteY5" fmla="*/ 1853566 h 185356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503246 w 2381250"/>
              <a:gd name="connsiteY4" fmla="*/ 1762126 h 1762126"/>
              <a:gd name="connsiteX5" fmla="*/ 0 w 2381250"/>
              <a:gd name="connsiteY5" fmla="*/ 1258880 h 1762126"/>
              <a:gd name="connsiteX6" fmla="*/ 0 w 2381250"/>
              <a:gd name="connsiteY6" fmla="*/ 503246 h 1762126"/>
              <a:gd name="connsiteX7" fmla="*/ 503246 w 2381250"/>
              <a:gd name="connsiteY7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1258880 h 1762126"/>
              <a:gd name="connsiteX5" fmla="*/ 0 w 2381250"/>
              <a:gd name="connsiteY5" fmla="*/ 503246 h 1762126"/>
              <a:gd name="connsiteX6" fmla="*/ 503246 w 2381250"/>
              <a:gd name="connsiteY6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503246 h 1762126"/>
              <a:gd name="connsiteX5" fmla="*/ 503246 w 2381250"/>
              <a:gd name="connsiteY5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0" fmla="*/ 1878004 w 1878004"/>
              <a:gd name="connsiteY0" fmla="*/ 1762126 h 1762126"/>
              <a:gd name="connsiteX1" fmla="*/ 0 w 1878004"/>
              <a:gd name="connsiteY1" fmla="*/ 503246 h 1762126"/>
              <a:gd name="connsiteX2" fmla="*/ 503246 w 1878004"/>
              <a:gd name="connsiteY2" fmla="*/ 0 h 1762126"/>
              <a:gd name="connsiteX0" fmla="*/ 0 w 1878004"/>
              <a:gd name="connsiteY0" fmla="*/ 503246 h 1762126"/>
              <a:gd name="connsiteX1" fmla="*/ 503246 w 1878004"/>
              <a:gd name="connsiteY1" fmla="*/ 0 h 1762126"/>
              <a:gd name="connsiteX0" fmla="*/ 0 w 503246"/>
              <a:gd name="connsiteY0" fmla="*/ 503246 h 503246"/>
              <a:gd name="connsiteX1" fmla="*/ 503246 w 503246"/>
              <a:gd name="connsiteY1" fmla="*/ 0 h 503246"/>
              <a:gd name="connsiteX0" fmla="*/ 0 w 503246"/>
              <a:gd name="connsiteY0" fmla="*/ 503246 h 503246"/>
              <a:gd name="connsiteX1" fmla="*/ 503246 w 503246"/>
              <a:gd name="connsiteY1" fmla="*/ 0 h 503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246" h="503246" stroke="0" extrusionOk="0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  <a:path w="503246" h="503246" fill="none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</a:pathLst>
          </a:custGeom>
          <a:noFill/>
          <a:ln w="25400" cap="rnd">
            <a:solidFill>
              <a:srgbClr val="C1007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8266D1D-9500-413D-9AF5-8E0F8B639C34}"/>
              </a:ext>
            </a:extLst>
          </p:cNvPr>
          <p:cNvSpPr/>
          <p:nvPr/>
        </p:nvSpPr>
        <p:spPr>
          <a:xfrm>
            <a:off x="0" y="4368049"/>
            <a:ext cx="12192000" cy="2507049"/>
          </a:xfrm>
          <a:prstGeom prst="rect">
            <a:avLst/>
          </a:prstGeom>
          <a:solidFill>
            <a:srgbClr val="CF84AE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1683" tIns="65842" rIns="131683" bIns="6584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Rectangle 21">
            <a:extLst>
              <a:ext uri="{FF2B5EF4-FFF2-40B4-BE49-F238E27FC236}">
                <a16:creationId xmlns:a16="http://schemas.microsoft.com/office/drawing/2014/main" id="{3FED3CBD-590D-4737-8A6A-51D967D3E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5572" y="1595526"/>
            <a:ext cx="6428796" cy="720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400" b="1" i="0" u="none" strike="noStrike" cap="none" normalizeH="0" baseline="0" noProof="0" dirty="0">
                <a:ln>
                  <a:noFill/>
                </a:ln>
                <a:uLnTx/>
                <a:uFillTx/>
                <a:latin typeface="Trebuchet MS" panose="020B0603020202020204" pitchFamily="34" charset="0"/>
              </a:rPr>
              <a:t>O principal </a:t>
            </a:r>
            <a:r>
              <a:rPr kumimoji="0" lang="pt-PT" sz="2400" b="1" i="0" u="none" strike="noStrike" cap="none" normalizeH="0" baseline="0" noProof="0" dirty="0" err="1">
                <a:ln>
                  <a:noFill/>
                </a:ln>
                <a:uLnTx/>
                <a:uFillTx/>
                <a:latin typeface="Trebuchet MS" panose="020B0603020202020204" pitchFamily="34" charset="0"/>
              </a:rPr>
              <a:t>objectivo</a:t>
            </a:r>
            <a:r>
              <a:rPr kumimoji="0" lang="pt-PT" sz="2400" b="1" i="0" u="none" strike="noStrike" cap="none" normalizeH="0" baseline="0" noProof="0" dirty="0">
                <a:ln>
                  <a:noFill/>
                </a:ln>
                <a:uLnTx/>
                <a:uFillTx/>
                <a:latin typeface="Trebuchet MS" panose="020B0603020202020204" pitchFamily="34" charset="0"/>
              </a:rPr>
              <a:t> da indução do parto é </a:t>
            </a:r>
            <a:r>
              <a:rPr lang="pt-PT" sz="2400" b="1" dirty="0">
                <a:solidFill>
                  <a:srgbClr val="C10076"/>
                </a:solidFill>
                <a:latin typeface="Trebuchet MS" panose="020B0603020202020204" pitchFamily="34" charset="0"/>
                <a:ea typeface="+mn-ea"/>
              </a:rPr>
              <a:t>PREVENIR UMA CESARIANA.</a:t>
            </a:r>
            <a:endParaRPr lang="pt-PT" b="1" dirty="0">
              <a:solidFill>
                <a:srgbClr val="C10076"/>
              </a:solidFill>
              <a:latin typeface="Trebuchet MS" panose="020B0603020202020204" pitchFamily="34" charset="0"/>
              <a:ea typeface="+mn-ea"/>
            </a:endParaRPr>
          </a:p>
        </p:txBody>
      </p:sp>
      <p:sp>
        <p:nvSpPr>
          <p:cNvPr id="50" name="Rectangle 42">
            <a:extLst>
              <a:ext uri="{FF2B5EF4-FFF2-40B4-BE49-F238E27FC236}">
                <a16:creationId xmlns:a16="http://schemas.microsoft.com/office/drawing/2014/main" id="{254DBBA4-9F17-4804-975B-D129234E2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8276" y="2410346"/>
            <a:ext cx="1926900" cy="45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37931725" indent="-37474525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lvl="0" eaLnBrk="1" hangingPunct="1">
              <a:lnSpc>
                <a:spcPct val="85000"/>
              </a:lnSpc>
              <a:spcBef>
                <a:spcPct val="0"/>
              </a:spcBef>
              <a:buClr>
                <a:srgbClr val="77933C"/>
              </a:buClr>
              <a:buNone/>
              <a:defRPr/>
            </a:pPr>
            <a:r>
              <a:rPr lang="pt-PT" sz="1400" b="1" dirty="0">
                <a:solidFill>
                  <a:srgbClr val="595959"/>
                </a:solidFill>
                <a:latin typeface="Trebuchet MS" panose="020B0603020202020204" pitchFamily="34" charset="0"/>
                <a:ea typeface="ＭＳ Ｐゴシック" pitchFamily="34" charset="-128"/>
              </a:rPr>
              <a:t>Eventos adversos perinatais</a:t>
            </a:r>
          </a:p>
        </p:txBody>
      </p:sp>
      <p:sp>
        <p:nvSpPr>
          <p:cNvPr id="51" name="Rectangle 42">
            <a:extLst>
              <a:ext uri="{FF2B5EF4-FFF2-40B4-BE49-F238E27FC236}">
                <a16:creationId xmlns:a16="http://schemas.microsoft.com/office/drawing/2014/main" id="{7A8A506A-BFA0-4EEA-AAAD-E424C2777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869" y="2389311"/>
            <a:ext cx="1520946" cy="45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37931725" indent="-37474525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lvl="0" eaLnBrk="1" hangingPunct="1">
              <a:lnSpc>
                <a:spcPct val="85000"/>
              </a:lnSpc>
              <a:spcBef>
                <a:spcPct val="0"/>
              </a:spcBef>
              <a:buClr>
                <a:srgbClr val="77933C"/>
              </a:buClr>
              <a:buNone/>
              <a:defRPr/>
            </a:pPr>
            <a:r>
              <a:rPr lang="pt-PT" sz="1400" b="1" dirty="0">
                <a:solidFill>
                  <a:srgbClr val="595959"/>
                </a:solidFill>
                <a:latin typeface="Trebuchet MS" panose="020B0603020202020204" pitchFamily="34" charset="0"/>
                <a:ea typeface="ＭＳ Ｐゴシック" pitchFamily="34" charset="-128"/>
              </a:rPr>
              <a:t>Complicações pós-operatório</a:t>
            </a:r>
          </a:p>
        </p:txBody>
      </p:sp>
      <p:sp>
        <p:nvSpPr>
          <p:cNvPr id="52" name="Rectangle 42">
            <a:extLst>
              <a:ext uri="{FF2B5EF4-FFF2-40B4-BE49-F238E27FC236}">
                <a16:creationId xmlns:a16="http://schemas.microsoft.com/office/drawing/2014/main" id="{1537A7E9-4A34-458F-93AE-D0C54E54A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5620" y="3099239"/>
            <a:ext cx="1623445" cy="45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37931725" indent="-37474525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lvl="0" eaLnBrk="1" hangingPunct="1">
              <a:lnSpc>
                <a:spcPct val="85000"/>
              </a:lnSpc>
              <a:spcBef>
                <a:spcPct val="0"/>
              </a:spcBef>
              <a:buClr>
                <a:srgbClr val="77933C"/>
              </a:buClr>
              <a:buNone/>
              <a:defRPr/>
            </a:pPr>
            <a:r>
              <a:rPr lang="pt-PT" sz="1400" b="1" dirty="0">
                <a:solidFill>
                  <a:srgbClr val="595959"/>
                </a:solidFill>
                <a:latin typeface="Trebuchet MS" panose="020B0603020202020204" pitchFamily="34" charset="0"/>
                <a:ea typeface="ＭＳ Ｐゴシック" pitchFamily="34" charset="-128"/>
              </a:rPr>
              <a:t>Riscos maternos e fetais evitáveis</a:t>
            </a:r>
          </a:p>
        </p:txBody>
      </p:sp>
      <p:sp>
        <p:nvSpPr>
          <p:cNvPr id="53" name="Rectangle 42">
            <a:extLst>
              <a:ext uri="{FF2B5EF4-FFF2-40B4-BE49-F238E27FC236}">
                <a16:creationId xmlns:a16="http://schemas.microsoft.com/office/drawing/2014/main" id="{225CF65A-7F33-49CF-978B-C39693BB5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8276" y="3099239"/>
            <a:ext cx="1926900" cy="45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37931725" indent="-37474525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lvl="0" eaLnBrk="1" hangingPunct="1">
              <a:lnSpc>
                <a:spcPct val="85000"/>
              </a:lnSpc>
              <a:spcBef>
                <a:spcPct val="0"/>
              </a:spcBef>
              <a:buClr>
                <a:srgbClr val="77933C"/>
              </a:buClr>
              <a:buNone/>
              <a:defRPr/>
            </a:pPr>
            <a:r>
              <a:rPr lang="pt-PT" sz="1400" b="1" dirty="0">
                <a:solidFill>
                  <a:srgbClr val="595959"/>
                </a:solidFill>
                <a:latin typeface="Trebuchet MS" panose="020B0603020202020204" pitchFamily="34" charset="0"/>
                <a:ea typeface="ＭＳ Ｐゴシック" pitchFamily="34" charset="-128"/>
              </a:rPr>
              <a:t>Maior tempo de recuperação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F88B800-89FD-468D-ADFB-21A5AC4D3C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4892" y="1528587"/>
            <a:ext cx="2657475" cy="2305050"/>
          </a:xfrm>
          <a:prstGeom prst="rect">
            <a:avLst/>
          </a:prstGeom>
        </p:spPr>
      </p:pic>
      <p:sp>
        <p:nvSpPr>
          <p:cNvPr id="54" name="Double Bracket 53">
            <a:extLst>
              <a:ext uri="{FF2B5EF4-FFF2-40B4-BE49-F238E27FC236}">
                <a16:creationId xmlns:a16="http://schemas.microsoft.com/office/drawing/2014/main" id="{D8B07280-F28B-4A61-869A-D0569F5B47C5}"/>
              </a:ext>
            </a:extLst>
          </p:cNvPr>
          <p:cNvSpPr/>
          <p:nvPr/>
        </p:nvSpPr>
        <p:spPr>
          <a:xfrm>
            <a:off x="2640876" y="2364373"/>
            <a:ext cx="3758189" cy="1274957"/>
          </a:xfrm>
          <a:prstGeom prst="bracketPair">
            <a:avLst>
              <a:gd name="adj" fmla="val 28559"/>
            </a:avLst>
          </a:prstGeom>
          <a:noFill/>
          <a:ln w="25400" cap="rnd">
            <a:solidFill>
              <a:srgbClr val="CF84AE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BB54659-9A04-4F91-B9E9-1BD7DC3B0D8D}"/>
              </a:ext>
            </a:extLst>
          </p:cNvPr>
          <p:cNvSpPr/>
          <p:nvPr/>
        </p:nvSpPr>
        <p:spPr>
          <a:xfrm>
            <a:off x="412899" y="5582285"/>
            <a:ext cx="396263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A </a:t>
            </a:r>
            <a:r>
              <a:rPr kumimoji="0" lang="pt-PT" sz="16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Taxa de Cesariana </a:t>
            </a:r>
            <a:r>
              <a:rPr kumimoji="0" lang="pt-PT" sz="1600" b="1" i="0" u="none" strike="noStrike" cap="none" normalizeH="0" baseline="0" noProof="0" dirty="0" err="1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óptima</a:t>
            </a:r>
            <a:r>
              <a:rPr kumimoji="0" lang="pt-PT" sz="16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 </a:t>
            </a: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deverá rondar os </a:t>
            </a:r>
            <a:r>
              <a:rPr kumimoji="0" lang="pt-PT" sz="16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10-15%</a:t>
            </a: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, sendo que países com taxas &lt;20% reportam taxas de mortalidade maternas e </a:t>
            </a:r>
            <a:r>
              <a:rPr lang="pt-PT" sz="1600" dirty="0">
                <a:solidFill>
                  <a:srgbClr val="231F20"/>
                </a:solidFill>
                <a:latin typeface="Trebuchet MS" panose="020B0603020202020204" pitchFamily="34" charset="0"/>
              </a:rPr>
              <a:t>perinatais inferiores.</a:t>
            </a:r>
            <a:endParaRPr kumimoji="0" lang="pt-PT" sz="1600" b="1" i="0" u="none" strike="noStrike" cap="none" normalizeH="0" baseline="0" noProof="0" dirty="0">
              <a:ln>
                <a:noFill/>
              </a:ln>
              <a:solidFill>
                <a:srgbClr val="231F20"/>
              </a:solidFill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C7A7628B-CA4B-4639-921C-E9D7E5F5EE2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75374" y="4039550"/>
            <a:ext cx="1733550" cy="1514475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F7461E66-9F23-491E-9E34-43434FEAE246}"/>
              </a:ext>
            </a:extLst>
          </p:cNvPr>
          <p:cNvSpPr/>
          <p:nvPr/>
        </p:nvSpPr>
        <p:spPr>
          <a:xfrm>
            <a:off x="8218130" y="5582285"/>
            <a:ext cx="3660730" cy="92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defRPr/>
            </a:pPr>
            <a:r>
              <a:rPr lang="pt-PT" sz="1600" dirty="0">
                <a:solidFill>
                  <a:srgbClr val="231F20"/>
                </a:solidFill>
                <a:latin typeface="Trebuchet MS" panose="020B0603020202020204" pitchFamily="34" charset="0"/>
              </a:rPr>
              <a:t>Além disso, nos últimos 15 anos esse valor tem duplicado, estimando-se um </a:t>
            </a:r>
            <a:r>
              <a:rPr lang="pt-PT" sz="1600" b="1" dirty="0">
                <a:solidFill>
                  <a:srgbClr val="231F20"/>
                </a:solidFill>
                <a:latin typeface="Trebuchet MS" panose="020B0603020202020204" pitchFamily="34" charset="0"/>
              </a:rPr>
              <a:t>aumento de 4% </a:t>
            </a:r>
            <a:r>
              <a:rPr lang="pt-PT" sz="1600" dirty="0">
                <a:solidFill>
                  <a:srgbClr val="231F20"/>
                </a:solidFill>
                <a:latin typeface="Trebuchet MS" panose="020B0603020202020204" pitchFamily="34" charset="0"/>
              </a:rPr>
              <a:t>na taxa de cesarianas </a:t>
            </a:r>
            <a:r>
              <a:rPr lang="pt-PT" sz="1600" b="1" dirty="0">
                <a:solidFill>
                  <a:srgbClr val="231F20"/>
                </a:solidFill>
                <a:latin typeface="Trebuchet MS" panose="020B0603020202020204" pitchFamily="34" charset="0"/>
              </a:rPr>
              <a:t>a cada ano</a:t>
            </a:r>
            <a:r>
              <a:rPr lang="pt-PT" sz="1600" dirty="0">
                <a:solidFill>
                  <a:srgbClr val="231F20"/>
                </a:solidFill>
                <a:latin typeface="Trebuchet MS" panose="020B0603020202020204" pitchFamily="34" charset="0"/>
              </a:rPr>
              <a:t>. </a:t>
            </a:r>
            <a:endParaRPr kumimoji="0" lang="pt-PT" sz="1600" b="1" i="0" u="none" strike="noStrike" cap="none" normalizeH="0" baseline="0" noProof="0" dirty="0">
              <a:ln>
                <a:noFill/>
              </a:ln>
              <a:solidFill>
                <a:srgbClr val="231F20"/>
              </a:solidFill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7CC8E762-0C73-4705-BF31-7B8E8970E3B2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12816" y="4039550"/>
            <a:ext cx="1552575" cy="1381125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8638F86B-29BC-4D4E-BFA2-CEE16DCBBFE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19131" y="3858575"/>
            <a:ext cx="2524125" cy="1562100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2810F318-C245-47C7-9472-B5CAF676F74B}"/>
              </a:ext>
            </a:extLst>
          </p:cNvPr>
          <p:cNvSpPr/>
          <p:nvPr/>
        </p:nvSpPr>
        <p:spPr>
          <a:xfrm>
            <a:off x="4647790" y="5629933"/>
            <a:ext cx="3298080" cy="92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defRPr/>
            </a:pPr>
            <a:r>
              <a:rPr lang="pt-PT" sz="1600" dirty="0">
                <a:solidFill>
                  <a:srgbClr val="231F20"/>
                </a:solidFill>
                <a:latin typeface="Trebuchet MS" panose="020B0603020202020204" pitchFamily="34" charset="0"/>
              </a:rPr>
              <a:t>Porém, a Taxa de Cesariana global observada é de </a:t>
            </a:r>
            <a:r>
              <a:rPr lang="pt-PT" sz="1600" b="1" dirty="0">
                <a:solidFill>
                  <a:srgbClr val="231F20"/>
                </a:solidFill>
                <a:latin typeface="Trebuchet MS" panose="020B0603020202020204" pitchFamily="34" charset="0"/>
              </a:rPr>
              <a:t>21</a:t>
            </a:r>
            <a:r>
              <a:rPr lang="pt-PT" sz="1600" dirty="0">
                <a:solidFill>
                  <a:srgbClr val="231F20"/>
                </a:solidFill>
                <a:latin typeface="Trebuchet MS" panose="020B0603020202020204" pitchFamily="34" charset="0"/>
              </a:rPr>
              <a:t>%, ou seja, um valor </a:t>
            </a:r>
            <a:r>
              <a:rPr lang="pt-PT" sz="1600" b="1" dirty="0">
                <a:solidFill>
                  <a:srgbClr val="231F20"/>
                </a:solidFill>
                <a:latin typeface="Trebuchet MS" panose="020B0603020202020204" pitchFamily="34" charset="0"/>
              </a:rPr>
              <a:t>acima do desejado</a:t>
            </a:r>
            <a:r>
              <a:rPr lang="pt-PT" sz="1600" dirty="0">
                <a:solidFill>
                  <a:srgbClr val="231F20"/>
                </a:solidFill>
                <a:latin typeface="Trebuchet MS" panose="020B0603020202020204" pitchFamily="34" charset="0"/>
              </a:rPr>
              <a:t>. 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931ED8A-6281-4DAB-99EF-2AF4E2301875}"/>
              </a:ext>
            </a:extLst>
          </p:cNvPr>
          <p:cNvSpPr/>
          <p:nvPr/>
        </p:nvSpPr>
        <p:spPr>
          <a:xfrm rot="5400000" flipH="1">
            <a:off x="1577587" y="1812799"/>
            <a:ext cx="681955" cy="2370280"/>
          </a:xfrm>
          <a:custGeom>
            <a:avLst/>
            <a:gdLst>
              <a:gd name="connsiteX0" fmla="*/ 0 w 4791075"/>
              <a:gd name="connsiteY0" fmla="*/ 0 h 1276350"/>
              <a:gd name="connsiteX1" fmla="*/ 0 w 4791075"/>
              <a:gd name="connsiteY1" fmla="*/ 1276350 h 1276350"/>
              <a:gd name="connsiteX2" fmla="*/ 4791075 w 4791075"/>
              <a:gd name="connsiteY2" fmla="*/ 1276350 h 127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91075" h="1276350">
                <a:moveTo>
                  <a:pt x="0" y="0"/>
                </a:moveTo>
                <a:lnTo>
                  <a:pt x="0" y="1276350"/>
                </a:lnTo>
                <a:lnTo>
                  <a:pt x="4791075" y="1276350"/>
                </a:lnTo>
              </a:path>
            </a:pathLst>
          </a:custGeom>
          <a:noFill/>
          <a:ln w="19050">
            <a:solidFill>
              <a:srgbClr val="CED2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Picture 3"/>
          <p:cNvPicPr>
            <a:picLocks noChangeAspect="1" noChangeArrowheads="1"/>
          </p:cNvPicPr>
          <p:nvPr/>
        </p:nvPicPr>
        <p:blipFill rotWithShape="1">
          <a:blip r:embed="rId4" cstate="print"/>
          <a:srcRect l="-278" t="2047" r="278" b="2535"/>
          <a:stretch/>
        </p:blipFill>
        <p:spPr bwMode="auto">
          <a:xfrm>
            <a:off x="6810375" y="1693308"/>
            <a:ext cx="2283866" cy="1640706"/>
          </a:xfrm>
          <a:prstGeom prst="rect">
            <a:avLst/>
          </a:prstGeom>
          <a:ln w="28575">
            <a:solidFill>
              <a:srgbClr val="CED2D5"/>
            </a:solidFill>
          </a:ln>
        </p:spPr>
      </p:pic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5" cstate="print"/>
          <a:stretch>
            <a:fillRect/>
          </a:stretch>
        </p:blipFill>
        <p:spPr bwMode="auto">
          <a:xfrm>
            <a:off x="3097759" y="1696525"/>
            <a:ext cx="2283866" cy="1637489"/>
          </a:xfrm>
          <a:prstGeom prst="rect">
            <a:avLst/>
          </a:prstGeom>
          <a:ln w="28575">
            <a:solidFill>
              <a:srgbClr val="CED2D5"/>
            </a:solidFill>
          </a:ln>
        </p:spPr>
      </p:pic>
      <p:sp>
        <p:nvSpPr>
          <p:cNvPr id="18445" name="Rectangle 21"/>
          <p:cNvSpPr>
            <a:spLocks noChangeArrowheads="1"/>
          </p:cNvSpPr>
          <p:nvPr/>
        </p:nvSpPr>
        <p:spPr bwMode="auto">
          <a:xfrm>
            <a:off x="853885" y="2043855"/>
            <a:ext cx="2110294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cap="none" normalizeH="0" baseline="0" noProof="0" dirty="0">
                <a:ln>
                  <a:noFill/>
                </a:ln>
                <a:solidFill>
                  <a:srgbClr val="CF84AE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EM CASO DE </a:t>
            </a:r>
            <a:br>
              <a:rPr kumimoji="0" lang="pt-PT" sz="2000" b="1" i="0" u="none" strike="noStrike" cap="none" normalizeH="0" baseline="0" noProof="0" dirty="0">
                <a:ln>
                  <a:noFill/>
                </a:ln>
                <a:solidFill>
                  <a:srgbClr val="CF84AE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</a:br>
            <a:r>
              <a:rPr kumimoji="0" lang="pt-PT" sz="2000" b="1" i="0" u="none" strike="noStrike" cap="none" normalizeH="0" baseline="0" noProof="0" dirty="0">
                <a:ln>
                  <a:noFill/>
                </a:ln>
                <a:solidFill>
                  <a:srgbClr val="CF84AE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COLO DO ÚTERO </a:t>
            </a:r>
            <a:r>
              <a:rPr lang="pt-PT" sz="2000" b="1" dirty="0">
                <a:solidFill>
                  <a:srgbClr val="C10076"/>
                </a:solidFill>
                <a:latin typeface="Trebuchet MS" panose="020B0603020202020204" pitchFamily="34" charset="0"/>
                <a:ea typeface="+mn-ea"/>
              </a:rPr>
              <a:t>FAVORÁVEL</a:t>
            </a:r>
            <a:endParaRPr lang="pt-PT" sz="1600" b="1" dirty="0">
              <a:solidFill>
                <a:srgbClr val="C10076"/>
              </a:solidFill>
              <a:latin typeface="Trebuchet MS" panose="020B0603020202020204" pitchFamily="34" charset="0"/>
              <a:ea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E7C677-9E0C-456D-ADA7-9B2A368AC561}"/>
              </a:ext>
            </a:extLst>
          </p:cNvPr>
          <p:cNvSpPr txBox="1"/>
          <p:nvPr/>
        </p:nvSpPr>
        <p:spPr>
          <a:xfrm>
            <a:off x="620644" y="785763"/>
            <a:ext cx="6161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3600" b="1" i="0" u="none" strike="noStrike" cap="none" normalizeH="0" baseline="0" noProof="0" dirty="0">
                <a:ln>
                  <a:noFill/>
                </a:ln>
                <a:solidFill>
                  <a:srgbClr val="C10076"/>
                </a:solidFill>
                <a:uLnTx/>
                <a:uFillTx/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MÉTODOS DE INDUÇÃO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52CEDE-39C9-4851-9BC3-C8C1B857F12C}"/>
              </a:ext>
            </a:extLst>
          </p:cNvPr>
          <p:cNvSpPr txBox="1"/>
          <p:nvPr/>
        </p:nvSpPr>
        <p:spPr>
          <a:xfrm>
            <a:off x="620644" y="440065"/>
            <a:ext cx="3426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4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TRABALHO DE PARTO: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931D4D5-5E6E-42D0-80AA-30FE7CE14116}"/>
              </a:ext>
            </a:extLst>
          </p:cNvPr>
          <p:cNvCxnSpPr>
            <a:cxnSpLocks/>
          </p:cNvCxnSpPr>
          <p:nvPr/>
        </p:nvCxnSpPr>
        <p:spPr>
          <a:xfrm rot="5400000" flipV="1">
            <a:off x="518425" y="2583581"/>
            <a:ext cx="430000" cy="0"/>
          </a:xfrm>
          <a:prstGeom prst="line">
            <a:avLst/>
          </a:prstGeom>
          <a:noFill/>
          <a:ln w="50800" cap="rnd">
            <a:solidFill>
              <a:srgbClr val="C1007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E5A7E0BB-66D5-49CC-BCF9-953EA59341C1}"/>
              </a:ext>
            </a:extLst>
          </p:cNvPr>
          <p:cNvSpPr/>
          <p:nvPr/>
        </p:nvSpPr>
        <p:spPr>
          <a:xfrm>
            <a:off x="722631" y="3689012"/>
            <a:ext cx="5067228" cy="92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Quando o colo do útero está favorável ou maturado, são usados medicamentos oxitócicos para </a:t>
            </a:r>
            <a:r>
              <a:rPr kumimoji="0" lang="pt-PT" sz="16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induzir o trabalho de parto</a:t>
            </a: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 mediante a estimulação das </a:t>
            </a:r>
            <a:r>
              <a:rPr kumimoji="0" lang="pt-PT" sz="16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contracções uterinas.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AEA9BFB-EC10-4A38-A38B-192B7F135362}"/>
              </a:ext>
            </a:extLst>
          </p:cNvPr>
          <p:cNvSpPr/>
          <p:nvPr/>
        </p:nvSpPr>
        <p:spPr>
          <a:xfrm rot="16200000">
            <a:off x="9928431" y="1819693"/>
            <a:ext cx="681955" cy="2370280"/>
          </a:xfrm>
          <a:custGeom>
            <a:avLst/>
            <a:gdLst>
              <a:gd name="connsiteX0" fmla="*/ 0 w 4791075"/>
              <a:gd name="connsiteY0" fmla="*/ 0 h 1276350"/>
              <a:gd name="connsiteX1" fmla="*/ 0 w 4791075"/>
              <a:gd name="connsiteY1" fmla="*/ 1276350 h 1276350"/>
              <a:gd name="connsiteX2" fmla="*/ 4791075 w 4791075"/>
              <a:gd name="connsiteY2" fmla="*/ 1276350 h 127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91075" h="1276350">
                <a:moveTo>
                  <a:pt x="0" y="0"/>
                </a:moveTo>
                <a:lnTo>
                  <a:pt x="0" y="1276350"/>
                </a:lnTo>
                <a:lnTo>
                  <a:pt x="4791075" y="1276350"/>
                </a:lnTo>
              </a:path>
            </a:pathLst>
          </a:custGeom>
          <a:noFill/>
          <a:ln w="19050">
            <a:solidFill>
              <a:srgbClr val="CED2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21">
            <a:extLst>
              <a:ext uri="{FF2B5EF4-FFF2-40B4-BE49-F238E27FC236}">
                <a16:creationId xmlns:a16="http://schemas.microsoft.com/office/drawing/2014/main" id="{CE47D401-D09F-4C60-AAE7-F895670CD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452" y="2000834"/>
            <a:ext cx="2393371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cap="none" normalizeH="0" baseline="0" noProof="0" dirty="0">
                <a:ln>
                  <a:noFill/>
                </a:ln>
                <a:solidFill>
                  <a:srgbClr val="CF84AE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QUANDO O COLO DO ÚTERO </a:t>
            </a:r>
            <a:r>
              <a:rPr lang="pt-PT" sz="2000" b="1" dirty="0">
                <a:solidFill>
                  <a:srgbClr val="C10076"/>
                </a:solidFill>
                <a:latin typeface="Trebuchet MS" panose="020B0603020202020204" pitchFamily="34" charset="0"/>
                <a:ea typeface="+mn-ea"/>
              </a:rPr>
              <a:t>PRECISA DE </a:t>
            </a:r>
            <a:br>
              <a:rPr lang="pt-PT" sz="2000" b="1" dirty="0">
                <a:solidFill>
                  <a:srgbClr val="C10076"/>
                </a:solidFill>
                <a:latin typeface="Trebuchet MS" panose="020B0603020202020204" pitchFamily="34" charset="0"/>
                <a:ea typeface="+mn-ea"/>
              </a:rPr>
            </a:br>
            <a:r>
              <a:rPr lang="pt-PT" sz="2000" b="1" dirty="0">
                <a:solidFill>
                  <a:srgbClr val="C10076"/>
                </a:solidFill>
                <a:latin typeface="Trebuchet MS" panose="020B0603020202020204" pitchFamily="34" charset="0"/>
                <a:ea typeface="+mn-ea"/>
              </a:rPr>
              <a:t>SER MATURADO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DC33673-C980-4810-9D18-6E35F590AAE5}"/>
              </a:ext>
            </a:extLst>
          </p:cNvPr>
          <p:cNvCxnSpPr>
            <a:cxnSpLocks/>
          </p:cNvCxnSpPr>
          <p:nvPr/>
        </p:nvCxnSpPr>
        <p:spPr>
          <a:xfrm rot="5400000" flipV="1">
            <a:off x="11230023" y="2583581"/>
            <a:ext cx="430000" cy="0"/>
          </a:xfrm>
          <a:prstGeom prst="line">
            <a:avLst/>
          </a:prstGeom>
          <a:noFill/>
          <a:ln w="50800" cap="rnd">
            <a:solidFill>
              <a:srgbClr val="C1007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609E8B2-0535-406D-A030-1A3B460CBCE4}"/>
              </a:ext>
            </a:extLst>
          </p:cNvPr>
          <p:cNvSpPr/>
          <p:nvPr/>
        </p:nvSpPr>
        <p:spPr>
          <a:xfrm>
            <a:off x="6700897" y="3689012"/>
            <a:ext cx="4786687" cy="92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Quando o colo do útero não está maturado ou</a:t>
            </a:r>
            <a:r>
              <a:rPr kumimoji="0" lang="pt-PT" sz="1600" b="0" i="0" u="none" strike="noStrike" cap="none" normalizeH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 </a:t>
            </a: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favorável, são utilizados medicamentos que estimulam a maturação cervical inicial para </a:t>
            </a:r>
            <a:r>
              <a:rPr kumimoji="0" lang="pt-PT" sz="16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induzir o trabalho de parto (prostaglandinas)</a:t>
            </a: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.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DC4000F-1E3E-4052-B53A-88B78CBB01B2}"/>
              </a:ext>
            </a:extLst>
          </p:cNvPr>
          <p:cNvGrpSpPr/>
          <p:nvPr/>
        </p:nvGrpSpPr>
        <p:grpSpPr>
          <a:xfrm>
            <a:off x="722631" y="4978399"/>
            <a:ext cx="2271396" cy="1879601"/>
            <a:chOff x="722631" y="4978399"/>
            <a:chExt cx="2271396" cy="1879601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9A8C513-9926-471A-88C3-776C1BEB91A8}"/>
                </a:ext>
              </a:extLst>
            </p:cNvPr>
            <p:cNvSpPr/>
            <p:nvPr/>
          </p:nvSpPr>
          <p:spPr>
            <a:xfrm>
              <a:off x="722631" y="4978399"/>
              <a:ext cx="2271396" cy="1879601"/>
            </a:xfrm>
            <a:prstGeom prst="rect">
              <a:avLst/>
            </a:prstGeom>
            <a:solidFill>
              <a:srgbClr val="CED2D5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B7FD1A9-8B3B-47FD-A9ED-AE4D3CCD7CA5}"/>
                </a:ext>
              </a:extLst>
            </p:cNvPr>
            <p:cNvSpPr/>
            <p:nvPr/>
          </p:nvSpPr>
          <p:spPr>
            <a:xfrm>
              <a:off x="853887" y="5398206"/>
              <a:ext cx="1898838" cy="13480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200" b="0" i="0" u="none" strike="noStrike" cap="none" normalizeH="0" baseline="0" noProof="0" dirty="0">
                  <a:ln>
                    <a:noFill/>
                  </a:ln>
                  <a:solidFill>
                    <a:srgbClr val="838F95"/>
                  </a:solidFill>
                  <a:uLnTx/>
                  <a:uFillTx/>
                  <a:latin typeface="Trebuchet MS" panose="020B0603020202020204" pitchFamily="34" charset="0"/>
                  <a:ea typeface="+mn-ea"/>
                  <a:cs typeface="+mn-cs"/>
                </a:rPr>
                <a:t>A oxitocina, uma hormona que tem um efeito estimulante sobre os músculos lisos do útero, especialmente no fim da gestação, durante o trabalho de parto e no período pós-parto.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CB86F22-1B38-4F21-BDE6-DC9E9BAE84A5}"/>
                </a:ext>
              </a:extLst>
            </p:cNvPr>
            <p:cNvSpPr/>
            <p:nvPr/>
          </p:nvSpPr>
          <p:spPr>
            <a:xfrm>
              <a:off x="853885" y="5111444"/>
              <a:ext cx="109837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600" b="1" i="0" u="none" strike="noStrike" cap="none" normalizeH="0" baseline="0" noProof="0" dirty="0">
                  <a:ln>
                    <a:noFill/>
                  </a:ln>
                  <a:solidFill>
                    <a:srgbClr val="C10076"/>
                  </a:solidFill>
                  <a:uLnTx/>
                  <a:uFillTx/>
                  <a:latin typeface="Trebuchet MS" panose="020B0603020202020204" pitchFamily="34" charset="0"/>
                  <a:ea typeface="+mn-ea"/>
                  <a:cs typeface="+mn-cs"/>
                </a:rPr>
                <a:t>Oxitocina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C5B4F70-92C6-4E2C-B226-F174D79259A2}"/>
              </a:ext>
            </a:extLst>
          </p:cNvPr>
          <p:cNvGrpSpPr/>
          <p:nvPr/>
        </p:nvGrpSpPr>
        <p:grpSpPr>
          <a:xfrm>
            <a:off x="3151505" y="4531943"/>
            <a:ext cx="2253933" cy="2326058"/>
            <a:chOff x="3151505" y="4531943"/>
            <a:chExt cx="2253933" cy="2326058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2ED71D5-F852-4D3C-ABAD-1382DE16E0A1}"/>
                </a:ext>
              </a:extLst>
            </p:cNvPr>
            <p:cNvSpPr/>
            <p:nvPr/>
          </p:nvSpPr>
          <p:spPr>
            <a:xfrm>
              <a:off x="3151505" y="4964105"/>
              <a:ext cx="2253933" cy="1893896"/>
            </a:xfrm>
            <a:prstGeom prst="rect">
              <a:avLst/>
            </a:prstGeom>
            <a:solidFill>
              <a:srgbClr val="CED2D5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7E263C1-994F-4D66-87A1-A6840332CAC3}"/>
                </a:ext>
              </a:extLst>
            </p:cNvPr>
            <p:cNvSpPr/>
            <p:nvPr/>
          </p:nvSpPr>
          <p:spPr>
            <a:xfrm>
              <a:off x="3262212" y="5476688"/>
              <a:ext cx="1747938" cy="8771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200" dirty="0">
                  <a:solidFill>
                    <a:srgbClr val="838F95"/>
                  </a:solidFill>
                  <a:latin typeface="Trebuchet MS" panose="020B0603020202020204" pitchFamily="34" charset="0"/>
                </a:rPr>
                <a:t>U</a:t>
              </a:r>
              <a:r>
                <a:rPr kumimoji="0" lang="pt-PT" sz="1200" b="0" i="0" u="none" strike="noStrike" cap="none" normalizeH="0" baseline="0" noProof="0" dirty="0">
                  <a:ln>
                    <a:noFill/>
                  </a:ln>
                  <a:solidFill>
                    <a:srgbClr val="838F95"/>
                  </a:solidFill>
                  <a:uLnTx/>
                  <a:uFillTx/>
                  <a:latin typeface="Trebuchet MS" panose="020B0603020202020204" pitchFamily="34" charset="0"/>
                  <a:ea typeface="+mn-ea"/>
                  <a:cs typeface="+mn-cs"/>
                </a:rPr>
                <a:t>sada especificamente para aumentar a frequência e amplitude das </a:t>
              </a:r>
              <a:r>
                <a:rPr kumimoji="0" lang="pt-PT" sz="1200" b="0" i="0" u="none" strike="noStrike" cap="none" normalizeH="0" baseline="0" noProof="0" dirty="0" err="1">
                  <a:ln>
                    <a:noFill/>
                  </a:ln>
                  <a:solidFill>
                    <a:srgbClr val="838F95"/>
                  </a:solidFill>
                  <a:uLnTx/>
                  <a:uFillTx/>
                  <a:latin typeface="Trebuchet MS" panose="020B0603020202020204" pitchFamily="34" charset="0"/>
                  <a:ea typeface="+mn-ea"/>
                  <a:cs typeface="+mn-cs"/>
                </a:rPr>
                <a:t>contracções</a:t>
              </a:r>
              <a:r>
                <a:rPr kumimoji="0" lang="pt-PT" sz="1200" b="0" i="0" u="none" strike="noStrike" cap="none" normalizeH="0" baseline="0" noProof="0" dirty="0">
                  <a:ln>
                    <a:noFill/>
                  </a:ln>
                  <a:solidFill>
                    <a:srgbClr val="838F95"/>
                  </a:solidFill>
                  <a:uLnTx/>
                  <a:uFillTx/>
                  <a:latin typeface="Trebuchet MS" panose="020B0603020202020204" pitchFamily="34" charset="0"/>
                  <a:ea typeface="+mn-ea"/>
                  <a:cs typeface="+mn-cs"/>
                </a:rPr>
                <a:t> uterinas.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55F5C6D-4BC7-478F-AEE4-616A06E99383}"/>
                </a:ext>
              </a:extLst>
            </p:cNvPr>
            <p:cNvSpPr/>
            <p:nvPr/>
          </p:nvSpPr>
          <p:spPr>
            <a:xfrm>
              <a:off x="3285967" y="4531943"/>
              <a:ext cx="24718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600" b="1" i="0" u="none" strike="noStrike" cap="none" normalizeH="0" baseline="0" noProof="0" dirty="0">
                  <a:ln>
                    <a:noFill/>
                  </a:ln>
                  <a:solidFill>
                    <a:srgbClr val="C10076"/>
                  </a:solidFill>
                  <a:uLnTx/>
                  <a:uFillTx/>
                  <a:latin typeface="Trebuchet MS" panose="020B0603020202020204" pitchFamily="34" charset="0"/>
                  <a:ea typeface="+mn-ea"/>
                  <a:cs typeface="+mn-cs"/>
                </a:rPr>
                <a:t> 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BF94B3F-2552-466A-8F16-E79E241CC23C}"/>
              </a:ext>
            </a:extLst>
          </p:cNvPr>
          <p:cNvGrpSpPr/>
          <p:nvPr/>
        </p:nvGrpSpPr>
        <p:grpSpPr>
          <a:xfrm>
            <a:off x="9187504" y="4964105"/>
            <a:ext cx="2271396" cy="1893896"/>
            <a:chOff x="9158320" y="4430085"/>
            <a:chExt cx="2271396" cy="242791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57C209D-9622-433D-959B-FB6858EF6F0E}"/>
                </a:ext>
              </a:extLst>
            </p:cNvPr>
            <p:cNvSpPr/>
            <p:nvPr/>
          </p:nvSpPr>
          <p:spPr>
            <a:xfrm>
              <a:off x="9158320" y="4430085"/>
              <a:ext cx="2271396" cy="2427916"/>
            </a:xfrm>
            <a:prstGeom prst="rect">
              <a:avLst/>
            </a:prstGeom>
            <a:solidFill>
              <a:srgbClr val="CED2D5">
                <a:alpha val="20000"/>
              </a:srgbClr>
            </a:solidFill>
            <a:ln>
              <a:solidFill>
                <a:srgbClr val="C1007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2F58AE5-284E-475D-964C-88CC17EDF5A5}"/>
                </a:ext>
              </a:extLst>
            </p:cNvPr>
            <p:cNvSpPr/>
            <p:nvPr/>
          </p:nvSpPr>
          <p:spPr>
            <a:xfrm>
              <a:off x="9329137" y="4531943"/>
              <a:ext cx="1507720" cy="3385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600" b="1" dirty="0">
                  <a:solidFill>
                    <a:srgbClr val="C10076"/>
                  </a:solidFill>
                  <a:latin typeface="Trebuchet MS" panose="020B0603020202020204" pitchFamily="34" charset="0"/>
                </a:rPr>
                <a:t>MISOPROSTOL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BF6D886-AC1D-4712-82A2-97E7DC58EF48}"/>
              </a:ext>
            </a:extLst>
          </p:cNvPr>
          <p:cNvGrpSpPr/>
          <p:nvPr/>
        </p:nvGrpSpPr>
        <p:grpSpPr>
          <a:xfrm>
            <a:off x="6781800" y="4964105"/>
            <a:ext cx="2209516" cy="1893896"/>
            <a:chOff x="6781800" y="4430085"/>
            <a:chExt cx="2209516" cy="2427916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FB1ABB7-B7D8-46D3-BE75-65287BFBCBC3}"/>
                </a:ext>
              </a:extLst>
            </p:cNvPr>
            <p:cNvSpPr/>
            <p:nvPr/>
          </p:nvSpPr>
          <p:spPr>
            <a:xfrm>
              <a:off x="6781800" y="4430085"/>
              <a:ext cx="2209516" cy="2427916"/>
            </a:xfrm>
            <a:prstGeom prst="rect">
              <a:avLst/>
            </a:prstGeom>
            <a:solidFill>
              <a:srgbClr val="CED2D5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8A49268-F5DA-4D24-9A88-6C2C4D96AA8E}"/>
                </a:ext>
              </a:extLst>
            </p:cNvPr>
            <p:cNvSpPr/>
            <p:nvPr/>
          </p:nvSpPr>
          <p:spPr>
            <a:xfrm>
              <a:off x="6892398" y="4531943"/>
              <a:ext cx="172092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600" b="1" i="0" u="none" strike="noStrike" cap="none" normalizeH="0" baseline="0" noProof="0" dirty="0">
                  <a:ln>
                    <a:noFill/>
                  </a:ln>
                  <a:solidFill>
                    <a:srgbClr val="C10076"/>
                  </a:solidFill>
                  <a:uLnTx/>
                  <a:uFillTx/>
                  <a:latin typeface="Trebuchet MS" panose="020B0603020202020204" pitchFamily="34" charset="0"/>
                  <a:ea typeface="+mn-ea"/>
                  <a:cs typeface="+mn-cs"/>
                </a:rPr>
                <a:t>DINOPROSTONA </a:t>
              </a:r>
            </a:p>
          </p:txBody>
        </p:sp>
      </p:grpSp>
      <p:sp>
        <p:nvSpPr>
          <p:cNvPr id="60" name="Double Bracket 14">
            <a:extLst>
              <a:ext uri="{FF2B5EF4-FFF2-40B4-BE49-F238E27FC236}">
                <a16:creationId xmlns:a16="http://schemas.microsoft.com/office/drawing/2014/main" id="{9B40E54E-49AC-4545-BEA9-6F6559886C09}"/>
              </a:ext>
            </a:extLst>
          </p:cNvPr>
          <p:cNvSpPr/>
          <p:nvPr/>
        </p:nvSpPr>
        <p:spPr>
          <a:xfrm flipH="1">
            <a:off x="5152878" y="528965"/>
            <a:ext cx="457496" cy="457496"/>
          </a:xfrm>
          <a:custGeom>
            <a:avLst/>
            <a:gdLst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1258880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4" fmla="*/ 1878004 w 2381250"/>
              <a:gd name="connsiteY4" fmla="*/ 0 h 1762126"/>
              <a:gd name="connsiteX5" fmla="*/ 2381250 w 2381250"/>
              <a:gd name="connsiteY5" fmla="*/ 503246 h 1762126"/>
              <a:gd name="connsiteX6" fmla="*/ 2381250 w 2381250"/>
              <a:gd name="connsiteY6" fmla="*/ 1258880 h 1762126"/>
              <a:gd name="connsiteX7" fmla="*/ 1878004 w 2381250"/>
              <a:gd name="connsiteY7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7" fmla="*/ 503246 w 2381250"/>
              <a:gd name="connsiteY7" fmla="*/ 1762126 h 176212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878004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03246 w 2381250"/>
              <a:gd name="connsiteY6" fmla="*/ 1762126 h 1853566"/>
              <a:gd name="connsiteX7" fmla="*/ 0 w 2381250"/>
              <a:gd name="connsiteY7" fmla="*/ 1258880 h 1853566"/>
              <a:gd name="connsiteX8" fmla="*/ 0 w 2381250"/>
              <a:gd name="connsiteY8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209675 w 2381250"/>
              <a:gd name="connsiteY2" fmla="*/ 1 h 1853566"/>
              <a:gd name="connsiteX3" fmla="*/ 1878004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03246 w 2381250"/>
              <a:gd name="connsiteY7" fmla="*/ 1762126 h 1853566"/>
              <a:gd name="connsiteX8" fmla="*/ 0 w 2381250"/>
              <a:gd name="connsiteY8" fmla="*/ 1258880 h 1853566"/>
              <a:gd name="connsiteX9" fmla="*/ 0 w 2381250"/>
              <a:gd name="connsiteY9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9" fmla="*/ 1301115 w 2381250"/>
              <a:gd name="connsiteY9" fmla="*/ 91441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94686 w 2381250"/>
              <a:gd name="connsiteY7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0 w 2381250"/>
              <a:gd name="connsiteY1" fmla="*/ 503246 h 1853566"/>
              <a:gd name="connsiteX2" fmla="*/ 503246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94686 w 2381250"/>
              <a:gd name="connsiteY6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94686 w 2381250"/>
              <a:gd name="connsiteY5" fmla="*/ 1853566 h 185356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503246 w 2381250"/>
              <a:gd name="connsiteY4" fmla="*/ 1762126 h 1762126"/>
              <a:gd name="connsiteX5" fmla="*/ 0 w 2381250"/>
              <a:gd name="connsiteY5" fmla="*/ 1258880 h 1762126"/>
              <a:gd name="connsiteX6" fmla="*/ 0 w 2381250"/>
              <a:gd name="connsiteY6" fmla="*/ 503246 h 1762126"/>
              <a:gd name="connsiteX7" fmla="*/ 503246 w 2381250"/>
              <a:gd name="connsiteY7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1258880 h 1762126"/>
              <a:gd name="connsiteX5" fmla="*/ 0 w 2381250"/>
              <a:gd name="connsiteY5" fmla="*/ 503246 h 1762126"/>
              <a:gd name="connsiteX6" fmla="*/ 503246 w 2381250"/>
              <a:gd name="connsiteY6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503246 h 1762126"/>
              <a:gd name="connsiteX5" fmla="*/ 503246 w 2381250"/>
              <a:gd name="connsiteY5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0" fmla="*/ 1878004 w 1878004"/>
              <a:gd name="connsiteY0" fmla="*/ 1762126 h 1762126"/>
              <a:gd name="connsiteX1" fmla="*/ 0 w 1878004"/>
              <a:gd name="connsiteY1" fmla="*/ 503246 h 1762126"/>
              <a:gd name="connsiteX2" fmla="*/ 503246 w 1878004"/>
              <a:gd name="connsiteY2" fmla="*/ 0 h 1762126"/>
              <a:gd name="connsiteX0" fmla="*/ 0 w 1878004"/>
              <a:gd name="connsiteY0" fmla="*/ 503246 h 1762126"/>
              <a:gd name="connsiteX1" fmla="*/ 503246 w 1878004"/>
              <a:gd name="connsiteY1" fmla="*/ 0 h 1762126"/>
              <a:gd name="connsiteX0" fmla="*/ 0 w 503246"/>
              <a:gd name="connsiteY0" fmla="*/ 503246 h 503246"/>
              <a:gd name="connsiteX1" fmla="*/ 503246 w 503246"/>
              <a:gd name="connsiteY1" fmla="*/ 0 h 503246"/>
              <a:gd name="connsiteX0" fmla="*/ 0 w 503246"/>
              <a:gd name="connsiteY0" fmla="*/ 503246 h 503246"/>
              <a:gd name="connsiteX1" fmla="*/ 503246 w 503246"/>
              <a:gd name="connsiteY1" fmla="*/ 0 h 503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246" h="503246" stroke="0" extrusionOk="0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  <a:path w="503246" h="503246" fill="none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</a:pathLst>
          </a:custGeom>
          <a:noFill/>
          <a:ln w="25400" cap="rnd">
            <a:solidFill>
              <a:srgbClr val="C1007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796631-3BA0-46FC-ADFC-F1483447B6D2}"/>
              </a:ext>
            </a:extLst>
          </p:cNvPr>
          <p:cNvSpPr/>
          <p:nvPr/>
        </p:nvSpPr>
        <p:spPr>
          <a:xfrm>
            <a:off x="3262212" y="5059652"/>
            <a:ext cx="186461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600" b="1" dirty="0" err="1">
                <a:solidFill>
                  <a:srgbClr val="C10076"/>
                </a:solidFill>
                <a:latin typeface="Trebuchet MS" panose="020B0603020202020204" pitchFamily="34" charset="0"/>
              </a:rPr>
              <a:t>Metilergometrina</a:t>
            </a:r>
            <a:endParaRPr lang="pt-PT" sz="1600" b="1" dirty="0">
              <a:solidFill>
                <a:srgbClr val="C10076"/>
              </a:solidFill>
            </a:endParaRPr>
          </a:p>
        </p:txBody>
      </p:sp>
      <p:pic>
        <p:nvPicPr>
          <p:cNvPr id="35" name="Picture 34" descr="Logo, company name&#10;&#10;Description automatically generated">
            <a:extLst>
              <a:ext uri="{FF2B5EF4-FFF2-40B4-BE49-F238E27FC236}">
                <a16:creationId xmlns:a16="http://schemas.microsoft.com/office/drawing/2014/main" id="{214427E7-7D10-47CA-9935-12B22C3CDC25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895" y="5425898"/>
            <a:ext cx="1960928" cy="101726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9539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7"/>
          <p:cNvSpPr>
            <a:spLocks noChangeArrowheads="1"/>
          </p:cNvSpPr>
          <p:nvPr/>
        </p:nvSpPr>
        <p:spPr bwMode="auto">
          <a:xfrm rot="5400000">
            <a:off x="2489200" y="-2160588"/>
            <a:ext cx="7162800" cy="11064876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srgbClr val="77933C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8915" name="Rectangle 31"/>
          <p:cNvSpPr>
            <a:spLocks noChangeArrowheads="1"/>
          </p:cNvSpPr>
          <p:nvPr/>
        </p:nvSpPr>
        <p:spPr bwMode="auto">
          <a:xfrm>
            <a:off x="1524000" y="976313"/>
            <a:ext cx="9144000" cy="509111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srgbClr val="77933C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9B26097-42C6-4E65-85DF-6E88719F8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" y="3184358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pt-PT" sz="1800" b="0" i="0" u="none" strike="noStrike" cap="none" normalizeH="0" baseline="0" noProof="0">
                <a:ln>
                  <a:noFill/>
                </a:ln>
                <a:solidFill>
                  <a:prstClr val="black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</a:br>
            <a:endParaRPr kumimoji="0" lang="pt-PT" sz="1800" b="0" i="0" u="none" strike="noStrike" cap="none" normalizeH="0" baseline="0" noProof="0">
              <a:ln>
                <a:noFill/>
              </a:ln>
              <a:solidFill>
                <a:prstClr val="black"/>
              </a:solidFill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3AD67D-046F-4DA9-86A4-2EB501F9D89E}"/>
              </a:ext>
            </a:extLst>
          </p:cNvPr>
          <p:cNvSpPr txBox="1"/>
          <p:nvPr/>
        </p:nvSpPr>
        <p:spPr>
          <a:xfrm>
            <a:off x="701770" y="1104811"/>
            <a:ext cx="49787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6000" b="1" i="0" u="none" strike="noStrike" cap="none" normalizeH="0" baseline="0" noProof="0" dirty="0">
                <a:ln>
                  <a:noFill/>
                </a:ln>
                <a:solidFill>
                  <a:srgbClr val="C10076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MISOFAR 25?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9BDFE1-D755-4644-B1AB-689853111E88}"/>
              </a:ext>
            </a:extLst>
          </p:cNvPr>
          <p:cNvSpPr txBox="1"/>
          <p:nvPr/>
        </p:nvSpPr>
        <p:spPr>
          <a:xfrm>
            <a:off x="780849" y="759113"/>
            <a:ext cx="3651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800" b="0" i="0" u="none" strike="noStrike" cap="none" normalizeH="0" baseline="0" noProof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O QUE É </a:t>
            </a:r>
          </a:p>
        </p:txBody>
      </p:sp>
      <p:sp>
        <p:nvSpPr>
          <p:cNvPr id="24" name="Double Bracket 14">
            <a:extLst>
              <a:ext uri="{FF2B5EF4-FFF2-40B4-BE49-F238E27FC236}">
                <a16:creationId xmlns:a16="http://schemas.microsoft.com/office/drawing/2014/main" id="{809DC64F-8893-4F45-AC62-621C0903B88C}"/>
              </a:ext>
            </a:extLst>
          </p:cNvPr>
          <p:cNvSpPr/>
          <p:nvPr/>
        </p:nvSpPr>
        <p:spPr>
          <a:xfrm>
            <a:off x="455583" y="448432"/>
            <a:ext cx="457496" cy="457496"/>
          </a:xfrm>
          <a:custGeom>
            <a:avLst/>
            <a:gdLst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1258880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4" fmla="*/ 1878004 w 2381250"/>
              <a:gd name="connsiteY4" fmla="*/ 0 h 1762126"/>
              <a:gd name="connsiteX5" fmla="*/ 2381250 w 2381250"/>
              <a:gd name="connsiteY5" fmla="*/ 503246 h 1762126"/>
              <a:gd name="connsiteX6" fmla="*/ 2381250 w 2381250"/>
              <a:gd name="connsiteY6" fmla="*/ 1258880 h 1762126"/>
              <a:gd name="connsiteX7" fmla="*/ 1878004 w 2381250"/>
              <a:gd name="connsiteY7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7" fmla="*/ 503246 w 2381250"/>
              <a:gd name="connsiteY7" fmla="*/ 1762126 h 176212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878004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03246 w 2381250"/>
              <a:gd name="connsiteY6" fmla="*/ 1762126 h 1853566"/>
              <a:gd name="connsiteX7" fmla="*/ 0 w 2381250"/>
              <a:gd name="connsiteY7" fmla="*/ 1258880 h 1853566"/>
              <a:gd name="connsiteX8" fmla="*/ 0 w 2381250"/>
              <a:gd name="connsiteY8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209675 w 2381250"/>
              <a:gd name="connsiteY2" fmla="*/ 1 h 1853566"/>
              <a:gd name="connsiteX3" fmla="*/ 1878004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03246 w 2381250"/>
              <a:gd name="connsiteY7" fmla="*/ 1762126 h 1853566"/>
              <a:gd name="connsiteX8" fmla="*/ 0 w 2381250"/>
              <a:gd name="connsiteY8" fmla="*/ 1258880 h 1853566"/>
              <a:gd name="connsiteX9" fmla="*/ 0 w 2381250"/>
              <a:gd name="connsiteY9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9" fmla="*/ 1301115 w 2381250"/>
              <a:gd name="connsiteY9" fmla="*/ 91441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94686 w 2381250"/>
              <a:gd name="connsiteY7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0 w 2381250"/>
              <a:gd name="connsiteY1" fmla="*/ 503246 h 1853566"/>
              <a:gd name="connsiteX2" fmla="*/ 503246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94686 w 2381250"/>
              <a:gd name="connsiteY6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94686 w 2381250"/>
              <a:gd name="connsiteY5" fmla="*/ 1853566 h 185356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503246 w 2381250"/>
              <a:gd name="connsiteY4" fmla="*/ 1762126 h 1762126"/>
              <a:gd name="connsiteX5" fmla="*/ 0 w 2381250"/>
              <a:gd name="connsiteY5" fmla="*/ 1258880 h 1762126"/>
              <a:gd name="connsiteX6" fmla="*/ 0 w 2381250"/>
              <a:gd name="connsiteY6" fmla="*/ 503246 h 1762126"/>
              <a:gd name="connsiteX7" fmla="*/ 503246 w 2381250"/>
              <a:gd name="connsiteY7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1258880 h 1762126"/>
              <a:gd name="connsiteX5" fmla="*/ 0 w 2381250"/>
              <a:gd name="connsiteY5" fmla="*/ 503246 h 1762126"/>
              <a:gd name="connsiteX6" fmla="*/ 503246 w 2381250"/>
              <a:gd name="connsiteY6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503246 h 1762126"/>
              <a:gd name="connsiteX5" fmla="*/ 503246 w 2381250"/>
              <a:gd name="connsiteY5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0" fmla="*/ 1878004 w 1878004"/>
              <a:gd name="connsiteY0" fmla="*/ 1762126 h 1762126"/>
              <a:gd name="connsiteX1" fmla="*/ 0 w 1878004"/>
              <a:gd name="connsiteY1" fmla="*/ 503246 h 1762126"/>
              <a:gd name="connsiteX2" fmla="*/ 503246 w 1878004"/>
              <a:gd name="connsiteY2" fmla="*/ 0 h 1762126"/>
              <a:gd name="connsiteX0" fmla="*/ 0 w 1878004"/>
              <a:gd name="connsiteY0" fmla="*/ 503246 h 1762126"/>
              <a:gd name="connsiteX1" fmla="*/ 503246 w 1878004"/>
              <a:gd name="connsiteY1" fmla="*/ 0 h 1762126"/>
              <a:gd name="connsiteX0" fmla="*/ 0 w 503246"/>
              <a:gd name="connsiteY0" fmla="*/ 503246 h 503246"/>
              <a:gd name="connsiteX1" fmla="*/ 503246 w 503246"/>
              <a:gd name="connsiteY1" fmla="*/ 0 h 503246"/>
              <a:gd name="connsiteX0" fmla="*/ 0 w 503246"/>
              <a:gd name="connsiteY0" fmla="*/ 503246 h 503246"/>
              <a:gd name="connsiteX1" fmla="*/ 503246 w 503246"/>
              <a:gd name="connsiteY1" fmla="*/ 0 h 503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246" h="503246" stroke="0" extrusionOk="0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  <a:path w="503246" h="503246" fill="none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</a:pathLst>
          </a:custGeom>
          <a:noFill/>
          <a:ln w="25400" cap="rnd">
            <a:solidFill>
              <a:srgbClr val="C1007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1506" name="Group 21505">
            <a:extLst>
              <a:ext uri="{FF2B5EF4-FFF2-40B4-BE49-F238E27FC236}">
                <a16:creationId xmlns:a16="http://schemas.microsoft.com/office/drawing/2014/main" id="{A303D72C-31B8-4CB8-B00E-845FF8273229}"/>
              </a:ext>
            </a:extLst>
          </p:cNvPr>
          <p:cNvGrpSpPr/>
          <p:nvPr/>
        </p:nvGrpSpPr>
        <p:grpSpPr>
          <a:xfrm>
            <a:off x="771776" y="3173831"/>
            <a:ext cx="5421690" cy="1297203"/>
            <a:chOff x="6806068" y="3287562"/>
            <a:chExt cx="5421690" cy="1297203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2AB800D-5A11-40D1-A9D9-B97F688A6BBC}"/>
                </a:ext>
              </a:extLst>
            </p:cNvPr>
            <p:cNvSpPr/>
            <p:nvPr/>
          </p:nvSpPr>
          <p:spPr>
            <a:xfrm>
              <a:off x="6806068" y="3287562"/>
              <a:ext cx="5421690" cy="1297203"/>
            </a:xfrm>
            <a:prstGeom prst="rect">
              <a:avLst/>
            </a:prstGeom>
            <a:noFill/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90B34C-FA9C-4C13-8275-4219E262D7F3}"/>
                </a:ext>
              </a:extLst>
            </p:cNvPr>
            <p:cNvSpPr/>
            <p:nvPr/>
          </p:nvSpPr>
          <p:spPr>
            <a:xfrm>
              <a:off x="7276285" y="3806416"/>
              <a:ext cx="160537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200" b="1" i="0" u="none" strike="noStrike" cap="none" normalizeH="0" baseline="0" noProof="0">
                  <a:ln>
                    <a:noFill/>
                  </a:ln>
                  <a:solidFill>
                    <a:prstClr val="black"/>
                  </a:solidFill>
                  <a:uLnTx/>
                  <a:uFillTx/>
                  <a:latin typeface="Trebuchet MS" panose="020B0603020202020204" pitchFamily="34" charset="0"/>
                  <a:ea typeface="+mn-ea"/>
                  <a:cs typeface="+mn-cs"/>
                </a:rPr>
                <a:t>MISOPROSTOL</a:t>
              </a:r>
            </a:p>
          </p:txBody>
        </p:sp>
        <p:pic>
          <p:nvPicPr>
            <p:cNvPr id="2052" name="Picture 4" descr="Image result for misoprostol formula">
              <a:extLst>
                <a:ext uri="{FF2B5EF4-FFF2-40B4-BE49-F238E27FC236}">
                  <a16:creationId xmlns:a16="http://schemas.microsoft.com/office/drawing/2014/main" id="{CA4C2E45-96F3-40B0-9AF2-410DB7FA6F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35036" y="3472758"/>
              <a:ext cx="2075319" cy="8301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507" name="Group 21506">
            <a:extLst>
              <a:ext uri="{FF2B5EF4-FFF2-40B4-BE49-F238E27FC236}">
                <a16:creationId xmlns:a16="http://schemas.microsoft.com/office/drawing/2014/main" id="{A6F928EB-9AD6-4C48-87E7-44FE65620EE1}"/>
              </a:ext>
            </a:extLst>
          </p:cNvPr>
          <p:cNvGrpSpPr/>
          <p:nvPr/>
        </p:nvGrpSpPr>
        <p:grpSpPr>
          <a:xfrm>
            <a:off x="6427080" y="3162863"/>
            <a:ext cx="5421690" cy="1297203"/>
            <a:chOff x="6806068" y="4732034"/>
            <a:chExt cx="5421690" cy="1297203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3BFAAF1-6FDA-4824-97E5-F55D1FB98692}"/>
                </a:ext>
              </a:extLst>
            </p:cNvPr>
            <p:cNvSpPr/>
            <p:nvPr/>
          </p:nvSpPr>
          <p:spPr>
            <a:xfrm>
              <a:off x="6806068" y="4732034"/>
              <a:ext cx="5421690" cy="1297203"/>
            </a:xfrm>
            <a:prstGeom prst="rect">
              <a:avLst/>
            </a:prstGeom>
            <a:noFill/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8245FB7-F38A-4036-A24C-9F29189A607A}"/>
                </a:ext>
              </a:extLst>
            </p:cNvPr>
            <p:cNvSpPr/>
            <p:nvPr/>
          </p:nvSpPr>
          <p:spPr>
            <a:xfrm>
              <a:off x="7268274" y="5251989"/>
              <a:ext cx="1681294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200" b="1" i="0" u="none" strike="noStrike" cap="none" normalizeH="0" baseline="0" noProof="0" dirty="0">
                  <a:ln>
                    <a:noFill/>
                  </a:ln>
                  <a:solidFill>
                    <a:prstClr val="black"/>
                  </a:solidFill>
                  <a:uLnTx/>
                  <a:uFillTx/>
                  <a:latin typeface="Trebuchet MS" panose="020B0603020202020204" pitchFamily="34" charset="0"/>
                  <a:ea typeface="+mn-ea"/>
                  <a:cs typeface="+mn-cs"/>
                </a:rPr>
                <a:t>PROSTAGLANDINA E1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701DEC8B-6D18-4F14-8C98-ABC10E9CC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534525" y="4933434"/>
              <a:ext cx="1975830" cy="976639"/>
            </a:xfrm>
            <a:prstGeom prst="rect">
              <a:avLst/>
            </a:prstGeom>
          </p:spPr>
        </p:pic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1BAFB2F0-AC1C-4F3B-A79A-4C115B6CFE67}"/>
              </a:ext>
            </a:extLst>
          </p:cNvPr>
          <p:cNvSpPr/>
          <p:nvPr/>
        </p:nvSpPr>
        <p:spPr>
          <a:xfrm>
            <a:off x="4830102" y="3211758"/>
            <a:ext cx="738643" cy="757926"/>
          </a:xfrm>
          <a:prstGeom prst="ellipse">
            <a:avLst/>
          </a:prstGeom>
          <a:noFill/>
          <a:ln>
            <a:solidFill>
              <a:srgbClr val="E684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9296819-B837-40E8-BD7A-94DF2E272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233" y="2293466"/>
            <a:ext cx="11106537" cy="510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lvl="0" eaLnBrk="1" hangingPunct="1">
              <a:lnSpc>
                <a:spcPct val="85000"/>
              </a:lnSpc>
              <a:defRPr/>
            </a:pPr>
            <a:r>
              <a:rPr kumimoji="0" lang="pt-PT" sz="16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O </a:t>
            </a:r>
            <a:r>
              <a:rPr lang="pt-PT" sz="1600" b="1" dirty="0">
                <a:solidFill>
                  <a:srgbClr val="C10076"/>
                </a:solidFill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misoprostol</a:t>
            </a:r>
            <a:r>
              <a:rPr kumimoji="0" lang="pt-PT" sz="16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, a substância activa do Misofar 25</a:t>
            </a:r>
            <a:r>
              <a:rPr lang="pt-PT" sz="1600" b="1" dirty="0">
                <a:solidFill>
                  <a:srgbClr val="231F20"/>
                </a:solidFill>
                <a:latin typeface="Trebuchet MS" panose="020B0603020202020204" pitchFamily="34" charset="0"/>
              </a:rPr>
              <a:t>®, é um </a:t>
            </a:r>
            <a:r>
              <a:rPr lang="pt-PT" sz="1600" b="1" dirty="0">
                <a:solidFill>
                  <a:srgbClr val="C10076"/>
                </a:solidFill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análogo sintético da prostaglandina E1</a:t>
            </a:r>
            <a:r>
              <a:rPr lang="pt-PT" sz="1600" b="1" dirty="0">
                <a:solidFill>
                  <a:srgbClr val="231F20"/>
                </a:solidFill>
                <a:latin typeface="Trebuchet MS" panose="020B0603020202020204" pitchFamily="34" charset="0"/>
              </a:rPr>
              <a:t>: </a:t>
            </a: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consiste num éster metílico no átomo de carbono na posição 16 da </a:t>
            </a:r>
            <a:r>
              <a:rPr kumimoji="0" lang="pt-PT" sz="16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prostaglandina E-1</a:t>
            </a: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.       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97A1AE-84F7-47F2-9DCA-E03A6350CC72}"/>
              </a:ext>
            </a:extLst>
          </p:cNvPr>
          <p:cNvSpPr/>
          <p:nvPr/>
        </p:nvSpPr>
        <p:spPr>
          <a:xfrm>
            <a:off x="-12700" y="5151120"/>
            <a:ext cx="12204700" cy="1706880"/>
          </a:xfrm>
          <a:prstGeom prst="rect">
            <a:avLst/>
          </a:prstGeom>
          <a:solidFill>
            <a:srgbClr val="838F95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1683" tIns="65842" rIns="131683" bIns="6584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1131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6F4D916-99BF-447B-99A7-46802792D00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3117AF-11DB-492B-89B7-B468F689D9B7}"/>
              </a:ext>
            </a:extLst>
          </p:cNvPr>
          <p:cNvSpPr/>
          <p:nvPr/>
        </p:nvSpPr>
        <p:spPr>
          <a:xfrm>
            <a:off x="-12700" y="4754541"/>
            <a:ext cx="12204700" cy="2103459"/>
          </a:xfrm>
          <a:prstGeom prst="rect">
            <a:avLst/>
          </a:prstGeom>
          <a:solidFill>
            <a:srgbClr val="838F95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1683" tIns="65842" rIns="131683" bIns="6584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906CC3-DC2C-4B81-BF3E-2C2C9F4A94EF}"/>
              </a:ext>
            </a:extLst>
          </p:cNvPr>
          <p:cNvSpPr/>
          <p:nvPr/>
        </p:nvSpPr>
        <p:spPr>
          <a:xfrm>
            <a:off x="4192207" y="1768779"/>
            <a:ext cx="1701800" cy="551729"/>
          </a:xfrm>
          <a:prstGeom prst="rect">
            <a:avLst/>
          </a:prstGeom>
          <a:solidFill>
            <a:srgbClr val="CF84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F541DE-9529-432E-A75D-C64DFDB6CC10}"/>
              </a:ext>
            </a:extLst>
          </p:cNvPr>
          <p:cNvSpPr txBox="1"/>
          <p:nvPr/>
        </p:nvSpPr>
        <p:spPr>
          <a:xfrm>
            <a:off x="3645242" y="613538"/>
            <a:ext cx="56936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5400" b="1" i="0" u="none" strike="noStrike" cap="none" normalizeH="0" baseline="0" noProof="0" dirty="0">
                <a:ln>
                  <a:noFill/>
                </a:ln>
                <a:solidFill>
                  <a:srgbClr val="C10076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APRESENTAÇÃO</a:t>
            </a:r>
          </a:p>
        </p:txBody>
      </p:sp>
      <p:sp>
        <p:nvSpPr>
          <p:cNvPr id="13" name="Double Bracket 14">
            <a:extLst>
              <a:ext uri="{FF2B5EF4-FFF2-40B4-BE49-F238E27FC236}">
                <a16:creationId xmlns:a16="http://schemas.microsoft.com/office/drawing/2014/main" id="{6B151C57-5451-4B8D-9FA4-E25403FB519D}"/>
              </a:ext>
            </a:extLst>
          </p:cNvPr>
          <p:cNvSpPr/>
          <p:nvPr/>
        </p:nvSpPr>
        <p:spPr>
          <a:xfrm>
            <a:off x="3423266" y="405257"/>
            <a:ext cx="457496" cy="457496"/>
          </a:xfrm>
          <a:custGeom>
            <a:avLst/>
            <a:gdLst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1258880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4" fmla="*/ 1878004 w 2381250"/>
              <a:gd name="connsiteY4" fmla="*/ 0 h 1762126"/>
              <a:gd name="connsiteX5" fmla="*/ 2381250 w 2381250"/>
              <a:gd name="connsiteY5" fmla="*/ 503246 h 1762126"/>
              <a:gd name="connsiteX6" fmla="*/ 2381250 w 2381250"/>
              <a:gd name="connsiteY6" fmla="*/ 1258880 h 1762126"/>
              <a:gd name="connsiteX7" fmla="*/ 1878004 w 2381250"/>
              <a:gd name="connsiteY7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7" fmla="*/ 503246 w 2381250"/>
              <a:gd name="connsiteY7" fmla="*/ 1762126 h 176212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878004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03246 w 2381250"/>
              <a:gd name="connsiteY6" fmla="*/ 1762126 h 1853566"/>
              <a:gd name="connsiteX7" fmla="*/ 0 w 2381250"/>
              <a:gd name="connsiteY7" fmla="*/ 1258880 h 1853566"/>
              <a:gd name="connsiteX8" fmla="*/ 0 w 2381250"/>
              <a:gd name="connsiteY8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209675 w 2381250"/>
              <a:gd name="connsiteY2" fmla="*/ 1 h 1853566"/>
              <a:gd name="connsiteX3" fmla="*/ 1878004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03246 w 2381250"/>
              <a:gd name="connsiteY7" fmla="*/ 1762126 h 1853566"/>
              <a:gd name="connsiteX8" fmla="*/ 0 w 2381250"/>
              <a:gd name="connsiteY8" fmla="*/ 1258880 h 1853566"/>
              <a:gd name="connsiteX9" fmla="*/ 0 w 2381250"/>
              <a:gd name="connsiteY9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9" fmla="*/ 1301115 w 2381250"/>
              <a:gd name="connsiteY9" fmla="*/ 91441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94686 w 2381250"/>
              <a:gd name="connsiteY7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0 w 2381250"/>
              <a:gd name="connsiteY1" fmla="*/ 503246 h 1853566"/>
              <a:gd name="connsiteX2" fmla="*/ 503246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94686 w 2381250"/>
              <a:gd name="connsiteY6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94686 w 2381250"/>
              <a:gd name="connsiteY5" fmla="*/ 1853566 h 185356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503246 w 2381250"/>
              <a:gd name="connsiteY4" fmla="*/ 1762126 h 1762126"/>
              <a:gd name="connsiteX5" fmla="*/ 0 w 2381250"/>
              <a:gd name="connsiteY5" fmla="*/ 1258880 h 1762126"/>
              <a:gd name="connsiteX6" fmla="*/ 0 w 2381250"/>
              <a:gd name="connsiteY6" fmla="*/ 503246 h 1762126"/>
              <a:gd name="connsiteX7" fmla="*/ 503246 w 2381250"/>
              <a:gd name="connsiteY7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1258880 h 1762126"/>
              <a:gd name="connsiteX5" fmla="*/ 0 w 2381250"/>
              <a:gd name="connsiteY5" fmla="*/ 503246 h 1762126"/>
              <a:gd name="connsiteX6" fmla="*/ 503246 w 2381250"/>
              <a:gd name="connsiteY6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503246 h 1762126"/>
              <a:gd name="connsiteX5" fmla="*/ 503246 w 2381250"/>
              <a:gd name="connsiteY5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0" fmla="*/ 1878004 w 1878004"/>
              <a:gd name="connsiteY0" fmla="*/ 1762126 h 1762126"/>
              <a:gd name="connsiteX1" fmla="*/ 0 w 1878004"/>
              <a:gd name="connsiteY1" fmla="*/ 503246 h 1762126"/>
              <a:gd name="connsiteX2" fmla="*/ 503246 w 1878004"/>
              <a:gd name="connsiteY2" fmla="*/ 0 h 1762126"/>
              <a:gd name="connsiteX0" fmla="*/ 0 w 1878004"/>
              <a:gd name="connsiteY0" fmla="*/ 503246 h 1762126"/>
              <a:gd name="connsiteX1" fmla="*/ 503246 w 1878004"/>
              <a:gd name="connsiteY1" fmla="*/ 0 h 1762126"/>
              <a:gd name="connsiteX0" fmla="*/ 0 w 503246"/>
              <a:gd name="connsiteY0" fmla="*/ 503246 h 503246"/>
              <a:gd name="connsiteX1" fmla="*/ 503246 w 503246"/>
              <a:gd name="connsiteY1" fmla="*/ 0 h 503246"/>
              <a:gd name="connsiteX0" fmla="*/ 0 w 503246"/>
              <a:gd name="connsiteY0" fmla="*/ 503246 h 503246"/>
              <a:gd name="connsiteX1" fmla="*/ 503246 w 503246"/>
              <a:gd name="connsiteY1" fmla="*/ 0 h 503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246" h="503246" stroke="0" extrusionOk="0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  <a:path w="503246" h="503246" fill="none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</a:pathLst>
          </a:custGeom>
          <a:noFill/>
          <a:ln w="25400" cap="rnd">
            <a:solidFill>
              <a:srgbClr val="C1007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318977-8B99-413D-942B-2714E7B160EF}"/>
              </a:ext>
            </a:extLst>
          </p:cNvPr>
          <p:cNvSpPr/>
          <p:nvPr/>
        </p:nvSpPr>
        <p:spPr>
          <a:xfrm>
            <a:off x="711201" y="2640102"/>
            <a:ext cx="10769600" cy="3374936"/>
          </a:xfrm>
          <a:prstGeom prst="rect">
            <a:avLst/>
          </a:prstGeom>
          <a:noFill/>
          <a:ln w="19050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79562-577F-41F8-B582-AD7E95174823}"/>
              </a:ext>
            </a:extLst>
          </p:cNvPr>
          <p:cNvSpPr txBox="1"/>
          <p:nvPr/>
        </p:nvSpPr>
        <p:spPr>
          <a:xfrm>
            <a:off x="1014868" y="2965478"/>
            <a:ext cx="2776082" cy="1712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1" i="0" u="none" strike="noStrike" cap="none" normalizeH="0" baseline="0" noProof="0" dirty="0">
                <a:ln>
                  <a:noFill/>
                </a:ln>
                <a:solidFill>
                  <a:srgbClr val="CF84AE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FORMA </a:t>
            </a:r>
            <a:br>
              <a:rPr kumimoji="0" lang="pt-PT" sz="1800" b="1" i="0" u="none" strike="noStrike" cap="none" normalizeH="0" baseline="0" noProof="0" dirty="0">
                <a:ln>
                  <a:noFill/>
                </a:ln>
                <a:solidFill>
                  <a:srgbClr val="CF84AE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</a:br>
            <a:r>
              <a:rPr kumimoji="0" lang="pt-PT" sz="1800" b="1" i="0" u="none" strike="noStrike" cap="none" normalizeH="0" baseline="0" noProof="0" dirty="0">
                <a:ln>
                  <a:noFill/>
                </a:ln>
                <a:solidFill>
                  <a:srgbClr val="CF84AE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FARMACÊUTICA</a:t>
            </a:r>
            <a:br>
              <a:rPr kumimoji="0" lang="pt-PT" sz="1800" b="1" i="0" u="none" strike="noStrike" cap="none" normalizeH="0" baseline="0" noProof="0" dirty="0">
                <a:ln>
                  <a:noFill/>
                </a:ln>
                <a:solidFill>
                  <a:srgbClr val="CF84AE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</a:br>
            <a:endParaRPr kumimoji="0" lang="pt-PT" sz="1800" b="1" i="0" u="none" strike="noStrike" cap="none" normalizeH="0" baseline="0" noProof="0" dirty="0">
              <a:ln>
                <a:noFill/>
              </a:ln>
              <a:solidFill>
                <a:srgbClr val="CF84AE"/>
              </a:solidFill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Comprimido vaginal redondo, de cor branca, com uma ranhura num dos lados e 9 mm de diâmetro.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4B4DA61-2535-4FAF-A06F-53CECA81F81C}"/>
              </a:ext>
            </a:extLst>
          </p:cNvPr>
          <p:cNvCxnSpPr>
            <a:cxnSpLocks/>
          </p:cNvCxnSpPr>
          <p:nvPr/>
        </p:nvCxnSpPr>
        <p:spPr>
          <a:xfrm>
            <a:off x="1136229" y="2640102"/>
            <a:ext cx="430000" cy="0"/>
          </a:xfrm>
          <a:prstGeom prst="line">
            <a:avLst/>
          </a:prstGeom>
          <a:noFill/>
          <a:ln w="50800" cap="rnd">
            <a:solidFill>
              <a:srgbClr val="CF84AE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90C501B-4433-40C9-969E-466AE2562764}"/>
              </a:ext>
            </a:extLst>
          </p:cNvPr>
          <p:cNvCxnSpPr>
            <a:cxnSpLocks/>
          </p:cNvCxnSpPr>
          <p:nvPr/>
        </p:nvCxnSpPr>
        <p:spPr>
          <a:xfrm>
            <a:off x="10567248" y="2640102"/>
            <a:ext cx="430000" cy="0"/>
          </a:xfrm>
          <a:prstGeom prst="line">
            <a:avLst/>
          </a:prstGeom>
          <a:noFill/>
          <a:ln w="50800" cap="rnd">
            <a:solidFill>
              <a:srgbClr val="CF84AE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5" name="Agrupar 60">
            <a:extLst>
              <a:ext uri="{FF2B5EF4-FFF2-40B4-BE49-F238E27FC236}">
                <a16:creationId xmlns:a16="http://schemas.microsoft.com/office/drawing/2014/main" id="{C3622E28-2BE4-4DAA-A5D6-4DF21EB03712}"/>
              </a:ext>
            </a:extLst>
          </p:cNvPr>
          <p:cNvGrpSpPr/>
          <p:nvPr/>
        </p:nvGrpSpPr>
        <p:grpSpPr>
          <a:xfrm>
            <a:off x="10561431" y="1982392"/>
            <a:ext cx="456570" cy="533977"/>
            <a:chOff x="3945069" y="1755624"/>
            <a:chExt cx="552450" cy="646113"/>
          </a:xfrm>
          <a:solidFill>
            <a:srgbClr val="CF84AE"/>
          </a:solidFill>
        </p:grpSpPr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41698D73-0570-470A-A28A-ABDF6B4FA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3656" y="1755624"/>
              <a:ext cx="423863" cy="520700"/>
            </a:xfrm>
            <a:custGeom>
              <a:avLst/>
              <a:gdLst>
                <a:gd name="T0" fmla="*/ 120 w 133"/>
                <a:gd name="T1" fmla="*/ 161 h 161"/>
                <a:gd name="T2" fmla="*/ 97 w 133"/>
                <a:gd name="T3" fmla="*/ 161 h 161"/>
                <a:gd name="T4" fmla="*/ 97 w 133"/>
                <a:gd name="T5" fmla="*/ 153 h 161"/>
                <a:gd name="T6" fmla="*/ 120 w 133"/>
                <a:gd name="T7" fmla="*/ 153 h 161"/>
                <a:gd name="T8" fmla="*/ 124 w 133"/>
                <a:gd name="T9" fmla="*/ 152 h 161"/>
                <a:gd name="T10" fmla="*/ 124 w 133"/>
                <a:gd name="T11" fmla="*/ 150 h 161"/>
                <a:gd name="T12" fmla="*/ 124 w 133"/>
                <a:gd name="T13" fmla="*/ 148 h 161"/>
                <a:gd name="T14" fmla="*/ 124 w 133"/>
                <a:gd name="T15" fmla="*/ 53 h 161"/>
                <a:gd name="T16" fmla="*/ 80 w 133"/>
                <a:gd name="T17" fmla="*/ 9 h 161"/>
                <a:gd name="T18" fmla="*/ 13 w 133"/>
                <a:gd name="T19" fmla="*/ 9 h 161"/>
                <a:gd name="T20" fmla="*/ 12 w 133"/>
                <a:gd name="T21" fmla="*/ 9 h 161"/>
                <a:gd name="T22" fmla="*/ 10 w 133"/>
                <a:gd name="T23" fmla="*/ 9 h 161"/>
                <a:gd name="T24" fmla="*/ 8 w 133"/>
                <a:gd name="T25" fmla="*/ 12 h 161"/>
                <a:gd name="T26" fmla="*/ 8 w 133"/>
                <a:gd name="T27" fmla="*/ 104 h 161"/>
                <a:gd name="T28" fmla="*/ 0 w 133"/>
                <a:gd name="T29" fmla="*/ 104 h 161"/>
                <a:gd name="T30" fmla="*/ 0 w 133"/>
                <a:gd name="T31" fmla="*/ 11 h 161"/>
                <a:gd name="T32" fmla="*/ 6 w 133"/>
                <a:gd name="T33" fmla="*/ 2 h 161"/>
                <a:gd name="T34" fmla="*/ 15 w 133"/>
                <a:gd name="T35" fmla="*/ 1 h 161"/>
                <a:gd name="T36" fmla="*/ 83 w 133"/>
                <a:gd name="T37" fmla="*/ 1 h 161"/>
                <a:gd name="T38" fmla="*/ 132 w 133"/>
                <a:gd name="T39" fmla="*/ 49 h 161"/>
                <a:gd name="T40" fmla="*/ 132 w 133"/>
                <a:gd name="T41" fmla="*/ 148 h 161"/>
                <a:gd name="T42" fmla="*/ 130 w 133"/>
                <a:gd name="T43" fmla="*/ 157 h 161"/>
                <a:gd name="T44" fmla="*/ 120 w 133"/>
                <a:gd name="T45" fmla="*/ 16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3" h="161">
                  <a:moveTo>
                    <a:pt x="120" y="161"/>
                  </a:moveTo>
                  <a:cubicBezTo>
                    <a:pt x="97" y="161"/>
                    <a:pt x="97" y="161"/>
                    <a:pt x="97" y="161"/>
                  </a:cubicBezTo>
                  <a:cubicBezTo>
                    <a:pt x="97" y="153"/>
                    <a:pt x="97" y="153"/>
                    <a:pt x="97" y="153"/>
                  </a:cubicBezTo>
                  <a:cubicBezTo>
                    <a:pt x="120" y="153"/>
                    <a:pt x="120" y="153"/>
                    <a:pt x="120" y="153"/>
                  </a:cubicBezTo>
                  <a:cubicBezTo>
                    <a:pt x="122" y="153"/>
                    <a:pt x="123" y="153"/>
                    <a:pt x="124" y="152"/>
                  </a:cubicBezTo>
                  <a:cubicBezTo>
                    <a:pt x="124" y="151"/>
                    <a:pt x="124" y="150"/>
                    <a:pt x="124" y="150"/>
                  </a:cubicBezTo>
                  <a:cubicBezTo>
                    <a:pt x="124" y="148"/>
                    <a:pt x="124" y="148"/>
                    <a:pt x="124" y="148"/>
                  </a:cubicBezTo>
                  <a:cubicBezTo>
                    <a:pt x="124" y="53"/>
                    <a:pt x="124" y="53"/>
                    <a:pt x="124" y="53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9"/>
                    <a:pt x="8" y="11"/>
                    <a:pt x="8" y="12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7"/>
                    <a:pt x="3" y="4"/>
                    <a:pt x="6" y="2"/>
                  </a:cubicBezTo>
                  <a:cubicBezTo>
                    <a:pt x="9" y="0"/>
                    <a:pt x="12" y="0"/>
                    <a:pt x="15" y="1"/>
                  </a:cubicBezTo>
                  <a:cubicBezTo>
                    <a:pt x="83" y="1"/>
                    <a:pt x="83" y="1"/>
                    <a:pt x="83" y="1"/>
                  </a:cubicBezTo>
                  <a:cubicBezTo>
                    <a:pt x="132" y="49"/>
                    <a:pt x="132" y="49"/>
                    <a:pt x="132" y="49"/>
                  </a:cubicBezTo>
                  <a:cubicBezTo>
                    <a:pt x="132" y="148"/>
                    <a:pt x="132" y="148"/>
                    <a:pt x="132" y="148"/>
                  </a:cubicBezTo>
                  <a:cubicBezTo>
                    <a:pt x="133" y="151"/>
                    <a:pt x="132" y="154"/>
                    <a:pt x="130" y="157"/>
                  </a:cubicBezTo>
                  <a:cubicBezTo>
                    <a:pt x="128" y="160"/>
                    <a:pt x="124" y="161"/>
                    <a:pt x="120" y="1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073693F1-ABE4-4992-BEEB-9BBC527D6F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45069" y="2079474"/>
              <a:ext cx="447675" cy="322263"/>
            </a:xfrm>
            <a:custGeom>
              <a:avLst/>
              <a:gdLst>
                <a:gd name="T0" fmla="*/ 71 w 140"/>
                <a:gd name="T1" fmla="*/ 100 h 100"/>
                <a:gd name="T2" fmla="*/ 0 w 140"/>
                <a:gd name="T3" fmla="*/ 68 h 100"/>
                <a:gd name="T4" fmla="*/ 0 w 140"/>
                <a:gd name="T5" fmla="*/ 31 h 100"/>
                <a:gd name="T6" fmla="*/ 71 w 140"/>
                <a:gd name="T7" fmla="*/ 0 h 100"/>
                <a:gd name="T8" fmla="*/ 140 w 140"/>
                <a:gd name="T9" fmla="*/ 31 h 100"/>
                <a:gd name="T10" fmla="*/ 140 w 140"/>
                <a:gd name="T11" fmla="*/ 68 h 100"/>
                <a:gd name="T12" fmla="*/ 71 w 140"/>
                <a:gd name="T13" fmla="*/ 100 h 100"/>
                <a:gd name="T14" fmla="*/ 71 w 140"/>
                <a:gd name="T15" fmla="*/ 8 h 100"/>
                <a:gd name="T16" fmla="*/ 8 w 140"/>
                <a:gd name="T17" fmla="*/ 31 h 100"/>
                <a:gd name="T18" fmla="*/ 8 w 140"/>
                <a:gd name="T19" fmla="*/ 68 h 100"/>
                <a:gd name="T20" fmla="*/ 71 w 140"/>
                <a:gd name="T21" fmla="*/ 92 h 100"/>
                <a:gd name="T22" fmla="*/ 132 w 140"/>
                <a:gd name="T23" fmla="*/ 68 h 100"/>
                <a:gd name="T24" fmla="*/ 132 w 140"/>
                <a:gd name="T25" fmla="*/ 31 h 100"/>
                <a:gd name="T26" fmla="*/ 71 w 140"/>
                <a:gd name="T27" fmla="*/ 8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0" h="100">
                  <a:moveTo>
                    <a:pt x="71" y="100"/>
                  </a:moveTo>
                  <a:cubicBezTo>
                    <a:pt x="37" y="100"/>
                    <a:pt x="0" y="90"/>
                    <a:pt x="0" y="68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10"/>
                    <a:pt x="37" y="0"/>
                    <a:pt x="71" y="0"/>
                  </a:cubicBezTo>
                  <a:cubicBezTo>
                    <a:pt x="104" y="0"/>
                    <a:pt x="140" y="10"/>
                    <a:pt x="140" y="31"/>
                  </a:cubicBezTo>
                  <a:cubicBezTo>
                    <a:pt x="140" y="68"/>
                    <a:pt x="140" y="68"/>
                    <a:pt x="140" y="68"/>
                  </a:cubicBezTo>
                  <a:cubicBezTo>
                    <a:pt x="140" y="90"/>
                    <a:pt x="104" y="100"/>
                    <a:pt x="71" y="100"/>
                  </a:cubicBezTo>
                  <a:close/>
                  <a:moveTo>
                    <a:pt x="71" y="8"/>
                  </a:moveTo>
                  <a:cubicBezTo>
                    <a:pt x="41" y="8"/>
                    <a:pt x="8" y="17"/>
                    <a:pt x="8" y="31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8" y="83"/>
                    <a:pt x="41" y="92"/>
                    <a:pt x="71" y="92"/>
                  </a:cubicBezTo>
                  <a:cubicBezTo>
                    <a:pt x="101" y="92"/>
                    <a:pt x="132" y="83"/>
                    <a:pt x="132" y="68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2" y="17"/>
                    <a:pt x="101" y="8"/>
                    <a:pt x="71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991EB716-44A3-4304-9486-28FD4C093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3844" y="1801662"/>
              <a:ext cx="139700" cy="152400"/>
            </a:xfrm>
            <a:custGeom>
              <a:avLst/>
              <a:gdLst>
                <a:gd name="T0" fmla="*/ 44 w 44"/>
                <a:gd name="T1" fmla="*/ 47 h 47"/>
                <a:gd name="T2" fmla="*/ 17 w 44"/>
                <a:gd name="T3" fmla="*/ 47 h 47"/>
                <a:gd name="T4" fmla="*/ 0 w 44"/>
                <a:gd name="T5" fmla="*/ 29 h 47"/>
                <a:gd name="T6" fmla="*/ 0 w 44"/>
                <a:gd name="T7" fmla="*/ 0 h 47"/>
                <a:gd name="T8" fmla="*/ 8 w 44"/>
                <a:gd name="T9" fmla="*/ 0 h 47"/>
                <a:gd name="T10" fmla="*/ 8 w 44"/>
                <a:gd name="T11" fmla="*/ 29 h 47"/>
                <a:gd name="T12" fmla="*/ 18 w 44"/>
                <a:gd name="T13" fmla="*/ 39 h 47"/>
                <a:gd name="T14" fmla="*/ 44 w 44"/>
                <a:gd name="T15" fmla="*/ 39 h 47"/>
                <a:gd name="T16" fmla="*/ 44 w 44"/>
                <a:gd name="T17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" h="47">
                  <a:moveTo>
                    <a:pt x="44" y="47"/>
                  </a:moveTo>
                  <a:cubicBezTo>
                    <a:pt x="17" y="47"/>
                    <a:pt x="17" y="47"/>
                    <a:pt x="17" y="47"/>
                  </a:cubicBezTo>
                  <a:cubicBezTo>
                    <a:pt x="8" y="45"/>
                    <a:pt x="0" y="38"/>
                    <a:pt x="0" y="2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4"/>
                    <a:pt x="13" y="38"/>
                    <a:pt x="18" y="39"/>
                  </a:cubicBezTo>
                  <a:cubicBezTo>
                    <a:pt x="44" y="39"/>
                    <a:pt x="44" y="39"/>
                    <a:pt x="44" y="39"/>
                  </a:cubicBezTo>
                  <a:lnTo>
                    <a:pt x="44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18E9C22C-8828-4BB6-8BDE-2BC4C319B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9044" y="2185837"/>
              <a:ext cx="349250" cy="68263"/>
            </a:xfrm>
            <a:custGeom>
              <a:avLst/>
              <a:gdLst>
                <a:gd name="T0" fmla="*/ 54 w 109"/>
                <a:gd name="T1" fmla="*/ 21 h 21"/>
                <a:gd name="T2" fmla="*/ 0 w 109"/>
                <a:gd name="T3" fmla="*/ 0 h 21"/>
                <a:gd name="T4" fmla="*/ 8 w 109"/>
                <a:gd name="T5" fmla="*/ 0 h 21"/>
                <a:gd name="T6" fmla="*/ 54 w 109"/>
                <a:gd name="T7" fmla="*/ 13 h 21"/>
                <a:gd name="T8" fmla="*/ 101 w 109"/>
                <a:gd name="T9" fmla="*/ 0 h 21"/>
                <a:gd name="T10" fmla="*/ 109 w 109"/>
                <a:gd name="T11" fmla="*/ 0 h 21"/>
                <a:gd name="T12" fmla="*/ 54 w 109"/>
                <a:gd name="T1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" h="21">
                  <a:moveTo>
                    <a:pt x="54" y="21"/>
                  </a:moveTo>
                  <a:cubicBezTo>
                    <a:pt x="27" y="21"/>
                    <a:pt x="0" y="14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5"/>
                    <a:pt x="24" y="13"/>
                    <a:pt x="54" y="13"/>
                  </a:cubicBezTo>
                  <a:cubicBezTo>
                    <a:pt x="84" y="13"/>
                    <a:pt x="101" y="5"/>
                    <a:pt x="101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14"/>
                    <a:pt x="81" y="21"/>
                    <a:pt x="54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Agrupar 913">
            <a:extLst>
              <a:ext uri="{FF2B5EF4-FFF2-40B4-BE49-F238E27FC236}">
                <a16:creationId xmlns:a16="http://schemas.microsoft.com/office/drawing/2014/main" id="{38081716-4768-46FF-98A5-89A8FD3C45D6}"/>
              </a:ext>
            </a:extLst>
          </p:cNvPr>
          <p:cNvGrpSpPr/>
          <p:nvPr/>
        </p:nvGrpSpPr>
        <p:grpSpPr>
          <a:xfrm>
            <a:off x="1072013" y="2042355"/>
            <a:ext cx="609606" cy="436563"/>
            <a:chOff x="5023217" y="1782519"/>
            <a:chExt cx="609601" cy="436562"/>
          </a:xfrm>
        </p:grpSpPr>
        <p:sp>
          <p:nvSpPr>
            <p:cNvPr id="31" name="Freeform 101">
              <a:extLst>
                <a:ext uri="{FF2B5EF4-FFF2-40B4-BE49-F238E27FC236}">
                  <a16:creationId xmlns:a16="http://schemas.microsoft.com/office/drawing/2014/main" id="{0D6D0104-562F-47A6-A5B8-D321CF58A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1030" y="1782519"/>
              <a:ext cx="331788" cy="336550"/>
            </a:xfrm>
            <a:custGeom>
              <a:avLst/>
              <a:gdLst>
                <a:gd name="T0" fmla="*/ 90 w 104"/>
                <a:gd name="T1" fmla="*/ 104 h 104"/>
                <a:gd name="T2" fmla="*/ 70 w 104"/>
                <a:gd name="T3" fmla="*/ 34 h 104"/>
                <a:gd name="T4" fmla="*/ 0 w 104"/>
                <a:gd name="T5" fmla="*/ 1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4" h="104">
                  <a:moveTo>
                    <a:pt x="90" y="104"/>
                  </a:moveTo>
                  <a:cubicBezTo>
                    <a:pt x="104" y="90"/>
                    <a:pt x="95" y="59"/>
                    <a:pt x="70" y="34"/>
                  </a:cubicBezTo>
                  <a:cubicBezTo>
                    <a:pt x="45" y="8"/>
                    <a:pt x="14" y="0"/>
                    <a:pt x="0" y="14"/>
                  </a:cubicBezTo>
                </a:path>
              </a:pathLst>
            </a:custGeom>
            <a:noFill/>
            <a:ln w="19050" cap="flat">
              <a:solidFill>
                <a:srgbClr val="CF84AE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102">
              <a:extLst>
                <a:ext uri="{FF2B5EF4-FFF2-40B4-BE49-F238E27FC236}">
                  <a16:creationId xmlns:a16="http://schemas.microsoft.com/office/drawing/2014/main" id="{D6BCA736-9AB9-4B6A-A133-3F646C31C9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1017" y="1828556"/>
              <a:ext cx="387350" cy="390525"/>
            </a:xfrm>
            <a:custGeom>
              <a:avLst/>
              <a:gdLst>
                <a:gd name="T0" fmla="*/ 121 w 121"/>
                <a:gd name="T1" fmla="*/ 90 h 121"/>
                <a:gd name="T2" fmla="*/ 51 w 121"/>
                <a:gd name="T3" fmla="*/ 70 h 121"/>
                <a:gd name="T4" fmla="*/ 31 w 121"/>
                <a:gd name="T5" fmla="*/ 0 h 121"/>
                <a:gd name="T6" fmla="*/ 14 w 121"/>
                <a:gd name="T7" fmla="*/ 17 h 121"/>
                <a:gd name="T8" fmla="*/ 34 w 121"/>
                <a:gd name="T9" fmla="*/ 87 h 121"/>
                <a:gd name="T10" fmla="*/ 104 w 121"/>
                <a:gd name="T11" fmla="*/ 107 h 121"/>
                <a:gd name="T12" fmla="*/ 121 w 121"/>
                <a:gd name="T13" fmla="*/ 9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1" h="121">
                  <a:moveTo>
                    <a:pt x="121" y="90"/>
                  </a:moveTo>
                  <a:cubicBezTo>
                    <a:pt x="107" y="104"/>
                    <a:pt x="76" y="96"/>
                    <a:pt x="51" y="70"/>
                  </a:cubicBezTo>
                  <a:cubicBezTo>
                    <a:pt x="25" y="45"/>
                    <a:pt x="17" y="14"/>
                    <a:pt x="31" y="0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0" y="31"/>
                    <a:pt x="8" y="62"/>
                    <a:pt x="34" y="87"/>
                  </a:cubicBezTo>
                  <a:cubicBezTo>
                    <a:pt x="59" y="112"/>
                    <a:pt x="90" y="121"/>
                    <a:pt x="104" y="107"/>
                  </a:cubicBezTo>
                  <a:lnTo>
                    <a:pt x="121" y="90"/>
                  </a:lnTo>
                  <a:close/>
                </a:path>
              </a:pathLst>
            </a:custGeom>
            <a:noFill/>
            <a:ln w="19050" cap="flat">
              <a:solidFill>
                <a:srgbClr val="CF84AE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 103">
              <a:extLst>
                <a:ext uri="{FF2B5EF4-FFF2-40B4-BE49-F238E27FC236}">
                  <a16:creationId xmlns:a16="http://schemas.microsoft.com/office/drawing/2014/main" id="{94AC3BFE-24F5-404D-A6BF-868035910F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3217" y="1938094"/>
              <a:ext cx="265113" cy="155575"/>
            </a:xfrm>
            <a:custGeom>
              <a:avLst/>
              <a:gdLst>
                <a:gd name="T0" fmla="*/ 83 w 83"/>
                <a:gd name="T1" fmla="*/ 46 h 48"/>
                <a:gd name="T2" fmla="*/ 60 w 83"/>
                <a:gd name="T3" fmla="*/ 48 h 48"/>
                <a:gd name="T4" fmla="*/ 0 w 83"/>
                <a:gd name="T5" fmla="*/ 24 h 48"/>
                <a:gd name="T6" fmla="*/ 60 w 83"/>
                <a:gd name="T7" fmla="*/ 0 h 48"/>
                <a:gd name="T8" fmla="*/ 63 w 83"/>
                <a:gd name="T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48">
                  <a:moveTo>
                    <a:pt x="83" y="46"/>
                  </a:moveTo>
                  <a:cubicBezTo>
                    <a:pt x="76" y="47"/>
                    <a:pt x="68" y="48"/>
                    <a:pt x="60" y="48"/>
                  </a:cubicBezTo>
                  <a:cubicBezTo>
                    <a:pt x="25" y="48"/>
                    <a:pt x="0" y="37"/>
                    <a:pt x="0" y="24"/>
                  </a:cubicBezTo>
                  <a:cubicBezTo>
                    <a:pt x="0" y="11"/>
                    <a:pt x="25" y="0"/>
                    <a:pt x="60" y="0"/>
                  </a:cubicBezTo>
                  <a:cubicBezTo>
                    <a:pt x="61" y="0"/>
                    <a:pt x="62" y="0"/>
                    <a:pt x="63" y="0"/>
                  </a:cubicBezTo>
                </a:path>
              </a:pathLst>
            </a:custGeom>
            <a:noFill/>
            <a:ln w="19050" cap="flat">
              <a:solidFill>
                <a:srgbClr val="CF84AE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 104">
              <a:extLst>
                <a:ext uri="{FF2B5EF4-FFF2-40B4-BE49-F238E27FC236}">
                  <a16:creationId xmlns:a16="http://schemas.microsoft.com/office/drawing/2014/main" id="{1971195C-2B78-4F41-9C69-A8D9EBC14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3217" y="2015881"/>
              <a:ext cx="344488" cy="168275"/>
            </a:xfrm>
            <a:custGeom>
              <a:avLst/>
              <a:gdLst>
                <a:gd name="T0" fmla="*/ 0 w 108"/>
                <a:gd name="T1" fmla="*/ 0 h 52"/>
                <a:gd name="T2" fmla="*/ 0 w 108"/>
                <a:gd name="T3" fmla="*/ 28 h 52"/>
                <a:gd name="T4" fmla="*/ 60 w 108"/>
                <a:gd name="T5" fmla="*/ 52 h 52"/>
                <a:gd name="T6" fmla="*/ 108 w 108"/>
                <a:gd name="T7" fmla="*/ 4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52">
                  <a:moveTo>
                    <a:pt x="0" y="0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41"/>
                    <a:pt x="25" y="52"/>
                    <a:pt x="60" y="52"/>
                  </a:cubicBezTo>
                  <a:cubicBezTo>
                    <a:pt x="79" y="52"/>
                    <a:pt x="97" y="49"/>
                    <a:pt x="108" y="44"/>
                  </a:cubicBezTo>
                </a:path>
              </a:pathLst>
            </a:custGeom>
            <a:noFill/>
            <a:ln w="19050" cap="flat">
              <a:solidFill>
                <a:srgbClr val="CF84AE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Line 105">
              <a:extLst>
                <a:ext uri="{FF2B5EF4-FFF2-40B4-BE49-F238E27FC236}">
                  <a16:creationId xmlns:a16="http://schemas.microsoft.com/office/drawing/2014/main" id="{150D10C2-844B-4224-B448-A29B280D48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04205" y="1822206"/>
              <a:ext cx="280988" cy="296863"/>
            </a:xfrm>
            <a:prstGeom prst="line">
              <a:avLst/>
            </a:prstGeom>
            <a:noFill/>
            <a:ln w="19050" cap="flat">
              <a:solidFill>
                <a:srgbClr val="CF84AE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DCDDA0A-3346-4F3A-8FB1-19B3C7C9A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726" y="1828293"/>
            <a:ext cx="1693172" cy="249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cap="none" normalizeH="0" baseline="0" noProof="0" dirty="0">
                <a:ln>
                  <a:noFill/>
                </a:ln>
                <a:solidFill>
                  <a:prstClr val="white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PRODUTO HOSPITALAR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04C9888-522E-4FC6-82E0-FEA9454C2546}"/>
              </a:ext>
            </a:extLst>
          </p:cNvPr>
          <p:cNvSpPr/>
          <p:nvPr/>
        </p:nvSpPr>
        <p:spPr>
          <a:xfrm>
            <a:off x="711201" y="6131660"/>
            <a:ext cx="10769600" cy="646331"/>
          </a:xfrm>
          <a:prstGeom prst="rect">
            <a:avLst/>
          </a:prstGeom>
          <a:solidFill>
            <a:srgbClr val="C10076"/>
          </a:solidFill>
        </p:spPr>
        <p:txBody>
          <a:bodyPr wrap="square"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Trebuchet MS" panose="020B0603020202020204" pitchFamily="34" charset="0"/>
                <a:ea typeface="ＭＳ Ｐゴシック" pitchFamily="34" charset="-128"/>
              </a:rPr>
              <a:t>INDICAÇÕES TERAPÊUTICAS: </a:t>
            </a:r>
            <a:r>
              <a:rPr lang="pt-PT" dirty="0">
                <a:solidFill>
                  <a:schemeClr val="bg1"/>
                </a:solidFill>
                <a:latin typeface="Trebuchet MS" panose="020B0603020202020204" pitchFamily="34" charset="0"/>
                <a:ea typeface="ＭＳ Ｐゴシック" pitchFamily="34" charset="-128"/>
              </a:rPr>
              <a:t>Maturação cervical e indução do parto de termo, sobretudo em casos de colo do útero imaturo, sempre que não existam contraindicações fetais ou maternas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D11A20-BE97-4470-903C-C25DB9A3C3E6}"/>
              </a:ext>
            </a:extLst>
          </p:cNvPr>
          <p:cNvSpPr txBox="1"/>
          <p:nvPr/>
        </p:nvSpPr>
        <p:spPr>
          <a:xfrm>
            <a:off x="8145007" y="3002020"/>
            <a:ext cx="2994026" cy="1318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1" i="0" u="none" strike="noStrike" cap="none" normalizeH="0" baseline="0" noProof="0" dirty="0">
                <a:ln>
                  <a:noFill/>
                </a:ln>
                <a:solidFill>
                  <a:srgbClr val="CF84AE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APRESENTAÇÃO</a:t>
            </a:r>
          </a:p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Embalagem de 8 comprimidos em blisters de alumínio. </a:t>
            </a:r>
          </a:p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Não requer condições especiais de conservação. </a:t>
            </a:r>
          </a:p>
        </p:txBody>
      </p:sp>
      <p:pic>
        <p:nvPicPr>
          <p:cNvPr id="6" name="Picture 5" descr="A box of pills with a black background&#10;&#10;Description automatically generated">
            <a:extLst>
              <a:ext uri="{FF2B5EF4-FFF2-40B4-BE49-F238E27FC236}">
                <a16:creationId xmlns:a16="http://schemas.microsoft.com/office/drawing/2014/main" id="{4A5F1E79-9400-0E60-738D-97EB2666313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52" t="15436" r="23713" b="14554"/>
          <a:stretch/>
        </p:blipFill>
        <p:spPr>
          <a:xfrm>
            <a:off x="3665747" y="2210630"/>
            <a:ext cx="5335378" cy="344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611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4DB40BC-96ED-4F3C-B1D3-6C11F595EA8B}"/>
              </a:ext>
            </a:extLst>
          </p:cNvPr>
          <p:cNvSpPr/>
          <p:nvPr/>
        </p:nvSpPr>
        <p:spPr>
          <a:xfrm>
            <a:off x="-237" y="2167243"/>
            <a:ext cx="7620749" cy="469075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D71546F-034A-4CDE-83DA-5F14C19DD08B}"/>
              </a:ext>
            </a:extLst>
          </p:cNvPr>
          <p:cNvSpPr/>
          <p:nvPr/>
        </p:nvSpPr>
        <p:spPr>
          <a:xfrm rot="16200000">
            <a:off x="2003642" y="2490908"/>
            <a:ext cx="1829067" cy="1829067"/>
          </a:xfrm>
          <a:prstGeom prst="ellipse">
            <a:avLst/>
          </a:prstGeom>
          <a:noFill/>
          <a:ln w="25400">
            <a:solidFill>
              <a:srgbClr val="CF84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F24A772-18F2-4FCC-BDA7-3C429EA5B041}"/>
              </a:ext>
            </a:extLst>
          </p:cNvPr>
          <p:cNvSpPr/>
          <p:nvPr/>
        </p:nvSpPr>
        <p:spPr>
          <a:xfrm rot="16200000">
            <a:off x="3537544" y="2490908"/>
            <a:ext cx="1829067" cy="1829067"/>
          </a:xfrm>
          <a:prstGeom prst="ellipse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7F81BAF-543B-4669-AC34-D69CD3074F71}"/>
              </a:ext>
            </a:extLst>
          </p:cNvPr>
          <p:cNvSpPr/>
          <p:nvPr/>
        </p:nvSpPr>
        <p:spPr>
          <a:xfrm>
            <a:off x="3636231" y="3252120"/>
            <a:ext cx="100584" cy="192405"/>
          </a:xfrm>
          <a:custGeom>
            <a:avLst/>
            <a:gdLst>
              <a:gd name="connsiteX0" fmla="*/ 0 w 100584"/>
              <a:gd name="connsiteY0" fmla="*/ 0 h 182880"/>
              <a:gd name="connsiteX1" fmla="*/ 100584 w 100584"/>
              <a:gd name="connsiteY1" fmla="*/ 100584 h 182880"/>
              <a:gd name="connsiteX2" fmla="*/ 18288 w 100584"/>
              <a:gd name="connsiteY2" fmla="*/ 182880 h 182880"/>
              <a:gd name="connsiteX0" fmla="*/ 0 w 100584"/>
              <a:gd name="connsiteY0" fmla="*/ 0 h 192405"/>
              <a:gd name="connsiteX1" fmla="*/ 100584 w 100584"/>
              <a:gd name="connsiteY1" fmla="*/ 100584 h 192405"/>
              <a:gd name="connsiteX2" fmla="*/ 6382 w 100584"/>
              <a:gd name="connsiteY2" fmla="*/ 192405 h 192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584" h="192405">
                <a:moveTo>
                  <a:pt x="0" y="0"/>
                </a:moveTo>
                <a:lnTo>
                  <a:pt x="100584" y="100584"/>
                </a:lnTo>
                <a:lnTo>
                  <a:pt x="6382" y="192405"/>
                </a:lnTo>
              </a:path>
            </a:pathLst>
          </a:custGeom>
          <a:noFill/>
          <a:ln w="19050" cap="rnd">
            <a:solidFill>
              <a:srgbClr val="838F9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838F9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883E65-79E8-4526-82D8-5790EC9D14E2}"/>
              </a:ext>
            </a:extLst>
          </p:cNvPr>
          <p:cNvSpPr/>
          <p:nvPr/>
        </p:nvSpPr>
        <p:spPr>
          <a:xfrm>
            <a:off x="-237" y="-5575"/>
            <a:ext cx="12191999" cy="2172818"/>
          </a:xfrm>
          <a:prstGeom prst="rect">
            <a:avLst/>
          </a:prstGeom>
          <a:solidFill>
            <a:srgbClr val="E68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2 Título">
            <a:extLst>
              <a:ext uri="{FF2B5EF4-FFF2-40B4-BE49-F238E27FC236}">
                <a16:creationId xmlns:a16="http://schemas.microsoft.com/office/drawing/2014/main" id="{3E16C5E2-F2AC-4DDC-9E8D-D0F06E6BE62D}"/>
              </a:ext>
            </a:extLst>
          </p:cNvPr>
          <p:cNvSpPr txBox="1">
            <a:spLocks/>
          </p:cNvSpPr>
          <p:nvPr/>
        </p:nvSpPr>
        <p:spPr>
          <a:xfrm>
            <a:off x="2204651" y="2996862"/>
            <a:ext cx="1526060" cy="84458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50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j-ea"/>
                <a:cs typeface="+mj-cs"/>
              </a:rPr>
              <a:t>25</a:t>
            </a:r>
            <a:r>
              <a:rPr kumimoji="0" lang="pt-PT" sz="4400" b="0" i="0" u="none" strike="noStrike" cap="none" normalizeH="0" baseline="-1200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j-ea"/>
                <a:cs typeface="+mj-cs"/>
              </a:rPr>
              <a:t>ug</a:t>
            </a:r>
            <a:br>
              <a:rPr kumimoji="0" lang="pt-PT" sz="36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j-ea"/>
                <a:cs typeface="+mj-cs"/>
              </a:rPr>
            </a:br>
            <a:endParaRPr kumimoji="0" lang="pt-PT" sz="3600" b="0" i="0" u="none" strike="noStrike" cap="none" normalizeH="0" baseline="0" noProof="0" dirty="0">
              <a:ln>
                <a:noFill/>
              </a:ln>
              <a:solidFill>
                <a:srgbClr val="231F20"/>
              </a:solidFill>
              <a:uLnTx/>
              <a:uFillTx/>
              <a:latin typeface="Trebuchet MS" panose="020B0603020202020204" pitchFamily="34" charset="0"/>
              <a:ea typeface="+mj-ea"/>
              <a:cs typeface="+mj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8BA9BC3-3B69-4C9E-8B62-6F2C74F9C349}"/>
              </a:ext>
            </a:extLst>
          </p:cNvPr>
          <p:cNvGrpSpPr/>
          <p:nvPr/>
        </p:nvGrpSpPr>
        <p:grpSpPr>
          <a:xfrm>
            <a:off x="3927700" y="2842774"/>
            <a:ext cx="1450516" cy="991982"/>
            <a:chOff x="2496708" y="4309649"/>
            <a:chExt cx="1450516" cy="991982"/>
          </a:xfrm>
        </p:grpSpPr>
        <p:sp>
          <p:nvSpPr>
            <p:cNvPr id="24" name="2 Título">
              <a:extLst>
                <a:ext uri="{FF2B5EF4-FFF2-40B4-BE49-F238E27FC236}">
                  <a16:creationId xmlns:a16="http://schemas.microsoft.com/office/drawing/2014/main" id="{2A7F3366-5016-4662-AD83-4799BA09CBFB}"/>
                </a:ext>
              </a:extLst>
            </p:cNvPr>
            <p:cNvSpPr txBox="1">
              <a:spLocks/>
            </p:cNvSpPr>
            <p:nvPr/>
          </p:nvSpPr>
          <p:spPr>
            <a:xfrm>
              <a:off x="2496708" y="4309649"/>
              <a:ext cx="1450516" cy="844589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5000" b="1" i="0" u="none" strike="noStrike" cap="none" normalizeH="0" baseline="0" noProof="0" dirty="0">
                  <a:ln>
                    <a:noFill/>
                  </a:ln>
                  <a:solidFill>
                    <a:srgbClr val="231F20"/>
                  </a:solidFill>
                  <a:uLnTx/>
                  <a:uFillTx/>
                  <a:latin typeface="Trebuchet MS" panose="020B0603020202020204" pitchFamily="34" charset="0"/>
                  <a:ea typeface="+mj-ea"/>
                  <a:cs typeface="+mj-cs"/>
                </a:rPr>
                <a:t>4-6</a:t>
              </a:r>
              <a:br>
                <a:rPr kumimoji="0" lang="pt-PT" sz="3600" b="0" i="0" u="none" strike="noStrike" cap="none" normalizeH="0" baseline="0" noProof="0" dirty="0">
                  <a:ln>
                    <a:noFill/>
                  </a:ln>
                  <a:solidFill>
                    <a:srgbClr val="231F20"/>
                  </a:solidFill>
                  <a:uLnTx/>
                  <a:uFillTx/>
                  <a:latin typeface="Trebuchet MS" panose="020B0603020202020204" pitchFamily="34" charset="0"/>
                  <a:ea typeface="+mj-ea"/>
                  <a:cs typeface="+mj-cs"/>
                </a:rPr>
              </a:br>
              <a:endParaRPr kumimoji="0" lang="pt-PT" sz="36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j-ea"/>
                <a:cs typeface="+mj-cs"/>
              </a:endParaRPr>
            </a:p>
          </p:txBody>
        </p:sp>
        <p:sp>
          <p:nvSpPr>
            <p:cNvPr id="25" name="2 Título">
              <a:extLst>
                <a:ext uri="{FF2B5EF4-FFF2-40B4-BE49-F238E27FC236}">
                  <a16:creationId xmlns:a16="http://schemas.microsoft.com/office/drawing/2014/main" id="{98CD6FA5-A8B8-4921-89A9-B45A56E94D45}"/>
                </a:ext>
              </a:extLst>
            </p:cNvPr>
            <p:cNvSpPr txBox="1">
              <a:spLocks/>
            </p:cNvSpPr>
            <p:nvPr/>
          </p:nvSpPr>
          <p:spPr>
            <a:xfrm>
              <a:off x="2581304" y="4828882"/>
              <a:ext cx="1197962" cy="472749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2800" b="0" i="0" u="none" strike="noStrike" cap="none" normalizeH="0" baseline="0" noProof="0">
                  <a:ln>
                    <a:noFill/>
                  </a:ln>
                  <a:solidFill>
                    <a:srgbClr val="231F20"/>
                  </a:solidFill>
                  <a:uLnTx/>
                  <a:uFillTx/>
                  <a:latin typeface="Trebuchet MS" panose="020B0603020202020204" pitchFamily="34" charset="0"/>
                  <a:ea typeface="+mj-ea"/>
                  <a:cs typeface="+mj-cs"/>
                </a:rPr>
                <a:t>horas</a:t>
              </a:r>
              <a:br>
                <a:rPr kumimoji="0" lang="pt-PT" sz="1400" b="0" i="0" u="none" strike="noStrike" cap="none" normalizeH="0" baseline="0" noProof="0">
                  <a:ln>
                    <a:noFill/>
                  </a:ln>
                  <a:solidFill>
                    <a:srgbClr val="231F20"/>
                  </a:solidFill>
                  <a:uLnTx/>
                  <a:uFillTx/>
                  <a:latin typeface="Trebuchet MS" panose="020B0603020202020204" pitchFamily="34" charset="0"/>
                  <a:ea typeface="+mj-ea"/>
                  <a:cs typeface="+mj-cs"/>
                </a:rPr>
              </a:br>
              <a:endParaRPr kumimoji="0" lang="pt-PT" sz="1400" b="0" i="0" u="none" strike="noStrike" cap="none" normalizeH="0" baseline="0" noProof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j-ea"/>
                <a:cs typeface="+mj-cs"/>
              </a:endParaRPr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175EDC27-C944-4201-93CB-EC68D7740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22" y="4489453"/>
            <a:ext cx="5958976" cy="2185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marL="285750" marR="0" lvl="0" indent="-285750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1600" dirty="0">
                <a:solidFill>
                  <a:srgbClr val="231F20"/>
                </a:solidFill>
                <a:latin typeface="Trebuchet MS" panose="020B0603020202020204" pitchFamily="34" charset="0"/>
                <a:ea typeface="+mn-ea"/>
              </a:rPr>
              <a:t>A dose de 25 µg pode ser repetida a cada 4-6 horas até um máximo de 4-6 administrações.</a:t>
            </a:r>
          </a:p>
          <a:p>
            <a:pPr marL="285750" indent="-285750" eaLnBrk="1" hangingPunct="1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endParaRPr lang="pt-PT" sz="1600" dirty="0">
              <a:solidFill>
                <a:srgbClr val="231F20"/>
              </a:solidFill>
              <a:latin typeface="Trebuchet MS" panose="020B0603020202020204" pitchFamily="34" charset="0"/>
              <a:ea typeface="+mn-ea"/>
            </a:endParaRPr>
          </a:p>
          <a:p>
            <a:pPr marL="285750" indent="-285750" eaLnBrk="1" hangingPunct="1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pt-PT" sz="1600" dirty="0">
                <a:solidFill>
                  <a:srgbClr val="231F20"/>
                </a:solidFill>
                <a:latin typeface="Trebuchet MS" panose="020B0603020202020204" pitchFamily="34" charset="0"/>
                <a:ea typeface="+mn-ea"/>
              </a:rPr>
              <a:t>A dose deve ser adaptada à resposta da paciente (deverá ser sempre mantida nas menores concentrações que garantam uma resposta uterina satisfatória).</a:t>
            </a:r>
          </a:p>
          <a:p>
            <a:pPr marL="285750" marR="0" lvl="0" indent="-285750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1600" dirty="0">
              <a:solidFill>
                <a:srgbClr val="231F20"/>
              </a:solidFill>
              <a:latin typeface="Trebuchet MS" panose="020B0603020202020204" pitchFamily="34" charset="0"/>
              <a:ea typeface="+mn-ea"/>
            </a:endParaRPr>
          </a:p>
          <a:p>
            <a:pPr marL="285750" indent="-285750" eaLnBrk="1" hangingPunct="1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pt-PT" sz="1600" dirty="0">
                <a:solidFill>
                  <a:srgbClr val="231F20"/>
                </a:solidFill>
                <a:latin typeface="Trebuchet MS" panose="020B0603020202020204" pitchFamily="34" charset="0"/>
                <a:ea typeface="+mn-ea"/>
              </a:rPr>
              <a:t>A segurança e eficácia de Misofar 25 em mulheres grávidas com menos de 18 anos não foram estabelecidas.</a:t>
            </a:r>
          </a:p>
          <a:p>
            <a:pPr marL="285750" marR="0" lvl="0" indent="-285750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1600" dirty="0">
              <a:solidFill>
                <a:srgbClr val="231F20"/>
              </a:solidFill>
              <a:latin typeface="Trebuchet MS" panose="020B0603020202020204" pitchFamily="34" charset="0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4166C7-0D7C-47E3-BAA4-1B1327B1C9B0}"/>
              </a:ext>
            </a:extLst>
          </p:cNvPr>
          <p:cNvSpPr txBox="1"/>
          <p:nvPr/>
        </p:nvSpPr>
        <p:spPr>
          <a:xfrm>
            <a:off x="927784" y="1012842"/>
            <a:ext cx="41763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5400" b="1" i="0" u="none" strike="noStrike" cap="none" normalizeH="0" baseline="0" noProof="0" dirty="0">
                <a:ln>
                  <a:noFill/>
                </a:ln>
                <a:solidFill>
                  <a:prstClr val="white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POSOLOGIA</a:t>
            </a:r>
          </a:p>
        </p:txBody>
      </p:sp>
      <p:sp>
        <p:nvSpPr>
          <p:cNvPr id="16" name="Double Bracket 14">
            <a:extLst>
              <a:ext uri="{FF2B5EF4-FFF2-40B4-BE49-F238E27FC236}">
                <a16:creationId xmlns:a16="http://schemas.microsoft.com/office/drawing/2014/main" id="{11B7A736-0162-41E8-8019-F8FC91812E94}"/>
              </a:ext>
            </a:extLst>
          </p:cNvPr>
          <p:cNvSpPr/>
          <p:nvPr/>
        </p:nvSpPr>
        <p:spPr>
          <a:xfrm>
            <a:off x="499929" y="804686"/>
            <a:ext cx="669821" cy="669821"/>
          </a:xfrm>
          <a:custGeom>
            <a:avLst/>
            <a:gdLst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1258880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4" fmla="*/ 1878004 w 2381250"/>
              <a:gd name="connsiteY4" fmla="*/ 0 h 1762126"/>
              <a:gd name="connsiteX5" fmla="*/ 2381250 w 2381250"/>
              <a:gd name="connsiteY5" fmla="*/ 503246 h 1762126"/>
              <a:gd name="connsiteX6" fmla="*/ 2381250 w 2381250"/>
              <a:gd name="connsiteY6" fmla="*/ 1258880 h 1762126"/>
              <a:gd name="connsiteX7" fmla="*/ 1878004 w 2381250"/>
              <a:gd name="connsiteY7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7" fmla="*/ 503246 w 2381250"/>
              <a:gd name="connsiteY7" fmla="*/ 1762126 h 176212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878004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03246 w 2381250"/>
              <a:gd name="connsiteY6" fmla="*/ 1762126 h 1853566"/>
              <a:gd name="connsiteX7" fmla="*/ 0 w 2381250"/>
              <a:gd name="connsiteY7" fmla="*/ 1258880 h 1853566"/>
              <a:gd name="connsiteX8" fmla="*/ 0 w 2381250"/>
              <a:gd name="connsiteY8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209675 w 2381250"/>
              <a:gd name="connsiteY2" fmla="*/ 1 h 1853566"/>
              <a:gd name="connsiteX3" fmla="*/ 1878004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03246 w 2381250"/>
              <a:gd name="connsiteY7" fmla="*/ 1762126 h 1853566"/>
              <a:gd name="connsiteX8" fmla="*/ 0 w 2381250"/>
              <a:gd name="connsiteY8" fmla="*/ 1258880 h 1853566"/>
              <a:gd name="connsiteX9" fmla="*/ 0 w 2381250"/>
              <a:gd name="connsiteY9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9" fmla="*/ 1301115 w 2381250"/>
              <a:gd name="connsiteY9" fmla="*/ 91441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94686 w 2381250"/>
              <a:gd name="connsiteY7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0 w 2381250"/>
              <a:gd name="connsiteY1" fmla="*/ 503246 h 1853566"/>
              <a:gd name="connsiteX2" fmla="*/ 503246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94686 w 2381250"/>
              <a:gd name="connsiteY6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94686 w 2381250"/>
              <a:gd name="connsiteY5" fmla="*/ 1853566 h 185356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503246 w 2381250"/>
              <a:gd name="connsiteY4" fmla="*/ 1762126 h 1762126"/>
              <a:gd name="connsiteX5" fmla="*/ 0 w 2381250"/>
              <a:gd name="connsiteY5" fmla="*/ 1258880 h 1762126"/>
              <a:gd name="connsiteX6" fmla="*/ 0 w 2381250"/>
              <a:gd name="connsiteY6" fmla="*/ 503246 h 1762126"/>
              <a:gd name="connsiteX7" fmla="*/ 503246 w 2381250"/>
              <a:gd name="connsiteY7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1258880 h 1762126"/>
              <a:gd name="connsiteX5" fmla="*/ 0 w 2381250"/>
              <a:gd name="connsiteY5" fmla="*/ 503246 h 1762126"/>
              <a:gd name="connsiteX6" fmla="*/ 503246 w 2381250"/>
              <a:gd name="connsiteY6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503246 h 1762126"/>
              <a:gd name="connsiteX5" fmla="*/ 503246 w 2381250"/>
              <a:gd name="connsiteY5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0" fmla="*/ 1878004 w 1878004"/>
              <a:gd name="connsiteY0" fmla="*/ 1762126 h 1762126"/>
              <a:gd name="connsiteX1" fmla="*/ 0 w 1878004"/>
              <a:gd name="connsiteY1" fmla="*/ 503246 h 1762126"/>
              <a:gd name="connsiteX2" fmla="*/ 503246 w 1878004"/>
              <a:gd name="connsiteY2" fmla="*/ 0 h 1762126"/>
              <a:gd name="connsiteX0" fmla="*/ 0 w 1878004"/>
              <a:gd name="connsiteY0" fmla="*/ 503246 h 1762126"/>
              <a:gd name="connsiteX1" fmla="*/ 503246 w 1878004"/>
              <a:gd name="connsiteY1" fmla="*/ 0 h 1762126"/>
              <a:gd name="connsiteX0" fmla="*/ 0 w 503246"/>
              <a:gd name="connsiteY0" fmla="*/ 503246 h 503246"/>
              <a:gd name="connsiteX1" fmla="*/ 503246 w 503246"/>
              <a:gd name="connsiteY1" fmla="*/ 0 h 503246"/>
              <a:gd name="connsiteX0" fmla="*/ 0 w 503246"/>
              <a:gd name="connsiteY0" fmla="*/ 503246 h 503246"/>
              <a:gd name="connsiteX1" fmla="*/ 503246 w 503246"/>
              <a:gd name="connsiteY1" fmla="*/ 0 h 503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246" h="503246" stroke="0" extrusionOk="0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  <a:path w="503246" h="503246" fill="none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</a:pathLst>
          </a:custGeom>
          <a:noFill/>
          <a:ln w="25400" cap="rnd">
            <a:solidFill>
              <a:srgbClr val="C1007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DBB909A-ACB4-4124-B65B-F0F8E358817E}"/>
              </a:ext>
            </a:extLst>
          </p:cNvPr>
          <p:cNvGrpSpPr/>
          <p:nvPr/>
        </p:nvGrpSpPr>
        <p:grpSpPr>
          <a:xfrm>
            <a:off x="7987848" y="2891820"/>
            <a:ext cx="1166566" cy="1170930"/>
            <a:chOff x="2064602" y="3759968"/>
            <a:chExt cx="1829067" cy="1829067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5486FF7-1AF2-424B-B555-0A34FFCEA835}"/>
                </a:ext>
              </a:extLst>
            </p:cNvPr>
            <p:cNvSpPr/>
            <p:nvPr/>
          </p:nvSpPr>
          <p:spPr>
            <a:xfrm rot="16200000">
              <a:off x="2064602" y="3759968"/>
              <a:ext cx="1829067" cy="18290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F84A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D48A6904-3050-4B8F-840E-EA8E5E8551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053" r="70221"/>
            <a:stretch/>
          </p:blipFill>
          <p:spPr>
            <a:xfrm>
              <a:off x="2090738" y="4051977"/>
              <a:ext cx="1778773" cy="1279060"/>
            </a:xfrm>
            <a:custGeom>
              <a:avLst/>
              <a:gdLst>
                <a:gd name="connsiteX0" fmla="*/ 255041 w 1829068"/>
                <a:gd name="connsiteY0" fmla="*/ 0 h 1287671"/>
                <a:gd name="connsiteX1" fmla="*/ 1574027 w 1829068"/>
                <a:gd name="connsiteY1" fmla="*/ 0 h 1287671"/>
                <a:gd name="connsiteX2" fmla="*/ 1672880 w 1829068"/>
                <a:gd name="connsiteY2" fmla="*/ 119811 h 1287671"/>
                <a:gd name="connsiteX3" fmla="*/ 1829068 w 1829068"/>
                <a:gd name="connsiteY3" fmla="*/ 631135 h 1287671"/>
                <a:gd name="connsiteX4" fmla="*/ 1561207 w 1829068"/>
                <a:gd name="connsiteY4" fmla="*/ 1277808 h 1287671"/>
                <a:gd name="connsiteX5" fmla="*/ 1549253 w 1829068"/>
                <a:gd name="connsiteY5" fmla="*/ 1287671 h 1287671"/>
                <a:gd name="connsiteX6" fmla="*/ 279815 w 1829068"/>
                <a:gd name="connsiteY6" fmla="*/ 1287671 h 1287671"/>
                <a:gd name="connsiteX7" fmla="*/ 267861 w 1829068"/>
                <a:gd name="connsiteY7" fmla="*/ 1277808 h 1287671"/>
                <a:gd name="connsiteX8" fmla="*/ 0 w 1829068"/>
                <a:gd name="connsiteY8" fmla="*/ 631135 h 1287671"/>
                <a:gd name="connsiteX9" fmla="*/ 156188 w 1829068"/>
                <a:gd name="connsiteY9" fmla="*/ 119811 h 1287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9068" h="1287671">
                  <a:moveTo>
                    <a:pt x="255041" y="0"/>
                  </a:moveTo>
                  <a:lnTo>
                    <a:pt x="1574027" y="0"/>
                  </a:lnTo>
                  <a:lnTo>
                    <a:pt x="1672880" y="119811"/>
                  </a:lnTo>
                  <a:cubicBezTo>
                    <a:pt x="1771489" y="265771"/>
                    <a:pt x="1829068" y="441729"/>
                    <a:pt x="1829068" y="631135"/>
                  </a:cubicBezTo>
                  <a:cubicBezTo>
                    <a:pt x="1829068" y="883677"/>
                    <a:pt x="1726705" y="1112310"/>
                    <a:pt x="1561207" y="1277808"/>
                  </a:cubicBezTo>
                  <a:lnTo>
                    <a:pt x="1549253" y="1287671"/>
                  </a:lnTo>
                  <a:lnTo>
                    <a:pt x="279815" y="1287671"/>
                  </a:lnTo>
                  <a:lnTo>
                    <a:pt x="267861" y="1277808"/>
                  </a:lnTo>
                  <a:cubicBezTo>
                    <a:pt x="102363" y="1112310"/>
                    <a:pt x="0" y="883677"/>
                    <a:pt x="0" y="631135"/>
                  </a:cubicBezTo>
                  <a:cubicBezTo>
                    <a:pt x="0" y="441729"/>
                    <a:pt x="57579" y="265771"/>
                    <a:pt x="156188" y="119811"/>
                  </a:cubicBezTo>
                  <a:close/>
                </a:path>
              </a:pathLst>
            </a:cu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2387812-DCA9-4DCE-A26F-94C72E66EDB6}"/>
              </a:ext>
            </a:extLst>
          </p:cNvPr>
          <p:cNvGrpSpPr/>
          <p:nvPr/>
        </p:nvGrpSpPr>
        <p:grpSpPr>
          <a:xfrm>
            <a:off x="7987848" y="4191262"/>
            <a:ext cx="1166566" cy="1170930"/>
            <a:chOff x="823177" y="4197084"/>
            <a:chExt cx="1829067" cy="1829067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92F682F-0194-4966-8316-58DFEF662078}"/>
                </a:ext>
              </a:extLst>
            </p:cNvPr>
            <p:cNvSpPr/>
            <p:nvPr/>
          </p:nvSpPr>
          <p:spPr>
            <a:xfrm rot="16200000">
              <a:off x="823177" y="4197084"/>
              <a:ext cx="1829067" cy="18290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F84A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758F6F86-BD3F-4ED7-A4DC-A125A113F5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5208" r="34140"/>
            <a:stretch/>
          </p:blipFill>
          <p:spPr>
            <a:xfrm>
              <a:off x="864765" y="4577920"/>
              <a:ext cx="1770487" cy="1144121"/>
            </a:xfrm>
            <a:custGeom>
              <a:avLst/>
              <a:gdLst>
                <a:gd name="connsiteX0" fmla="*/ 178117 w 1796622"/>
                <a:gd name="connsiteY0" fmla="*/ 0 h 1144121"/>
                <a:gd name="connsiteX1" fmla="*/ 1618506 w 1796622"/>
                <a:gd name="connsiteY1" fmla="*/ 0 h 1144121"/>
                <a:gd name="connsiteX2" fmla="*/ 1643205 w 1796622"/>
                <a:gd name="connsiteY2" fmla="*/ 30049 h 1144121"/>
                <a:gd name="connsiteX3" fmla="*/ 1796622 w 1796622"/>
                <a:gd name="connsiteY3" fmla="*/ 534197 h 1144121"/>
                <a:gd name="connsiteX4" fmla="*/ 1643205 w 1796622"/>
                <a:gd name="connsiteY4" fmla="*/ 1038346 h 1144121"/>
                <a:gd name="connsiteX5" fmla="*/ 1556260 w 1796622"/>
                <a:gd name="connsiteY5" fmla="*/ 1144121 h 1144121"/>
                <a:gd name="connsiteX6" fmla="*/ 240362 w 1796622"/>
                <a:gd name="connsiteY6" fmla="*/ 1144121 h 1144121"/>
                <a:gd name="connsiteX7" fmla="*/ 153418 w 1796622"/>
                <a:gd name="connsiteY7" fmla="*/ 1038346 h 1144121"/>
                <a:gd name="connsiteX8" fmla="*/ 0 w 1796622"/>
                <a:gd name="connsiteY8" fmla="*/ 534197 h 1144121"/>
                <a:gd name="connsiteX9" fmla="*/ 153418 w 1796622"/>
                <a:gd name="connsiteY9" fmla="*/ 30049 h 1144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96622" h="1144121">
                  <a:moveTo>
                    <a:pt x="178117" y="0"/>
                  </a:moveTo>
                  <a:lnTo>
                    <a:pt x="1618506" y="0"/>
                  </a:lnTo>
                  <a:lnTo>
                    <a:pt x="1643205" y="30049"/>
                  </a:lnTo>
                  <a:cubicBezTo>
                    <a:pt x="1740064" y="173961"/>
                    <a:pt x="1796622" y="347449"/>
                    <a:pt x="1796622" y="534197"/>
                  </a:cubicBezTo>
                  <a:cubicBezTo>
                    <a:pt x="1796622" y="720945"/>
                    <a:pt x="1740064" y="894434"/>
                    <a:pt x="1643205" y="1038346"/>
                  </a:cubicBezTo>
                  <a:lnTo>
                    <a:pt x="1556260" y="1144121"/>
                  </a:lnTo>
                  <a:lnTo>
                    <a:pt x="240362" y="1144121"/>
                  </a:lnTo>
                  <a:lnTo>
                    <a:pt x="153418" y="1038346"/>
                  </a:lnTo>
                  <a:cubicBezTo>
                    <a:pt x="56558" y="894434"/>
                    <a:pt x="0" y="720945"/>
                    <a:pt x="0" y="534197"/>
                  </a:cubicBezTo>
                  <a:cubicBezTo>
                    <a:pt x="0" y="347449"/>
                    <a:pt x="56558" y="173961"/>
                    <a:pt x="153418" y="30049"/>
                  </a:cubicBezTo>
                  <a:close/>
                </a:path>
              </a:pathLst>
            </a:cu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8A2579C-FD0F-4092-9FCC-F50EF8B38BE9}"/>
              </a:ext>
            </a:extLst>
          </p:cNvPr>
          <p:cNvGrpSpPr/>
          <p:nvPr/>
        </p:nvGrpSpPr>
        <p:grpSpPr>
          <a:xfrm>
            <a:off x="7987848" y="5490703"/>
            <a:ext cx="1166566" cy="1170930"/>
            <a:chOff x="4376002" y="4241168"/>
            <a:chExt cx="1829067" cy="1829067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67BBD21-60E6-4FE1-BA76-BA4A502285B4}"/>
                </a:ext>
              </a:extLst>
            </p:cNvPr>
            <p:cNvSpPr/>
            <p:nvPr/>
          </p:nvSpPr>
          <p:spPr>
            <a:xfrm rot="16200000">
              <a:off x="4376002" y="4241168"/>
              <a:ext cx="1829067" cy="18290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F84A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1661520A-B4E5-4E1D-9281-934FFDC07F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7752"/>
            <a:stretch/>
          </p:blipFill>
          <p:spPr>
            <a:xfrm>
              <a:off x="4395924" y="4678670"/>
              <a:ext cx="1792154" cy="1087453"/>
            </a:xfrm>
            <a:custGeom>
              <a:avLst/>
              <a:gdLst>
                <a:gd name="connsiteX0" fmla="*/ 139024 w 1796622"/>
                <a:gd name="connsiteY0" fmla="*/ 0 h 1087454"/>
                <a:gd name="connsiteX1" fmla="*/ 1657599 w 1796622"/>
                <a:gd name="connsiteY1" fmla="*/ 0 h 1087454"/>
                <a:gd name="connsiteX2" fmla="*/ 1726028 w 1796622"/>
                <a:gd name="connsiteY2" fmla="*/ 126548 h 1087454"/>
                <a:gd name="connsiteX3" fmla="*/ 1796622 w 1796622"/>
                <a:gd name="connsiteY3" fmla="*/ 477530 h 1087454"/>
                <a:gd name="connsiteX4" fmla="*/ 1643205 w 1796622"/>
                <a:gd name="connsiteY4" fmla="*/ 981679 h 1087454"/>
                <a:gd name="connsiteX5" fmla="*/ 1556260 w 1796622"/>
                <a:gd name="connsiteY5" fmla="*/ 1087454 h 1087454"/>
                <a:gd name="connsiteX6" fmla="*/ 240363 w 1796622"/>
                <a:gd name="connsiteY6" fmla="*/ 1087454 h 1087454"/>
                <a:gd name="connsiteX7" fmla="*/ 153418 w 1796622"/>
                <a:gd name="connsiteY7" fmla="*/ 981679 h 1087454"/>
                <a:gd name="connsiteX8" fmla="*/ 0 w 1796622"/>
                <a:gd name="connsiteY8" fmla="*/ 477530 h 1087454"/>
                <a:gd name="connsiteX9" fmla="*/ 70594 w 1796622"/>
                <a:gd name="connsiteY9" fmla="*/ 126548 h 1087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96622" h="1087454">
                  <a:moveTo>
                    <a:pt x="139024" y="0"/>
                  </a:moveTo>
                  <a:lnTo>
                    <a:pt x="1657599" y="0"/>
                  </a:lnTo>
                  <a:lnTo>
                    <a:pt x="1726028" y="126548"/>
                  </a:lnTo>
                  <a:cubicBezTo>
                    <a:pt x="1771485" y="234426"/>
                    <a:pt x="1796622" y="353032"/>
                    <a:pt x="1796622" y="477530"/>
                  </a:cubicBezTo>
                  <a:cubicBezTo>
                    <a:pt x="1796622" y="664278"/>
                    <a:pt x="1740065" y="837767"/>
                    <a:pt x="1643205" y="981679"/>
                  </a:cubicBezTo>
                  <a:lnTo>
                    <a:pt x="1556260" y="1087454"/>
                  </a:lnTo>
                  <a:lnTo>
                    <a:pt x="240363" y="1087454"/>
                  </a:lnTo>
                  <a:lnTo>
                    <a:pt x="153418" y="981679"/>
                  </a:lnTo>
                  <a:cubicBezTo>
                    <a:pt x="56558" y="837767"/>
                    <a:pt x="0" y="664278"/>
                    <a:pt x="0" y="477530"/>
                  </a:cubicBezTo>
                  <a:cubicBezTo>
                    <a:pt x="0" y="353032"/>
                    <a:pt x="25137" y="234426"/>
                    <a:pt x="70594" y="126548"/>
                  </a:cubicBezTo>
                  <a:close/>
                </a:path>
              </a:pathLst>
            </a:custGeom>
          </p:spPr>
        </p:pic>
      </p:grp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B1DAF8AD-B4EC-40A7-8FAC-015DE73B2221}"/>
              </a:ext>
            </a:extLst>
          </p:cNvPr>
          <p:cNvSpPr/>
          <p:nvPr/>
        </p:nvSpPr>
        <p:spPr>
          <a:xfrm>
            <a:off x="9268793" y="5957508"/>
            <a:ext cx="85474" cy="152889"/>
          </a:xfrm>
          <a:custGeom>
            <a:avLst/>
            <a:gdLst>
              <a:gd name="connsiteX0" fmla="*/ 0 w 100584"/>
              <a:gd name="connsiteY0" fmla="*/ 0 h 182880"/>
              <a:gd name="connsiteX1" fmla="*/ 100584 w 100584"/>
              <a:gd name="connsiteY1" fmla="*/ 100584 h 182880"/>
              <a:gd name="connsiteX2" fmla="*/ 18288 w 100584"/>
              <a:gd name="connsiteY2" fmla="*/ 182880 h 182880"/>
              <a:gd name="connsiteX0" fmla="*/ 0 w 100584"/>
              <a:gd name="connsiteY0" fmla="*/ 0 h 192405"/>
              <a:gd name="connsiteX1" fmla="*/ 100584 w 100584"/>
              <a:gd name="connsiteY1" fmla="*/ 100584 h 192405"/>
              <a:gd name="connsiteX2" fmla="*/ 6382 w 100584"/>
              <a:gd name="connsiteY2" fmla="*/ 192405 h 192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584" h="192405">
                <a:moveTo>
                  <a:pt x="0" y="0"/>
                </a:moveTo>
                <a:lnTo>
                  <a:pt x="100584" y="100584"/>
                </a:lnTo>
                <a:lnTo>
                  <a:pt x="6382" y="192405"/>
                </a:lnTo>
              </a:path>
            </a:pathLst>
          </a:custGeom>
          <a:noFill/>
          <a:ln w="19050" cap="rnd">
            <a:solidFill>
              <a:srgbClr val="838F9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838F9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7E3DBCA-3A45-4E58-8C0F-2F705702EC79}"/>
              </a:ext>
            </a:extLst>
          </p:cNvPr>
          <p:cNvSpPr txBox="1"/>
          <p:nvPr/>
        </p:nvSpPr>
        <p:spPr>
          <a:xfrm>
            <a:off x="9447690" y="3182213"/>
            <a:ext cx="25337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Retire</a:t>
            </a:r>
            <a:r>
              <a:rPr kumimoji="0" lang="pt-PT" sz="14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 o comprimido vaginal do blister.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43CCE7-A481-44F2-883E-A714FED601C0}"/>
              </a:ext>
            </a:extLst>
          </p:cNvPr>
          <p:cNvSpPr txBox="1"/>
          <p:nvPr/>
        </p:nvSpPr>
        <p:spPr>
          <a:xfrm>
            <a:off x="9447690" y="4353332"/>
            <a:ext cx="28403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A paciente deve estar </a:t>
            </a:r>
            <a:r>
              <a:rPr kumimoji="0" lang="pt-PT" sz="14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deitada </a:t>
            </a:r>
            <a:r>
              <a:rPr kumimoji="0" lang="pt-PT" sz="14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com os </a:t>
            </a:r>
            <a:r>
              <a:rPr kumimoji="0" lang="pt-PT" sz="14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joelhos dobrados e junto ao peito.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8C7D9CC-D00D-4E5E-A83E-76A2C0C8BDF0}"/>
              </a:ext>
            </a:extLst>
          </p:cNvPr>
          <p:cNvSpPr txBox="1"/>
          <p:nvPr/>
        </p:nvSpPr>
        <p:spPr>
          <a:xfrm>
            <a:off x="9447690" y="5436219"/>
            <a:ext cx="266062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Usando </a:t>
            </a:r>
            <a:r>
              <a:rPr kumimoji="0" lang="pt-PT" sz="14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a ponta do dedo médio</a:t>
            </a:r>
            <a:r>
              <a:rPr kumimoji="0" lang="pt-PT" sz="14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, deve</a:t>
            </a:r>
            <a:r>
              <a:rPr kumimoji="0" lang="pt-PT" sz="14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 inserir-se o comprimido dentro da vagina, o mais profundamente possível </a:t>
            </a:r>
            <a:r>
              <a:rPr kumimoji="0" lang="pt-PT" sz="14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sem causar desconforto. </a:t>
            </a: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CEA0A13C-5D29-453B-B011-779235F7183A}"/>
              </a:ext>
            </a:extLst>
          </p:cNvPr>
          <p:cNvSpPr/>
          <p:nvPr/>
        </p:nvSpPr>
        <p:spPr>
          <a:xfrm>
            <a:off x="9268793" y="4646220"/>
            <a:ext cx="85474" cy="152889"/>
          </a:xfrm>
          <a:custGeom>
            <a:avLst/>
            <a:gdLst>
              <a:gd name="connsiteX0" fmla="*/ 0 w 100584"/>
              <a:gd name="connsiteY0" fmla="*/ 0 h 182880"/>
              <a:gd name="connsiteX1" fmla="*/ 100584 w 100584"/>
              <a:gd name="connsiteY1" fmla="*/ 100584 h 182880"/>
              <a:gd name="connsiteX2" fmla="*/ 18288 w 100584"/>
              <a:gd name="connsiteY2" fmla="*/ 182880 h 182880"/>
              <a:gd name="connsiteX0" fmla="*/ 0 w 100584"/>
              <a:gd name="connsiteY0" fmla="*/ 0 h 192405"/>
              <a:gd name="connsiteX1" fmla="*/ 100584 w 100584"/>
              <a:gd name="connsiteY1" fmla="*/ 100584 h 192405"/>
              <a:gd name="connsiteX2" fmla="*/ 6382 w 100584"/>
              <a:gd name="connsiteY2" fmla="*/ 192405 h 192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584" h="192405">
                <a:moveTo>
                  <a:pt x="0" y="0"/>
                </a:moveTo>
                <a:lnTo>
                  <a:pt x="100584" y="100584"/>
                </a:lnTo>
                <a:lnTo>
                  <a:pt x="6382" y="192405"/>
                </a:lnTo>
              </a:path>
            </a:pathLst>
          </a:custGeom>
          <a:noFill/>
          <a:ln w="19050" cap="rnd">
            <a:solidFill>
              <a:srgbClr val="838F9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838F9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CE8A1EA7-5CD8-458B-8578-5FA4B896AF11}"/>
              </a:ext>
            </a:extLst>
          </p:cNvPr>
          <p:cNvSpPr/>
          <p:nvPr/>
        </p:nvSpPr>
        <p:spPr>
          <a:xfrm>
            <a:off x="9268793" y="3397978"/>
            <a:ext cx="72335" cy="152889"/>
          </a:xfrm>
          <a:custGeom>
            <a:avLst/>
            <a:gdLst>
              <a:gd name="connsiteX0" fmla="*/ 0 w 100584"/>
              <a:gd name="connsiteY0" fmla="*/ 0 h 182880"/>
              <a:gd name="connsiteX1" fmla="*/ 100584 w 100584"/>
              <a:gd name="connsiteY1" fmla="*/ 100584 h 182880"/>
              <a:gd name="connsiteX2" fmla="*/ 18288 w 100584"/>
              <a:gd name="connsiteY2" fmla="*/ 182880 h 182880"/>
              <a:gd name="connsiteX0" fmla="*/ 0 w 100584"/>
              <a:gd name="connsiteY0" fmla="*/ 0 h 192405"/>
              <a:gd name="connsiteX1" fmla="*/ 100584 w 100584"/>
              <a:gd name="connsiteY1" fmla="*/ 100584 h 192405"/>
              <a:gd name="connsiteX2" fmla="*/ 6382 w 100584"/>
              <a:gd name="connsiteY2" fmla="*/ 192405 h 192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584" h="192405">
                <a:moveTo>
                  <a:pt x="0" y="0"/>
                </a:moveTo>
                <a:lnTo>
                  <a:pt x="100584" y="100584"/>
                </a:lnTo>
                <a:lnTo>
                  <a:pt x="6382" y="192405"/>
                </a:lnTo>
              </a:path>
            </a:pathLst>
          </a:custGeom>
          <a:noFill/>
          <a:ln w="19050" cap="rnd">
            <a:solidFill>
              <a:srgbClr val="838F9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838F9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D3416D-F7AD-443E-8E98-00B5B1F58057}"/>
              </a:ext>
            </a:extLst>
          </p:cNvPr>
          <p:cNvSpPr txBox="1"/>
          <p:nvPr/>
        </p:nvSpPr>
        <p:spPr>
          <a:xfrm>
            <a:off x="7880467" y="2186342"/>
            <a:ext cx="440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1" i="0" u="none" strike="noStrike" cap="none" normalizeH="0" baseline="0" noProof="0" dirty="0">
                <a:ln>
                  <a:noFill/>
                </a:ln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Misofar 25 é administrado por </a:t>
            </a:r>
            <a:r>
              <a:rPr kumimoji="0" lang="pt-PT" sz="1800" b="1" i="0" u="sng" strike="noStrike" cap="none" normalizeH="0" baseline="0" noProof="0" dirty="0">
                <a:ln>
                  <a:noFill/>
                </a:ln>
                <a:solidFill>
                  <a:srgbClr val="C10076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via vaginal</a:t>
            </a:r>
            <a:r>
              <a:rPr lang="pt-PT" b="1" dirty="0">
                <a:latin typeface="Trebuchet MS" panose="020B0603020202020204" pitchFamily="34" charset="0"/>
              </a:rPr>
              <a:t>:</a:t>
            </a:r>
            <a:endParaRPr kumimoji="0" lang="pt-PT" sz="1800" b="1" i="0" u="none" strike="noStrike" cap="none" normalizeH="0" baseline="0" noProof="0" dirty="0">
              <a:ln>
                <a:noFill/>
              </a:ln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36D0FEA-AC5C-4967-A3C2-9CF3F88B9E84}"/>
              </a:ext>
            </a:extLst>
          </p:cNvPr>
          <p:cNvSpPr/>
          <p:nvPr/>
        </p:nvSpPr>
        <p:spPr>
          <a:xfrm>
            <a:off x="2262006" y="3671508"/>
            <a:ext cx="137241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400" b="1" dirty="0">
                <a:solidFill>
                  <a:schemeClr val="bg1"/>
                </a:solidFill>
                <a:latin typeface="Trebuchet MS" panose="020B0603020202020204" pitchFamily="34" charset="0"/>
              </a:rPr>
              <a:t>1 comprimido de Misofar 25</a:t>
            </a:r>
          </a:p>
        </p:txBody>
      </p:sp>
    </p:spTree>
    <p:extLst>
      <p:ext uri="{BB962C8B-B14F-4D97-AF65-F5344CB8AC3E}">
        <p14:creationId xmlns:p14="http://schemas.microsoft.com/office/powerpoint/2010/main" val="4277668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B1715EDD-2E70-4261-9434-253C89BC2881}"/>
              </a:ext>
            </a:extLst>
          </p:cNvPr>
          <p:cNvSpPr/>
          <p:nvPr/>
        </p:nvSpPr>
        <p:spPr>
          <a:xfrm>
            <a:off x="0" y="0"/>
            <a:ext cx="12192000" cy="1942391"/>
          </a:xfrm>
          <a:prstGeom prst="rect">
            <a:avLst/>
          </a:prstGeom>
          <a:solidFill>
            <a:srgbClr val="CF84AE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1683" tIns="65842" rIns="131683" bIns="6584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712" name="Rectangle 44"/>
          <p:cNvSpPr>
            <a:spLocks noChangeArrowheads="1"/>
          </p:cNvSpPr>
          <p:nvPr/>
        </p:nvSpPr>
        <p:spPr bwMode="auto">
          <a:xfrm>
            <a:off x="351940" y="5978133"/>
            <a:ext cx="1895018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1" i="0" u="none" strike="noStrike" cap="none" normalizeH="0" baseline="0" noProof="0">
                <a:ln>
                  <a:noFill/>
                </a:ln>
                <a:solidFill>
                  <a:srgbClr val="838F95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FAVORÁVEL À EXPULSÃO DO FETO</a:t>
            </a:r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513227" y="3778712"/>
            <a:ext cx="1744104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1" i="0" u="none" strike="noStrike" cap="none" normalizeH="0" baseline="0" noProof="0" dirty="0">
                <a:ln>
                  <a:noFill/>
                </a:ln>
                <a:solidFill>
                  <a:srgbClr val="C10076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MATURAÇÃO E DILATAÇÃO DO COLO DO ÚTERO </a:t>
            </a:r>
          </a:p>
        </p:txBody>
      </p:sp>
      <p:sp>
        <p:nvSpPr>
          <p:cNvPr id="10" name="Rectangle 9">
            <a:hlinkClick r:id="rId4" action="ppaction://hlinksldjump"/>
            <a:extLst>
              <a:ext uri="{FF2B5EF4-FFF2-40B4-BE49-F238E27FC236}">
                <a16:creationId xmlns:a16="http://schemas.microsoft.com/office/drawing/2014/main" id="{AB7C83FB-C6A8-4713-A3C4-DE1312968C48}"/>
              </a:ext>
            </a:extLst>
          </p:cNvPr>
          <p:cNvSpPr/>
          <p:nvPr/>
        </p:nvSpPr>
        <p:spPr>
          <a:xfrm>
            <a:off x="3333941" y="4449332"/>
            <a:ext cx="2771802" cy="563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Aumento da sensibilidade do miométrio à oxitocina</a:t>
            </a:r>
          </a:p>
        </p:txBody>
      </p:sp>
      <p:sp>
        <p:nvSpPr>
          <p:cNvPr id="9" name="Rectangle 8">
            <a:hlinkClick r:id="rId5" action="ppaction://hlinksldjump"/>
            <a:extLst>
              <a:ext uri="{FF2B5EF4-FFF2-40B4-BE49-F238E27FC236}">
                <a16:creationId xmlns:a16="http://schemas.microsoft.com/office/drawing/2014/main" id="{3595C879-DD61-4791-BB5B-BD2B8AC3D99A}"/>
              </a:ext>
            </a:extLst>
          </p:cNvPr>
          <p:cNvSpPr/>
          <p:nvPr/>
        </p:nvSpPr>
        <p:spPr>
          <a:xfrm>
            <a:off x="3557446" y="3511149"/>
            <a:ext cx="2316310" cy="563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Aumento dos </a:t>
            </a:r>
            <a:r>
              <a:rPr kumimoji="0" lang="pt-PT" sz="1800" b="1" i="0" u="none" strike="noStrike" cap="none" normalizeH="0" baseline="0" noProof="0" dirty="0" err="1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glicosaminoglicanos</a:t>
            </a:r>
            <a:endParaRPr kumimoji="0" lang="pt-PT" sz="1800" b="1" i="0" u="none" strike="noStrike" cap="none" normalizeH="0" baseline="0" noProof="0" dirty="0">
              <a:ln>
                <a:noFill/>
              </a:ln>
              <a:solidFill>
                <a:srgbClr val="231F20"/>
              </a:solidFill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8" name="Rectangle 7">
            <a:hlinkClick r:id="rId6" action="ppaction://hlinksldjump"/>
            <a:extLst>
              <a:ext uri="{FF2B5EF4-FFF2-40B4-BE49-F238E27FC236}">
                <a16:creationId xmlns:a16="http://schemas.microsoft.com/office/drawing/2014/main" id="{FD0F0B34-693B-4000-A774-A481485148AF}"/>
              </a:ext>
            </a:extLst>
          </p:cNvPr>
          <p:cNvSpPr/>
          <p:nvPr/>
        </p:nvSpPr>
        <p:spPr>
          <a:xfrm>
            <a:off x="3856827" y="2352519"/>
            <a:ext cx="1717548" cy="563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Dissolução </a:t>
            </a:r>
            <a:br>
              <a:rPr kumimoji="0" lang="pt-PT" sz="18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</a:br>
            <a:r>
              <a:rPr kumimoji="0" lang="pt-PT" sz="18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do colagénio</a:t>
            </a:r>
          </a:p>
        </p:txBody>
      </p:sp>
      <p:sp>
        <p:nvSpPr>
          <p:cNvPr id="57" name="Double Bracket 56">
            <a:extLst>
              <a:ext uri="{FF2B5EF4-FFF2-40B4-BE49-F238E27FC236}">
                <a16:creationId xmlns:a16="http://schemas.microsoft.com/office/drawing/2014/main" id="{C2126F6C-BED7-486A-B6AE-C0C55F4EF5D7}"/>
              </a:ext>
            </a:extLst>
          </p:cNvPr>
          <p:cNvSpPr/>
          <p:nvPr/>
        </p:nvSpPr>
        <p:spPr>
          <a:xfrm>
            <a:off x="3260209" y="2278055"/>
            <a:ext cx="2910785" cy="712159"/>
          </a:xfrm>
          <a:prstGeom prst="bracketPair">
            <a:avLst>
              <a:gd name="adj" fmla="val 28559"/>
            </a:avLst>
          </a:prstGeom>
          <a:noFill/>
          <a:ln w="25400" cap="rnd">
            <a:solidFill>
              <a:srgbClr val="CF84AE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0E8BB9B-03A0-4306-B0C6-E8E38F3E60A4}"/>
              </a:ext>
            </a:extLst>
          </p:cNvPr>
          <p:cNvGrpSpPr/>
          <p:nvPr/>
        </p:nvGrpSpPr>
        <p:grpSpPr>
          <a:xfrm>
            <a:off x="2392568" y="2648250"/>
            <a:ext cx="819150" cy="2335627"/>
            <a:chOff x="7162800" y="1194976"/>
            <a:chExt cx="819150" cy="2335627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367D366-3386-4F0F-AD5A-DC76F41F76E2}"/>
                </a:ext>
              </a:extLst>
            </p:cNvPr>
            <p:cNvCxnSpPr>
              <a:cxnSpLocks/>
            </p:cNvCxnSpPr>
            <p:nvPr/>
          </p:nvCxnSpPr>
          <p:spPr>
            <a:xfrm>
              <a:off x="7162800" y="2388776"/>
              <a:ext cx="750094" cy="0"/>
            </a:xfrm>
            <a:prstGeom prst="line">
              <a:avLst/>
            </a:prstGeom>
            <a:noFill/>
            <a:ln w="25400" cap="rnd">
              <a:solidFill>
                <a:srgbClr val="CF84AE"/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02C8DFC-CD5F-47FD-B2E4-4C9ADC90F601}"/>
                </a:ext>
              </a:extLst>
            </p:cNvPr>
            <p:cNvCxnSpPr>
              <a:cxnSpLocks/>
            </p:cNvCxnSpPr>
            <p:nvPr/>
          </p:nvCxnSpPr>
          <p:spPr>
            <a:xfrm>
              <a:off x="7597556" y="1204556"/>
              <a:ext cx="0" cy="2326047"/>
            </a:xfrm>
            <a:prstGeom prst="line">
              <a:avLst/>
            </a:prstGeom>
            <a:noFill/>
            <a:ln w="25400" cap="rnd">
              <a:solidFill>
                <a:srgbClr val="CF84AE"/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34D8D12-3141-40CC-A269-EE4B40433894}"/>
                </a:ext>
              </a:extLst>
            </p:cNvPr>
            <p:cNvCxnSpPr>
              <a:cxnSpLocks/>
            </p:cNvCxnSpPr>
            <p:nvPr/>
          </p:nvCxnSpPr>
          <p:spPr>
            <a:xfrm>
              <a:off x="7641863" y="1194976"/>
              <a:ext cx="340087" cy="0"/>
            </a:xfrm>
            <a:prstGeom prst="line">
              <a:avLst/>
            </a:prstGeom>
            <a:noFill/>
            <a:ln w="25400" cap="rnd">
              <a:solidFill>
                <a:srgbClr val="CF84AE"/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6E3340C-45FD-4429-A751-6903FBEACA83}"/>
                </a:ext>
              </a:extLst>
            </p:cNvPr>
            <p:cNvCxnSpPr>
              <a:cxnSpLocks/>
            </p:cNvCxnSpPr>
            <p:nvPr/>
          </p:nvCxnSpPr>
          <p:spPr>
            <a:xfrm>
              <a:off x="7641863" y="3526219"/>
              <a:ext cx="340087" cy="0"/>
            </a:xfrm>
            <a:prstGeom prst="line">
              <a:avLst/>
            </a:prstGeom>
            <a:noFill/>
            <a:ln w="25400" cap="rnd">
              <a:solidFill>
                <a:srgbClr val="CF84AE"/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B74304A-89A7-450B-8557-EF18DA70445E}"/>
              </a:ext>
            </a:extLst>
          </p:cNvPr>
          <p:cNvCxnSpPr>
            <a:cxnSpLocks/>
          </p:cNvCxnSpPr>
          <p:nvPr/>
        </p:nvCxnSpPr>
        <p:spPr>
          <a:xfrm>
            <a:off x="2392568" y="6121286"/>
            <a:ext cx="750094" cy="0"/>
          </a:xfrm>
          <a:prstGeom prst="line">
            <a:avLst/>
          </a:prstGeom>
          <a:noFill/>
          <a:ln w="25400" cap="rnd">
            <a:solidFill>
              <a:srgbClr val="838F95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8093AA3-5BF3-449C-882B-D1DE520C05BC}"/>
              </a:ext>
            </a:extLst>
          </p:cNvPr>
          <p:cNvSpPr txBox="1"/>
          <p:nvPr/>
        </p:nvSpPr>
        <p:spPr>
          <a:xfrm>
            <a:off x="966586" y="732135"/>
            <a:ext cx="2841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800" b="0" i="0" u="none" strike="noStrike" cap="none" normalizeH="0" baseline="0" noProof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MISOFAR 25</a:t>
            </a:r>
          </a:p>
        </p:txBody>
      </p:sp>
      <p:sp>
        <p:nvSpPr>
          <p:cNvPr id="45" name="Double Bracket 14">
            <a:extLst>
              <a:ext uri="{FF2B5EF4-FFF2-40B4-BE49-F238E27FC236}">
                <a16:creationId xmlns:a16="http://schemas.microsoft.com/office/drawing/2014/main" id="{5D103E80-98C1-4744-B4D0-A4E937E36EDD}"/>
              </a:ext>
            </a:extLst>
          </p:cNvPr>
          <p:cNvSpPr/>
          <p:nvPr/>
        </p:nvSpPr>
        <p:spPr>
          <a:xfrm>
            <a:off x="624987" y="528965"/>
            <a:ext cx="457496" cy="457496"/>
          </a:xfrm>
          <a:custGeom>
            <a:avLst/>
            <a:gdLst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1258880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4" fmla="*/ 1878004 w 2381250"/>
              <a:gd name="connsiteY4" fmla="*/ 0 h 1762126"/>
              <a:gd name="connsiteX5" fmla="*/ 2381250 w 2381250"/>
              <a:gd name="connsiteY5" fmla="*/ 503246 h 1762126"/>
              <a:gd name="connsiteX6" fmla="*/ 2381250 w 2381250"/>
              <a:gd name="connsiteY6" fmla="*/ 1258880 h 1762126"/>
              <a:gd name="connsiteX7" fmla="*/ 1878004 w 2381250"/>
              <a:gd name="connsiteY7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7" fmla="*/ 503246 w 2381250"/>
              <a:gd name="connsiteY7" fmla="*/ 1762126 h 176212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878004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03246 w 2381250"/>
              <a:gd name="connsiteY6" fmla="*/ 1762126 h 1853566"/>
              <a:gd name="connsiteX7" fmla="*/ 0 w 2381250"/>
              <a:gd name="connsiteY7" fmla="*/ 1258880 h 1853566"/>
              <a:gd name="connsiteX8" fmla="*/ 0 w 2381250"/>
              <a:gd name="connsiteY8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209675 w 2381250"/>
              <a:gd name="connsiteY2" fmla="*/ 1 h 1853566"/>
              <a:gd name="connsiteX3" fmla="*/ 1878004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03246 w 2381250"/>
              <a:gd name="connsiteY7" fmla="*/ 1762126 h 1853566"/>
              <a:gd name="connsiteX8" fmla="*/ 0 w 2381250"/>
              <a:gd name="connsiteY8" fmla="*/ 1258880 h 1853566"/>
              <a:gd name="connsiteX9" fmla="*/ 0 w 2381250"/>
              <a:gd name="connsiteY9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9" fmla="*/ 1301115 w 2381250"/>
              <a:gd name="connsiteY9" fmla="*/ 91441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94686 w 2381250"/>
              <a:gd name="connsiteY7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0 w 2381250"/>
              <a:gd name="connsiteY1" fmla="*/ 503246 h 1853566"/>
              <a:gd name="connsiteX2" fmla="*/ 503246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94686 w 2381250"/>
              <a:gd name="connsiteY6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94686 w 2381250"/>
              <a:gd name="connsiteY5" fmla="*/ 1853566 h 185356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503246 w 2381250"/>
              <a:gd name="connsiteY4" fmla="*/ 1762126 h 1762126"/>
              <a:gd name="connsiteX5" fmla="*/ 0 w 2381250"/>
              <a:gd name="connsiteY5" fmla="*/ 1258880 h 1762126"/>
              <a:gd name="connsiteX6" fmla="*/ 0 w 2381250"/>
              <a:gd name="connsiteY6" fmla="*/ 503246 h 1762126"/>
              <a:gd name="connsiteX7" fmla="*/ 503246 w 2381250"/>
              <a:gd name="connsiteY7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1258880 h 1762126"/>
              <a:gd name="connsiteX5" fmla="*/ 0 w 2381250"/>
              <a:gd name="connsiteY5" fmla="*/ 503246 h 1762126"/>
              <a:gd name="connsiteX6" fmla="*/ 503246 w 2381250"/>
              <a:gd name="connsiteY6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503246 h 1762126"/>
              <a:gd name="connsiteX5" fmla="*/ 503246 w 2381250"/>
              <a:gd name="connsiteY5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0" fmla="*/ 1878004 w 1878004"/>
              <a:gd name="connsiteY0" fmla="*/ 1762126 h 1762126"/>
              <a:gd name="connsiteX1" fmla="*/ 0 w 1878004"/>
              <a:gd name="connsiteY1" fmla="*/ 503246 h 1762126"/>
              <a:gd name="connsiteX2" fmla="*/ 503246 w 1878004"/>
              <a:gd name="connsiteY2" fmla="*/ 0 h 1762126"/>
              <a:gd name="connsiteX0" fmla="*/ 0 w 1878004"/>
              <a:gd name="connsiteY0" fmla="*/ 503246 h 1762126"/>
              <a:gd name="connsiteX1" fmla="*/ 503246 w 1878004"/>
              <a:gd name="connsiteY1" fmla="*/ 0 h 1762126"/>
              <a:gd name="connsiteX0" fmla="*/ 0 w 503246"/>
              <a:gd name="connsiteY0" fmla="*/ 503246 h 503246"/>
              <a:gd name="connsiteX1" fmla="*/ 503246 w 503246"/>
              <a:gd name="connsiteY1" fmla="*/ 0 h 503246"/>
              <a:gd name="connsiteX0" fmla="*/ 0 w 503246"/>
              <a:gd name="connsiteY0" fmla="*/ 503246 h 503246"/>
              <a:gd name="connsiteX1" fmla="*/ 503246 w 503246"/>
              <a:gd name="connsiteY1" fmla="*/ 0 h 503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246" h="503246" stroke="0" extrusionOk="0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  <a:path w="503246" h="503246" fill="none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</a:pathLst>
          </a:custGeom>
          <a:noFill/>
          <a:ln w="25400" cap="rnd">
            <a:solidFill>
              <a:srgbClr val="C1007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C58E3B8-8962-4678-AE17-D1FA4FA27C26}"/>
              </a:ext>
            </a:extLst>
          </p:cNvPr>
          <p:cNvGrpSpPr/>
          <p:nvPr/>
        </p:nvGrpSpPr>
        <p:grpSpPr>
          <a:xfrm>
            <a:off x="1050247" y="2992258"/>
            <a:ext cx="670064" cy="671036"/>
            <a:chOff x="3736976" y="5576888"/>
            <a:chExt cx="1089025" cy="1090613"/>
          </a:xfrm>
          <a:solidFill>
            <a:srgbClr val="CF84AE"/>
          </a:solidFill>
        </p:grpSpPr>
        <p:sp>
          <p:nvSpPr>
            <p:cNvPr id="99" name="Freeform 291">
              <a:extLst>
                <a:ext uri="{FF2B5EF4-FFF2-40B4-BE49-F238E27FC236}">
                  <a16:creationId xmlns:a16="http://schemas.microsoft.com/office/drawing/2014/main" id="{9A6EC556-8419-448B-A105-30594ED84A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06838" y="5751513"/>
              <a:ext cx="746125" cy="746125"/>
            </a:xfrm>
            <a:custGeom>
              <a:avLst/>
              <a:gdLst>
                <a:gd name="T0" fmla="*/ 88 w 176"/>
                <a:gd name="T1" fmla="*/ 176 h 176"/>
                <a:gd name="T2" fmla="*/ 0 w 176"/>
                <a:gd name="T3" fmla="*/ 88 h 176"/>
                <a:gd name="T4" fmla="*/ 88 w 176"/>
                <a:gd name="T5" fmla="*/ 0 h 176"/>
                <a:gd name="T6" fmla="*/ 176 w 176"/>
                <a:gd name="T7" fmla="*/ 88 h 176"/>
                <a:gd name="T8" fmla="*/ 88 w 176"/>
                <a:gd name="T9" fmla="*/ 176 h 176"/>
                <a:gd name="T10" fmla="*/ 88 w 176"/>
                <a:gd name="T11" fmla="*/ 8 h 176"/>
                <a:gd name="T12" fmla="*/ 8 w 176"/>
                <a:gd name="T13" fmla="*/ 88 h 176"/>
                <a:gd name="T14" fmla="*/ 88 w 176"/>
                <a:gd name="T15" fmla="*/ 168 h 176"/>
                <a:gd name="T16" fmla="*/ 168 w 176"/>
                <a:gd name="T17" fmla="*/ 88 h 176"/>
                <a:gd name="T18" fmla="*/ 88 w 176"/>
                <a:gd name="T19" fmla="*/ 8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6" h="176">
                  <a:moveTo>
                    <a:pt x="88" y="176"/>
                  </a:moveTo>
                  <a:cubicBezTo>
                    <a:pt x="40" y="176"/>
                    <a:pt x="0" y="136"/>
                    <a:pt x="0" y="88"/>
                  </a:cubicBezTo>
                  <a:cubicBezTo>
                    <a:pt x="0" y="39"/>
                    <a:pt x="40" y="0"/>
                    <a:pt x="88" y="0"/>
                  </a:cubicBezTo>
                  <a:cubicBezTo>
                    <a:pt x="137" y="0"/>
                    <a:pt x="176" y="39"/>
                    <a:pt x="176" y="88"/>
                  </a:cubicBezTo>
                  <a:cubicBezTo>
                    <a:pt x="176" y="136"/>
                    <a:pt x="137" y="176"/>
                    <a:pt x="88" y="176"/>
                  </a:cubicBezTo>
                  <a:close/>
                  <a:moveTo>
                    <a:pt x="88" y="8"/>
                  </a:moveTo>
                  <a:cubicBezTo>
                    <a:pt x="44" y="8"/>
                    <a:pt x="8" y="44"/>
                    <a:pt x="8" y="88"/>
                  </a:cubicBezTo>
                  <a:cubicBezTo>
                    <a:pt x="8" y="132"/>
                    <a:pt x="44" y="168"/>
                    <a:pt x="88" y="168"/>
                  </a:cubicBezTo>
                  <a:cubicBezTo>
                    <a:pt x="132" y="168"/>
                    <a:pt x="168" y="132"/>
                    <a:pt x="168" y="88"/>
                  </a:cubicBezTo>
                  <a:cubicBezTo>
                    <a:pt x="168" y="44"/>
                    <a:pt x="132" y="8"/>
                    <a:pt x="88" y="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Rectangle 292">
              <a:extLst>
                <a:ext uri="{FF2B5EF4-FFF2-40B4-BE49-F238E27FC236}">
                  <a16:creationId xmlns:a16="http://schemas.microsoft.com/office/drawing/2014/main" id="{116E0F41-45FD-43A0-8EFB-412F6D393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2438" y="5599113"/>
              <a:ext cx="34925" cy="28733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Freeform 293">
              <a:extLst>
                <a:ext uri="{FF2B5EF4-FFF2-40B4-BE49-F238E27FC236}">
                  <a16:creationId xmlns:a16="http://schemas.microsoft.com/office/drawing/2014/main" id="{F82EE620-4F04-4218-8354-B74595C86A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8938" y="5576888"/>
              <a:ext cx="161925" cy="98425"/>
            </a:xfrm>
            <a:custGeom>
              <a:avLst/>
              <a:gdLst>
                <a:gd name="T0" fmla="*/ 32 w 38"/>
                <a:gd name="T1" fmla="*/ 23 h 23"/>
                <a:gd name="T2" fmla="*/ 19 w 38"/>
                <a:gd name="T3" fmla="*/ 10 h 23"/>
                <a:gd name="T4" fmla="*/ 6 w 38"/>
                <a:gd name="T5" fmla="*/ 23 h 23"/>
                <a:gd name="T6" fmla="*/ 0 w 38"/>
                <a:gd name="T7" fmla="*/ 18 h 23"/>
                <a:gd name="T8" fmla="*/ 16 w 38"/>
                <a:gd name="T9" fmla="*/ 2 h 23"/>
                <a:gd name="T10" fmla="*/ 22 w 38"/>
                <a:gd name="T11" fmla="*/ 2 h 23"/>
                <a:gd name="T12" fmla="*/ 38 w 38"/>
                <a:gd name="T13" fmla="*/ 18 h 23"/>
                <a:gd name="T14" fmla="*/ 32 w 38"/>
                <a:gd name="T15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23">
                  <a:moveTo>
                    <a:pt x="32" y="23"/>
                  </a:moveTo>
                  <a:cubicBezTo>
                    <a:pt x="19" y="10"/>
                    <a:pt x="19" y="10"/>
                    <a:pt x="19" y="10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8" y="0"/>
                    <a:pt x="20" y="0"/>
                    <a:pt x="22" y="2"/>
                  </a:cubicBezTo>
                  <a:cubicBezTo>
                    <a:pt x="38" y="18"/>
                    <a:pt x="38" y="18"/>
                    <a:pt x="38" y="18"/>
                  </a:cubicBezTo>
                  <a:lnTo>
                    <a:pt x="32" y="2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Rectangle 294">
              <a:extLst>
                <a:ext uri="{FF2B5EF4-FFF2-40B4-BE49-F238E27FC236}">
                  <a16:creationId xmlns:a16="http://schemas.microsoft.com/office/drawing/2014/main" id="{ABB4EFE3-1609-4B88-ADB1-2147806AA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2438" y="6378576"/>
              <a:ext cx="34925" cy="27146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Freeform 295">
              <a:extLst>
                <a:ext uri="{FF2B5EF4-FFF2-40B4-BE49-F238E27FC236}">
                  <a16:creationId xmlns:a16="http://schemas.microsoft.com/office/drawing/2014/main" id="{77CECA2C-F31F-428E-8C76-B5B084309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8938" y="6570663"/>
              <a:ext cx="161925" cy="96838"/>
            </a:xfrm>
            <a:custGeom>
              <a:avLst/>
              <a:gdLst>
                <a:gd name="T0" fmla="*/ 19 w 38"/>
                <a:gd name="T1" fmla="*/ 23 h 23"/>
                <a:gd name="T2" fmla="*/ 16 w 38"/>
                <a:gd name="T3" fmla="*/ 21 h 23"/>
                <a:gd name="T4" fmla="*/ 0 w 38"/>
                <a:gd name="T5" fmla="*/ 5 h 23"/>
                <a:gd name="T6" fmla="*/ 6 w 38"/>
                <a:gd name="T7" fmla="*/ 0 h 23"/>
                <a:gd name="T8" fmla="*/ 19 w 38"/>
                <a:gd name="T9" fmla="*/ 13 h 23"/>
                <a:gd name="T10" fmla="*/ 32 w 38"/>
                <a:gd name="T11" fmla="*/ 0 h 23"/>
                <a:gd name="T12" fmla="*/ 38 w 38"/>
                <a:gd name="T13" fmla="*/ 5 h 23"/>
                <a:gd name="T14" fmla="*/ 22 w 38"/>
                <a:gd name="T15" fmla="*/ 21 h 23"/>
                <a:gd name="T16" fmla="*/ 19 w 38"/>
                <a:gd name="T17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23">
                  <a:moveTo>
                    <a:pt x="19" y="23"/>
                  </a:moveTo>
                  <a:cubicBezTo>
                    <a:pt x="18" y="23"/>
                    <a:pt x="17" y="22"/>
                    <a:pt x="16" y="2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1" y="22"/>
                    <a:pt x="20" y="23"/>
                    <a:pt x="19" y="2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Rectangle 296">
              <a:extLst>
                <a:ext uri="{FF2B5EF4-FFF2-40B4-BE49-F238E27FC236}">
                  <a16:creationId xmlns:a16="http://schemas.microsoft.com/office/drawing/2014/main" id="{E9E1F20E-324E-4B3C-ADFA-FBA92A707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4438" y="6107113"/>
              <a:ext cx="271463" cy="3492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Freeform 297">
              <a:extLst>
                <a:ext uri="{FF2B5EF4-FFF2-40B4-BE49-F238E27FC236}">
                  <a16:creationId xmlns:a16="http://schemas.microsoft.com/office/drawing/2014/main" id="{D668D646-3085-4741-807B-8BA3358BBD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976" y="6043613"/>
              <a:ext cx="98425" cy="157163"/>
            </a:xfrm>
            <a:custGeom>
              <a:avLst/>
              <a:gdLst>
                <a:gd name="T0" fmla="*/ 17 w 23"/>
                <a:gd name="T1" fmla="*/ 37 h 37"/>
                <a:gd name="T2" fmla="*/ 1 w 23"/>
                <a:gd name="T3" fmla="*/ 21 h 37"/>
                <a:gd name="T4" fmla="*/ 1 w 23"/>
                <a:gd name="T5" fmla="*/ 16 h 37"/>
                <a:gd name="T6" fmla="*/ 17 w 23"/>
                <a:gd name="T7" fmla="*/ 0 h 37"/>
                <a:gd name="T8" fmla="*/ 23 w 23"/>
                <a:gd name="T9" fmla="*/ 5 h 37"/>
                <a:gd name="T10" fmla="*/ 10 w 23"/>
                <a:gd name="T11" fmla="*/ 19 h 37"/>
                <a:gd name="T12" fmla="*/ 23 w 23"/>
                <a:gd name="T13" fmla="*/ 32 h 37"/>
                <a:gd name="T14" fmla="*/ 17 w 23"/>
                <a:gd name="T1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7">
                  <a:moveTo>
                    <a:pt x="17" y="37"/>
                  </a:moveTo>
                  <a:cubicBezTo>
                    <a:pt x="1" y="21"/>
                    <a:pt x="1" y="21"/>
                    <a:pt x="1" y="21"/>
                  </a:cubicBezTo>
                  <a:cubicBezTo>
                    <a:pt x="0" y="20"/>
                    <a:pt x="0" y="17"/>
                    <a:pt x="1" y="16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17" y="37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" name="Rectangle 298">
              <a:extLst>
                <a:ext uri="{FF2B5EF4-FFF2-40B4-BE49-F238E27FC236}">
                  <a16:creationId xmlns:a16="http://schemas.microsoft.com/office/drawing/2014/main" id="{40743400-D295-4685-BF5A-AD3457FF46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3901" y="6107113"/>
              <a:ext cx="271463" cy="3492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Freeform 299">
              <a:extLst>
                <a:ext uri="{FF2B5EF4-FFF2-40B4-BE49-F238E27FC236}">
                  <a16:creationId xmlns:a16="http://schemas.microsoft.com/office/drawing/2014/main" id="{462FD235-C369-40EA-8AC2-E4426B1BA4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4401" y="6043613"/>
              <a:ext cx="101600" cy="157163"/>
            </a:xfrm>
            <a:custGeom>
              <a:avLst/>
              <a:gdLst>
                <a:gd name="T0" fmla="*/ 6 w 24"/>
                <a:gd name="T1" fmla="*/ 37 h 37"/>
                <a:gd name="T2" fmla="*/ 0 w 24"/>
                <a:gd name="T3" fmla="*/ 32 h 37"/>
                <a:gd name="T4" fmla="*/ 14 w 24"/>
                <a:gd name="T5" fmla="*/ 19 h 37"/>
                <a:gd name="T6" fmla="*/ 0 w 24"/>
                <a:gd name="T7" fmla="*/ 5 h 37"/>
                <a:gd name="T8" fmla="*/ 6 w 24"/>
                <a:gd name="T9" fmla="*/ 0 h 37"/>
                <a:gd name="T10" fmla="*/ 22 w 24"/>
                <a:gd name="T11" fmla="*/ 16 h 37"/>
                <a:gd name="T12" fmla="*/ 22 w 24"/>
                <a:gd name="T13" fmla="*/ 21 h 37"/>
                <a:gd name="T14" fmla="*/ 6 w 24"/>
                <a:gd name="T1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" h="37">
                  <a:moveTo>
                    <a:pt x="6" y="37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4" y="17"/>
                    <a:pt x="24" y="20"/>
                    <a:pt x="22" y="21"/>
                  </a:cubicBezTo>
                  <a:lnTo>
                    <a:pt x="6" y="37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" name="Freeform 300">
              <a:extLst>
                <a:ext uri="{FF2B5EF4-FFF2-40B4-BE49-F238E27FC236}">
                  <a16:creationId xmlns:a16="http://schemas.microsoft.com/office/drawing/2014/main" id="{774D4AC8-188E-42D3-A9E1-EE51F73579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8738" y="5708651"/>
              <a:ext cx="236538" cy="238125"/>
            </a:xfrm>
            <a:custGeom>
              <a:avLst/>
              <a:gdLst>
                <a:gd name="T0" fmla="*/ 133 w 149"/>
                <a:gd name="T1" fmla="*/ 150 h 150"/>
                <a:gd name="T2" fmla="*/ 0 w 149"/>
                <a:gd name="T3" fmla="*/ 16 h 150"/>
                <a:gd name="T4" fmla="*/ 13 w 149"/>
                <a:gd name="T5" fmla="*/ 0 h 150"/>
                <a:gd name="T6" fmla="*/ 149 w 149"/>
                <a:gd name="T7" fmla="*/ 136 h 150"/>
                <a:gd name="T8" fmla="*/ 133 w 149"/>
                <a:gd name="T9" fmla="*/ 15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50">
                  <a:moveTo>
                    <a:pt x="133" y="150"/>
                  </a:moveTo>
                  <a:lnTo>
                    <a:pt x="0" y="16"/>
                  </a:lnTo>
                  <a:lnTo>
                    <a:pt x="13" y="0"/>
                  </a:lnTo>
                  <a:lnTo>
                    <a:pt x="149" y="136"/>
                  </a:lnTo>
                  <a:lnTo>
                    <a:pt x="133" y="15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" name="Freeform 301">
              <a:extLst>
                <a:ext uri="{FF2B5EF4-FFF2-40B4-BE49-F238E27FC236}">
                  <a16:creationId xmlns:a16="http://schemas.microsoft.com/office/drawing/2014/main" id="{3964BEF8-6F9D-436A-8FA9-3DC00F15F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038" y="5700713"/>
              <a:ext cx="119063" cy="119063"/>
            </a:xfrm>
            <a:custGeom>
              <a:avLst/>
              <a:gdLst>
                <a:gd name="T0" fmla="*/ 8 w 28"/>
                <a:gd name="T1" fmla="*/ 28 h 28"/>
                <a:gd name="T2" fmla="*/ 0 w 28"/>
                <a:gd name="T3" fmla="*/ 28 h 28"/>
                <a:gd name="T4" fmla="*/ 0 w 28"/>
                <a:gd name="T5" fmla="*/ 4 h 28"/>
                <a:gd name="T6" fmla="*/ 4 w 28"/>
                <a:gd name="T7" fmla="*/ 0 h 28"/>
                <a:gd name="T8" fmla="*/ 28 w 28"/>
                <a:gd name="T9" fmla="*/ 0 h 28"/>
                <a:gd name="T10" fmla="*/ 28 w 28"/>
                <a:gd name="T11" fmla="*/ 8 h 28"/>
                <a:gd name="T12" fmla="*/ 8 w 28"/>
                <a:gd name="T13" fmla="*/ 8 h 28"/>
                <a:gd name="T14" fmla="*/ 8 w 28"/>
                <a:gd name="T15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28">
                  <a:moveTo>
                    <a:pt x="8" y="28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8" y="8"/>
                    <a:pt x="8" y="8"/>
                    <a:pt x="8" y="8"/>
                  </a:cubicBezTo>
                  <a:lnTo>
                    <a:pt x="8" y="2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Freeform 302">
              <a:extLst>
                <a:ext uri="{FF2B5EF4-FFF2-40B4-BE49-F238E27FC236}">
                  <a16:creationId xmlns:a16="http://schemas.microsoft.com/office/drawing/2014/main" id="{989E74BC-0E1B-474A-A10F-33D9EC84D2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7701" y="6299201"/>
              <a:ext cx="238125" cy="236538"/>
            </a:xfrm>
            <a:custGeom>
              <a:avLst/>
              <a:gdLst>
                <a:gd name="T0" fmla="*/ 134 w 150"/>
                <a:gd name="T1" fmla="*/ 149 h 149"/>
                <a:gd name="T2" fmla="*/ 0 w 150"/>
                <a:gd name="T3" fmla="*/ 16 h 149"/>
                <a:gd name="T4" fmla="*/ 13 w 150"/>
                <a:gd name="T5" fmla="*/ 0 h 149"/>
                <a:gd name="T6" fmla="*/ 150 w 150"/>
                <a:gd name="T7" fmla="*/ 136 h 149"/>
                <a:gd name="T8" fmla="*/ 134 w 150"/>
                <a:gd name="T9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0" h="149">
                  <a:moveTo>
                    <a:pt x="134" y="149"/>
                  </a:moveTo>
                  <a:lnTo>
                    <a:pt x="0" y="16"/>
                  </a:lnTo>
                  <a:lnTo>
                    <a:pt x="13" y="0"/>
                  </a:lnTo>
                  <a:lnTo>
                    <a:pt x="150" y="136"/>
                  </a:lnTo>
                  <a:lnTo>
                    <a:pt x="134" y="14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" name="Freeform 303">
              <a:extLst>
                <a:ext uri="{FF2B5EF4-FFF2-40B4-BE49-F238E27FC236}">
                  <a16:creationId xmlns:a16="http://schemas.microsoft.com/office/drawing/2014/main" id="{EAE7AD89-4324-439B-8B63-C5E0649EF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4701" y="6429376"/>
              <a:ext cx="119063" cy="119063"/>
            </a:xfrm>
            <a:custGeom>
              <a:avLst/>
              <a:gdLst>
                <a:gd name="T0" fmla="*/ 24 w 28"/>
                <a:gd name="T1" fmla="*/ 28 h 28"/>
                <a:gd name="T2" fmla="*/ 0 w 28"/>
                <a:gd name="T3" fmla="*/ 28 h 28"/>
                <a:gd name="T4" fmla="*/ 0 w 28"/>
                <a:gd name="T5" fmla="*/ 20 h 28"/>
                <a:gd name="T6" fmla="*/ 20 w 28"/>
                <a:gd name="T7" fmla="*/ 20 h 28"/>
                <a:gd name="T8" fmla="*/ 20 w 28"/>
                <a:gd name="T9" fmla="*/ 0 h 28"/>
                <a:gd name="T10" fmla="*/ 28 w 28"/>
                <a:gd name="T11" fmla="*/ 0 h 28"/>
                <a:gd name="T12" fmla="*/ 28 w 28"/>
                <a:gd name="T13" fmla="*/ 24 h 28"/>
                <a:gd name="T14" fmla="*/ 24 w 28"/>
                <a:gd name="T15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28">
                  <a:moveTo>
                    <a:pt x="24" y="28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6"/>
                    <a:pt x="26" y="28"/>
                    <a:pt x="24" y="2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" name="Freeform 304">
              <a:extLst>
                <a:ext uri="{FF2B5EF4-FFF2-40B4-BE49-F238E27FC236}">
                  <a16:creationId xmlns:a16="http://schemas.microsoft.com/office/drawing/2014/main" id="{EAFB2AB3-BC03-447B-9DA5-14ECA233BF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8738" y="6299201"/>
              <a:ext cx="236538" cy="236538"/>
            </a:xfrm>
            <a:custGeom>
              <a:avLst/>
              <a:gdLst>
                <a:gd name="T0" fmla="*/ 13 w 149"/>
                <a:gd name="T1" fmla="*/ 149 h 149"/>
                <a:gd name="T2" fmla="*/ 0 w 149"/>
                <a:gd name="T3" fmla="*/ 136 h 149"/>
                <a:gd name="T4" fmla="*/ 133 w 149"/>
                <a:gd name="T5" fmla="*/ 0 h 149"/>
                <a:gd name="T6" fmla="*/ 149 w 149"/>
                <a:gd name="T7" fmla="*/ 16 h 149"/>
                <a:gd name="T8" fmla="*/ 13 w 149"/>
                <a:gd name="T9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9">
                  <a:moveTo>
                    <a:pt x="13" y="149"/>
                  </a:moveTo>
                  <a:lnTo>
                    <a:pt x="0" y="136"/>
                  </a:lnTo>
                  <a:lnTo>
                    <a:pt x="133" y="0"/>
                  </a:lnTo>
                  <a:lnTo>
                    <a:pt x="149" y="16"/>
                  </a:lnTo>
                  <a:lnTo>
                    <a:pt x="13" y="14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" name="Freeform 305">
              <a:extLst>
                <a:ext uri="{FF2B5EF4-FFF2-40B4-BE49-F238E27FC236}">
                  <a16:creationId xmlns:a16="http://schemas.microsoft.com/office/drawing/2014/main" id="{4BC30690-8AB1-410F-93AD-B0D54CAD20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038" y="6429376"/>
              <a:ext cx="119063" cy="119063"/>
            </a:xfrm>
            <a:custGeom>
              <a:avLst/>
              <a:gdLst>
                <a:gd name="T0" fmla="*/ 28 w 28"/>
                <a:gd name="T1" fmla="*/ 28 h 28"/>
                <a:gd name="T2" fmla="*/ 4 w 28"/>
                <a:gd name="T3" fmla="*/ 28 h 28"/>
                <a:gd name="T4" fmla="*/ 0 w 28"/>
                <a:gd name="T5" fmla="*/ 24 h 28"/>
                <a:gd name="T6" fmla="*/ 0 w 28"/>
                <a:gd name="T7" fmla="*/ 0 h 28"/>
                <a:gd name="T8" fmla="*/ 8 w 28"/>
                <a:gd name="T9" fmla="*/ 0 h 28"/>
                <a:gd name="T10" fmla="*/ 8 w 28"/>
                <a:gd name="T11" fmla="*/ 20 h 28"/>
                <a:gd name="T12" fmla="*/ 28 w 28"/>
                <a:gd name="T13" fmla="*/ 20 h 28"/>
                <a:gd name="T14" fmla="*/ 28 w 28"/>
                <a:gd name="T15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28">
                  <a:moveTo>
                    <a:pt x="28" y="28"/>
                  </a:moveTo>
                  <a:cubicBezTo>
                    <a:pt x="4" y="28"/>
                    <a:pt x="4" y="28"/>
                    <a:pt x="4" y="28"/>
                  </a:cubicBezTo>
                  <a:cubicBezTo>
                    <a:pt x="2" y="28"/>
                    <a:pt x="0" y="26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8" y="2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" name="Freeform 306">
              <a:extLst>
                <a:ext uri="{FF2B5EF4-FFF2-40B4-BE49-F238E27FC236}">
                  <a16:creationId xmlns:a16="http://schemas.microsoft.com/office/drawing/2014/main" id="{7F4C8282-443F-445A-A981-C356D3C2A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7701" y="5708651"/>
              <a:ext cx="238125" cy="238125"/>
            </a:xfrm>
            <a:custGeom>
              <a:avLst/>
              <a:gdLst>
                <a:gd name="T0" fmla="*/ 13 w 150"/>
                <a:gd name="T1" fmla="*/ 150 h 150"/>
                <a:gd name="T2" fmla="*/ 0 w 150"/>
                <a:gd name="T3" fmla="*/ 136 h 150"/>
                <a:gd name="T4" fmla="*/ 134 w 150"/>
                <a:gd name="T5" fmla="*/ 0 h 150"/>
                <a:gd name="T6" fmla="*/ 150 w 150"/>
                <a:gd name="T7" fmla="*/ 16 h 150"/>
                <a:gd name="T8" fmla="*/ 13 w 150"/>
                <a:gd name="T9" fmla="*/ 15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0" h="150">
                  <a:moveTo>
                    <a:pt x="13" y="150"/>
                  </a:moveTo>
                  <a:lnTo>
                    <a:pt x="0" y="136"/>
                  </a:lnTo>
                  <a:lnTo>
                    <a:pt x="134" y="0"/>
                  </a:lnTo>
                  <a:lnTo>
                    <a:pt x="150" y="16"/>
                  </a:lnTo>
                  <a:lnTo>
                    <a:pt x="13" y="15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" name="Freeform 307">
              <a:extLst>
                <a:ext uri="{FF2B5EF4-FFF2-40B4-BE49-F238E27FC236}">
                  <a16:creationId xmlns:a16="http://schemas.microsoft.com/office/drawing/2014/main" id="{E7786FDA-3E47-41AF-878C-D70A4A2D2D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4701" y="5700713"/>
              <a:ext cx="119063" cy="119063"/>
            </a:xfrm>
            <a:custGeom>
              <a:avLst/>
              <a:gdLst>
                <a:gd name="T0" fmla="*/ 28 w 28"/>
                <a:gd name="T1" fmla="*/ 28 h 28"/>
                <a:gd name="T2" fmla="*/ 20 w 28"/>
                <a:gd name="T3" fmla="*/ 28 h 28"/>
                <a:gd name="T4" fmla="*/ 20 w 28"/>
                <a:gd name="T5" fmla="*/ 8 h 28"/>
                <a:gd name="T6" fmla="*/ 0 w 28"/>
                <a:gd name="T7" fmla="*/ 8 h 28"/>
                <a:gd name="T8" fmla="*/ 0 w 28"/>
                <a:gd name="T9" fmla="*/ 0 h 28"/>
                <a:gd name="T10" fmla="*/ 24 w 28"/>
                <a:gd name="T11" fmla="*/ 0 h 28"/>
                <a:gd name="T12" fmla="*/ 28 w 28"/>
                <a:gd name="T13" fmla="*/ 4 h 28"/>
                <a:gd name="T14" fmla="*/ 28 w 28"/>
                <a:gd name="T15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28">
                  <a:moveTo>
                    <a:pt x="28" y="28"/>
                  </a:moveTo>
                  <a:cubicBezTo>
                    <a:pt x="20" y="28"/>
                    <a:pt x="20" y="28"/>
                    <a:pt x="20" y="2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6" y="0"/>
                    <a:pt x="28" y="1"/>
                    <a:pt x="28" y="4"/>
                  </a:cubicBezTo>
                  <a:lnTo>
                    <a:pt x="28" y="2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Rectangle 309">
              <a:extLst>
                <a:ext uri="{FF2B5EF4-FFF2-40B4-BE49-F238E27FC236}">
                  <a16:creationId xmlns:a16="http://schemas.microsoft.com/office/drawing/2014/main" id="{9B10D3F9-07AF-44FE-BB7C-35016C2588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2438" y="5972966"/>
              <a:ext cx="34925" cy="5238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" name="Rectangle 310">
              <a:extLst>
                <a:ext uri="{FF2B5EF4-FFF2-40B4-BE49-F238E27FC236}">
                  <a16:creationId xmlns:a16="http://schemas.microsoft.com/office/drawing/2014/main" id="{D13B22B6-ED57-4202-A61B-7586CB4A3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2438" y="6225386"/>
              <a:ext cx="34925" cy="508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" name="Rectangle 311">
              <a:extLst>
                <a:ext uri="{FF2B5EF4-FFF2-40B4-BE49-F238E27FC236}">
                  <a16:creationId xmlns:a16="http://schemas.microsoft.com/office/drawing/2014/main" id="{E12C58CE-AF32-4158-9E1D-5D4CCDF3E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3216" y="6107113"/>
              <a:ext cx="33338" cy="3492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" name="Rectangle 312">
              <a:extLst>
                <a:ext uri="{FF2B5EF4-FFF2-40B4-BE49-F238E27FC236}">
                  <a16:creationId xmlns:a16="http://schemas.microsoft.com/office/drawing/2014/main" id="{2CEAF0B4-458E-4A16-87E1-3D44335C18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3248" y="6107113"/>
              <a:ext cx="33338" cy="3492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572B059-8435-4C90-98E2-E200257E3C08}"/>
              </a:ext>
            </a:extLst>
          </p:cNvPr>
          <p:cNvGrpSpPr/>
          <p:nvPr/>
        </p:nvGrpSpPr>
        <p:grpSpPr>
          <a:xfrm rot="10800000">
            <a:off x="990315" y="5212352"/>
            <a:ext cx="597130" cy="598005"/>
            <a:chOff x="7353301" y="3765551"/>
            <a:chExt cx="1084263" cy="1085850"/>
          </a:xfrm>
          <a:solidFill>
            <a:srgbClr val="838F95"/>
          </a:solidFill>
        </p:grpSpPr>
        <p:sp>
          <p:nvSpPr>
            <p:cNvPr id="125" name="Freeform 154">
              <a:extLst>
                <a:ext uri="{FF2B5EF4-FFF2-40B4-BE49-F238E27FC236}">
                  <a16:creationId xmlns:a16="http://schemas.microsoft.com/office/drawing/2014/main" id="{C710D3A0-4B04-40D6-8235-F2CD697E840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3301" y="3765551"/>
              <a:ext cx="1084263" cy="1085850"/>
            </a:xfrm>
            <a:custGeom>
              <a:avLst/>
              <a:gdLst>
                <a:gd name="T0" fmla="*/ 152 w 256"/>
                <a:gd name="T1" fmla="*/ 256 h 256"/>
                <a:gd name="T2" fmla="*/ 148 w 256"/>
                <a:gd name="T3" fmla="*/ 256 h 256"/>
                <a:gd name="T4" fmla="*/ 148 w 256"/>
                <a:gd name="T5" fmla="*/ 116 h 256"/>
                <a:gd name="T6" fmla="*/ 189 w 256"/>
                <a:gd name="T7" fmla="*/ 37 h 256"/>
                <a:gd name="T8" fmla="*/ 192 w 256"/>
                <a:gd name="T9" fmla="*/ 35 h 256"/>
                <a:gd name="T10" fmla="*/ 208 w 256"/>
                <a:gd name="T11" fmla="*/ 51 h 256"/>
                <a:gd name="T12" fmla="*/ 208 w 256"/>
                <a:gd name="T13" fmla="*/ 8 h 256"/>
                <a:gd name="T14" fmla="*/ 166 w 256"/>
                <a:gd name="T15" fmla="*/ 8 h 256"/>
                <a:gd name="T16" fmla="*/ 182 w 256"/>
                <a:gd name="T17" fmla="*/ 25 h 256"/>
                <a:gd name="T18" fmla="*/ 179 w 256"/>
                <a:gd name="T19" fmla="*/ 27 h 256"/>
                <a:gd name="T20" fmla="*/ 132 w 256"/>
                <a:gd name="T21" fmla="*/ 116 h 256"/>
                <a:gd name="T22" fmla="*/ 124 w 256"/>
                <a:gd name="T23" fmla="*/ 116 h 256"/>
                <a:gd name="T24" fmla="*/ 78 w 256"/>
                <a:gd name="T25" fmla="*/ 27 h 256"/>
                <a:gd name="T26" fmla="*/ 74 w 256"/>
                <a:gd name="T27" fmla="*/ 25 h 256"/>
                <a:gd name="T28" fmla="*/ 91 w 256"/>
                <a:gd name="T29" fmla="*/ 8 h 256"/>
                <a:gd name="T30" fmla="*/ 48 w 256"/>
                <a:gd name="T31" fmla="*/ 8 h 256"/>
                <a:gd name="T32" fmla="*/ 48 w 256"/>
                <a:gd name="T33" fmla="*/ 51 h 256"/>
                <a:gd name="T34" fmla="*/ 64 w 256"/>
                <a:gd name="T35" fmla="*/ 35 h 256"/>
                <a:gd name="T36" fmla="*/ 67 w 256"/>
                <a:gd name="T37" fmla="*/ 37 h 256"/>
                <a:gd name="T38" fmla="*/ 108 w 256"/>
                <a:gd name="T39" fmla="*/ 116 h 256"/>
                <a:gd name="T40" fmla="*/ 108 w 256"/>
                <a:gd name="T41" fmla="*/ 256 h 256"/>
                <a:gd name="T42" fmla="*/ 104 w 256"/>
                <a:gd name="T43" fmla="*/ 256 h 256"/>
                <a:gd name="T44" fmla="*/ 0 w 256"/>
                <a:gd name="T45" fmla="*/ 128 h 256"/>
                <a:gd name="T46" fmla="*/ 21 w 256"/>
                <a:gd name="T47" fmla="*/ 58 h 256"/>
                <a:gd name="T48" fmla="*/ 28 w 256"/>
                <a:gd name="T49" fmla="*/ 62 h 256"/>
                <a:gd name="T50" fmla="*/ 8 w 256"/>
                <a:gd name="T51" fmla="*/ 128 h 256"/>
                <a:gd name="T52" fmla="*/ 100 w 256"/>
                <a:gd name="T53" fmla="*/ 248 h 256"/>
                <a:gd name="T54" fmla="*/ 100 w 256"/>
                <a:gd name="T55" fmla="*/ 116 h 256"/>
                <a:gd name="T56" fmla="*/ 64 w 256"/>
                <a:gd name="T57" fmla="*/ 46 h 256"/>
                <a:gd name="T58" fmla="*/ 40 w 256"/>
                <a:gd name="T59" fmla="*/ 70 h 256"/>
                <a:gd name="T60" fmla="*/ 40 w 256"/>
                <a:gd name="T61" fmla="*/ 0 h 256"/>
                <a:gd name="T62" fmla="*/ 110 w 256"/>
                <a:gd name="T63" fmla="*/ 0 h 256"/>
                <a:gd name="T64" fmla="*/ 86 w 256"/>
                <a:gd name="T65" fmla="*/ 24 h 256"/>
                <a:gd name="T66" fmla="*/ 128 w 256"/>
                <a:gd name="T67" fmla="*/ 89 h 256"/>
                <a:gd name="T68" fmla="*/ 170 w 256"/>
                <a:gd name="T69" fmla="*/ 24 h 256"/>
                <a:gd name="T70" fmla="*/ 147 w 256"/>
                <a:gd name="T71" fmla="*/ 0 h 256"/>
                <a:gd name="T72" fmla="*/ 216 w 256"/>
                <a:gd name="T73" fmla="*/ 0 h 256"/>
                <a:gd name="T74" fmla="*/ 216 w 256"/>
                <a:gd name="T75" fmla="*/ 70 h 256"/>
                <a:gd name="T76" fmla="*/ 192 w 256"/>
                <a:gd name="T77" fmla="*/ 46 h 256"/>
                <a:gd name="T78" fmla="*/ 156 w 256"/>
                <a:gd name="T79" fmla="*/ 116 h 256"/>
                <a:gd name="T80" fmla="*/ 156 w 256"/>
                <a:gd name="T81" fmla="*/ 248 h 256"/>
                <a:gd name="T82" fmla="*/ 248 w 256"/>
                <a:gd name="T83" fmla="*/ 128 h 256"/>
                <a:gd name="T84" fmla="*/ 229 w 256"/>
                <a:gd name="T85" fmla="*/ 62 h 256"/>
                <a:gd name="T86" fmla="*/ 235 w 256"/>
                <a:gd name="T87" fmla="*/ 58 h 256"/>
                <a:gd name="T88" fmla="*/ 256 w 256"/>
                <a:gd name="T89" fmla="*/ 128 h 256"/>
                <a:gd name="T90" fmla="*/ 152 w 256"/>
                <a:gd name="T91" fmla="*/ 256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6" h="256">
                  <a:moveTo>
                    <a:pt x="152" y="256"/>
                  </a:moveTo>
                  <a:cubicBezTo>
                    <a:pt x="148" y="256"/>
                    <a:pt x="148" y="256"/>
                    <a:pt x="148" y="256"/>
                  </a:cubicBezTo>
                  <a:cubicBezTo>
                    <a:pt x="148" y="116"/>
                    <a:pt x="148" y="116"/>
                    <a:pt x="148" y="116"/>
                  </a:cubicBezTo>
                  <a:cubicBezTo>
                    <a:pt x="148" y="75"/>
                    <a:pt x="188" y="39"/>
                    <a:pt x="189" y="37"/>
                  </a:cubicBezTo>
                  <a:cubicBezTo>
                    <a:pt x="192" y="35"/>
                    <a:pt x="192" y="35"/>
                    <a:pt x="192" y="35"/>
                  </a:cubicBezTo>
                  <a:cubicBezTo>
                    <a:pt x="208" y="51"/>
                    <a:pt x="208" y="51"/>
                    <a:pt x="208" y="51"/>
                  </a:cubicBezTo>
                  <a:cubicBezTo>
                    <a:pt x="208" y="8"/>
                    <a:pt x="208" y="8"/>
                    <a:pt x="208" y="8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82" y="25"/>
                    <a:pt x="182" y="25"/>
                    <a:pt x="182" y="25"/>
                  </a:cubicBezTo>
                  <a:cubicBezTo>
                    <a:pt x="179" y="27"/>
                    <a:pt x="179" y="27"/>
                    <a:pt x="179" y="27"/>
                  </a:cubicBezTo>
                  <a:cubicBezTo>
                    <a:pt x="178" y="28"/>
                    <a:pt x="132" y="67"/>
                    <a:pt x="132" y="116"/>
                  </a:cubicBezTo>
                  <a:cubicBezTo>
                    <a:pt x="124" y="116"/>
                    <a:pt x="124" y="116"/>
                    <a:pt x="124" y="116"/>
                  </a:cubicBezTo>
                  <a:cubicBezTo>
                    <a:pt x="124" y="67"/>
                    <a:pt x="78" y="28"/>
                    <a:pt x="78" y="27"/>
                  </a:cubicBezTo>
                  <a:cubicBezTo>
                    <a:pt x="74" y="25"/>
                    <a:pt x="74" y="25"/>
                    <a:pt x="74" y="25"/>
                  </a:cubicBezTo>
                  <a:cubicBezTo>
                    <a:pt x="91" y="8"/>
                    <a:pt x="91" y="8"/>
                    <a:pt x="91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51"/>
                    <a:pt x="48" y="51"/>
                    <a:pt x="48" y="51"/>
                  </a:cubicBezTo>
                  <a:cubicBezTo>
                    <a:pt x="64" y="35"/>
                    <a:pt x="64" y="35"/>
                    <a:pt x="64" y="35"/>
                  </a:cubicBezTo>
                  <a:cubicBezTo>
                    <a:pt x="67" y="37"/>
                    <a:pt x="67" y="37"/>
                    <a:pt x="67" y="37"/>
                  </a:cubicBezTo>
                  <a:cubicBezTo>
                    <a:pt x="69" y="39"/>
                    <a:pt x="108" y="75"/>
                    <a:pt x="108" y="116"/>
                  </a:cubicBezTo>
                  <a:cubicBezTo>
                    <a:pt x="108" y="256"/>
                    <a:pt x="108" y="256"/>
                    <a:pt x="108" y="256"/>
                  </a:cubicBezTo>
                  <a:cubicBezTo>
                    <a:pt x="104" y="256"/>
                    <a:pt x="104" y="256"/>
                    <a:pt x="104" y="256"/>
                  </a:cubicBezTo>
                  <a:cubicBezTo>
                    <a:pt x="68" y="256"/>
                    <a:pt x="0" y="204"/>
                    <a:pt x="0" y="128"/>
                  </a:cubicBezTo>
                  <a:cubicBezTo>
                    <a:pt x="0" y="103"/>
                    <a:pt x="7" y="79"/>
                    <a:pt x="21" y="58"/>
                  </a:cubicBezTo>
                  <a:cubicBezTo>
                    <a:pt x="28" y="62"/>
                    <a:pt x="28" y="62"/>
                    <a:pt x="28" y="62"/>
                  </a:cubicBezTo>
                  <a:cubicBezTo>
                    <a:pt x="15" y="82"/>
                    <a:pt x="8" y="105"/>
                    <a:pt x="8" y="128"/>
                  </a:cubicBezTo>
                  <a:cubicBezTo>
                    <a:pt x="8" y="200"/>
                    <a:pt x="69" y="244"/>
                    <a:pt x="100" y="248"/>
                  </a:cubicBezTo>
                  <a:cubicBezTo>
                    <a:pt x="100" y="116"/>
                    <a:pt x="100" y="116"/>
                    <a:pt x="100" y="116"/>
                  </a:cubicBezTo>
                  <a:cubicBezTo>
                    <a:pt x="100" y="85"/>
                    <a:pt x="73" y="55"/>
                    <a:pt x="64" y="46"/>
                  </a:cubicBezTo>
                  <a:cubicBezTo>
                    <a:pt x="40" y="70"/>
                    <a:pt x="40" y="70"/>
                    <a:pt x="40" y="7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95" y="32"/>
                    <a:pt x="119" y="57"/>
                    <a:pt x="128" y="89"/>
                  </a:cubicBezTo>
                  <a:cubicBezTo>
                    <a:pt x="138" y="57"/>
                    <a:pt x="162" y="32"/>
                    <a:pt x="170" y="24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216" y="0"/>
                    <a:pt x="216" y="0"/>
                    <a:pt x="216" y="0"/>
                  </a:cubicBezTo>
                  <a:cubicBezTo>
                    <a:pt x="216" y="70"/>
                    <a:pt x="216" y="70"/>
                    <a:pt x="216" y="70"/>
                  </a:cubicBezTo>
                  <a:cubicBezTo>
                    <a:pt x="192" y="46"/>
                    <a:pt x="192" y="46"/>
                    <a:pt x="192" y="46"/>
                  </a:cubicBezTo>
                  <a:cubicBezTo>
                    <a:pt x="183" y="55"/>
                    <a:pt x="156" y="85"/>
                    <a:pt x="156" y="116"/>
                  </a:cubicBezTo>
                  <a:cubicBezTo>
                    <a:pt x="156" y="248"/>
                    <a:pt x="156" y="248"/>
                    <a:pt x="156" y="248"/>
                  </a:cubicBezTo>
                  <a:cubicBezTo>
                    <a:pt x="187" y="244"/>
                    <a:pt x="248" y="200"/>
                    <a:pt x="248" y="128"/>
                  </a:cubicBezTo>
                  <a:cubicBezTo>
                    <a:pt x="248" y="105"/>
                    <a:pt x="241" y="82"/>
                    <a:pt x="229" y="62"/>
                  </a:cubicBezTo>
                  <a:cubicBezTo>
                    <a:pt x="235" y="58"/>
                    <a:pt x="235" y="58"/>
                    <a:pt x="235" y="58"/>
                  </a:cubicBezTo>
                  <a:cubicBezTo>
                    <a:pt x="249" y="79"/>
                    <a:pt x="256" y="103"/>
                    <a:pt x="256" y="128"/>
                  </a:cubicBezTo>
                  <a:cubicBezTo>
                    <a:pt x="256" y="204"/>
                    <a:pt x="189" y="256"/>
                    <a:pt x="152" y="256"/>
                  </a:cubicBezTo>
                  <a:close/>
                </a:path>
              </a:pathLst>
            </a:custGeom>
            <a:grpFill/>
            <a:ln w="3175" cap="sq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" name="Rectangle 155">
              <a:extLst>
                <a:ext uri="{FF2B5EF4-FFF2-40B4-BE49-F238E27FC236}">
                  <a16:creationId xmlns:a16="http://schemas.microsoft.com/office/drawing/2014/main" id="{52EDA73F-0FED-473E-BF72-214D04268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8764" y="4818063"/>
              <a:ext cx="33338" cy="33338"/>
            </a:xfrm>
            <a:prstGeom prst="rect">
              <a:avLst/>
            </a:prstGeom>
            <a:grpFill/>
            <a:ln w="9525" cap="sq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" name="Rectangle 156">
              <a:extLst>
                <a:ext uri="{FF2B5EF4-FFF2-40B4-BE49-F238E27FC236}">
                  <a16:creationId xmlns:a16="http://schemas.microsoft.com/office/drawing/2014/main" id="{8F10B049-E550-429A-86A1-FC0C5FD3E4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8764" y="4749801"/>
              <a:ext cx="33338" cy="34925"/>
            </a:xfrm>
            <a:prstGeom prst="rect">
              <a:avLst/>
            </a:prstGeom>
            <a:grpFill/>
            <a:ln w="9525" cap="sq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" name="Rectangle 157">
              <a:extLst>
                <a:ext uri="{FF2B5EF4-FFF2-40B4-BE49-F238E27FC236}">
                  <a16:creationId xmlns:a16="http://schemas.microsoft.com/office/drawing/2014/main" id="{E8BBBB70-F810-43C0-8519-D1ECD12F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8764" y="4614863"/>
              <a:ext cx="33338" cy="33338"/>
            </a:xfrm>
            <a:prstGeom prst="rect">
              <a:avLst/>
            </a:prstGeom>
            <a:grpFill/>
            <a:ln w="9525" cap="sq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" name="Rectangle 158">
              <a:extLst>
                <a:ext uri="{FF2B5EF4-FFF2-40B4-BE49-F238E27FC236}">
                  <a16:creationId xmlns:a16="http://schemas.microsoft.com/office/drawing/2014/main" id="{71736ED1-C222-4677-BD66-2AF2AC3B2C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8764" y="4546601"/>
              <a:ext cx="33338" cy="33338"/>
            </a:xfrm>
            <a:prstGeom prst="rect">
              <a:avLst/>
            </a:prstGeom>
            <a:grpFill/>
            <a:ln w="9525" cap="sq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Rectangle 159">
              <a:extLst>
                <a:ext uri="{FF2B5EF4-FFF2-40B4-BE49-F238E27FC236}">
                  <a16:creationId xmlns:a16="http://schemas.microsoft.com/office/drawing/2014/main" id="{17F988E1-489C-4737-8D70-D634BFF2E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8764" y="4411663"/>
              <a:ext cx="33338" cy="33338"/>
            </a:xfrm>
            <a:prstGeom prst="rect">
              <a:avLst/>
            </a:prstGeom>
            <a:grpFill/>
            <a:ln w="9525" cap="sq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" name="Rectangle 160">
              <a:extLst>
                <a:ext uri="{FF2B5EF4-FFF2-40B4-BE49-F238E27FC236}">
                  <a16:creationId xmlns:a16="http://schemas.microsoft.com/office/drawing/2014/main" id="{D254A42E-2DC4-44FD-9EE5-B9B4F52B86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8764" y="4343401"/>
              <a:ext cx="33338" cy="33338"/>
            </a:xfrm>
            <a:prstGeom prst="rect">
              <a:avLst/>
            </a:prstGeom>
            <a:grpFill/>
            <a:ln w="9525" cap="sq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8A67FE9-130B-46ED-B918-A05D8CD9B172}"/>
              </a:ext>
            </a:extLst>
          </p:cNvPr>
          <p:cNvSpPr txBox="1"/>
          <p:nvPr/>
        </p:nvSpPr>
        <p:spPr>
          <a:xfrm>
            <a:off x="966586" y="1154033"/>
            <a:ext cx="5598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3200" b="1" i="0" u="none" strike="noStrike" cap="none" normalizeH="0" baseline="0" noProof="0" dirty="0">
                <a:ln>
                  <a:noFill/>
                </a:ln>
                <a:solidFill>
                  <a:srgbClr val="C10076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MECANISMO ACÇÃO</a:t>
            </a:r>
          </a:p>
        </p:txBody>
      </p:sp>
      <p:sp>
        <p:nvSpPr>
          <p:cNvPr id="67" name="Double Bracket 66">
            <a:extLst>
              <a:ext uri="{FF2B5EF4-FFF2-40B4-BE49-F238E27FC236}">
                <a16:creationId xmlns:a16="http://schemas.microsoft.com/office/drawing/2014/main" id="{231B0C84-C003-4E97-9C27-18286986C60C}"/>
              </a:ext>
            </a:extLst>
          </p:cNvPr>
          <p:cNvSpPr/>
          <p:nvPr/>
        </p:nvSpPr>
        <p:spPr>
          <a:xfrm>
            <a:off x="3260209" y="3436685"/>
            <a:ext cx="2910785" cy="712159"/>
          </a:xfrm>
          <a:prstGeom prst="bracketPair">
            <a:avLst>
              <a:gd name="adj" fmla="val 28559"/>
            </a:avLst>
          </a:prstGeom>
          <a:noFill/>
          <a:ln w="25400" cap="rnd">
            <a:solidFill>
              <a:srgbClr val="CF84AE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Double Bracket 67">
            <a:extLst>
              <a:ext uri="{FF2B5EF4-FFF2-40B4-BE49-F238E27FC236}">
                <a16:creationId xmlns:a16="http://schemas.microsoft.com/office/drawing/2014/main" id="{0C1F3B91-483F-4C5F-BFBF-00C48B4D29EF}"/>
              </a:ext>
            </a:extLst>
          </p:cNvPr>
          <p:cNvSpPr/>
          <p:nvPr/>
        </p:nvSpPr>
        <p:spPr>
          <a:xfrm>
            <a:off x="3264450" y="4496788"/>
            <a:ext cx="2910785" cy="712159"/>
          </a:xfrm>
          <a:prstGeom prst="bracketPair">
            <a:avLst>
              <a:gd name="adj" fmla="val 28559"/>
            </a:avLst>
          </a:prstGeom>
          <a:noFill/>
          <a:ln w="25400" cap="rnd">
            <a:solidFill>
              <a:srgbClr val="CF84AE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Rectangle 68">
            <a:hlinkClick r:id="" action="ppaction://noaction"/>
            <a:extLst>
              <a:ext uri="{FF2B5EF4-FFF2-40B4-BE49-F238E27FC236}">
                <a16:creationId xmlns:a16="http://schemas.microsoft.com/office/drawing/2014/main" id="{D69963A3-D834-4AF0-BC5D-7C25556CEA90}"/>
              </a:ext>
            </a:extLst>
          </p:cNvPr>
          <p:cNvSpPr/>
          <p:nvPr/>
        </p:nvSpPr>
        <p:spPr>
          <a:xfrm>
            <a:off x="3260209" y="5811832"/>
            <a:ext cx="2977462" cy="563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Orientação das fibras musculares no miométrio </a:t>
            </a:r>
          </a:p>
        </p:txBody>
      </p:sp>
      <p:sp>
        <p:nvSpPr>
          <p:cNvPr id="73" name="Double Bracket 72">
            <a:extLst>
              <a:ext uri="{FF2B5EF4-FFF2-40B4-BE49-F238E27FC236}">
                <a16:creationId xmlns:a16="http://schemas.microsoft.com/office/drawing/2014/main" id="{BB2E66F2-2F37-4CB1-86A5-30250712CC44}"/>
              </a:ext>
            </a:extLst>
          </p:cNvPr>
          <p:cNvSpPr/>
          <p:nvPr/>
        </p:nvSpPr>
        <p:spPr>
          <a:xfrm>
            <a:off x="3281823" y="5750016"/>
            <a:ext cx="2934235" cy="686863"/>
          </a:xfrm>
          <a:prstGeom prst="bracketPair">
            <a:avLst>
              <a:gd name="adj" fmla="val 28559"/>
            </a:avLst>
          </a:prstGeom>
          <a:noFill/>
          <a:ln w="25400" cap="rnd">
            <a:solidFill>
              <a:srgbClr val="838F9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63DDF6-2EF2-4AF2-9619-E0C295665CE7}"/>
              </a:ext>
            </a:extLst>
          </p:cNvPr>
          <p:cNvSpPr/>
          <p:nvPr/>
        </p:nvSpPr>
        <p:spPr>
          <a:xfrm>
            <a:off x="6434928" y="2251550"/>
            <a:ext cx="532384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400" dirty="0" err="1">
                <a:latin typeface="Trebuchet MS" panose="020B0603020202020204" pitchFamily="34" charset="0"/>
              </a:rPr>
              <a:t>Activa</a:t>
            </a:r>
            <a:r>
              <a:rPr lang="pt-PT" sz="1400" dirty="0">
                <a:latin typeface="Trebuchet MS" panose="020B0603020202020204" pitchFamily="34" charset="0"/>
              </a:rPr>
              <a:t> as </a:t>
            </a:r>
            <a:r>
              <a:rPr lang="pt-PT" sz="1400" dirty="0" err="1">
                <a:latin typeface="Trebuchet MS" panose="020B0603020202020204" pitchFamily="34" charset="0"/>
              </a:rPr>
              <a:t>colagenases</a:t>
            </a:r>
            <a:r>
              <a:rPr lang="pt-PT" sz="1400" dirty="0">
                <a:latin typeface="Trebuchet MS" panose="020B0603020202020204" pitchFamily="34" charset="0"/>
              </a:rPr>
              <a:t> (enzimas responsáveis pela degradação das fibras do colagénio), tornando a consistência do colo do útero mais mole.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C10681-8D73-42F5-A46B-1BCF2331DBCC}"/>
              </a:ext>
            </a:extLst>
          </p:cNvPr>
          <p:cNvSpPr/>
          <p:nvPr/>
        </p:nvSpPr>
        <p:spPr>
          <a:xfrm>
            <a:off x="6433377" y="3418613"/>
            <a:ext cx="524539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400" dirty="0">
                <a:latin typeface="Trebuchet MS" panose="020B0603020202020204" pitchFamily="34" charset="0"/>
              </a:rPr>
              <a:t>Altera as proporções dos </a:t>
            </a:r>
            <a:r>
              <a:rPr lang="pt-PT" sz="1400" dirty="0" err="1">
                <a:latin typeface="Trebuchet MS" panose="020B0603020202020204" pitchFamily="34" charset="0"/>
              </a:rPr>
              <a:t>glicosaminoglicanos</a:t>
            </a:r>
            <a:r>
              <a:rPr lang="pt-PT" sz="1400" dirty="0">
                <a:latin typeface="Trebuchet MS" panose="020B0603020202020204" pitchFamily="34" charset="0"/>
              </a:rPr>
              <a:t> que conferem rigidez ao colo do útero, promovendo assim o seu amolecimento.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364926-C123-4006-9606-13DF7A2F5F7B}"/>
              </a:ext>
            </a:extLst>
          </p:cNvPr>
          <p:cNvSpPr/>
          <p:nvPr/>
        </p:nvSpPr>
        <p:spPr>
          <a:xfrm>
            <a:off x="6453502" y="4591257"/>
            <a:ext cx="53052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400" dirty="0">
                <a:latin typeface="Trebuchet MS" panose="020B0603020202020204" pitchFamily="34" charset="0"/>
              </a:rPr>
              <a:t>Promovendo a sua </a:t>
            </a:r>
            <a:r>
              <a:rPr lang="pt-PT" sz="1400" dirty="0" err="1">
                <a:latin typeface="Trebuchet MS" panose="020B0603020202020204" pitchFamily="34" charset="0"/>
              </a:rPr>
              <a:t>actuação</a:t>
            </a:r>
            <a:r>
              <a:rPr lang="pt-PT" sz="1400" dirty="0">
                <a:latin typeface="Trebuchet MS" panose="020B0603020202020204" pitchFamily="34" charset="0"/>
              </a:rPr>
              <a:t> sobre o útero e levando à produção de </a:t>
            </a:r>
            <a:r>
              <a:rPr lang="pt-PT" sz="1400" dirty="0" err="1">
                <a:latin typeface="Trebuchet MS" panose="020B0603020202020204" pitchFamily="34" charset="0"/>
              </a:rPr>
              <a:t>contracções</a:t>
            </a:r>
            <a:r>
              <a:rPr lang="pt-PT" sz="1400" dirty="0">
                <a:latin typeface="Trebuchet MS" panose="020B0603020202020204" pitchFamily="34" charset="0"/>
              </a:rPr>
              <a:t>. 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8E63C24-5902-4044-B9E8-0E79E4F16B2D}"/>
              </a:ext>
            </a:extLst>
          </p:cNvPr>
          <p:cNvSpPr/>
          <p:nvPr/>
        </p:nvSpPr>
        <p:spPr>
          <a:xfrm>
            <a:off x="6444214" y="5831837"/>
            <a:ext cx="53052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400" dirty="0">
                <a:latin typeface="Trebuchet MS" panose="020B0603020202020204" pitchFamily="34" charset="0"/>
              </a:rPr>
              <a:t>Orientação no sentido da pressão, facilitando a saída do feto através do canal de parto. 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58174F-3E1B-48B4-9530-A37D0FBBC1E9}"/>
              </a:ext>
            </a:extLst>
          </p:cNvPr>
          <p:cNvSpPr txBox="1"/>
          <p:nvPr/>
        </p:nvSpPr>
        <p:spPr>
          <a:xfrm>
            <a:off x="352164" y="236961"/>
            <a:ext cx="88422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800" b="1">
                <a:solidFill>
                  <a:srgbClr val="C10076"/>
                </a:solidFill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FARMACOCINÉTICA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92940-F58A-4B57-B1DA-7125396BF648}"/>
              </a:ext>
            </a:extLst>
          </p:cNvPr>
          <p:cNvSpPr txBox="1"/>
          <p:nvPr/>
        </p:nvSpPr>
        <p:spPr>
          <a:xfrm>
            <a:off x="387700" y="972578"/>
            <a:ext cx="8763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dirty="0">
                <a:solidFill>
                  <a:srgbClr val="231F20"/>
                </a:solidFill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ADMINISTRAÇÃO ORAL </a:t>
            </a:r>
            <a:r>
              <a:rPr lang="pt-PT" sz="2400" i="1" dirty="0">
                <a:solidFill>
                  <a:srgbClr val="231F20"/>
                </a:solidFill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vs. </a:t>
            </a:r>
            <a:r>
              <a:rPr lang="pt-PT" sz="2400" dirty="0">
                <a:solidFill>
                  <a:srgbClr val="231F20"/>
                </a:solidFill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VAGINAL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6A15FE-8176-4355-AF89-01310341EFAA}"/>
              </a:ext>
            </a:extLst>
          </p:cNvPr>
          <p:cNvSpPr/>
          <p:nvPr/>
        </p:nvSpPr>
        <p:spPr>
          <a:xfrm>
            <a:off x="0" y="1776142"/>
            <a:ext cx="12189101" cy="4553537"/>
          </a:xfrm>
          <a:prstGeom prst="rect">
            <a:avLst/>
          </a:prstGeom>
          <a:solidFill>
            <a:srgbClr val="CF84AE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D73CB79-108F-437A-A2F1-54E2FA66EDA4}"/>
              </a:ext>
            </a:extLst>
          </p:cNvPr>
          <p:cNvGrpSpPr/>
          <p:nvPr/>
        </p:nvGrpSpPr>
        <p:grpSpPr>
          <a:xfrm>
            <a:off x="390262" y="1954766"/>
            <a:ext cx="6136640" cy="4175543"/>
            <a:chOff x="3239719" y="3190491"/>
            <a:chExt cx="5918449" cy="4027079"/>
          </a:xfrm>
        </p:grpSpPr>
        <p:sp>
          <p:nvSpPr>
            <p:cNvPr id="10" name="Double Bracket 9">
              <a:extLst>
                <a:ext uri="{FF2B5EF4-FFF2-40B4-BE49-F238E27FC236}">
                  <a16:creationId xmlns:a16="http://schemas.microsoft.com/office/drawing/2014/main" id="{3E4921B1-4D2F-4297-BE46-D6B2953E9177}"/>
                </a:ext>
              </a:extLst>
            </p:cNvPr>
            <p:cNvSpPr/>
            <p:nvPr/>
          </p:nvSpPr>
          <p:spPr>
            <a:xfrm>
              <a:off x="3239719" y="3190492"/>
              <a:ext cx="5918449" cy="4027078"/>
            </a:xfrm>
            <a:prstGeom prst="bracketPair">
              <a:avLst>
                <a:gd name="adj" fmla="val 15873"/>
              </a:avLst>
            </a:prstGeom>
            <a:solidFill>
              <a:schemeClr val="bg1">
                <a:alpha val="68000"/>
              </a:schemeClr>
            </a:solidFill>
            <a:ln w="25400" cap="rnd">
              <a:solidFill>
                <a:srgbClr val="CF84AE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>
                <a:solidFill>
                  <a:schemeClr val="lt1"/>
                </a:solidFill>
              </a:endParaRPr>
            </a:p>
          </p:txBody>
        </p:sp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B459F095-BC48-46B1-BEAE-BF17D5BA7C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0547" y="3190491"/>
              <a:ext cx="4821366" cy="4027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7" name="Oval 66">
            <a:extLst>
              <a:ext uri="{FF2B5EF4-FFF2-40B4-BE49-F238E27FC236}">
                <a16:creationId xmlns:a16="http://schemas.microsoft.com/office/drawing/2014/main" id="{E39912CB-7E20-45C6-AE7B-EB057CCC19EB}"/>
              </a:ext>
            </a:extLst>
          </p:cNvPr>
          <p:cNvSpPr/>
          <p:nvPr/>
        </p:nvSpPr>
        <p:spPr>
          <a:xfrm>
            <a:off x="4304750" y="4871363"/>
            <a:ext cx="762356" cy="762356"/>
          </a:xfrm>
          <a:prstGeom prst="ellipse">
            <a:avLst/>
          </a:prstGeom>
          <a:noFill/>
          <a:ln>
            <a:solidFill>
              <a:srgbClr val="CF84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EB458384-29CF-4AEA-A9F0-CFDAB4DED28C}"/>
              </a:ext>
            </a:extLst>
          </p:cNvPr>
          <p:cNvSpPr/>
          <p:nvPr/>
        </p:nvSpPr>
        <p:spPr>
          <a:xfrm>
            <a:off x="4651875" y="3919588"/>
            <a:ext cx="762356" cy="762356"/>
          </a:xfrm>
          <a:prstGeom prst="ellipse">
            <a:avLst/>
          </a:prstGeom>
          <a:noFill/>
          <a:ln>
            <a:solidFill>
              <a:srgbClr val="CF84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Double Bracket 14">
            <a:extLst>
              <a:ext uri="{FF2B5EF4-FFF2-40B4-BE49-F238E27FC236}">
                <a16:creationId xmlns:a16="http://schemas.microsoft.com/office/drawing/2014/main" id="{70626CC6-B2F1-419D-A25D-CBA2AA615636}"/>
              </a:ext>
            </a:extLst>
          </p:cNvPr>
          <p:cNvSpPr/>
          <p:nvPr/>
        </p:nvSpPr>
        <p:spPr>
          <a:xfrm flipH="1" flipV="1">
            <a:off x="5666940" y="986322"/>
            <a:ext cx="457496" cy="457496"/>
          </a:xfrm>
          <a:custGeom>
            <a:avLst/>
            <a:gdLst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1258880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4" fmla="*/ 1878004 w 2381250"/>
              <a:gd name="connsiteY4" fmla="*/ 0 h 1762126"/>
              <a:gd name="connsiteX5" fmla="*/ 2381250 w 2381250"/>
              <a:gd name="connsiteY5" fmla="*/ 503246 h 1762126"/>
              <a:gd name="connsiteX6" fmla="*/ 2381250 w 2381250"/>
              <a:gd name="connsiteY6" fmla="*/ 1258880 h 1762126"/>
              <a:gd name="connsiteX7" fmla="*/ 1878004 w 2381250"/>
              <a:gd name="connsiteY7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7" fmla="*/ 503246 w 2381250"/>
              <a:gd name="connsiteY7" fmla="*/ 1762126 h 176212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878004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03246 w 2381250"/>
              <a:gd name="connsiteY6" fmla="*/ 1762126 h 1853566"/>
              <a:gd name="connsiteX7" fmla="*/ 0 w 2381250"/>
              <a:gd name="connsiteY7" fmla="*/ 1258880 h 1853566"/>
              <a:gd name="connsiteX8" fmla="*/ 0 w 2381250"/>
              <a:gd name="connsiteY8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209675 w 2381250"/>
              <a:gd name="connsiteY2" fmla="*/ 1 h 1853566"/>
              <a:gd name="connsiteX3" fmla="*/ 1878004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03246 w 2381250"/>
              <a:gd name="connsiteY7" fmla="*/ 1762126 h 1853566"/>
              <a:gd name="connsiteX8" fmla="*/ 0 w 2381250"/>
              <a:gd name="connsiteY8" fmla="*/ 1258880 h 1853566"/>
              <a:gd name="connsiteX9" fmla="*/ 0 w 2381250"/>
              <a:gd name="connsiteY9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9" fmla="*/ 1301115 w 2381250"/>
              <a:gd name="connsiteY9" fmla="*/ 91441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94686 w 2381250"/>
              <a:gd name="connsiteY7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0 w 2381250"/>
              <a:gd name="connsiteY1" fmla="*/ 503246 h 1853566"/>
              <a:gd name="connsiteX2" fmla="*/ 503246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94686 w 2381250"/>
              <a:gd name="connsiteY6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94686 w 2381250"/>
              <a:gd name="connsiteY5" fmla="*/ 1853566 h 185356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503246 w 2381250"/>
              <a:gd name="connsiteY4" fmla="*/ 1762126 h 1762126"/>
              <a:gd name="connsiteX5" fmla="*/ 0 w 2381250"/>
              <a:gd name="connsiteY5" fmla="*/ 1258880 h 1762126"/>
              <a:gd name="connsiteX6" fmla="*/ 0 w 2381250"/>
              <a:gd name="connsiteY6" fmla="*/ 503246 h 1762126"/>
              <a:gd name="connsiteX7" fmla="*/ 503246 w 2381250"/>
              <a:gd name="connsiteY7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1258880 h 1762126"/>
              <a:gd name="connsiteX5" fmla="*/ 0 w 2381250"/>
              <a:gd name="connsiteY5" fmla="*/ 503246 h 1762126"/>
              <a:gd name="connsiteX6" fmla="*/ 503246 w 2381250"/>
              <a:gd name="connsiteY6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503246 h 1762126"/>
              <a:gd name="connsiteX5" fmla="*/ 503246 w 2381250"/>
              <a:gd name="connsiteY5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0" fmla="*/ 1878004 w 1878004"/>
              <a:gd name="connsiteY0" fmla="*/ 1762126 h 1762126"/>
              <a:gd name="connsiteX1" fmla="*/ 0 w 1878004"/>
              <a:gd name="connsiteY1" fmla="*/ 503246 h 1762126"/>
              <a:gd name="connsiteX2" fmla="*/ 503246 w 1878004"/>
              <a:gd name="connsiteY2" fmla="*/ 0 h 1762126"/>
              <a:gd name="connsiteX0" fmla="*/ 0 w 1878004"/>
              <a:gd name="connsiteY0" fmla="*/ 503246 h 1762126"/>
              <a:gd name="connsiteX1" fmla="*/ 503246 w 1878004"/>
              <a:gd name="connsiteY1" fmla="*/ 0 h 1762126"/>
              <a:gd name="connsiteX0" fmla="*/ 0 w 503246"/>
              <a:gd name="connsiteY0" fmla="*/ 503246 h 503246"/>
              <a:gd name="connsiteX1" fmla="*/ 503246 w 503246"/>
              <a:gd name="connsiteY1" fmla="*/ 0 h 503246"/>
              <a:gd name="connsiteX0" fmla="*/ 0 w 503246"/>
              <a:gd name="connsiteY0" fmla="*/ 503246 h 503246"/>
              <a:gd name="connsiteX1" fmla="*/ 503246 w 503246"/>
              <a:gd name="connsiteY1" fmla="*/ 0 h 503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246" h="503246" stroke="0" extrusionOk="0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  <a:path w="503246" h="503246" fill="none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</a:pathLst>
          </a:custGeom>
          <a:noFill/>
          <a:ln w="25400" cap="rnd">
            <a:solidFill>
              <a:srgbClr val="C1007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>
              <a:solidFill>
                <a:schemeClr val="lt1"/>
              </a:solidFill>
            </a:endParaRPr>
          </a:p>
        </p:txBody>
      </p:sp>
      <p:sp>
        <p:nvSpPr>
          <p:cNvPr id="66" name="14 Elipse">
            <a:extLst>
              <a:ext uri="{FF2B5EF4-FFF2-40B4-BE49-F238E27FC236}">
                <a16:creationId xmlns:a16="http://schemas.microsoft.com/office/drawing/2014/main" id="{BEE2BF2C-DF4C-4B3D-B358-C62CD1FA3DAB}"/>
              </a:ext>
            </a:extLst>
          </p:cNvPr>
          <p:cNvSpPr/>
          <p:nvPr/>
        </p:nvSpPr>
        <p:spPr>
          <a:xfrm>
            <a:off x="7358489" y="2147240"/>
            <a:ext cx="3482640" cy="1259919"/>
          </a:xfrm>
          <a:prstGeom prst="roundRect">
            <a:avLst/>
          </a:prstGeom>
          <a:solidFill>
            <a:srgbClr val="C10076"/>
          </a:solidFill>
        </p:spPr>
        <p:txBody>
          <a:bodyPr wrap="square">
            <a:spAutoFit/>
          </a:bodyPr>
          <a:lstStyle/>
          <a:p>
            <a:pPr algn="r">
              <a:lnSpc>
                <a:spcPct val="85000"/>
              </a:lnSpc>
              <a:buClr>
                <a:srgbClr val="77933C"/>
              </a:buClr>
            </a:pPr>
            <a:r>
              <a:rPr lang="pt-PT" sz="2000" b="1" dirty="0">
                <a:solidFill>
                  <a:schemeClr val="bg1"/>
                </a:solidFill>
                <a:latin typeface="Trebuchet MS" panose="020B0603020202020204" pitchFamily="34" charset="0"/>
              </a:rPr>
              <a:t>BIODISPONIBILIDADE VAGINAL</a:t>
            </a:r>
          </a:p>
          <a:p>
            <a:pPr algn="r">
              <a:lnSpc>
                <a:spcPct val="85000"/>
              </a:lnSpc>
              <a:buClr>
                <a:srgbClr val="77933C"/>
              </a:buClr>
            </a:pPr>
            <a:r>
              <a:rPr lang="pt-PT" sz="2000" b="1" dirty="0">
                <a:solidFill>
                  <a:schemeClr val="bg1"/>
                </a:solidFill>
                <a:latin typeface="Trebuchet MS" panose="020B0603020202020204" pitchFamily="34" charset="0"/>
              </a:rPr>
              <a:t> </a:t>
            </a:r>
          </a:p>
          <a:p>
            <a:pPr algn="r">
              <a:lnSpc>
                <a:spcPct val="85000"/>
              </a:lnSpc>
              <a:buClr>
                <a:srgbClr val="77933C"/>
              </a:buClr>
            </a:pPr>
            <a:r>
              <a:rPr lang="pt-PT" sz="2000" dirty="0">
                <a:solidFill>
                  <a:schemeClr val="bg1"/>
                </a:solidFill>
                <a:latin typeface="Trebuchet MS" panose="020B0603020202020204" pitchFamily="34" charset="0"/>
              </a:rPr>
              <a:t> 3 VEZES MAIOR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56D16C-1F94-4E95-873C-448701B8C1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6"/>
          <a:stretch/>
        </p:blipFill>
        <p:spPr>
          <a:xfrm>
            <a:off x="6644461" y="4472094"/>
            <a:ext cx="5427080" cy="110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294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58174F-3E1B-48B4-9530-A37D0FBBC1E9}"/>
              </a:ext>
            </a:extLst>
          </p:cNvPr>
          <p:cNvSpPr txBox="1"/>
          <p:nvPr/>
        </p:nvSpPr>
        <p:spPr>
          <a:xfrm>
            <a:off x="352164" y="236961"/>
            <a:ext cx="88422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800" b="1">
                <a:solidFill>
                  <a:srgbClr val="C10076"/>
                </a:solidFill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FARMACOCINÉTICA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92940-F58A-4B57-B1DA-7125396BF648}"/>
              </a:ext>
            </a:extLst>
          </p:cNvPr>
          <p:cNvSpPr txBox="1"/>
          <p:nvPr/>
        </p:nvSpPr>
        <p:spPr>
          <a:xfrm>
            <a:off x="387700" y="972578"/>
            <a:ext cx="8763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dirty="0">
                <a:solidFill>
                  <a:srgbClr val="231F20"/>
                </a:solidFill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ADMINISTRAÇÃO ORAL </a:t>
            </a:r>
            <a:r>
              <a:rPr lang="pt-PT" sz="2400" i="1" dirty="0">
                <a:solidFill>
                  <a:srgbClr val="231F20"/>
                </a:solidFill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vs. </a:t>
            </a:r>
            <a:r>
              <a:rPr lang="pt-PT" sz="2400" dirty="0">
                <a:solidFill>
                  <a:srgbClr val="231F20"/>
                </a:solidFill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VAGINAL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6A15FE-8176-4355-AF89-01310341EFAA}"/>
              </a:ext>
            </a:extLst>
          </p:cNvPr>
          <p:cNvSpPr/>
          <p:nvPr/>
        </p:nvSpPr>
        <p:spPr>
          <a:xfrm>
            <a:off x="0" y="1776142"/>
            <a:ext cx="12189101" cy="4553537"/>
          </a:xfrm>
          <a:prstGeom prst="rect">
            <a:avLst/>
          </a:prstGeom>
          <a:solidFill>
            <a:srgbClr val="CF84AE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Double Bracket 14">
            <a:extLst>
              <a:ext uri="{FF2B5EF4-FFF2-40B4-BE49-F238E27FC236}">
                <a16:creationId xmlns:a16="http://schemas.microsoft.com/office/drawing/2014/main" id="{70626CC6-B2F1-419D-A25D-CBA2AA615636}"/>
              </a:ext>
            </a:extLst>
          </p:cNvPr>
          <p:cNvSpPr/>
          <p:nvPr/>
        </p:nvSpPr>
        <p:spPr>
          <a:xfrm flipH="1" flipV="1">
            <a:off x="5666940" y="986322"/>
            <a:ext cx="457496" cy="457496"/>
          </a:xfrm>
          <a:custGeom>
            <a:avLst/>
            <a:gdLst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1258880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4" fmla="*/ 1878004 w 2381250"/>
              <a:gd name="connsiteY4" fmla="*/ 0 h 1762126"/>
              <a:gd name="connsiteX5" fmla="*/ 2381250 w 2381250"/>
              <a:gd name="connsiteY5" fmla="*/ 503246 h 1762126"/>
              <a:gd name="connsiteX6" fmla="*/ 2381250 w 2381250"/>
              <a:gd name="connsiteY6" fmla="*/ 1258880 h 1762126"/>
              <a:gd name="connsiteX7" fmla="*/ 1878004 w 2381250"/>
              <a:gd name="connsiteY7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7" fmla="*/ 503246 w 2381250"/>
              <a:gd name="connsiteY7" fmla="*/ 1762126 h 176212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878004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03246 w 2381250"/>
              <a:gd name="connsiteY6" fmla="*/ 1762126 h 1853566"/>
              <a:gd name="connsiteX7" fmla="*/ 0 w 2381250"/>
              <a:gd name="connsiteY7" fmla="*/ 1258880 h 1853566"/>
              <a:gd name="connsiteX8" fmla="*/ 0 w 2381250"/>
              <a:gd name="connsiteY8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209675 w 2381250"/>
              <a:gd name="connsiteY2" fmla="*/ 1 h 1853566"/>
              <a:gd name="connsiteX3" fmla="*/ 1878004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03246 w 2381250"/>
              <a:gd name="connsiteY7" fmla="*/ 1762126 h 1853566"/>
              <a:gd name="connsiteX8" fmla="*/ 0 w 2381250"/>
              <a:gd name="connsiteY8" fmla="*/ 1258880 h 1853566"/>
              <a:gd name="connsiteX9" fmla="*/ 0 w 2381250"/>
              <a:gd name="connsiteY9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9" fmla="*/ 1301115 w 2381250"/>
              <a:gd name="connsiteY9" fmla="*/ 91441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94686 w 2381250"/>
              <a:gd name="connsiteY7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0 w 2381250"/>
              <a:gd name="connsiteY1" fmla="*/ 503246 h 1853566"/>
              <a:gd name="connsiteX2" fmla="*/ 503246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94686 w 2381250"/>
              <a:gd name="connsiteY6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94686 w 2381250"/>
              <a:gd name="connsiteY5" fmla="*/ 1853566 h 185356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503246 w 2381250"/>
              <a:gd name="connsiteY4" fmla="*/ 1762126 h 1762126"/>
              <a:gd name="connsiteX5" fmla="*/ 0 w 2381250"/>
              <a:gd name="connsiteY5" fmla="*/ 1258880 h 1762126"/>
              <a:gd name="connsiteX6" fmla="*/ 0 w 2381250"/>
              <a:gd name="connsiteY6" fmla="*/ 503246 h 1762126"/>
              <a:gd name="connsiteX7" fmla="*/ 503246 w 2381250"/>
              <a:gd name="connsiteY7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1258880 h 1762126"/>
              <a:gd name="connsiteX5" fmla="*/ 0 w 2381250"/>
              <a:gd name="connsiteY5" fmla="*/ 503246 h 1762126"/>
              <a:gd name="connsiteX6" fmla="*/ 503246 w 2381250"/>
              <a:gd name="connsiteY6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503246 h 1762126"/>
              <a:gd name="connsiteX5" fmla="*/ 503246 w 2381250"/>
              <a:gd name="connsiteY5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0" fmla="*/ 1878004 w 1878004"/>
              <a:gd name="connsiteY0" fmla="*/ 1762126 h 1762126"/>
              <a:gd name="connsiteX1" fmla="*/ 0 w 1878004"/>
              <a:gd name="connsiteY1" fmla="*/ 503246 h 1762126"/>
              <a:gd name="connsiteX2" fmla="*/ 503246 w 1878004"/>
              <a:gd name="connsiteY2" fmla="*/ 0 h 1762126"/>
              <a:gd name="connsiteX0" fmla="*/ 0 w 1878004"/>
              <a:gd name="connsiteY0" fmla="*/ 503246 h 1762126"/>
              <a:gd name="connsiteX1" fmla="*/ 503246 w 1878004"/>
              <a:gd name="connsiteY1" fmla="*/ 0 h 1762126"/>
              <a:gd name="connsiteX0" fmla="*/ 0 w 503246"/>
              <a:gd name="connsiteY0" fmla="*/ 503246 h 503246"/>
              <a:gd name="connsiteX1" fmla="*/ 503246 w 503246"/>
              <a:gd name="connsiteY1" fmla="*/ 0 h 503246"/>
              <a:gd name="connsiteX0" fmla="*/ 0 w 503246"/>
              <a:gd name="connsiteY0" fmla="*/ 503246 h 503246"/>
              <a:gd name="connsiteX1" fmla="*/ 503246 w 503246"/>
              <a:gd name="connsiteY1" fmla="*/ 0 h 503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246" h="503246" stroke="0" extrusionOk="0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  <a:path w="503246" h="503246" fill="none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</a:pathLst>
          </a:custGeom>
          <a:noFill/>
          <a:ln w="25400" cap="rnd">
            <a:solidFill>
              <a:srgbClr val="C1007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>
              <a:solidFill>
                <a:schemeClr val="lt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BC8AB8-3542-4620-A149-91A597F45AD0}"/>
              </a:ext>
            </a:extLst>
          </p:cNvPr>
          <p:cNvSpPr/>
          <p:nvPr/>
        </p:nvSpPr>
        <p:spPr>
          <a:xfrm>
            <a:off x="1604579" y="2533196"/>
            <a:ext cx="3297317" cy="6417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buClr>
                <a:srgbClr val="77933C"/>
              </a:buClr>
            </a:pPr>
            <a:r>
              <a:rPr lang="pt-PT" sz="1400" dirty="0">
                <a:solidFill>
                  <a:srgbClr val="231F20"/>
                </a:solidFill>
                <a:latin typeface="Trebuchet MS" panose="020B0603020202020204" pitchFamily="34" charset="0"/>
              </a:rPr>
              <a:t>Os níveis mais elevados do ácido misoprostol são alcançados no espaço de </a:t>
            </a:r>
            <a:r>
              <a:rPr lang="pt-PT" sz="1400" b="1" dirty="0">
                <a:solidFill>
                  <a:schemeClr val="bg1"/>
                </a:solidFill>
                <a:latin typeface="Trebuchet MS" panose="020B0603020202020204" pitchFamily="34" charset="0"/>
              </a:rPr>
              <a:t>12,5 a 60 minutos</a:t>
            </a:r>
            <a:r>
              <a:rPr lang="pt-PT" sz="1400" dirty="0">
                <a:solidFill>
                  <a:srgbClr val="231F20"/>
                </a:solidFill>
                <a:latin typeface="Trebuchet MS" panose="020B0603020202020204" pitchFamily="34" charset="0"/>
              </a:rPr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E51C92-10E7-44B6-9763-4112195D977B}"/>
              </a:ext>
            </a:extLst>
          </p:cNvPr>
          <p:cNvSpPr/>
          <p:nvPr/>
        </p:nvSpPr>
        <p:spPr>
          <a:xfrm>
            <a:off x="1595610" y="3974340"/>
            <a:ext cx="3433118" cy="6417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buClr>
                <a:srgbClr val="77933C"/>
              </a:buClr>
            </a:pPr>
            <a:r>
              <a:rPr lang="pt-PT" sz="1400" dirty="0">
                <a:solidFill>
                  <a:srgbClr val="231F20"/>
                </a:solidFill>
                <a:latin typeface="Trebuchet MS" panose="020B0603020202020204" pitchFamily="34" charset="0"/>
              </a:rPr>
              <a:t>Os níveis </a:t>
            </a:r>
            <a:r>
              <a:rPr lang="pt-PT" sz="1400" b="1" dirty="0">
                <a:solidFill>
                  <a:schemeClr val="bg1"/>
                </a:solidFill>
                <a:latin typeface="Trebuchet MS" panose="020B0603020202020204" pitchFamily="34" charset="0"/>
              </a:rPr>
              <a:t>baixam drasticamente </a:t>
            </a:r>
            <a:r>
              <a:rPr lang="pt-PT" sz="1400" dirty="0">
                <a:solidFill>
                  <a:srgbClr val="231F20"/>
                </a:solidFill>
                <a:latin typeface="Trebuchet MS" panose="020B0603020202020204" pitchFamily="34" charset="0"/>
              </a:rPr>
              <a:t>até ao minuto 120 e permanecem baixos após este ponto.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2EEB413-FC09-44B3-B3EC-AF6631E611ED}"/>
              </a:ext>
            </a:extLst>
          </p:cNvPr>
          <p:cNvGrpSpPr/>
          <p:nvPr/>
        </p:nvGrpSpPr>
        <p:grpSpPr>
          <a:xfrm>
            <a:off x="529398" y="2499177"/>
            <a:ext cx="930729" cy="930729"/>
            <a:chOff x="529398" y="2862035"/>
            <a:chExt cx="930729" cy="930729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BC26D97-C4A3-4E2A-9F03-4A872E187828}"/>
                </a:ext>
              </a:extLst>
            </p:cNvPr>
            <p:cNvSpPr/>
            <p:nvPr/>
          </p:nvSpPr>
          <p:spPr>
            <a:xfrm rot="16200000">
              <a:off x="529398" y="2862035"/>
              <a:ext cx="930729" cy="930729"/>
            </a:xfrm>
            <a:prstGeom prst="ellipse">
              <a:avLst/>
            </a:prstGeom>
            <a:noFill/>
            <a:ln w="25400">
              <a:solidFill>
                <a:srgbClr val="C1007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3AF12E3-A5C3-4057-BA42-B9BF1294CA25}"/>
                </a:ext>
              </a:extLst>
            </p:cNvPr>
            <p:cNvGrpSpPr/>
            <p:nvPr/>
          </p:nvGrpSpPr>
          <p:grpSpPr>
            <a:xfrm>
              <a:off x="737834" y="3090409"/>
              <a:ext cx="513857" cy="473983"/>
              <a:chOff x="5551489" y="2057400"/>
              <a:chExt cx="1084263" cy="1000126"/>
            </a:xfrm>
            <a:solidFill>
              <a:srgbClr val="231F20"/>
            </a:solidFill>
          </p:grpSpPr>
          <p:sp>
            <p:nvSpPr>
              <p:cNvPr id="20" name="Rectangle 304">
                <a:extLst>
                  <a:ext uri="{FF2B5EF4-FFF2-40B4-BE49-F238E27FC236}">
                    <a16:creationId xmlns:a16="http://schemas.microsoft.com/office/drawing/2014/main" id="{D13985B6-1ABC-4223-994F-D624A561E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76951" y="2752725"/>
                <a:ext cx="33338" cy="3048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21" name="Freeform 305">
                <a:extLst>
                  <a:ext uri="{FF2B5EF4-FFF2-40B4-BE49-F238E27FC236}">
                    <a16:creationId xmlns:a16="http://schemas.microsoft.com/office/drawing/2014/main" id="{0EB64674-4BA2-4F70-BC47-810D289556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6814" y="2747963"/>
                <a:ext cx="134938" cy="309563"/>
              </a:xfrm>
              <a:custGeom>
                <a:avLst/>
                <a:gdLst>
                  <a:gd name="T0" fmla="*/ 85 w 85"/>
                  <a:gd name="T1" fmla="*/ 195 h 195"/>
                  <a:gd name="T2" fmla="*/ 64 w 85"/>
                  <a:gd name="T3" fmla="*/ 195 h 195"/>
                  <a:gd name="T4" fmla="*/ 64 w 85"/>
                  <a:gd name="T5" fmla="*/ 187 h 195"/>
                  <a:gd name="T6" fmla="*/ 0 w 85"/>
                  <a:gd name="T7" fmla="*/ 6 h 195"/>
                  <a:gd name="T8" fmla="*/ 18 w 85"/>
                  <a:gd name="T9" fmla="*/ 0 h 195"/>
                  <a:gd name="T10" fmla="*/ 85 w 85"/>
                  <a:gd name="T11" fmla="*/ 182 h 195"/>
                  <a:gd name="T12" fmla="*/ 85 w 85"/>
                  <a:gd name="T13" fmla="*/ 195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" h="195">
                    <a:moveTo>
                      <a:pt x="85" y="195"/>
                    </a:moveTo>
                    <a:lnTo>
                      <a:pt x="64" y="195"/>
                    </a:lnTo>
                    <a:lnTo>
                      <a:pt x="64" y="187"/>
                    </a:lnTo>
                    <a:lnTo>
                      <a:pt x="0" y="6"/>
                    </a:lnTo>
                    <a:lnTo>
                      <a:pt x="18" y="0"/>
                    </a:lnTo>
                    <a:lnTo>
                      <a:pt x="85" y="182"/>
                    </a:lnTo>
                    <a:lnTo>
                      <a:pt x="85" y="1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22" name="Freeform 306">
                <a:extLst>
                  <a:ext uri="{FF2B5EF4-FFF2-40B4-BE49-F238E27FC236}">
                    <a16:creationId xmlns:a16="http://schemas.microsoft.com/office/drawing/2014/main" id="{7F318043-0F76-4B3C-831D-E15B251A2C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05489" y="2747963"/>
                <a:ext cx="131763" cy="309563"/>
              </a:xfrm>
              <a:custGeom>
                <a:avLst/>
                <a:gdLst>
                  <a:gd name="T0" fmla="*/ 21 w 83"/>
                  <a:gd name="T1" fmla="*/ 195 h 195"/>
                  <a:gd name="T2" fmla="*/ 0 w 83"/>
                  <a:gd name="T3" fmla="*/ 195 h 195"/>
                  <a:gd name="T4" fmla="*/ 0 w 83"/>
                  <a:gd name="T5" fmla="*/ 182 h 195"/>
                  <a:gd name="T6" fmla="*/ 0 w 83"/>
                  <a:gd name="T7" fmla="*/ 182 h 195"/>
                  <a:gd name="T8" fmla="*/ 64 w 83"/>
                  <a:gd name="T9" fmla="*/ 0 h 195"/>
                  <a:gd name="T10" fmla="*/ 83 w 83"/>
                  <a:gd name="T11" fmla="*/ 6 h 195"/>
                  <a:gd name="T12" fmla="*/ 21 w 83"/>
                  <a:gd name="T13" fmla="*/ 187 h 195"/>
                  <a:gd name="T14" fmla="*/ 21 w 83"/>
                  <a:gd name="T15" fmla="*/ 195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3" h="195">
                    <a:moveTo>
                      <a:pt x="21" y="195"/>
                    </a:moveTo>
                    <a:lnTo>
                      <a:pt x="0" y="195"/>
                    </a:lnTo>
                    <a:lnTo>
                      <a:pt x="0" y="182"/>
                    </a:lnTo>
                    <a:lnTo>
                      <a:pt x="0" y="182"/>
                    </a:lnTo>
                    <a:lnTo>
                      <a:pt x="64" y="0"/>
                    </a:lnTo>
                    <a:lnTo>
                      <a:pt x="83" y="6"/>
                    </a:lnTo>
                    <a:lnTo>
                      <a:pt x="21" y="187"/>
                    </a:lnTo>
                    <a:lnTo>
                      <a:pt x="21" y="1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23" name="Freeform 307">
                <a:extLst>
                  <a:ext uri="{FF2B5EF4-FFF2-40B4-BE49-F238E27FC236}">
                    <a16:creationId xmlns:a16="http://schemas.microsoft.com/office/drawing/2014/main" id="{D1A44D92-8FEA-45DF-9906-A4F0DF7F03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19751" y="2260600"/>
                <a:ext cx="949325" cy="509588"/>
              </a:xfrm>
              <a:custGeom>
                <a:avLst/>
                <a:gdLst>
                  <a:gd name="T0" fmla="*/ 598 w 598"/>
                  <a:gd name="T1" fmla="*/ 321 h 321"/>
                  <a:gd name="T2" fmla="*/ 0 w 598"/>
                  <a:gd name="T3" fmla="*/ 321 h 321"/>
                  <a:gd name="T4" fmla="*/ 0 w 598"/>
                  <a:gd name="T5" fmla="*/ 0 h 321"/>
                  <a:gd name="T6" fmla="*/ 21 w 598"/>
                  <a:gd name="T7" fmla="*/ 0 h 321"/>
                  <a:gd name="T8" fmla="*/ 21 w 598"/>
                  <a:gd name="T9" fmla="*/ 299 h 321"/>
                  <a:gd name="T10" fmla="*/ 576 w 598"/>
                  <a:gd name="T11" fmla="*/ 299 h 321"/>
                  <a:gd name="T12" fmla="*/ 576 w 598"/>
                  <a:gd name="T13" fmla="*/ 0 h 321"/>
                  <a:gd name="T14" fmla="*/ 598 w 598"/>
                  <a:gd name="T15" fmla="*/ 0 h 321"/>
                  <a:gd name="T16" fmla="*/ 598 w 598"/>
                  <a:gd name="T17" fmla="*/ 321 h 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8" h="321">
                    <a:moveTo>
                      <a:pt x="598" y="321"/>
                    </a:moveTo>
                    <a:lnTo>
                      <a:pt x="0" y="321"/>
                    </a:lnTo>
                    <a:lnTo>
                      <a:pt x="0" y="0"/>
                    </a:lnTo>
                    <a:lnTo>
                      <a:pt x="21" y="0"/>
                    </a:lnTo>
                    <a:lnTo>
                      <a:pt x="21" y="299"/>
                    </a:lnTo>
                    <a:lnTo>
                      <a:pt x="576" y="299"/>
                    </a:lnTo>
                    <a:lnTo>
                      <a:pt x="576" y="0"/>
                    </a:lnTo>
                    <a:lnTo>
                      <a:pt x="598" y="0"/>
                    </a:lnTo>
                    <a:lnTo>
                      <a:pt x="598" y="32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24" name="Freeform 308">
                <a:extLst>
                  <a:ext uri="{FF2B5EF4-FFF2-40B4-BE49-F238E27FC236}">
                    <a16:creationId xmlns:a16="http://schemas.microsoft.com/office/drawing/2014/main" id="{554C3C8E-EC01-4A00-A624-10E03FED78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51489" y="2057400"/>
                <a:ext cx="1084263" cy="169863"/>
              </a:xfrm>
              <a:custGeom>
                <a:avLst/>
                <a:gdLst>
                  <a:gd name="T0" fmla="*/ 683 w 683"/>
                  <a:gd name="T1" fmla="*/ 107 h 107"/>
                  <a:gd name="T2" fmla="*/ 0 w 683"/>
                  <a:gd name="T3" fmla="*/ 107 h 107"/>
                  <a:gd name="T4" fmla="*/ 0 w 683"/>
                  <a:gd name="T5" fmla="*/ 42 h 107"/>
                  <a:gd name="T6" fmla="*/ 259 w 683"/>
                  <a:gd name="T7" fmla="*/ 42 h 107"/>
                  <a:gd name="T8" fmla="*/ 280 w 683"/>
                  <a:gd name="T9" fmla="*/ 0 h 107"/>
                  <a:gd name="T10" fmla="*/ 400 w 683"/>
                  <a:gd name="T11" fmla="*/ 0 h 107"/>
                  <a:gd name="T12" fmla="*/ 422 w 683"/>
                  <a:gd name="T13" fmla="*/ 42 h 107"/>
                  <a:gd name="T14" fmla="*/ 683 w 683"/>
                  <a:gd name="T15" fmla="*/ 42 h 107"/>
                  <a:gd name="T16" fmla="*/ 683 w 683"/>
                  <a:gd name="T17" fmla="*/ 107 h 107"/>
                  <a:gd name="T18" fmla="*/ 21 w 683"/>
                  <a:gd name="T19" fmla="*/ 85 h 107"/>
                  <a:gd name="T20" fmla="*/ 662 w 683"/>
                  <a:gd name="T21" fmla="*/ 85 h 107"/>
                  <a:gd name="T22" fmla="*/ 662 w 683"/>
                  <a:gd name="T23" fmla="*/ 64 h 107"/>
                  <a:gd name="T24" fmla="*/ 408 w 683"/>
                  <a:gd name="T25" fmla="*/ 64 h 107"/>
                  <a:gd name="T26" fmla="*/ 387 w 683"/>
                  <a:gd name="T27" fmla="*/ 21 h 107"/>
                  <a:gd name="T28" fmla="*/ 294 w 683"/>
                  <a:gd name="T29" fmla="*/ 21 h 107"/>
                  <a:gd name="T30" fmla="*/ 272 w 683"/>
                  <a:gd name="T31" fmla="*/ 64 h 107"/>
                  <a:gd name="T32" fmla="*/ 21 w 683"/>
                  <a:gd name="T33" fmla="*/ 64 h 107"/>
                  <a:gd name="T34" fmla="*/ 21 w 683"/>
                  <a:gd name="T35" fmla="*/ 85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83" h="107">
                    <a:moveTo>
                      <a:pt x="683" y="107"/>
                    </a:moveTo>
                    <a:lnTo>
                      <a:pt x="0" y="107"/>
                    </a:lnTo>
                    <a:lnTo>
                      <a:pt x="0" y="42"/>
                    </a:lnTo>
                    <a:lnTo>
                      <a:pt x="259" y="42"/>
                    </a:lnTo>
                    <a:lnTo>
                      <a:pt x="280" y="0"/>
                    </a:lnTo>
                    <a:lnTo>
                      <a:pt x="400" y="0"/>
                    </a:lnTo>
                    <a:lnTo>
                      <a:pt x="422" y="42"/>
                    </a:lnTo>
                    <a:lnTo>
                      <a:pt x="683" y="42"/>
                    </a:lnTo>
                    <a:lnTo>
                      <a:pt x="683" y="107"/>
                    </a:lnTo>
                    <a:close/>
                    <a:moveTo>
                      <a:pt x="21" y="85"/>
                    </a:moveTo>
                    <a:lnTo>
                      <a:pt x="662" y="85"/>
                    </a:lnTo>
                    <a:lnTo>
                      <a:pt x="662" y="64"/>
                    </a:lnTo>
                    <a:lnTo>
                      <a:pt x="408" y="64"/>
                    </a:lnTo>
                    <a:lnTo>
                      <a:pt x="387" y="21"/>
                    </a:lnTo>
                    <a:lnTo>
                      <a:pt x="294" y="21"/>
                    </a:lnTo>
                    <a:lnTo>
                      <a:pt x="272" y="64"/>
                    </a:lnTo>
                    <a:lnTo>
                      <a:pt x="21" y="64"/>
                    </a:lnTo>
                    <a:lnTo>
                      <a:pt x="21" y="8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25" name="Freeform 309">
                <a:extLst>
                  <a:ext uri="{FF2B5EF4-FFF2-40B4-BE49-F238E27FC236}">
                    <a16:creationId xmlns:a16="http://schemas.microsoft.com/office/drawing/2014/main" id="{260CEA98-FB17-4B6D-A7CD-6D21B87C7C8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37226" y="2379663"/>
                <a:ext cx="271463" cy="271463"/>
              </a:xfrm>
              <a:custGeom>
                <a:avLst/>
                <a:gdLst>
                  <a:gd name="T0" fmla="*/ 32 w 64"/>
                  <a:gd name="T1" fmla="*/ 64 h 64"/>
                  <a:gd name="T2" fmla="*/ 0 w 64"/>
                  <a:gd name="T3" fmla="*/ 32 h 64"/>
                  <a:gd name="T4" fmla="*/ 32 w 64"/>
                  <a:gd name="T5" fmla="*/ 0 h 64"/>
                  <a:gd name="T6" fmla="*/ 36 w 64"/>
                  <a:gd name="T7" fmla="*/ 0 h 64"/>
                  <a:gd name="T8" fmla="*/ 36 w 64"/>
                  <a:gd name="T9" fmla="*/ 28 h 64"/>
                  <a:gd name="T10" fmla="*/ 64 w 64"/>
                  <a:gd name="T11" fmla="*/ 28 h 64"/>
                  <a:gd name="T12" fmla="*/ 64 w 64"/>
                  <a:gd name="T13" fmla="*/ 32 h 64"/>
                  <a:gd name="T14" fmla="*/ 32 w 64"/>
                  <a:gd name="T15" fmla="*/ 64 h 64"/>
                  <a:gd name="T16" fmla="*/ 28 w 64"/>
                  <a:gd name="T17" fmla="*/ 8 h 64"/>
                  <a:gd name="T18" fmla="*/ 8 w 64"/>
                  <a:gd name="T19" fmla="*/ 32 h 64"/>
                  <a:gd name="T20" fmla="*/ 32 w 64"/>
                  <a:gd name="T21" fmla="*/ 56 h 64"/>
                  <a:gd name="T22" fmla="*/ 55 w 64"/>
                  <a:gd name="T23" fmla="*/ 36 h 64"/>
                  <a:gd name="T24" fmla="*/ 28 w 64"/>
                  <a:gd name="T25" fmla="*/ 36 h 64"/>
                  <a:gd name="T26" fmla="*/ 28 w 64"/>
                  <a:gd name="T27" fmla="*/ 8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4" h="64">
                    <a:moveTo>
                      <a:pt x="32" y="64"/>
                    </a:moveTo>
                    <a:cubicBezTo>
                      <a:pt x="14" y="64"/>
                      <a:pt x="0" y="50"/>
                      <a:pt x="0" y="32"/>
                    </a:cubicBezTo>
                    <a:cubicBezTo>
                      <a:pt x="0" y="14"/>
                      <a:pt x="14" y="0"/>
                      <a:pt x="32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64" y="28"/>
                      <a:pt x="64" y="28"/>
                      <a:pt x="64" y="28"/>
                    </a:cubicBezTo>
                    <a:cubicBezTo>
                      <a:pt x="64" y="32"/>
                      <a:pt x="64" y="32"/>
                      <a:pt x="64" y="32"/>
                    </a:cubicBezTo>
                    <a:cubicBezTo>
                      <a:pt x="64" y="50"/>
                      <a:pt x="49" y="64"/>
                      <a:pt x="32" y="64"/>
                    </a:cubicBezTo>
                    <a:close/>
                    <a:moveTo>
                      <a:pt x="28" y="8"/>
                    </a:moveTo>
                    <a:cubicBezTo>
                      <a:pt x="16" y="10"/>
                      <a:pt x="8" y="20"/>
                      <a:pt x="8" y="32"/>
                    </a:cubicBezTo>
                    <a:cubicBezTo>
                      <a:pt x="8" y="45"/>
                      <a:pt x="18" y="56"/>
                      <a:pt x="32" y="56"/>
                    </a:cubicBezTo>
                    <a:cubicBezTo>
                      <a:pt x="44" y="56"/>
                      <a:pt x="53" y="47"/>
                      <a:pt x="55" y="36"/>
                    </a:cubicBezTo>
                    <a:cubicBezTo>
                      <a:pt x="28" y="36"/>
                      <a:pt x="28" y="36"/>
                      <a:pt x="28" y="36"/>
                    </a:cubicBezTo>
                    <a:lnTo>
                      <a:pt x="28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26" name="Freeform 310">
                <a:extLst>
                  <a:ext uri="{FF2B5EF4-FFF2-40B4-BE49-F238E27FC236}">
                    <a16:creationId xmlns:a16="http://schemas.microsoft.com/office/drawing/2014/main" id="{129AA775-763D-4E1D-885A-95D3D2E87B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4551" y="2311400"/>
                <a:ext cx="152400" cy="152400"/>
              </a:xfrm>
              <a:custGeom>
                <a:avLst/>
                <a:gdLst>
                  <a:gd name="T0" fmla="*/ 36 w 36"/>
                  <a:gd name="T1" fmla="*/ 36 h 36"/>
                  <a:gd name="T2" fmla="*/ 0 w 36"/>
                  <a:gd name="T3" fmla="*/ 36 h 36"/>
                  <a:gd name="T4" fmla="*/ 0 w 36"/>
                  <a:gd name="T5" fmla="*/ 0 h 36"/>
                  <a:gd name="T6" fmla="*/ 4 w 36"/>
                  <a:gd name="T7" fmla="*/ 0 h 36"/>
                  <a:gd name="T8" fmla="*/ 36 w 36"/>
                  <a:gd name="T9" fmla="*/ 32 h 36"/>
                  <a:gd name="T10" fmla="*/ 36 w 36"/>
                  <a:gd name="T11" fmla="*/ 36 h 36"/>
                  <a:gd name="T12" fmla="*/ 8 w 36"/>
                  <a:gd name="T13" fmla="*/ 28 h 36"/>
                  <a:gd name="T14" fmla="*/ 27 w 36"/>
                  <a:gd name="T15" fmla="*/ 28 h 36"/>
                  <a:gd name="T16" fmla="*/ 8 w 36"/>
                  <a:gd name="T17" fmla="*/ 8 h 36"/>
                  <a:gd name="T18" fmla="*/ 8 w 36"/>
                  <a:gd name="T19" fmla="*/ 28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36">
                    <a:moveTo>
                      <a:pt x="36" y="36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1" y="0"/>
                      <a:pt x="36" y="14"/>
                      <a:pt x="36" y="32"/>
                    </a:cubicBezTo>
                    <a:lnTo>
                      <a:pt x="36" y="36"/>
                    </a:lnTo>
                    <a:close/>
                    <a:moveTo>
                      <a:pt x="8" y="28"/>
                    </a:moveTo>
                    <a:cubicBezTo>
                      <a:pt x="27" y="28"/>
                      <a:pt x="27" y="28"/>
                      <a:pt x="27" y="28"/>
                    </a:cubicBezTo>
                    <a:cubicBezTo>
                      <a:pt x="26" y="18"/>
                      <a:pt x="18" y="10"/>
                      <a:pt x="8" y="8"/>
                    </a:cubicBezTo>
                    <a:lnTo>
                      <a:pt x="8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27" name="Rectangle 311">
                <a:extLst>
                  <a:ext uri="{FF2B5EF4-FFF2-40B4-BE49-F238E27FC236}">
                    <a16:creationId xmlns:a16="http://schemas.microsoft.com/office/drawing/2014/main" id="{7607F9B8-BF9F-404D-88F1-2A31185D46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43614" y="2124075"/>
                <a:ext cx="101600" cy="349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28" name="Rectangle 312">
                <a:extLst>
                  <a:ext uri="{FF2B5EF4-FFF2-40B4-BE49-F238E27FC236}">
                    <a16:creationId xmlns:a16="http://schemas.microsoft.com/office/drawing/2014/main" id="{ACBFD539-DD48-40D9-8255-3B62ED714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5214" y="2430463"/>
                <a:ext cx="304800" cy="333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29" name="Rectangle 313">
                <a:extLst>
                  <a:ext uri="{FF2B5EF4-FFF2-40B4-BE49-F238E27FC236}">
                    <a16:creationId xmlns:a16="http://schemas.microsoft.com/office/drawing/2014/main" id="{F8004028-BC4B-4E8B-83F9-C5C34F1C0A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5214" y="2498725"/>
                <a:ext cx="304800" cy="333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30" name="Rectangle 314">
                <a:extLst>
                  <a:ext uri="{FF2B5EF4-FFF2-40B4-BE49-F238E27FC236}">
                    <a16:creationId xmlns:a16="http://schemas.microsoft.com/office/drawing/2014/main" id="{BB3BE814-9202-45D5-9A2E-A4C24734E2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5214" y="2565400"/>
                <a:ext cx="304800" cy="349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31" name="Rectangle 315">
                <a:extLst>
                  <a:ext uri="{FF2B5EF4-FFF2-40B4-BE49-F238E27FC236}">
                    <a16:creationId xmlns:a16="http://schemas.microsoft.com/office/drawing/2014/main" id="{B1A051BF-929D-4188-8B6F-FC759AD77F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1889" y="2344738"/>
                <a:ext cx="34925" cy="349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32" name="Rectangle 316">
                <a:extLst>
                  <a:ext uri="{FF2B5EF4-FFF2-40B4-BE49-F238E27FC236}">
                    <a16:creationId xmlns:a16="http://schemas.microsoft.com/office/drawing/2014/main" id="{D167AB10-FF8F-4489-8E57-3D13BFEC80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0151" y="2344738"/>
                <a:ext cx="33338" cy="349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33" name="Rectangle 317">
                <a:extLst>
                  <a:ext uri="{FF2B5EF4-FFF2-40B4-BE49-F238E27FC236}">
                    <a16:creationId xmlns:a16="http://schemas.microsoft.com/office/drawing/2014/main" id="{B62F3A16-EA78-4123-A936-4D09D274BC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8414" y="2344738"/>
                <a:ext cx="33338" cy="349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6732891-1E1C-45BF-9D82-91CB71E90FA0}"/>
              </a:ext>
            </a:extLst>
          </p:cNvPr>
          <p:cNvGrpSpPr/>
          <p:nvPr/>
        </p:nvGrpSpPr>
        <p:grpSpPr>
          <a:xfrm>
            <a:off x="529398" y="3812902"/>
            <a:ext cx="930729" cy="930729"/>
            <a:chOff x="529398" y="4826000"/>
            <a:chExt cx="930729" cy="930729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AAA37E6-3230-425B-9294-FD76F784DB67}"/>
                </a:ext>
              </a:extLst>
            </p:cNvPr>
            <p:cNvSpPr/>
            <p:nvPr/>
          </p:nvSpPr>
          <p:spPr>
            <a:xfrm rot="16200000">
              <a:off x="529398" y="4826000"/>
              <a:ext cx="930729" cy="930729"/>
            </a:xfrm>
            <a:prstGeom prst="ellipse">
              <a:avLst/>
            </a:prstGeom>
            <a:noFill/>
            <a:ln w="25400">
              <a:solidFill>
                <a:srgbClr val="C1007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35716F0F-C9E4-46D9-B8D1-04B6B552990C}"/>
                </a:ext>
              </a:extLst>
            </p:cNvPr>
            <p:cNvGrpSpPr/>
            <p:nvPr/>
          </p:nvGrpSpPr>
          <p:grpSpPr>
            <a:xfrm>
              <a:off x="739924" y="5022030"/>
              <a:ext cx="504804" cy="538667"/>
              <a:chOff x="9183689" y="1984376"/>
              <a:chExt cx="1017588" cy="1085850"/>
            </a:xfrm>
            <a:solidFill>
              <a:srgbClr val="231F20"/>
            </a:solidFill>
          </p:grpSpPr>
          <p:sp>
            <p:nvSpPr>
              <p:cNvPr id="37" name="Rectangle 161">
                <a:extLst>
                  <a:ext uri="{FF2B5EF4-FFF2-40B4-BE49-F238E27FC236}">
                    <a16:creationId xmlns:a16="http://schemas.microsoft.com/office/drawing/2014/main" id="{7AC79D42-220D-4F9A-83E3-470964A540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42489" y="2544763"/>
                <a:ext cx="203200" cy="333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38" name="Freeform 162">
                <a:extLst>
                  <a:ext uri="{FF2B5EF4-FFF2-40B4-BE49-F238E27FC236}">
                    <a16:creationId xmlns:a16="http://schemas.microsoft.com/office/drawing/2014/main" id="{5C9A947E-D84E-4BF2-9A53-5879E37F37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90089" y="1984376"/>
                <a:ext cx="203200" cy="169863"/>
              </a:xfrm>
              <a:custGeom>
                <a:avLst/>
                <a:gdLst>
                  <a:gd name="T0" fmla="*/ 36 w 48"/>
                  <a:gd name="T1" fmla="*/ 40 h 40"/>
                  <a:gd name="T2" fmla="*/ 28 w 48"/>
                  <a:gd name="T3" fmla="*/ 40 h 40"/>
                  <a:gd name="T4" fmla="*/ 28 w 48"/>
                  <a:gd name="T5" fmla="*/ 24 h 40"/>
                  <a:gd name="T6" fmla="*/ 32 w 48"/>
                  <a:gd name="T7" fmla="*/ 20 h 40"/>
                  <a:gd name="T8" fmla="*/ 40 w 48"/>
                  <a:gd name="T9" fmla="*/ 20 h 40"/>
                  <a:gd name="T10" fmla="*/ 40 w 48"/>
                  <a:gd name="T11" fmla="*/ 8 h 40"/>
                  <a:gd name="T12" fmla="*/ 8 w 48"/>
                  <a:gd name="T13" fmla="*/ 8 h 40"/>
                  <a:gd name="T14" fmla="*/ 8 w 48"/>
                  <a:gd name="T15" fmla="*/ 20 h 40"/>
                  <a:gd name="T16" fmla="*/ 16 w 48"/>
                  <a:gd name="T17" fmla="*/ 20 h 40"/>
                  <a:gd name="T18" fmla="*/ 20 w 48"/>
                  <a:gd name="T19" fmla="*/ 24 h 40"/>
                  <a:gd name="T20" fmla="*/ 20 w 48"/>
                  <a:gd name="T21" fmla="*/ 40 h 40"/>
                  <a:gd name="T22" fmla="*/ 12 w 48"/>
                  <a:gd name="T23" fmla="*/ 40 h 40"/>
                  <a:gd name="T24" fmla="*/ 12 w 48"/>
                  <a:gd name="T25" fmla="*/ 28 h 40"/>
                  <a:gd name="T26" fmla="*/ 4 w 48"/>
                  <a:gd name="T27" fmla="*/ 28 h 40"/>
                  <a:gd name="T28" fmla="*/ 0 w 48"/>
                  <a:gd name="T29" fmla="*/ 24 h 40"/>
                  <a:gd name="T30" fmla="*/ 0 w 48"/>
                  <a:gd name="T31" fmla="*/ 4 h 40"/>
                  <a:gd name="T32" fmla="*/ 4 w 48"/>
                  <a:gd name="T33" fmla="*/ 0 h 40"/>
                  <a:gd name="T34" fmla="*/ 44 w 48"/>
                  <a:gd name="T35" fmla="*/ 0 h 40"/>
                  <a:gd name="T36" fmla="*/ 48 w 48"/>
                  <a:gd name="T37" fmla="*/ 4 h 40"/>
                  <a:gd name="T38" fmla="*/ 48 w 48"/>
                  <a:gd name="T39" fmla="*/ 24 h 40"/>
                  <a:gd name="T40" fmla="*/ 44 w 48"/>
                  <a:gd name="T41" fmla="*/ 28 h 40"/>
                  <a:gd name="T42" fmla="*/ 36 w 48"/>
                  <a:gd name="T43" fmla="*/ 28 h 40"/>
                  <a:gd name="T44" fmla="*/ 36 w 48"/>
                  <a:gd name="T45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8" h="40">
                    <a:moveTo>
                      <a:pt x="36" y="40"/>
                    </a:move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2"/>
                      <a:pt x="30" y="20"/>
                      <a:pt x="32" y="20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8" y="20"/>
                      <a:pt x="20" y="22"/>
                      <a:pt x="20" y="24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4" y="28"/>
                      <a:pt x="4" y="28"/>
                      <a:pt x="4" y="28"/>
                    </a:cubicBezTo>
                    <a:cubicBezTo>
                      <a:pt x="2" y="28"/>
                      <a:pt x="0" y="27"/>
                      <a:pt x="0" y="2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6" y="0"/>
                      <a:pt x="48" y="2"/>
                      <a:pt x="48" y="4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27"/>
                      <a:pt x="46" y="28"/>
                      <a:pt x="44" y="28"/>
                    </a:cubicBezTo>
                    <a:cubicBezTo>
                      <a:pt x="36" y="28"/>
                      <a:pt x="36" y="28"/>
                      <a:pt x="36" y="28"/>
                    </a:cubicBezTo>
                    <a:lnTo>
                      <a:pt x="36" y="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39" name="Freeform 163">
                <a:extLst>
                  <a:ext uri="{FF2B5EF4-FFF2-40B4-BE49-F238E27FC236}">
                    <a16:creationId xmlns:a16="http://schemas.microsoft.com/office/drawing/2014/main" id="{30F90A67-70D9-4A19-91BC-F668FA02E1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83689" y="2073276"/>
                <a:ext cx="1017588" cy="996950"/>
              </a:xfrm>
              <a:custGeom>
                <a:avLst/>
                <a:gdLst>
                  <a:gd name="T0" fmla="*/ 120 w 240"/>
                  <a:gd name="T1" fmla="*/ 235 h 235"/>
                  <a:gd name="T2" fmla="*/ 0 w 240"/>
                  <a:gd name="T3" fmla="*/ 115 h 235"/>
                  <a:gd name="T4" fmla="*/ 87 w 240"/>
                  <a:gd name="T5" fmla="*/ 0 h 235"/>
                  <a:gd name="T6" fmla="*/ 89 w 240"/>
                  <a:gd name="T7" fmla="*/ 8 h 235"/>
                  <a:gd name="T8" fmla="*/ 8 w 240"/>
                  <a:gd name="T9" fmla="*/ 115 h 235"/>
                  <a:gd name="T10" fmla="*/ 120 w 240"/>
                  <a:gd name="T11" fmla="*/ 227 h 235"/>
                  <a:gd name="T12" fmla="*/ 232 w 240"/>
                  <a:gd name="T13" fmla="*/ 115 h 235"/>
                  <a:gd name="T14" fmla="*/ 151 w 240"/>
                  <a:gd name="T15" fmla="*/ 8 h 235"/>
                  <a:gd name="T16" fmla="*/ 153 w 240"/>
                  <a:gd name="T17" fmla="*/ 0 h 235"/>
                  <a:gd name="T18" fmla="*/ 240 w 240"/>
                  <a:gd name="T19" fmla="*/ 115 h 235"/>
                  <a:gd name="T20" fmla="*/ 120 w 240"/>
                  <a:gd name="T21" fmla="*/ 235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40" h="235">
                    <a:moveTo>
                      <a:pt x="120" y="235"/>
                    </a:moveTo>
                    <a:cubicBezTo>
                      <a:pt x="54" y="235"/>
                      <a:pt x="0" y="181"/>
                      <a:pt x="0" y="115"/>
                    </a:cubicBezTo>
                    <a:cubicBezTo>
                      <a:pt x="0" y="62"/>
                      <a:pt x="36" y="15"/>
                      <a:pt x="87" y="0"/>
                    </a:cubicBezTo>
                    <a:cubicBezTo>
                      <a:pt x="89" y="8"/>
                      <a:pt x="89" y="8"/>
                      <a:pt x="89" y="8"/>
                    </a:cubicBezTo>
                    <a:cubicBezTo>
                      <a:pt x="42" y="21"/>
                      <a:pt x="8" y="66"/>
                      <a:pt x="8" y="115"/>
                    </a:cubicBezTo>
                    <a:cubicBezTo>
                      <a:pt x="8" y="177"/>
                      <a:pt x="58" y="227"/>
                      <a:pt x="120" y="227"/>
                    </a:cubicBezTo>
                    <a:cubicBezTo>
                      <a:pt x="182" y="227"/>
                      <a:pt x="232" y="177"/>
                      <a:pt x="232" y="115"/>
                    </a:cubicBezTo>
                    <a:cubicBezTo>
                      <a:pt x="232" y="66"/>
                      <a:pt x="199" y="21"/>
                      <a:pt x="151" y="8"/>
                    </a:cubicBezTo>
                    <a:cubicBezTo>
                      <a:pt x="153" y="0"/>
                      <a:pt x="153" y="0"/>
                      <a:pt x="153" y="0"/>
                    </a:cubicBezTo>
                    <a:cubicBezTo>
                      <a:pt x="204" y="15"/>
                      <a:pt x="240" y="62"/>
                      <a:pt x="240" y="115"/>
                    </a:cubicBezTo>
                    <a:cubicBezTo>
                      <a:pt x="240" y="181"/>
                      <a:pt x="186" y="235"/>
                      <a:pt x="120" y="2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40" name="Freeform 164">
                <a:extLst>
                  <a:ext uri="{FF2B5EF4-FFF2-40B4-BE49-F238E27FC236}">
                    <a16:creationId xmlns:a16="http://schemas.microsoft.com/office/drawing/2014/main" id="{6474E3E9-257A-4ED1-A89E-2FEC98E4C50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67826" y="2136776"/>
                <a:ext cx="847725" cy="849313"/>
              </a:xfrm>
              <a:custGeom>
                <a:avLst/>
                <a:gdLst>
                  <a:gd name="T0" fmla="*/ 100 w 200"/>
                  <a:gd name="T1" fmla="*/ 200 h 200"/>
                  <a:gd name="T2" fmla="*/ 0 w 200"/>
                  <a:gd name="T3" fmla="*/ 100 h 200"/>
                  <a:gd name="T4" fmla="*/ 100 w 200"/>
                  <a:gd name="T5" fmla="*/ 0 h 200"/>
                  <a:gd name="T6" fmla="*/ 200 w 200"/>
                  <a:gd name="T7" fmla="*/ 100 h 200"/>
                  <a:gd name="T8" fmla="*/ 100 w 200"/>
                  <a:gd name="T9" fmla="*/ 200 h 200"/>
                  <a:gd name="T10" fmla="*/ 100 w 200"/>
                  <a:gd name="T11" fmla="*/ 8 h 200"/>
                  <a:gd name="T12" fmla="*/ 8 w 200"/>
                  <a:gd name="T13" fmla="*/ 100 h 200"/>
                  <a:gd name="T14" fmla="*/ 100 w 200"/>
                  <a:gd name="T15" fmla="*/ 192 h 200"/>
                  <a:gd name="T16" fmla="*/ 192 w 200"/>
                  <a:gd name="T17" fmla="*/ 100 h 200"/>
                  <a:gd name="T18" fmla="*/ 100 w 200"/>
                  <a:gd name="T19" fmla="*/ 8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0" h="200">
                    <a:moveTo>
                      <a:pt x="100" y="200"/>
                    </a:moveTo>
                    <a:cubicBezTo>
                      <a:pt x="45" y="200"/>
                      <a:pt x="0" y="155"/>
                      <a:pt x="0" y="100"/>
                    </a:cubicBezTo>
                    <a:cubicBezTo>
                      <a:pt x="0" y="45"/>
                      <a:pt x="45" y="0"/>
                      <a:pt x="100" y="0"/>
                    </a:cubicBezTo>
                    <a:cubicBezTo>
                      <a:pt x="155" y="0"/>
                      <a:pt x="200" y="45"/>
                      <a:pt x="200" y="100"/>
                    </a:cubicBezTo>
                    <a:cubicBezTo>
                      <a:pt x="200" y="155"/>
                      <a:pt x="155" y="200"/>
                      <a:pt x="100" y="200"/>
                    </a:cubicBezTo>
                    <a:close/>
                    <a:moveTo>
                      <a:pt x="100" y="8"/>
                    </a:moveTo>
                    <a:cubicBezTo>
                      <a:pt x="49" y="8"/>
                      <a:pt x="8" y="50"/>
                      <a:pt x="8" y="100"/>
                    </a:cubicBezTo>
                    <a:cubicBezTo>
                      <a:pt x="8" y="151"/>
                      <a:pt x="49" y="192"/>
                      <a:pt x="100" y="192"/>
                    </a:cubicBezTo>
                    <a:cubicBezTo>
                      <a:pt x="151" y="192"/>
                      <a:pt x="192" y="151"/>
                      <a:pt x="192" y="100"/>
                    </a:cubicBezTo>
                    <a:cubicBezTo>
                      <a:pt x="192" y="50"/>
                      <a:pt x="151" y="8"/>
                      <a:pt x="10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41" name="Freeform 165">
                <a:extLst>
                  <a:ext uri="{FF2B5EF4-FFF2-40B4-BE49-F238E27FC236}">
                    <a16:creationId xmlns:a16="http://schemas.microsoft.com/office/drawing/2014/main" id="{EBFA0E40-7892-4D17-BCD0-EA879FC672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18714" y="2141538"/>
                <a:ext cx="76200" cy="76200"/>
              </a:xfrm>
              <a:custGeom>
                <a:avLst/>
                <a:gdLst>
                  <a:gd name="T0" fmla="*/ 16 w 48"/>
                  <a:gd name="T1" fmla="*/ 48 h 48"/>
                  <a:gd name="T2" fmla="*/ 0 w 48"/>
                  <a:gd name="T3" fmla="*/ 32 h 48"/>
                  <a:gd name="T4" fmla="*/ 32 w 48"/>
                  <a:gd name="T5" fmla="*/ 0 h 48"/>
                  <a:gd name="T6" fmla="*/ 48 w 48"/>
                  <a:gd name="T7" fmla="*/ 16 h 48"/>
                  <a:gd name="T8" fmla="*/ 16 w 48"/>
                  <a:gd name="T9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" h="48">
                    <a:moveTo>
                      <a:pt x="16" y="48"/>
                    </a:moveTo>
                    <a:lnTo>
                      <a:pt x="0" y="32"/>
                    </a:lnTo>
                    <a:lnTo>
                      <a:pt x="32" y="0"/>
                    </a:lnTo>
                    <a:lnTo>
                      <a:pt x="48" y="16"/>
                    </a:lnTo>
                    <a:lnTo>
                      <a:pt x="16" y="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42" name="Freeform 166">
                <a:extLst>
                  <a:ext uri="{FF2B5EF4-FFF2-40B4-BE49-F238E27FC236}">
                    <a16:creationId xmlns:a16="http://schemas.microsoft.com/office/drawing/2014/main" id="{5DD1B7DD-77F3-47E4-956A-303149D0B13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31414" y="2052638"/>
                <a:ext cx="157163" cy="152400"/>
              </a:xfrm>
              <a:custGeom>
                <a:avLst/>
                <a:gdLst>
                  <a:gd name="T0" fmla="*/ 20 w 37"/>
                  <a:gd name="T1" fmla="*/ 36 h 36"/>
                  <a:gd name="T2" fmla="*/ 17 w 37"/>
                  <a:gd name="T3" fmla="*/ 35 h 36"/>
                  <a:gd name="T4" fmla="*/ 1 w 37"/>
                  <a:gd name="T5" fmla="*/ 19 h 36"/>
                  <a:gd name="T6" fmla="*/ 1 w 37"/>
                  <a:gd name="T7" fmla="*/ 13 h 36"/>
                  <a:gd name="T8" fmla="*/ 13 w 37"/>
                  <a:gd name="T9" fmla="*/ 1 h 36"/>
                  <a:gd name="T10" fmla="*/ 19 w 37"/>
                  <a:gd name="T11" fmla="*/ 1 h 36"/>
                  <a:gd name="T12" fmla="*/ 35 w 37"/>
                  <a:gd name="T13" fmla="*/ 17 h 36"/>
                  <a:gd name="T14" fmla="*/ 35 w 37"/>
                  <a:gd name="T15" fmla="*/ 23 h 36"/>
                  <a:gd name="T16" fmla="*/ 23 w 37"/>
                  <a:gd name="T17" fmla="*/ 35 h 36"/>
                  <a:gd name="T18" fmla="*/ 20 w 37"/>
                  <a:gd name="T19" fmla="*/ 36 h 36"/>
                  <a:gd name="T20" fmla="*/ 10 w 37"/>
                  <a:gd name="T21" fmla="*/ 16 h 36"/>
                  <a:gd name="T22" fmla="*/ 20 w 37"/>
                  <a:gd name="T23" fmla="*/ 27 h 36"/>
                  <a:gd name="T24" fmla="*/ 27 w 37"/>
                  <a:gd name="T25" fmla="*/ 20 h 36"/>
                  <a:gd name="T26" fmla="*/ 16 w 37"/>
                  <a:gd name="T27" fmla="*/ 10 h 36"/>
                  <a:gd name="T28" fmla="*/ 10 w 37"/>
                  <a:gd name="T29" fmla="*/ 1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7" h="36">
                    <a:moveTo>
                      <a:pt x="20" y="36"/>
                    </a:moveTo>
                    <a:cubicBezTo>
                      <a:pt x="19" y="36"/>
                      <a:pt x="18" y="36"/>
                      <a:pt x="17" y="35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0" y="18"/>
                      <a:pt x="0" y="15"/>
                      <a:pt x="1" y="13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35" y="17"/>
                      <a:pt x="35" y="17"/>
                      <a:pt x="35" y="17"/>
                    </a:cubicBezTo>
                    <a:cubicBezTo>
                      <a:pt x="37" y="19"/>
                      <a:pt x="37" y="22"/>
                      <a:pt x="35" y="23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2" y="36"/>
                      <a:pt x="21" y="36"/>
                      <a:pt x="20" y="36"/>
                    </a:cubicBezTo>
                    <a:close/>
                    <a:moveTo>
                      <a:pt x="10" y="16"/>
                    </a:moveTo>
                    <a:cubicBezTo>
                      <a:pt x="20" y="27"/>
                      <a:pt x="20" y="27"/>
                      <a:pt x="20" y="27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16" y="10"/>
                      <a:pt x="16" y="10"/>
                      <a:pt x="16" y="10"/>
                    </a:cubicBezTo>
                    <a:lnTo>
                      <a:pt x="10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43" name="Freeform 167">
                <a:extLst>
                  <a:ext uri="{FF2B5EF4-FFF2-40B4-BE49-F238E27FC236}">
                    <a16:creationId xmlns:a16="http://schemas.microsoft.com/office/drawing/2014/main" id="{3973FBD9-9A5C-490D-8422-1A1C020994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90051" y="2141538"/>
                <a:ext cx="76200" cy="76200"/>
              </a:xfrm>
              <a:custGeom>
                <a:avLst/>
                <a:gdLst>
                  <a:gd name="T0" fmla="*/ 32 w 48"/>
                  <a:gd name="T1" fmla="*/ 48 h 48"/>
                  <a:gd name="T2" fmla="*/ 0 w 48"/>
                  <a:gd name="T3" fmla="*/ 16 h 48"/>
                  <a:gd name="T4" fmla="*/ 16 w 48"/>
                  <a:gd name="T5" fmla="*/ 0 h 48"/>
                  <a:gd name="T6" fmla="*/ 48 w 48"/>
                  <a:gd name="T7" fmla="*/ 32 h 48"/>
                  <a:gd name="T8" fmla="*/ 32 w 48"/>
                  <a:gd name="T9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" h="48">
                    <a:moveTo>
                      <a:pt x="32" y="48"/>
                    </a:moveTo>
                    <a:lnTo>
                      <a:pt x="0" y="16"/>
                    </a:lnTo>
                    <a:lnTo>
                      <a:pt x="16" y="0"/>
                    </a:lnTo>
                    <a:lnTo>
                      <a:pt x="48" y="32"/>
                    </a:lnTo>
                    <a:lnTo>
                      <a:pt x="32" y="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44" name="Freeform 168">
                <a:extLst>
                  <a:ext uri="{FF2B5EF4-FFF2-40B4-BE49-F238E27FC236}">
                    <a16:creationId xmlns:a16="http://schemas.microsoft.com/office/drawing/2014/main" id="{0AA94243-4866-4E0A-A23F-144162E195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01151" y="2052638"/>
                <a:ext cx="155575" cy="152400"/>
              </a:xfrm>
              <a:custGeom>
                <a:avLst/>
                <a:gdLst>
                  <a:gd name="T0" fmla="*/ 16 w 37"/>
                  <a:gd name="T1" fmla="*/ 36 h 36"/>
                  <a:gd name="T2" fmla="*/ 13 w 37"/>
                  <a:gd name="T3" fmla="*/ 35 h 36"/>
                  <a:gd name="T4" fmla="*/ 1 w 37"/>
                  <a:gd name="T5" fmla="*/ 23 h 36"/>
                  <a:gd name="T6" fmla="*/ 1 w 37"/>
                  <a:gd name="T7" fmla="*/ 17 h 36"/>
                  <a:gd name="T8" fmla="*/ 17 w 37"/>
                  <a:gd name="T9" fmla="*/ 1 h 36"/>
                  <a:gd name="T10" fmla="*/ 23 w 37"/>
                  <a:gd name="T11" fmla="*/ 1 h 36"/>
                  <a:gd name="T12" fmla="*/ 35 w 37"/>
                  <a:gd name="T13" fmla="*/ 13 h 36"/>
                  <a:gd name="T14" fmla="*/ 35 w 37"/>
                  <a:gd name="T15" fmla="*/ 19 h 36"/>
                  <a:gd name="T16" fmla="*/ 19 w 37"/>
                  <a:gd name="T17" fmla="*/ 35 h 36"/>
                  <a:gd name="T18" fmla="*/ 16 w 37"/>
                  <a:gd name="T19" fmla="*/ 36 h 36"/>
                  <a:gd name="T20" fmla="*/ 10 w 37"/>
                  <a:gd name="T21" fmla="*/ 20 h 36"/>
                  <a:gd name="T22" fmla="*/ 16 w 37"/>
                  <a:gd name="T23" fmla="*/ 27 h 36"/>
                  <a:gd name="T24" fmla="*/ 27 w 37"/>
                  <a:gd name="T25" fmla="*/ 16 h 36"/>
                  <a:gd name="T26" fmla="*/ 20 w 37"/>
                  <a:gd name="T27" fmla="*/ 10 h 36"/>
                  <a:gd name="T28" fmla="*/ 10 w 37"/>
                  <a:gd name="T29" fmla="*/ 2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7" h="36">
                    <a:moveTo>
                      <a:pt x="16" y="36"/>
                    </a:moveTo>
                    <a:cubicBezTo>
                      <a:pt x="15" y="36"/>
                      <a:pt x="14" y="36"/>
                      <a:pt x="13" y="35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0" y="22"/>
                      <a:pt x="0" y="19"/>
                      <a:pt x="1" y="17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9" y="0"/>
                      <a:pt x="21" y="0"/>
                      <a:pt x="23" y="1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7" y="15"/>
                      <a:pt x="37" y="18"/>
                      <a:pt x="35" y="19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6"/>
                      <a:pt x="17" y="36"/>
                      <a:pt x="16" y="36"/>
                    </a:cubicBezTo>
                    <a:close/>
                    <a:moveTo>
                      <a:pt x="10" y="20"/>
                    </a:moveTo>
                    <a:cubicBezTo>
                      <a:pt x="16" y="27"/>
                      <a:pt x="16" y="27"/>
                      <a:pt x="16" y="27"/>
                    </a:cubicBezTo>
                    <a:cubicBezTo>
                      <a:pt x="27" y="16"/>
                      <a:pt x="27" y="16"/>
                      <a:pt x="27" y="16"/>
                    </a:cubicBezTo>
                    <a:cubicBezTo>
                      <a:pt x="20" y="10"/>
                      <a:pt x="20" y="10"/>
                      <a:pt x="20" y="10"/>
                    </a:cubicBezTo>
                    <a:lnTo>
                      <a:pt x="10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45" name="Freeform 169">
                <a:extLst>
                  <a:ext uri="{FF2B5EF4-FFF2-40B4-BE49-F238E27FC236}">
                    <a16:creationId xmlns:a16="http://schemas.microsoft.com/office/drawing/2014/main" id="{94AABFC2-B4C7-48AD-9BAA-5EEA61505E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625014" y="2493963"/>
                <a:ext cx="134938" cy="134938"/>
              </a:xfrm>
              <a:custGeom>
                <a:avLst/>
                <a:gdLst>
                  <a:gd name="T0" fmla="*/ 16 w 32"/>
                  <a:gd name="T1" fmla="*/ 32 h 32"/>
                  <a:gd name="T2" fmla="*/ 0 w 32"/>
                  <a:gd name="T3" fmla="*/ 16 h 32"/>
                  <a:gd name="T4" fmla="*/ 16 w 32"/>
                  <a:gd name="T5" fmla="*/ 0 h 32"/>
                  <a:gd name="T6" fmla="*/ 32 w 32"/>
                  <a:gd name="T7" fmla="*/ 16 h 32"/>
                  <a:gd name="T8" fmla="*/ 16 w 32"/>
                  <a:gd name="T9" fmla="*/ 32 h 32"/>
                  <a:gd name="T10" fmla="*/ 16 w 32"/>
                  <a:gd name="T11" fmla="*/ 8 h 32"/>
                  <a:gd name="T12" fmla="*/ 8 w 32"/>
                  <a:gd name="T13" fmla="*/ 16 h 32"/>
                  <a:gd name="T14" fmla="*/ 16 w 32"/>
                  <a:gd name="T15" fmla="*/ 24 h 32"/>
                  <a:gd name="T16" fmla="*/ 24 w 32"/>
                  <a:gd name="T17" fmla="*/ 16 h 32"/>
                  <a:gd name="T18" fmla="*/ 16 w 32"/>
                  <a:gd name="T19" fmla="*/ 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16" y="32"/>
                    </a:moveTo>
                    <a:cubicBezTo>
                      <a:pt x="7" y="32"/>
                      <a:pt x="0" y="25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25" y="0"/>
                      <a:pt x="32" y="7"/>
                      <a:pt x="32" y="16"/>
                    </a:cubicBezTo>
                    <a:cubicBezTo>
                      <a:pt x="32" y="25"/>
                      <a:pt x="25" y="32"/>
                      <a:pt x="16" y="32"/>
                    </a:cubicBezTo>
                    <a:close/>
                    <a:moveTo>
                      <a:pt x="16" y="8"/>
                    </a:moveTo>
                    <a:cubicBezTo>
                      <a:pt x="12" y="8"/>
                      <a:pt x="8" y="12"/>
                      <a:pt x="8" y="16"/>
                    </a:cubicBezTo>
                    <a:cubicBezTo>
                      <a:pt x="8" y="21"/>
                      <a:pt x="12" y="24"/>
                      <a:pt x="16" y="24"/>
                    </a:cubicBezTo>
                    <a:cubicBezTo>
                      <a:pt x="21" y="24"/>
                      <a:pt x="24" y="21"/>
                      <a:pt x="24" y="16"/>
                    </a:cubicBezTo>
                    <a:cubicBezTo>
                      <a:pt x="24" y="12"/>
                      <a:pt x="21" y="8"/>
                      <a:pt x="16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46" name="Rectangle 170">
                <a:extLst>
                  <a:ext uri="{FF2B5EF4-FFF2-40B4-BE49-F238E27FC236}">
                    <a16:creationId xmlns:a16="http://schemas.microsoft.com/office/drawing/2014/main" id="{4303E1F2-F777-4F38-9667-6CA8A0FB88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13951" y="2544763"/>
                <a:ext cx="34925" cy="333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47" name="Rectangle 171">
                <a:extLst>
                  <a:ext uri="{FF2B5EF4-FFF2-40B4-BE49-F238E27FC236}">
                    <a16:creationId xmlns:a16="http://schemas.microsoft.com/office/drawing/2014/main" id="{14C9059A-8B70-4FFC-8A4E-BABE6E63E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36089" y="2544763"/>
                <a:ext cx="33338" cy="333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48" name="Rectangle 172">
                <a:extLst>
                  <a:ext uri="{FF2B5EF4-FFF2-40B4-BE49-F238E27FC236}">
                    <a16:creationId xmlns:a16="http://schemas.microsoft.com/office/drawing/2014/main" id="{74EB909F-E014-4E7C-9F01-0203B1B96B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37689" y="2306638"/>
                <a:ext cx="33338" cy="349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49" name="Rectangle 173">
                <a:extLst>
                  <a:ext uri="{FF2B5EF4-FFF2-40B4-BE49-F238E27FC236}">
                    <a16:creationId xmlns:a16="http://schemas.microsoft.com/office/drawing/2014/main" id="{BAA90CAC-58CA-45EE-B7AC-019F849D32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12351" y="2782888"/>
                <a:ext cx="33338" cy="333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50" name="Rectangle 174">
                <a:extLst>
                  <a:ext uri="{FF2B5EF4-FFF2-40B4-BE49-F238E27FC236}">
                    <a16:creationId xmlns:a16="http://schemas.microsoft.com/office/drawing/2014/main" id="{12B7E40A-DF5C-4739-9BEF-F8428BD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12351" y="2306638"/>
                <a:ext cx="33338" cy="349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51" name="Rectangle 175">
                <a:extLst>
                  <a:ext uri="{FF2B5EF4-FFF2-40B4-BE49-F238E27FC236}">
                    <a16:creationId xmlns:a16="http://schemas.microsoft.com/office/drawing/2014/main" id="{66BBBD9E-FE2A-46E4-AB10-F079472513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37689" y="2782888"/>
                <a:ext cx="33338" cy="333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52" name="Rectangle 176">
                <a:extLst>
                  <a:ext uri="{FF2B5EF4-FFF2-40B4-BE49-F238E27FC236}">
                    <a16:creationId xmlns:a16="http://schemas.microsoft.com/office/drawing/2014/main" id="{088E8FC2-B58A-4ED1-A6C9-C5BB473953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75814" y="2884488"/>
                <a:ext cx="33338" cy="333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53" name="Rectangle 177">
                <a:extLst>
                  <a:ext uri="{FF2B5EF4-FFF2-40B4-BE49-F238E27FC236}">
                    <a16:creationId xmlns:a16="http://schemas.microsoft.com/office/drawing/2014/main" id="{500809E6-B4FC-4537-AA8D-5B15CB7D5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75814" y="2205038"/>
                <a:ext cx="33338" cy="349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</p:grp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A834EA93-D1F4-43E8-8B4D-3CAD4DE3D2F1}"/>
              </a:ext>
            </a:extLst>
          </p:cNvPr>
          <p:cNvSpPr/>
          <p:nvPr/>
        </p:nvSpPr>
        <p:spPr>
          <a:xfrm>
            <a:off x="7594230" y="2416170"/>
            <a:ext cx="4310744" cy="1007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buClr>
                <a:srgbClr val="77933C"/>
              </a:buClr>
            </a:pPr>
            <a:r>
              <a:rPr lang="pt-PT" sz="1400" b="1" dirty="0">
                <a:solidFill>
                  <a:srgbClr val="C10076"/>
                </a:solidFill>
                <a:latin typeface="Trebuchet MS" panose="020B0603020202020204" pitchFamily="34" charset="0"/>
              </a:rPr>
              <a:t>Aumento gradual </a:t>
            </a:r>
            <a:r>
              <a:rPr lang="pt-PT" sz="1400" dirty="0">
                <a:solidFill>
                  <a:srgbClr val="231F20"/>
                </a:solidFill>
                <a:latin typeface="Trebuchet MS" panose="020B0603020202020204" pitchFamily="34" charset="0"/>
              </a:rPr>
              <a:t>das concentrações do ácido misoprostol, alcançando-se os níveis mais elevados entre os 60 e 120 minutos, os quais se reduzem gradualmente para 61% dos níveis mais elevados ao minuto 240 após a administração.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63CCBA4-520B-46D8-B4DE-631BA2EABC8B}"/>
              </a:ext>
            </a:extLst>
          </p:cNvPr>
          <p:cNvSpPr/>
          <p:nvPr/>
        </p:nvSpPr>
        <p:spPr>
          <a:xfrm>
            <a:off x="7594230" y="3494010"/>
            <a:ext cx="4108384" cy="6417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buClr>
                <a:srgbClr val="77933C"/>
              </a:buClr>
            </a:pPr>
            <a:r>
              <a:rPr lang="pt-PT" sz="1400" dirty="0">
                <a:solidFill>
                  <a:srgbClr val="231F20"/>
                </a:solidFill>
                <a:latin typeface="Trebuchet MS" panose="020B0603020202020204" pitchFamily="34" charset="0"/>
              </a:rPr>
              <a:t>Os níveis plasmáticos </a:t>
            </a:r>
            <a:r>
              <a:rPr lang="pt-PT" sz="1400" b="1" dirty="0">
                <a:solidFill>
                  <a:srgbClr val="C10076"/>
                </a:solidFill>
                <a:latin typeface="Trebuchet MS" panose="020B0603020202020204" pitchFamily="34" charset="0"/>
              </a:rPr>
              <a:t>permanecem relativamente estáveis</a:t>
            </a:r>
            <a:r>
              <a:rPr lang="pt-PT" sz="1400" dirty="0">
                <a:solidFill>
                  <a:srgbClr val="231F20"/>
                </a:solidFill>
                <a:latin typeface="Trebuchet MS" panose="020B0603020202020204" pitchFamily="34" charset="0"/>
              </a:rPr>
              <a:t> durante 6 horas após a administração.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D297151-B06C-4A62-B453-3015703A9746}"/>
              </a:ext>
            </a:extLst>
          </p:cNvPr>
          <p:cNvGrpSpPr/>
          <p:nvPr/>
        </p:nvGrpSpPr>
        <p:grpSpPr>
          <a:xfrm>
            <a:off x="6310973" y="2400924"/>
            <a:ext cx="930729" cy="930729"/>
            <a:chOff x="529398" y="2128910"/>
            <a:chExt cx="930729" cy="930729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21C0D624-43F6-4CE5-8CC3-C238F015C5F6}"/>
                </a:ext>
              </a:extLst>
            </p:cNvPr>
            <p:cNvSpPr/>
            <p:nvPr/>
          </p:nvSpPr>
          <p:spPr>
            <a:xfrm rot="16200000">
              <a:off x="529398" y="2128910"/>
              <a:ext cx="930729" cy="930729"/>
            </a:xfrm>
            <a:prstGeom prst="ellipse">
              <a:avLst/>
            </a:prstGeom>
            <a:noFill/>
            <a:ln w="25400">
              <a:solidFill>
                <a:srgbClr val="C1007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9DEFEC0-78FB-4FD4-960C-F88E717FDCED}"/>
                </a:ext>
              </a:extLst>
            </p:cNvPr>
            <p:cNvGrpSpPr/>
            <p:nvPr/>
          </p:nvGrpSpPr>
          <p:grpSpPr>
            <a:xfrm>
              <a:off x="746580" y="2370539"/>
              <a:ext cx="501649" cy="502384"/>
              <a:chOff x="9150351" y="190500"/>
              <a:chExt cx="1084263" cy="1085851"/>
            </a:xfrm>
            <a:solidFill>
              <a:srgbClr val="231F20"/>
            </a:solidFill>
          </p:grpSpPr>
          <p:sp>
            <p:nvSpPr>
              <p:cNvPr id="61" name="Rectangle 199">
                <a:extLst>
                  <a:ext uri="{FF2B5EF4-FFF2-40B4-BE49-F238E27FC236}">
                    <a16:creationId xmlns:a16="http://schemas.microsoft.com/office/drawing/2014/main" id="{FAD71B55-ED31-435C-9489-226BEDE522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01276" y="393700"/>
                <a:ext cx="33338" cy="5095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62" name="Freeform 200">
                <a:extLst>
                  <a:ext uri="{FF2B5EF4-FFF2-40B4-BE49-F238E27FC236}">
                    <a16:creationId xmlns:a16="http://schemas.microsoft.com/office/drawing/2014/main" id="{EEF8702B-3668-4DC3-8435-E35E201278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99676" y="190500"/>
                <a:ext cx="134938" cy="136525"/>
              </a:xfrm>
              <a:custGeom>
                <a:avLst/>
                <a:gdLst>
                  <a:gd name="T0" fmla="*/ 85 w 85"/>
                  <a:gd name="T1" fmla="*/ 86 h 86"/>
                  <a:gd name="T2" fmla="*/ 64 w 85"/>
                  <a:gd name="T3" fmla="*/ 86 h 86"/>
                  <a:gd name="T4" fmla="*/ 64 w 85"/>
                  <a:gd name="T5" fmla="*/ 21 h 86"/>
                  <a:gd name="T6" fmla="*/ 0 w 85"/>
                  <a:gd name="T7" fmla="*/ 21 h 86"/>
                  <a:gd name="T8" fmla="*/ 0 w 85"/>
                  <a:gd name="T9" fmla="*/ 0 h 86"/>
                  <a:gd name="T10" fmla="*/ 85 w 85"/>
                  <a:gd name="T11" fmla="*/ 0 h 86"/>
                  <a:gd name="T12" fmla="*/ 85 w 85"/>
                  <a:gd name="T13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" h="86">
                    <a:moveTo>
                      <a:pt x="85" y="86"/>
                    </a:moveTo>
                    <a:lnTo>
                      <a:pt x="64" y="86"/>
                    </a:lnTo>
                    <a:lnTo>
                      <a:pt x="64" y="21"/>
                    </a:lnTo>
                    <a:lnTo>
                      <a:pt x="0" y="21"/>
                    </a:lnTo>
                    <a:lnTo>
                      <a:pt x="0" y="0"/>
                    </a:lnTo>
                    <a:lnTo>
                      <a:pt x="85" y="0"/>
                    </a:lnTo>
                    <a:lnTo>
                      <a:pt x="85" y="8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63" name="Freeform 201">
                <a:extLst>
                  <a:ext uri="{FF2B5EF4-FFF2-40B4-BE49-F238E27FC236}">
                    <a16:creationId xmlns:a16="http://schemas.microsoft.com/office/drawing/2014/main" id="{2800DA7D-81CA-4851-BBA9-7C6795CA28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50351" y="190500"/>
                <a:ext cx="881063" cy="254000"/>
              </a:xfrm>
              <a:custGeom>
                <a:avLst/>
                <a:gdLst>
                  <a:gd name="T0" fmla="*/ 21 w 555"/>
                  <a:gd name="T1" fmla="*/ 160 h 160"/>
                  <a:gd name="T2" fmla="*/ 0 w 555"/>
                  <a:gd name="T3" fmla="*/ 160 h 160"/>
                  <a:gd name="T4" fmla="*/ 0 w 555"/>
                  <a:gd name="T5" fmla="*/ 0 h 160"/>
                  <a:gd name="T6" fmla="*/ 555 w 555"/>
                  <a:gd name="T7" fmla="*/ 0 h 160"/>
                  <a:gd name="T8" fmla="*/ 555 w 555"/>
                  <a:gd name="T9" fmla="*/ 21 h 160"/>
                  <a:gd name="T10" fmla="*/ 21 w 555"/>
                  <a:gd name="T11" fmla="*/ 21 h 160"/>
                  <a:gd name="T12" fmla="*/ 21 w 555"/>
                  <a:gd name="T13" fmla="*/ 16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5" h="160">
                    <a:moveTo>
                      <a:pt x="21" y="160"/>
                    </a:moveTo>
                    <a:lnTo>
                      <a:pt x="0" y="160"/>
                    </a:lnTo>
                    <a:lnTo>
                      <a:pt x="0" y="0"/>
                    </a:lnTo>
                    <a:lnTo>
                      <a:pt x="555" y="0"/>
                    </a:lnTo>
                    <a:lnTo>
                      <a:pt x="555" y="21"/>
                    </a:lnTo>
                    <a:lnTo>
                      <a:pt x="21" y="21"/>
                    </a:lnTo>
                    <a:lnTo>
                      <a:pt x="21" y="1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64" name="Rectangle 202">
                <a:extLst>
                  <a:ext uri="{FF2B5EF4-FFF2-40B4-BE49-F238E27FC236}">
                    <a16:creationId xmlns:a16="http://schemas.microsoft.com/office/drawing/2014/main" id="{8A1A1B33-E8F2-4C92-9A8A-C0CFC60D27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17026" y="801688"/>
                <a:ext cx="949325" cy="333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65" name="Freeform 203">
                <a:extLst>
                  <a:ext uri="{FF2B5EF4-FFF2-40B4-BE49-F238E27FC236}">
                    <a16:creationId xmlns:a16="http://schemas.microsoft.com/office/drawing/2014/main" id="{C3D44B17-DA37-42DF-B5F6-46C8E0319E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50351" y="195263"/>
                <a:ext cx="1079500" cy="708025"/>
              </a:xfrm>
              <a:custGeom>
                <a:avLst/>
                <a:gdLst>
                  <a:gd name="T0" fmla="*/ 21 w 680"/>
                  <a:gd name="T1" fmla="*/ 446 h 446"/>
                  <a:gd name="T2" fmla="*/ 0 w 680"/>
                  <a:gd name="T3" fmla="*/ 446 h 446"/>
                  <a:gd name="T4" fmla="*/ 0 w 680"/>
                  <a:gd name="T5" fmla="*/ 216 h 446"/>
                  <a:gd name="T6" fmla="*/ 96 w 680"/>
                  <a:gd name="T7" fmla="*/ 120 h 446"/>
                  <a:gd name="T8" fmla="*/ 213 w 680"/>
                  <a:gd name="T9" fmla="*/ 238 h 446"/>
                  <a:gd name="T10" fmla="*/ 363 w 680"/>
                  <a:gd name="T11" fmla="*/ 88 h 446"/>
                  <a:gd name="T12" fmla="*/ 469 w 680"/>
                  <a:gd name="T13" fmla="*/ 195 h 446"/>
                  <a:gd name="T14" fmla="*/ 664 w 680"/>
                  <a:gd name="T15" fmla="*/ 0 h 446"/>
                  <a:gd name="T16" fmla="*/ 680 w 680"/>
                  <a:gd name="T17" fmla="*/ 16 h 446"/>
                  <a:gd name="T18" fmla="*/ 469 w 680"/>
                  <a:gd name="T19" fmla="*/ 227 h 446"/>
                  <a:gd name="T20" fmla="*/ 363 w 680"/>
                  <a:gd name="T21" fmla="*/ 120 h 446"/>
                  <a:gd name="T22" fmla="*/ 213 w 680"/>
                  <a:gd name="T23" fmla="*/ 270 h 446"/>
                  <a:gd name="T24" fmla="*/ 96 w 680"/>
                  <a:gd name="T25" fmla="*/ 152 h 446"/>
                  <a:gd name="T26" fmla="*/ 21 w 680"/>
                  <a:gd name="T27" fmla="*/ 227 h 446"/>
                  <a:gd name="T28" fmla="*/ 21 w 680"/>
                  <a:gd name="T29" fmla="*/ 446 h 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80" h="446">
                    <a:moveTo>
                      <a:pt x="21" y="446"/>
                    </a:moveTo>
                    <a:lnTo>
                      <a:pt x="0" y="446"/>
                    </a:lnTo>
                    <a:lnTo>
                      <a:pt x="0" y="216"/>
                    </a:lnTo>
                    <a:lnTo>
                      <a:pt x="96" y="120"/>
                    </a:lnTo>
                    <a:lnTo>
                      <a:pt x="213" y="238"/>
                    </a:lnTo>
                    <a:lnTo>
                      <a:pt x="363" y="88"/>
                    </a:lnTo>
                    <a:lnTo>
                      <a:pt x="469" y="195"/>
                    </a:lnTo>
                    <a:lnTo>
                      <a:pt x="664" y="0"/>
                    </a:lnTo>
                    <a:lnTo>
                      <a:pt x="680" y="16"/>
                    </a:lnTo>
                    <a:lnTo>
                      <a:pt x="469" y="227"/>
                    </a:lnTo>
                    <a:lnTo>
                      <a:pt x="363" y="120"/>
                    </a:lnTo>
                    <a:lnTo>
                      <a:pt x="213" y="270"/>
                    </a:lnTo>
                    <a:lnTo>
                      <a:pt x="96" y="152"/>
                    </a:lnTo>
                    <a:lnTo>
                      <a:pt x="21" y="227"/>
                    </a:lnTo>
                    <a:lnTo>
                      <a:pt x="21" y="4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66" name="Freeform 204">
                <a:extLst>
                  <a:ext uri="{FF2B5EF4-FFF2-40B4-BE49-F238E27FC236}">
                    <a16:creationId xmlns:a16="http://schemas.microsoft.com/office/drawing/2014/main" id="{6E14C5D1-E5A3-4B7B-B176-4CABCC198F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8951" y="1089025"/>
                <a:ext cx="271463" cy="106363"/>
              </a:xfrm>
              <a:custGeom>
                <a:avLst/>
                <a:gdLst>
                  <a:gd name="T0" fmla="*/ 80 w 171"/>
                  <a:gd name="T1" fmla="*/ 67 h 67"/>
                  <a:gd name="T2" fmla="*/ 0 w 171"/>
                  <a:gd name="T3" fmla="*/ 19 h 67"/>
                  <a:gd name="T4" fmla="*/ 10 w 171"/>
                  <a:gd name="T5" fmla="*/ 3 h 67"/>
                  <a:gd name="T6" fmla="*/ 80 w 171"/>
                  <a:gd name="T7" fmla="*/ 41 h 67"/>
                  <a:gd name="T8" fmla="*/ 160 w 171"/>
                  <a:gd name="T9" fmla="*/ 0 h 67"/>
                  <a:gd name="T10" fmla="*/ 171 w 171"/>
                  <a:gd name="T11" fmla="*/ 22 h 67"/>
                  <a:gd name="T12" fmla="*/ 80 w 171"/>
                  <a:gd name="T13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1" h="67">
                    <a:moveTo>
                      <a:pt x="80" y="67"/>
                    </a:moveTo>
                    <a:lnTo>
                      <a:pt x="0" y="19"/>
                    </a:lnTo>
                    <a:lnTo>
                      <a:pt x="10" y="3"/>
                    </a:lnTo>
                    <a:lnTo>
                      <a:pt x="80" y="41"/>
                    </a:lnTo>
                    <a:lnTo>
                      <a:pt x="160" y="0"/>
                    </a:lnTo>
                    <a:lnTo>
                      <a:pt x="171" y="22"/>
                    </a:lnTo>
                    <a:lnTo>
                      <a:pt x="80" y="6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69" name="Freeform 206">
                <a:extLst>
                  <a:ext uri="{FF2B5EF4-FFF2-40B4-BE49-F238E27FC236}">
                    <a16:creationId xmlns:a16="http://schemas.microsoft.com/office/drawing/2014/main" id="{702A25E8-2F6D-4C0C-BFA2-2B24A1504B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50351" y="1093788"/>
                <a:ext cx="1084263" cy="182563"/>
              </a:xfrm>
              <a:custGeom>
                <a:avLst/>
                <a:gdLst>
                  <a:gd name="T0" fmla="*/ 244 w 256"/>
                  <a:gd name="T1" fmla="*/ 43 h 43"/>
                  <a:gd name="T2" fmla="*/ 12 w 256"/>
                  <a:gd name="T3" fmla="*/ 43 h 43"/>
                  <a:gd name="T4" fmla="*/ 0 w 256"/>
                  <a:gd name="T5" fmla="*/ 27 h 43"/>
                  <a:gd name="T6" fmla="*/ 0 w 256"/>
                  <a:gd name="T7" fmla="*/ 17 h 43"/>
                  <a:gd name="T8" fmla="*/ 30 w 256"/>
                  <a:gd name="T9" fmla="*/ 0 h 43"/>
                  <a:gd name="T10" fmla="*/ 34 w 256"/>
                  <a:gd name="T11" fmla="*/ 6 h 43"/>
                  <a:gd name="T12" fmla="*/ 8 w 256"/>
                  <a:gd name="T13" fmla="*/ 21 h 43"/>
                  <a:gd name="T14" fmla="*/ 8 w 256"/>
                  <a:gd name="T15" fmla="*/ 27 h 43"/>
                  <a:gd name="T16" fmla="*/ 12 w 256"/>
                  <a:gd name="T17" fmla="*/ 35 h 43"/>
                  <a:gd name="T18" fmla="*/ 244 w 256"/>
                  <a:gd name="T19" fmla="*/ 35 h 43"/>
                  <a:gd name="T20" fmla="*/ 248 w 256"/>
                  <a:gd name="T21" fmla="*/ 27 h 43"/>
                  <a:gd name="T22" fmla="*/ 248 w 256"/>
                  <a:gd name="T23" fmla="*/ 21 h 43"/>
                  <a:gd name="T24" fmla="*/ 222 w 256"/>
                  <a:gd name="T25" fmla="*/ 6 h 43"/>
                  <a:gd name="T26" fmla="*/ 226 w 256"/>
                  <a:gd name="T27" fmla="*/ 0 h 43"/>
                  <a:gd name="T28" fmla="*/ 256 w 256"/>
                  <a:gd name="T29" fmla="*/ 17 h 43"/>
                  <a:gd name="T30" fmla="*/ 256 w 256"/>
                  <a:gd name="T31" fmla="*/ 27 h 43"/>
                  <a:gd name="T32" fmla="*/ 244 w 256"/>
                  <a:gd name="T33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56" h="43">
                    <a:moveTo>
                      <a:pt x="244" y="43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5" y="43"/>
                      <a:pt x="0" y="36"/>
                      <a:pt x="0" y="2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8" y="32"/>
                      <a:pt x="11" y="35"/>
                      <a:pt x="12" y="35"/>
                    </a:cubicBezTo>
                    <a:cubicBezTo>
                      <a:pt x="244" y="35"/>
                      <a:pt x="244" y="35"/>
                      <a:pt x="244" y="35"/>
                    </a:cubicBezTo>
                    <a:cubicBezTo>
                      <a:pt x="245" y="35"/>
                      <a:pt x="248" y="32"/>
                      <a:pt x="248" y="27"/>
                    </a:cubicBezTo>
                    <a:cubicBezTo>
                      <a:pt x="248" y="21"/>
                      <a:pt x="248" y="21"/>
                      <a:pt x="248" y="21"/>
                    </a:cubicBezTo>
                    <a:cubicBezTo>
                      <a:pt x="222" y="6"/>
                      <a:pt x="222" y="6"/>
                      <a:pt x="222" y="6"/>
                    </a:cubicBezTo>
                    <a:cubicBezTo>
                      <a:pt x="226" y="0"/>
                      <a:pt x="226" y="0"/>
                      <a:pt x="226" y="0"/>
                    </a:cubicBezTo>
                    <a:cubicBezTo>
                      <a:pt x="256" y="17"/>
                      <a:pt x="256" y="17"/>
                      <a:pt x="256" y="17"/>
                    </a:cubicBezTo>
                    <a:cubicBezTo>
                      <a:pt x="256" y="27"/>
                      <a:pt x="256" y="27"/>
                      <a:pt x="256" y="27"/>
                    </a:cubicBezTo>
                    <a:cubicBezTo>
                      <a:pt x="256" y="36"/>
                      <a:pt x="251" y="43"/>
                      <a:pt x="244" y="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70" name="Freeform 207">
                <a:extLst>
                  <a:ext uri="{FF2B5EF4-FFF2-40B4-BE49-F238E27FC236}">
                    <a16:creationId xmlns:a16="http://schemas.microsoft.com/office/drawing/2014/main" id="{AFEF3916-30DD-42F2-8FFF-4CFCF83A74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34551" y="1089025"/>
                <a:ext cx="271463" cy="106363"/>
              </a:xfrm>
              <a:custGeom>
                <a:avLst/>
                <a:gdLst>
                  <a:gd name="T0" fmla="*/ 91 w 171"/>
                  <a:gd name="T1" fmla="*/ 67 h 67"/>
                  <a:gd name="T2" fmla="*/ 0 w 171"/>
                  <a:gd name="T3" fmla="*/ 22 h 67"/>
                  <a:gd name="T4" fmla="*/ 11 w 171"/>
                  <a:gd name="T5" fmla="*/ 0 h 67"/>
                  <a:gd name="T6" fmla="*/ 91 w 171"/>
                  <a:gd name="T7" fmla="*/ 41 h 67"/>
                  <a:gd name="T8" fmla="*/ 160 w 171"/>
                  <a:gd name="T9" fmla="*/ 3 h 67"/>
                  <a:gd name="T10" fmla="*/ 171 w 171"/>
                  <a:gd name="T11" fmla="*/ 19 h 67"/>
                  <a:gd name="T12" fmla="*/ 91 w 171"/>
                  <a:gd name="T13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1" h="67">
                    <a:moveTo>
                      <a:pt x="91" y="67"/>
                    </a:moveTo>
                    <a:lnTo>
                      <a:pt x="0" y="22"/>
                    </a:lnTo>
                    <a:lnTo>
                      <a:pt x="11" y="0"/>
                    </a:lnTo>
                    <a:lnTo>
                      <a:pt x="91" y="41"/>
                    </a:lnTo>
                    <a:lnTo>
                      <a:pt x="160" y="3"/>
                    </a:lnTo>
                    <a:lnTo>
                      <a:pt x="171" y="19"/>
                    </a:lnTo>
                    <a:lnTo>
                      <a:pt x="91" y="6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71" name="Freeform 208">
                <a:extLst>
                  <a:ext uri="{FF2B5EF4-FFF2-40B4-BE49-F238E27FC236}">
                    <a16:creationId xmlns:a16="http://schemas.microsoft.com/office/drawing/2014/main" id="{3D095AFC-A0F6-4590-98F6-CBD65FD967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34489" y="903288"/>
                <a:ext cx="203200" cy="238125"/>
              </a:xfrm>
              <a:custGeom>
                <a:avLst/>
                <a:gdLst>
                  <a:gd name="T0" fmla="*/ 24 w 48"/>
                  <a:gd name="T1" fmla="*/ 56 h 56"/>
                  <a:gd name="T2" fmla="*/ 0 w 48"/>
                  <a:gd name="T3" fmla="*/ 26 h 56"/>
                  <a:gd name="T4" fmla="*/ 24 w 48"/>
                  <a:gd name="T5" fmla="*/ 0 h 56"/>
                  <a:gd name="T6" fmla="*/ 48 w 48"/>
                  <a:gd name="T7" fmla="*/ 26 h 56"/>
                  <a:gd name="T8" fmla="*/ 24 w 48"/>
                  <a:gd name="T9" fmla="*/ 56 h 56"/>
                  <a:gd name="T10" fmla="*/ 24 w 48"/>
                  <a:gd name="T11" fmla="*/ 8 h 56"/>
                  <a:gd name="T12" fmla="*/ 8 w 48"/>
                  <a:gd name="T13" fmla="*/ 26 h 56"/>
                  <a:gd name="T14" fmla="*/ 24 w 48"/>
                  <a:gd name="T15" fmla="*/ 48 h 56"/>
                  <a:gd name="T16" fmla="*/ 40 w 48"/>
                  <a:gd name="T17" fmla="*/ 26 h 56"/>
                  <a:gd name="T18" fmla="*/ 24 w 48"/>
                  <a:gd name="T19" fmla="*/ 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56">
                    <a:moveTo>
                      <a:pt x="24" y="56"/>
                    </a:moveTo>
                    <a:cubicBezTo>
                      <a:pt x="10" y="56"/>
                      <a:pt x="0" y="43"/>
                      <a:pt x="0" y="26"/>
                    </a:cubicBezTo>
                    <a:cubicBezTo>
                      <a:pt x="0" y="14"/>
                      <a:pt x="3" y="0"/>
                      <a:pt x="24" y="0"/>
                    </a:cubicBezTo>
                    <a:cubicBezTo>
                      <a:pt x="45" y="0"/>
                      <a:pt x="48" y="14"/>
                      <a:pt x="48" y="26"/>
                    </a:cubicBezTo>
                    <a:cubicBezTo>
                      <a:pt x="48" y="43"/>
                      <a:pt x="38" y="56"/>
                      <a:pt x="24" y="56"/>
                    </a:cubicBezTo>
                    <a:close/>
                    <a:moveTo>
                      <a:pt x="24" y="8"/>
                    </a:moveTo>
                    <a:cubicBezTo>
                      <a:pt x="12" y="8"/>
                      <a:pt x="8" y="12"/>
                      <a:pt x="8" y="26"/>
                    </a:cubicBezTo>
                    <a:cubicBezTo>
                      <a:pt x="8" y="37"/>
                      <a:pt x="14" y="48"/>
                      <a:pt x="24" y="48"/>
                    </a:cubicBezTo>
                    <a:cubicBezTo>
                      <a:pt x="34" y="48"/>
                      <a:pt x="40" y="37"/>
                      <a:pt x="40" y="26"/>
                    </a:cubicBezTo>
                    <a:cubicBezTo>
                      <a:pt x="40" y="12"/>
                      <a:pt x="36" y="8"/>
                      <a:pt x="24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72" name="Freeform 209">
                <a:extLst>
                  <a:ext uri="{FF2B5EF4-FFF2-40B4-BE49-F238E27FC236}">
                    <a16:creationId xmlns:a16="http://schemas.microsoft.com/office/drawing/2014/main" id="{6E43AF94-1D4F-4FBE-AF62-8A2BE54FCD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590089" y="903288"/>
                <a:ext cx="203200" cy="238125"/>
              </a:xfrm>
              <a:custGeom>
                <a:avLst/>
                <a:gdLst>
                  <a:gd name="T0" fmla="*/ 24 w 48"/>
                  <a:gd name="T1" fmla="*/ 56 h 56"/>
                  <a:gd name="T2" fmla="*/ 0 w 48"/>
                  <a:gd name="T3" fmla="*/ 26 h 56"/>
                  <a:gd name="T4" fmla="*/ 24 w 48"/>
                  <a:gd name="T5" fmla="*/ 0 h 56"/>
                  <a:gd name="T6" fmla="*/ 48 w 48"/>
                  <a:gd name="T7" fmla="*/ 26 h 56"/>
                  <a:gd name="T8" fmla="*/ 24 w 48"/>
                  <a:gd name="T9" fmla="*/ 56 h 56"/>
                  <a:gd name="T10" fmla="*/ 24 w 48"/>
                  <a:gd name="T11" fmla="*/ 8 h 56"/>
                  <a:gd name="T12" fmla="*/ 8 w 48"/>
                  <a:gd name="T13" fmla="*/ 26 h 56"/>
                  <a:gd name="T14" fmla="*/ 24 w 48"/>
                  <a:gd name="T15" fmla="*/ 48 h 56"/>
                  <a:gd name="T16" fmla="*/ 40 w 48"/>
                  <a:gd name="T17" fmla="*/ 26 h 56"/>
                  <a:gd name="T18" fmla="*/ 24 w 48"/>
                  <a:gd name="T19" fmla="*/ 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56">
                    <a:moveTo>
                      <a:pt x="24" y="56"/>
                    </a:moveTo>
                    <a:cubicBezTo>
                      <a:pt x="10" y="56"/>
                      <a:pt x="0" y="43"/>
                      <a:pt x="0" y="26"/>
                    </a:cubicBezTo>
                    <a:cubicBezTo>
                      <a:pt x="0" y="14"/>
                      <a:pt x="3" y="0"/>
                      <a:pt x="24" y="0"/>
                    </a:cubicBezTo>
                    <a:cubicBezTo>
                      <a:pt x="45" y="0"/>
                      <a:pt x="48" y="14"/>
                      <a:pt x="48" y="26"/>
                    </a:cubicBezTo>
                    <a:cubicBezTo>
                      <a:pt x="48" y="43"/>
                      <a:pt x="38" y="56"/>
                      <a:pt x="24" y="56"/>
                    </a:cubicBezTo>
                    <a:close/>
                    <a:moveTo>
                      <a:pt x="24" y="8"/>
                    </a:moveTo>
                    <a:cubicBezTo>
                      <a:pt x="12" y="8"/>
                      <a:pt x="8" y="12"/>
                      <a:pt x="8" y="26"/>
                    </a:cubicBezTo>
                    <a:cubicBezTo>
                      <a:pt x="8" y="37"/>
                      <a:pt x="14" y="48"/>
                      <a:pt x="24" y="48"/>
                    </a:cubicBezTo>
                    <a:cubicBezTo>
                      <a:pt x="34" y="48"/>
                      <a:pt x="40" y="37"/>
                      <a:pt x="40" y="26"/>
                    </a:cubicBezTo>
                    <a:cubicBezTo>
                      <a:pt x="40" y="12"/>
                      <a:pt x="36" y="8"/>
                      <a:pt x="24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73" name="Freeform 210">
                <a:extLst>
                  <a:ext uri="{FF2B5EF4-FFF2-40B4-BE49-F238E27FC236}">
                    <a16:creationId xmlns:a16="http://schemas.microsoft.com/office/drawing/2014/main" id="{9F93F89A-E852-4817-8600-550E422D7B0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45689" y="903288"/>
                <a:ext cx="204788" cy="238125"/>
              </a:xfrm>
              <a:custGeom>
                <a:avLst/>
                <a:gdLst>
                  <a:gd name="T0" fmla="*/ 24 w 48"/>
                  <a:gd name="T1" fmla="*/ 56 h 56"/>
                  <a:gd name="T2" fmla="*/ 0 w 48"/>
                  <a:gd name="T3" fmla="*/ 26 h 56"/>
                  <a:gd name="T4" fmla="*/ 24 w 48"/>
                  <a:gd name="T5" fmla="*/ 0 h 56"/>
                  <a:gd name="T6" fmla="*/ 48 w 48"/>
                  <a:gd name="T7" fmla="*/ 26 h 56"/>
                  <a:gd name="T8" fmla="*/ 24 w 48"/>
                  <a:gd name="T9" fmla="*/ 56 h 56"/>
                  <a:gd name="T10" fmla="*/ 24 w 48"/>
                  <a:gd name="T11" fmla="*/ 8 h 56"/>
                  <a:gd name="T12" fmla="*/ 8 w 48"/>
                  <a:gd name="T13" fmla="*/ 26 h 56"/>
                  <a:gd name="T14" fmla="*/ 24 w 48"/>
                  <a:gd name="T15" fmla="*/ 48 h 56"/>
                  <a:gd name="T16" fmla="*/ 40 w 48"/>
                  <a:gd name="T17" fmla="*/ 26 h 56"/>
                  <a:gd name="T18" fmla="*/ 24 w 48"/>
                  <a:gd name="T19" fmla="*/ 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56">
                    <a:moveTo>
                      <a:pt x="24" y="56"/>
                    </a:moveTo>
                    <a:cubicBezTo>
                      <a:pt x="10" y="56"/>
                      <a:pt x="0" y="43"/>
                      <a:pt x="0" y="26"/>
                    </a:cubicBezTo>
                    <a:cubicBezTo>
                      <a:pt x="0" y="14"/>
                      <a:pt x="3" y="0"/>
                      <a:pt x="24" y="0"/>
                    </a:cubicBezTo>
                    <a:cubicBezTo>
                      <a:pt x="45" y="0"/>
                      <a:pt x="48" y="14"/>
                      <a:pt x="48" y="26"/>
                    </a:cubicBezTo>
                    <a:cubicBezTo>
                      <a:pt x="48" y="43"/>
                      <a:pt x="38" y="56"/>
                      <a:pt x="24" y="56"/>
                    </a:cubicBezTo>
                    <a:close/>
                    <a:moveTo>
                      <a:pt x="24" y="8"/>
                    </a:moveTo>
                    <a:cubicBezTo>
                      <a:pt x="12" y="8"/>
                      <a:pt x="8" y="12"/>
                      <a:pt x="8" y="26"/>
                    </a:cubicBezTo>
                    <a:cubicBezTo>
                      <a:pt x="8" y="37"/>
                      <a:pt x="14" y="48"/>
                      <a:pt x="24" y="48"/>
                    </a:cubicBezTo>
                    <a:cubicBezTo>
                      <a:pt x="34" y="48"/>
                      <a:pt x="40" y="37"/>
                      <a:pt x="40" y="26"/>
                    </a:cubicBezTo>
                    <a:cubicBezTo>
                      <a:pt x="40" y="12"/>
                      <a:pt x="36" y="8"/>
                      <a:pt x="24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74" name="Rectangle 211">
                <a:extLst>
                  <a:ext uri="{FF2B5EF4-FFF2-40B4-BE49-F238E27FC236}">
                    <a16:creationId xmlns:a16="http://schemas.microsoft.com/office/drawing/2014/main" id="{562A8B3C-8DED-4F22-8758-27D6285D3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88489" y="1174750"/>
                <a:ext cx="34925" cy="508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75" name="Rectangle 212">
                <a:extLst>
                  <a:ext uri="{FF2B5EF4-FFF2-40B4-BE49-F238E27FC236}">
                    <a16:creationId xmlns:a16="http://schemas.microsoft.com/office/drawing/2014/main" id="{C70303BE-A800-4DC4-8B82-74A2A44A7F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61551" y="1174750"/>
                <a:ext cx="33338" cy="508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76" name="Rectangle 213">
                <a:extLst>
                  <a:ext uri="{FF2B5EF4-FFF2-40B4-BE49-F238E27FC236}">
                    <a16:creationId xmlns:a16="http://schemas.microsoft.com/office/drawing/2014/main" id="{4D93080F-16CF-47E0-833B-29E13D311B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85289" y="733425"/>
                <a:ext cx="134938" cy="333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77" name="Rectangle 214">
                <a:extLst>
                  <a:ext uri="{FF2B5EF4-FFF2-40B4-BE49-F238E27FC236}">
                    <a16:creationId xmlns:a16="http://schemas.microsoft.com/office/drawing/2014/main" id="{7DA501FB-ECE2-476B-A137-48F11431FD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85289" y="665163"/>
                <a:ext cx="134938" cy="349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78" name="Rectangle 215">
                <a:extLst>
                  <a:ext uri="{FF2B5EF4-FFF2-40B4-BE49-F238E27FC236}">
                    <a16:creationId xmlns:a16="http://schemas.microsoft.com/office/drawing/2014/main" id="{F74ED3D0-87A6-4BB3-9B73-AB55C4C4BB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5151" y="733425"/>
                <a:ext cx="134938" cy="333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79" name="Rectangle 216">
                <a:extLst>
                  <a:ext uri="{FF2B5EF4-FFF2-40B4-BE49-F238E27FC236}">
                    <a16:creationId xmlns:a16="http://schemas.microsoft.com/office/drawing/2014/main" id="{A0F99B8C-D2E7-4621-894E-27D0561FFC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5151" y="665163"/>
                <a:ext cx="134938" cy="349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80" name="Rectangle 217">
                <a:extLst>
                  <a:ext uri="{FF2B5EF4-FFF2-40B4-BE49-F238E27FC236}">
                    <a16:creationId xmlns:a16="http://schemas.microsoft.com/office/drawing/2014/main" id="{B84B0FB9-4DAC-4B4E-8AFD-FB9A6C63A5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5014" y="733425"/>
                <a:ext cx="134938" cy="333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81" name="Rectangle 218">
                <a:extLst>
                  <a:ext uri="{FF2B5EF4-FFF2-40B4-BE49-F238E27FC236}">
                    <a16:creationId xmlns:a16="http://schemas.microsoft.com/office/drawing/2014/main" id="{FA9224BE-759D-4992-BE32-E69506E6DF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5014" y="665163"/>
                <a:ext cx="134938" cy="349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82" name="Rectangle 219">
                <a:extLst>
                  <a:ext uri="{FF2B5EF4-FFF2-40B4-BE49-F238E27FC236}">
                    <a16:creationId xmlns:a16="http://schemas.microsoft.com/office/drawing/2014/main" id="{B953DBB5-E7C0-45F3-A401-D1EF55EB8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5014" y="598488"/>
                <a:ext cx="134938" cy="333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83" name="Rectangle 220">
                <a:extLst>
                  <a:ext uri="{FF2B5EF4-FFF2-40B4-BE49-F238E27FC236}">
                    <a16:creationId xmlns:a16="http://schemas.microsoft.com/office/drawing/2014/main" id="{8E0A3D27-8864-463C-A9D7-F2255FB55A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5014" y="530225"/>
                <a:ext cx="134938" cy="333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84" name="Rectangle 221">
                <a:extLst>
                  <a:ext uri="{FF2B5EF4-FFF2-40B4-BE49-F238E27FC236}">
                    <a16:creationId xmlns:a16="http://schemas.microsoft.com/office/drawing/2014/main" id="{A01C41F9-1FF5-46C5-991C-E9A65F349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93289" y="733425"/>
                <a:ext cx="136525" cy="333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85" name="Rectangle 222">
                <a:extLst>
                  <a:ext uri="{FF2B5EF4-FFF2-40B4-BE49-F238E27FC236}">
                    <a16:creationId xmlns:a16="http://schemas.microsoft.com/office/drawing/2014/main" id="{4A4555C6-2A5E-4E23-A6FA-F8DDA5D4FF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93289" y="665163"/>
                <a:ext cx="136525" cy="349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86" name="Rectangle 223">
                <a:extLst>
                  <a:ext uri="{FF2B5EF4-FFF2-40B4-BE49-F238E27FC236}">
                    <a16:creationId xmlns:a16="http://schemas.microsoft.com/office/drawing/2014/main" id="{91EDE824-B86F-46BE-90A8-96CEFCBDC8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93289" y="598488"/>
                <a:ext cx="136525" cy="333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87" name="Rectangle 224">
                <a:extLst>
                  <a:ext uri="{FF2B5EF4-FFF2-40B4-BE49-F238E27FC236}">
                    <a16:creationId xmlns:a16="http://schemas.microsoft.com/office/drawing/2014/main" id="{473BDD01-A6AC-4A50-8649-3D914396A9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63151" y="733425"/>
                <a:ext cx="136525" cy="333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88" name="Rectangle 225">
                <a:extLst>
                  <a:ext uri="{FF2B5EF4-FFF2-40B4-BE49-F238E27FC236}">
                    <a16:creationId xmlns:a16="http://schemas.microsoft.com/office/drawing/2014/main" id="{053D1BA2-CA82-4D9E-B2AB-B097C2D621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63151" y="665163"/>
                <a:ext cx="136525" cy="349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89" name="Rectangle 226">
                <a:extLst>
                  <a:ext uri="{FF2B5EF4-FFF2-40B4-BE49-F238E27FC236}">
                    <a16:creationId xmlns:a16="http://schemas.microsoft.com/office/drawing/2014/main" id="{BAE39A99-DBF9-48BA-8966-0DAC06C046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63151" y="598488"/>
                <a:ext cx="136525" cy="333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90" name="Rectangle 227">
                <a:extLst>
                  <a:ext uri="{FF2B5EF4-FFF2-40B4-BE49-F238E27FC236}">
                    <a16:creationId xmlns:a16="http://schemas.microsoft.com/office/drawing/2014/main" id="{98B35809-7BE3-427D-9C88-33DED6E967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63151" y="530225"/>
                <a:ext cx="136525" cy="333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  <p:sp>
            <p:nvSpPr>
              <p:cNvPr id="91" name="Rectangle 228">
                <a:extLst>
                  <a:ext uri="{FF2B5EF4-FFF2-40B4-BE49-F238E27FC236}">
                    <a16:creationId xmlns:a16="http://schemas.microsoft.com/office/drawing/2014/main" id="{F8A99148-CBA0-4AE5-B5BD-E4C7633545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85289" y="598488"/>
                <a:ext cx="134938" cy="333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</p:grp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C4FB5E27-4865-43E8-82B9-3989135F6635}"/>
              </a:ext>
            </a:extLst>
          </p:cNvPr>
          <p:cNvGrpSpPr/>
          <p:nvPr/>
        </p:nvGrpSpPr>
        <p:grpSpPr>
          <a:xfrm>
            <a:off x="6310973" y="3364116"/>
            <a:ext cx="930729" cy="930729"/>
            <a:chOff x="529398" y="5007276"/>
            <a:chExt cx="930729" cy="930729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088EA34B-887D-4366-9D51-BF46F94DF335}"/>
                </a:ext>
              </a:extLst>
            </p:cNvPr>
            <p:cNvSpPr/>
            <p:nvPr/>
          </p:nvSpPr>
          <p:spPr>
            <a:xfrm rot="16200000">
              <a:off x="529398" y="5007276"/>
              <a:ext cx="930729" cy="930729"/>
            </a:xfrm>
            <a:prstGeom prst="ellipse">
              <a:avLst/>
            </a:prstGeom>
            <a:noFill/>
            <a:ln w="25400">
              <a:solidFill>
                <a:srgbClr val="C1007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pic>
          <p:nvPicPr>
            <p:cNvPr id="94" name="Graphic 93">
              <a:extLst>
                <a:ext uri="{FF2B5EF4-FFF2-40B4-BE49-F238E27FC236}">
                  <a16:creationId xmlns:a16="http://schemas.microsoft.com/office/drawing/2014/main" id="{9FEDA3FB-D12C-416D-9E06-95C38D8BA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1094" y="5209251"/>
              <a:ext cx="305543" cy="515525"/>
            </a:xfrm>
            <a:prstGeom prst="rect">
              <a:avLst/>
            </a:prstGeom>
          </p:spPr>
        </p:pic>
      </p:grpSp>
      <p:sp>
        <p:nvSpPr>
          <p:cNvPr id="95" name="Rectangle 94">
            <a:extLst>
              <a:ext uri="{FF2B5EF4-FFF2-40B4-BE49-F238E27FC236}">
                <a16:creationId xmlns:a16="http://schemas.microsoft.com/office/drawing/2014/main" id="{3B4965A8-DED2-42D1-BB9C-4278BEC0436F}"/>
              </a:ext>
            </a:extLst>
          </p:cNvPr>
          <p:cNvSpPr/>
          <p:nvPr/>
        </p:nvSpPr>
        <p:spPr>
          <a:xfrm>
            <a:off x="1598325" y="5243708"/>
            <a:ext cx="3319884" cy="6417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buClr>
                <a:srgbClr val="77933C"/>
              </a:buClr>
            </a:pPr>
            <a:r>
              <a:rPr lang="pt-PT" sz="1400" dirty="0">
                <a:solidFill>
                  <a:srgbClr val="231F20"/>
                </a:solidFill>
                <a:latin typeface="Trebuchet MS" panose="020B0603020202020204" pitchFamily="34" charset="0"/>
              </a:rPr>
              <a:t>O </a:t>
            </a:r>
            <a:r>
              <a:rPr lang="pt-PT" sz="1400" b="1" dirty="0">
                <a:solidFill>
                  <a:schemeClr val="bg1"/>
                </a:solidFill>
                <a:latin typeface="Trebuchet MS" panose="020B0603020202020204" pitchFamily="34" charset="0"/>
              </a:rPr>
              <a:t>efeito foi mais rápido </a:t>
            </a:r>
            <a:r>
              <a:rPr lang="pt-PT" sz="1400" dirty="0">
                <a:solidFill>
                  <a:srgbClr val="231F20"/>
                </a:solidFill>
                <a:latin typeface="Trebuchet MS" panose="020B0603020202020204" pitchFamily="34" charset="0"/>
              </a:rPr>
              <a:t>e o aumento inicial foi mais acentuado do que na administração vaginal.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895A6C0C-EFE7-4D3E-9698-7983115903ED}"/>
              </a:ext>
            </a:extLst>
          </p:cNvPr>
          <p:cNvGrpSpPr/>
          <p:nvPr/>
        </p:nvGrpSpPr>
        <p:grpSpPr>
          <a:xfrm>
            <a:off x="541626" y="5079062"/>
            <a:ext cx="930729" cy="930729"/>
            <a:chOff x="529398" y="2022260"/>
            <a:chExt cx="930729" cy="930729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A19037E0-120F-488B-BA03-69C166B1559C}"/>
                </a:ext>
              </a:extLst>
            </p:cNvPr>
            <p:cNvSpPr/>
            <p:nvPr/>
          </p:nvSpPr>
          <p:spPr>
            <a:xfrm rot="16200000">
              <a:off x="529398" y="2022260"/>
              <a:ext cx="930729" cy="930729"/>
            </a:xfrm>
            <a:prstGeom prst="ellipse">
              <a:avLst/>
            </a:prstGeom>
            <a:noFill/>
            <a:ln w="25400">
              <a:solidFill>
                <a:srgbClr val="C1007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pic>
          <p:nvPicPr>
            <p:cNvPr id="98" name="Graphic 97">
              <a:extLst>
                <a:ext uri="{FF2B5EF4-FFF2-40B4-BE49-F238E27FC236}">
                  <a16:creationId xmlns:a16="http://schemas.microsoft.com/office/drawing/2014/main" id="{4E2B8562-8C77-47B8-AD38-4330905C7D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40836" y="2233698"/>
              <a:ext cx="507853" cy="507853"/>
            </a:xfrm>
            <a:prstGeom prst="rect">
              <a:avLst/>
            </a:prstGeom>
          </p:spPr>
        </p:pic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3BAE0BB-52F6-4C8C-BAB5-4A00FFDAE36D}"/>
              </a:ext>
            </a:extLst>
          </p:cNvPr>
          <p:cNvSpPr/>
          <p:nvPr/>
        </p:nvSpPr>
        <p:spPr>
          <a:xfrm>
            <a:off x="7594230" y="4391896"/>
            <a:ext cx="4399384" cy="82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buClr>
                <a:srgbClr val="77933C"/>
              </a:buClr>
            </a:pPr>
            <a:r>
              <a:rPr lang="pt-PT" sz="1400" dirty="0">
                <a:solidFill>
                  <a:srgbClr val="231F20"/>
                </a:solidFill>
                <a:latin typeface="Trebuchet MS" panose="020B0603020202020204" pitchFamily="34" charset="0"/>
              </a:rPr>
              <a:t>O </a:t>
            </a:r>
            <a:r>
              <a:rPr lang="pt-PT" sz="1400" b="1" dirty="0">
                <a:solidFill>
                  <a:srgbClr val="C10076"/>
                </a:solidFill>
                <a:latin typeface="Trebuchet MS" panose="020B0603020202020204" pitchFamily="34" charset="0"/>
              </a:rPr>
              <a:t>aumento do tónus foi mais duradouro</a:t>
            </a:r>
            <a:r>
              <a:rPr lang="pt-PT" sz="1400" dirty="0">
                <a:solidFill>
                  <a:srgbClr val="231F20"/>
                </a:solidFill>
                <a:latin typeface="Trebuchet MS" panose="020B0603020202020204" pitchFamily="34" charset="0"/>
              </a:rPr>
              <a:t>. As </a:t>
            </a:r>
            <a:r>
              <a:rPr lang="pt-PT" sz="1400" dirty="0" err="1">
                <a:solidFill>
                  <a:srgbClr val="231F20"/>
                </a:solidFill>
                <a:latin typeface="Trebuchet MS" panose="020B0603020202020204" pitchFamily="34" charset="0"/>
              </a:rPr>
              <a:t>contracções</a:t>
            </a:r>
            <a:r>
              <a:rPr lang="pt-PT" sz="1400" dirty="0">
                <a:solidFill>
                  <a:srgbClr val="231F20"/>
                </a:solidFill>
                <a:latin typeface="Trebuchet MS" panose="020B0603020202020204" pitchFamily="34" charset="0"/>
              </a:rPr>
              <a:t> uterinas aumentaram lenta e gradualmente - estímulo duradouro da contractilidade.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379AA374-0A31-4692-83FC-6C3190D1ECA6}"/>
              </a:ext>
            </a:extLst>
          </p:cNvPr>
          <p:cNvGrpSpPr/>
          <p:nvPr/>
        </p:nvGrpSpPr>
        <p:grpSpPr>
          <a:xfrm>
            <a:off x="6310973" y="4327308"/>
            <a:ext cx="930729" cy="930729"/>
            <a:chOff x="529398" y="3518593"/>
            <a:chExt cx="930729" cy="930729"/>
          </a:xfrm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8CA84692-9A79-4873-9278-5D321E199E2C}"/>
                </a:ext>
              </a:extLst>
            </p:cNvPr>
            <p:cNvSpPr/>
            <p:nvPr/>
          </p:nvSpPr>
          <p:spPr>
            <a:xfrm rot="16200000">
              <a:off x="529398" y="3518593"/>
              <a:ext cx="930729" cy="930729"/>
            </a:xfrm>
            <a:prstGeom prst="ellipse">
              <a:avLst/>
            </a:prstGeom>
            <a:noFill/>
            <a:ln w="25400">
              <a:solidFill>
                <a:srgbClr val="C1007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pic>
          <p:nvPicPr>
            <p:cNvPr id="107" name="Graphic 106">
              <a:extLst>
                <a:ext uri="{FF2B5EF4-FFF2-40B4-BE49-F238E27FC236}">
                  <a16:creationId xmlns:a16="http://schemas.microsoft.com/office/drawing/2014/main" id="{99244429-5CA1-4438-93B0-CE9C25311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77875" y="3727506"/>
              <a:ext cx="503584" cy="501594"/>
            </a:xfrm>
            <a:prstGeom prst="rect">
              <a:avLst/>
            </a:prstGeom>
          </p:spPr>
        </p:pic>
      </p:grpSp>
      <p:sp>
        <p:nvSpPr>
          <p:cNvPr id="110" name="Double Bracket 109">
            <a:extLst>
              <a:ext uri="{FF2B5EF4-FFF2-40B4-BE49-F238E27FC236}">
                <a16:creationId xmlns:a16="http://schemas.microsoft.com/office/drawing/2014/main" id="{088D60B1-FF9F-4ABA-97E8-622E536B69C8}"/>
              </a:ext>
            </a:extLst>
          </p:cNvPr>
          <p:cNvSpPr/>
          <p:nvPr/>
        </p:nvSpPr>
        <p:spPr>
          <a:xfrm>
            <a:off x="8357505" y="1519969"/>
            <a:ext cx="1717548" cy="712159"/>
          </a:xfrm>
          <a:prstGeom prst="bracketPair">
            <a:avLst>
              <a:gd name="adj" fmla="val 28559"/>
            </a:avLst>
          </a:prstGeom>
          <a:solidFill>
            <a:schemeClr val="bg1"/>
          </a:solidFill>
          <a:ln w="25400" cap="rnd">
            <a:solidFill>
              <a:srgbClr val="CF84AE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</a:rPr>
              <a:t>VAGINAL</a:t>
            </a:r>
          </a:p>
        </p:txBody>
      </p:sp>
      <p:sp>
        <p:nvSpPr>
          <p:cNvPr id="111" name="Double Bracket 110">
            <a:extLst>
              <a:ext uri="{FF2B5EF4-FFF2-40B4-BE49-F238E27FC236}">
                <a16:creationId xmlns:a16="http://schemas.microsoft.com/office/drawing/2014/main" id="{328E1B64-D83B-4802-8B63-3D0C22A8253C}"/>
              </a:ext>
            </a:extLst>
          </p:cNvPr>
          <p:cNvSpPr/>
          <p:nvPr/>
        </p:nvSpPr>
        <p:spPr>
          <a:xfrm>
            <a:off x="1940360" y="1519970"/>
            <a:ext cx="1717548" cy="712159"/>
          </a:xfrm>
          <a:prstGeom prst="bracketPair">
            <a:avLst>
              <a:gd name="adj" fmla="val 28559"/>
            </a:avLst>
          </a:prstGeom>
          <a:solidFill>
            <a:schemeClr val="bg1"/>
          </a:solidFill>
          <a:ln w="25400" cap="rnd">
            <a:solidFill>
              <a:srgbClr val="CF84AE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</a:rPr>
              <a:t>ORAL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F58B2AC9-91B6-4CCC-AFF4-73BB3CA5DA72}"/>
              </a:ext>
            </a:extLst>
          </p:cNvPr>
          <p:cNvSpPr/>
          <p:nvPr/>
        </p:nvSpPr>
        <p:spPr>
          <a:xfrm>
            <a:off x="7594230" y="5373118"/>
            <a:ext cx="3500536" cy="82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buClr>
                <a:srgbClr val="77933C"/>
              </a:buClr>
            </a:pPr>
            <a:r>
              <a:rPr lang="pt-PT" sz="1400" b="1" dirty="0">
                <a:solidFill>
                  <a:srgbClr val="C10076"/>
                </a:solidFill>
                <a:latin typeface="Trebuchet MS" panose="020B0603020202020204" pitchFamily="34" charset="0"/>
              </a:rPr>
              <a:t>Evita o efeito de primeira passagem </a:t>
            </a:r>
            <a:r>
              <a:rPr lang="pt-PT" sz="1400" dirty="0">
                <a:solidFill>
                  <a:srgbClr val="231F20"/>
                </a:solidFill>
                <a:latin typeface="Trebuchet MS" panose="020B0603020202020204" pitchFamily="34" charset="0"/>
              </a:rPr>
              <a:t>pelo fígado, evitando-se desta forma que parte do Misoprostol seja imediatamente metabolizado.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90E2272E-08C7-4693-916F-33181BD4229F}"/>
              </a:ext>
            </a:extLst>
          </p:cNvPr>
          <p:cNvGrpSpPr/>
          <p:nvPr/>
        </p:nvGrpSpPr>
        <p:grpSpPr>
          <a:xfrm>
            <a:off x="6294151" y="5290500"/>
            <a:ext cx="930729" cy="930729"/>
            <a:chOff x="529398" y="2016577"/>
            <a:chExt cx="930729" cy="930729"/>
          </a:xfrm>
        </p:grpSpPr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2D8EEE1B-1171-457C-B0CE-91CE2DE5D6C0}"/>
                </a:ext>
              </a:extLst>
            </p:cNvPr>
            <p:cNvSpPr/>
            <p:nvPr/>
          </p:nvSpPr>
          <p:spPr>
            <a:xfrm rot="16200000">
              <a:off x="529398" y="2016577"/>
              <a:ext cx="930729" cy="930729"/>
            </a:xfrm>
            <a:prstGeom prst="ellipse">
              <a:avLst/>
            </a:prstGeom>
            <a:noFill/>
            <a:ln w="25400">
              <a:solidFill>
                <a:srgbClr val="C1007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pic>
          <p:nvPicPr>
            <p:cNvPr id="122" name="Graphic 121">
              <a:extLst>
                <a:ext uri="{FF2B5EF4-FFF2-40B4-BE49-F238E27FC236}">
                  <a16:creationId xmlns:a16="http://schemas.microsoft.com/office/drawing/2014/main" id="{F530F664-B97F-4857-BCAB-78462C20F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21780" y="2203861"/>
              <a:ext cx="545963" cy="5459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12297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tângulo 48">
            <a:extLst>
              <a:ext uri="{FF2B5EF4-FFF2-40B4-BE49-F238E27FC236}">
                <a16:creationId xmlns:a16="http://schemas.microsoft.com/office/drawing/2014/main" id="{E7691C12-D9BE-4BA0-9339-EC3C1D89BF1A}"/>
              </a:ext>
            </a:extLst>
          </p:cNvPr>
          <p:cNvSpPr/>
          <p:nvPr/>
        </p:nvSpPr>
        <p:spPr>
          <a:xfrm>
            <a:off x="0" y="0"/>
            <a:ext cx="2581158" cy="6858000"/>
          </a:xfrm>
          <a:prstGeom prst="rect">
            <a:avLst/>
          </a:prstGeom>
          <a:solidFill>
            <a:srgbClr val="CF84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srgbClr val="6FCBB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21">
            <a:extLst>
              <a:ext uri="{FF2B5EF4-FFF2-40B4-BE49-F238E27FC236}">
                <a16:creationId xmlns:a16="http://schemas.microsoft.com/office/drawing/2014/main" id="{A2F65322-8D00-4B36-B6D3-749AC23A2CD3}"/>
              </a:ext>
            </a:extLst>
          </p:cNvPr>
          <p:cNvSpPr txBox="1"/>
          <p:nvPr/>
        </p:nvSpPr>
        <p:spPr>
          <a:xfrm>
            <a:off x="3379369" y="559668"/>
            <a:ext cx="49787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6000" b="1" i="0" u="none" strike="noStrike" cap="none" normalizeH="0" baseline="0" noProof="0" dirty="0">
                <a:ln>
                  <a:noFill/>
                </a:ln>
                <a:solidFill>
                  <a:srgbClr val="CF84AE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MISOFAR 25</a:t>
            </a:r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id="{4E31CA48-917B-420E-AD87-D84B5423884F}"/>
              </a:ext>
            </a:extLst>
          </p:cNvPr>
          <p:cNvSpPr txBox="1"/>
          <p:nvPr/>
        </p:nvSpPr>
        <p:spPr>
          <a:xfrm>
            <a:off x="3458448" y="354527"/>
            <a:ext cx="4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CONCORRENTES DE </a:t>
            </a:r>
          </a:p>
        </p:txBody>
      </p:sp>
      <p:grpSp>
        <p:nvGrpSpPr>
          <p:cNvPr id="154" name="Agrupar 153">
            <a:extLst>
              <a:ext uri="{FF2B5EF4-FFF2-40B4-BE49-F238E27FC236}">
                <a16:creationId xmlns:a16="http://schemas.microsoft.com/office/drawing/2014/main" id="{111C2864-7C55-4791-A4CC-4E25ADF0998A}"/>
              </a:ext>
            </a:extLst>
          </p:cNvPr>
          <p:cNvGrpSpPr/>
          <p:nvPr/>
        </p:nvGrpSpPr>
        <p:grpSpPr>
          <a:xfrm>
            <a:off x="2834588" y="957321"/>
            <a:ext cx="9181200" cy="640148"/>
            <a:chOff x="2834588" y="957321"/>
            <a:chExt cx="9181200" cy="640148"/>
          </a:xfrm>
        </p:grpSpPr>
        <p:sp>
          <p:nvSpPr>
            <p:cNvPr id="64" name="Double Bracket 14">
              <a:extLst>
                <a:ext uri="{FF2B5EF4-FFF2-40B4-BE49-F238E27FC236}">
                  <a16:creationId xmlns:a16="http://schemas.microsoft.com/office/drawing/2014/main" id="{F3A9B49C-19BB-49E1-B678-B789429A0019}"/>
                </a:ext>
              </a:extLst>
            </p:cNvPr>
            <p:cNvSpPr/>
            <p:nvPr/>
          </p:nvSpPr>
          <p:spPr>
            <a:xfrm rot="16200000">
              <a:off x="4954845" y="-1162936"/>
              <a:ext cx="640148" cy="4880662"/>
            </a:xfrm>
            <a:custGeom>
              <a:avLst/>
              <a:gdLst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1878004 w 2381250"/>
                <a:gd name="connsiteY2" fmla="*/ 0 h 1762126"/>
                <a:gd name="connsiteX3" fmla="*/ 2381250 w 2381250"/>
                <a:gd name="connsiteY3" fmla="*/ 503246 h 1762126"/>
                <a:gd name="connsiteX4" fmla="*/ 2381250 w 2381250"/>
                <a:gd name="connsiteY4" fmla="*/ 1258880 h 1762126"/>
                <a:gd name="connsiteX5" fmla="*/ 1878004 w 2381250"/>
                <a:gd name="connsiteY5" fmla="*/ 1762126 h 1762126"/>
                <a:gd name="connsiteX6" fmla="*/ 503246 w 2381250"/>
                <a:gd name="connsiteY6" fmla="*/ 1762126 h 1762126"/>
                <a:gd name="connsiteX7" fmla="*/ 0 w 2381250"/>
                <a:gd name="connsiteY7" fmla="*/ 1258880 h 1762126"/>
                <a:gd name="connsiteX8" fmla="*/ 0 w 2381250"/>
                <a:gd name="connsiteY8" fmla="*/ 503246 h 1762126"/>
                <a:gd name="connsiteX0" fmla="*/ 503246 w 2381250"/>
                <a:gd name="connsiteY0" fmla="*/ 1762126 h 1762126"/>
                <a:gd name="connsiteX1" fmla="*/ 0 w 2381250"/>
                <a:gd name="connsiteY1" fmla="*/ 1258880 h 1762126"/>
                <a:gd name="connsiteX2" fmla="*/ 0 w 2381250"/>
                <a:gd name="connsiteY2" fmla="*/ 503246 h 1762126"/>
                <a:gd name="connsiteX3" fmla="*/ 503246 w 2381250"/>
                <a:gd name="connsiteY3" fmla="*/ 0 h 1762126"/>
                <a:gd name="connsiteX4" fmla="*/ 1878004 w 2381250"/>
                <a:gd name="connsiteY4" fmla="*/ 0 h 1762126"/>
                <a:gd name="connsiteX5" fmla="*/ 2381250 w 2381250"/>
                <a:gd name="connsiteY5" fmla="*/ 503246 h 1762126"/>
                <a:gd name="connsiteX6" fmla="*/ 2381250 w 2381250"/>
                <a:gd name="connsiteY6" fmla="*/ 1258880 h 1762126"/>
                <a:gd name="connsiteX7" fmla="*/ 1878004 w 2381250"/>
                <a:gd name="connsiteY7" fmla="*/ 1762126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1878004 w 2381250"/>
                <a:gd name="connsiteY2" fmla="*/ 0 h 1762126"/>
                <a:gd name="connsiteX3" fmla="*/ 2381250 w 2381250"/>
                <a:gd name="connsiteY3" fmla="*/ 503246 h 1762126"/>
                <a:gd name="connsiteX4" fmla="*/ 2381250 w 2381250"/>
                <a:gd name="connsiteY4" fmla="*/ 1258880 h 1762126"/>
                <a:gd name="connsiteX5" fmla="*/ 1878004 w 2381250"/>
                <a:gd name="connsiteY5" fmla="*/ 1762126 h 1762126"/>
                <a:gd name="connsiteX6" fmla="*/ 503246 w 2381250"/>
                <a:gd name="connsiteY6" fmla="*/ 1762126 h 1762126"/>
                <a:gd name="connsiteX7" fmla="*/ 0 w 2381250"/>
                <a:gd name="connsiteY7" fmla="*/ 1258880 h 1762126"/>
                <a:gd name="connsiteX8" fmla="*/ 0 w 2381250"/>
                <a:gd name="connsiteY8" fmla="*/ 503246 h 1762126"/>
                <a:gd name="connsiteX0" fmla="*/ 503246 w 2381250"/>
                <a:gd name="connsiteY0" fmla="*/ 1762126 h 1762126"/>
                <a:gd name="connsiteX1" fmla="*/ 0 w 2381250"/>
                <a:gd name="connsiteY1" fmla="*/ 503246 h 1762126"/>
                <a:gd name="connsiteX2" fmla="*/ 503246 w 2381250"/>
                <a:gd name="connsiteY2" fmla="*/ 0 h 1762126"/>
                <a:gd name="connsiteX3" fmla="*/ 1878004 w 2381250"/>
                <a:gd name="connsiteY3" fmla="*/ 0 h 1762126"/>
                <a:gd name="connsiteX4" fmla="*/ 2381250 w 2381250"/>
                <a:gd name="connsiteY4" fmla="*/ 503246 h 1762126"/>
                <a:gd name="connsiteX5" fmla="*/ 2381250 w 2381250"/>
                <a:gd name="connsiteY5" fmla="*/ 1258880 h 1762126"/>
                <a:gd name="connsiteX6" fmla="*/ 1878004 w 2381250"/>
                <a:gd name="connsiteY6" fmla="*/ 1762126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1878004 w 2381250"/>
                <a:gd name="connsiteY2" fmla="*/ 0 h 1762126"/>
                <a:gd name="connsiteX3" fmla="*/ 2381250 w 2381250"/>
                <a:gd name="connsiteY3" fmla="*/ 503246 h 1762126"/>
                <a:gd name="connsiteX4" fmla="*/ 2381250 w 2381250"/>
                <a:gd name="connsiteY4" fmla="*/ 1258880 h 1762126"/>
                <a:gd name="connsiteX5" fmla="*/ 1878004 w 2381250"/>
                <a:gd name="connsiteY5" fmla="*/ 1762126 h 1762126"/>
                <a:gd name="connsiteX6" fmla="*/ 503246 w 2381250"/>
                <a:gd name="connsiteY6" fmla="*/ 1762126 h 1762126"/>
                <a:gd name="connsiteX7" fmla="*/ 0 w 2381250"/>
                <a:gd name="connsiteY7" fmla="*/ 1258880 h 1762126"/>
                <a:gd name="connsiteX8" fmla="*/ 0 w 2381250"/>
                <a:gd name="connsiteY8" fmla="*/ 503246 h 1762126"/>
                <a:gd name="connsiteX0" fmla="*/ 503246 w 2381250"/>
                <a:gd name="connsiteY0" fmla="*/ 1762126 h 1762126"/>
                <a:gd name="connsiteX1" fmla="*/ 0 w 2381250"/>
                <a:gd name="connsiteY1" fmla="*/ 503246 h 1762126"/>
                <a:gd name="connsiteX2" fmla="*/ 503246 w 2381250"/>
                <a:gd name="connsiteY2" fmla="*/ 0 h 1762126"/>
                <a:gd name="connsiteX3" fmla="*/ 1878004 w 2381250"/>
                <a:gd name="connsiteY3" fmla="*/ 0 h 1762126"/>
                <a:gd name="connsiteX4" fmla="*/ 2381250 w 2381250"/>
                <a:gd name="connsiteY4" fmla="*/ 503246 h 1762126"/>
                <a:gd name="connsiteX5" fmla="*/ 2381250 w 2381250"/>
                <a:gd name="connsiteY5" fmla="*/ 1258880 h 1762126"/>
                <a:gd name="connsiteX6" fmla="*/ 1878004 w 2381250"/>
                <a:gd name="connsiteY6" fmla="*/ 1762126 h 1762126"/>
                <a:gd name="connsiteX7" fmla="*/ 503246 w 2381250"/>
                <a:gd name="connsiteY7" fmla="*/ 1762126 h 1762126"/>
                <a:gd name="connsiteX0" fmla="*/ 0 w 2381250"/>
                <a:gd name="connsiteY0" fmla="*/ 503246 h 1853566"/>
                <a:gd name="connsiteX1" fmla="*/ 503246 w 2381250"/>
                <a:gd name="connsiteY1" fmla="*/ 0 h 1853566"/>
                <a:gd name="connsiteX2" fmla="*/ 1878004 w 2381250"/>
                <a:gd name="connsiteY2" fmla="*/ 0 h 1853566"/>
                <a:gd name="connsiteX3" fmla="*/ 2381250 w 2381250"/>
                <a:gd name="connsiteY3" fmla="*/ 503246 h 1853566"/>
                <a:gd name="connsiteX4" fmla="*/ 2381250 w 2381250"/>
                <a:gd name="connsiteY4" fmla="*/ 1258880 h 1853566"/>
                <a:gd name="connsiteX5" fmla="*/ 1878004 w 2381250"/>
                <a:gd name="connsiteY5" fmla="*/ 1762126 h 1853566"/>
                <a:gd name="connsiteX6" fmla="*/ 503246 w 2381250"/>
                <a:gd name="connsiteY6" fmla="*/ 1762126 h 1853566"/>
                <a:gd name="connsiteX7" fmla="*/ 0 w 2381250"/>
                <a:gd name="connsiteY7" fmla="*/ 1258880 h 1853566"/>
                <a:gd name="connsiteX8" fmla="*/ 0 w 2381250"/>
                <a:gd name="connsiteY8" fmla="*/ 503246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0 w 2381250"/>
                <a:gd name="connsiteY0" fmla="*/ 503246 h 1853566"/>
                <a:gd name="connsiteX1" fmla="*/ 503246 w 2381250"/>
                <a:gd name="connsiteY1" fmla="*/ 0 h 1853566"/>
                <a:gd name="connsiteX2" fmla="*/ 1209675 w 2381250"/>
                <a:gd name="connsiteY2" fmla="*/ 1 h 1853566"/>
                <a:gd name="connsiteX3" fmla="*/ 1878004 w 2381250"/>
                <a:gd name="connsiteY3" fmla="*/ 0 h 1853566"/>
                <a:gd name="connsiteX4" fmla="*/ 2381250 w 2381250"/>
                <a:gd name="connsiteY4" fmla="*/ 503246 h 1853566"/>
                <a:gd name="connsiteX5" fmla="*/ 2381250 w 2381250"/>
                <a:gd name="connsiteY5" fmla="*/ 1258880 h 1853566"/>
                <a:gd name="connsiteX6" fmla="*/ 1878004 w 2381250"/>
                <a:gd name="connsiteY6" fmla="*/ 1762126 h 1853566"/>
                <a:gd name="connsiteX7" fmla="*/ 503246 w 2381250"/>
                <a:gd name="connsiteY7" fmla="*/ 1762126 h 1853566"/>
                <a:gd name="connsiteX8" fmla="*/ 0 w 2381250"/>
                <a:gd name="connsiteY8" fmla="*/ 1258880 h 1853566"/>
                <a:gd name="connsiteX9" fmla="*/ 0 w 2381250"/>
                <a:gd name="connsiteY9" fmla="*/ 503246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1209675 w 2381250"/>
                <a:gd name="connsiteY0" fmla="*/ 1 h 1853566"/>
                <a:gd name="connsiteX1" fmla="*/ 1878004 w 2381250"/>
                <a:gd name="connsiteY1" fmla="*/ 0 h 1853566"/>
                <a:gd name="connsiteX2" fmla="*/ 2381250 w 2381250"/>
                <a:gd name="connsiteY2" fmla="*/ 503246 h 1853566"/>
                <a:gd name="connsiteX3" fmla="*/ 2381250 w 2381250"/>
                <a:gd name="connsiteY3" fmla="*/ 1258880 h 1853566"/>
                <a:gd name="connsiteX4" fmla="*/ 1878004 w 2381250"/>
                <a:gd name="connsiteY4" fmla="*/ 1762126 h 1853566"/>
                <a:gd name="connsiteX5" fmla="*/ 503246 w 2381250"/>
                <a:gd name="connsiteY5" fmla="*/ 1762126 h 1853566"/>
                <a:gd name="connsiteX6" fmla="*/ 0 w 2381250"/>
                <a:gd name="connsiteY6" fmla="*/ 1258880 h 1853566"/>
                <a:gd name="connsiteX7" fmla="*/ 0 w 2381250"/>
                <a:gd name="connsiteY7" fmla="*/ 503246 h 1853566"/>
                <a:gd name="connsiteX8" fmla="*/ 503246 w 2381250"/>
                <a:gd name="connsiteY8" fmla="*/ 0 h 1853566"/>
                <a:gd name="connsiteX9" fmla="*/ 1301115 w 2381250"/>
                <a:gd name="connsiteY9" fmla="*/ 91441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1209675 w 2381250"/>
                <a:gd name="connsiteY0" fmla="*/ 1 h 1853566"/>
                <a:gd name="connsiteX1" fmla="*/ 1878004 w 2381250"/>
                <a:gd name="connsiteY1" fmla="*/ 0 h 1853566"/>
                <a:gd name="connsiteX2" fmla="*/ 2381250 w 2381250"/>
                <a:gd name="connsiteY2" fmla="*/ 503246 h 1853566"/>
                <a:gd name="connsiteX3" fmla="*/ 2381250 w 2381250"/>
                <a:gd name="connsiteY3" fmla="*/ 1258880 h 1853566"/>
                <a:gd name="connsiteX4" fmla="*/ 1878004 w 2381250"/>
                <a:gd name="connsiteY4" fmla="*/ 1762126 h 1853566"/>
                <a:gd name="connsiteX5" fmla="*/ 503246 w 2381250"/>
                <a:gd name="connsiteY5" fmla="*/ 1762126 h 1853566"/>
                <a:gd name="connsiteX6" fmla="*/ 0 w 2381250"/>
                <a:gd name="connsiteY6" fmla="*/ 1258880 h 1853566"/>
                <a:gd name="connsiteX7" fmla="*/ 0 w 2381250"/>
                <a:gd name="connsiteY7" fmla="*/ 503246 h 1853566"/>
                <a:gd name="connsiteX8" fmla="*/ 503246 w 2381250"/>
                <a:gd name="connsiteY8" fmla="*/ 0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1878004 w 2381250"/>
                <a:gd name="connsiteY0" fmla="*/ 0 h 1853566"/>
                <a:gd name="connsiteX1" fmla="*/ 2381250 w 2381250"/>
                <a:gd name="connsiteY1" fmla="*/ 503246 h 1853566"/>
                <a:gd name="connsiteX2" fmla="*/ 2381250 w 2381250"/>
                <a:gd name="connsiteY2" fmla="*/ 1258880 h 1853566"/>
                <a:gd name="connsiteX3" fmla="*/ 1878004 w 2381250"/>
                <a:gd name="connsiteY3" fmla="*/ 1762126 h 1853566"/>
                <a:gd name="connsiteX4" fmla="*/ 503246 w 2381250"/>
                <a:gd name="connsiteY4" fmla="*/ 1762126 h 1853566"/>
                <a:gd name="connsiteX5" fmla="*/ 0 w 2381250"/>
                <a:gd name="connsiteY5" fmla="*/ 1258880 h 1853566"/>
                <a:gd name="connsiteX6" fmla="*/ 0 w 2381250"/>
                <a:gd name="connsiteY6" fmla="*/ 503246 h 1853566"/>
                <a:gd name="connsiteX7" fmla="*/ 503246 w 2381250"/>
                <a:gd name="connsiteY7" fmla="*/ 0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1878004 w 2381250"/>
                <a:gd name="connsiteY0" fmla="*/ 0 h 1853566"/>
                <a:gd name="connsiteX1" fmla="*/ 2381250 w 2381250"/>
                <a:gd name="connsiteY1" fmla="*/ 503246 h 1853566"/>
                <a:gd name="connsiteX2" fmla="*/ 2381250 w 2381250"/>
                <a:gd name="connsiteY2" fmla="*/ 1258880 h 1853566"/>
                <a:gd name="connsiteX3" fmla="*/ 1878004 w 2381250"/>
                <a:gd name="connsiteY3" fmla="*/ 1762126 h 1853566"/>
                <a:gd name="connsiteX4" fmla="*/ 503246 w 2381250"/>
                <a:gd name="connsiteY4" fmla="*/ 1762126 h 1853566"/>
                <a:gd name="connsiteX5" fmla="*/ 0 w 2381250"/>
                <a:gd name="connsiteY5" fmla="*/ 1258880 h 1853566"/>
                <a:gd name="connsiteX6" fmla="*/ 0 w 2381250"/>
                <a:gd name="connsiteY6" fmla="*/ 503246 h 1853566"/>
                <a:gd name="connsiteX7" fmla="*/ 503246 w 2381250"/>
                <a:gd name="connsiteY7" fmla="*/ 0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2381250 w 2381250"/>
                <a:gd name="connsiteY4" fmla="*/ 503246 h 1853566"/>
                <a:gd name="connsiteX5" fmla="*/ 2381250 w 2381250"/>
                <a:gd name="connsiteY5" fmla="*/ 1258880 h 1853566"/>
                <a:gd name="connsiteX6" fmla="*/ 1878004 w 2381250"/>
                <a:gd name="connsiteY6" fmla="*/ 1762126 h 1853566"/>
                <a:gd name="connsiteX7" fmla="*/ 594686 w 2381250"/>
                <a:gd name="connsiteY7" fmla="*/ 1853566 h 1853566"/>
                <a:gd name="connsiteX0" fmla="*/ 1878004 w 2381250"/>
                <a:gd name="connsiteY0" fmla="*/ 0 h 1853566"/>
                <a:gd name="connsiteX1" fmla="*/ 2381250 w 2381250"/>
                <a:gd name="connsiteY1" fmla="*/ 503246 h 1853566"/>
                <a:gd name="connsiteX2" fmla="*/ 2381250 w 2381250"/>
                <a:gd name="connsiteY2" fmla="*/ 1258880 h 1853566"/>
                <a:gd name="connsiteX3" fmla="*/ 1878004 w 2381250"/>
                <a:gd name="connsiteY3" fmla="*/ 1762126 h 1853566"/>
                <a:gd name="connsiteX4" fmla="*/ 503246 w 2381250"/>
                <a:gd name="connsiteY4" fmla="*/ 1762126 h 1853566"/>
                <a:gd name="connsiteX5" fmla="*/ 0 w 2381250"/>
                <a:gd name="connsiteY5" fmla="*/ 1258880 h 1853566"/>
                <a:gd name="connsiteX6" fmla="*/ 0 w 2381250"/>
                <a:gd name="connsiteY6" fmla="*/ 503246 h 1853566"/>
                <a:gd name="connsiteX7" fmla="*/ 503246 w 2381250"/>
                <a:gd name="connsiteY7" fmla="*/ 0 h 1853566"/>
                <a:gd name="connsiteX0" fmla="*/ 503246 w 2381250"/>
                <a:gd name="connsiteY0" fmla="*/ 1762126 h 1853566"/>
                <a:gd name="connsiteX1" fmla="*/ 0 w 2381250"/>
                <a:gd name="connsiteY1" fmla="*/ 503246 h 1853566"/>
                <a:gd name="connsiteX2" fmla="*/ 503246 w 2381250"/>
                <a:gd name="connsiteY2" fmla="*/ 0 h 1853566"/>
                <a:gd name="connsiteX3" fmla="*/ 2381250 w 2381250"/>
                <a:gd name="connsiteY3" fmla="*/ 503246 h 1853566"/>
                <a:gd name="connsiteX4" fmla="*/ 2381250 w 2381250"/>
                <a:gd name="connsiteY4" fmla="*/ 1258880 h 1853566"/>
                <a:gd name="connsiteX5" fmla="*/ 1878004 w 2381250"/>
                <a:gd name="connsiteY5" fmla="*/ 1762126 h 1853566"/>
                <a:gd name="connsiteX6" fmla="*/ 594686 w 2381250"/>
                <a:gd name="connsiteY6" fmla="*/ 1853566 h 1853566"/>
                <a:gd name="connsiteX0" fmla="*/ 1878004 w 2381250"/>
                <a:gd name="connsiteY0" fmla="*/ 0 h 1853566"/>
                <a:gd name="connsiteX1" fmla="*/ 2381250 w 2381250"/>
                <a:gd name="connsiteY1" fmla="*/ 503246 h 1853566"/>
                <a:gd name="connsiteX2" fmla="*/ 2381250 w 2381250"/>
                <a:gd name="connsiteY2" fmla="*/ 1258880 h 1853566"/>
                <a:gd name="connsiteX3" fmla="*/ 1878004 w 2381250"/>
                <a:gd name="connsiteY3" fmla="*/ 1762126 h 1853566"/>
                <a:gd name="connsiteX4" fmla="*/ 503246 w 2381250"/>
                <a:gd name="connsiteY4" fmla="*/ 1762126 h 1853566"/>
                <a:gd name="connsiteX5" fmla="*/ 0 w 2381250"/>
                <a:gd name="connsiteY5" fmla="*/ 1258880 h 1853566"/>
                <a:gd name="connsiteX6" fmla="*/ 0 w 2381250"/>
                <a:gd name="connsiteY6" fmla="*/ 503246 h 1853566"/>
                <a:gd name="connsiteX7" fmla="*/ 503246 w 2381250"/>
                <a:gd name="connsiteY7" fmla="*/ 0 h 1853566"/>
                <a:gd name="connsiteX0" fmla="*/ 0 w 2381250"/>
                <a:gd name="connsiteY0" fmla="*/ 503246 h 1853566"/>
                <a:gd name="connsiteX1" fmla="*/ 503246 w 2381250"/>
                <a:gd name="connsiteY1" fmla="*/ 0 h 1853566"/>
                <a:gd name="connsiteX2" fmla="*/ 2381250 w 2381250"/>
                <a:gd name="connsiteY2" fmla="*/ 503246 h 1853566"/>
                <a:gd name="connsiteX3" fmla="*/ 2381250 w 2381250"/>
                <a:gd name="connsiteY3" fmla="*/ 1258880 h 1853566"/>
                <a:gd name="connsiteX4" fmla="*/ 1878004 w 2381250"/>
                <a:gd name="connsiteY4" fmla="*/ 1762126 h 1853566"/>
                <a:gd name="connsiteX5" fmla="*/ 594686 w 2381250"/>
                <a:gd name="connsiteY5" fmla="*/ 1853566 h 1853566"/>
                <a:gd name="connsiteX0" fmla="*/ 1878004 w 2381250"/>
                <a:gd name="connsiteY0" fmla="*/ 0 h 1762126"/>
                <a:gd name="connsiteX1" fmla="*/ 2381250 w 2381250"/>
                <a:gd name="connsiteY1" fmla="*/ 503246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4" fmla="*/ 503246 w 2381250"/>
                <a:gd name="connsiteY4" fmla="*/ 1762126 h 1762126"/>
                <a:gd name="connsiteX5" fmla="*/ 0 w 2381250"/>
                <a:gd name="connsiteY5" fmla="*/ 1258880 h 1762126"/>
                <a:gd name="connsiteX6" fmla="*/ 0 w 2381250"/>
                <a:gd name="connsiteY6" fmla="*/ 503246 h 1762126"/>
                <a:gd name="connsiteX7" fmla="*/ 503246 w 2381250"/>
                <a:gd name="connsiteY7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503246 h 1762126"/>
                <a:gd name="connsiteX3" fmla="*/ 2381250 w 2381250"/>
                <a:gd name="connsiteY3" fmla="*/ 1258880 h 1762126"/>
                <a:gd name="connsiteX4" fmla="*/ 1878004 w 2381250"/>
                <a:gd name="connsiteY4" fmla="*/ 1762126 h 1762126"/>
                <a:gd name="connsiteX0" fmla="*/ 1878004 w 2381250"/>
                <a:gd name="connsiteY0" fmla="*/ 0 h 1762126"/>
                <a:gd name="connsiteX1" fmla="*/ 2381250 w 2381250"/>
                <a:gd name="connsiteY1" fmla="*/ 503246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4" fmla="*/ 0 w 2381250"/>
                <a:gd name="connsiteY4" fmla="*/ 1258880 h 1762126"/>
                <a:gd name="connsiteX5" fmla="*/ 0 w 2381250"/>
                <a:gd name="connsiteY5" fmla="*/ 503246 h 1762126"/>
                <a:gd name="connsiteX6" fmla="*/ 503246 w 2381250"/>
                <a:gd name="connsiteY6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503246 h 1762126"/>
                <a:gd name="connsiteX3" fmla="*/ 2381250 w 2381250"/>
                <a:gd name="connsiteY3" fmla="*/ 1258880 h 1762126"/>
                <a:gd name="connsiteX4" fmla="*/ 1878004 w 2381250"/>
                <a:gd name="connsiteY4" fmla="*/ 1762126 h 1762126"/>
                <a:gd name="connsiteX0" fmla="*/ 1878004 w 2381250"/>
                <a:gd name="connsiteY0" fmla="*/ 0 h 1762126"/>
                <a:gd name="connsiteX1" fmla="*/ 2381250 w 2381250"/>
                <a:gd name="connsiteY1" fmla="*/ 503246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4" fmla="*/ 0 w 2381250"/>
                <a:gd name="connsiteY4" fmla="*/ 503246 h 1762126"/>
                <a:gd name="connsiteX5" fmla="*/ 503246 w 2381250"/>
                <a:gd name="connsiteY5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503246 h 1762126"/>
                <a:gd name="connsiteX3" fmla="*/ 2381250 w 2381250"/>
                <a:gd name="connsiteY3" fmla="*/ 1258880 h 1762126"/>
                <a:gd name="connsiteX4" fmla="*/ 1878004 w 2381250"/>
                <a:gd name="connsiteY4" fmla="*/ 1762126 h 1762126"/>
                <a:gd name="connsiteX0" fmla="*/ 2381250 w 2381250"/>
                <a:gd name="connsiteY0" fmla="*/ 503246 h 1762126"/>
                <a:gd name="connsiteX1" fmla="*/ 2381250 w 2381250"/>
                <a:gd name="connsiteY1" fmla="*/ 1258880 h 1762126"/>
                <a:gd name="connsiteX2" fmla="*/ 1878004 w 2381250"/>
                <a:gd name="connsiteY2" fmla="*/ 1762126 h 1762126"/>
                <a:gd name="connsiteX3" fmla="*/ 0 w 2381250"/>
                <a:gd name="connsiteY3" fmla="*/ 503246 h 1762126"/>
                <a:gd name="connsiteX4" fmla="*/ 503246 w 2381250"/>
                <a:gd name="connsiteY4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503246 h 1762126"/>
                <a:gd name="connsiteX3" fmla="*/ 2381250 w 2381250"/>
                <a:gd name="connsiteY3" fmla="*/ 1258880 h 1762126"/>
                <a:gd name="connsiteX4" fmla="*/ 1878004 w 2381250"/>
                <a:gd name="connsiteY4" fmla="*/ 1762126 h 1762126"/>
                <a:gd name="connsiteX0" fmla="*/ 2381250 w 2381250"/>
                <a:gd name="connsiteY0" fmla="*/ 503246 h 1762126"/>
                <a:gd name="connsiteX1" fmla="*/ 2381250 w 2381250"/>
                <a:gd name="connsiteY1" fmla="*/ 1258880 h 1762126"/>
                <a:gd name="connsiteX2" fmla="*/ 1878004 w 2381250"/>
                <a:gd name="connsiteY2" fmla="*/ 1762126 h 1762126"/>
                <a:gd name="connsiteX3" fmla="*/ 0 w 2381250"/>
                <a:gd name="connsiteY3" fmla="*/ 503246 h 1762126"/>
                <a:gd name="connsiteX4" fmla="*/ 503246 w 2381250"/>
                <a:gd name="connsiteY4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0" fmla="*/ 2381250 w 2381250"/>
                <a:gd name="connsiteY0" fmla="*/ 1258880 h 1762126"/>
                <a:gd name="connsiteX1" fmla="*/ 1878004 w 2381250"/>
                <a:gd name="connsiteY1" fmla="*/ 1762126 h 1762126"/>
                <a:gd name="connsiteX2" fmla="*/ 0 w 2381250"/>
                <a:gd name="connsiteY2" fmla="*/ 503246 h 1762126"/>
                <a:gd name="connsiteX3" fmla="*/ 503246 w 2381250"/>
                <a:gd name="connsiteY3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0" fmla="*/ 2381250 w 2381250"/>
                <a:gd name="connsiteY0" fmla="*/ 1258880 h 1762126"/>
                <a:gd name="connsiteX1" fmla="*/ 1878004 w 2381250"/>
                <a:gd name="connsiteY1" fmla="*/ 1762126 h 1762126"/>
                <a:gd name="connsiteX2" fmla="*/ 0 w 2381250"/>
                <a:gd name="connsiteY2" fmla="*/ 503246 h 1762126"/>
                <a:gd name="connsiteX3" fmla="*/ 503246 w 2381250"/>
                <a:gd name="connsiteY3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0" fmla="*/ 1878004 w 1878004"/>
                <a:gd name="connsiteY0" fmla="*/ 1762126 h 1762126"/>
                <a:gd name="connsiteX1" fmla="*/ 0 w 1878004"/>
                <a:gd name="connsiteY1" fmla="*/ 503246 h 1762126"/>
                <a:gd name="connsiteX2" fmla="*/ 503246 w 1878004"/>
                <a:gd name="connsiteY2" fmla="*/ 0 h 1762126"/>
                <a:gd name="connsiteX0" fmla="*/ 0 w 1878004"/>
                <a:gd name="connsiteY0" fmla="*/ 503246 h 1762126"/>
                <a:gd name="connsiteX1" fmla="*/ 503246 w 1878004"/>
                <a:gd name="connsiteY1" fmla="*/ 0 h 1762126"/>
                <a:gd name="connsiteX0" fmla="*/ 0 w 503246"/>
                <a:gd name="connsiteY0" fmla="*/ 503246 h 503246"/>
                <a:gd name="connsiteX1" fmla="*/ 503246 w 503246"/>
                <a:gd name="connsiteY1" fmla="*/ 0 h 503246"/>
                <a:gd name="connsiteX0" fmla="*/ 0 w 503246"/>
                <a:gd name="connsiteY0" fmla="*/ 503246 h 503246"/>
                <a:gd name="connsiteX1" fmla="*/ 503246 w 503246"/>
                <a:gd name="connsiteY1" fmla="*/ 0 h 503246"/>
                <a:gd name="connsiteX0" fmla="*/ 2880 w 506126"/>
                <a:gd name="connsiteY0" fmla="*/ 503246 h 503246"/>
                <a:gd name="connsiteX1" fmla="*/ 506126 w 506126"/>
                <a:gd name="connsiteY1" fmla="*/ 0 h 503246"/>
                <a:gd name="connsiteX0" fmla="*/ 2880 w 506126"/>
                <a:gd name="connsiteY0" fmla="*/ 503246 h 503246"/>
                <a:gd name="connsiteX1" fmla="*/ 0 w 506126"/>
                <a:gd name="connsiteY1" fmla="*/ 498555 h 503246"/>
                <a:gd name="connsiteX2" fmla="*/ 506126 w 506126"/>
                <a:gd name="connsiteY2" fmla="*/ 0 h 503246"/>
                <a:gd name="connsiteX0" fmla="*/ 987 w 504233"/>
                <a:gd name="connsiteY0" fmla="*/ 503246 h 503246"/>
                <a:gd name="connsiteX1" fmla="*/ 504233 w 504233"/>
                <a:gd name="connsiteY1" fmla="*/ 0 h 503246"/>
                <a:gd name="connsiteX0" fmla="*/ 987 w 504233"/>
                <a:gd name="connsiteY0" fmla="*/ 503246 h 503246"/>
                <a:gd name="connsiteX1" fmla="*/ 0 w 504233"/>
                <a:gd name="connsiteY1" fmla="*/ 415260 h 503246"/>
                <a:gd name="connsiteX2" fmla="*/ 504233 w 504233"/>
                <a:gd name="connsiteY2" fmla="*/ 0 h 503246"/>
                <a:gd name="connsiteX0" fmla="*/ 5680 w 508926"/>
                <a:gd name="connsiteY0" fmla="*/ 503246 h 1661839"/>
                <a:gd name="connsiteX1" fmla="*/ 508926 w 508926"/>
                <a:gd name="connsiteY1" fmla="*/ 0 h 1661839"/>
                <a:gd name="connsiteX0" fmla="*/ 0 w 508926"/>
                <a:gd name="connsiteY0" fmla="*/ 1661839 h 1661839"/>
                <a:gd name="connsiteX1" fmla="*/ 4693 w 508926"/>
                <a:gd name="connsiteY1" fmla="*/ 415260 h 1661839"/>
                <a:gd name="connsiteX2" fmla="*/ 508926 w 508926"/>
                <a:gd name="connsiteY2" fmla="*/ 0 h 1661839"/>
                <a:gd name="connsiteX0" fmla="*/ 5680 w 508926"/>
                <a:gd name="connsiteY0" fmla="*/ 503246 h 1661839"/>
                <a:gd name="connsiteX1" fmla="*/ 508926 w 508926"/>
                <a:gd name="connsiteY1" fmla="*/ 0 h 1661839"/>
                <a:gd name="connsiteX0" fmla="*/ 0 w 508926"/>
                <a:gd name="connsiteY0" fmla="*/ 1661839 h 1661839"/>
                <a:gd name="connsiteX1" fmla="*/ 4693 w 508926"/>
                <a:gd name="connsiteY1" fmla="*/ 509916 h 1661839"/>
                <a:gd name="connsiteX2" fmla="*/ 508926 w 508926"/>
                <a:gd name="connsiteY2" fmla="*/ 0 h 1661839"/>
                <a:gd name="connsiteX0" fmla="*/ 5680 w 508926"/>
                <a:gd name="connsiteY0" fmla="*/ 503246 h 3880192"/>
                <a:gd name="connsiteX1" fmla="*/ 508926 w 508926"/>
                <a:gd name="connsiteY1" fmla="*/ 0 h 3880192"/>
                <a:gd name="connsiteX0" fmla="*/ 0 w 508926"/>
                <a:gd name="connsiteY0" fmla="*/ 3880192 h 3880192"/>
                <a:gd name="connsiteX1" fmla="*/ 4693 w 508926"/>
                <a:gd name="connsiteY1" fmla="*/ 509916 h 3880192"/>
                <a:gd name="connsiteX2" fmla="*/ 508926 w 508926"/>
                <a:gd name="connsiteY2" fmla="*/ 0 h 3880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8926" h="3880192" stroke="0" extrusionOk="0">
                  <a:moveTo>
                    <a:pt x="5680" y="503246"/>
                  </a:moveTo>
                  <a:cubicBezTo>
                    <a:pt x="5680" y="225311"/>
                    <a:pt x="230991" y="0"/>
                    <a:pt x="508926" y="0"/>
                  </a:cubicBezTo>
                </a:path>
                <a:path w="508926" h="3880192" fill="none">
                  <a:moveTo>
                    <a:pt x="0" y="3880192"/>
                  </a:moveTo>
                  <a:cubicBezTo>
                    <a:pt x="1564" y="3464666"/>
                    <a:pt x="3129" y="925442"/>
                    <a:pt x="4693" y="509916"/>
                  </a:cubicBezTo>
                  <a:cubicBezTo>
                    <a:pt x="7573" y="236672"/>
                    <a:pt x="230991" y="0"/>
                    <a:pt x="508926" y="0"/>
                  </a:cubicBezTo>
                </a:path>
              </a:pathLst>
            </a:custGeom>
            <a:noFill/>
            <a:ln w="63500" cap="rnd">
              <a:solidFill>
                <a:srgbClr val="C1007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53" name="Conexão reta 152">
              <a:extLst>
                <a:ext uri="{FF2B5EF4-FFF2-40B4-BE49-F238E27FC236}">
                  <a16:creationId xmlns:a16="http://schemas.microsoft.com/office/drawing/2014/main" id="{4341ADA2-07B7-4243-9257-6FF45EB8F83B}"/>
                </a:ext>
              </a:extLst>
            </p:cNvPr>
            <p:cNvCxnSpPr/>
            <p:nvPr/>
          </p:nvCxnSpPr>
          <p:spPr>
            <a:xfrm>
              <a:off x="6377698" y="1597469"/>
              <a:ext cx="5638090" cy="0"/>
            </a:xfrm>
            <a:prstGeom prst="line">
              <a:avLst/>
            </a:prstGeom>
            <a:ln w="63500" cap="rnd">
              <a:solidFill>
                <a:srgbClr val="C1007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10BB757-275F-418C-8559-F2768C131D97}"/>
              </a:ext>
            </a:extLst>
          </p:cNvPr>
          <p:cNvGrpSpPr/>
          <p:nvPr/>
        </p:nvGrpSpPr>
        <p:grpSpPr>
          <a:xfrm>
            <a:off x="2942236" y="2064773"/>
            <a:ext cx="8714835" cy="4311465"/>
            <a:chOff x="2942236" y="2064773"/>
            <a:chExt cx="8714835" cy="431146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E168877-B73D-4F23-84BB-AE34F12ADC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161" r="56165"/>
            <a:stretch/>
          </p:blipFill>
          <p:spPr>
            <a:xfrm>
              <a:off x="2942236" y="2133599"/>
              <a:ext cx="4413604" cy="4242639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8C34169-D8D3-43E7-BD95-3E40C6FD8E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6875" t="1590" r="404"/>
            <a:stretch/>
          </p:blipFill>
          <p:spPr>
            <a:xfrm>
              <a:off x="7355840" y="2064773"/>
              <a:ext cx="4301231" cy="4311465"/>
            </a:xfrm>
            <a:prstGeom prst="rect">
              <a:avLst/>
            </a:prstGeom>
          </p:spPr>
        </p:pic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9D371F43-9B2D-4BF3-A58E-F24678102D73}"/>
              </a:ext>
            </a:extLst>
          </p:cNvPr>
          <p:cNvSpPr/>
          <p:nvPr/>
        </p:nvSpPr>
        <p:spPr>
          <a:xfrm>
            <a:off x="0" y="1173856"/>
            <a:ext cx="2581158" cy="2302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buClr>
                <a:srgbClr val="77933C"/>
              </a:buClr>
            </a:pPr>
            <a:r>
              <a:rPr lang="pt-PT" sz="1300" b="1" dirty="0">
                <a:solidFill>
                  <a:srgbClr val="C10076"/>
                </a:solidFill>
                <a:latin typeface="Trebuchet MS" panose="020B0603020202020204" pitchFamily="34" charset="0"/>
              </a:rPr>
              <a:t>Duplo mecanismo de </a:t>
            </a:r>
            <a:r>
              <a:rPr lang="pt-PT" sz="1300" b="1" dirty="0" err="1">
                <a:solidFill>
                  <a:srgbClr val="C10076"/>
                </a:solidFill>
                <a:latin typeface="Trebuchet MS" panose="020B0603020202020204" pitchFamily="34" charset="0"/>
              </a:rPr>
              <a:t>acção</a:t>
            </a:r>
            <a:r>
              <a:rPr lang="pt-PT" sz="1300" b="1" dirty="0">
                <a:solidFill>
                  <a:srgbClr val="C10076"/>
                </a:solidFill>
                <a:latin typeface="Trebuchet MS" panose="020B0603020202020204" pitchFamily="34" charset="0"/>
              </a:rPr>
              <a:t>: </a:t>
            </a:r>
            <a:r>
              <a:rPr lang="pt-PT" sz="1300" dirty="0" err="1">
                <a:solidFill>
                  <a:schemeClr val="bg1"/>
                </a:solidFill>
                <a:latin typeface="Trebuchet MS" panose="020B0603020202020204" pitchFamily="34" charset="0"/>
              </a:rPr>
              <a:t>actua</a:t>
            </a: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 no útero e no colo do útero (amadurecimento, dilatação, amolecimento).</a:t>
            </a:r>
          </a:p>
          <a:p>
            <a:pPr>
              <a:lnSpc>
                <a:spcPct val="85000"/>
              </a:lnSpc>
              <a:buClr>
                <a:srgbClr val="77933C"/>
              </a:buClr>
            </a:pPr>
            <a:endParaRPr lang="pt-PT" sz="1300" dirty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>
              <a:lnSpc>
                <a:spcPct val="85000"/>
              </a:lnSpc>
              <a:buClr>
                <a:srgbClr val="77933C"/>
              </a:buClr>
            </a:pP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Imita o</a:t>
            </a:r>
            <a:r>
              <a:rPr lang="pt-PT" sz="1300" dirty="0">
                <a:solidFill>
                  <a:srgbClr val="231F20"/>
                </a:solidFill>
                <a:latin typeface="Trebuchet MS" panose="020B0603020202020204" pitchFamily="34" charset="0"/>
              </a:rPr>
              <a:t> </a:t>
            </a:r>
            <a:r>
              <a:rPr lang="pt-PT" sz="1300" b="1" dirty="0">
                <a:solidFill>
                  <a:srgbClr val="C10076"/>
                </a:solidFill>
                <a:latin typeface="Trebuchet MS" panose="020B0603020202020204" pitchFamily="34" charset="0"/>
              </a:rPr>
              <a:t>processo natural </a:t>
            </a: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do parto.</a:t>
            </a:r>
          </a:p>
          <a:p>
            <a:pPr>
              <a:lnSpc>
                <a:spcPct val="85000"/>
              </a:lnSpc>
              <a:buClr>
                <a:srgbClr val="77933C"/>
              </a:buClr>
            </a:pPr>
            <a:endParaRPr lang="pt-PT" sz="1300" dirty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>
              <a:lnSpc>
                <a:spcPct val="85000"/>
              </a:lnSpc>
              <a:buClr>
                <a:srgbClr val="77933C"/>
              </a:buClr>
            </a:pP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Eficaz em </a:t>
            </a:r>
            <a:r>
              <a:rPr lang="pt-PT" sz="1300" b="1" dirty="0">
                <a:solidFill>
                  <a:srgbClr val="C10076"/>
                </a:solidFill>
                <a:latin typeface="Trebuchet MS" panose="020B0603020202020204" pitchFamily="34" charset="0"/>
              </a:rPr>
              <a:t>colo do útero imaturo</a:t>
            </a: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.</a:t>
            </a:r>
          </a:p>
          <a:p>
            <a:pPr>
              <a:lnSpc>
                <a:spcPct val="85000"/>
              </a:lnSpc>
              <a:buClr>
                <a:srgbClr val="77933C"/>
              </a:buClr>
            </a:pPr>
            <a:endParaRPr lang="pt-PT" sz="1300" dirty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>
              <a:lnSpc>
                <a:spcPct val="85000"/>
              </a:lnSpc>
              <a:buClr>
                <a:srgbClr val="77933C"/>
              </a:buClr>
            </a:pP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Maior probabilidade de </a:t>
            </a:r>
            <a:r>
              <a:rPr lang="pt-PT" sz="1300" b="1" dirty="0">
                <a:solidFill>
                  <a:srgbClr val="C10076"/>
                </a:solidFill>
                <a:latin typeface="Trebuchet MS" panose="020B0603020202020204" pitchFamily="34" charset="0"/>
              </a:rPr>
              <a:t>parto vaginal</a:t>
            </a: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 (81% às 24h).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688BC5-C7A9-4B24-AEDA-98B26478F7F3}"/>
              </a:ext>
            </a:extLst>
          </p:cNvPr>
          <p:cNvSpPr/>
          <p:nvPr/>
        </p:nvSpPr>
        <p:spPr>
          <a:xfrm>
            <a:off x="0" y="4457353"/>
            <a:ext cx="2453951" cy="1452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buClr>
                <a:srgbClr val="77933C"/>
              </a:buClr>
            </a:pPr>
            <a:r>
              <a:rPr lang="pt-PT" sz="1300" b="1" dirty="0">
                <a:solidFill>
                  <a:srgbClr val="6FCBBC"/>
                </a:solidFill>
                <a:latin typeface="Trebuchet MS" panose="020B0603020202020204" pitchFamily="34" charset="0"/>
              </a:rPr>
              <a:t>Mecanismo de </a:t>
            </a:r>
            <a:r>
              <a:rPr lang="pt-PT" sz="1300" b="1" dirty="0" err="1">
                <a:solidFill>
                  <a:srgbClr val="6FCBBC"/>
                </a:solidFill>
                <a:latin typeface="Trebuchet MS" panose="020B0603020202020204" pitchFamily="34" charset="0"/>
              </a:rPr>
              <a:t>acção</a:t>
            </a:r>
            <a:r>
              <a:rPr lang="pt-PT" sz="1300" b="1" dirty="0">
                <a:solidFill>
                  <a:srgbClr val="6FCBBC"/>
                </a:solidFill>
                <a:latin typeface="Trebuchet MS" panose="020B0603020202020204" pitchFamily="34" charset="0"/>
              </a:rPr>
              <a:t> simples: </a:t>
            </a:r>
            <a:r>
              <a:rPr lang="pt-PT" sz="1300" dirty="0" err="1">
                <a:solidFill>
                  <a:schemeClr val="bg1"/>
                </a:solidFill>
                <a:latin typeface="Trebuchet MS" panose="020B0603020202020204" pitchFamily="34" charset="0"/>
              </a:rPr>
              <a:t>actua</a:t>
            </a: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 apenas no útero.</a:t>
            </a:r>
          </a:p>
          <a:p>
            <a:pPr>
              <a:lnSpc>
                <a:spcPct val="85000"/>
              </a:lnSpc>
              <a:buClr>
                <a:srgbClr val="77933C"/>
              </a:buClr>
            </a:pPr>
            <a:endParaRPr lang="pt-PT" sz="1300" dirty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>
              <a:lnSpc>
                <a:spcPct val="85000"/>
              </a:lnSpc>
              <a:buClr>
                <a:srgbClr val="77933C"/>
              </a:buClr>
            </a:pP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Só é eficaz em casos de </a:t>
            </a:r>
            <a:r>
              <a:rPr lang="pt-PT" sz="1300" b="1" dirty="0">
                <a:solidFill>
                  <a:srgbClr val="6FCBBC"/>
                </a:solidFill>
                <a:latin typeface="Trebuchet MS" panose="020B0603020202020204" pitchFamily="34" charset="0"/>
              </a:rPr>
              <a:t>colo do útero maduro</a:t>
            </a:r>
            <a:r>
              <a:rPr lang="pt-PT" sz="1300" dirty="0">
                <a:solidFill>
                  <a:srgbClr val="6FCBBC"/>
                </a:solidFill>
                <a:latin typeface="Trebuchet MS" panose="020B0603020202020204" pitchFamily="34" charset="0"/>
              </a:rPr>
              <a:t>.</a:t>
            </a:r>
          </a:p>
          <a:p>
            <a:pPr>
              <a:lnSpc>
                <a:spcPct val="85000"/>
              </a:lnSpc>
              <a:buClr>
                <a:srgbClr val="77933C"/>
              </a:buClr>
            </a:pPr>
            <a:endParaRPr lang="pt-PT" sz="1300" dirty="0">
              <a:solidFill>
                <a:srgbClr val="6FCBBC"/>
              </a:solidFill>
              <a:latin typeface="Trebuchet MS" panose="020B0603020202020204" pitchFamily="34" charset="0"/>
            </a:endParaRPr>
          </a:p>
          <a:p>
            <a:pPr>
              <a:lnSpc>
                <a:spcPct val="85000"/>
              </a:lnSpc>
              <a:buClr>
                <a:srgbClr val="77933C"/>
              </a:buClr>
            </a:pPr>
            <a:r>
              <a:rPr lang="pt-PT" sz="1300" b="1" dirty="0">
                <a:solidFill>
                  <a:srgbClr val="6FCBBC"/>
                </a:solidFill>
                <a:latin typeface="Trebuchet MS" panose="020B0603020202020204" pitchFamily="34" charset="0"/>
              </a:rPr>
              <a:t>Taxa de cesariana superior </a:t>
            </a: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(36% </a:t>
            </a:r>
            <a:r>
              <a:rPr lang="pt-PT" sz="1300" dirty="0" err="1">
                <a:solidFill>
                  <a:schemeClr val="bg1"/>
                </a:solidFill>
                <a:latin typeface="Trebuchet MS" panose="020B0603020202020204" pitchFamily="34" charset="0"/>
              </a:rPr>
              <a:t>vs</a:t>
            </a: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 19%).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BDE3BA-0226-488E-8327-4A843FA4F169}"/>
              </a:ext>
            </a:extLst>
          </p:cNvPr>
          <p:cNvSpPr txBox="1"/>
          <p:nvPr/>
        </p:nvSpPr>
        <p:spPr>
          <a:xfrm>
            <a:off x="171461" y="692095"/>
            <a:ext cx="2282490" cy="369332"/>
          </a:xfrm>
          <a:prstGeom prst="rect">
            <a:avLst/>
          </a:prstGeom>
          <a:solidFill>
            <a:srgbClr val="C10076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MISOPROSTOL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2E9A83-2BB2-4EDB-B325-71B7C07AA3E6}"/>
              </a:ext>
            </a:extLst>
          </p:cNvPr>
          <p:cNvSpPr txBox="1"/>
          <p:nvPr/>
        </p:nvSpPr>
        <p:spPr>
          <a:xfrm>
            <a:off x="171461" y="3959673"/>
            <a:ext cx="2282490" cy="369332"/>
          </a:xfrm>
          <a:prstGeom prst="rect">
            <a:avLst/>
          </a:prstGeom>
          <a:solidFill>
            <a:srgbClr val="6FCBBC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OXITOCINA</a:t>
            </a:r>
          </a:p>
        </p:txBody>
      </p:sp>
    </p:spTree>
    <p:extLst>
      <p:ext uri="{BB962C8B-B14F-4D97-AF65-F5344CB8AC3E}">
        <p14:creationId xmlns:p14="http://schemas.microsoft.com/office/powerpoint/2010/main" val="4010925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tângulo 48">
            <a:extLst>
              <a:ext uri="{FF2B5EF4-FFF2-40B4-BE49-F238E27FC236}">
                <a16:creationId xmlns:a16="http://schemas.microsoft.com/office/drawing/2014/main" id="{E7691C12-D9BE-4BA0-9339-EC3C1D89BF1A}"/>
              </a:ext>
            </a:extLst>
          </p:cNvPr>
          <p:cNvSpPr/>
          <p:nvPr/>
        </p:nvSpPr>
        <p:spPr>
          <a:xfrm>
            <a:off x="0" y="0"/>
            <a:ext cx="2581158" cy="6858000"/>
          </a:xfrm>
          <a:prstGeom prst="rect">
            <a:avLst/>
          </a:prstGeom>
          <a:solidFill>
            <a:srgbClr val="CF84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21">
            <a:extLst>
              <a:ext uri="{FF2B5EF4-FFF2-40B4-BE49-F238E27FC236}">
                <a16:creationId xmlns:a16="http://schemas.microsoft.com/office/drawing/2014/main" id="{A2F65322-8D00-4B36-B6D3-749AC23A2CD3}"/>
              </a:ext>
            </a:extLst>
          </p:cNvPr>
          <p:cNvSpPr txBox="1"/>
          <p:nvPr/>
        </p:nvSpPr>
        <p:spPr>
          <a:xfrm>
            <a:off x="3379369" y="559668"/>
            <a:ext cx="49787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6000" b="1" i="0" u="none" strike="noStrike" cap="none" normalizeH="0" baseline="0" noProof="0" dirty="0">
                <a:ln>
                  <a:noFill/>
                </a:ln>
                <a:solidFill>
                  <a:srgbClr val="CF84AE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MISOFAR 25</a:t>
            </a:r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id="{4E31CA48-917B-420E-AD87-D84B5423884F}"/>
              </a:ext>
            </a:extLst>
          </p:cNvPr>
          <p:cNvSpPr txBox="1"/>
          <p:nvPr/>
        </p:nvSpPr>
        <p:spPr>
          <a:xfrm>
            <a:off x="3458448" y="354527"/>
            <a:ext cx="4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CONCORRENTES DE </a:t>
            </a:r>
          </a:p>
        </p:txBody>
      </p:sp>
      <p:grpSp>
        <p:nvGrpSpPr>
          <p:cNvPr id="154" name="Agrupar 153">
            <a:extLst>
              <a:ext uri="{FF2B5EF4-FFF2-40B4-BE49-F238E27FC236}">
                <a16:creationId xmlns:a16="http://schemas.microsoft.com/office/drawing/2014/main" id="{111C2864-7C55-4791-A4CC-4E25ADF0998A}"/>
              </a:ext>
            </a:extLst>
          </p:cNvPr>
          <p:cNvGrpSpPr/>
          <p:nvPr/>
        </p:nvGrpSpPr>
        <p:grpSpPr>
          <a:xfrm>
            <a:off x="2834588" y="957321"/>
            <a:ext cx="9181200" cy="640148"/>
            <a:chOff x="2834588" y="957321"/>
            <a:chExt cx="9181200" cy="640148"/>
          </a:xfrm>
        </p:grpSpPr>
        <p:sp>
          <p:nvSpPr>
            <p:cNvPr id="64" name="Double Bracket 14">
              <a:extLst>
                <a:ext uri="{FF2B5EF4-FFF2-40B4-BE49-F238E27FC236}">
                  <a16:creationId xmlns:a16="http://schemas.microsoft.com/office/drawing/2014/main" id="{F3A9B49C-19BB-49E1-B678-B789429A0019}"/>
                </a:ext>
              </a:extLst>
            </p:cNvPr>
            <p:cNvSpPr/>
            <p:nvPr/>
          </p:nvSpPr>
          <p:spPr>
            <a:xfrm rot="16200000">
              <a:off x="4954845" y="-1162936"/>
              <a:ext cx="640148" cy="4880662"/>
            </a:xfrm>
            <a:custGeom>
              <a:avLst/>
              <a:gdLst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1878004 w 2381250"/>
                <a:gd name="connsiteY2" fmla="*/ 0 h 1762126"/>
                <a:gd name="connsiteX3" fmla="*/ 2381250 w 2381250"/>
                <a:gd name="connsiteY3" fmla="*/ 503246 h 1762126"/>
                <a:gd name="connsiteX4" fmla="*/ 2381250 w 2381250"/>
                <a:gd name="connsiteY4" fmla="*/ 1258880 h 1762126"/>
                <a:gd name="connsiteX5" fmla="*/ 1878004 w 2381250"/>
                <a:gd name="connsiteY5" fmla="*/ 1762126 h 1762126"/>
                <a:gd name="connsiteX6" fmla="*/ 503246 w 2381250"/>
                <a:gd name="connsiteY6" fmla="*/ 1762126 h 1762126"/>
                <a:gd name="connsiteX7" fmla="*/ 0 w 2381250"/>
                <a:gd name="connsiteY7" fmla="*/ 1258880 h 1762126"/>
                <a:gd name="connsiteX8" fmla="*/ 0 w 2381250"/>
                <a:gd name="connsiteY8" fmla="*/ 503246 h 1762126"/>
                <a:gd name="connsiteX0" fmla="*/ 503246 w 2381250"/>
                <a:gd name="connsiteY0" fmla="*/ 1762126 h 1762126"/>
                <a:gd name="connsiteX1" fmla="*/ 0 w 2381250"/>
                <a:gd name="connsiteY1" fmla="*/ 1258880 h 1762126"/>
                <a:gd name="connsiteX2" fmla="*/ 0 w 2381250"/>
                <a:gd name="connsiteY2" fmla="*/ 503246 h 1762126"/>
                <a:gd name="connsiteX3" fmla="*/ 503246 w 2381250"/>
                <a:gd name="connsiteY3" fmla="*/ 0 h 1762126"/>
                <a:gd name="connsiteX4" fmla="*/ 1878004 w 2381250"/>
                <a:gd name="connsiteY4" fmla="*/ 0 h 1762126"/>
                <a:gd name="connsiteX5" fmla="*/ 2381250 w 2381250"/>
                <a:gd name="connsiteY5" fmla="*/ 503246 h 1762126"/>
                <a:gd name="connsiteX6" fmla="*/ 2381250 w 2381250"/>
                <a:gd name="connsiteY6" fmla="*/ 1258880 h 1762126"/>
                <a:gd name="connsiteX7" fmla="*/ 1878004 w 2381250"/>
                <a:gd name="connsiteY7" fmla="*/ 1762126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1878004 w 2381250"/>
                <a:gd name="connsiteY2" fmla="*/ 0 h 1762126"/>
                <a:gd name="connsiteX3" fmla="*/ 2381250 w 2381250"/>
                <a:gd name="connsiteY3" fmla="*/ 503246 h 1762126"/>
                <a:gd name="connsiteX4" fmla="*/ 2381250 w 2381250"/>
                <a:gd name="connsiteY4" fmla="*/ 1258880 h 1762126"/>
                <a:gd name="connsiteX5" fmla="*/ 1878004 w 2381250"/>
                <a:gd name="connsiteY5" fmla="*/ 1762126 h 1762126"/>
                <a:gd name="connsiteX6" fmla="*/ 503246 w 2381250"/>
                <a:gd name="connsiteY6" fmla="*/ 1762126 h 1762126"/>
                <a:gd name="connsiteX7" fmla="*/ 0 w 2381250"/>
                <a:gd name="connsiteY7" fmla="*/ 1258880 h 1762126"/>
                <a:gd name="connsiteX8" fmla="*/ 0 w 2381250"/>
                <a:gd name="connsiteY8" fmla="*/ 503246 h 1762126"/>
                <a:gd name="connsiteX0" fmla="*/ 503246 w 2381250"/>
                <a:gd name="connsiteY0" fmla="*/ 1762126 h 1762126"/>
                <a:gd name="connsiteX1" fmla="*/ 0 w 2381250"/>
                <a:gd name="connsiteY1" fmla="*/ 503246 h 1762126"/>
                <a:gd name="connsiteX2" fmla="*/ 503246 w 2381250"/>
                <a:gd name="connsiteY2" fmla="*/ 0 h 1762126"/>
                <a:gd name="connsiteX3" fmla="*/ 1878004 w 2381250"/>
                <a:gd name="connsiteY3" fmla="*/ 0 h 1762126"/>
                <a:gd name="connsiteX4" fmla="*/ 2381250 w 2381250"/>
                <a:gd name="connsiteY4" fmla="*/ 503246 h 1762126"/>
                <a:gd name="connsiteX5" fmla="*/ 2381250 w 2381250"/>
                <a:gd name="connsiteY5" fmla="*/ 1258880 h 1762126"/>
                <a:gd name="connsiteX6" fmla="*/ 1878004 w 2381250"/>
                <a:gd name="connsiteY6" fmla="*/ 1762126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1878004 w 2381250"/>
                <a:gd name="connsiteY2" fmla="*/ 0 h 1762126"/>
                <a:gd name="connsiteX3" fmla="*/ 2381250 w 2381250"/>
                <a:gd name="connsiteY3" fmla="*/ 503246 h 1762126"/>
                <a:gd name="connsiteX4" fmla="*/ 2381250 w 2381250"/>
                <a:gd name="connsiteY4" fmla="*/ 1258880 h 1762126"/>
                <a:gd name="connsiteX5" fmla="*/ 1878004 w 2381250"/>
                <a:gd name="connsiteY5" fmla="*/ 1762126 h 1762126"/>
                <a:gd name="connsiteX6" fmla="*/ 503246 w 2381250"/>
                <a:gd name="connsiteY6" fmla="*/ 1762126 h 1762126"/>
                <a:gd name="connsiteX7" fmla="*/ 0 w 2381250"/>
                <a:gd name="connsiteY7" fmla="*/ 1258880 h 1762126"/>
                <a:gd name="connsiteX8" fmla="*/ 0 w 2381250"/>
                <a:gd name="connsiteY8" fmla="*/ 503246 h 1762126"/>
                <a:gd name="connsiteX0" fmla="*/ 503246 w 2381250"/>
                <a:gd name="connsiteY0" fmla="*/ 1762126 h 1762126"/>
                <a:gd name="connsiteX1" fmla="*/ 0 w 2381250"/>
                <a:gd name="connsiteY1" fmla="*/ 503246 h 1762126"/>
                <a:gd name="connsiteX2" fmla="*/ 503246 w 2381250"/>
                <a:gd name="connsiteY2" fmla="*/ 0 h 1762126"/>
                <a:gd name="connsiteX3" fmla="*/ 1878004 w 2381250"/>
                <a:gd name="connsiteY3" fmla="*/ 0 h 1762126"/>
                <a:gd name="connsiteX4" fmla="*/ 2381250 w 2381250"/>
                <a:gd name="connsiteY4" fmla="*/ 503246 h 1762126"/>
                <a:gd name="connsiteX5" fmla="*/ 2381250 w 2381250"/>
                <a:gd name="connsiteY5" fmla="*/ 1258880 h 1762126"/>
                <a:gd name="connsiteX6" fmla="*/ 1878004 w 2381250"/>
                <a:gd name="connsiteY6" fmla="*/ 1762126 h 1762126"/>
                <a:gd name="connsiteX7" fmla="*/ 503246 w 2381250"/>
                <a:gd name="connsiteY7" fmla="*/ 1762126 h 1762126"/>
                <a:gd name="connsiteX0" fmla="*/ 0 w 2381250"/>
                <a:gd name="connsiteY0" fmla="*/ 503246 h 1853566"/>
                <a:gd name="connsiteX1" fmla="*/ 503246 w 2381250"/>
                <a:gd name="connsiteY1" fmla="*/ 0 h 1853566"/>
                <a:gd name="connsiteX2" fmla="*/ 1878004 w 2381250"/>
                <a:gd name="connsiteY2" fmla="*/ 0 h 1853566"/>
                <a:gd name="connsiteX3" fmla="*/ 2381250 w 2381250"/>
                <a:gd name="connsiteY3" fmla="*/ 503246 h 1853566"/>
                <a:gd name="connsiteX4" fmla="*/ 2381250 w 2381250"/>
                <a:gd name="connsiteY4" fmla="*/ 1258880 h 1853566"/>
                <a:gd name="connsiteX5" fmla="*/ 1878004 w 2381250"/>
                <a:gd name="connsiteY5" fmla="*/ 1762126 h 1853566"/>
                <a:gd name="connsiteX6" fmla="*/ 503246 w 2381250"/>
                <a:gd name="connsiteY6" fmla="*/ 1762126 h 1853566"/>
                <a:gd name="connsiteX7" fmla="*/ 0 w 2381250"/>
                <a:gd name="connsiteY7" fmla="*/ 1258880 h 1853566"/>
                <a:gd name="connsiteX8" fmla="*/ 0 w 2381250"/>
                <a:gd name="connsiteY8" fmla="*/ 503246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0 w 2381250"/>
                <a:gd name="connsiteY0" fmla="*/ 503246 h 1853566"/>
                <a:gd name="connsiteX1" fmla="*/ 503246 w 2381250"/>
                <a:gd name="connsiteY1" fmla="*/ 0 h 1853566"/>
                <a:gd name="connsiteX2" fmla="*/ 1209675 w 2381250"/>
                <a:gd name="connsiteY2" fmla="*/ 1 h 1853566"/>
                <a:gd name="connsiteX3" fmla="*/ 1878004 w 2381250"/>
                <a:gd name="connsiteY3" fmla="*/ 0 h 1853566"/>
                <a:gd name="connsiteX4" fmla="*/ 2381250 w 2381250"/>
                <a:gd name="connsiteY4" fmla="*/ 503246 h 1853566"/>
                <a:gd name="connsiteX5" fmla="*/ 2381250 w 2381250"/>
                <a:gd name="connsiteY5" fmla="*/ 1258880 h 1853566"/>
                <a:gd name="connsiteX6" fmla="*/ 1878004 w 2381250"/>
                <a:gd name="connsiteY6" fmla="*/ 1762126 h 1853566"/>
                <a:gd name="connsiteX7" fmla="*/ 503246 w 2381250"/>
                <a:gd name="connsiteY7" fmla="*/ 1762126 h 1853566"/>
                <a:gd name="connsiteX8" fmla="*/ 0 w 2381250"/>
                <a:gd name="connsiteY8" fmla="*/ 1258880 h 1853566"/>
                <a:gd name="connsiteX9" fmla="*/ 0 w 2381250"/>
                <a:gd name="connsiteY9" fmla="*/ 503246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1209675 w 2381250"/>
                <a:gd name="connsiteY0" fmla="*/ 1 h 1853566"/>
                <a:gd name="connsiteX1" fmla="*/ 1878004 w 2381250"/>
                <a:gd name="connsiteY1" fmla="*/ 0 h 1853566"/>
                <a:gd name="connsiteX2" fmla="*/ 2381250 w 2381250"/>
                <a:gd name="connsiteY2" fmla="*/ 503246 h 1853566"/>
                <a:gd name="connsiteX3" fmla="*/ 2381250 w 2381250"/>
                <a:gd name="connsiteY3" fmla="*/ 1258880 h 1853566"/>
                <a:gd name="connsiteX4" fmla="*/ 1878004 w 2381250"/>
                <a:gd name="connsiteY4" fmla="*/ 1762126 h 1853566"/>
                <a:gd name="connsiteX5" fmla="*/ 503246 w 2381250"/>
                <a:gd name="connsiteY5" fmla="*/ 1762126 h 1853566"/>
                <a:gd name="connsiteX6" fmla="*/ 0 w 2381250"/>
                <a:gd name="connsiteY6" fmla="*/ 1258880 h 1853566"/>
                <a:gd name="connsiteX7" fmla="*/ 0 w 2381250"/>
                <a:gd name="connsiteY7" fmla="*/ 503246 h 1853566"/>
                <a:gd name="connsiteX8" fmla="*/ 503246 w 2381250"/>
                <a:gd name="connsiteY8" fmla="*/ 0 h 1853566"/>
                <a:gd name="connsiteX9" fmla="*/ 1301115 w 2381250"/>
                <a:gd name="connsiteY9" fmla="*/ 91441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1209675 w 2381250"/>
                <a:gd name="connsiteY0" fmla="*/ 1 h 1853566"/>
                <a:gd name="connsiteX1" fmla="*/ 1878004 w 2381250"/>
                <a:gd name="connsiteY1" fmla="*/ 0 h 1853566"/>
                <a:gd name="connsiteX2" fmla="*/ 2381250 w 2381250"/>
                <a:gd name="connsiteY2" fmla="*/ 503246 h 1853566"/>
                <a:gd name="connsiteX3" fmla="*/ 2381250 w 2381250"/>
                <a:gd name="connsiteY3" fmla="*/ 1258880 h 1853566"/>
                <a:gd name="connsiteX4" fmla="*/ 1878004 w 2381250"/>
                <a:gd name="connsiteY4" fmla="*/ 1762126 h 1853566"/>
                <a:gd name="connsiteX5" fmla="*/ 503246 w 2381250"/>
                <a:gd name="connsiteY5" fmla="*/ 1762126 h 1853566"/>
                <a:gd name="connsiteX6" fmla="*/ 0 w 2381250"/>
                <a:gd name="connsiteY6" fmla="*/ 1258880 h 1853566"/>
                <a:gd name="connsiteX7" fmla="*/ 0 w 2381250"/>
                <a:gd name="connsiteY7" fmla="*/ 503246 h 1853566"/>
                <a:gd name="connsiteX8" fmla="*/ 503246 w 2381250"/>
                <a:gd name="connsiteY8" fmla="*/ 0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1878004 w 2381250"/>
                <a:gd name="connsiteY0" fmla="*/ 0 h 1853566"/>
                <a:gd name="connsiteX1" fmla="*/ 2381250 w 2381250"/>
                <a:gd name="connsiteY1" fmla="*/ 503246 h 1853566"/>
                <a:gd name="connsiteX2" fmla="*/ 2381250 w 2381250"/>
                <a:gd name="connsiteY2" fmla="*/ 1258880 h 1853566"/>
                <a:gd name="connsiteX3" fmla="*/ 1878004 w 2381250"/>
                <a:gd name="connsiteY3" fmla="*/ 1762126 h 1853566"/>
                <a:gd name="connsiteX4" fmla="*/ 503246 w 2381250"/>
                <a:gd name="connsiteY4" fmla="*/ 1762126 h 1853566"/>
                <a:gd name="connsiteX5" fmla="*/ 0 w 2381250"/>
                <a:gd name="connsiteY5" fmla="*/ 1258880 h 1853566"/>
                <a:gd name="connsiteX6" fmla="*/ 0 w 2381250"/>
                <a:gd name="connsiteY6" fmla="*/ 503246 h 1853566"/>
                <a:gd name="connsiteX7" fmla="*/ 503246 w 2381250"/>
                <a:gd name="connsiteY7" fmla="*/ 0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1878004 w 2381250"/>
                <a:gd name="connsiteY0" fmla="*/ 0 h 1853566"/>
                <a:gd name="connsiteX1" fmla="*/ 2381250 w 2381250"/>
                <a:gd name="connsiteY1" fmla="*/ 503246 h 1853566"/>
                <a:gd name="connsiteX2" fmla="*/ 2381250 w 2381250"/>
                <a:gd name="connsiteY2" fmla="*/ 1258880 h 1853566"/>
                <a:gd name="connsiteX3" fmla="*/ 1878004 w 2381250"/>
                <a:gd name="connsiteY3" fmla="*/ 1762126 h 1853566"/>
                <a:gd name="connsiteX4" fmla="*/ 503246 w 2381250"/>
                <a:gd name="connsiteY4" fmla="*/ 1762126 h 1853566"/>
                <a:gd name="connsiteX5" fmla="*/ 0 w 2381250"/>
                <a:gd name="connsiteY5" fmla="*/ 1258880 h 1853566"/>
                <a:gd name="connsiteX6" fmla="*/ 0 w 2381250"/>
                <a:gd name="connsiteY6" fmla="*/ 503246 h 1853566"/>
                <a:gd name="connsiteX7" fmla="*/ 503246 w 2381250"/>
                <a:gd name="connsiteY7" fmla="*/ 0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2381250 w 2381250"/>
                <a:gd name="connsiteY4" fmla="*/ 503246 h 1853566"/>
                <a:gd name="connsiteX5" fmla="*/ 2381250 w 2381250"/>
                <a:gd name="connsiteY5" fmla="*/ 1258880 h 1853566"/>
                <a:gd name="connsiteX6" fmla="*/ 1878004 w 2381250"/>
                <a:gd name="connsiteY6" fmla="*/ 1762126 h 1853566"/>
                <a:gd name="connsiteX7" fmla="*/ 594686 w 2381250"/>
                <a:gd name="connsiteY7" fmla="*/ 1853566 h 1853566"/>
                <a:gd name="connsiteX0" fmla="*/ 1878004 w 2381250"/>
                <a:gd name="connsiteY0" fmla="*/ 0 h 1853566"/>
                <a:gd name="connsiteX1" fmla="*/ 2381250 w 2381250"/>
                <a:gd name="connsiteY1" fmla="*/ 503246 h 1853566"/>
                <a:gd name="connsiteX2" fmla="*/ 2381250 w 2381250"/>
                <a:gd name="connsiteY2" fmla="*/ 1258880 h 1853566"/>
                <a:gd name="connsiteX3" fmla="*/ 1878004 w 2381250"/>
                <a:gd name="connsiteY3" fmla="*/ 1762126 h 1853566"/>
                <a:gd name="connsiteX4" fmla="*/ 503246 w 2381250"/>
                <a:gd name="connsiteY4" fmla="*/ 1762126 h 1853566"/>
                <a:gd name="connsiteX5" fmla="*/ 0 w 2381250"/>
                <a:gd name="connsiteY5" fmla="*/ 1258880 h 1853566"/>
                <a:gd name="connsiteX6" fmla="*/ 0 w 2381250"/>
                <a:gd name="connsiteY6" fmla="*/ 503246 h 1853566"/>
                <a:gd name="connsiteX7" fmla="*/ 503246 w 2381250"/>
                <a:gd name="connsiteY7" fmla="*/ 0 h 1853566"/>
                <a:gd name="connsiteX0" fmla="*/ 503246 w 2381250"/>
                <a:gd name="connsiteY0" fmla="*/ 1762126 h 1853566"/>
                <a:gd name="connsiteX1" fmla="*/ 0 w 2381250"/>
                <a:gd name="connsiteY1" fmla="*/ 503246 h 1853566"/>
                <a:gd name="connsiteX2" fmla="*/ 503246 w 2381250"/>
                <a:gd name="connsiteY2" fmla="*/ 0 h 1853566"/>
                <a:gd name="connsiteX3" fmla="*/ 2381250 w 2381250"/>
                <a:gd name="connsiteY3" fmla="*/ 503246 h 1853566"/>
                <a:gd name="connsiteX4" fmla="*/ 2381250 w 2381250"/>
                <a:gd name="connsiteY4" fmla="*/ 1258880 h 1853566"/>
                <a:gd name="connsiteX5" fmla="*/ 1878004 w 2381250"/>
                <a:gd name="connsiteY5" fmla="*/ 1762126 h 1853566"/>
                <a:gd name="connsiteX6" fmla="*/ 594686 w 2381250"/>
                <a:gd name="connsiteY6" fmla="*/ 1853566 h 1853566"/>
                <a:gd name="connsiteX0" fmla="*/ 1878004 w 2381250"/>
                <a:gd name="connsiteY0" fmla="*/ 0 h 1853566"/>
                <a:gd name="connsiteX1" fmla="*/ 2381250 w 2381250"/>
                <a:gd name="connsiteY1" fmla="*/ 503246 h 1853566"/>
                <a:gd name="connsiteX2" fmla="*/ 2381250 w 2381250"/>
                <a:gd name="connsiteY2" fmla="*/ 1258880 h 1853566"/>
                <a:gd name="connsiteX3" fmla="*/ 1878004 w 2381250"/>
                <a:gd name="connsiteY3" fmla="*/ 1762126 h 1853566"/>
                <a:gd name="connsiteX4" fmla="*/ 503246 w 2381250"/>
                <a:gd name="connsiteY4" fmla="*/ 1762126 h 1853566"/>
                <a:gd name="connsiteX5" fmla="*/ 0 w 2381250"/>
                <a:gd name="connsiteY5" fmla="*/ 1258880 h 1853566"/>
                <a:gd name="connsiteX6" fmla="*/ 0 w 2381250"/>
                <a:gd name="connsiteY6" fmla="*/ 503246 h 1853566"/>
                <a:gd name="connsiteX7" fmla="*/ 503246 w 2381250"/>
                <a:gd name="connsiteY7" fmla="*/ 0 h 1853566"/>
                <a:gd name="connsiteX0" fmla="*/ 0 w 2381250"/>
                <a:gd name="connsiteY0" fmla="*/ 503246 h 1853566"/>
                <a:gd name="connsiteX1" fmla="*/ 503246 w 2381250"/>
                <a:gd name="connsiteY1" fmla="*/ 0 h 1853566"/>
                <a:gd name="connsiteX2" fmla="*/ 2381250 w 2381250"/>
                <a:gd name="connsiteY2" fmla="*/ 503246 h 1853566"/>
                <a:gd name="connsiteX3" fmla="*/ 2381250 w 2381250"/>
                <a:gd name="connsiteY3" fmla="*/ 1258880 h 1853566"/>
                <a:gd name="connsiteX4" fmla="*/ 1878004 w 2381250"/>
                <a:gd name="connsiteY4" fmla="*/ 1762126 h 1853566"/>
                <a:gd name="connsiteX5" fmla="*/ 594686 w 2381250"/>
                <a:gd name="connsiteY5" fmla="*/ 1853566 h 1853566"/>
                <a:gd name="connsiteX0" fmla="*/ 1878004 w 2381250"/>
                <a:gd name="connsiteY0" fmla="*/ 0 h 1762126"/>
                <a:gd name="connsiteX1" fmla="*/ 2381250 w 2381250"/>
                <a:gd name="connsiteY1" fmla="*/ 503246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4" fmla="*/ 503246 w 2381250"/>
                <a:gd name="connsiteY4" fmla="*/ 1762126 h 1762126"/>
                <a:gd name="connsiteX5" fmla="*/ 0 w 2381250"/>
                <a:gd name="connsiteY5" fmla="*/ 1258880 h 1762126"/>
                <a:gd name="connsiteX6" fmla="*/ 0 w 2381250"/>
                <a:gd name="connsiteY6" fmla="*/ 503246 h 1762126"/>
                <a:gd name="connsiteX7" fmla="*/ 503246 w 2381250"/>
                <a:gd name="connsiteY7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503246 h 1762126"/>
                <a:gd name="connsiteX3" fmla="*/ 2381250 w 2381250"/>
                <a:gd name="connsiteY3" fmla="*/ 1258880 h 1762126"/>
                <a:gd name="connsiteX4" fmla="*/ 1878004 w 2381250"/>
                <a:gd name="connsiteY4" fmla="*/ 1762126 h 1762126"/>
                <a:gd name="connsiteX0" fmla="*/ 1878004 w 2381250"/>
                <a:gd name="connsiteY0" fmla="*/ 0 h 1762126"/>
                <a:gd name="connsiteX1" fmla="*/ 2381250 w 2381250"/>
                <a:gd name="connsiteY1" fmla="*/ 503246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4" fmla="*/ 0 w 2381250"/>
                <a:gd name="connsiteY4" fmla="*/ 1258880 h 1762126"/>
                <a:gd name="connsiteX5" fmla="*/ 0 w 2381250"/>
                <a:gd name="connsiteY5" fmla="*/ 503246 h 1762126"/>
                <a:gd name="connsiteX6" fmla="*/ 503246 w 2381250"/>
                <a:gd name="connsiteY6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503246 h 1762126"/>
                <a:gd name="connsiteX3" fmla="*/ 2381250 w 2381250"/>
                <a:gd name="connsiteY3" fmla="*/ 1258880 h 1762126"/>
                <a:gd name="connsiteX4" fmla="*/ 1878004 w 2381250"/>
                <a:gd name="connsiteY4" fmla="*/ 1762126 h 1762126"/>
                <a:gd name="connsiteX0" fmla="*/ 1878004 w 2381250"/>
                <a:gd name="connsiteY0" fmla="*/ 0 h 1762126"/>
                <a:gd name="connsiteX1" fmla="*/ 2381250 w 2381250"/>
                <a:gd name="connsiteY1" fmla="*/ 503246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4" fmla="*/ 0 w 2381250"/>
                <a:gd name="connsiteY4" fmla="*/ 503246 h 1762126"/>
                <a:gd name="connsiteX5" fmla="*/ 503246 w 2381250"/>
                <a:gd name="connsiteY5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503246 h 1762126"/>
                <a:gd name="connsiteX3" fmla="*/ 2381250 w 2381250"/>
                <a:gd name="connsiteY3" fmla="*/ 1258880 h 1762126"/>
                <a:gd name="connsiteX4" fmla="*/ 1878004 w 2381250"/>
                <a:gd name="connsiteY4" fmla="*/ 1762126 h 1762126"/>
                <a:gd name="connsiteX0" fmla="*/ 2381250 w 2381250"/>
                <a:gd name="connsiteY0" fmla="*/ 503246 h 1762126"/>
                <a:gd name="connsiteX1" fmla="*/ 2381250 w 2381250"/>
                <a:gd name="connsiteY1" fmla="*/ 1258880 h 1762126"/>
                <a:gd name="connsiteX2" fmla="*/ 1878004 w 2381250"/>
                <a:gd name="connsiteY2" fmla="*/ 1762126 h 1762126"/>
                <a:gd name="connsiteX3" fmla="*/ 0 w 2381250"/>
                <a:gd name="connsiteY3" fmla="*/ 503246 h 1762126"/>
                <a:gd name="connsiteX4" fmla="*/ 503246 w 2381250"/>
                <a:gd name="connsiteY4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503246 h 1762126"/>
                <a:gd name="connsiteX3" fmla="*/ 2381250 w 2381250"/>
                <a:gd name="connsiteY3" fmla="*/ 1258880 h 1762126"/>
                <a:gd name="connsiteX4" fmla="*/ 1878004 w 2381250"/>
                <a:gd name="connsiteY4" fmla="*/ 1762126 h 1762126"/>
                <a:gd name="connsiteX0" fmla="*/ 2381250 w 2381250"/>
                <a:gd name="connsiteY0" fmla="*/ 503246 h 1762126"/>
                <a:gd name="connsiteX1" fmla="*/ 2381250 w 2381250"/>
                <a:gd name="connsiteY1" fmla="*/ 1258880 h 1762126"/>
                <a:gd name="connsiteX2" fmla="*/ 1878004 w 2381250"/>
                <a:gd name="connsiteY2" fmla="*/ 1762126 h 1762126"/>
                <a:gd name="connsiteX3" fmla="*/ 0 w 2381250"/>
                <a:gd name="connsiteY3" fmla="*/ 503246 h 1762126"/>
                <a:gd name="connsiteX4" fmla="*/ 503246 w 2381250"/>
                <a:gd name="connsiteY4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0" fmla="*/ 2381250 w 2381250"/>
                <a:gd name="connsiteY0" fmla="*/ 1258880 h 1762126"/>
                <a:gd name="connsiteX1" fmla="*/ 1878004 w 2381250"/>
                <a:gd name="connsiteY1" fmla="*/ 1762126 h 1762126"/>
                <a:gd name="connsiteX2" fmla="*/ 0 w 2381250"/>
                <a:gd name="connsiteY2" fmla="*/ 503246 h 1762126"/>
                <a:gd name="connsiteX3" fmla="*/ 503246 w 2381250"/>
                <a:gd name="connsiteY3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0" fmla="*/ 2381250 w 2381250"/>
                <a:gd name="connsiteY0" fmla="*/ 1258880 h 1762126"/>
                <a:gd name="connsiteX1" fmla="*/ 1878004 w 2381250"/>
                <a:gd name="connsiteY1" fmla="*/ 1762126 h 1762126"/>
                <a:gd name="connsiteX2" fmla="*/ 0 w 2381250"/>
                <a:gd name="connsiteY2" fmla="*/ 503246 h 1762126"/>
                <a:gd name="connsiteX3" fmla="*/ 503246 w 2381250"/>
                <a:gd name="connsiteY3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0" fmla="*/ 1878004 w 1878004"/>
                <a:gd name="connsiteY0" fmla="*/ 1762126 h 1762126"/>
                <a:gd name="connsiteX1" fmla="*/ 0 w 1878004"/>
                <a:gd name="connsiteY1" fmla="*/ 503246 h 1762126"/>
                <a:gd name="connsiteX2" fmla="*/ 503246 w 1878004"/>
                <a:gd name="connsiteY2" fmla="*/ 0 h 1762126"/>
                <a:gd name="connsiteX0" fmla="*/ 0 w 1878004"/>
                <a:gd name="connsiteY0" fmla="*/ 503246 h 1762126"/>
                <a:gd name="connsiteX1" fmla="*/ 503246 w 1878004"/>
                <a:gd name="connsiteY1" fmla="*/ 0 h 1762126"/>
                <a:gd name="connsiteX0" fmla="*/ 0 w 503246"/>
                <a:gd name="connsiteY0" fmla="*/ 503246 h 503246"/>
                <a:gd name="connsiteX1" fmla="*/ 503246 w 503246"/>
                <a:gd name="connsiteY1" fmla="*/ 0 h 503246"/>
                <a:gd name="connsiteX0" fmla="*/ 0 w 503246"/>
                <a:gd name="connsiteY0" fmla="*/ 503246 h 503246"/>
                <a:gd name="connsiteX1" fmla="*/ 503246 w 503246"/>
                <a:gd name="connsiteY1" fmla="*/ 0 h 503246"/>
                <a:gd name="connsiteX0" fmla="*/ 2880 w 506126"/>
                <a:gd name="connsiteY0" fmla="*/ 503246 h 503246"/>
                <a:gd name="connsiteX1" fmla="*/ 506126 w 506126"/>
                <a:gd name="connsiteY1" fmla="*/ 0 h 503246"/>
                <a:gd name="connsiteX0" fmla="*/ 2880 w 506126"/>
                <a:gd name="connsiteY0" fmla="*/ 503246 h 503246"/>
                <a:gd name="connsiteX1" fmla="*/ 0 w 506126"/>
                <a:gd name="connsiteY1" fmla="*/ 498555 h 503246"/>
                <a:gd name="connsiteX2" fmla="*/ 506126 w 506126"/>
                <a:gd name="connsiteY2" fmla="*/ 0 h 503246"/>
                <a:gd name="connsiteX0" fmla="*/ 987 w 504233"/>
                <a:gd name="connsiteY0" fmla="*/ 503246 h 503246"/>
                <a:gd name="connsiteX1" fmla="*/ 504233 w 504233"/>
                <a:gd name="connsiteY1" fmla="*/ 0 h 503246"/>
                <a:gd name="connsiteX0" fmla="*/ 987 w 504233"/>
                <a:gd name="connsiteY0" fmla="*/ 503246 h 503246"/>
                <a:gd name="connsiteX1" fmla="*/ 0 w 504233"/>
                <a:gd name="connsiteY1" fmla="*/ 415260 h 503246"/>
                <a:gd name="connsiteX2" fmla="*/ 504233 w 504233"/>
                <a:gd name="connsiteY2" fmla="*/ 0 h 503246"/>
                <a:gd name="connsiteX0" fmla="*/ 5680 w 508926"/>
                <a:gd name="connsiteY0" fmla="*/ 503246 h 1661839"/>
                <a:gd name="connsiteX1" fmla="*/ 508926 w 508926"/>
                <a:gd name="connsiteY1" fmla="*/ 0 h 1661839"/>
                <a:gd name="connsiteX0" fmla="*/ 0 w 508926"/>
                <a:gd name="connsiteY0" fmla="*/ 1661839 h 1661839"/>
                <a:gd name="connsiteX1" fmla="*/ 4693 w 508926"/>
                <a:gd name="connsiteY1" fmla="*/ 415260 h 1661839"/>
                <a:gd name="connsiteX2" fmla="*/ 508926 w 508926"/>
                <a:gd name="connsiteY2" fmla="*/ 0 h 1661839"/>
                <a:gd name="connsiteX0" fmla="*/ 5680 w 508926"/>
                <a:gd name="connsiteY0" fmla="*/ 503246 h 1661839"/>
                <a:gd name="connsiteX1" fmla="*/ 508926 w 508926"/>
                <a:gd name="connsiteY1" fmla="*/ 0 h 1661839"/>
                <a:gd name="connsiteX0" fmla="*/ 0 w 508926"/>
                <a:gd name="connsiteY0" fmla="*/ 1661839 h 1661839"/>
                <a:gd name="connsiteX1" fmla="*/ 4693 w 508926"/>
                <a:gd name="connsiteY1" fmla="*/ 509916 h 1661839"/>
                <a:gd name="connsiteX2" fmla="*/ 508926 w 508926"/>
                <a:gd name="connsiteY2" fmla="*/ 0 h 1661839"/>
                <a:gd name="connsiteX0" fmla="*/ 5680 w 508926"/>
                <a:gd name="connsiteY0" fmla="*/ 503246 h 3880192"/>
                <a:gd name="connsiteX1" fmla="*/ 508926 w 508926"/>
                <a:gd name="connsiteY1" fmla="*/ 0 h 3880192"/>
                <a:gd name="connsiteX0" fmla="*/ 0 w 508926"/>
                <a:gd name="connsiteY0" fmla="*/ 3880192 h 3880192"/>
                <a:gd name="connsiteX1" fmla="*/ 4693 w 508926"/>
                <a:gd name="connsiteY1" fmla="*/ 509916 h 3880192"/>
                <a:gd name="connsiteX2" fmla="*/ 508926 w 508926"/>
                <a:gd name="connsiteY2" fmla="*/ 0 h 3880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8926" h="3880192" stroke="0" extrusionOk="0">
                  <a:moveTo>
                    <a:pt x="5680" y="503246"/>
                  </a:moveTo>
                  <a:cubicBezTo>
                    <a:pt x="5680" y="225311"/>
                    <a:pt x="230991" y="0"/>
                    <a:pt x="508926" y="0"/>
                  </a:cubicBezTo>
                </a:path>
                <a:path w="508926" h="3880192" fill="none">
                  <a:moveTo>
                    <a:pt x="0" y="3880192"/>
                  </a:moveTo>
                  <a:cubicBezTo>
                    <a:pt x="1564" y="3464666"/>
                    <a:pt x="3129" y="925442"/>
                    <a:pt x="4693" y="509916"/>
                  </a:cubicBezTo>
                  <a:cubicBezTo>
                    <a:pt x="7573" y="236672"/>
                    <a:pt x="230991" y="0"/>
                    <a:pt x="508926" y="0"/>
                  </a:cubicBezTo>
                </a:path>
              </a:pathLst>
            </a:custGeom>
            <a:noFill/>
            <a:ln w="63500" cap="rnd">
              <a:solidFill>
                <a:srgbClr val="C1007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53" name="Conexão reta 152">
              <a:extLst>
                <a:ext uri="{FF2B5EF4-FFF2-40B4-BE49-F238E27FC236}">
                  <a16:creationId xmlns:a16="http://schemas.microsoft.com/office/drawing/2014/main" id="{4341ADA2-07B7-4243-9257-6FF45EB8F83B}"/>
                </a:ext>
              </a:extLst>
            </p:cNvPr>
            <p:cNvCxnSpPr/>
            <p:nvPr/>
          </p:nvCxnSpPr>
          <p:spPr>
            <a:xfrm>
              <a:off x="6377698" y="1597469"/>
              <a:ext cx="5638090" cy="0"/>
            </a:xfrm>
            <a:prstGeom prst="line">
              <a:avLst/>
            </a:prstGeom>
            <a:ln w="63500" cap="rnd">
              <a:solidFill>
                <a:srgbClr val="C1007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43B2153-E6A5-47F2-AEEA-A166DE7B40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5492"/>
          <a:stretch/>
        </p:blipFill>
        <p:spPr>
          <a:xfrm>
            <a:off x="7565973" y="2676029"/>
            <a:ext cx="4321276" cy="239982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7952ED8-A913-4B42-A545-F411A95DDFE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3878" r="39404" b="25715"/>
          <a:stretch/>
        </p:blipFill>
        <p:spPr>
          <a:xfrm>
            <a:off x="2799948" y="1937321"/>
            <a:ext cx="4766025" cy="33702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D6CFC1-0E14-4A56-898F-C439474856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0767" y="5691688"/>
            <a:ext cx="5981700" cy="89535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5B29E95-5FCA-4562-8DCD-981D7A79A1B1}"/>
              </a:ext>
            </a:extLst>
          </p:cNvPr>
          <p:cNvSpPr/>
          <p:nvPr/>
        </p:nvSpPr>
        <p:spPr>
          <a:xfrm>
            <a:off x="0" y="4457353"/>
            <a:ext cx="2453951" cy="1452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buClr>
                <a:srgbClr val="77933C"/>
              </a:buClr>
            </a:pPr>
            <a:r>
              <a:rPr lang="pt-PT" sz="1300" b="1" dirty="0">
                <a:solidFill>
                  <a:srgbClr val="6FCBBC"/>
                </a:solidFill>
                <a:latin typeface="Trebuchet MS" panose="020B0603020202020204" pitchFamily="34" charset="0"/>
              </a:rPr>
              <a:t>Mecanismo de </a:t>
            </a:r>
            <a:r>
              <a:rPr lang="pt-PT" sz="1300" b="1" dirty="0" err="1">
                <a:solidFill>
                  <a:srgbClr val="6FCBBC"/>
                </a:solidFill>
                <a:latin typeface="Trebuchet MS" panose="020B0603020202020204" pitchFamily="34" charset="0"/>
              </a:rPr>
              <a:t>acção</a:t>
            </a:r>
            <a:r>
              <a:rPr lang="pt-PT" sz="1300" b="1" dirty="0">
                <a:solidFill>
                  <a:srgbClr val="6FCBBC"/>
                </a:solidFill>
                <a:latin typeface="Trebuchet MS" panose="020B0603020202020204" pitchFamily="34" charset="0"/>
              </a:rPr>
              <a:t> simples: </a:t>
            </a:r>
            <a:r>
              <a:rPr lang="pt-PT" sz="1300" dirty="0" err="1">
                <a:solidFill>
                  <a:schemeClr val="bg1"/>
                </a:solidFill>
                <a:latin typeface="Trebuchet MS" panose="020B0603020202020204" pitchFamily="34" charset="0"/>
              </a:rPr>
              <a:t>actua</a:t>
            </a: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 apenas no útero.</a:t>
            </a:r>
          </a:p>
          <a:p>
            <a:pPr>
              <a:lnSpc>
                <a:spcPct val="85000"/>
              </a:lnSpc>
              <a:buClr>
                <a:srgbClr val="77933C"/>
              </a:buClr>
            </a:pPr>
            <a:endParaRPr lang="pt-PT" sz="1300" dirty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>
              <a:lnSpc>
                <a:spcPct val="85000"/>
              </a:lnSpc>
              <a:buClr>
                <a:srgbClr val="77933C"/>
              </a:buClr>
            </a:pP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Só é eficaz em casos de </a:t>
            </a:r>
            <a:r>
              <a:rPr lang="pt-PT" sz="1300" b="1" dirty="0">
                <a:solidFill>
                  <a:srgbClr val="6FCBBC"/>
                </a:solidFill>
                <a:latin typeface="Trebuchet MS" panose="020B0603020202020204" pitchFamily="34" charset="0"/>
              </a:rPr>
              <a:t>colo do útero maduro</a:t>
            </a:r>
            <a:r>
              <a:rPr lang="pt-PT" sz="1300" dirty="0">
                <a:solidFill>
                  <a:srgbClr val="6FCBBC"/>
                </a:solidFill>
                <a:latin typeface="Trebuchet MS" panose="020B0603020202020204" pitchFamily="34" charset="0"/>
              </a:rPr>
              <a:t>.</a:t>
            </a:r>
          </a:p>
          <a:p>
            <a:pPr>
              <a:lnSpc>
                <a:spcPct val="85000"/>
              </a:lnSpc>
              <a:buClr>
                <a:srgbClr val="77933C"/>
              </a:buClr>
            </a:pPr>
            <a:endParaRPr lang="pt-PT" sz="1300" dirty="0">
              <a:solidFill>
                <a:srgbClr val="6FCBBC"/>
              </a:solidFill>
              <a:latin typeface="Trebuchet MS" panose="020B0603020202020204" pitchFamily="34" charset="0"/>
            </a:endParaRPr>
          </a:p>
          <a:p>
            <a:pPr>
              <a:lnSpc>
                <a:spcPct val="85000"/>
              </a:lnSpc>
              <a:buClr>
                <a:srgbClr val="77933C"/>
              </a:buClr>
            </a:pPr>
            <a:r>
              <a:rPr lang="pt-PT" sz="1300" b="1" dirty="0">
                <a:solidFill>
                  <a:srgbClr val="6FCBBC"/>
                </a:solidFill>
                <a:latin typeface="Trebuchet MS" panose="020B0603020202020204" pitchFamily="34" charset="0"/>
              </a:rPr>
              <a:t>Taxa de cesariana superior </a:t>
            </a: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(36% </a:t>
            </a:r>
            <a:r>
              <a:rPr lang="pt-PT" sz="1300" dirty="0" err="1">
                <a:solidFill>
                  <a:schemeClr val="bg1"/>
                </a:solidFill>
                <a:latin typeface="Trebuchet MS" panose="020B0603020202020204" pitchFamily="34" charset="0"/>
              </a:rPr>
              <a:t>vs</a:t>
            </a: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 19%).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E3A642-2C94-4FD3-B3D6-479F92841C2F}"/>
              </a:ext>
            </a:extLst>
          </p:cNvPr>
          <p:cNvSpPr txBox="1"/>
          <p:nvPr/>
        </p:nvSpPr>
        <p:spPr>
          <a:xfrm>
            <a:off x="171461" y="692095"/>
            <a:ext cx="2282490" cy="369332"/>
          </a:xfrm>
          <a:prstGeom prst="rect">
            <a:avLst/>
          </a:prstGeom>
          <a:solidFill>
            <a:srgbClr val="C10076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MISOPROSTOL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5717C1-6A0C-4912-B361-F264740C6170}"/>
              </a:ext>
            </a:extLst>
          </p:cNvPr>
          <p:cNvSpPr/>
          <p:nvPr/>
        </p:nvSpPr>
        <p:spPr>
          <a:xfrm>
            <a:off x="0" y="1173856"/>
            <a:ext cx="2581158" cy="2302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buClr>
                <a:srgbClr val="77933C"/>
              </a:buClr>
            </a:pPr>
            <a:r>
              <a:rPr lang="pt-PT" sz="1300" b="1" dirty="0">
                <a:solidFill>
                  <a:srgbClr val="C10076"/>
                </a:solidFill>
                <a:latin typeface="Trebuchet MS" panose="020B0603020202020204" pitchFamily="34" charset="0"/>
              </a:rPr>
              <a:t>Duplo mecanismo de </a:t>
            </a:r>
            <a:r>
              <a:rPr lang="pt-PT" sz="1300" b="1" dirty="0" err="1">
                <a:solidFill>
                  <a:srgbClr val="C10076"/>
                </a:solidFill>
                <a:latin typeface="Trebuchet MS" panose="020B0603020202020204" pitchFamily="34" charset="0"/>
              </a:rPr>
              <a:t>acção</a:t>
            </a:r>
            <a:r>
              <a:rPr lang="pt-PT" sz="1300" b="1" dirty="0">
                <a:solidFill>
                  <a:srgbClr val="C10076"/>
                </a:solidFill>
                <a:latin typeface="Trebuchet MS" panose="020B0603020202020204" pitchFamily="34" charset="0"/>
              </a:rPr>
              <a:t>: </a:t>
            </a:r>
            <a:r>
              <a:rPr lang="pt-PT" sz="1300" dirty="0" err="1">
                <a:solidFill>
                  <a:schemeClr val="bg1"/>
                </a:solidFill>
                <a:latin typeface="Trebuchet MS" panose="020B0603020202020204" pitchFamily="34" charset="0"/>
              </a:rPr>
              <a:t>actua</a:t>
            </a: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 no útero e no colo do útero (amadurecimento, dilatação, amolecimento).</a:t>
            </a:r>
          </a:p>
          <a:p>
            <a:pPr>
              <a:lnSpc>
                <a:spcPct val="85000"/>
              </a:lnSpc>
              <a:buClr>
                <a:srgbClr val="77933C"/>
              </a:buClr>
            </a:pPr>
            <a:endParaRPr lang="pt-PT" sz="1300" dirty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>
              <a:lnSpc>
                <a:spcPct val="85000"/>
              </a:lnSpc>
              <a:buClr>
                <a:srgbClr val="77933C"/>
              </a:buClr>
            </a:pP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Imita o</a:t>
            </a:r>
            <a:r>
              <a:rPr lang="pt-PT" sz="1300" dirty="0">
                <a:solidFill>
                  <a:srgbClr val="231F20"/>
                </a:solidFill>
                <a:latin typeface="Trebuchet MS" panose="020B0603020202020204" pitchFamily="34" charset="0"/>
              </a:rPr>
              <a:t> </a:t>
            </a:r>
            <a:r>
              <a:rPr lang="pt-PT" sz="1300" b="1" dirty="0">
                <a:solidFill>
                  <a:srgbClr val="C10076"/>
                </a:solidFill>
                <a:latin typeface="Trebuchet MS" panose="020B0603020202020204" pitchFamily="34" charset="0"/>
              </a:rPr>
              <a:t>processo natural </a:t>
            </a: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do parto.</a:t>
            </a:r>
          </a:p>
          <a:p>
            <a:pPr>
              <a:lnSpc>
                <a:spcPct val="85000"/>
              </a:lnSpc>
              <a:buClr>
                <a:srgbClr val="77933C"/>
              </a:buClr>
            </a:pPr>
            <a:endParaRPr lang="pt-PT" sz="1300" dirty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>
              <a:lnSpc>
                <a:spcPct val="85000"/>
              </a:lnSpc>
              <a:buClr>
                <a:srgbClr val="77933C"/>
              </a:buClr>
            </a:pP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Eficaz em </a:t>
            </a:r>
            <a:r>
              <a:rPr lang="pt-PT" sz="1300" b="1" dirty="0">
                <a:solidFill>
                  <a:srgbClr val="C10076"/>
                </a:solidFill>
                <a:latin typeface="Trebuchet MS" panose="020B0603020202020204" pitchFamily="34" charset="0"/>
              </a:rPr>
              <a:t>colo do útero imaturo</a:t>
            </a: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.</a:t>
            </a:r>
          </a:p>
          <a:p>
            <a:pPr>
              <a:lnSpc>
                <a:spcPct val="85000"/>
              </a:lnSpc>
              <a:buClr>
                <a:srgbClr val="77933C"/>
              </a:buClr>
            </a:pPr>
            <a:endParaRPr lang="pt-PT" sz="1300" dirty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>
              <a:lnSpc>
                <a:spcPct val="85000"/>
              </a:lnSpc>
              <a:buClr>
                <a:srgbClr val="77933C"/>
              </a:buClr>
            </a:pP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Maior probabilidade de </a:t>
            </a:r>
            <a:r>
              <a:rPr lang="pt-PT" sz="1300" b="1" dirty="0">
                <a:solidFill>
                  <a:srgbClr val="C10076"/>
                </a:solidFill>
                <a:latin typeface="Trebuchet MS" panose="020B0603020202020204" pitchFamily="34" charset="0"/>
              </a:rPr>
              <a:t>parto vaginal</a:t>
            </a: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 (81% às 24h).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39EA37-A58F-4532-BEF0-FFE1638688D8}"/>
              </a:ext>
            </a:extLst>
          </p:cNvPr>
          <p:cNvSpPr txBox="1"/>
          <p:nvPr/>
        </p:nvSpPr>
        <p:spPr>
          <a:xfrm>
            <a:off x="171461" y="3959673"/>
            <a:ext cx="2282490" cy="369332"/>
          </a:xfrm>
          <a:prstGeom prst="rect">
            <a:avLst/>
          </a:prstGeom>
          <a:solidFill>
            <a:srgbClr val="6FCBBC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OXITOCINA</a:t>
            </a:r>
          </a:p>
        </p:txBody>
      </p:sp>
    </p:spTree>
    <p:extLst>
      <p:ext uri="{BB962C8B-B14F-4D97-AF65-F5344CB8AC3E}">
        <p14:creationId xmlns:p14="http://schemas.microsoft.com/office/powerpoint/2010/main" val="824388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tângulo 48">
            <a:extLst>
              <a:ext uri="{FF2B5EF4-FFF2-40B4-BE49-F238E27FC236}">
                <a16:creationId xmlns:a16="http://schemas.microsoft.com/office/drawing/2014/main" id="{E7691C12-D9BE-4BA0-9339-EC3C1D89BF1A}"/>
              </a:ext>
            </a:extLst>
          </p:cNvPr>
          <p:cNvSpPr/>
          <p:nvPr/>
        </p:nvSpPr>
        <p:spPr>
          <a:xfrm>
            <a:off x="0" y="0"/>
            <a:ext cx="2581158" cy="6858000"/>
          </a:xfrm>
          <a:prstGeom prst="rect">
            <a:avLst/>
          </a:prstGeom>
          <a:solidFill>
            <a:srgbClr val="CF84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21">
            <a:extLst>
              <a:ext uri="{FF2B5EF4-FFF2-40B4-BE49-F238E27FC236}">
                <a16:creationId xmlns:a16="http://schemas.microsoft.com/office/drawing/2014/main" id="{A2F65322-8D00-4B36-B6D3-749AC23A2CD3}"/>
              </a:ext>
            </a:extLst>
          </p:cNvPr>
          <p:cNvSpPr txBox="1"/>
          <p:nvPr/>
        </p:nvSpPr>
        <p:spPr>
          <a:xfrm>
            <a:off x="3379369" y="559668"/>
            <a:ext cx="49787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6000" b="1" i="0" u="none" strike="noStrike" cap="none" normalizeH="0" baseline="0" noProof="0" dirty="0">
                <a:ln>
                  <a:noFill/>
                </a:ln>
                <a:solidFill>
                  <a:srgbClr val="CF84AE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MISOFAR 25</a:t>
            </a:r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id="{4E31CA48-917B-420E-AD87-D84B5423884F}"/>
              </a:ext>
            </a:extLst>
          </p:cNvPr>
          <p:cNvSpPr txBox="1"/>
          <p:nvPr/>
        </p:nvSpPr>
        <p:spPr>
          <a:xfrm>
            <a:off x="3458448" y="354527"/>
            <a:ext cx="4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CONCORRENTES DE </a:t>
            </a:r>
          </a:p>
        </p:txBody>
      </p:sp>
      <p:grpSp>
        <p:nvGrpSpPr>
          <p:cNvPr id="154" name="Agrupar 153">
            <a:extLst>
              <a:ext uri="{FF2B5EF4-FFF2-40B4-BE49-F238E27FC236}">
                <a16:creationId xmlns:a16="http://schemas.microsoft.com/office/drawing/2014/main" id="{111C2864-7C55-4791-A4CC-4E25ADF0998A}"/>
              </a:ext>
            </a:extLst>
          </p:cNvPr>
          <p:cNvGrpSpPr/>
          <p:nvPr/>
        </p:nvGrpSpPr>
        <p:grpSpPr>
          <a:xfrm>
            <a:off x="2834588" y="957321"/>
            <a:ext cx="9181200" cy="640148"/>
            <a:chOff x="2834588" y="957321"/>
            <a:chExt cx="9181200" cy="640148"/>
          </a:xfrm>
        </p:grpSpPr>
        <p:sp>
          <p:nvSpPr>
            <p:cNvPr id="64" name="Double Bracket 14">
              <a:extLst>
                <a:ext uri="{FF2B5EF4-FFF2-40B4-BE49-F238E27FC236}">
                  <a16:creationId xmlns:a16="http://schemas.microsoft.com/office/drawing/2014/main" id="{F3A9B49C-19BB-49E1-B678-B789429A0019}"/>
                </a:ext>
              </a:extLst>
            </p:cNvPr>
            <p:cNvSpPr/>
            <p:nvPr/>
          </p:nvSpPr>
          <p:spPr>
            <a:xfrm rot="16200000">
              <a:off x="4954845" y="-1162936"/>
              <a:ext cx="640148" cy="4880662"/>
            </a:xfrm>
            <a:custGeom>
              <a:avLst/>
              <a:gdLst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1878004 w 2381250"/>
                <a:gd name="connsiteY2" fmla="*/ 0 h 1762126"/>
                <a:gd name="connsiteX3" fmla="*/ 2381250 w 2381250"/>
                <a:gd name="connsiteY3" fmla="*/ 503246 h 1762126"/>
                <a:gd name="connsiteX4" fmla="*/ 2381250 w 2381250"/>
                <a:gd name="connsiteY4" fmla="*/ 1258880 h 1762126"/>
                <a:gd name="connsiteX5" fmla="*/ 1878004 w 2381250"/>
                <a:gd name="connsiteY5" fmla="*/ 1762126 h 1762126"/>
                <a:gd name="connsiteX6" fmla="*/ 503246 w 2381250"/>
                <a:gd name="connsiteY6" fmla="*/ 1762126 h 1762126"/>
                <a:gd name="connsiteX7" fmla="*/ 0 w 2381250"/>
                <a:gd name="connsiteY7" fmla="*/ 1258880 h 1762126"/>
                <a:gd name="connsiteX8" fmla="*/ 0 w 2381250"/>
                <a:gd name="connsiteY8" fmla="*/ 503246 h 1762126"/>
                <a:gd name="connsiteX0" fmla="*/ 503246 w 2381250"/>
                <a:gd name="connsiteY0" fmla="*/ 1762126 h 1762126"/>
                <a:gd name="connsiteX1" fmla="*/ 0 w 2381250"/>
                <a:gd name="connsiteY1" fmla="*/ 1258880 h 1762126"/>
                <a:gd name="connsiteX2" fmla="*/ 0 w 2381250"/>
                <a:gd name="connsiteY2" fmla="*/ 503246 h 1762126"/>
                <a:gd name="connsiteX3" fmla="*/ 503246 w 2381250"/>
                <a:gd name="connsiteY3" fmla="*/ 0 h 1762126"/>
                <a:gd name="connsiteX4" fmla="*/ 1878004 w 2381250"/>
                <a:gd name="connsiteY4" fmla="*/ 0 h 1762126"/>
                <a:gd name="connsiteX5" fmla="*/ 2381250 w 2381250"/>
                <a:gd name="connsiteY5" fmla="*/ 503246 h 1762126"/>
                <a:gd name="connsiteX6" fmla="*/ 2381250 w 2381250"/>
                <a:gd name="connsiteY6" fmla="*/ 1258880 h 1762126"/>
                <a:gd name="connsiteX7" fmla="*/ 1878004 w 2381250"/>
                <a:gd name="connsiteY7" fmla="*/ 1762126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1878004 w 2381250"/>
                <a:gd name="connsiteY2" fmla="*/ 0 h 1762126"/>
                <a:gd name="connsiteX3" fmla="*/ 2381250 w 2381250"/>
                <a:gd name="connsiteY3" fmla="*/ 503246 h 1762126"/>
                <a:gd name="connsiteX4" fmla="*/ 2381250 w 2381250"/>
                <a:gd name="connsiteY4" fmla="*/ 1258880 h 1762126"/>
                <a:gd name="connsiteX5" fmla="*/ 1878004 w 2381250"/>
                <a:gd name="connsiteY5" fmla="*/ 1762126 h 1762126"/>
                <a:gd name="connsiteX6" fmla="*/ 503246 w 2381250"/>
                <a:gd name="connsiteY6" fmla="*/ 1762126 h 1762126"/>
                <a:gd name="connsiteX7" fmla="*/ 0 w 2381250"/>
                <a:gd name="connsiteY7" fmla="*/ 1258880 h 1762126"/>
                <a:gd name="connsiteX8" fmla="*/ 0 w 2381250"/>
                <a:gd name="connsiteY8" fmla="*/ 503246 h 1762126"/>
                <a:gd name="connsiteX0" fmla="*/ 503246 w 2381250"/>
                <a:gd name="connsiteY0" fmla="*/ 1762126 h 1762126"/>
                <a:gd name="connsiteX1" fmla="*/ 0 w 2381250"/>
                <a:gd name="connsiteY1" fmla="*/ 503246 h 1762126"/>
                <a:gd name="connsiteX2" fmla="*/ 503246 w 2381250"/>
                <a:gd name="connsiteY2" fmla="*/ 0 h 1762126"/>
                <a:gd name="connsiteX3" fmla="*/ 1878004 w 2381250"/>
                <a:gd name="connsiteY3" fmla="*/ 0 h 1762126"/>
                <a:gd name="connsiteX4" fmla="*/ 2381250 w 2381250"/>
                <a:gd name="connsiteY4" fmla="*/ 503246 h 1762126"/>
                <a:gd name="connsiteX5" fmla="*/ 2381250 w 2381250"/>
                <a:gd name="connsiteY5" fmla="*/ 1258880 h 1762126"/>
                <a:gd name="connsiteX6" fmla="*/ 1878004 w 2381250"/>
                <a:gd name="connsiteY6" fmla="*/ 1762126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1878004 w 2381250"/>
                <a:gd name="connsiteY2" fmla="*/ 0 h 1762126"/>
                <a:gd name="connsiteX3" fmla="*/ 2381250 w 2381250"/>
                <a:gd name="connsiteY3" fmla="*/ 503246 h 1762126"/>
                <a:gd name="connsiteX4" fmla="*/ 2381250 w 2381250"/>
                <a:gd name="connsiteY4" fmla="*/ 1258880 h 1762126"/>
                <a:gd name="connsiteX5" fmla="*/ 1878004 w 2381250"/>
                <a:gd name="connsiteY5" fmla="*/ 1762126 h 1762126"/>
                <a:gd name="connsiteX6" fmla="*/ 503246 w 2381250"/>
                <a:gd name="connsiteY6" fmla="*/ 1762126 h 1762126"/>
                <a:gd name="connsiteX7" fmla="*/ 0 w 2381250"/>
                <a:gd name="connsiteY7" fmla="*/ 1258880 h 1762126"/>
                <a:gd name="connsiteX8" fmla="*/ 0 w 2381250"/>
                <a:gd name="connsiteY8" fmla="*/ 503246 h 1762126"/>
                <a:gd name="connsiteX0" fmla="*/ 503246 w 2381250"/>
                <a:gd name="connsiteY0" fmla="*/ 1762126 h 1762126"/>
                <a:gd name="connsiteX1" fmla="*/ 0 w 2381250"/>
                <a:gd name="connsiteY1" fmla="*/ 503246 h 1762126"/>
                <a:gd name="connsiteX2" fmla="*/ 503246 w 2381250"/>
                <a:gd name="connsiteY2" fmla="*/ 0 h 1762126"/>
                <a:gd name="connsiteX3" fmla="*/ 1878004 w 2381250"/>
                <a:gd name="connsiteY3" fmla="*/ 0 h 1762126"/>
                <a:gd name="connsiteX4" fmla="*/ 2381250 w 2381250"/>
                <a:gd name="connsiteY4" fmla="*/ 503246 h 1762126"/>
                <a:gd name="connsiteX5" fmla="*/ 2381250 w 2381250"/>
                <a:gd name="connsiteY5" fmla="*/ 1258880 h 1762126"/>
                <a:gd name="connsiteX6" fmla="*/ 1878004 w 2381250"/>
                <a:gd name="connsiteY6" fmla="*/ 1762126 h 1762126"/>
                <a:gd name="connsiteX7" fmla="*/ 503246 w 2381250"/>
                <a:gd name="connsiteY7" fmla="*/ 1762126 h 1762126"/>
                <a:gd name="connsiteX0" fmla="*/ 0 w 2381250"/>
                <a:gd name="connsiteY0" fmla="*/ 503246 h 1853566"/>
                <a:gd name="connsiteX1" fmla="*/ 503246 w 2381250"/>
                <a:gd name="connsiteY1" fmla="*/ 0 h 1853566"/>
                <a:gd name="connsiteX2" fmla="*/ 1878004 w 2381250"/>
                <a:gd name="connsiteY2" fmla="*/ 0 h 1853566"/>
                <a:gd name="connsiteX3" fmla="*/ 2381250 w 2381250"/>
                <a:gd name="connsiteY3" fmla="*/ 503246 h 1853566"/>
                <a:gd name="connsiteX4" fmla="*/ 2381250 w 2381250"/>
                <a:gd name="connsiteY4" fmla="*/ 1258880 h 1853566"/>
                <a:gd name="connsiteX5" fmla="*/ 1878004 w 2381250"/>
                <a:gd name="connsiteY5" fmla="*/ 1762126 h 1853566"/>
                <a:gd name="connsiteX6" fmla="*/ 503246 w 2381250"/>
                <a:gd name="connsiteY6" fmla="*/ 1762126 h 1853566"/>
                <a:gd name="connsiteX7" fmla="*/ 0 w 2381250"/>
                <a:gd name="connsiteY7" fmla="*/ 1258880 h 1853566"/>
                <a:gd name="connsiteX8" fmla="*/ 0 w 2381250"/>
                <a:gd name="connsiteY8" fmla="*/ 503246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0 w 2381250"/>
                <a:gd name="connsiteY0" fmla="*/ 503246 h 1853566"/>
                <a:gd name="connsiteX1" fmla="*/ 503246 w 2381250"/>
                <a:gd name="connsiteY1" fmla="*/ 0 h 1853566"/>
                <a:gd name="connsiteX2" fmla="*/ 1209675 w 2381250"/>
                <a:gd name="connsiteY2" fmla="*/ 1 h 1853566"/>
                <a:gd name="connsiteX3" fmla="*/ 1878004 w 2381250"/>
                <a:gd name="connsiteY3" fmla="*/ 0 h 1853566"/>
                <a:gd name="connsiteX4" fmla="*/ 2381250 w 2381250"/>
                <a:gd name="connsiteY4" fmla="*/ 503246 h 1853566"/>
                <a:gd name="connsiteX5" fmla="*/ 2381250 w 2381250"/>
                <a:gd name="connsiteY5" fmla="*/ 1258880 h 1853566"/>
                <a:gd name="connsiteX6" fmla="*/ 1878004 w 2381250"/>
                <a:gd name="connsiteY6" fmla="*/ 1762126 h 1853566"/>
                <a:gd name="connsiteX7" fmla="*/ 503246 w 2381250"/>
                <a:gd name="connsiteY7" fmla="*/ 1762126 h 1853566"/>
                <a:gd name="connsiteX8" fmla="*/ 0 w 2381250"/>
                <a:gd name="connsiteY8" fmla="*/ 1258880 h 1853566"/>
                <a:gd name="connsiteX9" fmla="*/ 0 w 2381250"/>
                <a:gd name="connsiteY9" fmla="*/ 503246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1209675 w 2381250"/>
                <a:gd name="connsiteY0" fmla="*/ 1 h 1853566"/>
                <a:gd name="connsiteX1" fmla="*/ 1878004 w 2381250"/>
                <a:gd name="connsiteY1" fmla="*/ 0 h 1853566"/>
                <a:gd name="connsiteX2" fmla="*/ 2381250 w 2381250"/>
                <a:gd name="connsiteY2" fmla="*/ 503246 h 1853566"/>
                <a:gd name="connsiteX3" fmla="*/ 2381250 w 2381250"/>
                <a:gd name="connsiteY3" fmla="*/ 1258880 h 1853566"/>
                <a:gd name="connsiteX4" fmla="*/ 1878004 w 2381250"/>
                <a:gd name="connsiteY4" fmla="*/ 1762126 h 1853566"/>
                <a:gd name="connsiteX5" fmla="*/ 503246 w 2381250"/>
                <a:gd name="connsiteY5" fmla="*/ 1762126 h 1853566"/>
                <a:gd name="connsiteX6" fmla="*/ 0 w 2381250"/>
                <a:gd name="connsiteY6" fmla="*/ 1258880 h 1853566"/>
                <a:gd name="connsiteX7" fmla="*/ 0 w 2381250"/>
                <a:gd name="connsiteY7" fmla="*/ 503246 h 1853566"/>
                <a:gd name="connsiteX8" fmla="*/ 503246 w 2381250"/>
                <a:gd name="connsiteY8" fmla="*/ 0 h 1853566"/>
                <a:gd name="connsiteX9" fmla="*/ 1301115 w 2381250"/>
                <a:gd name="connsiteY9" fmla="*/ 91441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1209675 w 2381250"/>
                <a:gd name="connsiteY0" fmla="*/ 1 h 1853566"/>
                <a:gd name="connsiteX1" fmla="*/ 1878004 w 2381250"/>
                <a:gd name="connsiteY1" fmla="*/ 0 h 1853566"/>
                <a:gd name="connsiteX2" fmla="*/ 2381250 w 2381250"/>
                <a:gd name="connsiteY2" fmla="*/ 503246 h 1853566"/>
                <a:gd name="connsiteX3" fmla="*/ 2381250 w 2381250"/>
                <a:gd name="connsiteY3" fmla="*/ 1258880 h 1853566"/>
                <a:gd name="connsiteX4" fmla="*/ 1878004 w 2381250"/>
                <a:gd name="connsiteY4" fmla="*/ 1762126 h 1853566"/>
                <a:gd name="connsiteX5" fmla="*/ 503246 w 2381250"/>
                <a:gd name="connsiteY5" fmla="*/ 1762126 h 1853566"/>
                <a:gd name="connsiteX6" fmla="*/ 0 w 2381250"/>
                <a:gd name="connsiteY6" fmla="*/ 1258880 h 1853566"/>
                <a:gd name="connsiteX7" fmla="*/ 0 w 2381250"/>
                <a:gd name="connsiteY7" fmla="*/ 503246 h 1853566"/>
                <a:gd name="connsiteX8" fmla="*/ 503246 w 2381250"/>
                <a:gd name="connsiteY8" fmla="*/ 0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1878004 w 2381250"/>
                <a:gd name="connsiteY0" fmla="*/ 0 h 1853566"/>
                <a:gd name="connsiteX1" fmla="*/ 2381250 w 2381250"/>
                <a:gd name="connsiteY1" fmla="*/ 503246 h 1853566"/>
                <a:gd name="connsiteX2" fmla="*/ 2381250 w 2381250"/>
                <a:gd name="connsiteY2" fmla="*/ 1258880 h 1853566"/>
                <a:gd name="connsiteX3" fmla="*/ 1878004 w 2381250"/>
                <a:gd name="connsiteY3" fmla="*/ 1762126 h 1853566"/>
                <a:gd name="connsiteX4" fmla="*/ 503246 w 2381250"/>
                <a:gd name="connsiteY4" fmla="*/ 1762126 h 1853566"/>
                <a:gd name="connsiteX5" fmla="*/ 0 w 2381250"/>
                <a:gd name="connsiteY5" fmla="*/ 1258880 h 1853566"/>
                <a:gd name="connsiteX6" fmla="*/ 0 w 2381250"/>
                <a:gd name="connsiteY6" fmla="*/ 503246 h 1853566"/>
                <a:gd name="connsiteX7" fmla="*/ 503246 w 2381250"/>
                <a:gd name="connsiteY7" fmla="*/ 0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1878004 w 2381250"/>
                <a:gd name="connsiteY4" fmla="*/ 0 h 1853566"/>
                <a:gd name="connsiteX5" fmla="*/ 2381250 w 2381250"/>
                <a:gd name="connsiteY5" fmla="*/ 503246 h 1853566"/>
                <a:gd name="connsiteX6" fmla="*/ 2381250 w 2381250"/>
                <a:gd name="connsiteY6" fmla="*/ 1258880 h 1853566"/>
                <a:gd name="connsiteX7" fmla="*/ 1878004 w 2381250"/>
                <a:gd name="connsiteY7" fmla="*/ 1762126 h 1853566"/>
                <a:gd name="connsiteX8" fmla="*/ 594686 w 2381250"/>
                <a:gd name="connsiteY8" fmla="*/ 1853566 h 1853566"/>
                <a:gd name="connsiteX0" fmla="*/ 1878004 w 2381250"/>
                <a:gd name="connsiteY0" fmla="*/ 0 h 1853566"/>
                <a:gd name="connsiteX1" fmla="*/ 2381250 w 2381250"/>
                <a:gd name="connsiteY1" fmla="*/ 503246 h 1853566"/>
                <a:gd name="connsiteX2" fmla="*/ 2381250 w 2381250"/>
                <a:gd name="connsiteY2" fmla="*/ 1258880 h 1853566"/>
                <a:gd name="connsiteX3" fmla="*/ 1878004 w 2381250"/>
                <a:gd name="connsiteY3" fmla="*/ 1762126 h 1853566"/>
                <a:gd name="connsiteX4" fmla="*/ 503246 w 2381250"/>
                <a:gd name="connsiteY4" fmla="*/ 1762126 h 1853566"/>
                <a:gd name="connsiteX5" fmla="*/ 0 w 2381250"/>
                <a:gd name="connsiteY5" fmla="*/ 1258880 h 1853566"/>
                <a:gd name="connsiteX6" fmla="*/ 0 w 2381250"/>
                <a:gd name="connsiteY6" fmla="*/ 503246 h 1853566"/>
                <a:gd name="connsiteX7" fmla="*/ 503246 w 2381250"/>
                <a:gd name="connsiteY7" fmla="*/ 0 h 1853566"/>
                <a:gd name="connsiteX0" fmla="*/ 503246 w 2381250"/>
                <a:gd name="connsiteY0" fmla="*/ 1762126 h 1853566"/>
                <a:gd name="connsiteX1" fmla="*/ 1878004 w 2381250"/>
                <a:gd name="connsiteY1" fmla="*/ 0 h 1853566"/>
                <a:gd name="connsiteX2" fmla="*/ 0 w 2381250"/>
                <a:gd name="connsiteY2" fmla="*/ 503246 h 1853566"/>
                <a:gd name="connsiteX3" fmla="*/ 503246 w 2381250"/>
                <a:gd name="connsiteY3" fmla="*/ 0 h 1853566"/>
                <a:gd name="connsiteX4" fmla="*/ 2381250 w 2381250"/>
                <a:gd name="connsiteY4" fmla="*/ 503246 h 1853566"/>
                <a:gd name="connsiteX5" fmla="*/ 2381250 w 2381250"/>
                <a:gd name="connsiteY5" fmla="*/ 1258880 h 1853566"/>
                <a:gd name="connsiteX6" fmla="*/ 1878004 w 2381250"/>
                <a:gd name="connsiteY6" fmla="*/ 1762126 h 1853566"/>
                <a:gd name="connsiteX7" fmla="*/ 594686 w 2381250"/>
                <a:gd name="connsiteY7" fmla="*/ 1853566 h 1853566"/>
                <a:gd name="connsiteX0" fmla="*/ 1878004 w 2381250"/>
                <a:gd name="connsiteY0" fmla="*/ 0 h 1853566"/>
                <a:gd name="connsiteX1" fmla="*/ 2381250 w 2381250"/>
                <a:gd name="connsiteY1" fmla="*/ 503246 h 1853566"/>
                <a:gd name="connsiteX2" fmla="*/ 2381250 w 2381250"/>
                <a:gd name="connsiteY2" fmla="*/ 1258880 h 1853566"/>
                <a:gd name="connsiteX3" fmla="*/ 1878004 w 2381250"/>
                <a:gd name="connsiteY3" fmla="*/ 1762126 h 1853566"/>
                <a:gd name="connsiteX4" fmla="*/ 503246 w 2381250"/>
                <a:gd name="connsiteY4" fmla="*/ 1762126 h 1853566"/>
                <a:gd name="connsiteX5" fmla="*/ 0 w 2381250"/>
                <a:gd name="connsiteY5" fmla="*/ 1258880 h 1853566"/>
                <a:gd name="connsiteX6" fmla="*/ 0 w 2381250"/>
                <a:gd name="connsiteY6" fmla="*/ 503246 h 1853566"/>
                <a:gd name="connsiteX7" fmla="*/ 503246 w 2381250"/>
                <a:gd name="connsiteY7" fmla="*/ 0 h 1853566"/>
                <a:gd name="connsiteX0" fmla="*/ 503246 w 2381250"/>
                <a:gd name="connsiteY0" fmla="*/ 1762126 h 1853566"/>
                <a:gd name="connsiteX1" fmla="*/ 0 w 2381250"/>
                <a:gd name="connsiteY1" fmla="*/ 503246 h 1853566"/>
                <a:gd name="connsiteX2" fmla="*/ 503246 w 2381250"/>
                <a:gd name="connsiteY2" fmla="*/ 0 h 1853566"/>
                <a:gd name="connsiteX3" fmla="*/ 2381250 w 2381250"/>
                <a:gd name="connsiteY3" fmla="*/ 503246 h 1853566"/>
                <a:gd name="connsiteX4" fmla="*/ 2381250 w 2381250"/>
                <a:gd name="connsiteY4" fmla="*/ 1258880 h 1853566"/>
                <a:gd name="connsiteX5" fmla="*/ 1878004 w 2381250"/>
                <a:gd name="connsiteY5" fmla="*/ 1762126 h 1853566"/>
                <a:gd name="connsiteX6" fmla="*/ 594686 w 2381250"/>
                <a:gd name="connsiteY6" fmla="*/ 1853566 h 1853566"/>
                <a:gd name="connsiteX0" fmla="*/ 1878004 w 2381250"/>
                <a:gd name="connsiteY0" fmla="*/ 0 h 1853566"/>
                <a:gd name="connsiteX1" fmla="*/ 2381250 w 2381250"/>
                <a:gd name="connsiteY1" fmla="*/ 503246 h 1853566"/>
                <a:gd name="connsiteX2" fmla="*/ 2381250 w 2381250"/>
                <a:gd name="connsiteY2" fmla="*/ 1258880 h 1853566"/>
                <a:gd name="connsiteX3" fmla="*/ 1878004 w 2381250"/>
                <a:gd name="connsiteY3" fmla="*/ 1762126 h 1853566"/>
                <a:gd name="connsiteX4" fmla="*/ 503246 w 2381250"/>
                <a:gd name="connsiteY4" fmla="*/ 1762126 h 1853566"/>
                <a:gd name="connsiteX5" fmla="*/ 0 w 2381250"/>
                <a:gd name="connsiteY5" fmla="*/ 1258880 h 1853566"/>
                <a:gd name="connsiteX6" fmla="*/ 0 w 2381250"/>
                <a:gd name="connsiteY6" fmla="*/ 503246 h 1853566"/>
                <a:gd name="connsiteX7" fmla="*/ 503246 w 2381250"/>
                <a:gd name="connsiteY7" fmla="*/ 0 h 1853566"/>
                <a:gd name="connsiteX0" fmla="*/ 0 w 2381250"/>
                <a:gd name="connsiteY0" fmla="*/ 503246 h 1853566"/>
                <a:gd name="connsiteX1" fmla="*/ 503246 w 2381250"/>
                <a:gd name="connsiteY1" fmla="*/ 0 h 1853566"/>
                <a:gd name="connsiteX2" fmla="*/ 2381250 w 2381250"/>
                <a:gd name="connsiteY2" fmla="*/ 503246 h 1853566"/>
                <a:gd name="connsiteX3" fmla="*/ 2381250 w 2381250"/>
                <a:gd name="connsiteY3" fmla="*/ 1258880 h 1853566"/>
                <a:gd name="connsiteX4" fmla="*/ 1878004 w 2381250"/>
                <a:gd name="connsiteY4" fmla="*/ 1762126 h 1853566"/>
                <a:gd name="connsiteX5" fmla="*/ 594686 w 2381250"/>
                <a:gd name="connsiteY5" fmla="*/ 1853566 h 1853566"/>
                <a:gd name="connsiteX0" fmla="*/ 1878004 w 2381250"/>
                <a:gd name="connsiteY0" fmla="*/ 0 h 1762126"/>
                <a:gd name="connsiteX1" fmla="*/ 2381250 w 2381250"/>
                <a:gd name="connsiteY1" fmla="*/ 503246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4" fmla="*/ 503246 w 2381250"/>
                <a:gd name="connsiteY4" fmla="*/ 1762126 h 1762126"/>
                <a:gd name="connsiteX5" fmla="*/ 0 w 2381250"/>
                <a:gd name="connsiteY5" fmla="*/ 1258880 h 1762126"/>
                <a:gd name="connsiteX6" fmla="*/ 0 w 2381250"/>
                <a:gd name="connsiteY6" fmla="*/ 503246 h 1762126"/>
                <a:gd name="connsiteX7" fmla="*/ 503246 w 2381250"/>
                <a:gd name="connsiteY7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503246 h 1762126"/>
                <a:gd name="connsiteX3" fmla="*/ 2381250 w 2381250"/>
                <a:gd name="connsiteY3" fmla="*/ 1258880 h 1762126"/>
                <a:gd name="connsiteX4" fmla="*/ 1878004 w 2381250"/>
                <a:gd name="connsiteY4" fmla="*/ 1762126 h 1762126"/>
                <a:gd name="connsiteX0" fmla="*/ 1878004 w 2381250"/>
                <a:gd name="connsiteY0" fmla="*/ 0 h 1762126"/>
                <a:gd name="connsiteX1" fmla="*/ 2381250 w 2381250"/>
                <a:gd name="connsiteY1" fmla="*/ 503246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4" fmla="*/ 0 w 2381250"/>
                <a:gd name="connsiteY4" fmla="*/ 1258880 h 1762126"/>
                <a:gd name="connsiteX5" fmla="*/ 0 w 2381250"/>
                <a:gd name="connsiteY5" fmla="*/ 503246 h 1762126"/>
                <a:gd name="connsiteX6" fmla="*/ 503246 w 2381250"/>
                <a:gd name="connsiteY6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503246 h 1762126"/>
                <a:gd name="connsiteX3" fmla="*/ 2381250 w 2381250"/>
                <a:gd name="connsiteY3" fmla="*/ 1258880 h 1762126"/>
                <a:gd name="connsiteX4" fmla="*/ 1878004 w 2381250"/>
                <a:gd name="connsiteY4" fmla="*/ 1762126 h 1762126"/>
                <a:gd name="connsiteX0" fmla="*/ 1878004 w 2381250"/>
                <a:gd name="connsiteY0" fmla="*/ 0 h 1762126"/>
                <a:gd name="connsiteX1" fmla="*/ 2381250 w 2381250"/>
                <a:gd name="connsiteY1" fmla="*/ 503246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4" fmla="*/ 0 w 2381250"/>
                <a:gd name="connsiteY4" fmla="*/ 503246 h 1762126"/>
                <a:gd name="connsiteX5" fmla="*/ 503246 w 2381250"/>
                <a:gd name="connsiteY5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503246 h 1762126"/>
                <a:gd name="connsiteX3" fmla="*/ 2381250 w 2381250"/>
                <a:gd name="connsiteY3" fmla="*/ 1258880 h 1762126"/>
                <a:gd name="connsiteX4" fmla="*/ 1878004 w 2381250"/>
                <a:gd name="connsiteY4" fmla="*/ 1762126 h 1762126"/>
                <a:gd name="connsiteX0" fmla="*/ 2381250 w 2381250"/>
                <a:gd name="connsiteY0" fmla="*/ 503246 h 1762126"/>
                <a:gd name="connsiteX1" fmla="*/ 2381250 w 2381250"/>
                <a:gd name="connsiteY1" fmla="*/ 1258880 h 1762126"/>
                <a:gd name="connsiteX2" fmla="*/ 1878004 w 2381250"/>
                <a:gd name="connsiteY2" fmla="*/ 1762126 h 1762126"/>
                <a:gd name="connsiteX3" fmla="*/ 0 w 2381250"/>
                <a:gd name="connsiteY3" fmla="*/ 503246 h 1762126"/>
                <a:gd name="connsiteX4" fmla="*/ 503246 w 2381250"/>
                <a:gd name="connsiteY4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503246 h 1762126"/>
                <a:gd name="connsiteX3" fmla="*/ 2381250 w 2381250"/>
                <a:gd name="connsiteY3" fmla="*/ 1258880 h 1762126"/>
                <a:gd name="connsiteX4" fmla="*/ 1878004 w 2381250"/>
                <a:gd name="connsiteY4" fmla="*/ 1762126 h 1762126"/>
                <a:gd name="connsiteX0" fmla="*/ 2381250 w 2381250"/>
                <a:gd name="connsiteY0" fmla="*/ 503246 h 1762126"/>
                <a:gd name="connsiteX1" fmla="*/ 2381250 w 2381250"/>
                <a:gd name="connsiteY1" fmla="*/ 1258880 h 1762126"/>
                <a:gd name="connsiteX2" fmla="*/ 1878004 w 2381250"/>
                <a:gd name="connsiteY2" fmla="*/ 1762126 h 1762126"/>
                <a:gd name="connsiteX3" fmla="*/ 0 w 2381250"/>
                <a:gd name="connsiteY3" fmla="*/ 503246 h 1762126"/>
                <a:gd name="connsiteX4" fmla="*/ 503246 w 2381250"/>
                <a:gd name="connsiteY4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0" fmla="*/ 2381250 w 2381250"/>
                <a:gd name="connsiteY0" fmla="*/ 1258880 h 1762126"/>
                <a:gd name="connsiteX1" fmla="*/ 1878004 w 2381250"/>
                <a:gd name="connsiteY1" fmla="*/ 1762126 h 1762126"/>
                <a:gd name="connsiteX2" fmla="*/ 0 w 2381250"/>
                <a:gd name="connsiteY2" fmla="*/ 503246 h 1762126"/>
                <a:gd name="connsiteX3" fmla="*/ 503246 w 2381250"/>
                <a:gd name="connsiteY3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2" fmla="*/ 2381250 w 2381250"/>
                <a:gd name="connsiteY2" fmla="*/ 1258880 h 1762126"/>
                <a:gd name="connsiteX3" fmla="*/ 1878004 w 2381250"/>
                <a:gd name="connsiteY3" fmla="*/ 1762126 h 1762126"/>
                <a:gd name="connsiteX0" fmla="*/ 2381250 w 2381250"/>
                <a:gd name="connsiteY0" fmla="*/ 1258880 h 1762126"/>
                <a:gd name="connsiteX1" fmla="*/ 1878004 w 2381250"/>
                <a:gd name="connsiteY1" fmla="*/ 1762126 h 1762126"/>
                <a:gd name="connsiteX2" fmla="*/ 0 w 2381250"/>
                <a:gd name="connsiteY2" fmla="*/ 503246 h 1762126"/>
                <a:gd name="connsiteX3" fmla="*/ 503246 w 2381250"/>
                <a:gd name="connsiteY3" fmla="*/ 0 h 1762126"/>
                <a:gd name="connsiteX0" fmla="*/ 0 w 2381250"/>
                <a:gd name="connsiteY0" fmla="*/ 503246 h 1762126"/>
                <a:gd name="connsiteX1" fmla="*/ 503246 w 2381250"/>
                <a:gd name="connsiteY1" fmla="*/ 0 h 1762126"/>
                <a:gd name="connsiteX0" fmla="*/ 1878004 w 1878004"/>
                <a:gd name="connsiteY0" fmla="*/ 1762126 h 1762126"/>
                <a:gd name="connsiteX1" fmla="*/ 0 w 1878004"/>
                <a:gd name="connsiteY1" fmla="*/ 503246 h 1762126"/>
                <a:gd name="connsiteX2" fmla="*/ 503246 w 1878004"/>
                <a:gd name="connsiteY2" fmla="*/ 0 h 1762126"/>
                <a:gd name="connsiteX0" fmla="*/ 0 w 1878004"/>
                <a:gd name="connsiteY0" fmla="*/ 503246 h 1762126"/>
                <a:gd name="connsiteX1" fmla="*/ 503246 w 1878004"/>
                <a:gd name="connsiteY1" fmla="*/ 0 h 1762126"/>
                <a:gd name="connsiteX0" fmla="*/ 0 w 503246"/>
                <a:gd name="connsiteY0" fmla="*/ 503246 h 503246"/>
                <a:gd name="connsiteX1" fmla="*/ 503246 w 503246"/>
                <a:gd name="connsiteY1" fmla="*/ 0 h 503246"/>
                <a:gd name="connsiteX0" fmla="*/ 0 w 503246"/>
                <a:gd name="connsiteY0" fmla="*/ 503246 h 503246"/>
                <a:gd name="connsiteX1" fmla="*/ 503246 w 503246"/>
                <a:gd name="connsiteY1" fmla="*/ 0 h 503246"/>
                <a:gd name="connsiteX0" fmla="*/ 2880 w 506126"/>
                <a:gd name="connsiteY0" fmla="*/ 503246 h 503246"/>
                <a:gd name="connsiteX1" fmla="*/ 506126 w 506126"/>
                <a:gd name="connsiteY1" fmla="*/ 0 h 503246"/>
                <a:gd name="connsiteX0" fmla="*/ 2880 w 506126"/>
                <a:gd name="connsiteY0" fmla="*/ 503246 h 503246"/>
                <a:gd name="connsiteX1" fmla="*/ 0 w 506126"/>
                <a:gd name="connsiteY1" fmla="*/ 498555 h 503246"/>
                <a:gd name="connsiteX2" fmla="*/ 506126 w 506126"/>
                <a:gd name="connsiteY2" fmla="*/ 0 h 503246"/>
                <a:gd name="connsiteX0" fmla="*/ 987 w 504233"/>
                <a:gd name="connsiteY0" fmla="*/ 503246 h 503246"/>
                <a:gd name="connsiteX1" fmla="*/ 504233 w 504233"/>
                <a:gd name="connsiteY1" fmla="*/ 0 h 503246"/>
                <a:gd name="connsiteX0" fmla="*/ 987 w 504233"/>
                <a:gd name="connsiteY0" fmla="*/ 503246 h 503246"/>
                <a:gd name="connsiteX1" fmla="*/ 0 w 504233"/>
                <a:gd name="connsiteY1" fmla="*/ 415260 h 503246"/>
                <a:gd name="connsiteX2" fmla="*/ 504233 w 504233"/>
                <a:gd name="connsiteY2" fmla="*/ 0 h 503246"/>
                <a:gd name="connsiteX0" fmla="*/ 5680 w 508926"/>
                <a:gd name="connsiteY0" fmla="*/ 503246 h 1661839"/>
                <a:gd name="connsiteX1" fmla="*/ 508926 w 508926"/>
                <a:gd name="connsiteY1" fmla="*/ 0 h 1661839"/>
                <a:gd name="connsiteX0" fmla="*/ 0 w 508926"/>
                <a:gd name="connsiteY0" fmla="*/ 1661839 h 1661839"/>
                <a:gd name="connsiteX1" fmla="*/ 4693 w 508926"/>
                <a:gd name="connsiteY1" fmla="*/ 415260 h 1661839"/>
                <a:gd name="connsiteX2" fmla="*/ 508926 w 508926"/>
                <a:gd name="connsiteY2" fmla="*/ 0 h 1661839"/>
                <a:gd name="connsiteX0" fmla="*/ 5680 w 508926"/>
                <a:gd name="connsiteY0" fmla="*/ 503246 h 1661839"/>
                <a:gd name="connsiteX1" fmla="*/ 508926 w 508926"/>
                <a:gd name="connsiteY1" fmla="*/ 0 h 1661839"/>
                <a:gd name="connsiteX0" fmla="*/ 0 w 508926"/>
                <a:gd name="connsiteY0" fmla="*/ 1661839 h 1661839"/>
                <a:gd name="connsiteX1" fmla="*/ 4693 w 508926"/>
                <a:gd name="connsiteY1" fmla="*/ 509916 h 1661839"/>
                <a:gd name="connsiteX2" fmla="*/ 508926 w 508926"/>
                <a:gd name="connsiteY2" fmla="*/ 0 h 1661839"/>
                <a:gd name="connsiteX0" fmla="*/ 5680 w 508926"/>
                <a:gd name="connsiteY0" fmla="*/ 503246 h 3880192"/>
                <a:gd name="connsiteX1" fmla="*/ 508926 w 508926"/>
                <a:gd name="connsiteY1" fmla="*/ 0 h 3880192"/>
                <a:gd name="connsiteX0" fmla="*/ 0 w 508926"/>
                <a:gd name="connsiteY0" fmla="*/ 3880192 h 3880192"/>
                <a:gd name="connsiteX1" fmla="*/ 4693 w 508926"/>
                <a:gd name="connsiteY1" fmla="*/ 509916 h 3880192"/>
                <a:gd name="connsiteX2" fmla="*/ 508926 w 508926"/>
                <a:gd name="connsiteY2" fmla="*/ 0 h 3880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8926" h="3880192" stroke="0" extrusionOk="0">
                  <a:moveTo>
                    <a:pt x="5680" y="503246"/>
                  </a:moveTo>
                  <a:cubicBezTo>
                    <a:pt x="5680" y="225311"/>
                    <a:pt x="230991" y="0"/>
                    <a:pt x="508926" y="0"/>
                  </a:cubicBezTo>
                </a:path>
                <a:path w="508926" h="3880192" fill="none">
                  <a:moveTo>
                    <a:pt x="0" y="3880192"/>
                  </a:moveTo>
                  <a:cubicBezTo>
                    <a:pt x="1564" y="3464666"/>
                    <a:pt x="3129" y="925442"/>
                    <a:pt x="4693" y="509916"/>
                  </a:cubicBezTo>
                  <a:cubicBezTo>
                    <a:pt x="7573" y="236672"/>
                    <a:pt x="230991" y="0"/>
                    <a:pt x="508926" y="0"/>
                  </a:cubicBezTo>
                </a:path>
              </a:pathLst>
            </a:custGeom>
            <a:noFill/>
            <a:ln w="63500" cap="rnd">
              <a:solidFill>
                <a:srgbClr val="C1007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53" name="Conexão reta 152">
              <a:extLst>
                <a:ext uri="{FF2B5EF4-FFF2-40B4-BE49-F238E27FC236}">
                  <a16:creationId xmlns:a16="http://schemas.microsoft.com/office/drawing/2014/main" id="{4341ADA2-07B7-4243-9257-6FF45EB8F83B}"/>
                </a:ext>
              </a:extLst>
            </p:cNvPr>
            <p:cNvCxnSpPr/>
            <p:nvPr/>
          </p:nvCxnSpPr>
          <p:spPr>
            <a:xfrm>
              <a:off x="6377698" y="1597469"/>
              <a:ext cx="5638090" cy="0"/>
            </a:xfrm>
            <a:prstGeom prst="line">
              <a:avLst/>
            </a:prstGeom>
            <a:ln w="63500" cap="rnd">
              <a:solidFill>
                <a:srgbClr val="C1007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5B29E95-5FCA-4562-8DCD-981D7A79A1B1}"/>
              </a:ext>
            </a:extLst>
          </p:cNvPr>
          <p:cNvSpPr/>
          <p:nvPr/>
        </p:nvSpPr>
        <p:spPr>
          <a:xfrm>
            <a:off x="0" y="4457353"/>
            <a:ext cx="2453951" cy="9425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buClr>
                <a:srgbClr val="77933C"/>
              </a:buClr>
            </a:pP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Análogo da </a:t>
            </a:r>
            <a:r>
              <a:rPr lang="pt-PT" sz="1300" b="1" dirty="0">
                <a:latin typeface="Trebuchet MS" panose="020B0603020202020204" pitchFamily="34" charset="0"/>
              </a:rPr>
              <a:t>PGE2.</a:t>
            </a:r>
          </a:p>
          <a:p>
            <a:pPr>
              <a:lnSpc>
                <a:spcPct val="85000"/>
              </a:lnSpc>
              <a:buClr>
                <a:srgbClr val="77933C"/>
              </a:buClr>
            </a:pPr>
            <a:endParaRPr lang="pt-PT" sz="1300" b="1" dirty="0">
              <a:solidFill>
                <a:srgbClr val="26AAE2"/>
              </a:solidFill>
              <a:latin typeface="Trebuchet MS" panose="020B0603020202020204" pitchFamily="34" charset="0"/>
            </a:endParaRPr>
          </a:p>
          <a:p>
            <a:pPr>
              <a:lnSpc>
                <a:spcPct val="85000"/>
              </a:lnSpc>
              <a:buClr>
                <a:srgbClr val="77933C"/>
              </a:buClr>
            </a:pP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Sistema de libertação vaginal.</a:t>
            </a:r>
          </a:p>
          <a:p>
            <a:pPr>
              <a:lnSpc>
                <a:spcPct val="85000"/>
              </a:lnSpc>
              <a:buClr>
                <a:srgbClr val="77933C"/>
              </a:buClr>
            </a:pPr>
            <a:endParaRPr lang="pt-PT" sz="1300" dirty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>
              <a:lnSpc>
                <a:spcPct val="85000"/>
              </a:lnSpc>
              <a:buClr>
                <a:srgbClr val="77933C"/>
              </a:buClr>
            </a:pP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Requer </a:t>
            </a:r>
            <a:r>
              <a:rPr lang="pt-PT" sz="1300" b="1" dirty="0">
                <a:latin typeface="Trebuchet MS" panose="020B0603020202020204" pitchFamily="34" charset="0"/>
              </a:rPr>
              <a:t>refrigeração</a:t>
            </a: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 contínua.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E3A642-2C94-4FD3-B3D6-479F92841C2F}"/>
              </a:ext>
            </a:extLst>
          </p:cNvPr>
          <p:cNvSpPr txBox="1"/>
          <p:nvPr/>
        </p:nvSpPr>
        <p:spPr>
          <a:xfrm>
            <a:off x="171461" y="692095"/>
            <a:ext cx="2282490" cy="369332"/>
          </a:xfrm>
          <a:prstGeom prst="rect">
            <a:avLst/>
          </a:prstGeom>
          <a:solidFill>
            <a:srgbClr val="C10076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MISOPROSTOL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C8DED9-A671-4F06-B563-4A3BDC9E49FD}"/>
              </a:ext>
            </a:extLst>
          </p:cNvPr>
          <p:cNvSpPr txBox="1"/>
          <p:nvPr/>
        </p:nvSpPr>
        <p:spPr>
          <a:xfrm>
            <a:off x="171461" y="3959673"/>
            <a:ext cx="2282490" cy="369332"/>
          </a:xfrm>
          <a:prstGeom prst="rect">
            <a:avLst/>
          </a:prstGeom>
          <a:solidFill>
            <a:srgbClr val="26AAE2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DINOPROSTONA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5717C1-6A0C-4912-B361-F264740C6170}"/>
              </a:ext>
            </a:extLst>
          </p:cNvPr>
          <p:cNvSpPr/>
          <p:nvPr/>
        </p:nvSpPr>
        <p:spPr>
          <a:xfrm>
            <a:off x="0" y="1173856"/>
            <a:ext cx="2581158" cy="2643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buClr>
                <a:srgbClr val="77933C"/>
              </a:buClr>
            </a:pP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Análogo da </a:t>
            </a:r>
            <a:r>
              <a:rPr lang="pt-PT" sz="1300" b="1" dirty="0">
                <a:solidFill>
                  <a:srgbClr val="C10076"/>
                </a:solidFill>
                <a:latin typeface="Trebuchet MS" panose="020B0603020202020204" pitchFamily="34" charset="0"/>
              </a:rPr>
              <a:t>PGE1.</a:t>
            </a:r>
          </a:p>
          <a:p>
            <a:pPr>
              <a:lnSpc>
                <a:spcPct val="85000"/>
              </a:lnSpc>
              <a:buClr>
                <a:srgbClr val="77933C"/>
              </a:buClr>
            </a:pPr>
            <a:endParaRPr lang="pt-PT" sz="1300" dirty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>
              <a:lnSpc>
                <a:spcPct val="85000"/>
              </a:lnSpc>
              <a:buClr>
                <a:srgbClr val="77933C"/>
              </a:buClr>
            </a:pP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Comprimidos vaginais.</a:t>
            </a:r>
          </a:p>
          <a:p>
            <a:pPr>
              <a:lnSpc>
                <a:spcPct val="85000"/>
              </a:lnSpc>
              <a:buClr>
                <a:srgbClr val="77933C"/>
              </a:buClr>
            </a:pPr>
            <a:endParaRPr lang="pt-PT" sz="1300" dirty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>
              <a:lnSpc>
                <a:spcPct val="85000"/>
              </a:lnSpc>
              <a:buClr>
                <a:srgbClr val="77933C"/>
              </a:buClr>
            </a:pPr>
            <a:r>
              <a:rPr lang="pt-PT" sz="1300" b="1" dirty="0">
                <a:solidFill>
                  <a:srgbClr val="C10076"/>
                </a:solidFill>
                <a:latin typeface="Trebuchet MS" panose="020B0603020202020204" pitchFamily="34" charset="0"/>
              </a:rPr>
              <a:t>Mais eficaz</a:t>
            </a: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: maior probabilidade de </a:t>
            </a:r>
            <a:r>
              <a:rPr lang="pt-PT" sz="1300" b="1" dirty="0">
                <a:solidFill>
                  <a:srgbClr val="C10076"/>
                </a:solidFill>
                <a:latin typeface="Trebuchet MS" panose="020B0603020202020204" pitchFamily="34" charset="0"/>
              </a:rPr>
              <a:t>parto vaginal</a:t>
            </a: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 (às 12 e 24h).</a:t>
            </a:r>
          </a:p>
          <a:p>
            <a:pPr>
              <a:lnSpc>
                <a:spcPct val="85000"/>
              </a:lnSpc>
              <a:buClr>
                <a:srgbClr val="77933C"/>
              </a:buClr>
            </a:pPr>
            <a:endParaRPr lang="pt-PT" sz="1300" dirty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>
              <a:lnSpc>
                <a:spcPct val="85000"/>
              </a:lnSpc>
              <a:buClr>
                <a:srgbClr val="77933C"/>
              </a:buClr>
            </a:pPr>
            <a:r>
              <a:rPr lang="pt-PT" sz="1300" b="1" dirty="0">
                <a:solidFill>
                  <a:srgbClr val="C10076"/>
                </a:solidFill>
                <a:latin typeface="Trebuchet MS" panose="020B0603020202020204" pitchFamily="34" charset="0"/>
              </a:rPr>
              <a:t>Menor tempo </a:t>
            </a: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entre indução e parto.</a:t>
            </a:r>
          </a:p>
          <a:p>
            <a:pPr>
              <a:lnSpc>
                <a:spcPct val="85000"/>
              </a:lnSpc>
              <a:buClr>
                <a:srgbClr val="77933C"/>
              </a:buClr>
            </a:pPr>
            <a:endParaRPr lang="pt-PT" sz="1300" dirty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>
              <a:lnSpc>
                <a:spcPct val="85000"/>
              </a:lnSpc>
              <a:buClr>
                <a:srgbClr val="77933C"/>
              </a:buClr>
            </a:pPr>
            <a:r>
              <a:rPr lang="pt-PT" sz="1300" dirty="0">
                <a:solidFill>
                  <a:schemeClr val="bg1"/>
                </a:solidFill>
                <a:latin typeface="Trebuchet MS" panose="020B0603020202020204" pitchFamily="34" charset="0"/>
              </a:rPr>
              <a:t>Sem condições de conservação especiais.</a:t>
            </a:r>
          </a:p>
          <a:p>
            <a:pPr>
              <a:lnSpc>
                <a:spcPct val="85000"/>
              </a:lnSpc>
              <a:buClr>
                <a:srgbClr val="77933C"/>
              </a:buClr>
            </a:pPr>
            <a:endParaRPr lang="pt-PT" sz="1300" dirty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>
              <a:lnSpc>
                <a:spcPct val="85000"/>
              </a:lnSpc>
              <a:buClr>
                <a:srgbClr val="77933C"/>
              </a:buClr>
            </a:pPr>
            <a:endParaRPr lang="pt-PT" sz="1300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F5C4EB-0214-47D8-9493-72EB38AF9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517" y="2081712"/>
            <a:ext cx="8458200" cy="36099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82EB31-9EB8-4AC0-8454-E0F9ADBAF6F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21" r="6886"/>
          <a:stretch/>
        </p:blipFill>
        <p:spPr>
          <a:xfrm>
            <a:off x="3379368" y="5580616"/>
            <a:ext cx="7927729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450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260D6C0-276F-4663-9132-FBC70BEC9CF0}"/>
              </a:ext>
            </a:extLst>
          </p:cNvPr>
          <p:cNvSpPr/>
          <p:nvPr/>
        </p:nvSpPr>
        <p:spPr>
          <a:xfrm>
            <a:off x="0" y="0"/>
            <a:ext cx="12192000" cy="1942391"/>
          </a:xfrm>
          <a:prstGeom prst="rect">
            <a:avLst/>
          </a:prstGeom>
          <a:solidFill>
            <a:srgbClr val="CF84AE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1683" tIns="65842" rIns="131683" bIns="6584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Double Bracket 14">
            <a:extLst>
              <a:ext uri="{FF2B5EF4-FFF2-40B4-BE49-F238E27FC236}">
                <a16:creationId xmlns:a16="http://schemas.microsoft.com/office/drawing/2014/main" id="{48061D2B-32F6-4A37-9267-F6E92C384512}"/>
              </a:ext>
            </a:extLst>
          </p:cNvPr>
          <p:cNvSpPr/>
          <p:nvPr/>
        </p:nvSpPr>
        <p:spPr>
          <a:xfrm>
            <a:off x="624987" y="528965"/>
            <a:ext cx="457496" cy="457496"/>
          </a:xfrm>
          <a:custGeom>
            <a:avLst/>
            <a:gdLst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1258880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4" fmla="*/ 1878004 w 2381250"/>
              <a:gd name="connsiteY4" fmla="*/ 0 h 1762126"/>
              <a:gd name="connsiteX5" fmla="*/ 2381250 w 2381250"/>
              <a:gd name="connsiteY5" fmla="*/ 503246 h 1762126"/>
              <a:gd name="connsiteX6" fmla="*/ 2381250 w 2381250"/>
              <a:gd name="connsiteY6" fmla="*/ 1258880 h 1762126"/>
              <a:gd name="connsiteX7" fmla="*/ 1878004 w 2381250"/>
              <a:gd name="connsiteY7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7" fmla="*/ 503246 w 2381250"/>
              <a:gd name="connsiteY7" fmla="*/ 1762126 h 176212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878004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03246 w 2381250"/>
              <a:gd name="connsiteY6" fmla="*/ 1762126 h 1853566"/>
              <a:gd name="connsiteX7" fmla="*/ 0 w 2381250"/>
              <a:gd name="connsiteY7" fmla="*/ 1258880 h 1853566"/>
              <a:gd name="connsiteX8" fmla="*/ 0 w 2381250"/>
              <a:gd name="connsiteY8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209675 w 2381250"/>
              <a:gd name="connsiteY2" fmla="*/ 1 h 1853566"/>
              <a:gd name="connsiteX3" fmla="*/ 1878004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03246 w 2381250"/>
              <a:gd name="connsiteY7" fmla="*/ 1762126 h 1853566"/>
              <a:gd name="connsiteX8" fmla="*/ 0 w 2381250"/>
              <a:gd name="connsiteY8" fmla="*/ 1258880 h 1853566"/>
              <a:gd name="connsiteX9" fmla="*/ 0 w 2381250"/>
              <a:gd name="connsiteY9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9" fmla="*/ 1301115 w 2381250"/>
              <a:gd name="connsiteY9" fmla="*/ 91441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94686 w 2381250"/>
              <a:gd name="connsiteY7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0 w 2381250"/>
              <a:gd name="connsiteY1" fmla="*/ 503246 h 1853566"/>
              <a:gd name="connsiteX2" fmla="*/ 503246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94686 w 2381250"/>
              <a:gd name="connsiteY6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94686 w 2381250"/>
              <a:gd name="connsiteY5" fmla="*/ 1853566 h 185356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503246 w 2381250"/>
              <a:gd name="connsiteY4" fmla="*/ 1762126 h 1762126"/>
              <a:gd name="connsiteX5" fmla="*/ 0 w 2381250"/>
              <a:gd name="connsiteY5" fmla="*/ 1258880 h 1762126"/>
              <a:gd name="connsiteX6" fmla="*/ 0 w 2381250"/>
              <a:gd name="connsiteY6" fmla="*/ 503246 h 1762126"/>
              <a:gd name="connsiteX7" fmla="*/ 503246 w 2381250"/>
              <a:gd name="connsiteY7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1258880 h 1762126"/>
              <a:gd name="connsiteX5" fmla="*/ 0 w 2381250"/>
              <a:gd name="connsiteY5" fmla="*/ 503246 h 1762126"/>
              <a:gd name="connsiteX6" fmla="*/ 503246 w 2381250"/>
              <a:gd name="connsiteY6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503246 h 1762126"/>
              <a:gd name="connsiteX5" fmla="*/ 503246 w 2381250"/>
              <a:gd name="connsiteY5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0" fmla="*/ 1878004 w 1878004"/>
              <a:gd name="connsiteY0" fmla="*/ 1762126 h 1762126"/>
              <a:gd name="connsiteX1" fmla="*/ 0 w 1878004"/>
              <a:gd name="connsiteY1" fmla="*/ 503246 h 1762126"/>
              <a:gd name="connsiteX2" fmla="*/ 503246 w 1878004"/>
              <a:gd name="connsiteY2" fmla="*/ 0 h 1762126"/>
              <a:gd name="connsiteX0" fmla="*/ 0 w 1878004"/>
              <a:gd name="connsiteY0" fmla="*/ 503246 h 1762126"/>
              <a:gd name="connsiteX1" fmla="*/ 503246 w 1878004"/>
              <a:gd name="connsiteY1" fmla="*/ 0 h 1762126"/>
              <a:gd name="connsiteX0" fmla="*/ 0 w 503246"/>
              <a:gd name="connsiteY0" fmla="*/ 503246 h 503246"/>
              <a:gd name="connsiteX1" fmla="*/ 503246 w 503246"/>
              <a:gd name="connsiteY1" fmla="*/ 0 h 503246"/>
              <a:gd name="connsiteX0" fmla="*/ 0 w 503246"/>
              <a:gd name="connsiteY0" fmla="*/ 503246 h 503246"/>
              <a:gd name="connsiteX1" fmla="*/ 503246 w 503246"/>
              <a:gd name="connsiteY1" fmla="*/ 0 h 503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246" h="503246" stroke="0" extrusionOk="0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  <a:path w="503246" h="503246" fill="none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</a:pathLst>
          </a:custGeom>
          <a:noFill/>
          <a:ln w="25400" cap="rnd">
            <a:solidFill>
              <a:srgbClr val="C1007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9B6AE3-5CFE-4172-A3C7-237BE3CB693A}"/>
              </a:ext>
            </a:extLst>
          </p:cNvPr>
          <p:cNvSpPr txBox="1"/>
          <p:nvPr/>
        </p:nvSpPr>
        <p:spPr>
          <a:xfrm>
            <a:off x="966586" y="732135"/>
            <a:ext cx="2841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800" b="0" i="0" u="none" strike="noStrike" cap="none" normalizeH="0" baseline="0" noProof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MISOFAR 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E8A6C3-1F5C-4B2E-AA5C-20B5C2A64053}"/>
              </a:ext>
            </a:extLst>
          </p:cNvPr>
          <p:cNvSpPr txBox="1"/>
          <p:nvPr/>
        </p:nvSpPr>
        <p:spPr>
          <a:xfrm>
            <a:off x="966586" y="1154033"/>
            <a:ext cx="5598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pt-PT" sz="3200" b="1" dirty="0">
                <a:solidFill>
                  <a:srgbClr val="C10076"/>
                </a:solidFill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PRINCIPAIS VANTAGENS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D46316A-295D-4B2E-880A-6B8E28D32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8" y="2346378"/>
            <a:ext cx="3656838" cy="11155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5E34B1D-03FD-44A8-B026-6747CAE8B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60" y="3565327"/>
            <a:ext cx="3212314" cy="122453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41A04F5-50E5-4D69-A762-7C30FD40E7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5249180"/>
            <a:ext cx="3925229" cy="109034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670561A-F048-4C51-A9BA-3072EAF392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8200" y="2356105"/>
            <a:ext cx="2482624" cy="114066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E405640-6D3A-4170-BC31-F35419E313B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-248"/>
          <a:stretch/>
        </p:blipFill>
        <p:spPr>
          <a:xfrm>
            <a:off x="4228199" y="3548818"/>
            <a:ext cx="4069495" cy="129163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2C5B8D0-D67C-4B08-957D-A0B5097D78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5452" y="5226443"/>
            <a:ext cx="2558109" cy="114066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93ECF06-8FE0-48B7-86BB-5BA69F6316D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2997"/>
          <a:stretch/>
        </p:blipFill>
        <p:spPr>
          <a:xfrm>
            <a:off x="8106979" y="2223008"/>
            <a:ext cx="3856421" cy="135034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358D31A-7B96-41EC-AB53-EF93B7A4738D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880"/>
          <a:stretch/>
        </p:blipFill>
        <p:spPr>
          <a:xfrm>
            <a:off x="8239760" y="3564527"/>
            <a:ext cx="3396750" cy="137550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C058EE0-502B-4FBB-B4C9-4636F3DB401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39029" y="5251604"/>
            <a:ext cx="2583271" cy="111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976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AABA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AB76780-01AD-498B-AE7B-AC3ED702959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0685" y="1969912"/>
            <a:ext cx="7884586" cy="3075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853346-BCD7-4107-9F1B-DBB173D19DC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21" t="30334" r="42110" b="8802"/>
          <a:stretch/>
        </p:blipFill>
        <p:spPr>
          <a:xfrm flipH="1">
            <a:off x="-1" y="-235048"/>
            <a:ext cx="3224039" cy="752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826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FC814-F5B3-4811-830F-58761BFD8DCB}"/>
              </a:ext>
            </a:extLst>
          </p:cNvPr>
          <p:cNvSpPr/>
          <p:nvPr/>
        </p:nvSpPr>
        <p:spPr>
          <a:xfrm>
            <a:off x="588962" y="1621214"/>
            <a:ext cx="4965088" cy="830997"/>
          </a:xfrm>
          <a:prstGeom prst="rect">
            <a:avLst/>
          </a:prstGeom>
          <a:solidFill>
            <a:srgbClr val="D9D9D9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PT" sz="1600" dirty="0">
                <a:solidFill>
                  <a:schemeClr val="tx1"/>
                </a:solidFill>
                <a:latin typeface="Trebuchet MS" panose="020B0603020202020204" pitchFamily="34" charset="0"/>
              </a:rPr>
              <a:t>É um procedimento ginecológico que consiste na visualização do colo do útero e da cavidade uterina para fins de </a:t>
            </a:r>
            <a:r>
              <a:rPr lang="pt-PT" sz="1600" b="1" dirty="0">
                <a:solidFill>
                  <a:schemeClr val="tx1"/>
                </a:solidFill>
                <a:latin typeface="Trebuchet MS" panose="020B0603020202020204" pitchFamily="34" charset="0"/>
              </a:rPr>
              <a:t>diagnóstico e/ou cirúrgicos</a:t>
            </a:r>
            <a:r>
              <a:rPr lang="pt-PT" sz="1600" dirty="0">
                <a:solidFill>
                  <a:schemeClr val="tx1"/>
                </a:solidFill>
                <a:latin typeface="Trebuchet MS" panose="020B0603020202020204" pitchFamily="34" charset="0"/>
              </a:rPr>
              <a:t>.</a:t>
            </a:r>
          </a:p>
        </p:txBody>
      </p:sp>
      <p:sp>
        <p:nvSpPr>
          <p:cNvPr id="52" name="Rectangle 17">
            <a:extLst>
              <a:ext uri="{FF2B5EF4-FFF2-40B4-BE49-F238E27FC236}">
                <a16:creationId xmlns:a16="http://schemas.microsoft.com/office/drawing/2014/main" id="{181E1B51-1987-4B08-A1E7-1C7BDEA83B43}"/>
              </a:ext>
            </a:extLst>
          </p:cNvPr>
          <p:cNvSpPr/>
          <p:nvPr/>
        </p:nvSpPr>
        <p:spPr>
          <a:xfrm>
            <a:off x="1" y="6168476"/>
            <a:ext cx="12192000" cy="689524"/>
          </a:xfrm>
          <a:prstGeom prst="rect">
            <a:avLst/>
          </a:prstGeom>
          <a:solidFill>
            <a:srgbClr val="CED2D5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1683" tIns="65842" rIns="131683" bIns="6584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C7C2EB0-25FE-42DD-B4A4-ACEE143AA8C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24" t="8333" r="5008" b="5000"/>
          <a:stretch/>
        </p:blipFill>
        <p:spPr>
          <a:xfrm>
            <a:off x="4995228" y="893206"/>
            <a:ext cx="7246620" cy="5943600"/>
          </a:xfrm>
          <a:prstGeom prst="rect">
            <a:avLst/>
          </a:prstGeom>
        </p:spPr>
      </p:pic>
      <p:sp>
        <p:nvSpPr>
          <p:cNvPr id="32773" name="Rectangle 31"/>
          <p:cNvSpPr>
            <a:spLocks noChangeArrowheads="1"/>
          </p:cNvSpPr>
          <p:nvPr/>
        </p:nvSpPr>
        <p:spPr bwMode="auto">
          <a:xfrm>
            <a:off x="1524000" y="976313"/>
            <a:ext cx="9144000" cy="509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es-ES" sz="1800" b="0" i="0" u="none" strike="noStrike" kern="1200" cap="none" spc="0" normalizeH="0" baseline="0" noProof="0">
              <a:ln>
                <a:noFill/>
              </a:ln>
              <a:solidFill>
                <a:srgbClr val="77933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E5C2A35-5380-418C-BC18-2913393892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00" t="14236" r="12403" b="62500"/>
          <a:stretch/>
        </p:blipFill>
        <p:spPr>
          <a:xfrm>
            <a:off x="9496943" y="1263192"/>
            <a:ext cx="1879949" cy="1692377"/>
          </a:xfrm>
          <a:prstGeom prst="rect">
            <a:avLst/>
          </a:prstGeom>
        </p:spPr>
      </p:pic>
      <p:sp>
        <p:nvSpPr>
          <p:cNvPr id="43" name="Double Bracket 14">
            <a:extLst>
              <a:ext uri="{FF2B5EF4-FFF2-40B4-BE49-F238E27FC236}">
                <a16:creationId xmlns:a16="http://schemas.microsoft.com/office/drawing/2014/main" id="{3227257E-83D9-4DF4-B6C3-005DC2738D30}"/>
              </a:ext>
            </a:extLst>
          </p:cNvPr>
          <p:cNvSpPr/>
          <p:nvPr/>
        </p:nvSpPr>
        <p:spPr>
          <a:xfrm rot="10800000">
            <a:off x="5202330" y="604403"/>
            <a:ext cx="457496" cy="457496"/>
          </a:xfrm>
          <a:custGeom>
            <a:avLst/>
            <a:gdLst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1258880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4" fmla="*/ 1878004 w 2381250"/>
              <a:gd name="connsiteY4" fmla="*/ 0 h 1762126"/>
              <a:gd name="connsiteX5" fmla="*/ 2381250 w 2381250"/>
              <a:gd name="connsiteY5" fmla="*/ 503246 h 1762126"/>
              <a:gd name="connsiteX6" fmla="*/ 2381250 w 2381250"/>
              <a:gd name="connsiteY6" fmla="*/ 1258880 h 1762126"/>
              <a:gd name="connsiteX7" fmla="*/ 1878004 w 2381250"/>
              <a:gd name="connsiteY7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7" fmla="*/ 503246 w 2381250"/>
              <a:gd name="connsiteY7" fmla="*/ 1762126 h 176212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878004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03246 w 2381250"/>
              <a:gd name="connsiteY6" fmla="*/ 1762126 h 1853566"/>
              <a:gd name="connsiteX7" fmla="*/ 0 w 2381250"/>
              <a:gd name="connsiteY7" fmla="*/ 1258880 h 1853566"/>
              <a:gd name="connsiteX8" fmla="*/ 0 w 2381250"/>
              <a:gd name="connsiteY8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209675 w 2381250"/>
              <a:gd name="connsiteY2" fmla="*/ 1 h 1853566"/>
              <a:gd name="connsiteX3" fmla="*/ 1878004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03246 w 2381250"/>
              <a:gd name="connsiteY7" fmla="*/ 1762126 h 1853566"/>
              <a:gd name="connsiteX8" fmla="*/ 0 w 2381250"/>
              <a:gd name="connsiteY8" fmla="*/ 1258880 h 1853566"/>
              <a:gd name="connsiteX9" fmla="*/ 0 w 2381250"/>
              <a:gd name="connsiteY9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9" fmla="*/ 1301115 w 2381250"/>
              <a:gd name="connsiteY9" fmla="*/ 91441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94686 w 2381250"/>
              <a:gd name="connsiteY7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0 w 2381250"/>
              <a:gd name="connsiteY1" fmla="*/ 503246 h 1853566"/>
              <a:gd name="connsiteX2" fmla="*/ 503246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94686 w 2381250"/>
              <a:gd name="connsiteY6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94686 w 2381250"/>
              <a:gd name="connsiteY5" fmla="*/ 1853566 h 185356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503246 w 2381250"/>
              <a:gd name="connsiteY4" fmla="*/ 1762126 h 1762126"/>
              <a:gd name="connsiteX5" fmla="*/ 0 w 2381250"/>
              <a:gd name="connsiteY5" fmla="*/ 1258880 h 1762126"/>
              <a:gd name="connsiteX6" fmla="*/ 0 w 2381250"/>
              <a:gd name="connsiteY6" fmla="*/ 503246 h 1762126"/>
              <a:gd name="connsiteX7" fmla="*/ 503246 w 2381250"/>
              <a:gd name="connsiteY7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1258880 h 1762126"/>
              <a:gd name="connsiteX5" fmla="*/ 0 w 2381250"/>
              <a:gd name="connsiteY5" fmla="*/ 503246 h 1762126"/>
              <a:gd name="connsiteX6" fmla="*/ 503246 w 2381250"/>
              <a:gd name="connsiteY6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503246 h 1762126"/>
              <a:gd name="connsiteX5" fmla="*/ 503246 w 2381250"/>
              <a:gd name="connsiteY5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0" fmla="*/ 1878004 w 1878004"/>
              <a:gd name="connsiteY0" fmla="*/ 1762126 h 1762126"/>
              <a:gd name="connsiteX1" fmla="*/ 0 w 1878004"/>
              <a:gd name="connsiteY1" fmla="*/ 503246 h 1762126"/>
              <a:gd name="connsiteX2" fmla="*/ 503246 w 1878004"/>
              <a:gd name="connsiteY2" fmla="*/ 0 h 1762126"/>
              <a:gd name="connsiteX0" fmla="*/ 0 w 1878004"/>
              <a:gd name="connsiteY0" fmla="*/ 503246 h 1762126"/>
              <a:gd name="connsiteX1" fmla="*/ 503246 w 1878004"/>
              <a:gd name="connsiteY1" fmla="*/ 0 h 1762126"/>
              <a:gd name="connsiteX0" fmla="*/ 0 w 503246"/>
              <a:gd name="connsiteY0" fmla="*/ 503246 h 503246"/>
              <a:gd name="connsiteX1" fmla="*/ 503246 w 503246"/>
              <a:gd name="connsiteY1" fmla="*/ 0 h 503246"/>
              <a:gd name="connsiteX0" fmla="*/ 0 w 503246"/>
              <a:gd name="connsiteY0" fmla="*/ 503246 h 503246"/>
              <a:gd name="connsiteX1" fmla="*/ 503246 w 503246"/>
              <a:gd name="connsiteY1" fmla="*/ 0 h 503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246" h="503246" stroke="0" extrusionOk="0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  <a:path w="503246" h="503246" fill="none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</a:pathLst>
          </a:custGeom>
          <a:noFill/>
          <a:ln w="25400" cap="rnd">
            <a:solidFill>
              <a:srgbClr val="C1007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A7F124-D12D-4E21-A134-FA5D6EBCA81E}"/>
              </a:ext>
            </a:extLst>
          </p:cNvPr>
          <p:cNvSpPr txBox="1"/>
          <p:nvPr/>
        </p:nvSpPr>
        <p:spPr>
          <a:xfrm>
            <a:off x="528684" y="333891"/>
            <a:ext cx="4854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800" b="1" i="0" u="none" strike="noStrike" cap="none" normalizeH="0" baseline="0" noProof="0" dirty="0">
                <a:ln>
                  <a:noFill/>
                </a:ln>
                <a:solidFill>
                  <a:srgbClr val="C10076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HISTEROSCOPIA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61089F-1CA1-412E-A3DC-C31E51C892D7}"/>
              </a:ext>
            </a:extLst>
          </p:cNvPr>
          <p:cNvSpPr/>
          <p:nvPr/>
        </p:nvSpPr>
        <p:spPr>
          <a:xfrm>
            <a:off x="672458" y="5964794"/>
            <a:ext cx="10981380" cy="715089"/>
          </a:xfrm>
          <a:prstGeom prst="roundRect">
            <a:avLst/>
          </a:prstGeom>
          <a:solidFill>
            <a:srgbClr val="CE687F"/>
          </a:solidFill>
        </p:spPr>
        <p:txBody>
          <a:bodyPr wrap="square">
            <a:spAutoFit/>
          </a:bodyPr>
          <a:lstStyle/>
          <a:p>
            <a:r>
              <a:rPr lang="pt-PT" dirty="0">
                <a:solidFill>
                  <a:schemeClr val="bg1"/>
                </a:solidFill>
                <a:latin typeface="Trebuchet MS" panose="020B0603020202020204" pitchFamily="34" charset="0"/>
                <a:ea typeface="ＭＳ Ｐゴシック" pitchFamily="34" charset="-128"/>
              </a:rPr>
              <a:t>O misoprostol </a:t>
            </a:r>
            <a:r>
              <a:rPr lang="pt-PT" b="1" dirty="0">
                <a:solidFill>
                  <a:schemeClr val="bg1"/>
                </a:solidFill>
                <a:latin typeface="Trebuchet MS" panose="020B0603020202020204" pitchFamily="34" charset="0"/>
                <a:ea typeface="ＭＳ Ｐゴシック" pitchFamily="34" charset="-128"/>
              </a:rPr>
              <a:t>facilita a dilatação do colo do útero</a:t>
            </a:r>
            <a:r>
              <a:rPr lang="pt-PT" dirty="0">
                <a:solidFill>
                  <a:schemeClr val="bg1"/>
                </a:solidFill>
                <a:latin typeface="Trebuchet MS" panose="020B0603020202020204" pitchFamily="34" charset="0"/>
                <a:ea typeface="ＭＳ Ｐゴシック" pitchFamily="34" charset="-128"/>
              </a:rPr>
              <a:t>, </a:t>
            </a:r>
            <a:r>
              <a:rPr lang="pt-PT" b="1" dirty="0">
                <a:solidFill>
                  <a:schemeClr val="bg1"/>
                </a:solidFill>
                <a:latin typeface="Trebuchet MS" panose="020B0603020202020204" pitchFamily="34" charset="0"/>
                <a:ea typeface="ＭＳ Ｐゴシック" pitchFamily="34" charset="-128"/>
              </a:rPr>
              <a:t>reduz a duração</a:t>
            </a:r>
            <a:r>
              <a:rPr lang="pt-PT" dirty="0">
                <a:solidFill>
                  <a:schemeClr val="bg1"/>
                </a:solidFill>
                <a:latin typeface="Trebuchet MS" panose="020B0603020202020204" pitchFamily="34" charset="0"/>
                <a:ea typeface="ＭＳ Ｐゴシック" pitchFamily="34" charset="-128"/>
              </a:rPr>
              <a:t> do procedimento, a </a:t>
            </a:r>
            <a:r>
              <a:rPr lang="pt-PT" b="1" dirty="0">
                <a:solidFill>
                  <a:schemeClr val="bg1"/>
                </a:solidFill>
                <a:latin typeface="Trebuchet MS" panose="020B0603020202020204" pitchFamily="34" charset="0"/>
                <a:ea typeface="ＭＳ Ｐゴシック" pitchFamily="34" charset="-128"/>
              </a:rPr>
              <a:t>dor</a:t>
            </a:r>
            <a:r>
              <a:rPr lang="pt-PT" dirty="0">
                <a:solidFill>
                  <a:schemeClr val="bg1"/>
                </a:solidFill>
                <a:latin typeface="Trebuchet MS" panose="020B0603020202020204" pitchFamily="34" charset="0"/>
                <a:ea typeface="ＭＳ Ｐゴシック" pitchFamily="34" charset="-128"/>
              </a:rPr>
              <a:t> resultante do mesmo e a frequência de complicações (cicatrizes cervicais e perfuração uterina).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BCBEE0-B702-4C5A-B088-822C637E1B1D}"/>
              </a:ext>
            </a:extLst>
          </p:cNvPr>
          <p:cNvSpPr txBox="1"/>
          <p:nvPr/>
        </p:nvSpPr>
        <p:spPr>
          <a:xfrm>
            <a:off x="528684" y="3094633"/>
            <a:ext cx="663579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b="1" dirty="0">
                <a:solidFill>
                  <a:srgbClr val="F7AABA"/>
                </a:solidFill>
                <a:latin typeface="Trebuchet MS" panose="020B0603020202020204" pitchFamily="34" charset="0"/>
              </a:rPr>
              <a:t>Complicações associadas à histeroscopia: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>
                <a:latin typeface="Trebuchet MS" panose="020B0603020202020204" pitchFamily="34" charset="0"/>
              </a:rPr>
              <a:t>Cicatrizes cervicais;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>
                <a:latin typeface="Trebuchet MS" panose="020B0603020202020204" pitchFamily="34" charset="0"/>
              </a:rPr>
              <a:t>Sangramento;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>
                <a:latin typeface="Trebuchet MS" panose="020B0603020202020204" pitchFamily="34" charset="0"/>
              </a:rPr>
              <a:t>Criação de “canais” falsos;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>
                <a:latin typeface="Trebuchet MS" panose="020B0603020202020204" pitchFamily="34" charset="0"/>
              </a:rPr>
              <a:t>Perfuração uterina.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600" dirty="0">
              <a:latin typeface="Trebuchet MS" panose="020B0603020202020204" pitchFamily="34" charset="0"/>
            </a:endParaRPr>
          </a:p>
          <a:p>
            <a:r>
              <a:rPr lang="pt-PT" sz="1600" dirty="0">
                <a:latin typeface="Trebuchet MS" panose="020B0603020202020204" pitchFamily="34" charset="0"/>
              </a:rPr>
              <a:t>Estas complicações são maioritariamente associadas à </a:t>
            </a:r>
            <a:r>
              <a:rPr lang="pt-PT" sz="1600" b="1" dirty="0">
                <a:solidFill>
                  <a:srgbClr val="F7AABA"/>
                </a:solidFill>
                <a:latin typeface="Trebuchet MS" panose="020B0603020202020204" pitchFamily="34" charset="0"/>
              </a:rPr>
              <a:t>dificuldade na dilatação do colo uterino</a:t>
            </a:r>
            <a:r>
              <a:rPr lang="pt-PT" sz="1600" dirty="0">
                <a:solidFill>
                  <a:srgbClr val="F7AABA"/>
                </a:solidFill>
                <a:latin typeface="Trebuchet MS" panose="020B0603020202020204" pitchFamily="34" charset="0"/>
              </a:rPr>
              <a:t>. </a:t>
            </a:r>
          </a:p>
          <a:p>
            <a:r>
              <a:rPr lang="pt-PT" sz="1600" dirty="0">
                <a:latin typeface="Trebuchet MS" panose="020B0603020202020204" pitchFamily="34" charset="0"/>
              </a:rPr>
              <a:t>Se o colo for dilatado de antemão, a probabilidade de ocorrência de complicações pode ser reduzida.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hlinkClick r:id="" action="ppaction://noaction"/>
            <a:extLst>
              <a:ext uri="{FF2B5EF4-FFF2-40B4-BE49-F238E27FC236}">
                <a16:creationId xmlns:a16="http://schemas.microsoft.com/office/drawing/2014/main" id="{675C19BB-3BE7-4108-985B-77799645AA4B}"/>
              </a:ext>
            </a:extLst>
          </p:cNvPr>
          <p:cNvSpPr/>
          <p:nvPr/>
        </p:nvSpPr>
        <p:spPr>
          <a:xfrm>
            <a:off x="622704" y="1910212"/>
            <a:ext cx="4320344" cy="4832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Rectangle 89">
            <a:hlinkClick r:id="" action="ppaction://noaction"/>
            <a:extLst>
              <a:ext uri="{FF2B5EF4-FFF2-40B4-BE49-F238E27FC236}">
                <a16:creationId xmlns:a16="http://schemas.microsoft.com/office/drawing/2014/main" id="{4448AC50-21FB-4A6C-AC81-378101B24BCB}"/>
              </a:ext>
            </a:extLst>
          </p:cNvPr>
          <p:cNvSpPr/>
          <p:nvPr/>
        </p:nvSpPr>
        <p:spPr>
          <a:xfrm>
            <a:off x="622704" y="2440494"/>
            <a:ext cx="4320344" cy="4832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Rectangle 90">
            <a:hlinkClick r:id="" action="ppaction://noaction"/>
            <a:extLst>
              <a:ext uri="{FF2B5EF4-FFF2-40B4-BE49-F238E27FC236}">
                <a16:creationId xmlns:a16="http://schemas.microsoft.com/office/drawing/2014/main" id="{1E3CF36E-CB3A-4265-9F81-7672A98F80DD}"/>
              </a:ext>
            </a:extLst>
          </p:cNvPr>
          <p:cNvSpPr/>
          <p:nvPr/>
        </p:nvSpPr>
        <p:spPr>
          <a:xfrm>
            <a:off x="622704" y="2970776"/>
            <a:ext cx="4320344" cy="4832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Rectangle 91">
            <a:hlinkClick r:id="" action="ppaction://noaction"/>
            <a:extLst>
              <a:ext uri="{FF2B5EF4-FFF2-40B4-BE49-F238E27FC236}">
                <a16:creationId xmlns:a16="http://schemas.microsoft.com/office/drawing/2014/main" id="{A5B755C0-809E-4204-803D-C5D1326A01FA}"/>
              </a:ext>
            </a:extLst>
          </p:cNvPr>
          <p:cNvSpPr/>
          <p:nvPr/>
        </p:nvSpPr>
        <p:spPr>
          <a:xfrm>
            <a:off x="622704" y="3501058"/>
            <a:ext cx="4320344" cy="4832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Rectangle 92">
            <a:hlinkClick r:id="" action="ppaction://noaction"/>
            <a:extLst>
              <a:ext uri="{FF2B5EF4-FFF2-40B4-BE49-F238E27FC236}">
                <a16:creationId xmlns:a16="http://schemas.microsoft.com/office/drawing/2014/main" id="{6C22B611-5D5C-44A4-8697-E07EF2A636ED}"/>
              </a:ext>
            </a:extLst>
          </p:cNvPr>
          <p:cNvSpPr/>
          <p:nvPr/>
        </p:nvSpPr>
        <p:spPr>
          <a:xfrm>
            <a:off x="622704" y="4031340"/>
            <a:ext cx="4320344" cy="4832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Rectangle 93">
            <a:hlinkClick r:id="" action="ppaction://noaction"/>
            <a:extLst>
              <a:ext uri="{FF2B5EF4-FFF2-40B4-BE49-F238E27FC236}">
                <a16:creationId xmlns:a16="http://schemas.microsoft.com/office/drawing/2014/main" id="{70847BD6-F4A4-418C-94CB-230A3783324E}"/>
              </a:ext>
            </a:extLst>
          </p:cNvPr>
          <p:cNvSpPr/>
          <p:nvPr/>
        </p:nvSpPr>
        <p:spPr>
          <a:xfrm>
            <a:off x="622704" y="4561622"/>
            <a:ext cx="4320344" cy="4832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Rectangle 94">
            <a:hlinkClick r:id="" action="ppaction://noaction"/>
            <a:extLst>
              <a:ext uri="{FF2B5EF4-FFF2-40B4-BE49-F238E27FC236}">
                <a16:creationId xmlns:a16="http://schemas.microsoft.com/office/drawing/2014/main" id="{EC15DC88-FFBB-4A3F-84AA-D8A2789CB41C}"/>
              </a:ext>
            </a:extLst>
          </p:cNvPr>
          <p:cNvSpPr/>
          <p:nvPr/>
        </p:nvSpPr>
        <p:spPr>
          <a:xfrm>
            <a:off x="622704" y="5091904"/>
            <a:ext cx="4320344" cy="4832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3091B1-0A01-43C4-AC01-567F90E1F7D4}"/>
              </a:ext>
            </a:extLst>
          </p:cNvPr>
          <p:cNvSpPr/>
          <p:nvPr/>
        </p:nvSpPr>
        <p:spPr>
          <a:xfrm>
            <a:off x="6268825" y="0"/>
            <a:ext cx="5923175" cy="6858000"/>
          </a:xfrm>
          <a:prstGeom prst="rect">
            <a:avLst/>
          </a:prstGeom>
          <a:solidFill>
            <a:srgbClr val="CED2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EDAEA3-3097-4C04-BB48-14CF50480C43}"/>
              </a:ext>
            </a:extLst>
          </p:cNvPr>
          <p:cNvSpPr txBox="1"/>
          <p:nvPr/>
        </p:nvSpPr>
        <p:spPr>
          <a:xfrm>
            <a:off x="530301" y="260805"/>
            <a:ext cx="50726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5000" b="1" i="0" u="none" strike="noStrike" cap="none" normalizeH="0" baseline="0" noProof="0" dirty="0">
                <a:ln>
                  <a:noFill/>
                </a:ln>
                <a:solidFill>
                  <a:srgbClr val="CE687F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HISTEROSCOPIA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C6F47C-6825-4B5E-B979-EB8B1ACAB799}"/>
              </a:ext>
            </a:extLst>
          </p:cNvPr>
          <p:cNvSpPr txBox="1"/>
          <p:nvPr/>
        </p:nvSpPr>
        <p:spPr>
          <a:xfrm>
            <a:off x="530301" y="1224225"/>
            <a:ext cx="38825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8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DE DIAGNÓSTICO</a:t>
            </a:r>
          </a:p>
        </p:txBody>
      </p:sp>
      <p:sp>
        <p:nvSpPr>
          <p:cNvPr id="30" name="Rectangle 29">
            <a:hlinkClick r:id="" action="ppaction://noaction"/>
            <a:extLst>
              <a:ext uri="{FF2B5EF4-FFF2-40B4-BE49-F238E27FC236}">
                <a16:creationId xmlns:a16="http://schemas.microsoft.com/office/drawing/2014/main" id="{5515F2BB-A116-4581-AEEB-2C7F1C0CB47D}"/>
              </a:ext>
            </a:extLst>
          </p:cNvPr>
          <p:cNvSpPr/>
          <p:nvPr/>
        </p:nvSpPr>
        <p:spPr>
          <a:xfrm>
            <a:off x="622704" y="1910212"/>
            <a:ext cx="4320344" cy="483203"/>
          </a:xfrm>
          <a:prstGeom prst="rect">
            <a:avLst/>
          </a:prstGeom>
          <a:solidFill>
            <a:srgbClr val="E2ACA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hlinkClick r:id="" action="ppaction://noaction"/>
            <a:extLst>
              <a:ext uri="{FF2B5EF4-FFF2-40B4-BE49-F238E27FC236}">
                <a16:creationId xmlns:a16="http://schemas.microsoft.com/office/drawing/2014/main" id="{B736B923-18AC-4996-B48A-7F5537ADE03C}"/>
              </a:ext>
            </a:extLst>
          </p:cNvPr>
          <p:cNvSpPr/>
          <p:nvPr/>
        </p:nvSpPr>
        <p:spPr>
          <a:xfrm>
            <a:off x="622704" y="2440494"/>
            <a:ext cx="4320344" cy="483203"/>
          </a:xfrm>
          <a:prstGeom prst="rect">
            <a:avLst/>
          </a:prstGeom>
          <a:solidFill>
            <a:srgbClr val="E2ACA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hlinkClick r:id="" action="ppaction://noaction"/>
            <a:extLst>
              <a:ext uri="{FF2B5EF4-FFF2-40B4-BE49-F238E27FC236}">
                <a16:creationId xmlns:a16="http://schemas.microsoft.com/office/drawing/2014/main" id="{B77D6F40-7B7B-45E6-B3C5-261C1E3E95F3}"/>
              </a:ext>
            </a:extLst>
          </p:cNvPr>
          <p:cNvSpPr/>
          <p:nvPr/>
        </p:nvSpPr>
        <p:spPr>
          <a:xfrm>
            <a:off x="622704" y="2970776"/>
            <a:ext cx="4320344" cy="483203"/>
          </a:xfrm>
          <a:prstGeom prst="rect">
            <a:avLst/>
          </a:prstGeom>
          <a:solidFill>
            <a:srgbClr val="E2ACA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44">
            <a:hlinkClick r:id="" action="ppaction://noaction"/>
            <a:extLst>
              <a:ext uri="{FF2B5EF4-FFF2-40B4-BE49-F238E27FC236}">
                <a16:creationId xmlns:a16="http://schemas.microsoft.com/office/drawing/2014/main" id="{C52D7A75-03A0-4610-84BC-2E6380195454}"/>
              </a:ext>
            </a:extLst>
          </p:cNvPr>
          <p:cNvSpPr/>
          <p:nvPr/>
        </p:nvSpPr>
        <p:spPr>
          <a:xfrm>
            <a:off x="622704" y="3501058"/>
            <a:ext cx="4320344" cy="483203"/>
          </a:xfrm>
          <a:prstGeom prst="rect">
            <a:avLst/>
          </a:prstGeom>
          <a:solidFill>
            <a:srgbClr val="E2ACA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Rectangle 48">
            <a:hlinkClick r:id="" action="ppaction://noaction"/>
            <a:extLst>
              <a:ext uri="{FF2B5EF4-FFF2-40B4-BE49-F238E27FC236}">
                <a16:creationId xmlns:a16="http://schemas.microsoft.com/office/drawing/2014/main" id="{8775BFBD-C9A6-4429-827B-9FB437E960AA}"/>
              </a:ext>
            </a:extLst>
          </p:cNvPr>
          <p:cNvSpPr/>
          <p:nvPr/>
        </p:nvSpPr>
        <p:spPr>
          <a:xfrm>
            <a:off x="622704" y="4031340"/>
            <a:ext cx="4320344" cy="483203"/>
          </a:xfrm>
          <a:prstGeom prst="rect">
            <a:avLst/>
          </a:prstGeom>
          <a:solidFill>
            <a:srgbClr val="E2ACA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 52">
            <a:hlinkClick r:id="" action="ppaction://noaction"/>
            <a:extLst>
              <a:ext uri="{FF2B5EF4-FFF2-40B4-BE49-F238E27FC236}">
                <a16:creationId xmlns:a16="http://schemas.microsoft.com/office/drawing/2014/main" id="{92FDD702-D3BD-4002-80DD-8999BD380556}"/>
              </a:ext>
            </a:extLst>
          </p:cNvPr>
          <p:cNvSpPr/>
          <p:nvPr/>
        </p:nvSpPr>
        <p:spPr>
          <a:xfrm>
            <a:off x="622704" y="4561622"/>
            <a:ext cx="4320344" cy="483203"/>
          </a:xfrm>
          <a:prstGeom prst="rect">
            <a:avLst/>
          </a:prstGeom>
          <a:solidFill>
            <a:srgbClr val="E2ACA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hlinkClick r:id="" action="ppaction://noaction"/>
            <a:extLst>
              <a:ext uri="{FF2B5EF4-FFF2-40B4-BE49-F238E27FC236}">
                <a16:creationId xmlns:a16="http://schemas.microsoft.com/office/drawing/2014/main" id="{08EA8A4D-AC9D-4B11-87F8-73E33E3675EC}"/>
              </a:ext>
            </a:extLst>
          </p:cNvPr>
          <p:cNvSpPr/>
          <p:nvPr/>
        </p:nvSpPr>
        <p:spPr>
          <a:xfrm>
            <a:off x="622704" y="5091904"/>
            <a:ext cx="4320344" cy="483203"/>
          </a:xfrm>
          <a:prstGeom prst="rect">
            <a:avLst/>
          </a:prstGeom>
          <a:solidFill>
            <a:srgbClr val="E2ACA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41CCFCE-677F-4C6A-844E-78D6F2299B31}"/>
              </a:ext>
            </a:extLst>
          </p:cNvPr>
          <p:cNvCxnSpPr>
            <a:cxnSpLocks/>
          </p:cNvCxnSpPr>
          <p:nvPr/>
        </p:nvCxnSpPr>
        <p:spPr>
          <a:xfrm>
            <a:off x="813840" y="2159152"/>
            <a:ext cx="205740" cy="0"/>
          </a:xfrm>
          <a:prstGeom prst="straightConnector1">
            <a:avLst/>
          </a:prstGeom>
          <a:ln>
            <a:solidFill>
              <a:srgbClr val="CF84A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08E98458-320F-4459-A172-7975E54E6A0C}"/>
              </a:ext>
            </a:extLst>
          </p:cNvPr>
          <p:cNvSpPr txBox="1"/>
          <p:nvPr/>
        </p:nvSpPr>
        <p:spPr>
          <a:xfrm>
            <a:off x="1139758" y="2008257"/>
            <a:ext cx="2306039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0" i="0" u="none" strike="noStrike" cap="none" normalizeH="0" baseline="0" noProof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Metrorragia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F699DD9-4048-4E75-B48E-0C63A1A18258}"/>
              </a:ext>
            </a:extLst>
          </p:cNvPr>
          <p:cNvCxnSpPr>
            <a:cxnSpLocks/>
          </p:cNvCxnSpPr>
          <p:nvPr/>
        </p:nvCxnSpPr>
        <p:spPr>
          <a:xfrm>
            <a:off x="813840" y="2689637"/>
            <a:ext cx="205740" cy="0"/>
          </a:xfrm>
          <a:prstGeom prst="straightConnector1">
            <a:avLst/>
          </a:prstGeom>
          <a:ln>
            <a:solidFill>
              <a:srgbClr val="CF84A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8B6C7376-3846-4B16-9267-4848C27BDCA7}"/>
              </a:ext>
            </a:extLst>
          </p:cNvPr>
          <p:cNvSpPr txBox="1"/>
          <p:nvPr/>
        </p:nvSpPr>
        <p:spPr>
          <a:xfrm>
            <a:off x="1139758" y="2538742"/>
            <a:ext cx="1533727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0" i="0" u="none" strike="noStrike" cap="none" normalizeH="0" baseline="0" noProof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Infertilidade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4B32AD4-A666-4442-82E2-BF5328BF0B95}"/>
              </a:ext>
            </a:extLst>
          </p:cNvPr>
          <p:cNvCxnSpPr>
            <a:cxnSpLocks/>
          </p:cNvCxnSpPr>
          <p:nvPr/>
        </p:nvCxnSpPr>
        <p:spPr>
          <a:xfrm>
            <a:off x="813840" y="3218939"/>
            <a:ext cx="205740" cy="0"/>
          </a:xfrm>
          <a:prstGeom prst="straightConnector1">
            <a:avLst/>
          </a:prstGeom>
          <a:ln>
            <a:solidFill>
              <a:srgbClr val="CF84A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952683E-0980-45E3-BF6B-895B8632D346}"/>
              </a:ext>
            </a:extLst>
          </p:cNvPr>
          <p:cNvSpPr txBox="1"/>
          <p:nvPr/>
        </p:nvSpPr>
        <p:spPr>
          <a:xfrm>
            <a:off x="1139758" y="3068044"/>
            <a:ext cx="2885715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0" i="0" u="none" strike="noStrike" cap="none" normalizeH="0" baseline="0" noProof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Estudos de amenorreia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5152861-C2C4-4A6B-8D9A-F09BFEACD7F8}"/>
              </a:ext>
            </a:extLst>
          </p:cNvPr>
          <p:cNvCxnSpPr>
            <a:cxnSpLocks/>
          </p:cNvCxnSpPr>
          <p:nvPr/>
        </p:nvCxnSpPr>
        <p:spPr>
          <a:xfrm>
            <a:off x="813840" y="3755248"/>
            <a:ext cx="205740" cy="0"/>
          </a:xfrm>
          <a:prstGeom prst="straightConnector1">
            <a:avLst/>
          </a:prstGeom>
          <a:ln>
            <a:solidFill>
              <a:srgbClr val="CF84A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F4C9484E-93F1-4940-A72B-264C26A24AF5}"/>
              </a:ext>
            </a:extLst>
          </p:cNvPr>
          <p:cNvSpPr txBox="1"/>
          <p:nvPr/>
        </p:nvSpPr>
        <p:spPr>
          <a:xfrm>
            <a:off x="1139758" y="3602444"/>
            <a:ext cx="3994426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Monitorização de doença </a:t>
            </a:r>
            <a:r>
              <a:rPr kumimoji="0" lang="pt-PT" sz="1600" b="0" i="0" u="none" strike="noStrike" cap="none" normalizeH="0" baseline="0" noProof="0" dirty="0" err="1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trofoblástica</a:t>
            </a:r>
            <a:endParaRPr kumimoji="0" lang="pt-PT" sz="1600" b="0" i="0" u="none" strike="noStrike" cap="none" normalizeH="0" baseline="0" noProof="0" dirty="0">
              <a:ln>
                <a:noFill/>
              </a:ln>
              <a:solidFill>
                <a:srgbClr val="231F20"/>
              </a:solidFill>
              <a:uLnTx/>
              <a:uFillTx/>
              <a:latin typeface="Trebuchet MS" panose="020B0603020202020204" pitchFamily="34" charset="0"/>
              <a:ea typeface="Segoe UI" panose="020B0502040204020203" pitchFamily="34" charset="0"/>
              <a:cs typeface="Arial" panose="020B0604020202020204" pitchFamily="34" charset="0"/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75258A3-9019-48D3-9770-A4306E39945A}"/>
              </a:ext>
            </a:extLst>
          </p:cNvPr>
          <p:cNvCxnSpPr>
            <a:cxnSpLocks/>
          </p:cNvCxnSpPr>
          <p:nvPr/>
        </p:nvCxnSpPr>
        <p:spPr>
          <a:xfrm>
            <a:off x="813840" y="4275343"/>
            <a:ext cx="205740" cy="0"/>
          </a:xfrm>
          <a:prstGeom prst="straightConnector1">
            <a:avLst/>
          </a:prstGeom>
          <a:ln>
            <a:solidFill>
              <a:srgbClr val="CF84A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D13D4C00-38CA-46B5-83C9-D08F8FB06FF7}"/>
              </a:ext>
            </a:extLst>
          </p:cNvPr>
          <p:cNvSpPr txBox="1"/>
          <p:nvPr/>
        </p:nvSpPr>
        <p:spPr>
          <a:xfrm>
            <a:off x="1139759" y="4124449"/>
            <a:ext cx="3665240" cy="301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Biopsia de endométrio problemático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08A8CFA-B25D-4C8B-8FDA-6BD4C1330136}"/>
              </a:ext>
            </a:extLst>
          </p:cNvPr>
          <p:cNvCxnSpPr>
            <a:cxnSpLocks/>
          </p:cNvCxnSpPr>
          <p:nvPr/>
        </p:nvCxnSpPr>
        <p:spPr>
          <a:xfrm>
            <a:off x="813840" y="4816005"/>
            <a:ext cx="205740" cy="0"/>
          </a:xfrm>
          <a:prstGeom prst="straightConnector1">
            <a:avLst/>
          </a:prstGeom>
          <a:ln>
            <a:solidFill>
              <a:srgbClr val="CF84A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5C49B083-5A00-4BCD-ACA1-328DE0A46696}"/>
              </a:ext>
            </a:extLst>
          </p:cNvPr>
          <p:cNvSpPr txBox="1"/>
          <p:nvPr/>
        </p:nvSpPr>
        <p:spPr>
          <a:xfrm>
            <a:off x="1139758" y="4665111"/>
            <a:ext cx="3803289" cy="301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DIU deslocado / corpos estranhos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FB41F83-90E4-4D11-9FB6-17CC21AA2A30}"/>
              </a:ext>
            </a:extLst>
          </p:cNvPr>
          <p:cNvCxnSpPr>
            <a:cxnSpLocks/>
          </p:cNvCxnSpPr>
          <p:nvPr/>
        </p:nvCxnSpPr>
        <p:spPr>
          <a:xfrm>
            <a:off x="813840" y="5335586"/>
            <a:ext cx="205740" cy="0"/>
          </a:xfrm>
          <a:prstGeom prst="straightConnector1">
            <a:avLst/>
          </a:prstGeom>
          <a:ln>
            <a:solidFill>
              <a:srgbClr val="CF84A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002BEF69-50B7-4027-95A5-D1A024077D62}"/>
              </a:ext>
            </a:extLst>
          </p:cNvPr>
          <p:cNvSpPr txBox="1"/>
          <p:nvPr/>
        </p:nvSpPr>
        <p:spPr>
          <a:xfrm>
            <a:off x="1139759" y="5184691"/>
            <a:ext cx="2352314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0" i="0" u="none" strike="noStrike" cap="none" normalizeH="0" baseline="0" noProof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Malformações uterinas</a:t>
            </a:r>
          </a:p>
        </p:txBody>
      </p:sp>
      <p:sp>
        <p:nvSpPr>
          <p:cNvPr id="46" name="Rectangle 45">
            <a:hlinkClick r:id="" action="ppaction://noaction"/>
            <a:extLst>
              <a:ext uri="{FF2B5EF4-FFF2-40B4-BE49-F238E27FC236}">
                <a16:creationId xmlns:a16="http://schemas.microsoft.com/office/drawing/2014/main" id="{9E56DA96-955F-4919-973A-9D1E83ACA928}"/>
              </a:ext>
            </a:extLst>
          </p:cNvPr>
          <p:cNvSpPr/>
          <p:nvPr/>
        </p:nvSpPr>
        <p:spPr>
          <a:xfrm>
            <a:off x="7042854" y="1910212"/>
            <a:ext cx="4320344" cy="483203"/>
          </a:xfrm>
          <a:prstGeom prst="rect">
            <a:avLst/>
          </a:prstGeom>
          <a:solidFill>
            <a:srgbClr val="CE68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ctangle 46">
            <a:hlinkClick r:id="" action="ppaction://noaction"/>
            <a:extLst>
              <a:ext uri="{FF2B5EF4-FFF2-40B4-BE49-F238E27FC236}">
                <a16:creationId xmlns:a16="http://schemas.microsoft.com/office/drawing/2014/main" id="{26F3E99A-F601-4CD8-B9A7-4F258F5E7854}"/>
              </a:ext>
            </a:extLst>
          </p:cNvPr>
          <p:cNvSpPr/>
          <p:nvPr/>
        </p:nvSpPr>
        <p:spPr>
          <a:xfrm>
            <a:off x="7042854" y="2440494"/>
            <a:ext cx="4320344" cy="483203"/>
          </a:xfrm>
          <a:prstGeom prst="rect">
            <a:avLst/>
          </a:prstGeom>
          <a:solidFill>
            <a:srgbClr val="CE68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47">
            <a:hlinkClick r:id="" action="ppaction://noaction"/>
            <a:extLst>
              <a:ext uri="{FF2B5EF4-FFF2-40B4-BE49-F238E27FC236}">
                <a16:creationId xmlns:a16="http://schemas.microsoft.com/office/drawing/2014/main" id="{F82439D6-21F3-43AA-B29E-DEA05ADEE86F}"/>
              </a:ext>
            </a:extLst>
          </p:cNvPr>
          <p:cNvSpPr/>
          <p:nvPr/>
        </p:nvSpPr>
        <p:spPr>
          <a:xfrm>
            <a:off x="7042854" y="2970776"/>
            <a:ext cx="4320344" cy="483203"/>
          </a:xfrm>
          <a:prstGeom prst="rect">
            <a:avLst/>
          </a:prstGeom>
          <a:solidFill>
            <a:srgbClr val="CE68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Rectangle 49">
            <a:hlinkClick r:id="" action="ppaction://noaction"/>
            <a:extLst>
              <a:ext uri="{FF2B5EF4-FFF2-40B4-BE49-F238E27FC236}">
                <a16:creationId xmlns:a16="http://schemas.microsoft.com/office/drawing/2014/main" id="{8A87C7E3-B3B8-4012-B0A7-3C2E8762EB57}"/>
              </a:ext>
            </a:extLst>
          </p:cNvPr>
          <p:cNvSpPr/>
          <p:nvPr/>
        </p:nvSpPr>
        <p:spPr>
          <a:xfrm>
            <a:off x="7042854" y="3501058"/>
            <a:ext cx="4320344" cy="483203"/>
          </a:xfrm>
          <a:prstGeom prst="rect">
            <a:avLst/>
          </a:prstGeom>
          <a:solidFill>
            <a:srgbClr val="CE68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Rectangle 50">
            <a:hlinkClick r:id="" action="ppaction://noaction"/>
            <a:extLst>
              <a:ext uri="{FF2B5EF4-FFF2-40B4-BE49-F238E27FC236}">
                <a16:creationId xmlns:a16="http://schemas.microsoft.com/office/drawing/2014/main" id="{B487B02A-7935-4EBE-86B7-3D99AD57EF8B}"/>
              </a:ext>
            </a:extLst>
          </p:cNvPr>
          <p:cNvSpPr/>
          <p:nvPr/>
        </p:nvSpPr>
        <p:spPr>
          <a:xfrm>
            <a:off x="7042854" y="4031340"/>
            <a:ext cx="4320344" cy="483203"/>
          </a:xfrm>
          <a:prstGeom prst="rect">
            <a:avLst/>
          </a:prstGeom>
          <a:solidFill>
            <a:srgbClr val="CE68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Rectangle 51">
            <a:hlinkClick r:id="" action="ppaction://noaction"/>
            <a:extLst>
              <a:ext uri="{FF2B5EF4-FFF2-40B4-BE49-F238E27FC236}">
                <a16:creationId xmlns:a16="http://schemas.microsoft.com/office/drawing/2014/main" id="{BD6AC4F8-5E87-474B-80F2-F47E46E13A74}"/>
              </a:ext>
            </a:extLst>
          </p:cNvPr>
          <p:cNvSpPr/>
          <p:nvPr/>
        </p:nvSpPr>
        <p:spPr>
          <a:xfrm>
            <a:off x="7042854" y="4561622"/>
            <a:ext cx="4320344" cy="483203"/>
          </a:xfrm>
          <a:prstGeom prst="rect">
            <a:avLst/>
          </a:prstGeom>
          <a:solidFill>
            <a:srgbClr val="CE68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Rectangle 53">
            <a:hlinkClick r:id="" action="ppaction://noaction"/>
            <a:extLst>
              <a:ext uri="{FF2B5EF4-FFF2-40B4-BE49-F238E27FC236}">
                <a16:creationId xmlns:a16="http://schemas.microsoft.com/office/drawing/2014/main" id="{3F6CF279-6B50-4277-ADFD-58653C607CD6}"/>
              </a:ext>
            </a:extLst>
          </p:cNvPr>
          <p:cNvSpPr/>
          <p:nvPr/>
        </p:nvSpPr>
        <p:spPr>
          <a:xfrm>
            <a:off x="7042854" y="5091904"/>
            <a:ext cx="4320344" cy="483203"/>
          </a:xfrm>
          <a:prstGeom prst="rect">
            <a:avLst/>
          </a:prstGeom>
          <a:solidFill>
            <a:srgbClr val="CE68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Rectangle 54">
            <a:hlinkClick r:id="" action="ppaction://noaction"/>
            <a:extLst>
              <a:ext uri="{FF2B5EF4-FFF2-40B4-BE49-F238E27FC236}">
                <a16:creationId xmlns:a16="http://schemas.microsoft.com/office/drawing/2014/main" id="{268BB0A3-6646-47EB-8A62-04E43C930A3A}"/>
              </a:ext>
            </a:extLst>
          </p:cNvPr>
          <p:cNvSpPr/>
          <p:nvPr/>
        </p:nvSpPr>
        <p:spPr>
          <a:xfrm>
            <a:off x="7042854" y="5622186"/>
            <a:ext cx="4320344" cy="483203"/>
          </a:xfrm>
          <a:prstGeom prst="rect">
            <a:avLst/>
          </a:prstGeom>
          <a:solidFill>
            <a:srgbClr val="CE68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Rectangle 55">
            <a:hlinkClick r:id="" action="ppaction://noaction"/>
            <a:extLst>
              <a:ext uri="{FF2B5EF4-FFF2-40B4-BE49-F238E27FC236}">
                <a16:creationId xmlns:a16="http://schemas.microsoft.com/office/drawing/2014/main" id="{D1D18890-6862-466F-81DF-2279D38D2409}"/>
              </a:ext>
            </a:extLst>
          </p:cNvPr>
          <p:cNvSpPr/>
          <p:nvPr/>
        </p:nvSpPr>
        <p:spPr>
          <a:xfrm>
            <a:off x="7042854" y="6152465"/>
            <a:ext cx="4320344" cy="483203"/>
          </a:xfrm>
          <a:prstGeom prst="rect">
            <a:avLst/>
          </a:prstGeom>
          <a:solidFill>
            <a:srgbClr val="CE68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04148D8-4316-4B7C-83FA-2366C25A8710}"/>
              </a:ext>
            </a:extLst>
          </p:cNvPr>
          <p:cNvSpPr txBox="1"/>
          <p:nvPr/>
        </p:nvSpPr>
        <p:spPr>
          <a:xfrm>
            <a:off x="6944694" y="1224225"/>
            <a:ext cx="38825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8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CIRÚRGICA</a:t>
            </a:r>
          </a:p>
        </p:txBody>
      </p:sp>
      <p:sp>
        <p:nvSpPr>
          <p:cNvPr id="60" name="Rectangle 59">
            <a:hlinkClick r:id="" action="ppaction://noaction"/>
            <a:extLst>
              <a:ext uri="{FF2B5EF4-FFF2-40B4-BE49-F238E27FC236}">
                <a16:creationId xmlns:a16="http://schemas.microsoft.com/office/drawing/2014/main" id="{82D947E0-7991-48A4-9DAD-02969069677F}"/>
              </a:ext>
            </a:extLst>
          </p:cNvPr>
          <p:cNvSpPr/>
          <p:nvPr/>
        </p:nvSpPr>
        <p:spPr>
          <a:xfrm>
            <a:off x="7042854" y="1910212"/>
            <a:ext cx="4526442" cy="483203"/>
          </a:xfrm>
          <a:prstGeom prst="rect">
            <a:avLst/>
          </a:prstGeom>
          <a:solidFill>
            <a:srgbClr val="E2AC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hlinkClick r:id="" action="ppaction://noaction"/>
            <a:extLst>
              <a:ext uri="{FF2B5EF4-FFF2-40B4-BE49-F238E27FC236}">
                <a16:creationId xmlns:a16="http://schemas.microsoft.com/office/drawing/2014/main" id="{EBFE6A54-F060-4ABA-AAD3-D9EF148F73F5}"/>
              </a:ext>
            </a:extLst>
          </p:cNvPr>
          <p:cNvSpPr/>
          <p:nvPr/>
        </p:nvSpPr>
        <p:spPr>
          <a:xfrm>
            <a:off x="7042854" y="2440494"/>
            <a:ext cx="4526442" cy="483203"/>
          </a:xfrm>
          <a:prstGeom prst="rect">
            <a:avLst/>
          </a:prstGeom>
          <a:solidFill>
            <a:srgbClr val="E2AC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Rectangle 77">
            <a:hlinkClick r:id="" action="ppaction://noaction"/>
            <a:extLst>
              <a:ext uri="{FF2B5EF4-FFF2-40B4-BE49-F238E27FC236}">
                <a16:creationId xmlns:a16="http://schemas.microsoft.com/office/drawing/2014/main" id="{59FC6C22-EAC5-42A2-8086-A96D1A7955AF}"/>
              </a:ext>
            </a:extLst>
          </p:cNvPr>
          <p:cNvSpPr/>
          <p:nvPr/>
        </p:nvSpPr>
        <p:spPr>
          <a:xfrm>
            <a:off x="7042854" y="2970776"/>
            <a:ext cx="4526442" cy="483203"/>
          </a:xfrm>
          <a:prstGeom prst="rect">
            <a:avLst/>
          </a:prstGeom>
          <a:solidFill>
            <a:srgbClr val="E2AC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hlinkClick r:id="" action="ppaction://noaction"/>
            <a:extLst>
              <a:ext uri="{FF2B5EF4-FFF2-40B4-BE49-F238E27FC236}">
                <a16:creationId xmlns:a16="http://schemas.microsoft.com/office/drawing/2014/main" id="{12E572DE-00D7-462F-AABC-AE8E78FBF2A3}"/>
              </a:ext>
            </a:extLst>
          </p:cNvPr>
          <p:cNvSpPr/>
          <p:nvPr/>
        </p:nvSpPr>
        <p:spPr>
          <a:xfrm>
            <a:off x="7042854" y="3501058"/>
            <a:ext cx="4526442" cy="483203"/>
          </a:xfrm>
          <a:prstGeom prst="rect">
            <a:avLst/>
          </a:prstGeom>
          <a:solidFill>
            <a:srgbClr val="E2AC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Rectangle 79">
            <a:hlinkClick r:id="" action="ppaction://noaction"/>
            <a:extLst>
              <a:ext uri="{FF2B5EF4-FFF2-40B4-BE49-F238E27FC236}">
                <a16:creationId xmlns:a16="http://schemas.microsoft.com/office/drawing/2014/main" id="{FBF8D2EF-4635-4FA1-A087-1992D48F389D}"/>
              </a:ext>
            </a:extLst>
          </p:cNvPr>
          <p:cNvSpPr/>
          <p:nvPr/>
        </p:nvSpPr>
        <p:spPr>
          <a:xfrm>
            <a:off x="7042854" y="4031340"/>
            <a:ext cx="4526442" cy="483203"/>
          </a:xfrm>
          <a:prstGeom prst="rect">
            <a:avLst/>
          </a:prstGeom>
          <a:solidFill>
            <a:srgbClr val="E2AC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Rectangle 80">
            <a:hlinkClick r:id="" action="ppaction://noaction"/>
            <a:extLst>
              <a:ext uri="{FF2B5EF4-FFF2-40B4-BE49-F238E27FC236}">
                <a16:creationId xmlns:a16="http://schemas.microsoft.com/office/drawing/2014/main" id="{10930E92-E407-4BBD-89C1-CEC02151008A}"/>
              </a:ext>
            </a:extLst>
          </p:cNvPr>
          <p:cNvSpPr/>
          <p:nvPr/>
        </p:nvSpPr>
        <p:spPr>
          <a:xfrm>
            <a:off x="7042854" y="4561622"/>
            <a:ext cx="4526442" cy="483203"/>
          </a:xfrm>
          <a:prstGeom prst="rect">
            <a:avLst/>
          </a:prstGeom>
          <a:solidFill>
            <a:srgbClr val="E2AC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Rectangle 81">
            <a:hlinkClick r:id="" action="ppaction://noaction"/>
            <a:extLst>
              <a:ext uri="{FF2B5EF4-FFF2-40B4-BE49-F238E27FC236}">
                <a16:creationId xmlns:a16="http://schemas.microsoft.com/office/drawing/2014/main" id="{5C84CCF2-00AF-45F7-B090-67177EB52BDB}"/>
              </a:ext>
            </a:extLst>
          </p:cNvPr>
          <p:cNvSpPr/>
          <p:nvPr/>
        </p:nvSpPr>
        <p:spPr>
          <a:xfrm>
            <a:off x="7042854" y="5091904"/>
            <a:ext cx="4526442" cy="483203"/>
          </a:xfrm>
          <a:prstGeom prst="rect">
            <a:avLst/>
          </a:prstGeom>
          <a:solidFill>
            <a:srgbClr val="E2AC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088C2EA-354E-43A5-B787-0F54E653252C}"/>
              </a:ext>
            </a:extLst>
          </p:cNvPr>
          <p:cNvCxnSpPr>
            <a:cxnSpLocks/>
          </p:cNvCxnSpPr>
          <p:nvPr/>
        </p:nvCxnSpPr>
        <p:spPr>
          <a:xfrm>
            <a:off x="7233990" y="2159152"/>
            <a:ext cx="205740" cy="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7DFE4258-CD08-46ED-97C7-D921D60C3BF1}"/>
              </a:ext>
            </a:extLst>
          </p:cNvPr>
          <p:cNvSpPr txBox="1"/>
          <p:nvPr/>
        </p:nvSpPr>
        <p:spPr>
          <a:xfrm>
            <a:off x="7559908" y="2008257"/>
            <a:ext cx="2306039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Mioma submucoso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F41997F-1EA5-4B1D-8F9F-9184F1DFEB6C}"/>
              </a:ext>
            </a:extLst>
          </p:cNvPr>
          <p:cNvCxnSpPr>
            <a:cxnSpLocks/>
          </p:cNvCxnSpPr>
          <p:nvPr/>
        </p:nvCxnSpPr>
        <p:spPr>
          <a:xfrm>
            <a:off x="7233990" y="2689637"/>
            <a:ext cx="205740" cy="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7605C5B0-D772-4704-8B77-84A6A367EB4F}"/>
              </a:ext>
            </a:extLst>
          </p:cNvPr>
          <p:cNvSpPr txBox="1"/>
          <p:nvPr/>
        </p:nvSpPr>
        <p:spPr>
          <a:xfrm>
            <a:off x="7559908" y="2538742"/>
            <a:ext cx="1533727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0" i="0" u="none" strike="noStrike" cap="none" normalizeH="0" baseline="0" noProof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Pólipo uterino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3829F66-45AA-4B32-A756-0410895DC1F4}"/>
              </a:ext>
            </a:extLst>
          </p:cNvPr>
          <p:cNvCxnSpPr>
            <a:cxnSpLocks/>
          </p:cNvCxnSpPr>
          <p:nvPr/>
        </p:nvCxnSpPr>
        <p:spPr>
          <a:xfrm>
            <a:off x="7233990" y="3218939"/>
            <a:ext cx="205740" cy="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5C1FAC20-5785-4138-87B4-2CED79F59AFF}"/>
              </a:ext>
            </a:extLst>
          </p:cNvPr>
          <p:cNvSpPr txBox="1"/>
          <p:nvPr/>
        </p:nvSpPr>
        <p:spPr>
          <a:xfrm>
            <a:off x="7559908" y="3068044"/>
            <a:ext cx="3719200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Biopsia dirigida do endométrio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DC2AE7E-3FAD-4AC1-9664-43F1045A96B8}"/>
              </a:ext>
            </a:extLst>
          </p:cNvPr>
          <p:cNvCxnSpPr>
            <a:cxnSpLocks/>
          </p:cNvCxnSpPr>
          <p:nvPr/>
        </p:nvCxnSpPr>
        <p:spPr>
          <a:xfrm>
            <a:off x="7233990" y="3755248"/>
            <a:ext cx="205740" cy="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89242173-879A-4AFD-B340-EB405F7D1C70}"/>
              </a:ext>
            </a:extLst>
          </p:cNvPr>
          <p:cNvSpPr txBox="1"/>
          <p:nvPr/>
        </p:nvSpPr>
        <p:spPr>
          <a:xfrm>
            <a:off x="7559908" y="3602444"/>
            <a:ext cx="4308384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Tratamento de útero </a:t>
            </a:r>
            <a:r>
              <a:rPr kumimoji="0" lang="pt-PT" sz="1600" b="0" i="0" u="none" strike="noStrike" cap="none" normalizeH="0" baseline="0" noProof="0" dirty="0" err="1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septado</a:t>
            </a: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 ou adesões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58A19381-2687-422F-B902-2A78E9BE47B0}"/>
              </a:ext>
            </a:extLst>
          </p:cNvPr>
          <p:cNvCxnSpPr>
            <a:cxnSpLocks/>
          </p:cNvCxnSpPr>
          <p:nvPr/>
        </p:nvCxnSpPr>
        <p:spPr>
          <a:xfrm>
            <a:off x="7233990" y="4275343"/>
            <a:ext cx="205740" cy="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BAA1D0B5-B3EA-48A6-A3FF-A7C5A1B70ECD}"/>
              </a:ext>
            </a:extLst>
          </p:cNvPr>
          <p:cNvSpPr txBox="1"/>
          <p:nvPr/>
        </p:nvSpPr>
        <p:spPr>
          <a:xfrm>
            <a:off x="7559909" y="4124449"/>
            <a:ext cx="2953221" cy="301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Ablação do endométrio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F214152B-B81A-40A0-9509-85DE08780F6B}"/>
              </a:ext>
            </a:extLst>
          </p:cNvPr>
          <p:cNvCxnSpPr>
            <a:cxnSpLocks/>
          </p:cNvCxnSpPr>
          <p:nvPr/>
        </p:nvCxnSpPr>
        <p:spPr>
          <a:xfrm>
            <a:off x="7233990" y="4816005"/>
            <a:ext cx="205740" cy="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80049A1D-3F5F-4620-A2EA-89EADCBE008B}"/>
              </a:ext>
            </a:extLst>
          </p:cNvPr>
          <p:cNvSpPr txBox="1"/>
          <p:nvPr/>
        </p:nvSpPr>
        <p:spPr>
          <a:xfrm>
            <a:off x="7559909" y="4665111"/>
            <a:ext cx="3496794" cy="301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Laqueação ou recanalização </a:t>
            </a:r>
            <a:r>
              <a:rPr kumimoji="0" lang="pt-PT" sz="1600" b="0" i="0" u="none" strike="noStrike" cap="none" normalizeH="0" baseline="0" noProof="0" dirty="0" err="1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tubária</a:t>
            </a:r>
            <a:endParaRPr kumimoji="0" lang="pt-PT" sz="1600" b="0" i="0" u="none" strike="noStrike" cap="none" normalizeH="0" baseline="0" noProof="0" dirty="0">
              <a:ln>
                <a:noFill/>
              </a:ln>
              <a:solidFill>
                <a:srgbClr val="231F20"/>
              </a:solidFill>
              <a:uLnTx/>
              <a:uFillTx/>
              <a:latin typeface="Trebuchet MS" panose="020B0603020202020204" pitchFamily="34" charset="0"/>
              <a:ea typeface="Segoe UI" panose="020B0502040204020203" pitchFamily="34" charset="0"/>
              <a:cs typeface="Arial" panose="020B0604020202020204" pitchFamily="34" charset="0"/>
            </a:endParaRP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C71BE065-C1DB-43E1-B5A8-B0A07C0E2A20}"/>
              </a:ext>
            </a:extLst>
          </p:cNvPr>
          <p:cNvCxnSpPr>
            <a:cxnSpLocks/>
          </p:cNvCxnSpPr>
          <p:nvPr/>
        </p:nvCxnSpPr>
        <p:spPr>
          <a:xfrm>
            <a:off x="7233990" y="5335586"/>
            <a:ext cx="205740" cy="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C70179C2-47CD-4079-99D4-E7369F14A079}"/>
              </a:ext>
            </a:extLst>
          </p:cNvPr>
          <p:cNvSpPr txBox="1"/>
          <p:nvPr/>
        </p:nvSpPr>
        <p:spPr>
          <a:xfrm>
            <a:off x="7559909" y="5184691"/>
            <a:ext cx="2352314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0" i="0" u="none" strike="noStrike" cap="none" normalizeH="0" baseline="0" noProof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Remoção de DIU</a:t>
            </a:r>
          </a:p>
        </p:txBody>
      </p:sp>
      <p:sp>
        <p:nvSpPr>
          <p:cNvPr id="105" name="Rectangle 104">
            <a:hlinkClick r:id="" action="ppaction://noaction"/>
            <a:extLst>
              <a:ext uri="{FF2B5EF4-FFF2-40B4-BE49-F238E27FC236}">
                <a16:creationId xmlns:a16="http://schemas.microsoft.com/office/drawing/2014/main" id="{14F31475-377F-419C-90C9-8452751A6D87}"/>
              </a:ext>
            </a:extLst>
          </p:cNvPr>
          <p:cNvSpPr/>
          <p:nvPr/>
        </p:nvSpPr>
        <p:spPr>
          <a:xfrm>
            <a:off x="7042854" y="5622186"/>
            <a:ext cx="4526442" cy="483203"/>
          </a:xfrm>
          <a:prstGeom prst="rect">
            <a:avLst/>
          </a:prstGeom>
          <a:solidFill>
            <a:srgbClr val="E2AC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6" name="Rectangle 105">
            <a:hlinkClick r:id="" action="ppaction://noaction"/>
            <a:extLst>
              <a:ext uri="{FF2B5EF4-FFF2-40B4-BE49-F238E27FC236}">
                <a16:creationId xmlns:a16="http://schemas.microsoft.com/office/drawing/2014/main" id="{89BDBABC-2020-4E8A-86C5-D6E2910F2B43}"/>
              </a:ext>
            </a:extLst>
          </p:cNvPr>
          <p:cNvSpPr/>
          <p:nvPr/>
        </p:nvSpPr>
        <p:spPr>
          <a:xfrm>
            <a:off x="7042854" y="6152465"/>
            <a:ext cx="4526442" cy="483203"/>
          </a:xfrm>
          <a:prstGeom prst="rect">
            <a:avLst/>
          </a:prstGeom>
          <a:solidFill>
            <a:srgbClr val="E2AC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A839571C-344B-47F5-A3FC-CAB19AD20DA6}"/>
              </a:ext>
            </a:extLst>
          </p:cNvPr>
          <p:cNvCxnSpPr>
            <a:cxnSpLocks/>
          </p:cNvCxnSpPr>
          <p:nvPr/>
        </p:nvCxnSpPr>
        <p:spPr>
          <a:xfrm>
            <a:off x="7233990" y="5863787"/>
            <a:ext cx="205740" cy="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194A6869-EFEC-4C7D-B671-3C54E93DD2FB}"/>
              </a:ext>
            </a:extLst>
          </p:cNvPr>
          <p:cNvSpPr txBox="1"/>
          <p:nvPr/>
        </p:nvSpPr>
        <p:spPr>
          <a:xfrm>
            <a:off x="7559908" y="5640153"/>
            <a:ext cx="3496795" cy="48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Tratamento de malformações vasculares da parede uterina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C7FB4CFF-5C86-4739-B0F5-0B2BAE8571A1}"/>
              </a:ext>
            </a:extLst>
          </p:cNvPr>
          <p:cNvCxnSpPr>
            <a:cxnSpLocks/>
          </p:cNvCxnSpPr>
          <p:nvPr/>
        </p:nvCxnSpPr>
        <p:spPr>
          <a:xfrm>
            <a:off x="7233990" y="6399623"/>
            <a:ext cx="205740" cy="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4EB330A5-2CB0-4903-8B89-DA7750F6BC43}"/>
              </a:ext>
            </a:extLst>
          </p:cNvPr>
          <p:cNvSpPr txBox="1"/>
          <p:nvPr/>
        </p:nvSpPr>
        <p:spPr>
          <a:xfrm>
            <a:off x="7559909" y="6248728"/>
            <a:ext cx="2352314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0" i="0" u="none" strike="noStrike" cap="none" normalizeH="0" baseline="0" noProof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Histerossalpingografia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E3117AF-11DB-492B-89B7-B468F689D9B7}"/>
              </a:ext>
            </a:extLst>
          </p:cNvPr>
          <p:cNvSpPr/>
          <p:nvPr/>
        </p:nvSpPr>
        <p:spPr>
          <a:xfrm>
            <a:off x="-12700" y="4754541"/>
            <a:ext cx="12204700" cy="2103459"/>
          </a:xfrm>
          <a:prstGeom prst="rect">
            <a:avLst/>
          </a:prstGeom>
          <a:solidFill>
            <a:srgbClr val="838F95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1683" tIns="65842" rIns="131683" bIns="6584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906CC3-DC2C-4B81-BF3E-2C2C9F4A94EF}"/>
              </a:ext>
            </a:extLst>
          </p:cNvPr>
          <p:cNvSpPr/>
          <p:nvPr/>
        </p:nvSpPr>
        <p:spPr>
          <a:xfrm>
            <a:off x="4341645" y="1860797"/>
            <a:ext cx="1701800" cy="551729"/>
          </a:xfrm>
          <a:prstGeom prst="rect">
            <a:avLst/>
          </a:prstGeom>
          <a:solidFill>
            <a:srgbClr val="F7AA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F541DE-9529-432E-A75D-C64DFDB6CC10}"/>
              </a:ext>
            </a:extLst>
          </p:cNvPr>
          <p:cNvSpPr txBox="1"/>
          <p:nvPr/>
        </p:nvSpPr>
        <p:spPr>
          <a:xfrm>
            <a:off x="3645242" y="613538"/>
            <a:ext cx="56936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5400" b="1" dirty="0">
                <a:solidFill>
                  <a:srgbClr val="CE687F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APRESENTAÇÃO</a:t>
            </a:r>
          </a:p>
        </p:txBody>
      </p:sp>
      <p:sp>
        <p:nvSpPr>
          <p:cNvPr id="13" name="Double Bracket 14">
            <a:extLst>
              <a:ext uri="{FF2B5EF4-FFF2-40B4-BE49-F238E27FC236}">
                <a16:creationId xmlns:a16="http://schemas.microsoft.com/office/drawing/2014/main" id="{6B151C57-5451-4B8D-9FA4-E25403FB519D}"/>
              </a:ext>
            </a:extLst>
          </p:cNvPr>
          <p:cNvSpPr/>
          <p:nvPr/>
        </p:nvSpPr>
        <p:spPr>
          <a:xfrm>
            <a:off x="3423266" y="405257"/>
            <a:ext cx="457496" cy="457496"/>
          </a:xfrm>
          <a:custGeom>
            <a:avLst/>
            <a:gdLst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1258880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4" fmla="*/ 1878004 w 2381250"/>
              <a:gd name="connsiteY4" fmla="*/ 0 h 1762126"/>
              <a:gd name="connsiteX5" fmla="*/ 2381250 w 2381250"/>
              <a:gd name="connsiteY5" fmla="*/ 503246 h 1762126"/>
              <a:gd name="connsiteX6" fmla="*/ 2381250 w 2381250"/>
              <a:gd name="connsiteY6" fmla="*/ 1258880 h 1762126"/>
              <a:gd name="connsiteX7" fmla="*/ 1878004 w 2381250"/>
              <a:gd name="connsiteY7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7" fmla="*/ 503246 w 2381250"/>
              <a:gd name="connsiteY7" fmla="*/ 1762126 h 176212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878004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03246 w 2381250"/>
              <a:gd name="connsiteY6" fmla="*/ 1762126 h 1853566"/>
              <a:gd name="connsiteX7" fmla="*/ 0 w 2381250"/>
              <a:gd name="connsiteY7" fmla="*/ 1258880 h 1853566"/>
              <a:gd name="connsiteX8" fmla="*/ 0 w 2381250"/>
              <a:gd name="connsiteY8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209675 w 2381250"/>
              <a:gd name="connsiteY2" fmla="*/ 1 h 1853566"/>
              <a:gd name="connsiteX3" fmla="*/ 1878004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03246 w 2381250"/>
              <a:gd name="connsiteY7" fmla="*/ 1762126 h 1853566"/>
              <a:gd name="connsiteX8" fmla="*/ 0 w 2381250"/>
              <a:gd name="connsiteY8" fmla="*/ 1258880 h 1853566"/>
              <a:gd name="connsiteX9" fmla="*/ 0 w 2381250"/>
              <a:gd name="connsiteY9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9" fmla="*/ 1301115 w 2381250"/>
              <a:gd name="connsiteY9" fmla="*/ 91441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94686 w 2381250"/>
              <a:gd name="connsiteY7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0 w 2381250"/>
              <a:gd name="connsiteY1" fmla="*/ 503246 h 1853566"/>
              <a:gd name="connsiteX2" fmla="*/ 503246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94686 w 2381250"/>
              <a:gd name="connsiteY6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94686 w 2381250"/>
              <a:gd name="connsiteY5" fmla="*/ 1853566 h 185356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503246 w 2381250"/>
              <a:gd name="connsiteY4" fmla="*/ 1762126 h 1762126"/>
              <a:gd name="connsiteX5" fmla="*/ 0 w 2381250"/>
              <a:gd name="connsiteY5" fmla="*/ 1258880 h 1762126"/>
              <a:gd name="connsiteX6" fmla="*/ 0 w 2381250"/>
              <a:gd name="connsiteY6" fmla="*/ 503246 h 1762126"/>
              <a:gd name="connsiteX7" fmla="*/ 503246 w 2381250"/>
              <a:gd name="connsiteY7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1258880 h 1762126"/>
              <a:gd name="connsiteX5" fmla="*/ 0 w 2381250"/>
              <a:gd name="connsiteY5" fmla="*/ 503246 h 1762126"/>
              <a:gd name="connsiteX6" fmla="*/ 503246 w 2381250"/>
              <a:gd name="connsiteY6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503246 h 1762126"/>
              <a:gd name="connsiteX5" fmla="*/ 503246 w 2381250"/>
              <a:gd name="connsiteY5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0" fmla="*/ 1878004 w 1878004"/>
              <a:gd name="connsiteY0" fmla="*/ 1762126 h 1762126"/>
              <a:gd name="connsiteX1" fmla="*/ 0 w 1878004"/>
              <a:gd name="connsiteY1" fmla="*/ 503246 h 1762126"/>
              <a:gd name="connsiteX2" fmla="*/ 503246 w 1878004"/>
              <a:gd name="connsiteY2" fmla="*/ 0 h 1762126"/>
              <a:gd name="connsiteX0" fmla="*/ 0 w 1878004"/>
              <a:gd name="connsiteY0" fmla="*/ 503246 h 1762126"/>
              <a:gd name="connsiteX1" fmla="*/ 503246 w 1878004"/>
              <a:gd name="connsiteY1" fmla="*/ 0 h 1762126"/>
              <a:gd name="connsiteX0" fmla="*/ 0 w 503246"/>
              <a:gd name="connsiteY0" fmla="*/ 503246 h 503246"/>
              <a:gd name="connsiteX1" fmla="*/ 503246 w 503246"/>
              <a:gd name="connsiteY1" fmla="*/ 0 h 503246"/>
              <a:gd name="connsiteX0" fmla="*/ 0 w 503246"/>
              <a:gd name="connsiteY0" fmla="*/ 503246 h 503246"/>
              <a:gd name="connsiteX1" fmla="*/ 503246 w 503246"/>
              <a:gd name="connsiteY1" fmla="*/ 0 h 503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246" h="503246" stroke="0" extrusionOk="0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  <a:path w="503246" h="503246" fill="none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</a:pathLst>
          </a:custGeom>
          <a:noFill/>
          <a:ln w="25400" cap="rnd">
            <a:solidFill>
              <a:srgbClr val="CE687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318977-8B99-413D-942B-2714E7B160EF}"/>
              </a:ext>
            </a:extLst>
          </p:cNvPr>
          <p:cNvSpPr/>
          <p:nvPr/>
        </p:nvSpPr>
        <p:spPr>
          <a:xfrm>
            <a:off x="711201" y="2640102"/>
            <a:ext cx="10769600" cy="3374936"/>
          </a:xfrm>
          <a:prstGeom prst="rect">
            <a:avLst/>
          </a:prstGeom>
          <a:noFill/>
          <a:ln w="19050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79562-577F-41F8-B582-AD7E95174823}"/>
              </a:ext>
            </a:extLst>
          </p:cNvPr>
          <p:cNvSpPr txBox="1"/>
          <p:nvPr/>
        </p:nvSpPr>
        <p:spPr>
          <a:xfrm>
            <a:off x="1014868" y="2965478"/>
            <a:ext cx="2994026" cy="1712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1" i="0" u="none" strike="noStrike" cap="none" normalizeH="0" baseline="0" noProof="0" dirty="0">
                <a:ln>
                  <a:noFill/>
                </a:ln>
                <a:solidFill>
                  <a:srgbClr val="F7AABA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FORMA </a:t>
            </a:r>
            <a:br>
              <a:rPr kumimoji="0" lang="pt-PT" sz="1800" b="1" i="0" u="none" strike="noStrike" cap="none" normalizeH="0" baseline="0" noProof="0" dirty="0">
                <a:ln>
                  <a:noFill/>
                </a:ln>
                <a:solidFill>
                  <a:srgbClr val="F7AABA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</a:br>
            <a:r>
              <a:rPr kumimoji="0" lang="pt-PT" sz="1800" b="1" i="0" u="none" strike="noStrike" cap="none" normalizeH="0" baseline="0" noProof="0" dirty="0">
                <a:ln>
                  <a:noFill/>
                </a:ln>
                <a:solidFill>
                  <a:srgbClr val="F7AABA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FARMACÊUTICA</a:t>
            </a:r>
            <a:br>
              <a:rPr kumimoji="0" lang="pt-PT" sz="1800" b="1" i="0" u="none" strike="noStrike" cap="none" normalizeH="0" baseline="0" noProof="0" dirty="0">
                <a:ln>
                  <a:noFill/>
                </a:ln>
                <a:solidFill>
                  <a:srgbClr val="CF84AE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</a:br>
            <a:endParaRPr kumimoji="0" lang="pt-PT" sz="1800" b="1" i="0" u="none" strike="noStrike" cap="none" normalizeH="0" baseline="0" noProof="0" dirty="0">
              <a:ln>
                <a:noFill/>
              </a:ln>
              <a:solidFill>
                <a:srgbClr val="CF84AE"/>
              </a:solidFill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>
              <a:lnSpc>
                <a:spcPct val="85000"/>
              </a:lnSpc>
              <a:spcBef>
                <a:spcPts val="600"/>
              </a:spcBef>
              <a:defRPr/>
            </a:pPr>
            <a:r>
              <a:rPr lang="pt-PT" sz="1600" dirty="0">
                <a:solidFill>
                  <a:srgbClr val="231F20"/>
                </a:solidFill>
                <a:latin typeface="Trebuchet MS" panose="020B0603020202020204" pitchFamily="34" charset="0"/>
              </a:rPr>
              <a:t>Comprimidos vaginais: cápsulas oblongas, de cor branca, com uma ranhura e medindo 14 x 6 mm.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D11A20-BE97-4470-903C-C25DB9A3C3E6}"/>
              </a:ext>
            </a:extLst>
          </p:cNvPr>
          <p:cNvSpPr txBox="1"/>
          <p:nvPr/>
        </p:nvSpPr>
        <p:spPr>
          <a:xfrm>
            <a:off x="8145007" y="3002020"/>
            <a:ext cx="2994026" cy="1318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1" i="0" u="none" strike="noStrike" cap="none" normalizeH="0" baseline="0" noProof="0" dirty="0">
                <a:ln>
                  <a:noFill/>
                </a:ln>
                <a:solidFill>
                  <a:srgbClr val="F7AABA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APRESENTAÇÃO</a:t>
            </a:r>
          </a:p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Embalagem de 4 comprimidos em blisters de alumínio. </a:t>
            </a:r>
          </a:p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Não requer condições especiais de conservação.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4B4DA61-2535-4FAF-A06F-53CECA81F81C}"/>
              </a:ext>
            </a:extLst>
          </p:cNvPr>
          <p:cNvCxnSpPr>
            <a:cxnSpLocks/>
          </p:cNvCxnSpPr>
          <p:nvPr/>
        </p:nvCxnSpPr>
        <p:spPr>
          <a:xfrm>
            <a:off x="1136229" y="2640102"/>
            <a:ext cx="430000" cy="0"/>
          </a:xfrm>
          <a:prstGeom prst="line">
            <a:avLst/>
          </a:prstGeom>
          <a:noFill/>
          <a:ln w="50800" cap="rnd">
            <a:solidFill>
              <a:srgbClr val="F7AABA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90C501B-4433-40C9-969E-466AE2562764}"/>
              </a:ext>
            </a:extLst>
          </p:cNvPr>
          <p:cNvCxnSpPr>
            <a:cxnSpLocks/>
          </p:cNvCxnSpPr>
          <p:nvPr/>
        </p:nvCxnSpPr>
        <p:spPr>
          <a:xfrm>
            <a:off x="10567248" y="2640102"/>
            <a:ext cx="430000" cy="0"/>
          </a:xfrm>
          <a:prstGeom prst="line">
            <a:avLst/>
          </a:prstGeom>
          <a:noFill/>
          <a:ln w="50800" cap="rnd">
            <a:solidFill>
              <a:srgbClr val="F7AABA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5" name="Agrupar 60">
            <a:extLst>
              <a:ext uri="{FF2B5EF4-FFF2-40B4-BE49-F238E27FC236}">
                <a16:creationId xmlns:a16="http://schemas.microsoft.com/office/drawing/2014/main" id="{C3622E28-2BE4-4DAA-A5D6-4DF21EB03712}"/>
              </a:ext>
            </a:extLst>
          </p:cNvPr>
          <p:cNvGrpSpPr/>
          <p:nvPr/>
        </p:nvGrpSpPr>
        <p:grpSpPr>
          <a:xfrm>
            <a:off x="10561431" y="1982392"/>
            <a:ext cx="456570" cy="533977"/>
            <a:chOff x="3945069" y="1755624"/>
            <a:chExt cx="552450" cy="646113"/>
          </a:xfrm>
          <a:solidFill>
            <a:srgbClr val="CF84AE"/>
          </a:solidFill>
        </p:grpSpPr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41698D73-0570-470A-A28A-ABDF6B4FA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3656" y="1755624"/>
              <a:ext cx="423863" cy="520700"/>
            </a:xfrm>
            <a:custGeom>
              <a:avLst/>
              <a:gdLst>
                <a:gd name="T0" fmla="*/ 120 w 133"/>
                <a:gd name="T1" fmla="*/ 161 h 161"/>
                <a:gd name="T2" fmla="*/ 97 w 133"/>
                <a:gd name="T3" fmla="*/ 161 h 161"/>
                <a:gd name="T4" fmla="*/ 97 w 133"/>
                <a:gd name="T5" fmla="*/ 153 h 161"/>
                <a:gd name="T6" fmla="*/ 120 w 133"/>
                <a:gd name="T7" fmla="*/ 153 h 161"/>
                <a:gd name="T8" fmla="*/ 124 w 133"/>
                <a:gd name="T9" fmla="*/ 152 h 161"/>
                <a:gd name="T10" fmla="*/ 124 w 133"/>
                <a:gd name="T11" fmla="*/ 150 h 161"/>
                <a:gd name="T12" fmla="*/ 124 w 133"/>
                <a:gd name="T13" fmla="*/ 148 h 161"/>
                <a:gd name="T14" fmla="*/ 124 w 133"/>
                <a:gd name="T15" fmla="*/ 53 h 161"/>
                <a:gd name="T16" fmla="*/ 80 w 133"/>
                <a:gd name="T17" fmla="*/ 9 h 161"/>
                <a:gd name="T18" fmla="*/ 13 w 133"/>
                <a:gd name="T19" fmla="*/ 9 h 161"/>
                <a:gd name="T20" fmla="*/ 12 w 133"/>
                <a:gd name="T21" fmla="*/ 9 h 161"/>
                <a:gd name="T22" fmla="*/ 10 w 133"/>
                <a:gd name="T23" fmla="*/ 9 h 161"/>
                <a:gd name="T24" fmla="*/ 8 w 133"/>
                <a:gd name="T25" fmla="*/ 12 h 161"/>
                <a:gd name="T26" fmla="*/ 8 w 133"/>
                <a:gd name="T27" fmla="*/ 104 h 161"/>
                <a:gd name="T28" fmla="*/ 0 w 133"/>
                <a:gd name="T29" fmla="*/ 104 h 161"/>
                <a:gd name="T30" fmla="*/ 0 w 133"/>
                <a:gd name="T31" fmla="*/ 11 h 161"/>
                <a:gd name="T32" fmla="*/ 6 w 133"/>
                <a:gd name="T33" fmla="*/ 2 h 161"/>
                <a:gd name="T34" fmla="*/ 15 w 133"/>
                <a:gd name="T35" fmla="*/ 1 h 161"/>
                <a:gd name="T36" fmla="*/ 83 w 133"/>
                <a:gd name="T37" fmla="*/ 1 h 161"/>
                <a:gd name="T38" fmla="*/ 132 w 133"/>
                <a:gd name="T39" fmla="*/ 49 h 161"/>
                <a:gd name="T40" fmla="*/ 132 w 133"/>
                <a:gd name="T41" fmla="*/ 148 h 161"/>
                <a:gd name="T42" fmla="*/ 130 w 133"/>
                <a:gd name="T43" fmla="*/ 157 h 161"/>
                <a:gd name="T44" fmla="*/ 120 w 133"/>
                <a:gd name="T45" fmla="*/ 16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3" h="161">
                  <a:moveTo>
                    <a:pt x="120" y="161"/>
                  </a:moveTo>
                  <a:cubicBezTo>
                    <a:pt x="97" y="161"/>
                    <a:pt x="97" y="161"/>
                    <a:pt x="97" y="161"/>
                  </a:cubicBezTo>
                  <a:cubicBezTo>
                    <a:pt x="97" y="153"/>
                    <a:pt x="97" y="153"/>
                    <a:pt x="97" y="153"/>
                  </a:cubicBezTo>
                  <a:cubicBezTo>
                    <a:pt x="120" y="153"/>
                    <a:pt x="120" y="153"/>
                    <a:pt x="120" y="153"/>
                  </a:cubicBezTo>
                  <a:cubicBezTo>
                    <a:pt x="122" y="153"/>
                    <a:pt x="123" y="153"/>
                    <a:pt x="124" y="152"/>
                  </a:cubicBezTo>
                  <a:cubicBezTo>
                    <a:pt x="124" y="151"/>
                    <a:pt x="124" y="150"/>
                    <a:pt x="124" y="150"/>
                  </a:cubicBezTo>
                  <a:cubicBezTo>
                    <a:pt x="124" y="148"/>
                    <a:pt x="124" y="148"/>
                    <a:pt x="124" y="148"/>
                  </a:cubicBezTo>
                  <a:cubicBezTo>
                    <a:pt x="124" y="53"/>
                    <a:pt x="124" y="53"/>
                    <a:pt x="124" y="53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9"/>
                    <a:pt x="8" y="11"/>
                    <a:pt x="8" y="12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7"/>
                    <a:pt x="3" y="4"/>
                    <a:pt x="6" y="2"/>
                  </a:cubicBezTo>
                  <a:cubicBezTo>
                    <a:pt x="9" y="0"/>
                    <a:pt x="12" y="0"/>
                    <a:pt x="15" y="1"/>
                  </a:cubicBezTo>
                  <a:cubicBezTo>
                    <a:pt x="83" y="1"/>
                    <a:pt x="83" y="1"/>
                    <a:pt x="83" y="1"/>
                  </a:cubicBezTo>
                  <a:cubicBezTo>
                    <a:pt x="132" y="49"/>
                    <a:pt x="132" y="49"/>
                    <a:pt x="132" y="49"/>
                  </a:cubicBezTo>
                  <a:cubicBezTo>
                    <a:pt x="132" y="148"/>
                    <a:pt x="132" y="148"/>
                    <a:pt x="132" y="148"/>
                  </a:cubicBezTo>
                  <a:cubicBezTo>
                    <a:pt x="133" y="151"/>
                    <a:pt x="132" y="154"/>
                    <a:pt x="130" y="157"/>
                  </a:cubicBezTo>
                  <a:cubicBezTo>
                    <a:pt x="128" y="160"/>
                    <a:pt x="124" y="161"/>
                    <a:pt x="120" y="161"/>
                  </a:cubicBezTo>
                  <a:close/>
                </a:path>
              </a:pathLst>
            </a:custGeom>
            <a:grpFill/>
            <a:ln w="9525">
              <a:solidFill>
                <a:srgbClr val="F7AABA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073693F1-ABE4-4992-BEEB-9BBC527D6F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45069" y="2079474"/>
              <a:ext cx="447675" cy="322263"/>
            </a:xfrm>
            <a:custGeom>
              <a:avLst/>
              <a:gdLst>
                <a:gd name="T0" fmla="*/ 71 w 140"/>
                <a:gd name="T1" fmla="*/ 100 h 100"/>
                <a:gd name="T2" fmla="*/ 0 w 140"/>
                <a:gd name="T3" fmla="*/ 68 h 100"/>
                <a:gd name="T4" fmla="*/ 0 w 140"/>
                <a:gd name="T5" fmla="*/ 31 h 100"/>
                <a:gd name="T6" fmla="*/ 71 w 140"/>
                <a:gd name="T7" fmla="*/ 0 h 100"/>
                <a:gd name="T8" fmla="*/ 140 w 140"/>
                <a:gd name="T9" fmla="*/ 31 h 100"/>
                <a:gd name="T10" fmla="*/ 140 w 140"/>
                <a:gd name="T11" fmla="*/ 68 h 100"/>
                <a:gd name="T12" fmla="*/ 71 w 140"/>
                <a:gd name="T13" fmla="*/ 100 h 100"/>
                <a:gd name="T14" fmla="*/ 71 w 140"/>
                <a:gd name="T15" fmla="*/ 8 h 100"/>
                <a:gd name="T16" fmla="*/ 8 w 140"/>
                <a:gd name="T17" fmla="*/ 31 h 100"/>
                <a:gd name="T18" fmla="*/ 8 w 140"/>
                <a:gd name="T19" fmla="*/ 68 h 100"/>
                <a:gd name="T20" fmla="*/ 71 w 140"/>
                <a:gd name="T21" fmla="*/ 92 h 100"/>
                <a:gd name="T22" fmla="*/ 132 w 140"/>
                <a:gd name="T23" fmla="*/ 68 h 100"/>
                <a:gd name="T24" fmla="*/ 132 w 140"/>
                <a:gd name="T25" fmla="*/ 31 h 100"/>
                <a:gd name="T26" fmla="*/ 71 w 140"/>
                <a:gd name="T27" fmla="*/ 8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0" h="100">
                  <a:moveTo>
                    <a:pt x="71" y="100"/>
                  </a:moveTo>
                  <a:cubicBezTo>
                    <a:pt x="37" y="100"/>
                    <a:pt x="0" y="90"/>
                    <a:pt x="0" y="68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10"/>
                    <a:pt x="37" y="0"/>
                    <a:pt x="71" y="0"/>
                  </a:cubicBezTo>
                  <a:cubicBezTo>
                    <a:pt x="104" y="0"/>
                    <a:pt x="140" y="10"/>
                    <a:pt x="140" y="31"/>
                  </a:cubicBezTo>
                  <a:cubicBezTo>
                    <a:pt x="140" y="68"/>
                    <a:pt x="140" y="68"/>
                    <a:pt x="140" y="68"/>
                  </a:cubicBezTo>
                  <a:cubicBezTo>
                    <a:pt x="140" y="90"/>
                    <a:pt x="104" y="100"/>
                    <a:pt x="71" y="100"/>
                  </a:cubicBezTo>
                  <a:close/>
                  <a:moveTo>
                    <a:pt x="71" y="8"/>
                  </a:moveTo>
                  <a:cubicBezTo>
                    <a:pt x="41" y="8"/>
                    <a:pt x="8" y="17"/>
                    <a:pt x="8" y="31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8" y="83"/>
                    <a:pt x="41" y="92"/>
                    <a:pt x="71" y="92"/>
                  </a:cubicBezTo>
                  <a:cubicBezTo>
                    <a:pt x="101" y="92"/>
                    <a:pt x="132" y="83"/>
                    <a:pt x="132" y="68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2" y="17"/>
                    <a:pt x="101" y="8"/>
                    <a:pt x="71" y="8"/>
                  </a:cubicBezTo>
                  <a:close/>
                </a:path>
              </a:pathLst>
            </a:custGeom>
            <a:grpFill/>
            <a:ln w="9525">
              <a:solidFill>
                <a:srgbClr val="F7AABA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991EB716-44A3-4304-9486-28FD4C093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3844" y="1801662"/>
              <a:ext cx="139700" cy="152400"/>
            </a:xfrm>
            <a:custGeom>
              <a:avLst/>
              <a:gdLst>
                <a:gd name="T0" fmla="*/ 44 w 44"/>
                <a:gd name="T1" fmla="*/ 47 h 47"/>
                <a:gd name="T2" fmla="*/ 17 w 44"/>
                <a:gd name="T3" fmla="*/ 47 h 47"/>
                <a:gd name="T4" fmla="*/ 0 w 44"/>
                <a:gd name="T5" fmla="*/ 29 h 47"/>
                <a:gd name="T6" fmla="*/ 0 w 44"/>
                <a:gd name="T7" fmla="*/ 0 h 47"/>
                <a:gd name="T8" fmla="*/ 8 w 44"/>
                <a:gd name="T9" fmla="*/ 0 h 47"/>
                <a:gd name="T10" fmla="*/ 8 w 44"/>
                <a:gd name="T11" fmla="*/ 29 h 47"/>
                <a:gd name="T12" fmla="*/ 18 w 44"/>
                <a:gd name="T13" fmla="*/ 39 h 47"/>
                <a:gd name="T14" fmla="*/ 44 w 44"/>
                <a:gd name="T15" fmla="*/ 39 h 47"/>
                <a:gd name="T16" fmla="*/ 44 w 44"/>
                <a:gd name="T17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" h="47">
                  <a:moveTo>
                    <a:pt x="44" y="47"/>
                  </a:moveTo>
                  <a:cubicBezTo>
                    <a:pt x="17" y="47"/>
                    <a:pt x="17" y="47"/>
                    <a:pt x="17" y="47"/>
                  </a:cubicBezTo>
                  <a:cubicBezTo>
                    <a:pt x="8" y="45"/>
                    <a:pt x="0" y="38"/>
                    <a:pt x="0" y="2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4"/>
                    <a:pt x="13" y="38"/>
                    <a:pt x="18" y="39"/>
                  </a:cubicBezTo>
                  <a:cubicBezTo>
                    <a:pt x="44" y="39"/>
                    <a:pt x="44" y="39"/>
                    <a:pt x="44" y="39"/>
                  </a:cubicBezTo>
                  <a:lnTo>
                    <a:pt x="44" y="47"/>
                  </a:lnTo>
                  <a:close/>
                </a:path>
              </a:pathLst>
            </a:custGeom>
            <a:grpFill/>
            <a:ln w="9525">
              <a:solidFill>
                <a:srgbClr val="F7AABA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18E9C22C-8828-4BB6-8BDE-2BC4C319B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9044" y="2185837"/>
              <a:ext cx="349250" cy="68263"/>
            </a:xfrm>
            <a:custGeom>
              <a:avLst/>
              <a:gdLst>
                <a:gd name="T0" fmla="*/ 54 w 109"/>
                <a:gd name="T1" fmla="*/ 21 h 21"/>
                <a:gd name="T2" fmla="*/ 0 w 109"/>
                <a:gd name="T3" fmla="*/ 0 h 21"/>
                <a:gd name="T4" fmla="*/ 8 w 109"/>
                <a:gd name="T5" fmla="*/ 0 h 21"/>
                <a:gd name="T6" fmla="*/ 54 w 109"/>
                <a:gd name="T7" fmla="*/ 13 h 21"/>
                <a:gd name="T8" fmla="*/ 101 w 109"/>
                <a:gd name="T9" fmla="*/ 0 h 21"/>
                <a:gd name="T10" fmla="*/ 109 w 109"/>
                <a:gd name="T11" fmla="*/ 0 h 21"/>
                <a:gd name="T12" fmla="*/ 54 w 109"/>
                <a:gd name="T1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" h="21">
                  <a:moveTo>
                    <a:pt x="54" y="21"/>
                  </a:moveTo>
                  <a:cubicBezTo>
                    <a:pt x="27" y="21"/>
                    <a:pt x="0" y="14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5"/>
                    <a:pt x="24" y="13"/>
                    <a:pt x="54" y="13"/>
                  </a:cubicBezTo>
                  <a:cubicBezTo>
                    <a:pt x="84" y="13"/>
                    <a:pt x="101" y="5"/>
                    <a:pt x="101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14"/>
                    <a:pt x="81" y="21"/>
                    <a:pt x="54" y="21"/>
                  </a:cubicBezTo>
                  <a:close/>
                </a:path>
              </a:pathLst>
            </a:custGeom>
            <a:grpFill/>
            <a:ln w="9525">
              <a:solidFill>
                <a:srgbClr val="F7AABA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Agrupar 913">
            <a:extLst>
              <a:ext uri="{FF2B5EF4-FFF2-40B4-BE49-F238E27FC236}">
                <a16:creationId xmlns:a16="http://schemas.microsoft.com/office/drawing/2014/main" id="{38081716-4768-46FF-98A5-89A8FD3C45D6}"/>
              </a:ext>
            </a:extLst>
          </p:cNvPr>
          <p:cNvGrpSpPr/>
          <p:nvPr/>
        </p:nvGrpSpPr>
        <p:grpSpPr>
          <a:xfrm>
            <a:off x="1072013" y="2042355"/>
            <a:ext cx="609606" cy="436563"/>
            <a:chOff x="5023217" y="1782519"/>
            <a:chExt cx="609601" cy="436562"/>
          </a:xfrm>
        </p:grpSpPr>
        <p:sp>
          <p:nvSpPr>
            <p:cNvPr id="31" name="Freeform 101">
              <a:extLst>
                <a:ext uri="{FF2B5EF4-FFF2-40B4-BE49-F238E27FC236}">
                  <a16:creationId xmlns:a16="http://schemas.microsoft.com/office/drawing/2014/main" id="{0D6D0104-562F-47A6-A5B8-D321CF58A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1030" y="1782519"/>
              <a:ext cx="331788" cy="336550"/>
            </a:xfrm>
            <a:custGeom>
              <a:avLst/>
              <a:gdLst>
                <a:gd name="T0" fmla="*/ 90 w 104"/>
                <a:gd name="T1" fmla="*/ 104 h 104"/>
                <a:gd name="T2" fmla="*/ 70 w 104"/>
                <a:gd name="T3" fmla="*/ 34 h 104"/>
                <a:gd name="T4" fmla="*/ 0 w 104"/>
                <a:gd name="T5" fmla="*/ 1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4" h="104">
                  <a:moveTo>
                    <a:pt x="90" y="104"/>
                  </a:moveTo>
                  <a:cubicBezTo>
                    <a:pt x="104" y="90"/>
                    <a:pt x="95" y="59"/>
                    <a:pt x="70" y="34"/>
                  </a:cubicBezTo>
                  <a:cubicBezTo>
                    <a:pt x="45" y="8"/>
                    <a:pt x="14" y="0"/>
                    <a:pt x="0" y="14"/>
                  </a:cubicBezTo>
                </a:path>
              </a:pathLst>
            </a:custGeom>
            <a:noFill/>
            <a:ln w="19050" cap="flat">
              <a:solidFill>
                <a:srgbClr val="F7AABA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102">
              <a:extLst>
                <a:ext uri="{FF2B5EF4-FFF2-40B4-BE49-F238E27FC236}">
                  <a16:creationId xmlns:a16="http://schemas.microsoft.com/office/drawing/2014/main" id="{D6BCA736-9AB9-4B6A-A133-3F646C31C9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1017" y="1828556"/>
              <a:ext cx="387350" cy="390525"/>
            </a:xfrm>
            <a:custGeom>
              <a:avLst/>
              <a:gdLst>
                <a:gd name="T0" fmla="*/ 121 w 121"/>
                <a:gd name="T1" fmla="*/ 90 h 121"/>
                <a:gd name="T2" fmla="*/ 51 w 121"/>
                <a:gd name="T3" fmla="*/ 70 h 121"/>
                <a:gd name="T4" fmla="*/ 31 w 121"/>
                <a:gd name="T5" fmla="*/ 0 h 121"/>
                <a:gd name="T6" fmla="*/ 14 w 121"/>
                <a:gd name="T7" fmla="*/ 17 h 121"/>
                <a:gd name="T8" fmla="*/ 34 w 121"/>
                <a:gd name="T9" fmla="*/ 87 h 121"/>
                <a:gd name="T10" fmla="*/ 104 w 121"/>
                <a:gd name="T11" fmla="*/ 107 h 121"/>
                <a:gd name="T12" fmla="*/ 121 w 121"/>
                <a:gd name="T13" fmla="*/ 9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1" h="121">
                  <a:moveTo>
                    <a:pt x="121" y="90"/>
                  </a:moveTo>
                  <a:cubicBezTo>
                    <a:pt x="107" y="104"/>
                    <a:pt x="76" y="96"/>
                    <a:pt x="51" y="70"/>
                  </a:cubicBezTo>
                  <a:cubicBezTo>
                    <a:pt x="25" y="45"/>
                    <a:pt x="17" y="14"/>
                    <a:pt x="31" y="0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0" y="31"/>
                    <a:pt x="8" y="62"/>
                    <a:pt x="34" y="87"/>
                  </a:cubicBezTo>
                  <a:cubicBezTo>
                    <a:pt x="59" y="112"/>
                    <a:pt x="90" y="121"/>
                    <a:pt x="104" y="107"/>
                  </a:cubicBezTo>
                  <a:lnTo>
                    <a:pt x="121" y="90"/>
                  </a:lnTo>
                  <a:close/>
                </a:path>
              </a:pathLst>
            </a:custGeom>
            <a:noFill/>
            <a:ln w="19050" cap="flat">
              <a:solidFill>
                <a:srgbClr val="F7AABA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 103">
              <a:extLst>
                <a:ext uri="{FF2B5EF4-FFF2-40B4-BE49-F238E27FC236}">
                  <a16:creationId xmlns:a16="http://schemas.microsoft.com/office/drawing/2014/main" id="{94AC3BFE-24F5-404D-A6BF-868035910F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3217" y="1938094"/>
              <a:ext cx="265113" cy="155575"/>
            </a:xfrm>
            <a:custGeom>
              <a:avLst/>
              <a:gdLst>
                <a:gd name="T0" fmla="*/ 83 w 83"/>
                <a:gd name="T1" fmla="*/ 46 h 48"/>
                <a:gd name="T2" fmla="*/ 60 w 83"/>
                <a:gd name="T3" fmla="*/ 48 h 48"/>
                <a:gd name="T4" fmla="*/ 0 w 83"/>
                <a:gd name="T5" fmla="*/ 24 h 48"/>
                <a:gd name="T6" fmla="*/ 60 w 83"/>
                <a:gd name="T7" fmla="*/ 0 h 48"/>
                <a:gd name="T8" fmla="*/ 63 w 83"/>
                <a:gd name="T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48">
                  <a:moveTo>
                    <a:pt x="83" y="46"/>
                  </a:moveTo>
                  <a:cubicBezTo>
                    <a:pt x="76" y="47"/>
                    <a:pt x="68" y="48"/>
                    <a:pt x="60" y="48"/>
                  </a:cubicBezTo>
                  <a:cubicBezTo>
                    <a:pt x="25" y="48"/>
                    <a:pt x="0" y="37"/>
                    <a:pt x="0" y="24"/>
                  </a:cubicBezTo>
                  <a:cubicBezTo>
                    <a:pt x="0" y="11"/>
                    <a:pt x="25" y="0"/>
                    <a:pt x="60" y="0"/>
                  </a:cubicBezTo>
                  <a:cubicBezTo>
                    <a:pt x="61" y="0"/>
                    <a:pt x="62" y="0"/>
                    <a:pt x="63" y="0"/>
                  </a:cubicBezTo>
                </a:path>
              </a:pathLst>
            </a:custGeom>
            <a:noFill/>
            <a:ln w="19050" cap="flat">
              <a:solidFill>
                <a:srgbClr val="F7AABA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 104">
              <a:extLst>
                <a:ext uri="{FF2B5EF4-FFF2-40B4-BE49-F238E27FC236}">
                  <a16:creationId xmlns:a16="http://schemas.microsoft.com/office/drawing/2014/main" id="{1971195C-2B78-4F41-9C69-A8D9EBC14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3217" y="2015881"/>
              <a:ext cx="344488" cy="168275"/>
            </a:xfrm>
            <a:custGeom>
              <a:avLst/>
              <a:gdLst>
                <a:gd name="T0" fmla="*/ 0 w 108"/>
                <a:gd name="T1" fmla="*/ 0 h 52"/>
                <a:gd name="T2" fmla="*/ 0 w 108"/>
                <a:gd name="T3" fmla="*/ 28 h 52"/>
                <a:gd name="T4" fmla="*/ 60 w 108"/>
                <a:gd name="T5" fmla="*/ 52 h 52"/>
                <a:gd name="T6" fmla="*/ 108 w 108"/>
                <a:gd name="T7" fmla="*/ 4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52">
                  <a:moveTo>
                    <a:pt x="0" y="0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41"/>
                    <a:pt x="25" y="52"/>
                    <a:pt x="60" y="52"/>
                  </a:cubicBezTo>
                  <a:cubicBezTo>
                    <a:pt x="79" y="52"/>
                    <a:pt x="97" y="49"/>
                    <a:pt x="108" y="44"/>
                  </a:cubicBezTo>
                </a:path>
              </a:pathLst>
            </a:custGeom>
            <a:noFill/>
            <a:ln w="19050" cap="flat">
              <a:solidFill>
                <a:srgbClr val="F7AABA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Line 105">
              <a:extLst>
                <a:ext uri="{FF2B5EF4-FFF2-40B4-BE49-F238E27FC236}">
                  <a16:creationId xmlns:a16="http://schemas.microsoft.com/office/drawing/2014/main" id="{150D10C2-844B-4224-B448-A29B280D48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04205" y="1822206"/>
              <a:ext cx="280988" cy="296863"/>
            </a:xfrm>
            <a:prstGeom prst="line">
              <a:avLst/>
            </a:prstGeom>
            <a:noFill/>
            <a:ln w="19050" cap="flat">
              <a:solidFill>
                <a:srgbClr val="F7AABA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DCDDA0A-3346-4F3A-8FB1-19B3C7C9A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0164" y="1954946"/>
            <a:ext cx="1693172" cy="249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cap="none" normalizeH="0" baseline="0" noProof="0" dirty="0">
                <a:ln>
                  <a:noFill/>
                </a:ln>
                <a:solidFill>
                  <a:prstClr val="white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PRODUTO HOSPITALAR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04C9888-522E-4FC6-82E0-FEA9454C2546}"/>
              </a:ext>
            </a:extLst>
          </p:cNvPr>
          <p:cNvSpPr/>
          <p:nvPr/>
        </p:nvSpPr>
        <p:spPr>
          <a:xfrm>
            <a:off x="711201" y="6131660"/>
            <a:ext cx="10769600" cy="646331"/>
          </a:xfrm>
          <a:prstGeom prst="rect">
            <a:avLst/>
          </a:prstGeom>
          <a:solidFill>
            <a:srgbClr val="CE687F"/>
          </a:solidFill>
        </p:spPr>
        <p:txBody>
          <a:bodyPr wrap="square"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Trebuchet MS" panose="020B0603020202020204" pitchFamily="34" charset="0"/>
                <a:ea typeface="ＭＳ Ｐゴシック" pitchFamily="34" charset="-128"/>
              </a:rPr>
              <a:t>INDICAÇÕES TERAPÊUTICAS: </a:t>
            </a:r>
            <a:r>
              <a:rPr lang="pt-PT" dirty="0">
                <a:solidFill>
                  <a:schemeClr val="bg1"/>
                </a:solidFill>
                <a:latin typeface="Trebuchet MS" panose="020B0603020202020204" pitchFamily="34" charset="0"/>
                <a:ea typeface="ＭＳ Ｐゴシック" pitchFamily="34" charset="-128"/>
              </a:rPr>
              <a:t>Dilatação do colo do útero </a:t>
            </a:r>
            <a:r>
              <a:rPr lang="pt-PT" u="sng" dirty="0">
                <a:solidFill>
                  <a:schemeClr val="bg1"/>
                </a:solidFill>
                <a:latin typeface="Trebuchet MS" panose="020B0603020202020204" pitchFamily="34" charset="0"/>
                <a:ea typeface="ＭＳ Ｐゴシック" pitchFamily="34" charset="-128"/>
              </a:rPr>
              <a:t>não grávido</a:t>
            </a:r>
            <a:r>
              <a:rPr lang="pt-PT" dirty="0">
                <a:solidFill>
                  <a:schemeClr val="bg1"/>
                </a:solidFill>
                <a:latin typeface="Trebuchet MS" panose="020B0603020202020204" pitchFamily="34" charset="0"/>
                <a:ea typeface="ＭＳ Ｐゴシック" pitchFamily="34" charset="-128"/>
              </a:rPr>
              <a:t> antes de uma histeroscopia ou outro procedimento ginecológico que implique aceder à cavidade uterina.</a:t>
            </a:r>
          </a:p>
        </p:txBody>
      </p:sp>
      <p:pic>
        <p:nvPicPr>
          <p:cNvPr id="3" name="Picture 2" descr="A white box with blue text and white pills&#10;&#10;Description automatically generated">
            <a:extLst>
              <a:ext uri="{FF2B5EF4-FFF2-40B4-BE49-F238E27FC236}">
                <a16:creationId xmlns:a16="http://schemas.microsoft.com/office/drawing/2014/main" id="{334EA48E-C339-8304-1C9F-AA6E253496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11"/>
          <a:stretch/>
        </p:blipFill>
        <p:spPr>
          <a:xfrm>
            <a:off x="2208373" y="2263046"/>
            <a:ext cx="8968759" cy="415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46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E3117AF-11DB-492B-89B7-B468F689D9B7}"/>
              </a:ext>
            </a:extLst>
          </p:cNvPr>
          <p:cNvSpPr/>
          <p:nvPr/>
        </p:nvSpPr>
        <p:spPr>
          <a:xfrm>
            <a:off x="-12700" y="4754541"/>
            <a:ext cx="12204700" cy="2103459"/>
          </a:xfrm>
          <a:prstGeom prst="rect">
            <a:avLst/>
          </a:prstGeom>
          <a:solidFill>
            <a:srgbClr val="838F95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1683" tIns="65842" rIns="131683" bIns="6584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F541DE-9529-432E-A75D-C64DFDB6CC10}"/>
              </a:ext>
            </a:extLst>
          </p:cNvPr>
          <p:cNvSpPr txBox="1"/>
          <p:nvPr/>
        </p:nvSpPr>
        <p:spPr>
          <a:xfrm>
            <a:off x="3645242" y="613538"/>
            <a:ext cx="56936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5400" b="1" dirty="0">
                <a:solidFill>
                  <a:srgbClr val="CE687F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APRESENTAÇÃO</a:t>
            </a:r>
          </a:p>
        </p:txBody>
      </p:sp>
      <p:sp>
        <p:nvSpPr>
          <p:cNvPr id="13" name="Double Bracket 14">
            <a:extLst>
              <a:ext uri="{FF2B5EF4-FFF2-40B4-BE49-F238E27FC236}">
                <a16:creationId xmlns:a16="http://schemas.microsoft.com/office/drawing/2014/main" id="{6B151C57-5451-4B8D-9FA4-E25403FB519D}"/>
              </a:ext>
            </a:extLst>
          </p:cNvPr>
          <p:cNvSpPr/>
          <p:nvPr/>
        </p:nvSpPr>
        <p:spPr>
          <a:xfrm>
            <a:off x="3423266" y="405257"/>
            <a:ext cx="457496" cy="457496"/>
          </a:xfrm>
          <a:custGeom>
            <a:avLst/>
            <a:gdLst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1258880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4" fmla="*/ 1878004 w 2381250"/>
              <a:gd name="connsiteY4" fmla="*/ 0 h 1762126"/>
              <a:gd name="connsiteX5" fmla="*/ 2381250 w 2381250"/>
              <a:gd name="connsiteY5" fmla="*/ 503246 h 1762126"/>
              <a:gd name="connsiteX6" fmla="*/ 2381250 w 2381250"/>
              <a:gd name="connsiteY6" fmla="*/ 1258880 h 1762126"/>
              <a:gd name="connsiteX7" fmla="*/ 1878004 w 2381250"/>
              <a:gd name="connsiteY7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7" fmla="*/ 503246 w 2381250"/>
              <a:gd name="connsiteY7" fmla="*/ 1762126 h 176212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878004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03246 w 2381250"/>
              <a:gd name="connsiteY6" fmla="*/ 1762126 h 1853566"/>
              <a:gd name="connsiteX7" fmla="*/ 0 w 2381250"/>
              <a:gd name="connsiteY7" fmla="*/ 1258880 h 1853566"/>
              <a:gd name="connsiteX8" fmla="*/ 0 w 2381250"/>
              <a:gd name="connsiteY8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209675 w 2381250"/>
              <a:gd name="connsiteY2" fmla="*/ 1 h 1853566"/>
              <a:gd name="connsiteX3" fmla="*/ 1878004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03246 w 2381250"/>
              <a:gd name="connsiteY7" fmla="*/ 1762126 h 1853566"/>
              <a:gd name="connsiteX8" fmla="*/ 0 w 2381250"/>
              <a:gd name="connsiteY8" fmla="*/ 1258880 h 1853566"/>
              <a:gd name="connsiteX9" fmla="*/ 0 w 2381250"/>
              <a:gd name="connsiteY9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9" fmla="*/ 1301115 w 2381250"/>
              <a:gd name="connsiteY9" fmla="*/ 91441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94686 w 2381250"/>
              <a:gd name="connsiteY7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0 w 2381250"/>
              <a:gd name="connsiteY1" fmla="*/ 503246 h 1853566"/>
              <a:gd name="connsiteX2" fmla="*/ 503246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94686 w 2381250"/>
              <a:gd name="connsiteY6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94686 w 2381250"/>
              <a:gd name="connsiteY5" fmla="*/ 1853566 h 185356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503246 w 2381250"/>
              <a:gd name="connsiteY4" fmla="*/ 1762126 h 1762126"/>
              <a:gd name="connsiteX5" fmla="*/ 0 w 2381250"/>
              <a:gd name="connsiteY5" fmla="*/ 1258880 h 1762126"/>
              <a:gd name="connsiteX6" fmla="*/ 0 w 2381250"/>
              <a:gd name="connsiteY6" fmla="*/ 503246 h 1762126"/>
              <a:gd name="connsiteX7" fmla="*/ 503246 w 2381250"/>
              <a:gd name="connsiteY7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1258880 h 1762126"/>
              <a:gd name="connsiteX5" fmla="*/ 0 w 2381250"/>
              <a:gd name="connsiteY5" fmla="*/ 503246 h 1762126"/>
              <a:gd name="connsiteX6" fmla="*/ 503246 w 2381250"/>
              <a:gd name="connsiteY6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503246 h 1762126"/>
              <a:gd name="connsiteX5" fmla="*/ 503246 w 2381250"/>
              <a:gd name="connsiteY5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0" fmla="*/ 1878004 w 1878004"/>
              <a:gd name="connsiteY0" fmla="*/ 1762126 h 1762126"/>
              <a:gd name="connsiteX1" fmla="*/ 0 w 1878004"/>
              <a:gd name="connsiteY1" fmla="*/ 503246 h 1762126"/>
              <a:gd name="connsiteX2" fmla="*/ 503246 w 1878004"/>
              <a:gd name="connsiteY2" fmla="*/ 0 h 1762126"/>
              <a:gd name="connsiteX0" fmla="*/ 0 w 1878004"/>
              <a:gd name="connsiteY0" fmla="*/ 503246 h 1762126"/>
              <a:gd name="connsiteX1" fmla="*/ 503246 w 1878004"/>
              <a:gd name="connsiteY1" fmla="*/ 0 h 1762126"/>
              <a:gd name="connsiteX0" fmla="*/ 0 w 503246"/>
              <a:gd name="connsiteY0" fmla="*/ 503246 h 503246"/>
              <a:gd name="connsiteX1" fmla="*/ 503246 w 503246"/>
              <a:gd name="connsiteY1" fmla="*/ 0 h 503246"/>
              <a:gd name="connsiteX0" fmla="*/ 0 w 503246"/>
              <a:gd name="connsiteY0" fmla="*/ 503246 h 503246"/>
              <a:gd name="connsiteX1" fmla="*/ 503246 w 503246"/>
              <a:gd name="connsiteY1" fmla="*/ 0 h 503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246" h="503246" stroke="0" extrusionOk="0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  <a:path w="503246" h="503246" fill="none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</a:pathLst>
          </a:custGeom>
          <a:noFill/>
          <a:ln w="25400" cap="rnd">
            <a:solidFill>
              <a:srgbClr val="CE687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CDDA0A-3346-4F3A-8FB1-19B3C7C9A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9439" y="1904490"/>
            <a:ext cx="1693172" cy="249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cap="none" normalizeH="0" baseline="0" noProof="0" dirty="0">
                <a:ln>
                  <a:noFill/>
                </a:ln>
                <a:solidFill>
                  <a:prstClr val="white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PRODUTO HOSPITALAR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554E986-2711-4E3E-AB3D-D28EB9A82A50}"/>
              </a:ext>
            </a:extLst>
          </p:cNvPr>
          <p:cNvSpPr txBox="1"/>
          <p:nvPr/>
        </p:nvSpPr>
        <p:spPr>
          <a:xfrm>
            <a:off x="6397789" y="3235245"/>
            <a:ext cx="5291448" cy="1804749"/>
          </a:xfrm>
          <a:prstGeom prst="roundRect">
            <a:avLst/>
          </a:prstGeom>
          <a:solidFill>
            <a:srgbClr val="CE687F"/>
          </a:solidFill>
        </p:spPr>
        <p:txBody>
          <a:bodyPr wrap="square">
            <a:spAutoFit/>
          </a:bodyPr>
          <a:lstStyle>
            <a:defPPr>
              <a:defRPr lang="pt-PT"/>
            </a:defPPr>
            <a:lvl1pPr>
              <a:defRPr b="1">
                <a:solidFill>
                  <a:schemeClr val="bg1"/>
                </a:solidFill>
                <a:latin typeface="Trebuchet MS" panose="020B0603020202020204" pitchFamily="34" charset="0"/>
                <a:ea typeface="ＭＳ Ｐゴシック" pitchFamily="34" charset="-128"/>
              </a:defRPr>
            </a:lvl1pPr>
          </a:lstStyle>
          <a:p>
            <a:r>
              <a:rPr lang="pt-PT" sz="2000" dirty="0"/>
              <a:t>A conhecida utilização de misoprostol para a realização da interrupção voluntária da gravidez </a:t>
            </a:r>
            <a:r>
              <a:rPr lang="pt-PT" sz="2000" dirty="0">
                <a:solidFill>
                  <a:schemeClr val="tx1"/>
                </a:solidFill>
              </a:rPr>
              <a:t>não consta do RCM de MISOFAR</a:t>
            </a:r>
            <a:r>
              <a:rPr lang="pt-PT" sz="2000" dirty="0"/>
              <a:t>, pelo que o produto não pode ser promovido nesta indicação.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B1E316D-3CDF-4F1E-9A05-18D17718DDBA}"/>
              </a:ext>
            </a:extLst>
          </p:cNvPr>
          <p:cNvSpPr/>
          <p:nvPr/>
        </p:nvSpPr>
        <p:spPr>
          <a:xfrm>
            <a:off x="2250286" y="1810341"/>
            <a:ext cx="1701800" cy="551729"/>
          </a:xfrm>
          <a:prstGeom prst="rect">
            <a:avLst/>
          </a:prstGeom>
          <a:solidFill>
            <a:srgbClr val="F7AA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A7394D6-3997-4B51-9802-672BD62D0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805" y="1904490"/>
            <a:ext cx="1693172" cy="249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cap="none" normalizeH="0" baseline="0" noProof="0" dirty="0">
                <a:ln>
                  <a:noFill/>
                </a:ln>
                <a:solidFill>
                  <a:prstClr val="white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PRODUTO HOSPITALAR</a:t>
            </a:r>
          </a:p>
        </p:txBody>
      </p:sp>
      <p:pic>
        <p:nvPicPr>
          <p:cNvPr id="2" name="Picture 1" descr="A white box with blue text and white pills&#10;&#10;Description automatically generated">
            <a:extLst>
              <a:ext uri="{FF2B5EF4-FFF2-40B4-BE49-F238E27FC236}">
                <a16:creationId xmlns:a16="http://schemas.microsoft.com/office/drawing/2014/main" id="{748CCC64-3268-70A8-F4CC-739F68F8659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11"/>
          <a:stretch/>
        </p:blipFill>
        <p:spPr>
          <a:xfrm>
            <a:off x="-482403" y="2181497"/>
            <a:ext cx="8968759" cy="415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809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C8DD03DC-CC81-418E-9546-4BABD64F51A5}"/>
              </a:ext>
            </a:extLst>
          </p:cNvPr>
          <p:cNvSpPr/>
          <p:nvPr/>
        </p:nvSpPr>
        <p:spPr>
          <a:xfrm>
            <a:off x="5581650" y="2291281"/>
            <a:ext cx="6610113" cy="4566719"/>
          </a:xfrm>
          <a:prstGeom prst="rect">
            <a:avLst/>
          </a:prstGeom>
          <a:solidFill>
            <a:srgbClr val="E3B0BD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0B9BB7-4989-4AB8-9FA9-C712E2566C88}"/>
              </a:ext>
            </a:extLst>
          </p:cNvPr>
          <p:cNvSpPr/>
          <p:nvPr/>
        </p:nvSpPr>
        <p:spPr>
          <a:xfrm>
            <a:off x="0" y="2291281"/>
            <a:ext cx="5581886" cy="456671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1C9D8A-EDBA-4070-8444-66D360B7AC0D}"/>
              </a:ext>
            </a:extLst>
          </p:cNvPr>
          <p:cNvSpPr txBox="1"/>
          <p:nvPr/>
        </p:nvSpPr>
        <p:spPr>
          <a:xfrm>
            <a:off x="6771307" y="2805954"/>
            <a:ext cx="4992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Retire</a:t>
            </a:r>
            <a:r>
              <a:rPr kumimoji="0" lang="pt-PT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 o comprimido vaginal do blister.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EEFD9E-7FE0-47EC-A371-FA7ABCD1BF98}"/>
              </a:ext>
            </a:extLst>
          </p:cNvPr>
          <p:cNvSpPr txBox="1"/>
          <p:nvPr/>
        </p:nvSpPr>
        <p:spPr>
          <a:xfrm>
            <a:off x="687631" y="766400"/>
            <a:ext cx="39265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5400" b="1" dirty="0">
                <a:solidFill>
                  <a:srgbClr val="CE687F"/>
                </a:solidFill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POSOLOGIA</a:t>
            </a:r>
            <a:endParaRPr kumimoji="0" lang="pt-PT" sz="5400" b="1" i="0" u="none" strike="noStrike" cap="none" normalizeH="0" baseline="0" noProof="0" dirty="0">
              <a:ln>
                <a:noFill/>
              </a:ln>
              <a:solidFill>
                <a:srgbClr val="CE687F"/>
              </a:solidFill>
              <a:uLnTx/>
              <a:uFillTx/>
              <a:latin typeface="Trebuchet MS" panose="020B0603020202020204" pitchFamily="34" charset="0"/>
              <a:ea typeface="Segoe UI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26" name="Double Bracket 14">
            <a:extLst>
              <a:ext uri="{FF2B5EF4-FFF2-40B4-BE49-F238E27FC236}">
                <a16:creationId xmlns:a16="http://schemas.microsoft.com/office/drawing/2014/main" id="{2CD29240-EA97-45CC-A59B-6FBD1ACE9CF6}"/>
              </a:ext>
            </a:extLst>
          </p:cNvPr>
          <p:cNvSpPr/>
          <p:nvPr/>
        </p:nvSpPr>
        <p:spPr>
          <a:xfrm rot="590565">
            <a:off x="416169" y="478994"/>
            <a:ext cx="486814" cy="486814"/>
          </a:xfrm>
          <a:custGeom>
            <a:avLst/>
            <a:gdLst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1258880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4" fmla="*/ 1878004 w 2381250"/>
              <a:gd name="connsiteY4" fmla="*/ 0 h 1762126"/>
              <a:gd name="connsiteX5" fmla="*/ 2381250 w 2381250"/>
              <a:gd name="connsiteY5" fmla="*/ 503246 h 1762126"/>
              <a:gd name="connsiteX6" fmla="*/ 2381250 w 2381250"/>
              <a:gd name="connsiteY6" fmla="*/ 1258880 h 1762126"/>
              <a:gd name="connsiteX7" fmla="*/ 1878004 w 2381250"/>
              <a:gd name="connsiteY7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7" fmla="*/ 503246 w 2381250"/>
              <a:gd name="connsiteY7" fmla="*/ 1762126 h 176212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878004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03246 w 2381250"/>
              <a:gd name="connsiteY6" fmla="*/ 1762126 h 1853566"/>
              <a:gd name="connsiteX7" fmla="*/ 0 w 2381250"/>
              <a:gd name="connsiteY7" fmla="*/ 1258880 h 1853566"/>
              <a:gd name="connsiteX8" fmla="*/ 0 w 2381250"/>
              <a:gd name="connsiteY8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209675 w 2381250"/>
              <a:gd name="connsiteY2" fmla="*/ 1 h 1853566"/>
              <a:gd name="connsiteX3" fmla="*/ 1878004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03246 w 2381250"/>
              <a:gd name="connsiteY7" fmla="*/ 1762126 h 1853566"/>
              <a:gd name="connsiteX8" fmla="*/ 0 w 2381250"/>
              <a:gd name="connsiteY8" fmla="*/ 1258880 h 1853566"/>
              <a:gd name="connsiteX9" fmla="*/ 0 w 2381250"/>
              <a:gd name="connsiteY9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9" fmla="*/ 1301115 w 2381250"/>
              <a:gd name="connsiteY9" fmla="*/ 91441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94686 w 2381250"/>
              <a:gd name="connsiteY7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0 w 2381250"/>
              <a:gd name="connsiteY1" fmla="*/ 503246 h 1853566"/>
              <a:gd name="connsiteX2" fmla="*/ 503246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94686 w 2381250"/>
              <a:gd name="connsiteY6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94686 w 2381250"/>
              <a:gd name="connsiteY5" fmla="*/ 1853566 h 185356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503246 w 2381250"/>
              <a:gd name="connsiteY4" fmla="*/ 1762126 h 1762126"/>
              <a:gd name="connsiteX5" fmla="*/ 0 w 2381250"/>
              <a:gd name="connsiteY5" fmla="*/ 1258880 h 1762126"/>
              <a:gd name="connsiteX6" fmla="*/ 0 w 2381250"/>
              <a:gd name="connsiteY6" fmla="*/ 503246 h 1762126"/>
              <a:gd name="connsiteX7" fmla="*/ 503246 w 2381250"/>
              <a:gd name="connsiteY7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1258880 h 1762126"/>
              <a:gd name="connsiteX5" fmla="*/ 0 w 2381250"/>
              <a:gd name="connsiteY5" fmla="*/ 503246 h 1762126"/>
              <a:gd name="connsiteX6" fmla="*/ 503246 w 2381250"/>
              <a:gd name="connsiteY6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503246 h 1762126"/>
              <a:gd name="connsiteX5" fmla="*/ 503246 w 2381250"/>
              <a:gd name="connsiteY5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0" fmla="*/ 1878004 w 1878004"/>
              <a:gd name="connsiteY0" fmla="*/ 1762126 h 1762126"/>
              <a:gd name="connsiteX1" fmla="*/ 0 w 1878004"/>
              <a:gd name="connsiteY1" fmla="*/ 503246 h 1762126"/>
              <a:gd name="connsiteX2" fmla="*/ 503246 w 1878004"/>
              <a:gd name="connsiteY2" fmla="*/ 0 h 1762126"/>
              <a:gd name="connsiteX0" fmla="*/ 0 w 1878004"/>
              <a:gd name="connsiteY0" fmla="*/ 503246 h 1762126"/>
              <a:gd name="connsiteX1" fmla="*/ 503246 w 1878004"/>
              <a:gd name="connsiteY1" fmla="*/ 0 h 1762126"/>
              <a:gd name="connsiteX0" fmla="*/ 0 w 503246"/>
              <a:gd name="connsiteY0" fmla="*/ 503246 h 503246"/>
              <a:gd name="connsiteX1" fmla="*/ 503246 w 503246"/>
              <a:gd name="connsiteY1" fmla="*/ 0 h 503246"/>
              <a:gd name="connsiteX0" fmla="*/ 0 w 503246"/>
              <a:gd name="connsiteY0" fmla="*/ 503246 h 503246"/>
              <a:gd name="connsiteX1" fmla="*/ 503246 w 503246"/>
              <a:gd name="connsiteY1" fmla="*/ 0 h 503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246" h="503246" stroke="0" extrusionOk="0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  <a:path w="503246" h="503246" fill="none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</a:pathLst>
          </a:custGeom>
          <a:noFill/>
          <a:ln w="25400" cap="rnd">
            <a:solidFill>
              <a:srgbClr val="CE687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7F2CB2-A8CF-4DB8-A7A1-BB0C6099AD45}"/>
              </a:ext>
            </a:extLst>
          </p:cNvPr>
          <p:cNvSpPr txBox="1"/>
          <p:nvPr/>
        </p:nvSpPr>
        <p:spPr>
          <a:xfrm>
            <a:off x="5573332" y="1446589"/>
            <a:ext cx="5996368" cy="458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800" dirty="0">
                <a:solidFill>
                  <a:srgbClr val="231F20"/>
                </a:solidFill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MODO DE</a:t>
            </a:r>
            <a:r>
              <a:rPr kumimoji="0" lang="pt-PT" sz="28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 ADMINISTRAÇÃO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4291884-52B1-44D8-9C0D-7242B42BF054}"/>
              </a:ext>
            </a:extLst>
          </p:cNvPr>
          <p:cNvSpPr/>
          <p:nvPr/>
        </p:nvSpPr>
        <p:spPr>
          <a:xfrm>
            <a:off x="1066801" y="2537910"/>
            <a:ext cx="333351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cap="none" normalizeH="0" baseline="0" noProof="0">
                <a:ln>
                  <a:noFill/>
                </a:ln>
                <a:solidFill>
                  <a:prstClr val="black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DOSE RECOMENDADA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E124F16-C25E-4DCC-A87B-A204AB46635A}"/>
              </a:ext>
            </a:extLst>
          </p:cNvPr>
          <p:cNvGrpSpPr/>
          <p:nvPr/>
        </p:nvGrpSpPr>
        <p:grpSpPr>
          <a:xfrm>
            <a:off x="160053" y="4809418"/>
            <a:ext cx="5149091" cy="1431082"/>
            <a:chOff x="160053" y="4809418"/>
            <a:chExt cx="5149091" cy="1431082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402F7EB-400A-419A-80A3-C2AD50135D1F}"/>
                </a:ext>
              </a:extLst>
            </p:cNvPr>
            <p:cNvGrpSpPr/>
            <p:nvPr/>
          </p:nvGrpSpPr>
          <p:grpSpPr>
            <a:xfrm>
              <a:off x="1477779" y="4809418"/>
              <a:ext cx="2631223" cy="1431082"/>
              <a:chOff x="2064602" y="3759968"/>
              <a:chExt cx="3362969" cy="1829067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B9317EE-7F08-4805-B8E9-9C854E1CE1EE}"/>
                  </a:ext>
                </a:extLst>
              </p:cNvPr>
              <p:cNvSpPr/>
              <p:nvPr/>
            </p:nvSpPr>
            <p:spPr>
              <a:xfrm rot="16200000">
                <a:off x="2064602" y="3759968"/>
                <a:ext cx="1829067" cy="1829067"/>
              </a:xfrm>
              <a:prstGeom prst="ellipse">
                <a:avLst/>
              </a:prstGeom>
              <a:noFill/>
              <a:ln w="25400">
                <a:solidFill>
                  <a:srgbClr val="CE687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E87B9401-2DE2-47EA-8715-199E478DD85C}"/>
                  </a:ext>
                </a:extLst>
              </p:cNvPr>
              <p:cNvSpPr/>
              <p:nvPr/>
            </p:nvSpPr>
            <p:spPr>
              <a:xfrm rot="16200000">
                <a:off x="3598504" y="3759968"/>
                <a:ext cx="1829067" cy="1829067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4D5FB27-83BF-4D6D-AE5C-F7B77DBF6CB0}"/>
                </a:ext>
              </a:extLst>
            </p:cNvPr>
            <p:cNvSpPr/>
            <p:nvPr/>
          </p:nvSpPr>
          <p:spPr>
            <a:xfrm>
              <a:off x="160053" y="5095540"/>
              <a:ext cx="1302237" cy="77905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1" i="0" u="none" strike="noStrike" cap="none" normalizeH="0" baseline="0" noProof="0" dirty="0">
                  <a:ln>
                    <a:noFill/>
                  </a:ln>
                  <a:solidFill>
                    <a:prstClr val="black"/>
                  </a:solidFill>
                  <a:uLnTx/>
                  <a:uFillTx/>
                  <a:latin typeface="Trebuchet MS" panose="020B0603020202020204" pitchFamily="34" charset="0"/>
                  <a:ea typeface="+mn-ea"/>
                  <a:cs typeface="+mn-cs"/>
                </a:rPr>
                <a:t>Em mulheres </a:t>
              </a:r>
              <a:r>
                <a:rPr kumimoji="0" lang="pt-PT" sz="1050" b="1" i="0" u="none" strike="noStrike" cap="none" normalizeH="0" baseline="0" noProof="0" dirty="0">
                  <a:ln>
                    <a:noFill/>
                  </a:ln>
                  <a:solidFill>
                    <a:srgbClr val="CE687F"/>
                  </a:solidFill>
                  <a:uLnTx/>
                  <a:uFillTx/>
                  <a:latin typeface="Trebuchet MS" panose="020B0603020202020204" pitchFamily="34" charset="0"/>
                  <a:ea typeface="+mn-ea"/>
                  <a:cs typeface="+mn-cs"/>
                </a:rPr>
                <a:t>sem</a:t>
              </a:r>
              <a:r>
                <a:rPr kumimoji="0" lang="pt-PT" sz="1050" b="1" i="0" u="none" strike="noStrike" cap="none" normalizeH="0" baseline="0" noProof="0" dirty="0">
                  <a:ln>
                    <a:noFill/>
                  </a:ln>
                  <a:solidFill>
                    <a:prstClr val="black"/>
                  </a:solidFill>
                  <a:uLnTx/>
                  <a:uFillTx/>
                  <a:latin typeface="Trebuchet MS" panose="020B0603020202020204" pitchFamily="34" charset="0"/>
                  <a:ea typeface="+mn-ea"/>
                  <a:cs typeface="+mn-cs"/>
                </a:rPr>
                <a:t> história de cesariana anterior ou cicatrizes uterinas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45E5B35-1DBC-4E4B-BAC8-1CCABA0E8937}"/>
                </a:ext>
              </a:extLst>
            </p:cNvPr>
            <p:cNvSpPr/>
            <p:nvPr/>
          </p:nvSpPr>
          <p:spPr>
            <a:xfrm>
              <a:off x="4138590" y="5095540"/>
              <a:ext cx="1170554" cy="77905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1" i="0" u="none" strike="noStrike" cap="none" normalizeH="0" baseline="0" noProof="0" dirty="0">
                  <a:ln>
                    <a:noFill/>
                  </a:ln>
                  <a:solidFill>
                    <a:prstClr val="black"/>
                  </a:solidFill>
                  <a:uLnTx/>
                  <a:uFillTx/>
                  <a:latin typeface="Trebuchet MS" panose="020B0603020202020204" pitchFamily="34" charset="0"/>
                  <a:ea typeface="+mn-ea"/>
                  <a:cs typeface="+mn-cs"/>
                </a:rPr>
                <a:t>Em mulheres </a:t>
              </a:r>
              <a:r>
                <a:rPr kumimoji="0" lang="pt-PT" sz="1050" b="1" i="0" u="none" strike="noStrike" cap="none" normalizeH="0" baseline="0" noProof="0" dirty="0">
                  <a:ln>
                    <a:noFill/>
                  </a:ln>
                  <a:solidFill>
                    <a:srgbClr val="CE687F"/>
                  </a:solidFill>
                  <a:uLnTx/>
                  <a:uFillTx/>
                  <a:latin typeface="Trebuchet MS" panose="020B0603020202020204" pitchFamily="34" charset="0"/>
                  <a:ea typeface="+mn-ea"/>
                  <a:cs typeface="+mn-cs"/>
                </a:rPr>
                <a:t>com</a:t>
              </a:r>
              <a:r>
                <a:rPr kumimoji="0" lang="pt-PT" sz="1050" b="1" i="0" u="none" strike="noStrike" cap="none" normalizeH="0" baseline="0" noProof="0" dirty="0">
                  <a:ln>
                    <a:noFill/>
                  </a:ln>
                  <a:solidFill>
                    <a:prstClr val="black"/>
                  </a:solidFill>
                  <a:uLnTx/>
                  <a:uFillTx/>
                  <a:latin typeface="Trebuchet MS" panose="020B0603020202020204" pitchFamily="34" charset="0"/>
                  <a:ea typeface="+mn-ea"/>
                  <a:cs typeface="+mn-cs"/>
                </a:rPr>
                <a:t> história de cesariana anterior ou cicatrizes uterinas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4A30BE1-7DF3-4645-8488-EB430A213584}"/>
                </a:ext>
              </a:extLst>
            </p:cNvPr>
            <p:cNvGrpSpPr/>
            <p:nvPr/>
          </p:nvGrpSpPr>
          <p:grpSpPr>
            <a:xfrm>
              <a:off x="1444559" y="5056799"/>
              <a:ext cx="1450516" cy="898221"/>
              <a:chOff x="2496708" y="4403410"/>
              <a:chExt cx="1450516" cy="898221"/>
            </a:xfrm>
          </p:grpSpPr>
          <p:sp>
            <p:nvSpPr>
              <p:cNvPr id="37" name="2 Título">
                <a:extLst>
                  <a:ext uri="{FF2B5EF4-FFF2-40B4-BE49-F238E27FC236}">
                    <a16:creationId xmlns:a16="http://schemas.microsoft.com/office/drawing/2014/main" id="{456945D6-3ED6-4D11-AFF7-E65358D251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96708" y="4403410"/>
                <a:ext cx="1450516" cy="844589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3600" b="1" i="0" u="none" strike="noStrike" cap="none" normalizeH="0" baseline="0" noProof="0">
                    <a:ln>
                      <a:noFill/>
                    </a:ln>
                    <a:solidFill>
                      <a:srgbClr val="231F20"/>
                    </a:solidFill>
                    <a:uLnTx/>
                    <a:uFillTx/>
                    <a:latin typeface="Trebuchet MS" panose="020B0603020202020204" pitchFamily="34" charset="0"/>
                    <a:ea typeface="+mj-ea"/>
                    <a:cs typeface="+mj-cs"/>
                  </a:rPr>
                  <a:t>2-8</a:t>
                </a:r>
                <a:br>
                  <a:rPr kumimoji="0" lang="pt-PT" sz="2000" b="0" i="0" u="none" strike="noStrike" cap="none" normalizeH="0" baseline="0" noProof="0">
                    <a:ln>
                      <a:noFill/>
                    </a:ln>
                    <a:solidFill>
                      <a:srgbClr val="231F20"/>
                    </a:solidFill>
                    <a:uLnTx/>
                    <a:uFillTx/>
                    <a:latin typeface="Trebuchet MS" panose="020B0603020202020204" pitchFamily="34" charset="0"/>
                    <a:ea typeface="+mj-ea"/>
                    <a:cs typeface="+mj-cs"/>
                  </a:rPr>
                </a:br>
                <a:endParaRPr kumimoji="0" lang="pt-PT" sz="2000" b="0" i="0" u="none" strike="noStrike" cap="none" normalizeH="0" baseline="0" noProof="0">
                  <a:ln>
                    <a:noFill/>
                  </a:ln>
                  <a:solidFill>
                    <a:srgbClr val="231F20"/>
                  </a:solidFill>
                  <a:uLnTx/>
                  <a:uFillTx/>
                  <a:latin typeface="Trebuchet MS" panose="020B0603020202020204" pitchFamily="34" charset="0"/>
                  <a:ea typeface="+mj-ea"/>
                  <a:cs typeface="+mj-cs"/>
                </a:endParaRPr>
              </a:p>
            </p:txBody>
          </p:sp>
          <p:sp>
            <p:nvSpPr>
              <p:cNvPr id="38" name="2 Título">
                <a:extLst>
                  <a:ext uri="{FF2B5EF4-FFF2-40B4-BE49-F238E27FC236}">
                    <a16:creationId xmlns:a16="http://schemas.microsoft.com/office/drawing/2014/main" id="{43ED81BB-2228-4BE1-8CC7-1F7366A6D00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22985" y="4828882"/>
                <a:ext cx="1197962" cy="472749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600" b="0" i="0" u="none" strike="noStrike" cap="none" normalizeH="0" baseline="0" noProof="0">
                    <a:ln>
                      <a:noFill/>
                    </a:ln>
                    <a:solidFill>
                      <a:srgbClr val="231F20"/>
                    </a:solidFill>
                    <a:uLnTx/>
                    <a:uFillTx/>
                    <a:latin typeface="Trebuchet MS" panose="020B0603020202020204" pitchFamily="34" charset="0"/>
                    <a:ea typeface="+mj-ea"/>
                    <a:cs typeface="+mj-cs"/>
                  </a:rPr>
                  <a:t>Horas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600" b="0" i="0" u="none" strike="noStrike" cap="none" normalizeH="0" baseline="0" noProof="0">
                    <a:ln>
                      <a:noFill/>
                    </a:ln>
                    <a:solidFill>
                      <a:srgbClr val="231F20"/>
                    </a:solidFill>
                    <a:uLnTx/>
                    <a:uFillTx/>
                    <a:latin typeface="Trebuchet MS" panose="020B0603020202020204" pitchFamily="34" charset="0"/>
                    <a:ea typeface="+mj-ea"/>
                    <a:cs typeface="+mj-cs"/>
                  </a:rPr>
                  <a:t>antes</a:t>
                </a:r>
                <a:br>
                  <a:rPr kumimoji="0" lang="pt-PT" sz="1000" b="0" i="0" u="none" strike="noStrike" cap="none" normalizeH="0" baseline="0" noProof="0">
                    <a:ln>
                      <a:noFill/>
                    </a:ln>
                    <a:solidFill>
                      <a:srgbClr val="231F20"/>
                    </a:solidFill>
                    <a:uLnTx/>
                    <a:uFillTx/>
                    <a:latin typeface="Trebuchet MS" panose="020B0603020202020204" pitchFamily="34" charset="0"/>
                    <a:ea typeface="+mj-ea"/>
                    <a:cs typeface="+mj-cs"/>
                  </a:rPr>
                </a:br>
                <a:endParaRPr kumimoji="0" lang="pt-PT" sz="1000" b="0" i="0" u="none" strike="noStrike" cap="none" normalizeH="0" baseline="0" noProof="0">
                  <a:ln>
                    <a:noFill/>
                  </a:ln>
                  <a:solidFill>
                    <a:srgbClr val="231F20"/>
                  </a:solidFill>
                  <a:uLnTx/>
                  <a:uFillTx/>
                  <a:latin typeface="Trebuchet MS" panose="020B0603020202020204" pitchFamily="34" charset="0"/>
                  <a:ea typeface="+mj-ea"/>
                  <a:cs typeface="+mj-cs"/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E870FF03-2596-4E12-BBE1-10769AA18A19}"/>
                </a:ext>
              </a:extLst>
            </p:cNvPr>
            <p:cNvGrpSpPr/>
            <p:nvPr/>
          </p:nvGrpSpPr>
          <p:grpSpPr>
            <a:xfrm>
              <a:off x="2731373" y="5075849"/>
              <a:ext cx="1450516" cy="898221"/>
              <a:chOff x="2496708" y="4403410"/>
              <a:chExt cx="1450516" cy="898221"/>
            </a:xfrm>
          </p:grpSpPr>
          <p:sp>
            <p:nvSpPr>
              <p:cNvPr id="44" name="2 Título">
                <a:extLst>
                  <a:ext uri="{FF2B5EF4-FFF2-40B4-BE49-F238E27FC236}">
                    <a16:creationId xmlns:a16="http://schemas.microsoft.com/office/drawing/2014/main" id="{B2223D23-3232-445B-A688-8CE7DFC025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96708" y="4403410"/>
                <a:ext cx="1450516" cy="844589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3600" b="1" i="0" u="none" strike="noStrike" cap="none" normalizeH="0" baseline="0" noProof="0">
                    <a:ln>
                      <a:noFill/>
                    </a:ln>
                    <a:solidFill>
                      <a:srgbClr val="231F20"/>
                    </a:solidFill>
                    <a:uLnTx/>
                    <a:uFillTx/>
                    <a:latin typeface="Trebuchet MS" panose="020B0603020202020204" pitchFamily="34" charset="0"/>
                    <a:ea typeface="+mj-ea"/>
                    <a:cs typeface="+mj-cs"/>
                  </a:rPr>
                  <a:t>2-4</a:t>
                </a:r>
                <a:br>
                  <a:rPr kumimoji="0" lang="pt-PT" sz="2000" b="0" i="0" u="none" strike="noStrike" cap="none" normalizeH="0" baseline="0" noProof="0">
                    <a:ln>
                      <a:noFill/>
                    </a:ln>
                    <a:solidFill>
                      <a:srgbClr val="231F20"/>
                    </a:solidFill>
                    <a:uLnTx/>
                    <a:uFillTx/>
                    <a:latin typeface="Trebuchet MS" panose="020B0603020202020204" pitchFamily="34" charset="0"/>
                    <a:ea typeface="+mj-ea"/>
                    <a:cs typeface="+mj-cs"/>
                  </a:rPr>
                </a:br>
                <a:endParaRPr kumimoji="0" lang="pt-PT" sz="2000" b="0" i="0" u="none" strike="noStrike" cap="none" normalizeH="0" baseline="0" noProof="0">
                  <a:ln>
                    <a:noFill/>
                  </a:ln>
                  <a:solidFill>
                    <a:srgbClr val="231F20"/>
                  </a:solidFill>
                  <a:uLnTx/>
                  <a:uFillTx/>
                  <a:latin typeface="Trebuchet MS" panose="020B0603020202020204" pitchFamily="34" charset="0"/>
                  <a:ea typeface="+mj-ea"/>
                  <a:cs typeface="+mj-cs"/>
                </a:endParaRPr>
              </a:p>
            </p:txBody>
          </p:sp>
          <p:sp>
            <p:nvSpPr>
              <p:cNvPr id="45" name="2 Título">
                <a:extLst>
                  <a:ext uri="{FF2B5EF4-FFF2-40B4-BE49-F238E27FC236}">
                    <a16:creationId xmlns:a16="http://schemas.microsoft.com/office/drawing/2014/main" id="{7E10DDB7-7BE5-4EA0-A1EC-4AE066556E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22985" y="4828882"/>
                <a:ext cx="1197962" cy="472749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600" b="0" i="0" u="none" strike="noStrike" cap="none" normalizeH="0" baseline="0" noProof="0">
                    <a:ln>
                      <a:noFill/>
                    </a:ln>
                    <a:solidFill>
                      <a:srgbClr val="231F20"/>
                    </a:solidFill>
                    <a:uLnTx/>
                    <a:uFillTx/>
                    <a:latin typeface="Trebuchet MS" panose="020B0603020202020204" pitchFamily="34" charset="0"/>
                    <a:ea typeface="+mj-ea"/>
                    <a:cs typeface="+mj-cs"/>
                  </a:rPr>
                  <a:t>Horas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600" b="0" i="0" u="none" strike="noStrike" cap="none" normalizeH="0" baseline="0" noProof="0">
                    <a:ln>
                      <a:noFill/>
                    </a:ln>
                    <a:solidFill>
                      <a:srgbClr val="231F20"/>
                    </a:solidFill>
                    <a:uLnTx/>
                    <a:uFillTx/>
                    <a:latin typeface="Trebuchet MS" panose="020B0603020202020204" pitchFamily="34" charset="0"/>
                    <a:ea typeface="+mj-ea"/>
                    <a:cs typeface="+mj-cs"/>
                  </a:rPr>
                  <a:t>antes</a:t>
                </a:r>
                <a:br>
                  <a:rPr kumimoji="0" lang="pt-PT" sz="1000" b="0" i="0" u="none" strike="noStrike" cap="none" normalizeH="0" baseline="0" noProof="0">
                    <a:ln>
                      <a:noFill/>
                    </a:ln>
                    <a:solidFill>
                      <a:srgbClr val="231F20"/>
                    </a:solidFill>
                    <a:uLnTx/>
                    <a:uFillTx/>
                    <a:latin typeface="Trebuchet MS" panose="020B0603020202020204" pitchFamily="34" charset="0"/>
                    <a:ea typeface="+mj-ea"/>
                    <a:cs typeface="+mj-cs"/>
                  </a:rPr>
                </a:br>
                <a:endParaRPr kumimoji="0" lang="pt-PT" sz="1000" b="0" i="0" u="none" strike="noStrike" cap="none" normalizeH="0" baseline="0" noProof="0">
                  <a:ln>
                    <a:noFill/>
                  </a:ln>
                  <a:solidFill>
                    <a:srgbClr val="231F20"/>
                  </a:solidFill>
                  <a:uLnTx/>
                  <a:uFillTx/>
                  <a:latin typeface="Trebuchet MS" panose="020B0603020202020204" pitchFamily="34" charset="0"/>
                  <a:ea typeface="+mj-ea"/>
                  <a:cs typeface="+mj-cs"/>
                </a:endParaRPr>
              </a:p>
            </p:txBody>
          </p:sp>
        </p:grpSp>
      </p:grpSp>
      <p:sp>
        <p:nvSpPr>
          <p:cNvPr id="48" name="Right Triangle 47">
            <a:extLst>
              <a:ext uri="{FF2B5EF4-FFF2-40B4-BE49-F238E27FC236}">
                <a16:creationId xmlns:a16="http://schemas.microsoft.com/office/drawing/2014/main" id="{B6996C69-4FAC-44C3-9EB9-25726CC3C502}"/>
              </a:ext>
            </a:extLst>
          </p:cNvPr>
          <p:cNvSpPr/>
          <p:nvPr/>
        </p:nvSpPr>
        <p:spPr>
          <a:xfrm rot="18992563">
            <a:off x="2624020" y="2947446"/>
            <a:ext cx="219075" cy="219075"/>
          </a:xfrm>
          <a:prstGeom prst="rtTriangle">
            <a:avLst/>
          </a:prstGeom>
          <a:solidFill>
            <a:srgbClr val="CE68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249BCAA-6C04-496F-8D89-2ECE7867AE69}"/>
              </a:ext>
            </a:extLst>
          </p:cNvPr>
          <p:cNvGrpSpPr/>
          <p:nvPr/>
        </p:nvGrpSpPr>
        <p:grpSpPr>
          <a:xfrm>
            <a:off x="1066801" y="3364487"/>
            <a:ext cx="3333512" cy="909444"/>
            <a:chOff x="1123951" y="3145412"/>
            <a:chExt cx="3333512" cy="909444"/>
          </a:xfrm>
        </p:grpSpPr>
        <p:sp>
          <p:nvSpPr>
            <p:cNvPr id="51" name="2 Título">
              <a:extLst>
                <a:ext uri="{FF2B5EF4-FFF2-40B4-BE49-F238E27FC236}">
                  <a16:creationId xmlns:a16="http://schemas.microsoft.com/office/drawing/2014/main" id="{14E7CF33-3143-4B19-918B-D9D920D6CCD8}"/>
                </a:ext>
              </a:extLst>
            </p:cNvPr>
            <p:cNvSpPr txBox="1">
              <a:spLocks/>
            </p:cNvSpPr>
            <p:nvPr/>
          </p:nvSpPr>
          <p:spPr>
            <a:xfrm>
              <a:off x="1841453" y="3145412"/>
              <a:ext cx="1898509" cy="844589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3600" b="1" i="0" u="none" strike="noStrike" cap="none" normalizeH="0" baseline="0" noProof="0">
                  <a:ln>
                    <a:noFill/>
                  </a:ln>
                  <a:solidFill>
                    <a:srgbClr val="231F20"/>
                  </a:solidFill>
                  <a:uLnTx/>
                  <a:uFillTx/>
                  <a:latin typeface="Trebuchet MS" panose="020B0603020202020204" pitchFamily="34" charset="0"/>
                  <a:ea typeface="+mj-ea"/>
                  <a:cs typeface="+mj-cs"/>
                </a:rPr>
                <a:t>400 µg  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A6FB320-61DF-4AD9-AD4A-951B0C7C4D0E}"/>
                </a:ext>
              </a:extLst>
            </p:cNvPr>
            <p:cNvSpPr/>
            <p:nvPr/>
          </p:nvSpPr>
          <p:spPr>
            <a:xfrm>
              <a:off x="1123951" y="3654746"/>
              <a:ext cx="3333512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2000" b="1" i="0" u="none" strike="noStrike" cap="none" normalizeH="0" baseline="0" noProof="0" dirty="0">
                  <a:ln>
                    <a:noFill/>
                  </a:ln>
                  <a:solidFill>
                    <a:prstClr val="black"/>
                  </a:solidFill>
                  <a:uLnTx/>
                  <a:uFillTx/>
                  <a:latin typeface="Trebuchet MS" panose="020B0603020202020204" pitchFamily="34" charset="0"/>
                  <a:ea typeface="+mn-ea"/>
                  <a:cs typeface="+mn-cs"/>
                </a:rPr>
                <a:t>Misoprostol</a:t>
              </a:r>
            </a:p>
          </p:txBody>
        </p:sp>
      </p:grpSp>
      <p:sp>
        <p:nvSpPr>
          <p:cNvPr id="55" name="Double Bracket 54">
            <a:extLst>
              <a:ext uri="{FF2B5EF4-FFF2-40B4-BE49-F238E27FC236}">
                <a16:creationId xmlns:a16="http://schemas.microsoft.com/office/drawing/2014/main" id="{6E3DB75C-5293-49DE-AE2D-60A5CB09AFA5}"/>
              </a:ext>
            </a:extLst>
          </p:cNvPr>
          <p:cNvSpPr/>
          <p:nvPr/>
        </p:nvSpPr>
        <p:spPr>
          <a:xfrm>
            <a:off x="1457078" y="3380678"/>
            <a:ext cx="2481811" cy="958170"/>
          </a:xfrm>
          <a:prstGeom prst="bracketPair">
            <a:avLst>
              <a:gd name="adj" fmla="val 15873"/>
            </a:avLst>
          </a:prstGeom>
          <a:noFill/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72B54FE-399E-474B-8BE5-71C0606F3FDE}"/>
              </a:ext>
            </a:extLst>
          </p:cNvPr>
          <p:cNvSpPr txBox="1"/>
          <p:nvPr/>
        </p:nvSpPr>
        <p:spPr>
          <a:xfrm>
            <a:off x="6782872" y="4247249"/>
            <a:ext cx="4992068" cy="563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A paciente deve estar </a:t>
            </a:r>
            <a:r>
              <a:rPr kumimoji="0" lang="pt-PT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deitada de costas com os </a:t>
            </a:r>
            <a:r>
              <a:rPr kumimoji="0" lang="pt-PT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joelhos dobrados e junto ao peito.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2E200D3-DCBB-43F2-A3A0-59DF04E96ECF}"/>
              </a:ext>
            </a:extLst>
          </p:cNvPr>
          <p:cNvSpPr txBox="1"/>
          <p:nvPr/>
        </p:nvSpPr>
        <p:spPr>
          <a:xfrm>
            <a:off x="6771307" y="5545080"/>
            <a:ext cx="4895850" cy="563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O comprimido vaginal </a:t>
            </a:r>
            <a:r>
              <a:rPr kumimoji="0" lang="pt-PT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deve ser inserido usando a ponta do dedo médio.</a:t>
            </a:r>
          </a:p>
        </p:txBody>
      </p:sp>
      <p:sp>
        <p:nvSpPr>
          <p:cNvPr id="72" name="Double Bracket 14">
            <a:extLst>
              <a:ext uri="{FF2B5EF4-FFF2-40B4-BE49-F238E27FC236}">
                <a16:creationId xmlns:a16="http://schemas.microsoft.com/office/drawing/2014/main" id="{FA721D1E-383C-4516-9D24-B9240E2A6580}"/>
              </a:ext>
            </a:extLst>
          </p:cNvPr>
          <p:cNvSpPr/>
          <p:nvPr/>
        </p:nvSpPr>
        <p:spPr>
          <a:xfrm rot="590565" flipH="1" flipV="1">
            <a:off x="11347694" y="1430240"/>
            <a:ext cx="486814" cy="486814"/>
          </a:xfrm>
          <a:custGeom>
            <a:avLst/>
            <a:gdLst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1258880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4" fmla="*/ 1878004 w 2381250"/>
              <a:gd name="connsiteY4" fmla="*/ 0 h 1762126"/>
              <a:gd name="connsiteX5" fmla="*/ 2381250 w 2381250"/>
              <a:gd name="connsiteY5" fmla="*/ 503246 h 1762126"/>
              <a:gd name="connsiteX6" fmla="*/ 2381250 w 2381250"/>
              <a:gd name="connsiteY6" fmla="*/ 1258880 h 1762126"/>
              <a:gd name="connsiteX7" fmla="*/ 1878004 w 2381250"/>
              <a:gd name="connsiteY7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7" fmla="*/ 503246 w 2381250"/>
              <a:gd name="connsiteY7" fmla="*/ 1762126 h 176212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878004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03246 w 2381250"/>
              <a:gd name="connsiteY6" fmla="*/ 1762126 h 1853566"/>
              <a:gd name="connsiteX7" fmla="*/ 0 w 2381250"/>
              <a:gd name="connsiteY7" fmla="*/ 1258880 h 1853566"/>
              <a:gd name="connsiteX8" fmla="*/ 0 w 2381250"/>
              <a:gd name="connsiteY8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209675 w 2381250"/>
              <a:gd name="connsiteY2" fmla="*/ 1 h 1853566"/>
              <a:gd name="connsiteX3" fmla="*/ 1878004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03246 w 2381250"/>
              <a:gd name="connsiteY7" fmla="*/ 1762126 h 1853566"/>
              <a:gd name="connsiteX8" fmla="*/ 0 w 2381250"/>
              <a:gd name="connsiteY8" fmla="*/ 1258880 h 1853566"/>
              <a:gd name="connsiteX9" fmla="*/ 0 w 2381250"/>
              <a:gd name="connsiteY9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9" fmla="*/ 1301115 w 2381250"/>
              <a:gd name="connsiteY9" fmla="*/ 91441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94686 w 2381250"/>
              <a:gd name="connsiteY7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0 w 2381250"/>
              <a:gd name="connsiteY1" fmla="*/ 503246 h 1853566"/>
              <a:gd name="connsiteX2" fmla="*/ 503246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94686 w 2381250"/>
              <a:gd name="connsiteY6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94686 w 2381250"/>
              <a:gd name="connsiteY5" fmla="*/ 1853566 h 185356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503246 w 2381250"/>
              <a:gd name="connsiteY4" fmla="*/ 1762126 h 1762126"/>
              <a:gd name="connsiteX5" fmla="*/ 0 w 2381250"/>
              <a:gd name="connsiteY5" fmla="*/ 1258880 h 1762126"/>
              <a:gd name="connsiteX6" fmla="*/ 0 w 2381250"/>
              <a:gd name="connsiteY6" fmla="*/ 503246 h 1762126"/>
              <a:gd name="connsiteX7" fmla="*/ 503246 w 2381250"/>
              <a:gd name="connsiteY7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1258880 h 1762126"/>
              <a:gd name="connsiteX5" fmla="*/ 0 w 2381250"/>
              <a:gd name="connsiteY5" fmla="*/ 503246 h 1762126"/>
              <a:gd name="connsiteX6" fmla="*/ 503246 w 2381250"/>
              <a:gd name="connsiteY6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503246 h 1762126"/>
              <a:gd name="connsiteX5" fmla="*/ 503246 w 2381250"/>
              <a:gd name="connsiteY5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0" fmla="*/ 1878004 w 1878004"/>
              <a:gd name="connsiteY0" fmla="*/ 1762126 h 1762126"/>
              <a:gd name="connsiteX1" fmla="*/ 0 w 1878004"/>
              <a:gd name="connsiteY1" fmla="*/ 503246 h 1762126"/>
              <a:gd name="connsiteX2" fmla="*/ 503246 w 1878004"/>
              <a:gd name="connsiteY2" fmla="*/ 0 h 1762126"/>
              <a:gd name="connsiteX0" fmla="*/ 0 w 1878004"/>
              <a:gd name="connsiteY0" fmla="*/ 503246 h 1762126"/>
              <a:gd name="connsiteX1" fmla="*/ 503246 w 1878004"/>
              <a:gd name="connsiteY1" fmla="*/ 0 h 1762126"/>
              <a:gd name="connsiteX0" fmla="*/ 0 w 503246"/>
              <a:gd name="connsiteY0" fmla="*/ 503246 h 503246"/>
              <a:gd name="connsiteX1" fmla="*/ 503246 w 503246"/>
              <a:gd name="connsiteY1" fmla="*/ 0 h 503246"/>
              <a:gd name="connsiteX0" fmla="*/ 0 w 503246"/>
              <a:gd name="connsiteY0" fmla="*/ 503246 h 503246"/>
              <a:gd name="connsiteX1" fmla="*/ 503246 w 503246"/>
              <a:gd name="connsiteY1" fmla="*/ 0 h 503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246" h="503246" stroke="0" extrusionOk="0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  <a:path w="503246" h="503246" fill="none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</a:pathLst>
          </a:custGeom>
          <a:noFill/>
          <a:ln w="25400" cap="rnd">
            <a:solidFill>
              <a:srgbClr val="CE687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A453757-92F1-4D33-8136-359779162FA5}"/>
              </a:ext>
            </a:extLst>
          </p:cNvPr>
          <p:cNvCxnSpPr/>
          <p:nvPr/>
        </p:nvCxnSpPr>
        <p:spPr>
          <a:xfrm>
            <a:off x="6867525" y="3310510"/>
            <a:ext cx="48958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E0ECB1F-DBA3-4767-A23D-35EB1F39FD18}"/>
              </a:ext>
            </a:extLst>
          </p:cNvPr>
          <p:cNvCxnSpPr/>
          <p:nvPr/>
        </p:nvCxnSpPr>
        <p:spPr>
          <a:xfrm>
            <a:off x="6867525" y="6240500"/>
            <a:ext cx="48958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48C24D9-8276-4CB8-BC6E-327B40B20A3D}"/>
              </a:ext>
            </a:extLst>
          </p:cNvPr>
          <p:cNvCxnSpPr/>
          <p:nvPr/>
        </p:nvCxnSpPr>
        <p:spPr>
          <a:xfrm>
            <a:off x="6867525" y="4969480"/>
            <a:ext cx="48958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D570FF9A-0C7B-49E8-8617-470C85E2B30E}"/>
              </a:ext>
            </a:extLst>
          </p:cNvPr>
          <p:cNvSpPr/>
          <p:nvPr/>
        </p:nvSpPr>
        <p:spPr>
          <a:xfrm>
            <a:off x="1385046" y="4370475"/>
            <a:ext cx="270458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400" b="1" dirty="0">
                <a:solidFill>
                  <a:schemeClr val="bg1"/>
                </a:solidFill>
                <a:latin typeface="Trebuchet MS" panose="020B0603020202020204" pitchFamily="34" charset="0"/>
              </a:rPr>
              <a:t>2 comprimidos de Misofar 200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7F1D4B9-41C1-4C9B-828E-7FF5A3DA1268}"/>
              </a:ext>
            </a:extLst>
          </p:cNvPr>
          <p:cNvGrpSpPr/>
          <p:nvPr/>
        </p:nvGrpSpPr>
        <p:grpSpPr>
          <a:xfrm>
            <a:off x="5684964" y="2686646"/>
            <a:ext cx="1045646" cy="1050382"/>
            <a:chOff x="2064602" y="3759968"/>
            <a:chExt cx="1829067" cy="1829067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C1308B6-D7AF-4286-93C4-358A048C187C}"/>
                </a:ext>
              </a:extLst>
            </p:cNvPr>
            <p:cNvSpPr/>
            <p:nvPr/>
          </p:nvSpPr>
          <p:spPr>
            <a:xfrm rot="16200000">
              <a:off x="2064602" y="3759968"/>
              <a:ext cx="1829067" cy="18290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E68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8F4F7003-C7E0-472D-B706-0FA7AA88B3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053" r="70221"/>
            <a:stretch/>
          </p:blipFill>
          <p:spPr>
            <a:xfrm>
              <a:off x="2090738" y="4051977"/>
              <a:ext cx="1778773" cy="1279060"/>
            </a:xfrm>
            <a:custGeom>
              <a:avLst/>
              <a:gdLst>
                <a:gd name="connsiteX0" fmla="*/ 255041 w 1829068"/>
                <a:gd name="connsiteY0" fmla="*/ 0 h 1287671"/>
                <a:gd name="connsiteX1" fmla="*/ 1574027 w 1829068"/>
                <a:gd name="connsiteY1" fmla="*/ 0 h 1287671"/>
                <a:gd name="connsiteX2" fmla="*/ 1672880 w 1829068"/>
                <a:gd name="connsiteY2" fmla="*/ 119811 h 1287671"/>
                <a:gd name="connsiteX3" fmla="*/ 1829068 w 1829068"/>
                <a:gd name="connsiteY3" fmla="*/ 631135 h 1287671"/>
                <a:gd name="connsiteX4" fmla="*/ 1561207 w 1829068"/>
                <a:gd name="connsiteY4" fmla="*/ 1277808 h 1287671"/>
                <a:gd name="connsiteX5" fmla="*/ 1549253 w 1829068"/>
                <a:gd name="connsiteY5" fmla="*/ 1287671 h 1287671"/>
                <a:gd name="connsiteX6" fmla="*/ 279815 w 1829068"/>
                <a:gd name="connsiteY6" fmla="*/ 1287671 h 1287671"/>
                <a:gd name="connsiteX7" fmla="*/ 267861 w 1829068"/>
                <a:gd name="connsiteY7" fmla="*/ 1277808 h 1287671"/>
                <a:gd name="connsiteX8" fmla="*/ 0 w 1829068"/>
                <a:gd name="connsiteY8" fmla="*/ 631135 h 1287671"/>
                <a:gd name="connsiteX9" fmla="*/ 156188 w 1829068"/>
                <a:gd name="connsiteY9" fmla="*/ 119811 h 1287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9068" h="1287671">
                  <a:moveTo>
                    <a:pt x="255041" y="0"/>
                  </a:moveTo>
                  <a:lnTo>
                    <a:pt x="1574027" y="0"/>
                  </a:lnTo>
                  <a:lnTo>
                    <a:pt x="1672880" y="119811"/>
                  </a:lnTo>
                  <a:cubicBezTo>
                    <a:pt x="1771489" y="265771"/>
                    <a:pt x="1829068" y="441729"/>
                    <a:pt x="1829068" y="631135"/>
                  </a:cubicBezTo>
                  <a:cubicBezTo>
                    <a:pt x="1829068" y="883677"/>
                    <a:pt x="1726705" y="1112310"/>
                    <a:pt x="1561207" y="1277808"/>
                  </a:cubicBezTo>
                  <a:lnTo>
                    <a:pt x="1549253" y="1287671"/>
                  </a:lnTo>
                  <a:lnTo>
                    <a:pt x="279815" y="1287671"/>
                  </a:lnTo>
                  <a:lnTo>
                    <a:pt x="267861" y="1277808"/>
                  </a:lnTo>
                  <a:cubicBezTo>
                    <a:pt x="102363" y="1112310"/>
                    <a:pt x="0" y="883677"/>
                    <a:pt x="0" y="631135"/>
                  </a:cubicBezTo>
                  <a:cubicBezTo>
                    <a:pt x="0" y="441729"/>
                    <a:pt x="57579" y="265771"/>
                    <a:pt x="156188" y="119811"/>
                  </a:cubicBezTo>
                  <a:close/>
                </a:path>
              </a:pathLst>
            </a:custGeom>
            <a:ln>
              <a:solidFill>
                <a:srgbClr val="CE687F"/>
              </a:solidFill>
            </a:ln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4C6E46C-0D35-4A65-B355-828F0AE7A640}"/>
              </a:ext>
            </a:extLst>
          </p:cNvPr>
          <p:cNvGrpSpPr/>
          <p:nvPr/>
        </p:nvGrpSpPr>
        <p:grpSpPr>
          <a:xfrm>
            <a:off x="5684964" y="3986088"/>
            <a:ext cx="1045646" cy="1050382"/>
            <a:chOff x="823177" y="4197084"/>
            <a:chExt cx="1829067" cy="1829067"/>
          </a:xfrm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CC2BFC13-CEAB-45F0-B132-D8A6EFA9BCBB}"/>
                </a:ext>
              </a:extLst>
            </p:cNvPr>
            <p:cNvSpPr/>
            <p:nvPr/>
          </p:nvSpPr>
          <p:spPr>
            <a:xfrm rot="16200000">
              <a:off x="823177" y="4197084"/>
              <a:ext cx="1829067" cy="18290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E68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2B2FA6AD-2159-4FCD-9F7B-32EE7E6425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5208" r="34140"/>
            <a:stretch/>
          </p:blipFill>
          <p:spPr>
            <a:xfrm>
              <a:off x="864765" y="4577920"/>
              <a:ext cx="1770487" cy="1144121"/>
            </a:xfrm>
            <a:custGeom>
              <a:avLst/>
              <a:gdLst>
                <a:gd name="connsiteX0" fmla="*/ 178117 w 1796622"/>
                <a:gd name="connsiteY0" fmla="*/ 0 h 1144121"/>
                <a:gd name="connsiteX1" fmla="*/ 1618506 w 1796622"/>
                <a:gd name="connsiteY1" fmla="*/ 0 h 1144121"/>
                <a:gd name="connsiteX2" fmla="*/ 1643205 w 1796622"/>
                <a:gd name="connsiteY2" fmla="*/ 30049 h 1144121"/>
                <a:gd name="connsiteX3" fmla="*/ 1796622 w 1796622"/>
                <a:gd name="connsiteY3" fmla="*/ 534197 h 1144121"/>
                <a:gd name="connsiteX4" fmla="*/ 1643205 w 1796622"/>
                <a:gd name="connsiteY4" fmla="*/ 1038346 h 1144121"/>
                <a:gd name="connsiteX5" fmla="*/ 1556260 w 1796622"/>
                <a:gd name="connsiteY5" fmla="*/ 1144121 h 1144121"/>
                <a:gd name="connsiteX6" fmla="*/ 240362 w 1796622"/>
                <a:gd name="connsiteY6" fmla="*/ 1144121 h 1144121"/>
                <a:gd name="connsiteX7" fmla="*/ 153418 w 1796622"/>
                <a:gd name="connsiteY7" fmla="*/ 1038346 h 1144121"/>
                <a:gd name="connsiteX8" fmla="*/ 0 w 1796622"/>
                <a:gd name="connsiteY8" fmla="*/ 534197 h 1144121"/>
                <a:gd name="connsiteX9" fmla="*/ 153418 w 1796622"/>
                <a:gd name="connsiteY9" fmla="*/ 30049 h 1144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96622" h="1144121">
                  <a:moveTo>
                    <a:pt x="178117" y="0"/>
                  </a:moveTo>
                  <a:lnTo>
                    <a:pt x="1618506" y="0"/>
                  </a:lnTo>
                  <a:lnTo>
                    <a:pt x="1643205" y="30049"/>
                  </a:lnTo>
                  <a:cubicBezTo>
                    <a:pt x="1740064" y="173961"/>
                    <a:pt x="1796622" y="347449"/>
                    <a:pt x="1796622" y="534197"/>
                  </a:cubicBezTo>
                  <a:cubicBezTo>
                    <a:pt x="1796622" y="720945"/>
                    <a:pt x="1740064" y="894434"/>
                    <a:pt x="1643205" y="1038346"/>
                  </a:cubicBezTo>
                  <a:lnTo>
                    <a:pt x="1556260" y="1144121"/>
                  </a:lnTo>
                  <a:lnTo>
                    <a:pt x="240362" y="1144121"/>
                  </a:lnTo>
                  <a:lnTo>
                    <a:pt x="153418" y="1038346"/>
                  </a:lnTo>
                  <a:cubicBezTo>
                    <a:pt x="56558" y="894434"/>
                    <a:pt x="0" y="720945"/>
                    <a:pt x="0" y="534197"/>
                  </a:cubicBezTo>
                  <a:cubicBezTo>
                    <a:pt x="0" y="347449"/>
                    <a:pt x="56558" y="173961"/>
                    <a:pt x="153418" y="30049"/>
                  </a:cubicBezTo>
                  <a:close/>
                </a:path>
              </a:pathLst>
            </a:custGeom>
            <a:ln>
              <a:solidFill>
                <a:srgbClr val="CE687F"/>
              </a:solidFill>
            </a:ln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914C5C9-38D5-405D-BD98-7A332282EF51}"/>
              </a:ext>
            </a:extLst>
          </p:cNvPr>
          <p:cNvGrpSpPr/>
          <p:nvPr/>
        </p:nvGrpSpPr>
        <p:grpSpPr>
          <a:xfrm>
            <a:off x="5684964" y="5285529"/>
            <a:ext cx="1045646" cy="1050382"/>
            <a:chOff x="4376002" y="4241168"/>
            <a:chExt cx="1829067" cy="1829067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D23864FA-4BC3-43F0-B609-532D239CD6DE}"/>
                </a:ext>
              </a:extLst>
            </p:cNvPr>
            <p:cNvSpPr/>
            <p:nvPr/>
          </p:nvSpPr>
          <p:spPr>
            <a:xfrm rot="16200000">
              <a:off x="4376002" y="4241168"/>
              <a:ext cx="1829067" cy="18290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E68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93E2ECB9-169F-4AB2-AF00-BFBBAE4764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7752"/>
            <a:stretch/>
          </p:blipFill>
          <p:spPr>
            <a:xfrm>
              <a:off x="4395924" y="4678670"/>
              <a:ext cx="1792154" cy="1087453"/>
            </a:xfrm>
            <a:custGeom>
              <a:avLst/>
              <a:gdLst>
                <a:gd name="connsiteX0" fmla="*/ 139024 w 1796622"/>
                <a:gd name="connsiteY0" fmla="*/ 0 h 1087454"/>
                <a:gd name="connsiteX1" fmla="*/ 1657599 w 1796622"/>
                <a:gd name="connsiteY1" fmla="*/ 0 h 1087454"/>
                <a:gd name="connsiteX2" fmla="*/ 1726028 w 1796622"/>
                <a:gd name="connsiteY2" fmla="*/ 126548 h 1087454"/>
                <a:gd name="connsiteX3" fmla="*/ 1796622 w 1796622"/>
                <a:gd name="connsiteY3" fmla="*/ 477530 h 1087454"/>
                <a:gd name="connsiteX4" fmla="*/ 1643205 w 1796622"/>
                <a:gd name="connsiteY4" fmla="*/ 981679 h 1087454"/>
                <a:gd name="connsiteX5" fmla="*/ 1556260 w 1796622"/>
                <a:gd name="connsiteY5" fmla="*/ 1087454 h 1087454"/>
                <a:gd name="connsiteX6" fmla="*/ 240363 w 1796622"/>
                <a:gd name="connsiteY6" fmla="*/ 1087454 h 1087454"/>
                <a:gd name="connsiteX7" fmla="*/ 153418 w 1796622"/>
                <a:gd name="connsiteY7" fmla="*/ 981679 h 1087454"/>
                <a:gd name="connsiteX8" fmla="*/ 0 w 1796622"/>
                <a:gd name="connsiteY8" fmla="*/ 477530 h 1087454"/>
                <a:gd name="connsiteX9" fmla="*/ 70594 w 1796622"/>
                <a:gd name="connsiteY9" fmla="*/ 126548 h 1087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96622" h="1087454">
                  <a:moveTo>
                    <a:pt x="139024" y="0"/>
                  </a:moveTo>
                  <a:lnTo>
                    <a:pt x="1657599" y="0"/>
                  </a:lnTo>
                  <a:lnTo>
                    <a:pt x="1726028" y="126548"/>
                  </a:lnTo>
                  <a:cubicBezTo>
                    <a:pt x="1771485" y="234426"/>
                    <a:pt x="1796622" y="353032"/>
                    <a:pt x="1796622" y="477530"/>
                  </a:cubicBezTo>
                  <a:cubicBezTo>
                    <a:pt x="1796622" y="664278"/>
                    <a:pt x="1740065" y="837767"/>
                    <a:pt x="1643205" y="981679"/>
                  </a:cubicBezTo>
                  <a:lnTo>
                    <a:pt x="1556260" y="1087454"/>
                  </a:lnTo>
                  <a:lnTo>
                    <a:pt x="240363" y="1087454"/>
                  </a:lnTo>
                  <a:lnTo>
                    <a:pt x="153418" y="981679"/>
                  </a:lnTo>
                  <a:cubicBezTo>
                    <a:pt x="56558" y="837767"/>
                    <a:pt x="0" y="664278"/>
                    <a:pt x="0" y="477530"/>
                  </a:cubicBezTo>
                  <a:cubicBezTo>
                    <a:pt x="0" y="353032"/>
                    <a:pt x="25137" y="234426"/>
                    <a:pt x="70594" y="126548"/>
                  </a:cubicBezTo>
                  <a:close/>
                </a:path>
              </a:pathLst>
            </a:custGeom>
            <a:ln>
              <a:solidFill>
                <a:srgbClr val="CE687F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004400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4E98C56-8D3C-47F3-9BB6-50623C8663D0}"/>
              </a:ext>
            </a:extLst>
          </p:cNvPr>
          <p:cNvSpPr/>
          <p:nvPr/>
        </p:nvSpPr>
        <p:spPr>
          <a:xfrm>
            <a:off x="7141028" y="0"/>
            <a:ext cx="5050971" cy="6858000"/>
          </a:xfrm>
          <a:prstGeom prst="rect">
            <a:avLst/>
          </a:prstGeom>
          <a:solidFill>
            <a:srgbClr val="CED2D5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2935" name="Group 252934">
            <a:extLst>
              <a:ext uri="{FF2B5EF4-FFF2-40B4-BE49-F238E27FC236}">
                <a16:creationId xmlns:a16="http://schemas.microsoft.com/office/drawing/2014/main" id="{826029F5-D137-4EA1-BAFE-3FC174D784DF}"/>
              </a:ext>
            </a:extLst>
          </p:cNvPr>
          <p:cNvGrpSpPr/>
          <p:nvPr/>
        </p:nvGrpSpPr>
        <p:grpSpPr>
          <a:xfrm>
            <a:off x="8243466" y="4622882"/>
            <a:ext cx="758426" cy="758428"/>
            <a:chOff x="8243466" y="4585732"/>
            <a:chExt cx="758426" cy="758428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C26E74D1-A8E5-479A-8942-F02FC8EE1F7E}"/>
                </a:ext>
              </a:extLst>
            </p:cNvPr>
            <p:cNvSpPr/>
            <p:nvPr/>
          </p:nvSpPr>
          <p:spPr>
            <a:xfrm>
              <a:off x="8243466" y="4585732"/>
              <a:ext cx="758426" cy="758428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 w="25400">
              <a:solidFill>
                <a:srgbClr val="E3B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DC426E0-1026-4C3D-A7C5-B9FDAC03CE1E}"/>
                </a:ext>
              </a:extLst>
            </p:cNvPr>
            <p:cNvCxnSpPr>
              <a:cxnSpLocks/>
            </p:cNvCxnSpPr>
            <p:nvPr/>
          </p:nvCxnSpPr>
          <p:spPr>
            <a:xfrm>
              <a:off x="8548914" y="4964945"/>
              <a:ext cx="358013" cy="0"/>
            </a:xfrm>
            <a:prstGeom prst="line">
              <a:avLst/>
            </a:prstGeom>
            <a:noFill/>
            <a:ln w="25400" cap="rnd">
              <a:solidFill>
                <a:srgbClr val="CE687F"/>
              </a:solidFill>
              <a:round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52934" name="Group 252933">
            <a:extLst>
              <a:ext uri="{FF2B5EF4-FFF2-40B4-BE49-F238E27FC236}">
                <a16:creationId xmlns:a16="http://schemas.microsoft.com/office/drawing/2014/main" id="{876F5E09-F52A-4BE1-AB26-03839339C021}"/>
              </a:ext>
            </a:extLst>
          </p:cNvPr>
          <p:cNvGrpSpPr/>
          <p:nvPr/>
        </p:nvGrpSpPr>
        <p:grpSpPr>
          <a:xfrm>
            <a:off x="8243466" y="1514872"/>
            <a:ext cx="758426" cy="758428"/>
            <a:chOff x="8243466" y="1514872"/>
            <a:chExt cx="758426" cy="75842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1C07713-B6F3-47F0-891B-B616F617E563}"/>
                </a:ext>
              </a:extLst>
            </p:cNvPr>
            <p:cNvSpPr/>
            <p:nvPr/>
          </p:nvSpPr>
          <p:spPr>
            <a:xfrm>
              <a:off x="8243466" y="1514872"/>
              <a:ext cx="758426" cy="758428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 w="25400">
              <a:solidFill>
                <a:srgbClr val="E3B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BE001B8A-7DD8-4F2D-A472-DCEFF8571B2D}"/>
                </a:ext>
              </a:extLst>
            </p:cNvPr>
            <p:cNvCxnSpPr>
              <a:cxnSpLocks/>
            </p:cNvCxnSpPr>
            <p:nvPr/>
          </p:nvCxnSpPr>
          <p:spPr>
            <a:xfrm>
              <a:off x="8548914" y="1894085"/>
              <a:ext cx="358013" cy="0"/>
            </a:xfrm>
            <a:prstGeom prst="line">
              <a:avLst/>
            </a:prstGeom>
            <a:noFill/>
            <a:ln w="25400" cap="rnd">
              <a:solidFill>
                <a:srgbClr val="CE687F"/>
              </a:solidFill>
              <a:round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52949" name="TextBox 30"/>
          <p:cNvSpPr txBox="1">
            <a:spLocks noChangeArrowheads="1"/>
          </p:cNvSpPr>
          <p:nvPr/>
        </p:nvSpPr>
        <p:spPr bwMode="auto">
          <a:xfrm>
            <a:off x="966586" y="4452990"/>
            <a:ext cx="3271584" cy="1740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i="0" u="none" strike="noStrike" cap="none" normalizeH="0" baseline="0" noProof="0" dirty="0">
                <a:ln>
                  <a:noFill/>
                </a:ln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O útero de uma mulher no fim da gestação é muito diferente de um útero que não contém um feto (útero não grávido), como no caso de mulheres que vão ser sujeitas a</a:t>
            </a:r>
            <a:r>
              <a:rPr kumimoji="0" lang="pt-PT" sz="18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 </a:t>
            </a:r>
            <a:r>
              <a:rPr kumimoji="0" lang="pt-PT" sz="1800" b="1" i="0" u="none" strike="noStrike" cap="none" normalizeH="0" baseline="0" noProof="0" dirty="0">
                <a:ln>
                  <a:noFill/>
                </a:ln>
                <a:solidFill>
                  <a:srgbClr val="CE687F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histeroscopia</a:t>
            </a:r>
            <a:r>
              <a:rPr kumimoji="0" lang="pt-PT" sz="18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. </a:t>
            </a:r>
          </a:p>
        </p:txBody>
      </p:sp>
      <p:sp>
        <p:nvSpPr>
          <p:cNvPr id="252950" name="Rectangle 37"/>
          <p:cNvSpPr>
            <a:spLocks noChangeArrowheads="1"/>
          </p:cNvSpPr>
          <p:nvPr/>
        </p:nvSpPr>
        <p:spPr bwMode="auto">
          <a:xfrm>
            <a:off x="966586" y="2532671"/>
            <a:ext cx="2886075" cy="103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pt-PT" sz="18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O mecanismo de </a:t>
            </a:r>
            <a:r>
              <a:rPr kumimoji="0" lang="pt-PT" sz="1800" b="0" i="0" u="none" strike="noStrike" cap="none" normalizeH="0" baseline="0" noProof="0" dirty="0" err="1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acção</a:t>
            </a:r>
            <a:r>
              <a:rPr kumimoji="0" lang="pt-PT" sz="18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 é o mesmo do Misofar 25, mas a dosagem é diferente (200 </a:t>
            </a:r>
            <a:r>
              <a:rPr kumimoji="0" lang="pt-PT" sz="1800" b="0" i="0" u="none" strike="noStrike" cap="none" normalizeH="0" baseline="0" noProof="0" dirty="0" err="1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mcg</a:t>
            </a:r>
            <a:r>
              <a:rPr kumimoji="0" lang="pt-PT" sz="18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). </a:t>
            </a:r>
          </a:p>
        </p:txBody>
      </p:sp>
      <p:sp>
        <p:nvSpPr>
          <p:cNvPr id="18454" name="TextBox 42"/>
          <p:cNvSpPr txBox="1">
            <a:spLocks noChangeArrowheads="1"/>
          </p:cNvSpPr>
          <p:nvPr/>
        </p:nvSpPr>
        <p:spPr bwMode="auto">
          <a:xfrm>
            <a:off x="9188328" y="1154033"/>
            <a:ext cx="2750524" cy="176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CE687F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Arial" panose="020B0604020202020204" pitchFamily="34" charset="0"/>
              </a:rPr>
              <a:t>No útero de uma grávida</a:t>
            </a: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Arial" panose="020B0604020202020204" pitchFamily="34" charset="0"/>
              </a:rPr>
              <a:t>, </a:t>
            </a:r>
            <a:r>
              <a:rPr kumimoji="0" lang="pt-PT" sz="16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Arial" panose="020B0604020202020204" pitchFamily="34" charset="0"/>
              </a:rPr>
              <a:t>os </a:t>
            </a:r>
            <a:r>
              <a:rPr kumimoji="0" lang="pt-PT" sz="1600" b="1" i="0" u="none" strike="noStrike" cap="none" normalizeH="0" baseline="0" noProof="0" dirty="0" err="1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Arial" panose="020B0604020202020204" pitchFamily="34" charset="0"/>
              </a:rPr>
              <a:t>receptores</a:t>
            </a:r>
            <a:r>
              <a:rPr kumimoji="0" lang="pt-PT" sz="16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Arial" panose="020B0604020202020204" pitchFamily="34" charset="0"/>
              </a:rPr>
              <a:t> de oxitocina encontram-se naturalmente</a:t>
            </a:r>
            <a:r>
              <a:rPr kumimoji="0" lang="pt-PT" sz="1600" b="1" i="0" u="none" strike="noStrike" cap="none" normalizeH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Arial" panose="020B0604020202020204" pitchFamily="34" charset="0"/>
              </a:rPr>
              <a:t> </a:t>
            </a:r>
            <a:r>
              <a:rPr kumimoji="0" lang="pt-PT" sz="1600" b="1" i="0" u="none" strike="noStrike" cap="none" normalizeH="0" baseline="0" noProof="0" dirty="0" err="1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Arial" panose="020B0604020202020204" pitchFamily="34" charset="0"/>
              </a:rPr>
              <a:t>activos</a:t>
            </a:r>
            <a:r>
              <a:rPr kumimoji="0" lang="pt-PT" sz="16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Arial" panose="020B0604020202020204" pitchFamily="34" charset="0"/>
              </a:rPr>
              <a:t> </a:t>
            </a:r>
            <a:r>
              <a:rPr kumimoji="0" lang="pt-PT" sz="160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Arial" panose="020B0604020202020204" pitchFamily="34" charset="0"/>
              </a:rPr>
              <a:t>e em maior número, sendo necessária</a:t>
            </a:r>
            <a:r>
              <a:rPr kumimoji="0" lang="pt-PT" sz="1600" i="0" u="none" strike="noStrike" cap="none" normalizeH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Arial" panose="020B0604020202020204" pitchFamily="34" charset="0"/>
              </a:rPr>
              <a:t> uma dose menor de misoprostol para a dilatação do colo do útero.</a:t>
            </a:r>
            <a:endParaRPr kumimoji="0" lang="pt-PT" sz="1600" i="0" u="none" strike="noStrike" cap="none" normalizeH="0" baseline="0" noProof="0" dirty="0">
              <a:ln>
                <a:noFill/>
              </a:ln>
              <a:solidFill>
                <a:srgbClr val="231F20"/>
              </a:solidFill>
              <a:uLnTx/>
              <a:uFillTx/>
              <a:latin typeface="Trebuchet MS" panose="020B0603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9188328" y="4130800"/>
            <a:ext cx="2675766" cy="1975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defRPr/>
            </a:pP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CE687F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Arial" panose="020B0604020202020204" pitchFamily="34" charset="0"/>
              </a:rPr>
              <a:t>No útero não grávido</a:t>
            </a: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Arial" panose="020B0604020202020204" pitchFamily="34" charset="0"/>
              </a:rPr>
              <a:t>, </a:t>
            </a:r>
            <a:r>
              <a:rPr kumimoji="0" lang="pt-PT" sz="16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Arial" panose="020B0604020202020204" pitchFamily="34" charset="0"/>
              </a:rPr>
              <a:t>os </a:t>
            </a:r>
            <a:r>
              <a:rPr kumimoji="0" lang="pt-PT" sz="1600" b="1" i="0" u="none" strike="noStrike" cap="none" normalizeH="0" baseline="0" noProof="0" dirty="0" err="1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Arial" panose="020B0604020202020204" pitchFamily="34" charset="0"/>
              </a:rPr>
              <a:t>receptores</a:t>
            </a:r>
            <a:r>
              <a:rPr kumimoji="0" lang="pt-PT" sz="16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Arial" panose="020B0604020202020204" pitchFamily="34" charset="0"/>
              </a:rPr>
              <a:t> de oxitocina encontram-se em menor número</a:t>
            </a:r>
            <a:r>
              <a:rPr kumimoji="0" lang="pt-PT" sz="16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Arial" panose="020B0604020202020204" pitchFamily="34" charset="0"/>
              </a:rPr>
              <a:t>, </a:t>
            </a:r>
            <a:r>
              <a:rPr kumimoji="0" lang="pt-PT" sz="160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Arial" panose="020B0604020202020204" pitchFamily="34" charset="0"/>
              </a:rPr>
              <a:t>o que faz com que seja necessária uma dose superior de misoprostol para a </a:t>
            </a:r>
            <a:r>
              <a:rPr lang="pt-PT" sz="1600" dirty="0">
                <a:solidFill>
                  <a:srgbClr val="231F20"/>
                </a:solidFill>
                <a:latin typeface="Trebuchet MS" panose="020B0603020202020204" pitchFamily="34" charset="0"/>
                <a:ea typeface="ＭＳ Ｐゴシック" pitchFamily="34" charset="-128"/>
                <a:cs typeface="Arial" panose="020B0604020202020204" pitchFamily="34" charset="0"/>
              </a:rPr>
              <a:t>maturação e dilatação do colo do útero .</a:t>
            </a:r>
            <a:endParaRPr kumimoji="0" lang="pt-PT" sz="1600" i="0" u="none" strike="noStrike" cap="none" normalizeH="0" baseline="0" noProof="0" dirty="0">
              <a:ln>
                <a:noFill/>
              </a:ln>
              <a:solidFill>
                <a:srgbClr val="231F20"/>
              </a:solidFill>
              <a:uLnTx/>
              <a:uFillTx/>
              <a:latin typeface="Trebuchet MS" panose="020B0603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FFC85D-123B-4F43-A6AC-CA7CCB485C66}"/>
              </a:ext>
            </a:extLst>
          </p:cNvPr>
          <p:cNvSpPr txBox="1"/>
          <p:nvPr/>
        </p:nvSpPr>
        <p:spPr>
          <a:xfrm>
            <a:off x="966586" y="1154033"/>
            <a:ext cx="4117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000" b="1" i="0" u="none" strike="noStrike" cap="none" normalizeH="0" baseline="0" noProof="0" dirty="0">
                <a:ln>
                  <a:noFill/>
                </a:ln>
                <a:solidFill>
                  <a:srgbClr val="CE687F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MODO DE ACTUAÇÃO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D2DD79F-5EB2-49E1-8EC2-148135700093}"/>
              </a:ext>
            </a:extLst>
          </p:cNvPr>
          <p:cNvSpPr txBox="1"/>
          <p:nvPr/>
        </p:nvSpPr>
        <p:spPr>
          <a:xfrm>
            <a:off x="966586" y="732135"/>
            <a:ext cx="32715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800" b="0" i="0" u="none" strike="noStrike" cap="none" normalizeH="0" baseline="0" noProof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MISOFAR 200</a:t>
            </a:r>
          </a:p>
        </p:txBody>
      </p:sp>
      <p:sp>
        <p:nvSpPr>
          <p:cNvPr id="38" name="Double Bracket 14">
            <a:extLst>
              <a:ext uri="{FF2B5EF4-FFF2-40B4-BE49-F238E27FC236}">
                <a16:creationId xmlns:a16="http://schemas.microsoft.com/office/drawing/2014/main" id="{5B633F54-A771-4919-8557-72DE394347C3}"/>
              </a:ext>
            </a:extLst>
          </p:cNvPr>
          <p:cNvSpPr/>
          <p:nvPr/>
        </p:nvSpPr>
        <p:spPr>
          <a:xfrm>
            <a:off x="624987" y="528965"/>
            <a:ext cx="457496" cy="457496"/>
          </a:xfrm>
          <a:custGeom>
            <a:avLst/>
            <a:gdLst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1258880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4" fmla="*/ 1878004 w 2381250"/>
              <a:gd name="connsiteY4" fmla="*/ 0 h 1762126"/>
              <a:gd name="connsiteX5" fmla="*/ 2381250 w 2381250"/>
              <a:gd name="connsiteY5" fmla="*/ 503246 h 1762126"/>
              <a:gd name="connsiteX6" fmla="*/ 2381250 w 2381250"/>
              <a:gd name="connsiteY6" fmla="*/ 1258880 h 1762126"/>
              <a:gd name="connsiteX7" fmla="*/ 1878004 w 2381250"/>
              <a:gd name="connsiteY7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7" fmla="*/ 503246 w 2381250"/>
              <a:gd name="connsiteY7" fmla="*/ 1762126 h 176212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878004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03246 w 2381250"/>
              <a:gd name="connsiteY6" fmla="*/ 1762126 h 1853566"/>
              <a:gd name="connsiteX7" fmla="*/ 0 w 2381250"/>
              <a:gd name="connsiteY7" fmla="*/ 1258880 h 1853566"/>
              <a:gd name="connsiteX8" fmla="*/ 0 w 2381250"/>
              <a:gd name="connsiteY8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209675 w 2381250"/>
              <a:gd name="connsiteY2" fmla="*/ 1 h 1853566"/>
              <a:gd name="connsiteX3" fmla="*/ 1878004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03246 w 2381250"/>
              <a:gd name="connsiteY7" fmla="*/ 1762126 h 1853566"/>
              <a:gd name="connsiteX8" fmla="*/ 0 w 2381250"/>
              <a:gd name="connsiteY8" fmla="*/ 1258880 h 1853566"/>
              <a:gd name="connsiteX9" fmla="*/ 0 w 2381250"/>
              <a:gd name="connsiteY9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9" fmla="*/ 1301115 w 2381250"/>
              <a:gd name="connsiteY9" fmla="*/ 91441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94686 w 2381250"/>
              <a:gd name="connsiteY7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0 w 2381250"/>
              <a:gd name="connsiteY1" fmla="*/ 503246 h 1853566"/>
              <a:gd name="connsiteX2" fmla="*/ 503246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94686 w 2381250"/>
              <a:gd name="connsiteY6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94686 w 2381250"/>
              <a:gd name="connsiteY5" fmla="*/ 1853566 h 185356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503246 w 2381250"/>
              <a:gd name="connsiteY4" fmla="*/ 1762126 h 1762126"/>
              <a:gd name="connsiteX5" fmla="*/ 0 w 2381250"/>
              <a:gd name="connsiteY5" fmla="*/ 1258880 h 1762126"/>
              <a:gd name="connsiteX6" fmla="*/ 0 w 2381250"/>
              <a:gd name="connsiteY6" fmla="*/ 503246 h 1762126"/>
              <a:gd name="connsiteX7" fmla="*/ 503246 w 2381250"/>
              <a:gd name="connsiteY7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1258880 h 1762126"/>
              <a:gd name="connsiteX5" fmla="*/ 0 w 2381250"/>
              <a:gd name="connsiteY5" fmla="*/ 503246 h 1762126"/>
              <a:gd name="connsiteX6" fmla="*/ 503246 w 2381250"/>
              <a:gd name="connsiteY6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503246 h 1762126"/>
              <a:gd name="connsiteX5" fmla="*/ 503246 w 2381250"/>
              <a:gd name="connsiteY5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0" fmla="*/ 1878004 w 1878004"/>
              <a:gd name="connsiteY0" fmla="*/ 1762126 h 1762126"/>
              <a:gd name="connsiteX1" fmla="*/ 0 w 1878004"/>
              <a:gd name="connsiteY1" fmla="*/ 503246 h 1762126"/>
              <a:gd name="connsiteX2" fmla="*/ 503246 w 1878004"/>
              <a:gd name="connsiteY2" fmla="*/ 0 h 1762126"/>
              <a:gd name="connsiteX0" fmla="*/ 0 w 1878004"/>
              <a:gd name="connsiteY0" fmla="*/ 503246 h 1762126"/>
              <a:gd name="connsiteX1" fmla="*/ 503246 w 1878004"/>
              <a:gd name="connsiteY1" fmla="*/ 0 h 1762126"/>
              <a:gd name="connsiteX0" fmla="*/ 0 w 503246"/>
              <a:gd name="connsiteY0" fmla="*/ 503246 h 503246"/>
              <a:gd name="connsiteX1" fmla="*/ 503246 w 503246"/>
              <a:gd name="connsiteY1" fmla="*/ 0 h 503246"/>
              <a:gd name="connsiteX0" fmla="*/ 0 w 503246"/>
              <a:gd name="connsiteY0" fmla="*/ 503246 h 503246"/>
              <a:gd name="connsiteX1" fmla="*/ 503246 w 503246"/>
              <a:gd name="connsiteY1" fmla="*/ 0 h 503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246" h="503246" stroke="0" extrusionOk="0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  <a:path w="503246" h="503246" fill="none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</a:pathLst>
          </a:custGeom>
          <a:noFill/>
          <a:ln w="25400" cap="rnd">
            <a:solidFill>
              <a:srgbClr val="CE687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621BDA2-D7D6-4FB2-A3B3-26613C06F576}"/>
              </a:ext>
            </a:extLst>
          </p:cNvPr>
          <p:cNvGrpSpPr/>
          <p:nvPr/>
        </p:nvGrpSpPr>
        <p:grpSpPr>
          <a:xfrm>
            <a:off x="5795516" y="556116"/>
            <a:ext cx="2675766" cy="2683286"/>
            <a:chOff x="12216194" y="-591285"/>
            <a:chExt cx="3041650" cy="3050198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DE2245E9-56BD-4065-81E2-705C172C462E}"/>
                </a:ext>
              </a:extLst>
            </p:cNvPr>
            <p:cNvSpPr/>
            <p:nvPr/>
          </p:nvSpPr>
          <p:spPr>
            <a:xfrm>
              <a:off x="12216194" y="-591285"/>
              <a:ext cx="3041650" cy="304165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E68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183DFACC-15E8-407C-8609-A474CB09A0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8" t="13758" r="21347" b="55922"/>
            <a:stretch/>
          </p:blipFill>
          <p:spPr>
            <a:xfrm>
              <a:off x="12227758" y="-582737"/>
              <a:ext cx="2843862" cy="3041650"/>
            </a:xfrm>
            <a:custGeom>
              <a:avLst/>
              <a:gdLst>
                <a:gd name="connsiteX0" fmla="*/ 1520825 w 2843862"/>
                <a:gd name="connsiteY0" fmla="*/ 0 h 3041650"/>
                <a:gd name="connsiteX1" fmla="*/ 2781917 w 2843862"/>
                <a:gd name="connsiteY1" fmla="*/ 670518 h 3041650"/>
                <a:gd name="connsiteX2" fmla="*/ 2843862 w 2843862"/>
                <a:gd name="connsiteY2" fmla="*/ 772483 h 3041650"/>
                <a:gd name="connsiteX3" fmla="*/ 2843862 w 2843862"/>
                <a:gd name="connsiteY3" fmla="*/ 2269168 h 3041650"/>
                <a:gd name="connsiteX4" fmla="*/ 2781917 w 2843862"/>
                <a:gd name="connsiteY4" fmla="*/ 2371133 h 3041650"/>
                <a:gd name="connsiteX5" fmla="*/ 1520825 w 2843862"/>
                <a:gd name="connsiteY5" fmla="*/ 3041650 h 3041650"/>
                <a:gd name="connsiteX6" fmla="*/ 0 w 2843862"/>
                <a:gd name="connsiteY6" fmla="*/ 1520825 h 3041650"/>
                <a:gd name="connsiteX7" fmla="*/ 1520825 w 2843862"/>
                <a:gd name="connsiteY7" fmla="*/ 0 h 304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43862" h="3041650">
                  <a:moveTo>
                    <a:pt x="1520825" y="0"/>
                  </a:moveTo>
                  <a:cubicBezTo>
                    <a:pt x="2045780" y="0"/>
                    <a:pt x="2508614" y="265976"/>
                    <a:pt x="2781917" y="670518"/>
                  </a:cubicBezTo>
                  <a:lnTo>
                    <a:pt x="2843862" y="772483"/>
                  </a:lnTo>
                  <a:lnTo>
                    <a:pt x="2843862" y="2269168"/>
                  </a:lnTo>
                  <a:lnTo>
                    <a:pt x="2781917" y="2371133"/>
                  </a:lnTo>
                  <a:cubicBezTo>
                    <a:pt x="2508614" y="2775675"/>
                    <a:pt x="2045780" y="3041650"/>
                    <a:pt x="1520825" y="3041650"/>
                  </a:cubicBezTo>
                  <a:cubicBezTo>
                    <a:pt x="680897" y="3041650"/>
                    <a:pt x="0" y="2360753"/>
                    <a:pt x="0" y="1520825"/>
                  </a:cubicBezTo>
                  <a:cubicBezTo>
                    <a:pt x="0" y="680897"/>
                    <a:pt x="680897" y="0"/>
                    <a:pt x="1520825" y="0"/>
                  </a:cubicBezTo>
                  <a:close/>
                </a:path>
              </a:pathLst>
            </a:custGeom>
          </p:spPr>
        </p:pic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8CC4707-ADC9-43E0-A199-674C1E6FC252}"/>
                </a:ext>
              </a:extLst>
            </p:cNvPr>
            <p:cNvSpPr/>
            <p:nvPr/>
          </p:nvSpPr>
          <p:spPr>
            <a:xfrm>
              <a:off x="12216194" y="-591285"/>
              <a:ext cx="3041650" cy="3041650"/>
            </a:xfrm>
            <a:prstGeom prst="ellipse">
              <a:avLst/>
            </a:prstGeom>
            <a:noFill/>
            <a:ln w="25400">
              <a:solidFill>
                <a:srgbClr val="CE68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432362-5447-4D49-9619-F20905B40955}"/>
              </a:ext>
            </a:extLst>
          </p:cNvPr>
          <p:cNvGrpSpPr/>
          <p:nvPr/>
        </p:nvGrpSpPr>
        <p:grpSpPr>
          <a:xfrm>
            <a:off x="5795516" y="3661300"/>
            <a:ext cx="2675766" cy="2675766"/>
            <a:chOff x="12221976" y="501484"/>
            <a:chExt cx="3041650" cy="3041650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B7E6C33D-06FC-45AC-A9C3-D6DDF20836D6}"/>
                </a:ext>
              </a:extLst>
            </p:cNvPr>
            <p:cNvSpPr/>
            <p:nvPr/>
          </p:nvSpPr>
          <p:spPr>
            <a:xfrm>
              <a:off x="12221976" y="501484"/>
              <a:ext cx="3041650" cy="304165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E68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884E1600-FDBA-41DE-BA59-42C8BA868C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342" t="53903" r="16650" b="9389"/>
            <a:stretch/>
          </p:blipFill>
          <p:spPr>
            <a:xfrm>
              <a:off x="12221976" y="545934"/>
              <a:ext cx="3041650" cy="2991099"/>
            </a:xfrm>
            <a:custGeom>
              <a:avLst/>
              <a:gdLst>
                <a:gd name="connsiteX0" fmla="*/ 1137892 w 3041650"/>
                <a:gd name="connsiteY0" fmla="*/ 0 h 2991099"/>
                <a:gd name="connsiteX1" fmla="*/ 1903758 w 3041650"/>
                <a:gd name="connsiteY1" fmla="*/ 0 h 2991099"/>
                <a:gd name="connsiteX2" fmla="*/ 1973072 w 3041650"/>
                <a:gd name="connsiteY2" fmla="*/ 17822 h 2991099"/>
                <a:gd name="connsiteX3" fmla="*/ 3041650 w 3041650"/>
                <a:gd name="connsiteY3" fmla="*/ 1470274 h 2991099"/>
                <a:gd name="connsiteX4" fmla="*/ 1520825 w 3041650"/>
                <a:gd name="connsiteY4" fmla="*/ 2991099 h 2991099"/>
                <a:gd name="connsiteX5" fmla="*/ 0 w 3041650"/>
                <a:gd name="connsiteY5" fmla="*/ 1470274 h 2991099"/>
                <a:gd name="connsiteX6" fmla="*/ 1068578 w 3041650"/>
                <a:gd name="connsiteY6" fmla="*/ 17822 h 2991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41650" h="2991099">
                  <a:moveTo>
                    <a:pt x="1137892" y="0"/>
                  </a:moveTo>
                  <a:lnTo>
                    <a:pt x="1903758" y="0"/>
                  </a:lnTo>
                  <a:lnTo>
                    <a:pt x="1973072" y="17822"/>
                  </a:lnTo>
                  <a:cubicBezTo>
                    <a:pt x="2592152" y="210376"/>
                    <a:pt x="3041650" y="787833"/>
                    <a:pt x="3041650" y="1470274"/>
                  </a:cubicBezTo>
                  <a:cubicBezTo>
                    <a:pt x="3041650" y="2310202"/>
                    <a:pt x="2360753" y="2991099"/>
                    <a:pt x="1520825" y="2991099"/>
                  </a:cubicBezTo>
                  <a:cubicBezTo>
                    <a:pt x="680897" y="2991099"/>
                    <a:pt x="0" y="2310202"/>
                    <a:pt x="0" y="1470274"/>
                  </a:cubicBezTo>
                  <a:cubicBezTo>
                    <a:pt x="0" y="787833"/>
                    <a:pt x="449499" y="210376"/>
                    <a:pt x="1068578" y="17822"/>
                  </a:cubicBezTo>
                  <a:close/>
                </a:path>
              </a:pathLst>
            </a:custGeom>
          </p:spPr>
        </p:pic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560A4F7-8748-4BAF-AFD0-126663806A15}"/>
                </a:ext>
              </a:extLst>
            </p:cNvPr>
            <p:cNvSpPr/>
            <p:nvPr/>
          </p:nvSpPr>
          <p:spPr>
            <a:xfrm>
              <a:off x="12221976" y="501484"/>
              <a:ext cx="3041650" cy="3041650"/>
            </a:xfrm>
            <a:prstGeom prst="ellipse">
              <a:avLst/>
            </a:prstGeom>
            <a:noFill/>
            <a:ln w="25400">
              <a:solidFill>
                <a:srgbClr val="CE68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104743C5-1A5F-4E2E-945A-5CFD49016BA6}"/>
              </a:ext>
            </a:extLst>
          </p:cNvPr>
          <p:cNvCxnSpPr>
            <a:cxnSpLocks/>
          </p:cNvCxnSpPr>
          <p:nvPr/>
        </p:nvCxnSpPr>
        <p:spPr>
          <a:xfrm>
            <a:off x="3911236" y="2603500"/>
            <a:ext cx="0" cy="906780"/>
          </a:xfrm>
          <a:prstGeom prst="line">
            <a:avLst/>
          </a:prstGeom>
          <a:noFill/>
          <a:ln w="28575" cap="rnd">
            <a:solidFill>
              <a:srgbClr val="E3B0BD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A1E1A93-6DC8-4BEA-94BB-F40D98B2BE6B}"/>
              </a:ext>
            </a:extLst>
          </p:cNvPr>
          <p:cNvSpPr/>
          <p:nvPr/>
        </p:nvSpPr>
        <p:spPr>
          <a:xfrm>
            <a:off x="4046914" y="2826058"/>
            <a:ext cx="939681" cy="461665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400" b="0" i="0" u="none" strike="noStrike" cap="none" normalizeH="0" baseline="0" noProof="0">
                <a:ln>
                  <a:noFill/>
                </a:ln>
                <a:solidFill>
                  <a:srgbClr val="CE687F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PORQUÊ?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6F4B23B-AE14-43C8-83A9-389E6B539E74}"/>
              </a:ext>
            </a:extLst>
          </p:cNvPr>
          <p:cNvCxnSpPr>
            <a:cxnSpLocks/>
          </p:cNvCxnSpPr>
          <p:nvPr/>
        </p:nvCxnSpPr>
        <p:spPr>
          <a:xfrm rot="5400000">
            <a:off x="555624" y="4632623"/>
            <a:ext cx="430000" cy="0"/>
          </a:xfrm>
          <a:prstGeom prst="line">
            <a:avLst/>
          </a:prstGeom>
          <a:noFill/>
          <a:ln w="50800" cap="rnd">
            <a:solidFill>
              <a:srgbClr val="E3B0B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A1FCA4D-4BBF-4A0A-9CD2-C76D19BECB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610" r="1617" b="2969"/>
          <a:stretch/>
        </p:blipFill>
        <p:spPr>
          <a:xfrm>
            <a:off x="1926184" y="1950409"/>
            <a:ext cx="5624989" cy="46774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84204C-6FF0-4015-A665-99252E177A78}"/>
              </a:ext>
            </a:extLst>
          </p:cNvPr>
          <p:cNvSpPr/>
          <p:nvPr/>
        </p:nvSpPr>
        <p:spPr>
          <a:xfrm>
            <a:off x="9183328" y="0"/>
            <a:ext cx="3008671" cy="6858000"/>
          </a:xfrm>
          <a:prstGeom prst="rect">
            <a:avLst/>
          </a:prstGeom>
          <a:solidFill>
            <a:srgbClr val="E3B0BD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B03835-C99A-4680-A6DA-96E792F2CE08}"/>
              </a:ext>
            </a:extLst>
          </p:cNvPr>
          <p:cNvSpPr txBox="1"/>
          <p:nvPr/>
        </p:nvSpPr>
        <p:spPr>
          <a:xfrm>
            <a:off x="804661" y="1154033"/>
            <a:ext cx="86198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4000" b="1" dirty="0">
                <a:solidFill>
                  <a:srgbClr val="CE687F"/>
                </a:solidFill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FORÇA PARA DILATAR COLO ÚTERO</a:t>
            </a:r>
            <a:endParaRPr kumimoji="0" lang="pt-PT" sz="4000" b="1" i="0" u="none" strike="noStrike" cap="none" normalizeH="0" baseline="0" noProof="0" dirty="0">
              <a:ln>
                <a:noFill/>
              </a:ln>
              <a:solidFill>
                <a:srgbClr val="CE687F"/>
              </a:solidFill>
              <a:uLnTx/>
              <a:uFillTx/>
              <a:latin typeface="Trebuchet MS" panose="020B0603020202020204" pitchFamily="34" charset="0"/>
              <a:ea typeface="Segoe UI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081B6F-5D6B-43BD-B0F5-C74D2227C6DE}"/>
              </a:ext>
            </a:extLst>
          </p:cNvPr>
          <p:cNvSpPr txBox="1"/>
          <p:nvPr/>
        </p:nvSpPr>
        <p:spPr>
          <a:xfrm>
            <a:off x="804661" y="732135"/>
            <a:ext cx="32715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8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MISOFAR 200</a:t>
            </a:r>
          </a:p>
        </p:txBody>
      </p:sp>
      <p:sp>
        <p:nvSpPr>
          <p:cNvPr id="5" name="Double Bracket 14">
            <a:extLst>
              <a:ext uri="{FF2B5EF4-FFF2-40B4-BE49-F238E27FC236}">
                <a16:creationId xmlns:a16="http://schemas.microsoft.com/office/drawing/2014/main" id="{30CB630B-6E59-4B0B-8E8A-59FCE562BE3A}"/>
              </a:ext>
            </a:extLst>
          </p:cNvPr>
          <p:cNvSpPr/>
          <p:nvPr/>
        </p:nvSpPr>
        <p:spPr>
          <a:xfrm>
            <a:off x="624987" y="528965"/>
            <a:ext cx="457496" cy="457496"/>
          </a:xfrm>
          <a:custGeom>
            <a:avLst/>
            <a:gdLst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1258880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4" fmla="*/ 1878004 w 2381250"/>
              <a:gd name="connsiteY4" fmla="*/ 0 h 1762126"/>
              <a:gd name="connsiteX5" fmla="*/ 2381250 w 2381250"/>
              <a:gd name="connsiteY5" fmla="*/ 503246 h 1762126"/>
              <a:gd name="connsiteX6" fmla="*/ 2381250 w 2381250"/>
              <a:gd name="connsiteY6" fmla="*/ 1258880 h 1762126"/>
              <a:gd name="connsiteX7" fmla="*/ 1878004 w 2381250"/>
              <a:gd name="connsiteY7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7" fmla="*/ 503246 w 2381250"/>
              <a:gd name="connsiteY7" fmla="*/ 1762126 h 176212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878004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03246 w 2381250"/>
              <a:gd name="connsiteY6" fmla="*/ 1762126 h 1853566"/>
              <a:gd name="connsiteX7" fmla="*/ 0 w 2381250"/>
              <a:gd name="connsiteY7" fmla="*/ 1258880 h 1853566"/>
              <a:gd name="connsiteX8" fmla="*/ 0 w 2381250"/>
              <a:gd name="connsiteY8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209675 w 2381250"/>
              <a:gd name="connsiteY2" fmla="*/ 1 h 1853566"/>
              <a:gd name="connsiteX3" fmla="*/ 1878004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03246 w 2381250"/>
              <a:gd name="connsiteY7" fmla="*/ 1762126 h 1853566"/>
              <a:gd name="connsiteX8" fmla="*/ 0 w 2381250"/>
              <a:gd name="connsiteY8" fmla="*/ 1258880 h 1853566"/>
              <a:gd name="connsiteX9" fmla="*/ 0 w 2381250"/>
              <a:gd name="connsiteY9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9" fmla="*/ 1301115 w 2381250"/>
              <a:gd name="connsiteY9" fmla="*/ 91441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94686 w 2381250"/>
              <a:gd name="connsiteY7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0 w 2381250"/>
              <a:gd name="connsiteY1" fmla="*/ 503246 h 1853566"/>
              <a:gd name="connsiteX2" fmla="*/ 503246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94686 w 2381250"/>
              <a:gd name="connsiteY6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94686 w 2381250"/>
              <a:gd name="connsiteY5" fmla="*/ 1853566 h 185356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503246 w 2381250"/>
              <a:gd name="connsiteY4" fmla="*/ 1762126 h 1762126"/>
              <a:gd name="connsiteX5" fmla="*/ 0 w 2381250"/>
              <a:gd name="connsiteY5" fmla="*/ 1258880 h 1762126"/>
              <a:gd name="connsiteX6" fmla="*/ 0 w 2381250"/>
              <a:gd name="connsiteY6" fmla="*/ 503246 h 1762126"/>
              <a:gd name="connsiteX7" fmla="*/ 503246 w 2381250"/>
              <a:gd name="connsiteY7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1258880 h 1762126"/>
              <a:gd name="connsiteX5" fmla="*/ 0 w 2381250"/>
              <a:gd name="connsiteY5" fmla="*/ 503246 h 1762126"/>
              <a:gd name="connsiteX6" fmla="*/ 503246 w 2381250"/>
              <a:gd name="connsiteY6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503246 h 1762126"/>
              <a:gd name="connsiteX5" fmla="*/ 503246 w 2381250"/>
              <a:gd name="connsiteY5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0" fmla="*/ 1878004 w 1878004"/>
              <a:gd name="connsiteY0" fmla="*/ 1762126 h 1762126"/>
              <a:gd name="connsiteX1" fmla="*/ 0 w 1878004"/>
              <a:gd name="connsiteY1" fmla="*/ 503246 h 1762126"/>
              <a:gd name="connsiteX2" fmla="*/ 503246 w 1878004"/>
              <a:gd name="connsiteY2" fmla="*/ 0 h 1762126"/>
              <a:gd name="connsiteX0" fmla="*/ 0 w 1878004"/>
              <a:gd name="connsiteY0" fmla="*/ 503246 h 1762126"/>
              <a:gd name="connsiteX1" fmla="*/ 503246 w 1878004"/>
              <a:gd name="connsiteY1" fmla="*/ 0 h 1762126"/>
              <a:gd name="connsiteX0" fmla="*/ 0 w 503246"/>
              <a:gd name="connsiteY0" fmla="*/ 503246 h 503246"/>
              <a:gd name="connsiteX1" fmla="*/ 503246 w 503246"/>
              <a:gd name="connsiteY1" fmla="*/ 0 h 503246"/>
              <a:gd name="connsiteX0" fmla="*/ 0 w 503246"/>
              <a:gd name="connsiteY0" fmla="*/ 503246 h 503246"/>
              <a:gd name="connsiteX1" fmla="*/ 503246 w 503246"/>
              <a:gd name="connsiteY1" fmla="*/ 0 h 503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246" h="503246" stroke="0" extrusionOk="0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  <a:path w="503246" h="503246" fill="none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</a:pathLst>
          </a:custGeom>
          <a:noFill/>
          <a:ln w="25400" cap="rnd">
            <a:solidFill>
              <a:srgbClr val="CE687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0167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8CD5850-C8F5-4B6A-A37D-6F53A147AB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17" t="8386" r="17363"/>
          <a:stretch/>
        </p:blipFill>
        <p:spPr>
          <a:xfrm>
            <a:off x="1193213" y="1677253"/>
            <a:ext cx="6797838" cy="51529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84204C-6FF0-4015-A665-99252E177A78}"/>
              </a:ext>
            </a:extLst>
          </p:cNvPr>
          <p:cNvSpPr/>
          <p:nvPr/>
        </p:nvSpPr>
        <p:spPr>
          <a:xfrm>
            <a:off x="9183328" y="0"/>
            <a:ext cx="3008671" cy="6858000"/>
          </a:xfrm>
          <a:prstGeom prst="rect">
            <a:avLst/>
          </a:prstGeom>
          <a:solidFill>
            <a:srgbClr val="E3B0BD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B03835-C99A-4680-A6DA-96E792F2CE08}"/>
              </a:ext>
            </a:extLst>
          </p:cNvPr>
          <p:cNvSpPr txBox="1"/>
          <p:nvPr/>
        </p:nvSpPr>
        <p:spPr>
          <a:xfrm>
            <a:off x="966586" y="1154033"/>
            <a:ext cx="4117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4000" b="1" dirty="0">
                <a:solidFill>
                  <a:srgbClr val="CE687F"/>
                </a:solidFill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DOR</a:t>
            </a:r>
            <a:endParaRPr kumimoji="0" lang="pt-PT" sz="4000" b="1" i="0" u="none" strike="noStrike" cap="none" normalizeH="0" baseline="0" noProof="0" dirty="0">
              <a:ln>
                <a:noFill/>
              </a:ln>
              <a:solidFill>
                <a:srgbClr val="CE687F"/>
              </a:solidFill>
              <a:uLnTx/>
              <a:uFillTx/>
              <a:latin typeface="Trebuchet MS" panose="020B0603020202020204" pitchFamily="34" charset="0"/>
              <a:ea typeface="Segoe UI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081B6F-5D6B-43BD-B0F5-C74D2227C6DE}"/>
              </a:ext>
            </a:extLst>
          </p:cNvPr>
          <p:cNvSpPr txBox="1"/>
          <p:nvPr/>
        </p:nvSpPr>
        <p:spPr>
          <a:xfrm>
            <a:off x="966586" y="732135"/>
            <a:ext cx="32715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800" b="0" i="0" u="none" strike="noStrike" cap="none" normalizeH="0" baseline="0" noProof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MISOFAR 200</a:t>
            </a:r>
          </a:p>
        </p:txBody>
      </p:sp>
      <p:sp>
        <p:nvSpPr>
          <p:cNvPr id="5" name="Double Bracket 14">
            <a:extLst>
              <a:ext uri="{FF2B5EF4-FFF2-40B4-BE49-F238E27FC236}">
                <a16:creationId xmlns:a16="http://schemas.microsoft.com/office/drawing/2014/main" id="{30CB630B-6E59-4B0B-8E8A-59FCE562BE3A}"/>
              </a:ext>
            </a:extLst>
          </p:cNvPr>
          <p:cNvSpPr/>
          <p:nvPr/>
        </p:nvSpPr>
        <p:spPr>
          <a:xfrm>
            <a:off x="624987" y="528965"/>
            <a:ext cx="457496" cy="457496"/>
          </a:xfrm>
          <a:custGeom>
            <a:avLst/>
            <a:gdLst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1258880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4" fmla="*/ 1878004 w 2381250"/>
              <a:gd name="connsiteY4" fmla="*/ 0 h 1762126"/>
              <a:gd name="connsiteX5" fmla="*/ 2381250 w 2381250"/>
              <a:gd name="connsiteY5" fmla="*/ 503246 h 1762126"/>
              <a:gd name="connsiteX6" fmla="*/ 2381250 w 2381250"/>
              <a:gd name="connsiteY6" fmla="*/ 1258880 h 1762126"/>
              <a:gd name="connsiteX7" fmla="*/ 1878004 w 2381250"/>
              <a:gd name="connsiteY7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7" fmla="*/ 503246 w 2381250"/>
              <a:gd name="connsiteY7" fmla="*/ 1762126 h 176212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878004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03246 w 2381250"/>
              <a:gd name="connsiteY6" fmla="*/ 1762126 h 1853566"/>
              <a:gd name="connsiteX7" fmla="*/ 0 w 2381250"/>
              <a:gd name="connsiteY7" fmla="*/ 1258880 h 1853566"/>
              <a:gd name="connsiteX8" fmla="*/ 0 w 2381250"/>
              <a:gd name="connsiteY8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209675 w 2381250"/>
              <a:gd name="connsiteY2" fmla="*/ 1 h 1853566"/>
              <a:gd name="connsiteX3" fmla="*/ 1878004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03246 w 2381250"/>
              <a:gd name="connsiteY7" fmla="*/ 1762126 h 1853566"/>
              <a:gd name="connsiteX8" fmla="*/ 0 w 2381250"/>
              <a:gd name="connsiteY8" fmla="*/ 1258880 h 1853566"/>
              <a:gd name="connsiteX9" fmla="*/ 0 w 2381250"/>
              <a:gd name="connsiteY9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9" fmla="*/ 1301115 w 2381250"/>
              <a:gd name="connsiteY9" fmla="*/ 91441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94686 w 2381250"/>
              <a:gd name="connsiteY7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0 w 2381250"/>
              <a:gd name="connsiteY1" fmla="*/ 503246 h 1853566"/>
              <a:gd name="connsiteX2" fmla="*/ 503246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94686 w 2381250"/>
              <a:gd name="connsiteY6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94686 w 2381250"/>
              <a:gd name="connsiteY5" fmla="*/ 1853566 h 185356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503246 w 2381250"/>
              <a:gd name="connsiteY4" fmla="*/ 1762126 h 1762126"/>
              <a:gd name="connsiteX5" fmla="*/ 0 w 2381250"/>
              <a:gd name="connsiteY5" fmla="*/ 1258880 h 1762126"/>
              <a:gd name="connsiteX6" fmla="*/ 0 w 2381250"/>
              <a:gd name="connsiteY6" fmla="*/ 503246 h 1762126"/>
              <a:gd name="connsiteX7" fmla="*/ 503246 w 2381250"/>
              <a:gd name="connsiteY7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1258880 h 1762126"/>
              <a:gd name="connsiteX5" fmla="*/ 0 w 2381250"/>
              <a:gd name="connsiteY5" fmla="*/ 503246 h 1762126"/>
              <a:gd name="connsiteX6" fmla="*/ 503246 w 2381250"/>
              <a:gd name="connsiteY6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503246 h 1762126"/>
              <a:gd name="connsiteX5" fmla="*/ 503246 w 2381250"/>
              <a:gd name="connsiteY5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0" fmla="*/ 1878004 w 1878004"/>
              <a:gd name="connsiteY0" fmla="*/ 1762126 h 1762126"/>
              <a:gd name="connsiteX1" fmla="*/ 0 w 1878004"/>
              <a:gd name="connsiteY1" fmla="*/ 503246 h 1762126"/>
              <a:gd name="connsiteX2" fmla="*/ 503246 w 1878004"/>
              <a:gd name="connsiteY2" fmla="*/ 0 h 1762126"/>
              <a:gd name="connsiteX0" fmla="*/ 0 w 1878004"/>
              <a:gd name="connsiteY0" fmla="*/ 503246 h 1762126"/>
              <a:gd name="connsiteX1" fmla="*/ 503246 w 1878004"/>
              <a:gd name="connsiteY1" fmla="*/ 0 h 1762126"/>
              <a:gd name="connsiteX0" fmla="*/ 0 w 503246"/>
              <a:gd name="connsiteY0" fmla="*/ 503246 h 503246"/>
              <a:gd name="connsiteX1" fmla="*/ 503246 w 503246"/>
              <a:gd name="connsiteY1" fmla="*/ 0 h 503246"/>
              <a:gd name="connsiteX0" fmla="*/ 0 w 503246"/>
              <a:gd name="connsiteY0" fmla="*/ 503246 h 503246"/>
              <a:gd name="connsiteX1" fmla="*/ 503246 w 503246"/>
              <a:gd name="connsiteY1" fmla="*/ 0 h 503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246" h="503246" stroke="0" extrusionOk="0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  <a:path w="503246" h="503246" fill="none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</a:pathLst>
          </a:custGeom>
          <a:noFill/>
          <a:ln w="25400" cap="rnd">
            <a:solidFill>
              <a:srgbClr val="CE687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30">
            <a:extLst>
              <a:ext uri="{FF2B5EF4-FFF2-40B4-BE49-F238E27FC236}">
                <a16:creationId xmlns:a16="http://schemas.microsoft.com/office/drawing/2014/main" id="{99EF173C-863F-42CF-803C-827EB08AB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5416" y="2938823"/>
            <a:ext cx="2906584" cy="1740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b="1" dirty="0" err="1">
                <a:solidFill>
                  <a:srgbClr val="CE687F"/>
                </a:solidFill>
                <a:latin typeface="Trebuchet MS" panose="020B0603020202020204" pitchFamily="34" charset="0"/>
              </a:rPr>
              <a:t>Factores</a:t>
            </a:r>
            <a:r>
              <a:rPr lang="pt-PT" b="1" dirty="0">
                <a:solidFill>
                  <a:srgbClr val="CE687F"/>
                </a:solidFill>
                <a:latin typeface="Trebuchet MS" panose="020B0603020202020204" pitchFamily="34" charset="0"/>
              </a:rPr>
              <a:t> relacionados com dor severa ou intolerável:</a:t>
            </a:r>
          </a:p>
          <a:p>
            <a:pPr marL="285750" marR="0" lvl="0" indent="-28575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1800" b="0" i="0" u="none" strike="noStrike" cap="none" normalizeH="0" baseline="0" noProof="0" dirty="0" err="1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Nuliparidade</a:t>
            </a:r>
            <a:r>
              <a:rPr kumimoji="0" lang="pt-PT" sz="18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dirty="0">
                <a:solidFill>
                  <a:srgbClr val="231F20"/>
                </a:solidFill>
                <a:latin typeface="Trebuchet MS" panose="020B0603020202020204" pitchFamily="34" charset="0"/>
              </a:rPr>
              <a:t>Patologia cervical.</a:t>
            </a:r>
          </a:p>
          <a:p>
            <a:pPr marL="285750" marR="0" lvl="0" indent="-28575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18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Duração do procedimento (&gt;2 min). </a:t>
            </a:r>
          </a:p>
        </p:txBody>
      </p:sp>
    </p:spTree>
    <p:extLst>
      <p:ext uri="{BB962C8B-B14F-4D97-AF65-F5344CB8AC3E}">
        <p14:creationId xmlns:p14="http://schemas.microsoft.com/office/powerpoint/2010/main" val="318581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84204C-6FF0-4015-A665-99252E177A78}"/>
              </a:ext>
            </a:extLst>
          </p:cNvPr>
          <p:cNvSpPr/>
          <p:nvPr/>
        </p:nvSpPr>
        <p:spPr>
          <a:xfrm>
            <a:off x="9183328" y="0"/>
            <a:ext cx="3008671" cy="6858000"/>
          </a:xfrm>
          <a:prstGeom prst="rect">
            <a:avLst/>
          </a:prstGeom>
          <a:solidFill>
            <a:srgbClr val="E3B0BD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B03835-C99A-4680-A6DA-96E792F2CE08}"/>
              </a:ext>
            </a:extLst>
          </p:cNvPr>
          <p:cNvSpPr txBox="1"/>
          <p:nvPr/>
        </p:nvSpPr>
        <p:spPr>
          <a:xfrm>
            <a:off x="966586" y="1154033"/>
            <a:ext cx="65649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4000" b="1" dirty="0">
                <a:solidFill>
                  <a:srgbClr val="CE687F"/>
                </a:solidFill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ANALGESIA E ANESTESIA</a:t>
            </a:r>
            <a:endParaRPr kumimoji="0" lang="pt-PT" sz="4000" b="1" i="0" u="none" strike="noStrike" cap="none" normalizeH="0" baseline="0" noProof="0" dirty="0">
              <a:ln>
                <a:noFill/>
              </a:ln>
              <a:solidFill>
                <a:srgbClr val="CE687F"/>
              </a:solidFill>
              <a:uLnTx/>
              <a:uFillTx/>
              <a:latin typeface="Trebuchet MS" panose="020B0603020202020204" pitchFamily="34" charset="0"/>
              <a:ea typeface="Segoe UI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081B6F-5D6B-43BD-B0F5-C74D2227C6DE}"/>
              </a:ext>
            </a:extLst>
          </p:cNvPr>
          <p:cNvSpPr txBox="1"/>
          <p:nvPr/>
        </p:nvSpPr>
        <p:spPr>
          <a:xfrm>
            <a:off x="966586" y="732135"/>
            <a:ext cx="32715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800" b="0" i="0" u="none" strike="noStrike" cap="none" normalizeH="0" baseline="0" noProof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MISOFAR 200</a:t>
            </a:r>
          </a:p>
        </p:txBody>
      </p:sp>
      <p:sp>
        <p:nvSpPr>
          <p:cNvPr id="5" name="Double Bracket 14">
            <a:extLst>
              <a:ext uri="{FF2B5EF4-FFF2-40B4-BE49-F238E27FC236}">
                <a16:creationId xmlns:a16="http://schemas.microsoft.com/office/drawing/2014/main" id="{30CB630B-6E59-4B0B-8E8A-59FCE562BE3A}"/>
              </a:ext>
            </a:extLst>
          </p:cNvPr>
          <p:cNvSpPr/>
          <p:nvPr/>
        </p:nvSpPr>
        <p:spPr>
          <a:xfrm>
            <a:off x="624987" y="528965"/>
            <a:ext cx="457496" cy="457496"/>
          </a:xfrm>
          <a:custGeom>
            <a:avLst/>
            <a:gdLst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1258880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4" fmla="*/ 1878004 w 2381250"/>
              <a:gd name="connsiteY4" fmla="*/ 0 h 1762126"/>
              <a:gd name="connsiteX5" fmla="*/ 2381250 w 2381250"/>
              <a:gd name="connsiteY5" fmla="*/ 503246 h 1762126"/>
              <a:gd name="connsiteX6" fmla="*/ 2381250 w 2381250"/>
              <a:gd name="connsiteY6" fmla="*/ 1258880 h 1762126"/>
              <a:gd name="connsiteX7" fmla="*/ 1878004 w 2381250"/>
              <a:gd name="connsiteY7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7" fmla="*/ 503246 w 2381250"/>
              <a:gd name="connsiteY7" fmla="*/ 1762126 h 176212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878004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03246 w 2381250"/>
              <a:gd name="connsiteY6" fmla="*/ 1762126 h 1853566"/>
              <a:gd name="connsiteX7" fmla="*/ 0 w 2381250"/>
              <a:gd name="connsiteY7" fmla="*/ 1258880 h 1853566"/>
              <a:gd name="connsiteX8" fmla="*/ 0 w 2381250"/>
              <a:gd name="connsiteY8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209675 w 2381250"/>
              <a:gd name="connsiteY2" fmla="*/ 1 h 1853566"/>
              <a:gd name="connsiteX3" fmla="*/ 1878004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03246 w 2381250"/>
              <a:gd name="connsiteY7" fmla="*/ 1762126 h 1853566"/>
              <a:gd name="connsiteX8" fmla="*/ 0 w 2381250"/>
              <a:gd name="connsiteY8" fmla="*/ 1258880 h 1853566"/>
              <a:gd name="connsiteX9" fmla="*/ 0 w 2381250"/>
              <a:gd name="connsiteY9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9" fmla="*/ 1301115 w 2381250"/>
              <a:gd name="connsiteY9" fmla="*/ 91441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94686 w 2381250"/>
              <a:gd name="connsiteY7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0 w 2381250"/>
              <a:gd name="connsiteY1" fmla="*/ 503246 h 1853566"/>
              <a:gd name="connsiteX2" fmla="*/ 503246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94686 w 2381250"/>
              <a:gd name="connsiteY6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94686 w 2381250"/>
              <a:gd name="connsiteY5" fmla="*/ 1853566 h 185356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503246 w 2381250"/>
              <a:gd name="connsiteY4" fmla="*/ 1762126 h 1762126"/>
              <a:gd name="connsiteX5" fmla="*/ 0 w 2381250"/>
              <a:gd name="connsiteY5" fmla="*/ 1258880 h 1762126"/>
              <a:gd name="connsiteX6" fmla="*/ 0 w 2381250"/>
              <a:gd name="connsiteY6" fmla="*/ 503246 h 1762126"/>
              <a:gd name="connsiteX7" fmla="*/ 503246 w 2381250"/>
              <a:gd name="connsiteY7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1258880 h 1762126"/>
              <a:gd name="connsiteX5" fmla="*/ 0 w 2381250"/>
              <a:gd name="connsiteY5" fmla="*/ 503246 h 1762126"/>
              <a:gd name="connsiteX6" fmla="*/ 503246 w 2381250"/>
              <a:gd name="connsiteY6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503246 h 1762126"/>
              <a:gd name="connsiteX5" fmla="*/ 503246 w 2381250"/>
              <a:gd name="connsiteY5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0" fmla="*/ 1878004 w 1878004"/>
              <a:gd name="connsiteY0" fmla="*/ 1762126 h 1762126"/>
              <a:gd name="connsiteX1" fmla="*/ 0 w 1878004"/>
              <a:gd name="connsiteY1" fmla="*/ 503246 h 1762126"/>
              <a:gd name="connsiteX2" fmla="*/ 503246 w 1878004"/>
              <a:gd name="connsiteY2" fmla="*/ 0 h 1762126"/>
              <a:gd name="connsiteX0" fmla="*/ 0 w 1878004"/>
              <a:gd name="connsiteY0" fmla="*/ 503246 h 1762126"/>
              <a:gd name="connsiteX1" fmla="*/ 503246 w 1878004"/>
              <a:gd name="connsiteY1" fmla="*/ 0 h 1762126"/>
              <a:gd name="connsiteX0" fmla="*/ 0 w 503246"/>
              <a:gd name="connsiteY0" fmla="*/ 503246 h 503246"/>
              <a:gd name="connsiteX1" fmla="*/ 503246 w 503246"/>
              <a:gd name="connsiteY1" fmla="*/ 0 h 503246"/>
              <a:gd name="connsiteX0" fmla="*/ 0 w 503246"/>
              <a:gd name="connsiteY0" fmla="*/ 503246 h 503246"/>
              <a:gd name="connsiteX1" fmla="*/ 503246 w 503246"/>
              <a:gd name="connsiteY1" fmla="*/ 0 h 503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246" h="503246" stroke="0" extrusionOk="0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  <a:path w="503246" h="503246" fill="none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</a:pathLst>
          </a:custGeom>
          <a:noFill/>
          <a:ln w="25400" cap="rnd">
            <a:solidFill>
              <a:srgbClr val="CE687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30F788-2A43-44C2-8A2D-9DBB3D2595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48" t="7464" r="13471"/>
          <a:stretch/>
        </p:blipFill>
        <p:spPr>
          <a:xfrm>
            <a:off x="1957488" y="1958362"/>
            <a:ext cx="5163997" cy="482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192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260D6C0-276F-4663-9132-FBC70BEC9CF0}"/>
              </a:ext>
            </a:extLst>
          </p:cNvPr>
          <p:cNvSpPr/>
          <p:nvPr/>
        </p:nvSpPr>
        <p:spPr>
          <a:xfrm>
            <a:off x="0" y="0"/>
            <a:ext cx="12192000" cy="1942391"/>
          </a:xfrm>
          <a:prstGeom prst="rect">
            <a:avLst/>
          </a:prstGeom>
          <a:solidFill>
            <a:srgbClr val="F7AABA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1683" tIns="65842" rIns="131683" bIns="6584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Double Bracket 14">
            <a:extLst>
              <a:ext uri="{FF2B5EF4-FFF2-40B4-BE49-F238E27FC236}">
                <a16:creationId xmlns:a16="http://schemas.microsoft.com/office/drawing/2014/main" id="{48061D2B-32F6-4A37-9267-F6E92C384512}"/>
              </a:ext>
            </a:extLst>
          </p:cNvPr>
          <p:cNvSpPr/>
          <p:nvPr/>
        </p:nvSpPr>
        <p:spPr>
          <a:xfrm>
            <a:off x="624987" y="528965"/>
            <a:ext cx="457496" cy="457496"/>
          </a:xfrm>
          <a:custGeom>
            <a:avLst/>
            <a:gdLst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1258880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4" fmla="*/ 1878004 w 2381250"/>
              <a:gd name="connsiteY4" fmla="*/ 0 h 1762126"/>
              <a:gd name="connsiteX5" fmla="*/ 2381250 w 2381250"/>
              <a:gd name="connsiteY5" fmla="*/ 503246 h 1762126"/>
              <a:gd name="connsiteX6" fmla="*/ 2381250 w 2381250"/>
              <a:gd name="connsiteY6" fmla="*/ 1258880 h 1762126"/>
              <a:gd name="connsiteX7" fmla="*/ 1878004 w 2381250"/>
              <a:gd name="connsiteY7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7" fmla="*/ 503246 w 2381250"/>
              <a:gd name="connsiteY7" fmla="*/ 1762126 h 176212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878004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03246 w 2381250"/>
              <a:gd name="connsiteY6" fmla="*/ 1762126 h 1853566"/>
              <a:gd name="connsiteX7" fmla="*/ 0 w 2381250"/>
              <a:gd name="connsiteY7" fmla="*/ 1258880 h 1853566"/>
              <a:gd name="connsiteX8" fmla="*/ 0 w 2381250"/>
              <a:gd name="connsiteY8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209675 w 2381250"/>
              <a:gd name="connsiteY2" fmla="*/ 1 h 1853566"/>
              <a:gd name="connsiteX3" fmla="*/ 1878004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03246 w 2381250"/>
              <a:gd name="connsiteY7" fmla="*/ 1762126 h 1853566"/>
              <a:gd name="connsiteX8" fmla="*/ 0 w 2381250"/>
              <a:gd name="connsiteY8" fmla="*/ 1258880 h 1853566"/>
              <a:gd name="connsiteX9" fmla="*/ 0 w 2381250"/>
              <a:gd name="connsiteY9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9" fmla="*/ 1301115 w 2381250"/>
              <a:gd name="connsiteY9" fmla="*/ 91441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94686 w 2381250"/>
              <a:gd name="connsiteY7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0 w 2381250"/>
              <a:gd name="connsiteY1" fmla="*/ 503246 h 1853566"/>
              <a:gd name="connsiteX2" fmla="*/ 503246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94686 w 2381250"/>
              <a:gd name="connsiteY6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94686 w 2381250"/>
              <a:gd name="connsiteY5" fmla="*/ 1853566 h 185356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503246 w 2381250"/>
              <a:gd name="connsiteY4" fmla="*/ 1762126 h 1762126"/>
              <a:gd name="connsiteX5" fmla="*/ 0 w 2381250"/>
              <a:gd name="connsiteY5" fmla="*/ 1258880 h 1762126"/>
              <a:gd name="connsiteX6" fmla="*/ 0 w 2381250"/>
              <a:gd name="connsiteY6" fmla="*/ 503246 h 1762126"/>
              <a:gd name="connsiteX7" fmla="*/ 503246 w 2381250"/>
              <a:gd name="connsiteY7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1258880 h 1762126"/>
              <a:gd name="connsiteX5" fmla="*/ 0 w 2381250"/>
              <a:gd name="connsiteY5" fmla="*/ 503246 h 1762126"/>
              <a:gd name="connsiteX6" fmla="*/ 503246 w 2381250"/>
              <a:gd name="connsiteY6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503246 h 1762126"/>
              <a:gd name="connsiteX5" fmla="*/ 503246 w 2381250"/>
              <a:gd name="connsiteY5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0" fmla="*/ 1878004 w 1878004"/>
              <a:gd name="connsiteY0" fmla="*/ 1762126 h 1762126"/>
              <a:gd name="connsiteX1" fmla="*/ 0 w 1878004"/>
              <a:gd name="connsiteY1" fmla="*/ 503246 h 1762126"/>
              <a:gd name="connsiteX2" fmla="*/ 503246 w 1878004"/>
              <a:gd name="connsiteY2" fmla="*/ 0 h 1762126"/>
              <a:gd name="connsiteX0" fmla="*/ 0 w 1878004"/>
              <a:gd name="connsiteY0" fmla="*/ 503246 h 1762126"/>
              <a:gd name="connsiteX1" fmla="*/ 503246 w 1878004"/>
              <a:gd name="connsiteY1" fmla="*/ 0 h 1762126"/>
              <a:gd name="connsiteX0" fmla="*/ 0 w 503246"/>
              <a:gd name="connsiteY0" fmla="*/ 503246 h 503246"/>
              <a:gd name="connsiteX1" fmla="*/ 503246 w 503246"/>
              <a:gd name="connsiteY1" fmla="*/ 0 h 503246"/>
              <a:gd name="connsiteX0" fmla="*/ 0 w 503246"/>
              <a:gd name="connsiteY0" fmla="*/ 503246 h 503246"/>
              <a:gd name="connsiteX1" fmla="*/ 503246 w 503246"/>
              <a:gd name="connsiteY1" fmla="*/ 0 h 503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246" h="503246" stroke="0" extrusionOk="0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  <a:path w="503246" h="503246" fill="none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</a:pathLst>
          </a:custGeom>
          <a:noFill/>
          <a:ln w="25400" cap="rnd">
            <a:solidFill>
              <a:srgbClr val="CE687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9B6AE3-5CFE-4172-A3C7-237BE3CB693A}"/>
              </a:ext>
            </a:extLst>
          </p:cNvPr>
          <p:cNvSpPr txBox="1"/>
          <p:nvPr/>
        </p:nvSpPr>
        <p:spPr>
          <a:xfrm>
            <a:off x="966586" y="732135"/>
            <a:ext cx="2841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800" b="0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MISOFAR 200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E8A6C3-1F5C-4B2E-AA5C-20B5C2A64053}"/>
              </a:ext>
            </a:extLst>
          </p:cNvPr>
          <p:cNvSpPr txBox="1"/>
          <p:nvPr/>
        </p:nvSpPr>
        <p:spPr>
          <a:xfrm>
            <a:off x="966586" y="1154033"/>
            <a:ext cx="5598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pt-PT" sz="3200" b="1" dirty="0">
                <a:solidFill>
                  <a:srgbClr val="CE687F"/>
                </a:solidFill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PRINCIPAIS VANTAGENS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6C114C-CF01-40F8-B35B-BD719B9FD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55" y="2213865"/>
            <a:ext cx="2981325" cy="13144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3F8829-386A-474D-8730-236244F3A3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850" y="3706207"/>
            <a:ext cx="2847975" cy="12096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3DD17A-89B7-4DA7-840A-0B435731FE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0168" y="2152269"/>
            <a:ext cx="3590925" cy="1504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1CCC6D-3AF0-43F9-8889-0D01591C98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1504" y="3645864"/>
            <a:ext cx="3562350" cy="1257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AD00CC-CF99-4EF8-9EE0-8D25C47EB7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7764" y="5351218"/>
            <a:ext cx="3600450" cy="1219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B91228-FF3B-4683-9CC3-00BB593529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652" y="5294068"/>
            <a:ext cx="3581400" cy="1333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B317C9-7D8C-451F-BCCC-62086B37C5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2976" y="2291358"/>
            <a:ext cx="3590925" cy="12668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1FF305-07EB-465D-B655-65C64F42D3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4983" y="3580716"/>
            <a:ext cx="2790825" cy="14763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541144-5FF4-49F9-9105-8E9EA14FD6A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6228" y="5350830"/>
            <a:ext cx="333375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685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E3117AF-11DB-492B-89B7-B468F689D9B7}"/>
              </a:ext>
            </a:extLst>
          </p:cNvPr>
          <p:cNvSpPr/>
          <p:nvPr/>
        </p:nvSpPr>
        <p:spPr>
          <a:xfrm>
            <a:off x="-12700" y="4754541"/>
            <a:ext cx="12204700" cy="2103459"/>
          </a:xfrm>
          <a:prstGeom prst="rect">
            <a:avLst/>
          </a:prstGeom>
          <a:solidFill>
            <a:srgbClr val="838F95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1683" tIns="65842" rIns="131683" bIns="6584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F541DE-9529-432E-A75D-C64DFDB6CC10}"/>
              </a:ext>
            </a:extLst>
          </p:cNvPr>
          <p:cNvSpPr txBox="1"/>
          <p:nvPr/>
        </p:nvSpPr>
        <p:spPr>
          <a:xfrm>
            <a:off x="3569827" y="339085"/>
            <a:ext cx="56936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4800" b="1" cap="all" dirty="0">
                <a:solidFill>
                  <a:srgbClr val="C10076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TARGET MÉDICO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CDDA0A-3346-4F3A-8FB1-19B3C7C9A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9439" y="1904490"/>
            <a:ext cx="1693172" cy="249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cap="none" normalizeH="0" baseline="0" noProof="0" dirty="0">
                <a:ln>
                  <a:noFill/>
                </a:ln>
                <a:solidFill>
                  <a:prstClr val="white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PRODUTO HOSPITALAR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A7394D6-3997-4B51-9802-672BD62D0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805" y="1904490"/>
            <a:ext cx="1693172" cy="249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cap="none" normalizeH="0" baseline="0" noProof="0" dirty="0">
                <a:ln>
                  <a:noFill/>
                </a:ln>
                <a:solidFill>
                  <a:prstClr val="white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PRODTO HOSPITALAR</a:t>
            </a:r>
          </a:p>
        </p:txBody>
      </p:sp>
      <p:pic>
        <p:nvPicPr>
          <p:cNvPr id="10" name="Picture 9" descr="Logo, company name&#10;&#10;Description automatically generated">
            <a:extLst>
              <a:ext uri="{FF2B5EF4-FFF2-40B4-BE49-F238E27FC236}">
                <a16:creationId xmlns:a16="http://schemas.microsoft.com/office/drawing/2014/main" id="{22C33600-1794-48C5-96BD-71789D211FA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52" y="1161933"/>
            <a:ext cx="3180802" cy="1650098"/>
          </a:xfrm>
          <a:prstGeom prst="rect">
            <a:avLst/>
          </a:prstGeom>
        </p:spPr>
      </p:pic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8C42B13A-EF94-43C9-BFC2-9E7D5BEC4A6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222" y="1411691"/>
            <a:ext cx="2884350" cy="1150582"/>
          </a:xfrm>
          <a:prstGeom prst="rect">
            <a:avLst/>
          </a:prstGeom>
        </p:spPr>
      </p:pic>
      <p:sp>
        <p:nvSpPr>
          <p:cNvPr id="20" name="Double Bracket 19">
            <a:extLst>
              <a:ext uri="{FF2B5EF4-FFF2-40B4-BE49-F238E27FC236}">
                <a16:creationId xmlns:a16="http://schemas.microsoft.com/office/drawing/2014/main" id="{EEA219D9-A920-48D9-BA99-BEC5E8D83E09}"/>
              </a:ext>
            </a:extLst>
          </p:cNvPr>
          <p:cNvSpPr/>
          <p:nvPr/>
        </p:nvSpPr>
        <p:spPr>
          <a:xfrm>
            <a:off x="1276319" y="2404514"/>
            <a:ext cx="2910785" cy="712159"/>
          </a:xfrm>
          <a:prstGeom prst="bracketPair">
            <a:avLst>
              <a:gd name="adj" fmla="val 28559"/>
            </a:avLst>
          </a:prstGeom>
          <a:noFill/>
          <a:ln w="25400" cap="rnd">
            <a:solidFill>
              <a:srgbClr val="CF84AE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hlinkClick r:id="rId5" action="ppaction://hlinksldjump"/>
            <a:extLst>
              <a:ext uri="{FF2B5EF4-FFF2-40B4-BE49-F238E27FC236}">
                <a16:creationId xmlns:a16="http://schemas.microsoft.com/office/drawing/2014/main" id="{D7D4D65B-2DB8-419D-8D73-C77746D93A8B}"/>
              </a:ext>
            </a:extLst>
          </p:cNvPr>
          <p:cNvSpPr/>
          <p:nvPr/>
        </p:nvSpPr>
        <p:spPr>
          <a:xfrm>
            <a:off x="1374003" y="2615266"/>
            <a:ext cx="2671533" cy="327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Ginecologia</a:t>
            </a:r>
          </a:p>
        </p:txBody>
      </p:sp>
      <p:sp>
        <p:nvSpPr>
          <p:cNvPr id="22" name="Double Bracket 21">
            <a:extLst>
              <a:ext uri="{FF2B5EF4-FFF2-40B4-BE49-F238E27FC236}">
                <a16:creationId xmlns:a16="http://schemas.microsoft.com/office/drawing/2014/main" id="{DB63D270-A3DC-45CF-BB7E-956F2722A124}"/>
              </a:ext>
            </a:extLst>
          </p:cNvPr>
          <p:cNvSpPr/>
          <p:nvPr/>
        </p:nvSpPr>
        <p:spPr>
          <a:xfrm>
            <a:off x="1272070" y="3187913"/>
            <a:ext cx="2910785" cy="712159"/>
          </a:xfrm>
          <a:prstGeom prst="bracketPair">
            <a:avLst>
              <a:gd name="adj" fmla="val 28559"/>
            </a:avLst>
          </a:prstGeom>
          <a:noFill/>
          <a:ln w="25400" cap="rnd">
            <a:solidFill>
              <a:srgbClr val="CF84AE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hlinkClick r:id="rId5" action="ppaction://hlinksldjump"/>
            <a:extLst>
              <a:ext uri="{FF2B5EF4-FFF2-40B4-BE49-F238E27FC236}">
                <a16:creationId xmlns:a16="http://schemas.microsoft.com/office/drawing/2014/main" id="{B2DBE876-C95E-4C11-A4DC-18DBE4975AAA}"/>
              </a:ext>
            </a:extLst>
          </p:cNvPr>
          <p:cNvSpPr/>
          <p:nvPr/>
        </p:nvSpPr>
        <p:spPr>
          <a:xfrm>
            <a:off x="1369754" y="3398665"/>
            <a:ext cx="2671533" cy="327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Obstetrícia</a:t>
            </a:r>
          </a:p>
        </p:txBody>
      </p:sp>
      <p:sp>
        <p:nvSpPr>
          <p:cNvPr id="24" name="Double Bracket 23">
            <a:extLst>
              <a:ext uri="{FF2B5EF4-FFF2-40B4-BE49-F238E27FC236}">
                <a16:creationId xmlns:a16="http://schemas.microsoft.com/office/drawing/2014/main" id="{0E1B69F4-C986-49A2-B16A-00D20CD5C77C}"/>
              </a:ext>
            </a:extLst>
          </p:cNvPr>
          <p:cNvSpPr/>
          <p:nvPr/>
        </p:nvSpPr>
        <p:spPr>
          <a:xfrm>
            <a:off x="1272070" y="3990258"/>
            <a:ext cx="2910785" cy="712159"/>
          </a:xfrm>
          <a:prstGeom prst="bracketPair">
            <a:avLst>
              <a:gd name="adj" fmla="val 28559"/>
            </a:avLst>
          </a:prstGeom>
          <a:noFill/>
          <a:ln w="25400" cap="rnd">
            <a:solidFill>
              <a:srgbClr val="CF84AE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hlinkClick r:id="rId5" action="ppaction://hlinksldjump"/>
            <a:extLst>
              <a:ext uri="{FF2B5EF4-FFF2-40B4-BE49-F238E27FC236}">
                <a16:creationId xmlns:a16="http://schemas.microsoft.com/office/drawing/2014/main" id="{2E3FDED0-46C8-40E8-B2DF-6C65BDDA71FA}"/>
              </a:ext>
            </a:extLst>
          </p:cNvPr>
          <p:cNvSpPr/>
          <p:nvPr/>
        </p:nvSpPr>
        <p:spPr>
          <a:xfrm>
            <a:off x="1369754" y="4201010"/>
            <a:ext cx="2671533" cy="327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Parteiras</a:t>
            </a:r>
          </a:p>
        </p:txBody>
      </p:sp>
      <p:sp>
        <p:nvSpPr>
          <p:cNvPr id="26" name="Double Bracket 25">
            <a:extLst>
              <a:ext uri="{FF2B5EF4-FFF2-40B4-BE49-F238E27FC236}">
                <a16:creationId xmlns:a16="http://schemas.microsoft.com/office/drawing/2014/main" id="{14325AA5-C8A0-4DDD-AED2-68AC1826AEE4}"/>
              </a:ext>
            </a:extLst>
          </p:cNvPr>
          <p:cNvSpPr/>
          <p:nvPr/>
        </p:nvSpPr>
        <p:spPr>
          <a:xfrm>
            <a:off x="6935684" y="2406399"/>
            <a:ext cx="2910785" cy="712159"/>
          </a:xfrm>
          <a:prstGeom prst="bracketPair">
            <a:avLst>
              <a:gd name="adj" fmla="val 28559"/>
            </a:avLst>
          </a:prstGeom>
          <a:noFill/>
          <a:ln w="25400" cap="rnd">
            <a:solidFill>
              <a:srgbClr val="CE687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hlinkClick r:id="rId5" action="ppaction://hlinksldjump"/>
            <a:extLst>
              <a:ext uri="{FF2B5EF4-FFF2-40B4-BE49-F238E27FC236}">
                <a16:creationId xmlns:a16="http://schemas.microsoft.com/office/drawing/2014/main" id="{CA57AD70-5179-4F0F-8178-EBEBFCE20E3F}"/>
              </a:ext>
            </a:extLst>
          </p:cNvPr>
          <p:cNvSpPr/>
          <p:nvPr/>
        </p:nvSpPr>
        <p:spPr>
          <a:xfrm>
            <a:off x="7033368" y="2617151"/>
            <a:ext cx="2671533" cy="327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Ginecologia</a:t>
            </a:r>
          </a:p>
        </p:txBody>
      </p:sp>
      <p:sp>
        <p:nvSpPr>
          <p:cNvPr id="28" name="Double Bracket 27">
            <a:extLst>
              <a:ext uri="{FF2B5EF4-FFF2-40B4-BE49-F238E27FC236}">
                <a16:creationId xmlns:a16="http://schemas.microsoft.com/office/drawing/2014/main" id="{3C147CBC-D9DA-4162-B6D6-70CEED0AEEF6}"/>
              </a:ext>
            </a:extLst>
          </p:cNvPr>
          <p:cNvSpPr/>
          <p:nvPr/>
        </p:nvSpPr>
        <p:spPr>
          <a:xfrm>
            <a:off x="6931435" y="3189798"/>
            <a:ext cx="2910785" cy="712159"/>
          </a:xfrm>
          <a:prstGeom prst="bracketPair">
            <a:avLst>
              <a:gd name="adj" fmla="val 28559"/>
            </a:avLst>
          </a:prstGeom>
          <a:noFill/>
          <a:ln w="25400" cap="rnd">
            <a:solidFill>
              <a:srgbClr val="CE687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hlinkClick r:id="rId5" action="ppaction://hlinksldjump"/>
            <a:extLst>
              <a:ext uri="{FF2B5EF4-FFF2-40B4-BE49-F238E27FC236}">
                <a16:creationId xmlns:a16="http://schemas.microsoft.com/office/drawing/2014/main" id="{A16F9C15-27AE-4B48-A4DE-F92DF58408AB}"/>
              </a:ext>
            </a:extLst>
          </p:cNvPr>
          <p:cNvSpPr/>
          <p:nvPr/>
        </p:nvSpPr>
        <p:spPr>
          <a:xfrm>
            <a:off x="7063039" y="3398665"/>
            <a:ext cx="2671533" cy="327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1" i="0" u="none" strike="noStrike" cap="none" normalizeH="0" baseline="0" noProof="0" dirty="0">
                <a:ln>
                  <a:noFill/>
                </a:ln>
                <a:solidFill>
                  <a:srgbClr val="231F20"/>
                </a:solidFill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Obstetrícia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6757F30-6BE1-4CA1-9E4D-21300FCC96D9}"/>
              </a:ext>
            </a:extLst>
          </p:cNvPr>
          <p:cNvGrpSpPr/>
          <p:nvPr/>
        </p:nvGrpSpPr>
        <p:grpSpPr>
          <a:xfrm>
            <a:off x="3662612" y="5646771"/>
            <a:ext cx="4416667" cy="551729"/>
            <a:chOff x="7147635" y="3506364"/>
            <a:chExt cx="1781148" cy="551729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3E8F15E-ABE8-493A-8A5B-17DE53563037}"/>
                </a:ext>
              </a:extLst>
            </p:cNvPr>
            <p:cNvSpPr/>
            <p:nvPr/>
          </p:nvSpPr>
          <p:spPr>
            <a:xfrm>
              <a:off x="7147635" y="3506364"/>
              <a:ext cx="1701800" cy="551729"/>
            </a:xfrm>
            <a:prstGeom prst="rect">
              <a:avLst/>
            </a:prstGeom>
            <a:solidFill>
              <a:srgbClr val="F7AA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89D5E70-149D-46BE-8961-A60BB100F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5611" y="3639539"/>
              <a:ext cx="1693172" cy="275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1" i="0" u="none" strike="noStrike" cap="none" normalizeH="0" baseline="0" noProof="0" dirty="0">
                  <a:ln>
                    <a:noFill/>
                  </a:ln>
                  <a:solidFill>
                    <a:prstClr val="white"/>
                  </a:solidFill>
                  <a:uLnTx/>
                  <a:uFillTx/>
                  <a:latin typeface="Trebuchet MS" panose="020B0603020202020204" pitchFamily="34" charset="0"/>
                  <a:ea typeface="ＭＳ Ｐゴシック" pitchFamily="34" charset="-128"/>
                  <a:cs typeface="+mn-cs"/>
                </a:rPr>
                <a:t>PRODUTOS DE USO EXCLUSIVO </a:t>
              </a:r>
              <a:r>
                <a:rPr kumimoji="0" lang="pt-PT" sz="1400" i="0" u="none" strike="noStrike" cap="none" normalizeH="0" baseline="0" noProof="0" dirty="0">
                  <a:ln>
                    <a:noFill/>
                  </a:ln>
                  <a:solidFill>
                    <a:prstClr val="white"/>
                  </a:solidFill>
                  <a:uLnTx/>
                  <a:uFillTx/>
                  <a:latin typeface="Trebuchet MS" panose="020B0603020202020204" pitchFamily="34" charset="0"/>
                  <a:ea typeface="ＭＳ Ｐゴシック" pitchFamily="34" charset="-128"/>
                  <a:cs typeface="+mn-cs"/>
                </a:rPr>
                <a:t>HOSPITALAR</a:t>
              </a:r>
              <a:r>
                <a:rPr kumimoji="0" lang="pt-PT" sz="1400" b="1" i="0" u="none" strike="noStrike" cap="none" normalizeH="0" baseline="0" noProof="0" dirty="0">
                  <a:ln>
                    <a:noFill/>
                  </a:ln>
                  <a:solidFill>
                    <a:prstClr val="white"/>
                  </a:solidFill>
                  <a:uLnTx/>
                  <a:uFillTx/>
                  <a:latin typeface="Trebuchet MS" panose="020B0603020202020204" pitchFamily="34" charset="0"/>
                  <a:ea typeface="ＭＳ Ｐゴシック" pitchFamily="34" charset="-128"/>
                  <a:cs typeface="+mn-cs"/>
                </a:rPr>
                <a:t>!</a:t>
              </a: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A0E6F4C1-9A48-4723-9690-1AF8A98820B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7" t="39646" r="36611"/>
          <a:stretch/>
        </p:blipFill>
        <p:spPr>
          <a:xfrm>
            <a:off x="7530222" y="4590822"/>
            <a:ext cx="2910785" cy="216003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78DCF42-5263-417C-8B17-15D2D5AF9CA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56" t="44958" r="39788" b="-1"/>
          <a:stretch/>
        </p:blipFill>
        <p:spPr>
          <a:xfrm>
            <a:off x="1572930" y="4841454"/>
            <a:ext cx="2612838" cy="198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810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E3117AF-11DB-492B-89B7-B468F689D9B7}"/>
              </a:ext>
            </a:extLst>
          </p:cNvPr>
          <p:cNvSpPr/>
          <p:nvPr/>
        </p:nvSpPr>
        <p:spPr>
          <a:xfrm>
            <a:off x="-12700" y="4754541"/>
            <a:ext cx="12204700" cy="2103459"/>
          </a:xfrm>
          <a:prstGeom prst="rect">
            <a:avLst/>
          </a:prstGeom>
          <a:solidFill>
            <a:srgbClr val="838F95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1683" tIns="65842" rIns="131683" bIns="6584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F541DE-9529-432E-A75D-C64DFDB6CC10}"/>
              </a:ext>
            </a:extLst>
          </p:cNvPr>
          <p:cNvSpPr txBox="1"/>
          <p:nvPr/>
        </p:nvSpPr>
        <p:spPr>
          <a:xfrm>
            <a:off x="4826563" y="316394"/>
            <a:ext cx="25261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4800" b="1" cap="all" dirty="0">
                <a:solidFill>
                  <a:srgbClr val="C10076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preço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CDDA0A-3346-4F3A-8FB1-19B3C7C9A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9439" y="1904490"/>
            <a:ext cx="1693172" cy="249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cap="none" normalizeH="0" baseline="0" noProof="0" dirty="0">
                <a:ln>
                  <a:noFill/>
                </a:ln>
                <a:solidFill>
                  <a:prstClr val="white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PRODUTO HOSPITALAR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A7394D6-3997-4B51-9802-672BD62D0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805" y="1904490"/>
            <a:ext cx="1693172" cy="249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cap="none" normalizeH="0" baseline="0" noProof="0" dirty="0">
                <a:ln>
                  <a:noFill/>
                </a:ln>
                <a:solidFill>
                  <a:prstClr val="white"/>
                </a:solidFill>
                <a:uLnTx/>
                <a:uFillTx/>
                <a:latin typeface="Trebuchet MS" panose="020B0603020202020204" pitchFamily="34" charset="0"/>
                <a:ea typeface="ＭＳ Ｐゴシック" pitchFamily="34" charset="-128"/>
                <a:cs typeface="+mn-cs"/>
              </a:rPr>
              <a:t>PRODTO HOSPITALAR</a:t>
            </a:r>
          </a:p>
        </p:txBody>
      </p:sp>
      <p:pic>
        <p:nvPicPr>
          <p:cNvPr id="10" name="Picture 9" descr="Logo, company name&#10;&#10;Description automatically generated">
            <a:extLst>
              <a:ext uri="{FF2B5EF4-FFF2-40B4-BE49-F238E27FC236}">
                <a16:creationId xmlns:a16="http://schemas.microsoft.com/office/drawing/2014/main" id="{22C33600-1794-48C5-96BD-71789D211FA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52" y="1161933"/>
            <a:ext cx="3180802" cy="1650098"/>
          </a:xfrm>
          <a:prstGeom prst="rect">
            <a:avLst/>
          </a:prstGeom>
        </p:spPr>
      </p:pic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8C42B13A-EF94-43C9-BFC2-9E7D5BEC4A6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222" y="1411691"/>
            <a:ext cx="2884350" cy="115058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78DCF42-5263-417C-8B17-15D2D5AF9CA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56" t="44958" r="39788" b="-1"/>
          <a:stretch/>
        </p:blipFill>
        <p:spPr>
          <a:xfrm>
            <a:off x="805393" y="2740819"/>
            <a:ext cx="3953420" cy="2997429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DE791E-B82E-405F-996B-A47063CFA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444014"/>
              </p:ext>
            </p:extLst>
          </p:nvPr>
        </p:nvGraphicFramePr>
        <p:xfrm>
          <a:off x="201004" y="5864467"/>
          <a:ext cx="5437238" cy="426720"/>
        </p:xfrm>
        <a:graphic>
          <a:graphicData uri="http://schemas.openxmlformats.org/drawingml/2006/table">
            <a:tbl>
              <a:tblPr firstRow="1" firstCol="1" bandRow="1"/>
              <a:tblGrid>
                <a:gridCol w="1419510">
                  <a:extLst>
                    <a:ext uri="{9D8B030D-6E8A-4147-A177-3AD203B41FA5}">
                      <a16:colId xmlns:a16="http://schemas.microsoft.com/office/drawing/2014/main" val="1012966772"/>
                    </a:ext>
                  </a:extLst>
                </a:gridCol>
                <a:gridCol w="1689307">
                  <a:extLst>
                    <a:ext uri="{9D8B030D-6E8A-4147-A177-3AD203B41FA5}">
                      <a16:colId xmlns:a16="http://schemas.microsoft.com/office/drawing/2014/main" val="1167464007"/>
                    </a:ext>
                  </a:extLst>
                </a:gridCol>
                <a:gridCol w="1502511">
                  <a:extLst>
                    <a:ext uri="{9D8B030D-6E8A-4147-A177-3AD203B41FA5}">
                      <a16:colId xmlns:a16="http://schemas.microsoft.com/office/drawing/2014/main" val="1264337099"/>
                    </a:ext>
                  </a:extLst>
                </a:gridCol>
                <a:gridCol w="825910">
                  <a:extLst>
                    <a:ext uri="{9D8B030D-6E8A-4147-A177-3AD203B41FA5}">
                      <a16:colId xmlns:a16="http://schemas.microsoft.com/office/drawing/2014/main" val="26046712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PT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MISOFAR 25 mcg, 8 vaginal Tablets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25 mcg Misoprostol </a:t>
                      </a:r>
                    </a:p>
                    <a:p>
                      <a:r>
                        <a:rPr lang="en-GB" sz="1400" b="1" dirty="0">
                          <a:solidFill>
                            <a:srgbClr val="C1007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(Pre qualified WHO)</a:t>
                      </a:r>
                      <a:endParaRPr lang="pt-PT" sz="1400" b="1" dirty="0">
                        <a:solidFill>
                          <a:srgbClr val="C1007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PT" sz="1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Pregnant</a:t>
                      </a:r>
                      <a:r>
                        <a:rPr lang="pt-PT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pt-PT" sz="1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uterine</a:t>
                      </a:r>
                      <a:r>
                        <a:rPr lang="pt-PT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pt-PT" sz="1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cervix</a:t>
                      </a:r>
                      <a:r>
                        <a:rPr lang="pt-PT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pt-PT" sz="1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dilatation</a:t>
                      </a:r>
                      <a:endParaRPr lang="pt-PT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PT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  5,00 €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451907"/>
                  </a:ext>
                </a:extLst>
              </a:tr>
            </a:tbl>
          </a:graphicData>
        </a:graphic>
      </p:graphicFrame>
      <p:pic>
        <p:nvPicPr>
          <p:cNvPr id="34" name="Picture 33">
            <a:extLst>
              <a:ext uri="{FF2B5EF4-FFF2-40B4-BE49-F238E27FC236}">
                <a16:creationId xmlns:a16="http://schemas.microsoft.com/office/drawing/2014/main" id="{B25CEC4E-7072-4421-92C0-B15F35EDDD5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7" t="39646" r="36611"/>
          <a:stretch/>
        </p:blipFill>
        <p:spPr>
          <a:xfrm>
            <a:off x="6546289" y="2243525"/>
            <a:ext cx="4542215" cy="3370693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4D1F828-0188-457D-A51D-15B757109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837175"/>
              </p:ext>
            </p:extLst>
          </p:nvPr>
        </p:nvGraphicFramePr>
        <p:xfrm>
          <a:off x="5851946" y="5864467"/>
          <a:ext cx="5930900" cy="426720"/>
        </p:xfrm>
        <a:graphic>
          <a:graphicData uri="http://schemas.openxmlformats.org/drawingml/2006/table">
            <a:tbl>
              <a:tblPr firstRow="1" firstCol="1" bandRow="1"/>
              <a:tblGrid>
                <a:gridCol w="1758222">
                  <a:extLst>
                    <a:ext uri="{9D8B030D-6E8A-4147-A177-3AD203B41FA5}">
                      <a16:colId xmlns:a16="http://schemas.microsoft.com/office/drawing/2014/main" val="4051817078"/>
                    </a:ext>
                  </a:extLst>
                </a:gridCol>
                <a:gridCol w="1573161">
                  <a:extLst>
                    <a:ext uri="{9D8B030D-6E8A-4147-A177-3AD203B41FA5}">
                      <a16:colId xmlns:a16="http://schemas.microsoft.com/office/drawing/2014/main" val="2334051403"/>
                    </a:ext>
                  </a:extLst>
                </a:gridCol>
                <a:gridCol w="1866727">
                  <a:extLst>
                    <a:ext uri="{9D8B030D-6E8A-4147-A177-3AD203B41FA5}">
                      <a16:colId xmlns:a16="http://schemas.microsoft.com/office/drawing/2014/main" val="3016683346"/>
                    </a:ext>
                  </a:extLst>
                </a:gridCol>
                <a:gridCol w="732790">
                  <a:extLst>
                    <a:ext uri="{9D8B030D-6E8A-4147-A177-3AD203B41FA5}">
                      <a16:colId xmlns:a16="http://schemas.microsoft.com/office/drawing/2014/main" val="4223562869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PT" sz="14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MISOFAR 200 </a:t>
                      </a:r>
                      <a:r>
                        <a:rPr lang="pt-PT" sz="140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mcg</a:t>
                      </a:r>
                      <a:r>
                        <a:rPr lang="pt-PT" sz="14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, 4 vaginal tablets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PT" sz="14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200 </a:t>
                      </a:r>
                      <a:r>
                        <a:rPr lang="pt-PT" sz="140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mcg</a:t>
                      </a:r>
                      <a:r>
                        <a:rPr lang="pt-PT" sz="14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Misoprostol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PT" sz="140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Non-pregnant uterine cervix dilatation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PT" sz="14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   7,00 €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0386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6800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58174F-3E1B-48B4-9530-A37D0FBBC1E9}"/>
              </a:ext>
            </a:extLst>
          </p:cNvPr>
          <p:cNvSpPr txBox="1"/>
          <p:nvPr/>
        </p:nvSpPr>
        <p:spPr>
          <a:xfrm>
            <a:off x="352164" y="236961"/>
            <a:ext cx="88422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800" b="1" dirty="0">
                <a:solidFill>
                  <a:srgbClr val="C10076"/>
                </a:solidFill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É VIDA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92940-F58A-4B57-B1DA-7125396BF648}"/>
              </a:ext>
            </a:extLst>
          </p:cNvPr>
          <p:cNvSpPr txBox="1"/>
          <p:nvPr/>
        </p:nvSpPr>
        <p:spPr>
          <a:xfrm>
            <a:off x="387700" y="972578"/>
            <a:ext cx="8763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dirty="0">
                <a:solidFill>
                  <a:srgbClr val="231F20"/>
                </a:solidFill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ASSINATURA DA MARCA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6A15FE-8176-4355-AF89-01310341EFAA}"/>
              </a:ext>
            </a:extLst>
          </p:cNvPr>
          <p:cNvSpPr/>
          <p:nvPr/>
        </p:nvSpPr>
        <p:spPr>
          <a:xfrm>
            <a:off x="1026367" y="1776142"/>
            <a:ext cx="6260842" cy="4553537"/>
          </a:xfrm>
          <a:prstGeom prst="rect">
            <a:avLst/>
          </a:prstGeom>
          <a:solidFill>
            <a:srgbClr val="CF84AE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PT" sz="2000" dirty="0">
                <a:solidFill>
                  <a:srgbClr val="231F20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Queremos associar a Misofar à </a:t>
            </a:r>
            <a:r>
              <a:rPr lang="pt-PT" sz="2000" b="1" dirty="0">
                <a:solidFill>
                  <a:srgbClr val="231F20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VIDA</a:t>
            </a:r>
            <a:r>
              <a:rPr lang="pt-PT" sz="2000" dirty="0">
                <a:solidFill>
                  <a:srgbClr val="231F20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!</a:t>
            </a:r>
          </a:p>
          <a:p>
            <a:pPr algn="ctr"/>
            <a:endParaRPr lang="pt-PT" sz="2000" dirty="0">
              <a:solidFill>
                <a:srgbClr val="231F20"/>
              </a:solidFill>
              <a:latin typeface="Trebuchet MS" panose="020B0603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PT" sz="2000" dirty="0">
                <a:solidFill>
                  <a:srgbClr val="231F20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À vida do bebé que vai nascer...</a:t>
            </a:r>
          </a:p>
          <a:p>
            <a:pPr algn="ctr"/>
            <a:r>
              <a:rPr lang="pt-PT" sz="2000" dirty="0">
                <a:solidFill>
                  <a:srgbClr val="231F20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À vida da mãe que dará à luz...</a:t>
            </a:r>
          </a:p>
          <a:p>
            <a:pPr algn="ctr"/>
            <a:r>
              <a:rPr lang="pt-PT" sz="2000" dirty="0">
                <a:solidFill>
                  <a:srgbClr val="231F20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À vida da mulher que precisa de procedimentos ginecológicos…</a:t>
            </a:r>
          </a:p>
          <a:p>
            <a:pPr algn="ctr"/>
            <a:endParaRPr lang="pt-PT" sz="2000" dirty="0">
              <a:solidFill>
                <a:srgbClr val="231F20"/>
              </a:solidFill>
              <a:latin typeface="Trebuchet MS" panose="020B0603020202020204" pitchFamily="34" charset="0"/>
              <a:cs typeface="Arial" panose="020B0604020202020204" pitchFamily="34" charset="0"/>
            </a:endParaRPr>
          </a:p>
          <a:p>
            <a:pPr algn="ctr"/>
            <a:endParaRPr lang="pt-PT" sz="2000" dirty="0">
              <a:solidFill>
                <a:srgbClr val="231F20"/>
              </a:solidFill>
              <a:latin typeface="Trebuchet MS" panose="020B0603020202020204" pitchFamily="34" charset="0"/>
              <a:cs typeface="Arial" panose="020B0604020202020204" pitchFamily="34" charset="0"/>
            </a:endParaRPr>
          </a:p>
          <a:p>
            <a:pPr algn="ctr"/>
            <a:endParaRPr lang="pt-PT" sz="2000" dirty="0">
              <a:solidFill>
                <a:srgbClr val="231F20"/>
              </a:solidFill>
              <a:latin typeface="Trebuchet MS" panose="020B0603020202020204" pitchFamily="34" charset="0"/>
              <a:cs typeface="Arial" panose="020B0604020202020204" pitchFamily="34" charset="0"/>
            </a:endParaRPr>
          </a:p>
          <a:p>
            <a:pPr algn="ctr"/>
            <a:endParaRPr lang="pt-PT" sz="2000" dirty="0">
              <a:solidFill>
                <a:srgbClr val="231F20"/>
              </a:solidFill>
              <a:latin typeface="Trebuchet MS" panose="020B0603020202020204" pitchFamily="34" charset="0"/>
              <a:cs typeface="Arial" panose="020B0604020202020204" pitchFamily="34" charset="0"/>
            </a:endParaRPr>
          </a:p>
          <a:p>
            <a:pPr algn="ctr"/>
            <a:endParaRPr lang="pt-PT" sz="2000" dirty="0">
              <a:solidFill>
                <a:srgbClr val="231F20"/>
              </a:solidFill>
              <a:latin typeface="Trebuchet MS" panose="020B0603020202020204" pitchFamily="34" charset="0"/>
              <a:cs typeface="Arial" panose="020B0604020202020204" pitchFamily="34" charset="0"/>
            </a:endParaRPr>
          </a:p>
          <a:p>
            <a:pPr algn="ctr"/>
            <a:endParaRPr lang="pt-PT" sz="2000" dirty="0">
              <a:solidFill>
                <a:srgbClr val="231F20"/>
              </a:solidFill>
              <a:latin typeface="Trebuchet MS" panose="020B0603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PT" sz="2000" u="sng" dirty="0">
                <a:solidFill>
                  <a:srgbClr val="231F20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Não queremos associar Misofar ao aborto!</a:t>
            </a:r>
          </a:p>
        </p:txBody>
      </p:sp>
      <p:sp>
        <p:nvSpPr>
          <p:cNvPr id="5" name="Double Bracket 14">
            <a:extLst>
              <a:ext uri="{FF2B5EF4-FFF2-40B4-BE49-F238E27FC236}">
                <a16:creationId xmlns:a16="http://schemas.microsoft.com/office/drawing/2014/main" id="{70626CC6-B2F1-419D-A25D-CBA2AA615636}"/>
              </a:ext>
            </a:extLst>
          </p:cNvPr>
          <p:cNvSpPr/>
          <p:nvPr/>
        </p:nvSpPr>
        <p:spPr>
          <a:xfrm flipH="1" flipV="1">
            <a:off x="3819287" y="986322"/>
            <a:ext cx="457496" cy="457496"/>
          </a:xfrm>
          <a:custGeom>
            <a:avLst/>
            <a:gdLst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1258880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4" fmla="*/ 1878004 w 2381250"/>
              <a:gd name="connsiteY4" fmla="*/ 0 h 1762126"/>
              <a:gd name="connsiteX5" fmla="*/ 2381250 w 2381250"/>
              <a:gd name="connsiteY5" fmla="*/ 503246 h 1762126"/>
              <a:gd name="connsiteX6" fmla="*/ 2381250 w 2381250"/>
              <a:gd name="connsiteY6" fmla="*/ 1258880 h 1762126"/>
              <a:gd name="connsiteX7" fmla="*/ 1878004 w 2381250"/>
              <a:gd name="connsiteY7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7" fmla="*/ 503246 w 2381250"/>
              <a:gd name="connsiteY7" fmla="*/ 1762126 h 176212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878004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03246 w 2381250"/>
              <a:gd name="connsiteY6" fmla="*/ 1762126 h 1853566"/>
              <a:gd name="connsiteX7" fmla="*/ 0 w 2381250"/>
              <a:gd name="connsiteY7" fmla="*/ 1258880 h 1853566"/>
              <a:gd name="connsiteX8" fmla="*/ 0 w 2381250"/>
              <a:gd name="connsiteY8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209675 w 2381250"/>
              <a:gd name="connsiteY2" fmla="*/ 1 h 1853566"/>
              <a:gd name="connsiteX3" fmla="*/ 1878004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03246 w 2381250"/>
              <a:gd name="connsiteY7" fmla="*/ 1762126 h 1853566"/>
              <a:gd name="connsiteX8" fmla="*/ 0 w 2381250"/>
              <a:gd name="connsiteY8" fmla="*/ 1258880 h 1853566"/>
              <a:gd name="connsiteX9" fmla="*/ 0 w 2381250"/>
              <a:gd name="connsiteY9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9" fmla="*/ 1301115 w 2381250"/>
              <a:gd name="connsiteY9" fmla="*/ 91441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94686 w 2381250"/>
              <a:gd name="connsiteY7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0 w 2381250"/>
              <a:gd name="connsiteY1" fmla="*/ 503246 h 1853566"/>
              <a:gd name="connsiteX2" fmla="*/ 503246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94686 w 2381250"/>
              <a:gd name="connsiteY6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94686 w 2381250"/>
              <a:gd name="connsiteY5" fmla="*/ 1853566 h 185356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503246 w 2381250"/>
              <a:gd name="connsiteY4" fmla="*/ 1762126 h 1762126"/>
              <a:gd name="connsiteX5" fmla="*/ 0 w 2381250"/>
              <a:gd name="connsiteY5" fmla="*/ 1258880 h 1762126"/>
              <a:gd name="connsiteX6" fmla="*/ 0 w 2381250"/>
              <a:gd name="connsiteY6" fmla="*/ 503246 h 1762126"/>
              <a:gd name="connsiteX7" fmla="*/ 503246 w 2381250"/>
              <a:gd name="connsiteY7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1258880 h 1762126"/>
              <a:gd name="connsiteX5" fmla="*/ 0 w 2381250"/>
              <a:gd name="connsiteY5" fmla="*/ 503246 h 1762126"/>
              <a:gd name="connsiteX6" fmla="*/ 503246 w 2381250"/>
              <a:gd name="connsiteY6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503246 h 1762126"/>
              <a:gd name="connsiteX5" fmla="*/ 503246 w 2381250"/>
              <a:gd name="connsiteY5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0" fmla="*/ 1878004 w 1878004"/>
              <a:gd name="connsiteY0" fmla="*/ 1762126 h 1762126"/>
              <a:gd name="connsiteX1" fmla="*/ 0 w 1878004"/>
              <a:gd name="connsiteY1" fmla="*/ 503246 h 1762126"/>
              <a:gd name="connsiteX2" fmla="*/ 503246 w 1878004"/>
              <a:gd name="connsiteY2" fmla="*/ 0 h 1762126"/>
              <a:gd name="connsiteX0" fmla="*/ 0 w 1878004"/>
              <a:gd name="connsiteY0" fmla="*/ 503246 h 1762126"/>
              <a:gd name="connsiteX1" fmla="*/ 503246 w 1878004"/>
              <a:gd name="connsiteY1" fmla="*/ 0 h 1762126"/>
              <a:gd name="connsiteX0" fmla="*/ 0 w 503246"/>
              <a:gd name="connsiteY0" fmla="*/ 503246 h 503246"/>
              <a:gd name="connsiteX1" fmla="*/ 503246 w 503246"/>
              <a:gd name="connsiteY1" fmla="*/ 0 h 503246"/>
              <a:gd name="connsiteX0" fmla="*/ 0 w 503246"/>
              <a:gd name="connsiteY0" fmla="*/ 503246 h 503246"/>
              <a:gd name="connsiteX1" fmla="*/ 503246 w 503246"/>
              <a:gd name="connsiteY1" fmla="*/ 0 h 503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246" h="503246" stroke="0" extrusionOk="0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  <a:path w="503246" h="503246" fill="none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</a:pathLst>
          </a:custGeom>
          <a:noFill/>
          <a:ln w="25400" cap="rnd">
            <a:solidFill>
              <a:srgbClr val="C1007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>
              <a:solidFill>
                <a:schemeClr val="lt1"/>
              </a:solidFill>
            </a:endParaRPr>
          </a:p>
        </p:txBody>
      </p:sp>
      <p:pic>
        <p:nvPicPr>
          <p:cNvPr id="15" name="Picture 4" descr="Feto, Embrião, Gravidez png transparente grátis">
            <a:extLst>
              <a:ext uri="{FF2B5EF4-FFF2-40B4-BE49-F238E27FC236}">
                <a16:creationId xmlns:a16="http://schemas.microsoft.com/office/drawing/2014/main" id="{2E579172-A92F-46C0-9386-C2F3035DF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EEEEEE"/>
              </a:clrFrom>
              <a:clrTo>
                <a:srgbClr val="EEEEE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5203" y="2333470"/>
            <a:ext cx="3778576" cy="3358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F0C88DF-A184-47A5-89BB-17A1D1C40F60}"/>
              </a:ext>
            </a:extLst>
          </p:cNvPr>
          <p:cNvSpPr txBox="1"/>
          <p:nvPr/>
        </p:nvSpPr>
        <p:spPr>
          <a:xfrm>
            <a:off x="302337" y="4052910"/>
            <a:ext cx="7708902" cy="1123712"/>
          </a:xfrm>
          <a:prstGeom prst="roundRect">
            <a:avLst/>
          </a:prstGeom>
          <a:solidFill>
            <a:srgbClr val="CE687F"/>
          </a:solidFill>
        </p:spPr>
        <p:txBody>
          <a:bodyPr wrap="square">
            <a:spAutoFit/>
          </a:bodyPr>
          <a:lstStyle>
            <a:defPPr>
              <a:defRPr lang="pt-PT"/>
            </a:defPPr>
            <a:lvl1pPr>
              <a:defRPr b="1">
                <a:solidFill>
                  <a:schemeClr val="bg1"/>
                </a:solidFill>
                <a:latin typeface="Trebuchet MS" panose="020B0603020202020204" pitchFamily="34" charset="0"/>
                <a:ea typeface="ＭＳ Ｐゴシック" pitchFamily="34" charset="-128"/>
              </a:defRPr>
            </a:lvl1pPr>
          </a:lstStyle>
          <a:p>
            <a:r>
              <a:rPr lang="pt-PT" sz="2000" dirty="0"/>
              <a:t>A conhecida utilização de misoprostol para a realização da interrupção da gravidez </a:t>
            </a:r>
            <a:r>
              <a:rPr lang="pt-PT" sz="2000" dirty="0">
                <a:solidFill>
                  <a:schemeClr val="tx1"/>
                </a:solidFill>
              </a:rPr>
              <a:t>não consta do RCM de MISOFAR</a:t>
            </a:r>
            <a:r>
              <a:rPr lang="pt-PT" sz="2000" dirty="0"/>
              <a:t>, pelo que o produto </a:t>
            </a:r>
            <a:r>
              <a:rPr lang="pt-PT" sz="2000" dirty="0">
                <a:solidFill>
                  <a:schemeClr val="tx1"/>
                </a:solidFill>
              </a:rPr>
              <a:t>não pode ser promovido </a:t>
            </a:r>
            <a:r>
              <a:rPr lang="pt-PT" sz="2000" dirty="0"/>
              <a:t>nesta indicação.</a:t>
            </a:r>
          </a:p>
        </p:txBody>
      </p:sp>
    </p:spTree>
    <p:extLst>
      <p:ext uri="{BB962C8B-B14F-4D97-AF65-F5344CB8AC3E}">
        <p14:creationId xmlns:p14="http://schemas.microsoft.com/office/powerpoint/2010/main" val="2857250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07D0C1-0A34-4C77-B60B-9F8E6027FCF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49761" b="478"/>
          <a:stretch/>
        </p:blipFill>
        <p:spPr>
          <a:xfrm>
            <a:off x="0" y="0"/>
            <a:ext cx="12204700" cy="6858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2D33259-2A2D-49F0-8F71-37F879496F3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49760" b="479"/>
          <a:stretch/>
        </p:blipFill>
        <p:spPr>
          <a:xfrm>
            <a:off x="0" y="0"/>
            <a:ext cx="122047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203C33-1DAA-4EF4-8CEB-2EA5A35592AD}"/>
              </a:ext>
            </a:extLst>
          </p:cNvPr>
          <p:cNvSpPr txBox="1"/>
          <p:nvPr/>
        </p:nvSpPr>
        <p:spPr>
          <a:xfrm>
            <a:off x="553342" y="2380307"/>
            <a:ext cx="427663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600" b="1" dirty="0">
                <a:solidFill>
                  <a:srgbClr val="C10076"/>
                </a:solidFill>
                <a:latin typeface="Trebuchet MS" panose="020B0603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Questões?</a:t>
            </a:r>
          </a:p>
        </p:txBody>
      </p:sp>
      <p:sp>
        <p:nvSpPr>
          <p:cNvPr id="15" name="Double Bracket 14">
            <a:extLst>
              <a:ext uri="{FF2B5EF4-FFF2-40B4-BE49-F238E27FC236}">
                <a16:creationId xmlns:a16="http://schemas.microsoft.com/office/drawing/2014/main" id="{744BF6C5-98DA-4C73-A1E8-7F92E745F2E1}"/>
              </a:ext>
            </a:extLst>
          </p:cNvPr>
          <p:cNvSpPr/>
          <p:nvPr/>
        </p:nvSpPr>
        <p:spPr>
          <a:xfrm rot="10800000">
            <a:off x="4525509" y="3177713"/>
            <a:ext cx="608928" cy="608928"/>
          </a:xfrm>
          <a:custGeom>
            <a:avLst/>
            <a:gdLst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1258880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4" fmla="*/ 1878004 w 2381250"/>
              <a:gd name="connsiteY4" fmla="*/ 0 h 1762126"/>
              <a:gd name="connsiteX5" fmla="*/ 2381250 w 2381250"/>
              <a:gd name="connsiteY5" fmla="*/ 503246 h 1762126"/>
              <a:gd name="connsiteX6" fmla="*/ 2381250 w 2381250"/>
              <a:gd name="connsiteY6" fmla="*/ 1258880 h 1762126"/>
              <a:gd name="connsiteX7" fmla="*/ 1878004 w 2381250"/>
              <a:gd name="connsiteY7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1878004 w 2381250"/>
              <a:gd name="connsiteY2" fmla="*/ 0 h 1762126"/>
              <a:gd name="connsiteX3" fmla="*/ 2381250 w 2381250"/>
              <a:gd name="connsiteY3" fmla="*/ 503246 h 1762126"/>
              <a:gd name="connsiteX4" fmla="*/ 2381250 w 2381250"/>
              <a:gd name="connsiteY4" fmla="*/ 1258880 h 1762126"/>
              <a:gd name="connsiteX5" fmla="*/ 1878004 w 2381250"/>
              <a:gd name="connsiteY5" fmla="*/ 1762126 h 1762126"/>
              <a:gd name="connsiteX6" fmla="*/ 503246 w 2381250"/>
              <a:gd name="connsiteY6" fmla="*/ 1762126 h 1762126"/>
              <a:gd name="connsiteX7" fmla="*/ 0 w 2381250"/>
              <a:gd name="connsiteY7" fmla="*/ 1258880 h 1762126"/>
              <a:gd name="connsiteX8" fmla="*/ 0 w 2381250"/>
              <a:gd name="connsiteY8" fmla="*/ 503246 h 1762126"/>
              <a:gd name="connsiteX0" fmla="*/ 503246 w 2381250"/>
              <a:gd name="connsiteY0" fmla="*/ 1762126 h 1762126"/>
              <a:gd name="connsiteX1" fmla="*/ 0 w 2381250"/>
              <a:gd name="connsiteY1" fmla="*/ 503246 h 1762126"/>
              <a:gd name="connsiteX2" fmla="*/ 503246 w 2381250"/>
              <a:gd name="connsiteY2" fmla="*/ 0 h 1762126"/>
              <a:gd name="connsiteX3" fmla="*/ 1878004 w 2381250"/>
              <a:gd name="connsiteY3" fmla="*/ 0 h 1762126"/>
              <a:gd name="connsiteX4" fmla="*/ 2381250 w 2381250"/>
              <a:gd name="connsiteY4" fmla="*/ 503246 h 1762126"/>
              <a:gd name="connsiteX5" fmla="*/ 2381250 w 2381250"/>
              <a:gd name="connsiteY5" fmla="*/ 1258880 h 1762126"/>
              <a:gd name="connsiteX6" fmla="*/ 1878004 w 2381250"/>
              <a:gd name="connsiteY6" fmla="*/ 1762126 h 1762126"/>
              <a:gd name="connsiteX7" fmla="*/ 503246 w 2381250"/>
              <a:gd name="connsiteY7" fmla="*/ 1762126 h 176212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878004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03246 w 2381250"/>
              <a:gd name="connsiteY6" fmla="*/ 1762126 h 1853566"/>
              <a:gd name="connsiteX7" fmla="*/ 0 w 2381250"/>
              <a:gd name="connsiteY7" fmla="*/ 1258880 h 1853566"/>
              <a:gd name="connsiteX8" fmla="*/ 0 w 2381250"/>
              <a:gd name="connsiteY8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1209675 w 2381250"/>
              <a:gd name="connsiteY2" fmla="*/ 1 h 1853566"/>
              <a:gd name="connsiteX3" fmla="*/ 1878004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03246 w 2381250"/>
              <a:gd name="connsiteY7" fmla="*/ 1762126 h 1853566"/>
              <a:gd name="connsiteX8" fmla="*/ 0 w 2381250"/>
              <a:gd name="connsiteY8" fmla="*/ 1258880 h 1853566"/>
              <a:gd name="connsiteX9" fmla="*/ 0 w 2381250"/>
              <a:gd name="connsiteY9" fmla="*/ 503246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9" fmla="*/ 1301115 w 2381250"/>
              <a:gd name="connsiteY9" fmla="*/ 91441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209675 w 2381250"/>
              <a:gd name="connsiteY0" fmla="*/ 1 h 1853566"/>
              <a:gd name="connsiteX1" fmla="*/ 1878004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03246 w 2381250"/>
              <a:gd name="connsiteY5" fmla="*/ 1762126 h 1853566"/>
              <a:gd name="connsiteX6" fmla="*/ 0 w 2381250"/>
              <a:gd name="connsiteY6" fmla="*/ 1258880 h 1853566"/>
              <a:gd name="connsiteX7" fmla="*/ 0 w 2381250"/>
              <a:gd name="connsiteY7" fmla="*/ 503246 h 1853566"/>
              <a:gd name="connsiteX8" fmla="*/ 503246 w 2381250"/>
              <a:gd name="connsiteY8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1878004 w 2381250"/>
              <a:gd name="connsiteY4" fmla="*/ 0 h 1853566"/>
              <a:gd name="connsiteX5" fmla="*/ 2381250 w 2381250"/>
              <a:gd name="connsiteY5" fmla="*/ 503246 h 1853566"/>
              <a:gd name="connsiteX6" fmla="*/ 2381250 w 2381250"/>
              <a:gd name="connsiteY6" fmla="*/ 1258880 h 1853566"/>
              <a:gd name="connsiteX7" fmla="*/ 1878004 w 2381250"/>
              <a:gd name="connsiteY7" fmla="*/ 1762126 h 1853566"/>
              <a:gd name="connsiteX8" fmla="*/ 594686 w 2381250"/>
              <a:gd name="connsiteY8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1878004 w 2381250"/>
              <a:gd name="connsiteY1" fmla="*/ 0 h 1853566"/>
              <a:gd name="connsiteX2" fmla="*/ 0 w 2381250"/>
              <a:gd name="connsiteY2" fmla="*/ 503246 h 1853566"/>
              <a:gd name="connsiteX3" fmla="*/ 503246 w 2381250"/>
              <a:gd name="connsiteY3" fmla="*/ 0 h 1853566"/>
              <a:gd name="connsiteX4" fmla="*/ 2381250 w 2381250"/>
              <a:gd name="connsiteY4" fmla="*/ 503246 h 1853566"/>
              <a:gd name="connsiteX5" fmla="*/ 2381250 w 2381250"/>
              <a:gd name="connsiteY5" fmla="*/ 1258880 h 1853566"/>
              <a:gd name="connsiteX6" fmla="*/ 1878004 w 2381250"/>
              <a:gd name="connsiteY6" fmla="*/ 1762126 h 1853566"/>
              <a:gd name="connsiteX7" fmla="*/ 594686 w 2381250"/>
              <a:gd name="connsiteY7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503246 w 2381250"/>
              <a:gd name="connsiteY0" fmla="*/ 1762126 h 1853566"/>
              <a:gd name="connsiteX1" fmla="*/ 0 w 2381250"/>
              <a:gd name="connsiteY1" fmla="*/ 503246 h 1853566"/>
              <a:gd name="connsiteX2" fmla="*/ 503246 w 2381250"/>
              <a:gd name="connsiteY2" fmla="*/ 0 h 1853566"/>
              <a:gd name="connsiteX3" fmla="*/ 2381250 w 2381250"/>
              <a:gd name="connsiteY3" fmla="*/ 503246 h 1853566"/>
              <a:gd name="connsiteX4" fmla="*/ 2381250 w 2381250"/>
              <a:gd name="connsiteY4" fmla="*/ 1258880 h 1853566"/>
              <a:gd name="connsiteX5" fmla="*/ 1878004 w 2381250"/>
              <a:gd name="connsiteY5" fmla="*/ 1762126 h 1853566"/>
              <a:gd name="connsiteX6" fmla="*/ 594686 w 2381250"/>
              <a:gd name="connsiteY6" fmla="*/ 1853566 h 1853566"/>
              <a:gd name="connsiteX0" fmla="*/ 1878004 w 2381250"/>
              <a:gd name="connsiteY0" fmla="*/ 0 h 1853566"/>
              <a:gd name="connsiteX1" fmla="*/ 2381250 w 2381250"/>
              <a:gd name="connsiteY1" fmla="*/ 503246 h 1853566"/>
              <a:gd name="connsiteX2" fmla="*/ 2381250 w 2381250"/>
              <a:gd name="connsiteY2" fmla="*/ 1258880 h 1853566"/>
              <a:gd name="connsiteX3" fmla="*/ 1878004 w 2381250"/>
              <a:gd name="connsiteY3" fmla="*/ 1762126 h 1853566"/>
              <a:gd name="connsiteX4" fmla="*/ 503246 w 2381250"/>
              <a:gd name="connsiteY4" fmla="*/ 1762126 h 1853566"/>
              <a:gd name="connsiteX5" fmla="*/ 0 w 2381250"/>
              <a:gd name="connsiteY5" fmla="*/ 1258880 h 1853566"/>
              <a:gd name="connsiteX6" fmla="*/ 0 w 2381250"/>
              <a:gd name="connsiteY6" fmla="*/ 503246 h 1853566"/>
              <a:gd name="connsiteX7" fmla="*/ 503246 w 2381250"/>
              <a:gd name="connsiteY7" fmla="*/ 0 h 1853566"/>
              <a:gd name="connsiteX0" fmla="*/ 0 w 2381250"/>
              <a:gd name="connsiteY0" fmla="*/ 503246 h 1853566"/>
              <a:gd name="connsiteX1" fmla="*/ 503246 w 2381250"/>
              <a:gd name="connsiteY1" fmla="*/ 0 h 1853566"/>
              <a:gd name="connsiteX2" fmla="*/ 2381250 w 2381250"/>
              <a:gd name="connsiteY2" fmla="*/ 503246 h 1853566"/>
              <a:gd name="connsiteX3" fmla="*/ 2381250 w 2381250"/>
              <a:gd name="connsiteY3" fmla="*/ 1258880 h 1853566"/>
              <a:gd name="connsiteX4" fmla="*/ 1878004 w 2381250"/>
              <a:gd name="connsiteY4" fmla="*/ 1762126 h 1853566"/>
              <a:gd name="connsiteX5" fmla="*/ 594686 w 2381250"/>
              <a:gd name="connsiteY5" fmla="*/ 1853566 h 185356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503246 w 2381250"/>
              <a:gd name="connsiteY4" fmla="*/ 1762126 h 1762126"/>
              <a:gd name="connsiteX5" fmla="*/ 0 w 2381250"/>
              <a:gd name="connsiteY5" fmla="*/ 1258880 h 1762126"/>
              <a:gd name="connsiteX6" fmla="*/ 0 w 2381250"/>
              <a:gd name="connsiteY6" fmla="*/ 503246 h 1762126"/>
              <a:gd name="connsiteX7" fmla="*/ 503246 w 2381250"/>
              <a:gd name="connsiteY7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1258880 h 1762126"/>
              <a:gd name="connsiteX5" fmla="*/ 0 w 2381250"/>
              <a:gd name="connsiteY5" fmla="*/ 503246 h 1762126"/>
              <a:gd name="connsiteX6" fmla="*/ 503246 w 2381250"/>
              <a:gd name="connsiteY6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1878004 w 2381250"/>
              <a:gd name="connsiteY0" fmla="*/ 0 h 1762126"/>
              <a:gd name="connsiteX1" fmla="*/ 2381250 w 2381250"/>
              <a:gd name="connsiteY1" fmla="*/ 503246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4" fmla="*/ 0 w 2381250"/>
              <a:gd name="connsiteY4" fmla="*/ 503246 h 1762126"/>
              <a:gd name="connsiteX5" fmla="*/ 503246 w 2381250"/>
              <a:gd name="connsiteY5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503246 h 1762126"/>
              <a:gd name="connsiteX3" fmla="*/ 2381250 w 2381250"/>
              <a:gd name="connsiteY3" fmla="*/ 1258880 h 1762126"/>
              <a:gd name="connsiteX4" fmla="*/ 1878004 w 2381250"/>
              <a:gd name="connsiteY4" fmla="*/ 1762126 h 1762126"/>
              <a:gd name="connsiteX0" fmla="*/ 2381250 w 2381250"/>
              <a:gd name="connsiteY0" fmla="*/ 503246 h 1762126"/>
              <a:gd name="connsiteX1" fmla="*/ 2381250 w 2381250"/>
              <a:gd name="connsiteY1" fmla="*/ 1258880 h 1762126"/>
              <a:gd name="connsiteX2" fmla="*/ 1878004 w 2381250"/>
              <a:gd name="connsiteY2" fmla="*/ 1762126 h 1762126"/>
              <a:gd name="connsiteX3" fmla="*/ 0 w 2381250"/>
              <a:gd name="connsiteY3" fmla="*/ 503246 h 1762126"/>
              <a:gd name="connsiteX4" fmla="*/ 503246 w 2381250"/>
              <a:gd name="connsiteY4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2" fmla="*/ 2381250 w 2381250"/>
              <a:gd name="connsiteY2" fmla="*/ 1258880 h 1762126"/>
              <a:gd name="connsiteX3" fmla="*/ 1878004 w 2381250"/>
              <a:gd name="connsiteY3" fmla="*/ 1762126 h 1762126"/>
              <a:gd name="connsiteX0" fmla="*/ 2381250 w 2381250"/>
              <a:gd name="connsiteY0" fmla="*/ 1258880 h 1762126"/>
              <a:gd name="connsiteX1" fmla="*/ 1878004 w 2381250"/>
              <a:gd name="connsiteY1" fmla="*/ 1762126 h 1762126"/>
              <a:gd name="connsiteX2" fmla="*/ 0 w 2381250"/>
              <a:gd name="connsiteY2" fmla="*/ 503246 h 1762126"/>
              <a:gd name="connsiteX3" fmla="*/ 503246 w 2381250"/>
              <a:gd name="connsiteY3" fmla="*/ 0 h 1762126"/>
              <a:gd name="connsiteX0" fmla="*/ 0 w 2381250"/>
              <a:gd name="connsiteY0" fmla="*/ 503246 h 1762126"/>
              <a:gd name="connsiteX1" fmla="*/ 503246 w 2381250"/>
              <a:gd name="connsiteY1" fmla="*/ 0 h 1762126"/>
              <a:gd name="connsiteX0" fmla="*/ 1878004 w 1878004"/>
              <a:gd name="connsiteY0" fmla="*/ 1762126 h 1762126"/>
              <a:gd name="connsiteX1" fmla="*/ 0 w 1878004"/>
              <a:gd name="connsiteY1" fmla="*/ 503246 h 1762126"/>
              <a:gd name="connsiteX2" fmla="*/ 503246 w 1878004"/>
              <a:gd name="connsiteY2" fmla="*/ 0 h 1762126"/>
              <a:gd name="connsiteX0" fmla="*/ 0 w 1878004"/>
              <a:gd name="connsiteY0" fmla="*/ 503246 h 1762126"/>
              <a:gd name="connsiteX1" fmla="*/ 503246 w 1878004"/>
              <a:gd name="connsiteY1" fmla="*/ 0 h 1762126"/>
              <a:gd name="connsiteX0" fmla="*/ 0 w 503246"/>
              <a:gd name="connsiteY0" fmla="*/ 503246 h 503246"/>
              <a:gd name="connsiteX1" fmla="*/ 503246 w 503246"/>
              <a:gd name="connsiteY1" fmla="*/ 0 h 503246"/>
              <a:gd name="connsiteX0" fmla="*/ 0 w 503246"/>
              <a:gd name="connsiteY0" fmla="*/ 503246 h 503246"/>
              <a:gd name="connsiteX1" fmla="*/ 503246 w 503246"/>
              <a:gd name="connsiteY1" fmla="*/ 0 h 503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246" h="503246" stroke="0" extrusionOk="0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  <a:path w="503246" h="503246" fill="none">
                <a:moveTo>
                  <a:pt x="0" y="503246"/>
                </a:moveTo>
                <a:cubicBezTo>
                  <a:pt x="0" y="225311"/>
                  <a:pt x="225311" y="0"/>
                  <a:pt x="503246" y="0"/>
                </a:cubicBezTo>
              </a:path>
            </a:pathLst>
          </a:custGeom>
          <a:noFill/>
          <a:ln w="25400" cap="rnd">
            <a:solidFill>
              <a:srgbClr val="C1007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>
              <a:solidFill>
                <a:schemeClr val="lt1"/>
              </a:solidFill>
            </a:endParaRPr>
          </a:p>
        </p:txBody>
      </p:sp>
      <p:pic>
        <p:nvPicPr>
          <p:cNvPr id="10" name="portadillas.wav">
            <a:hlinkClick r:id="" action="ppaction://media"/>
            <a:extLst>
              <a:ext uri="{FF2B5EF4-FFF2-40B4-BE49-F238E27FC236}">
                <a16:creationId xmlns:a16="http://schemas.microsoft.com/office/drawing/2014/main" id="{FF9BCB12-1B97-460A-9E46-81F78A289EB9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15616" y="7101408"/>
            <a:ext cx="609600" cy="609600"/>
          </a:xfrm>
          <a:prstGeom prst="rect">
            <a:avLst/>
          </a:prstGeom>
        </p:spPr>
      </p:pic>
      <p:sp>
        <p:nvSpPr>
          <p:cNvPr id="11" name="2 Título">
            <a:extLst>
              <a:ext uri="{FF2B5EF4-FFF2-40B4-BE49-F238E27FC236}">
                <a16:creationId xmlns:a16="http://schemas.microsoft.com/office/drawing/2014/main" id="{7CCC63C0-D5F1-42AB-A3EA-682F83A448FB}"/>
              </a:ext>
            </a:extLst>
          </p:cNvPr>
          <p:cNvSpPr txBox="1">
            <a:spLocks/>
          </p:cNvSpPr>
          <p:nvPr/>
        </p:nvSpPr>
        <p:spPr>
          <a:xfrm>
            <a:off x="10537794" y="5986410"/>
            <a:ext cx="1587007" cy="6089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PT" sz="1600" dirty="0">
                <a:solidFill>
                  <a:srgbClr val="231F20"/>
                </a:solidFill>
                <a:latin typeface="Trebuchet MS" panose="020B0603020202020204" pitchFamily="34" charset="0"/>
              </a:rPr>
              <a:t>Angola</a:t>
            </a:r>
          </a:p>
          <a:p>
            <a:pPr algn="r"/>
            <a:r>
              <a:rPr lang="pt-PT" sz="1600" dirty="0">
                <a:solidFill>
                  <a:srgbClr val="231F20"/>
                </a:solidFill>
                <a:latin typeface="Trebuchet MS" panose="020B0603020202020204" pitchFamily="34" charset="0"/>
              </a:rPr>
              <a:t>Junho de 2022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F17FBA80-55A0-4C43-9CEB-60C3163217E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2280"/>
            <a:ext cx="1587007" cy="11219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89427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Bienvenida"/>
  <p:tag name="GENSWF_ADVANCE_TIME" val="12.00"/>
  <p:tag name="ISPRING_SLIDE_INDENT_LEVEL" val="0"/>
  <p:tag name="ISPRING_CUSTOM_TIMING_USED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1"/>
  <p:tag name="ISPRING_CUSTOM_TIMING_US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1"/>
  <p:tag name="ISPRING_CUSTOM_TIMING_USED" val="0"/>
  <p:tag name="ISPRING_SLIDE_BRANCHING_PROPERTIES" val="&lt;BranchingProperties&gt;&lt;nextAction&gt;&lt;action&gt;0&lt;/action&gt;&lt;/nextAction&gt;&lt;prevAction&gt;&lt;action&gt;1&lt;/action&gt;&lt;/prevAction&gt;&lt;lock&gt;0&lt;/lock&gt;&lt;/BranchingProperties&gt;&#10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1"/>
  <p:tag name="ISPRING_CUSTOM_TIMING_US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1"/>
  <p:tag name="ISPRING_CUSTOM_TIMING_US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1"/>
  <p:tag name="ISPRING_CUSTOM_TIMING_US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1"/>
  <p:tag name="ISPRING_CUSTOM_TIMING_USED" val="0"/>
  <p:tag name="ISPRING_SLIDE_BRANCHING_PROPERTIES" val="&lt;BranchingProperties&gt;&lt;nextAction&gt;&lt;action&gt;2&lt;/action&gt;&lt;slide&gt;627&lt;/slide&gt;&lt;/nextAction&gt;&lt;prevAction&gt;&lt;action&gt;0&lt;/action&gt;&lt;/prevAction&gt;&lt;lock&gt;0&lt;/lock&gt;&lt;/BranchingProperties&gt;&#10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1"/>
  <p:tag name="ISPRING_CUSTOM_TIMING_US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1"/>
  <p:tag name="ISPRING_CUSTOM_TIMING_US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1"/>
  <p:tag name="ISPRING_CUSTOM_TIMING_US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Bienvenida"/>
  <p:tag name="GENSWF_ADVANCE_TIME" val="12.00"/>
  <p:tag name="ISPRING_SLIDE_INDENT_LEVEL" val="0"/>
  <p:tag name="ISPRING_CUSTOM_TIMING_USED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7D792E8C4DA247BA13D3097A5B3651" ma:contentTypeVersion="19" ma:contentTypeDescription="Criar um novo documento." ma:contentTypeScope="" ma:versionID="feca8c51351b7dd2ebe379f83568fbca">
  <xsd:schema xmlns:xsd="http://www.w3.org/2001/XMLSchema" xmlns:xs="http://www.w3.org/2001/XMLSchema" xmlns:p="http://schemas.microsoft.com/office/2006/metadata/properties" xmlns:ns2="02969a41-4749-41bd-9c7b-d9741e2c579a" xmlns:ns3="89ea4605-a98c-4f8f-b4f4-c542867de630" targetNamespace="http://schemas.microsoft.com/office/2006/metadata/properties" ma:root="true" ma:fieldsID="df4199eb2ac8845ed51d786ca0c01ee1" ns2:_="" ns3:_="">
    <xsd:import namespace="02969a41-4749-41bd-9c7b-d9741e2c579a"/>
    <xsd:import namespace="89ea4605-a98c-4f8f-b4f4-c542867de6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969a41-4749-41bd-9c7b-d9741e2c57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m" ma:readOnly="false" ma:fieldId="{5cf76f15-5ced-4ddc-b409-7134ff3c332f}" ma:taxonomyMulti="true" ma:sspId="f0e915e2-2c61-4469-adf1-0bc69b39a5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ea4605-a98c-4f8f-b4f4-c542867de630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b6ae7d10-be01-4fdc-8ba2-d77ac22d0290}" ma:internalName="TaxCatchAll" ma:showField="CatchAllData" ma:web="89ea4605-a98c-4f8f-b4f4-c542867de63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3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9ea4605-a98c-4f8f-b4f4-c542867de630" xsi:nil="true"/>
    <lcf76f155ced4ddcb4097134ff3c332f xmlns="02969a41-4749-41bd-9c7b-d9741e2c579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07363E6-96C3-4B2A-82E4-B7410672F0F8}"/>
</file>

<file path=customXml/itemProps2.xml><?xml version="1.0" encoding="utf-8"?>
<ds:datastoreItem xmlns:ds="http://schemas.openxmlformats.org/officeDocument/2006/customXml" ds:itemID="{5B95943F-609D-4129-BA30-4BC462260E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30A1958-C9CE-41CE-A920-1603C56073F2}"/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2165</Words>
  <Application>Microsoft Office PowerPoint</Application>
  <PresentationFormat>Widescreen</PresentationFormat>
  <Paragraphs>325</Paragraphs>
  <Slides>33</Slides>
  <Notes>29</Notes>
  <HiddenSlides>5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Trebuchet MS</vt:lpstr>
      <vt:lpstr>Office Theme</vt:lpstr>
      <vt:lpstr>PowerPoint Presentation</vt:lpstr>
      <vt:lpstr>SISTEMA REPRODUTOR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Marta Pedroso</dc:creator>
  <cp:lastModifiedBy>Cláudia Meneses</cp:lastModifiedBy>
  <cp:revision>63</cp:revision>
  <dcterms:created xsi:type="dcterms:W3CDTF">2022-06-14T10:00:21Z</dcterms:created>
  <dcterms:modified xsi:type="dcterms:W3CDTF">2024-04-04T08:16:05Z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0x010100DF7D792E8C4DA247BA13D3097A5B3651</vt:lpwstr>
  </property>
  <property fmtid="{D5CDD505-2E9C-101B-9397-08002B2CF9AE}" pid="3" name="MediaServiceImageTags">
    <vt:lpwstr/>
  </property>
</Properties>
</file>