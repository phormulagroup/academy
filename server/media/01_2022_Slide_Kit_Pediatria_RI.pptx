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fntdata" ContentType="application/x-fontdata"/>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drawings/drawing1.xml" ContentType="application/vnd.openxmlformats-officedocument.drawingml.chartshapes+xml"/>
  <Override PartName="/ppt/slideMasters/slideMaster1.xml" ContentType="application/vnd.openxmlformats-officedocument.presentationml.slideMaster+xml"/>
  <Override PartName="/ppt/notesSlides/notesSlide47.xml" ContentType="application/vnd.openxmlformats-officedocument.presentationml.notesSlide+xml"/>
  <Override PartName="/ppt/notesSlides/notesSlide43.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3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theme/themeOverride1.xml" ContentType="application/vnd.openxmlformats-officedocument.themeOverride+xml"/>
  <Override PartName="/ppt/charts/chart13.xml" ContentType="application/vnd.openxmlformats-officedocument.drawingml.chart+xml"/>
  <Override PartName="/ppt/charts/chart14.xml" ContentType="application/vnd.openxmlformats-officedocument.drawingml.chart+xml"/>
  <Override PartName="/ppt/theme/themeOverride2.xml" ContentType="application/vnd.openxmlformats-officedocument.themeOverrid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19.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969" r:id="rId1"/>
  </p:sldMasterIdLst>
  <p:notesMasterIdLst>
    <p:notesMasterId r:id="rId56"/>
  </p:notesMasterIdLst>
  <p:handoutMasterIdLst>
    <p:handoutMasterId r:id="rId57"/>
  </p:handoutMasterIdLst>
  <p:sldIdLst>
    <p:sldId id="351" r:id="rId2"/>
    <p:sldId id="317" r:id="rId3"/>
    <p:sldId id="497" r:id="rId4"/>
    <p:sldId id="508" r:id="rId5"/>
    <p:sldId id="418" r:id="rId6"/>
    <p:sldId id="473" r:id="rId7"/>
    <p:sldId id="321" r:id="rId8"/>
    <p:sldId id="390" r:id="rId9"/>
    <p:sldId id="391" r:id="rId10"/>
    <p:sldId id="392" r:id="rId11"/>
    <p:sldId id="393" r:id="rId12"/>
    <p:sldId id="441" r:id="rId13"/>
    <p:sldId id="442" r:id="rId14"/>
    <p:sldId id="396" r:id="rId15"/>
    <p:sldId id="443" r:id="rId16"/>
    <p:sldId id="496" r:id="rId17"/>
    <p:sldId id="444" r:id="rId18"/>
    <p:sldId id="445" r:id="rId19"/>
    <p:sldId id="448" r:id="rId20"/>
    <p:sldId id="449" r:id="rId21"/>
    <p:sldId id="450" r:id="rId22"/>
    <p:sldId id="451" r:id="rId23"/>
    <p:sldId id="341" r:id="rId24"/>
    <p:sldId id="488" r:id="rId25"/>
    <p:sldId id="474" r:id="rId26"/>
    <p:sldId id="475" r:id="rId27"/>
    <p:sldId id="498" r:id="rId28"/>
    <p:sldId id="387" r:id="rId29"/>
    <p:sldId id="432" r:id="rId30"/>
    <p:sldId id="416" r:id="rId31"/>
    <p:sldId id="414" r:id="rId32"/>
    <p:sldId id="452" r:id="rId33"/>
    <p:sldId id="453" r:id="rId34"/>
    <p:sldId id="454" r:id="rId35"/>
    <p:sldId id="493" r:id="rId36"/>
    <p:sldId id="476" r:id="rId37"/>
    <p:sldId id="492" r:id="rId38"/>
    <p:sldId id="477" r:id="rId39"/>
    <p:sldId id="478" r:id="rId40"/>
    <p:sldId id="458" r:id="rId41"/>
    <p:sldId id="459" r:id="rId42"/>
    <p:sldId id="499" r:id="rId43"/>
    <p:sldId id="500" r:id="rId44"/>
    <p:sldId id="501" r:id="rId45"/>
    <p:sldId id="489" r:id="rId46"/>
    <p:sldId id="490" r:id="rId47"/>
    <p:sldId id="505" r:id="rId48"/>
    <p:sldId id="502" r:id="rId49"/>
    <p:sldId id="503" r:id="rId50"/>
    <p:sldId id="504" r:id="rId51"/>
    <p:sldId id="507" r:id="rId52"/>
    <p:sldId id="506" r:id="rId53"/>
    <p:sldId id="509" r:id="rId54"/>
    <p:sldId id="511" r:id="rId55"/>
  </p:sldIdLst>
  <p:sldSz cx="9144000" cy="6858000" type="screen4x3"/>
  <p:notesSz cx="9928225" cy="6797675"/>
  <p:embeddedFontLst>
    <p:embeddedFont>
      <p:font typeface="Calibri" panose="020F0502020204030204" pitchFamily="34" charset="0"/>
      <p:regular r:id="rId58"/>
      <p:bold r:id="rId59"/>
      <p:italic r:id="rId60"/>
      <p:boldItalic r:id="rId61"/>
    </p:embeddedFont>
    <p:embeddedFont>
      <p:font typeface="Microsoft Sans Serif" panose="020B0604020202020204" pitchFamily="34" charset="0"/>
      <p:regular r:id="rId62"/>
    </p:embeddedFont>
    <p:embeddedFont>
      <p:font typeface="Segoe UI" panose="020B0502040204020203" pitchFamily="34" charset="0"/>
      <p:regular r:id="rId63"/>
      <p:bold r:id="rId64"/>
      <p:italic r:id="rId65"/>
      <p:boldItalic r:id="rId66"/>
    </p:embeddedFont>
    <p:embeddedFont>
      <p:font typeface="Verdana" panose="020B0604030504040204" pitchFamily="34" charset="0"/>
      <p:regular r:id="rId67"/>
      <p:bold r:id="rId68"/>
      <p:italic r:id="rId69"/>
      <p:boldItalic r:id="rId70"/>
    </p:embeddedFont>
    <p:embeddedFont>
      <p:font typeface="Wingdings 3" panose="05040102010807070707" pitchFamily="18" charset="2"/>
      <p:regular r:id="rId71"/>
    </p:embeddedFont>
  </p:embeddedFontLst>
  <p:custDataLst>
    <p:tags r:id="rId72"/>
  </p:custDataLst>
  <p:defaultTextStyle>
    <a:defPPr>
      <a:defRPr lang="en-GB"/>
    </a:defPPr>
    <a:lvl1pPr algn="l" defTabSz="449263" rtl="0" eaLnBrk="0" fontAlgn="base" hangingPunct="0">
      <a:spcBef>
        <a:spcPct val="0"/>
      </a:spcBef>
      <a:spcAft>
        <a:spcPct val="0"/>
      </a:spcAft>
      <a:defRPr sz="3600" b="1" kern="1200">
        <a:solidFill>
          <a:srgbClr val="333399"/>
        </a:solidFill>
        <a:latin typeface="Calibri" pitchFamily="34" charset="0"/>
        <a:ea typeface="ＭＳ Ｐゴシック" pitchFamily="34" charset="-128"/>
        <a:cs typeface="+mn-cs"/>
      </a:defRPr>
    </a:lvl1pPr>
    <a:lvl2pPr marL="742950" indent="-285750" algn="l" defTabSz="449263" rtl="0" eaLnBrk="0" fontAlgn="base" hangingPunct="0">
      <a:spcBef>
        <a:spcPct val="0"/>
      </a:spcBef>
      <a:spcAft>
        <a:spcPct val="0"/>
      </a:spcAft>
      <a:defRPr sz="3600" b="1" kern="1200">
        <a:solidFill>
          <a:srgbClr val="333399"/>
        </a:solidFill>
        <a:latin typeface="Calibri" pitchFamily="34" charset="0"/>
        <a:ea typeface="ＭＳ Ｐゴシック" pitchFamily="34" charset="-128"/>
        <a:cs typeface="+mn-cs"/>
      </a:defRPr>
    </a:lvl2pPr>
    <a:lvl3pPr marL="1143000" indent="-228600" algn="l" defTabSz="449263" rtl="0" eaLnBrk="0" fontAlgn="base" hangingPunct="0">
      <a:spcBef>
        <a:spcPct val="0"/>
      </a:spcBef>
      <a:spcAft>
        <a:spcPct val="0"/>
      </a:spcAft>
      <a:defRPr sz="3600" b="1" kern="1200">
        <a:solidFill>
          <a:srgbClr val="333399"/>
        </a:solidFill>
        <a:latin typeface="Calibri" pitchFamily="34" charset="0"/>
        <a:ea typeface="ＭＳ Ｐゴシック" pitchFamily="34" charset="-128"/>
        <a:cs typeface="+mn-cs"/>
      </a:defRPr>
    </a:lvl3pPr>
    <a:lvl4pPr marL="1600200" indent="-228600" algn="l" defTabSz="449263" rtl="0" eaLnBrk="0" fontAlgn="base" hangingPunct="0">
      <a:spcBef>
        <a:spcPct val="0"/>
      </a:spcBef>
      <a:spcAft>
        <a:spcPct val="0"/>
      </a:spcAft>
      <a:defRPr sz="3600" b="1" kern="1200">
        <a:solidFill>
          <a:srgbClr val="333399"/>
        </a:solidFill>
        <a:latin typeface="Calibri" pitchFamily="34" charset="0"/>
        <a:ea typeface="ＭＳ Ｐゴシック" pitchFamily="34" charset="-128"/>
        <a:cs typeface="+mn-cs"/>
      </a:defRPr>
    </a:lvl4pPr>
    <a:lvl5pPr marL="2057400" indent="-228600" algn="l" defTabSz="449263" rtl="0" eaLnBrk="0" fontAlgn="base" hangingPunct="0">
      <a:spcBef>
        <a:spcPct val="0"/>
      </a:spcBef>
      <a:spcAft>
        <a:spcPct val="0"/>
      </a:spcAft>
      <a:defRPr sz="3600" b="1" kern="1200">
        <a:solidFill>
          <a:srgbClr val="333399"/>
        </a:solidFill>
        <a:latin typeface="Calibri" pitchFamily="34" charset="0"/>
        <a:ea typeface="ＭＳ Ｐゴシック" pitchFamily="34" charset="-128"/>
        <a:cs typeface="+mn-cs"/>
      </a:defRPr>
    </a:lvl5pPr>
    <a:lvl6pPr marL="2286000" algn="l" defTabSz="914400" rtl="0" eaLnBrk="1" latinLnBrk="0" hangingPunct="1">
      <a:defRPr sz="3600" b="1" kern="1200">
        <a:solidFill>
          <a:srgbClr val="333399"/>
        </a:solidFill>
        <a:latin typeface="Calibri" pitchFamily="34" charset="0"/>
        <a:ea typeface="ＭＳ Ｐゴシック" pitchFamily="34" charset="-128"/>
        <a:cs typeface="+mn-cs"/>
      </a:defRPr>
    </a:lvl6pPr>
    <a:lvl7pPr marL="2743200" algn="l" defTabSz="914400" rtl="0" eaLnBrk="1" latinLnBrk="0" hangingPunct="1">
      <a:defRPr sz="3600" b="1" kern="1200">
        <a:solidFill>
          <a:srgbClr val="333399"/>
        </a:solidFill>
        <a:latin typeface="Calibri" pitchFamily="34" charset="0"/>
        <a:ea typeface="ＭＳ Ｐゴシック" pitchFamily="34" charset="-128"/>
        <a:cs typeface="+mn-cs"/>
      </a:defRPr>
    </a:lvl7pPr>
    <a:lvl8pPr marL="3200400" algn="l" defTabSz="914400" rtl="0" eaLnBrk="1" latinLnBrk="0" hangingPunct="1">
      <a:defRPr sz="3600" b="1" kern="1200">
        <a:solidFill>
          <a:srgbClr val="333399"/>
        </a:solidFill>
        <a:latin typeface="Calibri" pitchFamily="34" charset="0"/>
        <a:ea typeface="ＭＳ Ｐゴシック" pitchFamily="34" charset="-128"/>
        <a:cs typeface="+mn-cs"/>
      </a:defRPr>
    </a:lvl8pPr>
    <a:lvl9pPr marL="3657600" algn="l" defTabSz="914400" rtl="0" eaLnBrk="1" latinLnBrk="0" hangingPunct="1">
      <a:defRPr sz="3600" b="1" kern="1200">
        <a:solidFill>
          <a:srgbClr val="333399"/>
        </a:solidFill>
        <a:latin typeface="Calibri"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355">
          <p15:clr>
            <a:srgbClr val="A4A3A4"/>
          </p15:clr>
        </p15:guide>
        <p15:guide id="2" pos="297">
          <p15:clr>
            <a:srgbClr val="A4A3A4"/>
          </p15:clr>
        </p15:guide>
      </p15:sldGuideLst>
    </p:ext>
    <p:ext uri="{2D200454-40CA-4A62-9FC3-DE9A4176ACB9}">
      <p15:notesGuideLst xmlns:p15="http://schemas.microsoft.com/office/powerpoint/2012/main">
        <p15:guide id="1" orient="horz" pos="1972">
          <p15:clr>
            <a:srgbClr val="A4A3A4"/>
          </p15:clr>
        </p15:guide>
        <p15:guide id="2" pos="315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a Yokochi" initials="AY" lastIdx="1" clrIdx="0">
    <p:extLst>
      <p:ext uri="{19B8F6BF-5375-455C-9EA6-DF929625EA0E}">
        <p15:presenceInfo xmlns:p15="http://schemas.microsoft.com/office/powerpoint/2012/main" userId="cf87b5d05c77f8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3C"/>
    <a:srgbClr val="53BC48"/>
    <a:srgbClr val="FFEFBD"/>
    <a:srgbClr val="034EA2"/>
    <a:srgbClr val="E8E8F6"/>
    <a:srgbClr val="333399"/>
    <a:srgbClr val="2D2DB9"/>
    <a:srgbClr val="FFDA3B"/>
    <a:srgbClr val="ECF1FB"/>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09" autoAdjust="0"/>
    <p:restoredTop sz="92597" autoAdjust="0"/>
  </p:normalViewPr>
  <p:slideViewPr>
    <p:cSldViewPr snapToGrid="0" showGuides="1">
      <p:cViewPr varScale="1">
        <p:scale>
          <a:sx n="58" d="100"/>
          <a:sy n="58" d="100"/>
        </p:scale>
        <p:origin x="1308" y="28"/>
      </p:cViewPr>
      <p:guideLst>
        <p:guide orient="horz" pos="355"/>
        <p:guide pos="297"/>
      </p:guideLst>
    </p:cSldViewPr>
  </p:slideViewPr>
  <p:outlineViewPr>
    <p:cViewPr varScale="1">
      <p:scale>
        <a:sx n="170" d="200"/>
        <a:sy n="170" d="200"/>
      </p:scale>
      <p:origin x="125" y="418"/>
    </p:cViewPr>
  </p:outlineViewPr>
  <p:notesTextViewPr>
    <p:cViewPr>
      <p:scale>
        <a:sx n="100" d="100"/>
        <a:sy n="100" d="100"/>
      </p:scale>
      <p:origin x="0" y="0"/>
    </p:cViewPr>
  </p:notesTextViewPr>
  <p:sorterViewPr>
    <p:cViewPr>
      <p:scale>
        <a:sx n="50" d="100"/>
        <a:sy n="50" d="100"/>
      </p:scale>
      <p:origin x="0" y="0"/>
    </p:cViewPr>
  </p:sorterViewPr>
  <p:notesViewPr>
    <p:cSldViewPr snapToGrid="0" showGuides="1">
      <p:cViewPr>
        <p:scale>
          <a:sx n="100" d="100"/>
          <a:sy n="100" d="100"/>
        </p:scale>
        <p:origin x="-806" y="518"/>
      </p:cViewPr>
      <p:guideLst>
        <p:guide orient="horz" pos="1972"/>
        <p:guide pos="3156"/>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font" Target="fonts/font11.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74" Type="http://schemas.openxmlformats.org/officeDocument/2006/relationships/presProps" Target="presProps.xml"/><Relationship Id="rId79"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font" Target="fonts/font7.fntdata"/><Relationship Id="rId69" Type="http://schemas.openxmlformats.org/officeDocument/2006/relationships/font" Target="fonts/font12.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gs" Target="tags/tag1.xml"/><Relationship Id="rId80"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font" Target="fonts/font13.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73" Type="http://schemas.openxmlformats.org/officeDocument/2006/relationships/commentAuthors" Target="commentAuthors.xml"/><Relationship Id="rId78"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14.fntdata"/><Relationship Id="rId2" Type="http://schemas.openxmlformats.org/officeDocument/2006/relationships/slide" Target="slides/slide1.xml"/><Relationship Id="rId29"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2" Type="http://schemas.openxmlformats.org/officeDocument/2006/relationships/package" Target="../embeddings/Microsoft_Excel_Worksheet11.xlsx"/><Relationship Id="rId1" Type="http://schemas.openxmlformats.org/officeDocument/2006/relationships/themeOverride" Target="../theme/themeOverride1.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2" Type="http://schemas.openxmlformats.org/officeDocument/2006/relationships/package" Target="../embeddings/Microsoft_Excel_Worksheet13.xlsx"/><Relationship Id="rId1" Type="http://schemas.openxmlformats.org/officeDocument/2006/relationships/themeOverride" Target="../theme/themeOverride2.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NULL" TargetMode="External"/></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Hoja1!$A$2:$A$3</c:f>
              <c:strCache>
                <c:ptCount val="2"/>
                <c:pt idx="0">
                  <c:v>28 dias</c:v>
                </c:pt>
                <c:pt idx="1">
                  <c:v>42 dias</c:v>
                </c:pt>
              </c:strCache>
            </c:strRef>
          </c:cat>
          <c:val>
            <c:numRef>
              <c:f>Hoja1!$B$2:$B$3</c:f>
              <c:numCache>
                <c:formatCode>General</c:formatCode>
                <c:ptCount val="2"/>
                <c:pt idx="0">
                  <c:v>-2.5</c:v>
                </c:pt>
                <c:pt idx="1">
                  <c:v>-2.7</c:v>
                </c:pt>
              </c:numCache>
            </c:numRef>
          </c:val>
          <c:extLst>
            <c:ext xmlns:c16="http://schemas.microsoft.com/office/drawing/2014/chart" uri="{C3380CC4-5D6E-409C-BE32-E72D297353CC}">
              <c16:uniqueId val="{00000000-D571-4B4F-921D-2DB805D037B5}"/>
            </c:ext>
          </c:extLst>
        </c:ser>
        <c:ser>
          <c:idx val="1"/>
          <c:order val="1"/>
          <c:tx>
            <c:strRef>
              <c:f>Hoja1!$C$1</c:f>
              <c:strCache>
                <c:ptCount val="1"/>
                <c:pt idx="0">
                  <c:v>Rupatadina</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Hoja1!$A$2:$A$3</c:f>
              <c:strCache>
                <c:ptCount val="2"/>
                <c:pt idx="0">
                  <c:v>28 dias</c:v>
                </c:pt>
                <c:pt idx="1">
                  <c:v>42 dias</c:v>
                </c:pt>
              </c:strCache>
            </c:strRef>
          </c:cat>
          <c:val>
            <c:numRef>
              <c:f>Hoja1!$C$2:$C$3</c:f>
              <c:numCache>
                <c:formatCode>General</c:formatCode>
                <c:ptCount val="2"/>
                <c:pt idx="0">
                  <c:v>-3.1</c:v>
                </c:pt>
                <c:pt idx="1">
                  <c:v>-3.3</c:v>
                </c:pt>
              </c:numCache>
            </c:numRef>
          </c:val>
          <c:extLst>
            <c:ext xmlns:c16="http://schemas.microsoft.com/office/drawing/2014/chart" uri="{C3380CC4-5D6E-409C-BE32-E72D297353CC}">
              <c16:uniqueId val="{00000001-D571-4B4F-921D-2DB805D037B5}"/>
            </c:ext>
          </c:extLst>
        </c:ser>
        <c:dLbls>
          <c:showLegendKey val="0"/>
          <c:showVal val="0"/>
          <c:showCatName val="0"/>
          <c:showSerName val="0"/>
          <c:showPercent val="0"/>
          <c:showBubbleSize val="0"/>
        </c:dLbls>
        <c:gapWidth val="150"/>
        <c:axId val="388954240"/>
        <c:axId val="388954632"/>
      </c:barChart>
      <c:catAx>
        <c:axId val="388954240"/>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400">
                <a:solidFill>
                  <a:schemeClr val="accent2">
                    <a:lumMod val="50000"/>
                  </a:schemeClr>
                </a:solidFill>
              </a:defRPr>
            </a:pPr>
            <a:endParaRPr lang="pt-PT"/>
          </a:p>
        </c:txPr>
        <c:crossAx val="388954632"/>
        <c:crosses val="autoZero"/>
        <c:auto val="0"/>
        <c:lblAlgn val="ctr"/>
        <c:lblOffset val="0"/>
        <c:tickLblSkip val="1"/>
        <c:noMultiLvlLbl val="0"/>
      </c:catAx>
      <c:valAx>
        <c:axId val="388954632"/>
        <c:scaling>
          <c:orientation val="minMax"/>
        </c:scaling>
        <c:delete val="0"/>
        <c:axPos val="l"/>
        <c:numFmt formatCode="General" sourceLinked="1"/>
        <c:majorTickMark val="out"/>
        <c:minorTickMark val="none"/>
        <c:tickLblPos val="nextTo"/>
        <c:spPr>
          <a:ln>
            <a:solidFill>
              <a:schemeClr val="accent1"/>
            </a:solidFill>
          </a:ln>
        </c:spPr>
        <c:txPr>
          <a:bodyPr/>
          <a:lstStyle/>
          <a:p>
            <a:pPr>
              <a:defRPr sz="1200">
                <a:solidFill>
                  <a:schemeClr val="accent2">
                    <a:lumMod val="50000"/>
                  </a:schemeClr>
                </a:solidFill>
              </a:defRPr>
            </a:pPr>
            <a:endParaRPr lang="pt-PT"/>
          </a:p>
        </c:txPr>
        <c:crossAx val="388954240"/>
        <c:crosses val="autoZero"/>
        <c:crossBetween val="between"/>
      </c:valAx>
      <c:spPr>
        <a:ln>
          <a:noFill/>
        </a:ln>
      </c:spPr>
    </c:plotArea>
    <c:legend>
      <c:legendPos val="r"/>
      <c:overlay val="0"/>
      <c:txPr>
        <a:bodyPr/>
        <a:lstStyle/>
        <a:p>
          <a:pPr>
            <a:defRPr sz="14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Hoja1!$A$2:$A$3</c:f>
              <c:strCache>
                <c:ptCount val="2"/>
                <c:pt idx="0">
                  <c:v>28 dias</c:v>
                </c:pt>
                <c:pt idx="1">
                  <c:v>42 dias</c:v>
                </c:pt>
              </c:strCache>
            </c:strRef>
          </c:cat>
          <c:val>
            <c:numRef>
              <c:f>Hoja1!$B$2:$B$3</c:f>
              <c:numCache>
                <c:formatCode>General</c:formatCode>
                <c:ptCount val="2"/>
                <c:pt idx="0">
                  <c:v>-2.8</c:v>
                </c:pt>
                <c:pt idx="1">
                  <c:v>-3.1</c:v>
                </c:pt>
              </c:numCache>
            </c:numRef>
          </c:val>
          <c:extLst>
            <c:ext xmlns:c16="http://schemas.microsoft.com/office/drawing/2014/chart" uri="{C3380CC4-5D6E-409C-BE32-E72D297353CC}">
              <c16:uniqueId val="{00000000-6ACF-4676-B864-4D1F7C20F83D}"/>
            </c:ext>
          </c:extLst>
        </c:ser>
        <c:ser>
          <c:idx val="1"/>
          <c:order val="1"/>
          <c:tx>
            <c:strRef>
              <c:f>Hoja1!$C$1</c:f>
              <c:strCache>
                <c:ptCount val="1"/>
                <c:pt idx="0">
                  <c:v>Rupatadina</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Hoja1!$A$2:$A$3</c:f>
              <c:strCache>
                <c:ptCount val="2"/>
                <c:pt idx="0">
                  <c:v>28 dias</c:v>
                </c:pt>
                <c:pt idx="1">
                  <c:v>42 dias</c:v>
                </c:pt>
              </c:strCache>
            </c:strRef>
          </c:cat>
          <c:val>
            <c:numRef>
              <c:f>Hoja1!$C$2:$C$3</c:f>
              <c:numCache>
                <c:formatCode>General</c:formatCode>
                <c:ptCount val="2"/>
                <c:pt idx="0">
                  <c:v>-3.5</c:v>
                </c:pt>
                <c:pt idx="1">
                  <c:v>-3.8</c:v>
                </c:pt>
              </c:numCache>
            </c:numRef>
          </c:val>
          <c:extLst>
            <c:ext xmlns:c16="http://schemas.microsoft.com/office/drawing/2014/chart" uri="{C3380CC4-5D6E-409C-BE32-E72D297353CC}">
              <c16:uniqueId val="{00000001-6ACF-4676-B864-4D1F7C20F83D}"/>
            </c:ext>
          </c:extLst>
        </c:ser>
        <c:dLbls>
          <c:showLegendKey val="0"/>
          <c:showVal val="0"/>
          <c:showCatName val="0"/>
          <c:showSerName val="0"/>
          <c:showPercent val="0"/>
          <c:showBubbleSize val="0"/>
        </c:dLbls>
        <c:gapWidth val="150"/>
        <c:axId val="388948752"/>
        <c:axId val="388950712"/>
      </c:barChart>
      <c:catAx>
        <c:axId val="388948752"/>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400">
                <a:solidFill>
                  <a:srgbClr val="333399"/>
                </a:solidFill>
              </a:defRPr>
            </a:pPr>
            <a:endParaRPr lang="pt-PT"/>
          </a:p>
        </c:txPr>
        <c:crossAx val="388950712"/>
        <c:crosses val="autoZero"/>
        <c:auto val="0"/>
        <c:lblAlgn val="ctr"/>
        <c:lblOffset val="0"/>
        <c:tickLblSkip val="1"/>
        <c:noMultiLvlLbl val="0"/>
      </c:catAx>
      <c:valAx>
        <c:axId val="388950712"/>
        <c:scaling>
          <c:orientation val="minMax"/>
        </c:scaling>
        <c:delete val="0"/>
        <c:axPos val="l"/>
        <c:numFmt formatCode="General" sourceLinked="1"/>
        <c:majorTickMark val="out"/>
        <c:minorTickMark val="none"/>
        <c:tickLblPos val="nextTo"/>
        <c:spPr>
          <a:ln>
            <a:solidFill>
              <a:schemeClr val="accent1"/>
            </a:solidFill>
          </a:ln>
        </c:spPr>
        <c:txPr>
          <a:bodyPr/>
          <a:lstStyle/>
          <a:p>
            <a:pPr>
              <a:defRPr sz="1200">
                <a:solidFill>
                  <a:schemeClr val="accent2">
                    <a:lumMod val="50000"/>
                  </a:schemeClr>
                </a:solidFill>
              </a:defRPr>
            </a:pPr>
            <a:endParaRPr lang="pt-PT"/>
          </a:p>
        </c:txPr>
        <c:crossAx val="388948752"/>
        <c:crosses val="autoZero"/>
        <c:crossBetween val="between"/>
      </c:valAx>
      <c:spPr>
        <a:ln>
          <a:noFill/>
        </a:ln>
      </c:spPr>
    </c:plotArea>
    <c:legend>
      <c:legendPos val="r"/>
      <c:overlay val="0"/>
      <c:txPr>
        <a:bodyPr/>
        <a:lstStyle/>
        <a:p>
          <a:pPr>
            <a:defRPr sz="14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Hoja1!$A$2:$A$6</c:f>
              <c:strCache>
                <c:ptCount val="5"/>
                <c:pt idx="0">
                  <c:v>Nasal congestion</c:v>
                </c:pt>
                <c:pt idx="1">
                  <c:v>Sneezing</c:v>
                </c:pt>
                <c:pt idx="2">
                  <c:v>Runny nose</c:v>
                </c:pt>
                <c:pt idx="3">
                  <c:v>Itchy nose, mouth, throat and/or ears</c:v>
                </c:pt>
                <c:pt idx="4">
                  <c:v>Itchy, watery and red eyes</c:v>
                </c:pt>
              </c:strCache>
            </c:strRef>
          </c:cat>
          <c:val>
            <c:numRef>
              <c:f>Hoja1!$B$2:$B$6</c:f>
              <c:numCache>
                <c:formatCode>General</c:formatCode>
                <c:ptCount val="5"/>
                <c:pt idx="0">
                  <c:v>-0.1</c:v>
                </c:pt>
                <c:pt idx="1">
                  <c:v>-0.8</c:v>
                </c:pt>
                <c:pt idx="2">
                  <c:v>-0.9</c:v>
                </c:pt>
                <c:pt idx="3">
                  <c:v>-0.9</c:v>
                </c:pt>
                <c:pt idx="4">
                  <c:v>-0.4</c:v>
                </c:pt>
              </c:numCache>
            </c:numRef>
          </c:val>
          <c:extLst>
            <c:ext xmlns:c16="http://schemas.microsoft.com/office/drawing/2014/chart" uri="{C3380CC4-5D6E-409C-BE32-E72D297353CC}">
              <c16:uniqueId val="{00000000-F006-4482-B663-F3D62D5248E3}"/>
            </c:ext>
          </c:extLst>
        </c:ser>
        <c:ser>
          <c:idx val="1"/>
          <c:order val="1"/>
          <c:tx>
            <c:strRef>
              <c:f>Hoja1!$C$1</c:f>
              <c:strCache>
                <c:ptCount val="1"/>
                <c:pt idx="0">
                  <c:v>Rupatadine</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Hoja1!$A$2:$A$6</c:f>
              <c:strCache>
                <c:ptCount val="5"/>
                <c:pt idx="0">
                  <c:v>Nasal congestion</c:v>
                </c:pt>
                <c:pt idx="1">
                  <c:v>Sneezing</c:v>
                </c:pt>
                <c:pt idx="2">
                  <c:v>Runny nose</c:v>
                </c:pt>
                <c:pt idx="3">
                  <c:v>Itchy nose, mouth, throat and/or ears</c:v>
                </c:pt>
                <c:pt idx="4">
                  <c:v>Itchy, watery and red eyes</c:v>
                </c:pt>
              </c:strCache>
            </c:strRef>
          </c:cat>
          <c:val>
            <c:numRef>
              <c:f>Hoja1!$C$2:$C$6</c:f>
              <c:numCache>
                <c:formatCode>General</c:formatCode>
                <c:ptCount val="5"/>
                <c:pt idx="0">
                  <c:v>-0.2</c:v>
                </c:pt>
                <c:pt idx="1">
                  <c:v>-1.1000000000000001</c:v>
                </c:pt>
                <c:pt idx="2">
                  <c:v>-1</c:v>
                </c:pt>
                <c:pt idx="3">
                  <c:v>-1</c:v>
                </c:pt>
                <c:pt idx="4">
                  <c:v>-0.5</c:v>
                </c:pt>
              </c:numCache>
            </c:numRef>
          </c:val>
          <c:extLst>
            <c:ext xmlns:c16="http://schemas.microsoft.com/office/drawing/2014/chart" uri="{C3380CC4-5D6E-409C-BE32-E72D297353CC}">
              <c16:uniqueId val="{00000001-F006-4482-B663-F3D62D5248E3}"/>
            </c:ext>
          </c:extLst>
        </c:ser>
        <c:dLbls>
          <c:showLegendKey val="0"/>
          <c:showVal val="0"/>
          <c:showCatName val="0"/>
          <c:showSerName val="0"/>
          <c:showPercent val="0"/>
          <c:showBubbleSize val="0"/>
        </c:dLbls>
        <c:gapWidth val="150"/>
        <c:axId val="388951888"/>
        <c:axId val="388951496"/>
      </c:barChart>
      <c:catAx>
        <c:axId val="388951888"/>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100">
                <a:solidFill>
                  <a:srgbClr val="00703C"/>
                </a:solidFill>
              </a:defRPr>
            </a:pPr>
            <a:endParaRPr lang="pt-PT"/>
          </a:p>
        </c:txPr>
        <c:crossAx val="388951496"/>
        <c:crosses val="autoZero"/>
        <c:auto val="0"/>
        <c:lblAlgn val="ctr"/>
        <c:lblOffset val="0"/>
        <c:tickLblSkip val="1"/>
        <c:noMultiLvlLbl val="0"/>
      </c:catAx>
      <c:valAx>
        <c:axId val="388951496"/>
        <c:scaling>
          <c:orientation val="minMax"/>
        </c:scaling>
        <c:delete val="0"/>
        <c:axPos val="l"/>
        <c:numFmt formatCode="General" sourceLinked="1"/>
        <c:majorTickMark val="out"/>
        <c:minorTickMark val="none"/>
        <c:tickLblPos val="nextTo"/>
        <c:spPr>
          <a:ln>
            <a:solidFill>
              <a:schemeClr val="accent1"/>
            </a:solidFill>
          </a:ln>
        </c:spPr>
        <c:txPr>
          <a:bodyPr/>
          <a:lstStyle/>
          <a:p>
            <a:pPr>
              <a:defRPr sz="1100">
                <a:solidFill>
                  <a:srgbClr val="00703C"/>
                </a:solidFill>
              </a:defRPr>
            </a:pPr>
            <a:endParaRPr lang="pt-PT"/>
          </a:p>
        </c:txPr>
        <c:crossAx val="388951888"/>
        <c:crosses val="autoZero"/>
        <c:crossBetween val="between"/>
      </c:valAx>
      <c:spPr>
        <a:ln>
          <a:noFill/>
        </a:ln>
      </c:spPr>
    </c:plotArea>
    <c:legend>
      <c:legendPos val="b"/>
      <c:overlay val="0"/>
      <c:txPr>
        <a:bodyPr/>
        <a:lstStyle/>
        <a:p>
          <a:pPr>
            <a:defRPr sz="1100">
              <a:solidFill>
                <a:srgbClr val="00703C"/>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Hoja1!$A$2:$A$6</c:f>
              <c:strCache>
                <c:ptCount val="5"/>
                <c:pt idx="0">
                  <c:v>Nasal congestion</c:v>
                </c:pt>
                <c:pt idx="1">
                  <c:v>Sneezing</c:v>
                </c:pt>
                <c:pt idx="2">
                  <c:v>Runny nose</c:v>
                </c:pt>
                <c:pt idx="3">
                  <c:v>Itchy nose, mouth, throat and/or ears</c:v>
                </c:pt>
                <c:pt idx="4">
                  <c:v>Itchy, watery and red eyes</c:v>
                </c:pt>
              </c:strCache>
            </c:strRef>
          </c:cat>
          <c:val>
            <c:numRef>
              <c:f>Hoja1!$B$2:$B$6</c:f>
              <c:numCache>
                <c:formatCode>General</c:formatCode>
                <c:ptCount val="5"/>
                <c:pt idx="0">
                  <c:v>0</c:v>
                </c:pt>
                <c:pt idx="1">
                  <c:v>-0.70000000000000062</c:v>
                </c:pt>
                <c:pt idx="2">
                  <c:v>-0.9</c:v>
                </c:pt>
                <c:pt idx="3">
                  <c:v>-0.9</c:v>
                </c:pt>
                <c:pt idx="4">
                  <c:v>-0.4</c:v>
                </c:pt>
              </c:numCache>
            </c:numRef>
          </c:val>
          <c:extLst>
            <c:ext xmlns:c16="http://schemas.microsoft.com/office/drawing/2014/chart" uri="{C3380CC4-5D6E-409C-BE32-E72D297353CC}">
              <c16:uniqueId val="{00000000-08E4-499C-B67F-059EBDA5C601}"/>
            </c:ext>
          </c:extLst>
        </c:ser>
        <c:ser>
          <c:idx val="1"/>
          <c:order val="1"/>
          <c:tx>
            <c:strRef>
              <c:f>Hoja1!$C$1</c:f>
              <c:strCache>
                <c:ptCount val="1"/>
                <c:pt idx="0">
                  <c:v>Rupatadine</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Hoja1!$A$2:$A$6</c:f>
              <c:strCache>
                <c:ptCount val="5"/>
                <c:pt idx="0">
                  <c:v>Nasal congestion</c:v>
                </c:pt>
                <c:pt idx="1">
                  <c:v>Sneezing</c:v>
                </c:pt>
                <c:pt idx="2">
                  <c:v>Runny nose</c:v>
                </c:pt>
                <c:pt idx="3">
                  <c:v>Itchy nose, mouth, throat and/or ears</c:v>
                </c:pt>
                <c:pt idx="4">
                  <c:v>Itchy, watery and red eyes</c:v>
                </c:pt>
              </c:strCache>
            </c:strRef>
          </c:cat>
          <c:val>
            <c:numRef>
              <c:f>Hoja1!$C$2:$C$6</c:f>
              <c:numCache>
                <c:formatCode>General</c:formatCode>
                <c:ptCount val="5"/>
                <c:pt idx="0">
                  <c:v>-0.2</c:v>
                </c:pt>
                <c:pt idx="1">
                  <c:v>-1.1000000000000001</c:v>
                </c:pt>
                <c:pt idx="2">
                  <c:v>-1</c:v>
                </c:pt>
                <c:pt idx="3">
                  <c:v>-1</c:v>
                </c:pt>
                <c:pt idx="4">
                  <c:v>-0.60000000000000064</c:v>
                </c:pt>
              </c:numCache>
            </c:numRef>
          </c:val>
          <c:extLst>
            <c:ext xmlns:c16="http://schemas.microsoft.com/office/drawing/2014/chart" uri="{C3380CC4-5D6E-409C-BE32-E72D297353CC}">
              <c16:uniqueId val="{00000001-08E4-499C-B67F-059EBDA5C601}"/>
            </c:ext>
          </c:extLst>
        </c:ser>
        <c:dLbls>
          <c:showLegendKey val="0"/>
          <c:showVal val="0"/>
          <c:showCatName val="0"/>
          <c:showSerName val="0"/>
          <c:showPercent val="0"/>
          <c:showBubbleSize val="0"/>
        </c:dLbls>
        <c:gapWidth val="150"/>
        <c:axId val="388953064"/>
        <c:axId val="388953456"/>
      </c:barChart>
      <c:catAx>
        <c:axId val="388953064"/>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100">
                <a:solidFill>
                  <a:srgbClr val="00703C"/>
                </a:solidFill>
              </a:defRPr>
            </a:pPr>
            <a:endParaRPr lang="pt-PT"/>
          </a:p>
        </c:txPr>
        <c:crossAx val="388953456"/>
        <c:crosses val="autoZero"/>
        <c:auto val="0"/>
        <c:lblAlgn val="ctr"/>
        <c:lblOffset val="0"/>
        <c:tickLblSkip val="1"/>
        <c:noMultiLvlLbl val="0"/>
      </c:catAx>
      <c:valAx>
        <c:axId val="388953456"/>
        <c:scaling>
          <c:orientation val="minMax"/>
        </c:scaling>
        <c:delete val="0"/>
        <c:axPos val="l"/>
        <c:numFmt formatCode="General" sourceLinked="1"/>
        <c:majorTickMark val="out"/>
        <c:minorTickMark val="none"/>
        <c:tickLblPos val="nextTo"/>
        <c:spPr>
          <a:ln>
            <a:solidFill>
              <a:schemeClr val="accent1"/>
            </a:solidFill>
          </a:ln>
        </c:spPr>
        <c:txPr>
          <a:bodyPr/>
          <a:lstStyle/>
          <a:p>
            <a:pPr>
              <a:defRPr sz="1100">
                <a:solidFill>
                  <a:srgbClr val="00703C"/>
                </a:solidFill>
              </a:defRPr>
            </a:pPr>
            <a:endParaRPr lang="pt-PT"/>
          </a:p>
        </c:txPr>
        <c:crossAx val="388953064"/>
        <c:crosses val="autoZero"/>
        <c:crossBetween val="between"/>
      </c:valAx>
      <c:spPr>
        <a:ln>
          <a:noFill/>
        </a:ln>
      </c:spPr>
    </c:plotArea>
    <c:legend>
      <c:legendPos val="b"/>
      <c:overlay val="0"/>
      <c:txPr>
        <a:bodyPr/>
        <a:lstStyle/>
        <a:p>
          <a:pPr>
            <a:defRPr sz="1100">
              <a:solidFill>
                <a:srgbClr val="00703C"/>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Hoja1!$A$2:$A$3</c:f>
              <c:strCache>
                <c:ptCount val="2"/>
                <c:pt idx="0">
                  <c:v>4 weeks</c:v>
                </c:pt>
                <c:pt idx="1">
                  <c:v>6 weeks</c:v>
                </c:pt>
              </c:strCache>
            </c:strRef>
          </c:cat>
          <c:val>
            <c:numRef>
              <c:f>Hoja1!$B$2:$B$3</c:f>
              <c:numCache>
                <c:formatCode>General</c:formatCode>
                <c:ptCount val="2"/>
                <c:pt idx="0">
                  <c:v>-2.4</c:v>
                </c:pt>
                <c:pt idx="1">
                  <c:v>-2.6</c:v>
                </c:pt>
              </c:numCache>
            </c:numRef>
          </c:val>
          <c:extLst>
            <c:ext xmlns:c16="http://schemas.microsoft.com/office/drawing/2014/chart" uri="{C3380CC4-5D6E-409C-BE32-E72D297353CC}">
              <c16:uniqueId val="{00000000-D61A-4A36-87D9-5C98C18181DB}"/>
            </c:ext>
          </c:extLst>
        </c:ser>
        <c:ser>
          <c:idx val="1"/>
          <c:order val="1"/>
          <c:tx>
            <c:strRef>
              <c:f>Hoja1!$C$1</c:f>
              <c:strCache>
                <c:ptCount val="1"/>
                <c:pt idx="0">
                  <c:v>Rupatadine</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Hoja1!$A$2:$A$3</c:f>
              <c:strCache>
                <c:ptCount val="2"/>
                <c:pt idx="0">
                  <c:v>4 weeks</c:v>
                </c:pt>
                <c:pt idx="1">
                  <c:v>6 weeks</c:v>
                </c:pt>
              </c:strCache>
            </c:strRef>
          </c:cat>
          <c:val>
            <c:numRef>
              <c:f>Hoja1!$C$2:$C$3</c:f>
              <c:numCache>
                <c:formatCode>General</c:formatCode>
                <c:ptCount val="2"/>
                <c:pt idx="0">
                  <c:v>-3.1</c:v>
                </c:pt>
                <c:pt idx="1">
                  <c:v>-3.4</c:v>
                </c:pt>
              </c:numCache>
            </c:numRef>
          </c:val>
          <c:extLst>
            <c:ext xmlns:c16="http://schemas.microsoft.com/office/drawing/2014/chart" uri="{C3380CC4-5D6E-409C-BE32-E72D297353CC}">
              <c16:uniqueId val="{00000001-D61A-4A36-87D9-5C98C18181DB}"/>
            </c:ext>
          </c:extLst>
        </c:ser>
        <c:dLbls>
          <c:showLegendKey val="0"/>
          <c:showVal val="0"/>
          <c:showCatName val="0"/>
          <c:showSerName val="0"/>
          <c:showPercent val="0"/>
          <c:showBubbleSize val="0"/>
        </c:dLbls>
        <c:gapWidth val="150"/>
        <c:axId val="467114304"/>
        <c:axId val="467108816"/>
      </c:barChart>
      <c:catAx>
        <c:axId val="467114304"/>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400">
                <a:solidFill>
                  <a:srgbClr val="00703C"/>
                </a:solidFill>
              </a:defRPr>
            </a:pPr>
            <a:endParaRPr lang="pt-PT"/>
          </a:p>
        </c:txPr>
        <c:crossAx val="467108816"/>
        <c:crosses val="autoZero"/>
        <c:auto val="0"/>
        <c:lblAlgn val="ctr"/>
        <c:lblOffset val="0"/>
        <c:tickLblSkip val="1"/>
        <c:noMultiLvlLbl val="0"/>
      </c:catAx>
      <c:valAx>
        <c:axId val="467108816"/>
        <c:scaling>
          <c:orientation val="minMax"/>
        </c:scaling>
        <c:delete val="0"/>
        <c:axPos val="l"/>
        <c:numFmt formatCode="General" sourceLinked="1"/>
        <c:majorTickMark val="out"/>
        <c:minorTickMark val="none"/>
        <c:tickLblPos val="nextTo"/>
        <c:spPr>
          <a:ln>
            <a:solidFill>
              <a:schemeClr val="accent1"/>
            </a:solidFill>
          </a:ln>
        </c:spPr>
        <c:txPr>
          <a:bodyPr/>
          <a:lstStyle/>
          <a:p>
            <a:pPr>
              <a:defRPr sz="1200">
                <a:solidFill>
                  <a:srgbClr val="00703C"/>
                </a:solidFill>
              </a:defRPr>
            </a:pPr>
            <a:endParaRPr lang="pt-PT"/>
          </a:p>
        </c:txPr>
        <c:crossAx val="467114304"/>
        <c:crosses val="autoZero"/>
        <c:crossBetween val="between"/>
      </c:valAx>
      <c:spPr>
        <a:ln>
          <a:noFill/>
        </a:ln>
      </c:spPr>
    </c:plotArea>
    <c:legend>
      <c:legendPos val="r"/>
      <c:overlay val="0"/>
      <c:txPr>
        <a:bodyPr/>
        <a:lstStyle/>
        <a:p>
          <a:pPr>
            <a:defRPr sz="14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Hoja1!$A$2:$A$3</c:f>
              <c:strCache>
                <c:ptCount val="2"/>
                <c:pt idx="0">
                  <c:v>4 weeks</c:v>
                </c:pt>
                <c:pt idx="1">
                  <c:v>6 weeks</c:v>
                </c:pt>
              </c:strCache>
            </c:strRef>
          </c:cat>
          <c:val>
            <c:numRef>
              <c:f>Hoja1!$B$2:$B$3</c:f>
              <c:numCache>
                <c:formatCode>General</c:formatCode>
                <c:ptCount val="2"/>
                <c:pt idx="0">
                  <c:v>-2.7</c:v>
                </c:pt>
                <c:pt idx="1">
                  <c:v>-2.9</c:v>
                </c:pt>
              </c:numCache>
            </c:numRef>
          </c:val>
          <c:extLst>
            <c:ext xmlns:c16="http://schemas.microsoft.com/office/drawing/2014/chart" uri="{C3380CC4-5D6E-409C-BE32-E72D297353CC}">
              <c16:uniqueId val="{00000000-4AF8-485E-A507-2345496DF943}"/>
            </c:ext>
          </c:extLst>
        </c:ser>
        <c:ser>
          <c:idx val="1"/>
          <c:order val="1"/>
          <c:tx>
            <c:strRef>
              <c:f>Hoja1!$C$1</c:f>
              <c:strCache>
                <c:ptCount val="1"/>
                <c:pt idx="0">
                  <c:v>Rupatadine</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Hoja1!$A$2:$A$3</c:f>
              <c:strCache>
                <c:ptCount val="2"/>
                <c:pt idx="0">
                  <c:v>4 weeks</c:v>
                </c:pt>
                <c:pt idx="1">
                  <c:v>6 weeks</c:v>
                </c:pt>
              </c:strCache>
            </c:strRef>
          </c:cat>
          <c:val>
            <c:numRef>
              <c:f>Hoja1!$C$2:$C$3</c:f>
              <c:numCache>
                <c:formatCode>General</c:formatCode>
                <c:ptCount val="2"/>
                <c:pt idx="0">
                  <c:v>-3.7</c:v>
                </c:pt>
                <c:pt idx="1">
                  <c:v>-4</c:v>
                </c:pt>
              </c:numCache>
            </c:numRef>
          </c:val>
          <c:extLst>
            <c:ext xmlns:c16="http://schemas.microsoft.com/office/drawing/2014/chart" uri="{C3380CC4-5D6E-409C-BE32-E72D297353CC}">
              <c16:uniqueId val="{00000001-4AF8-485E-A507-2345496DF943}"/>
            </c:ext>
          </c:extLst>
        </c:ser>
        <c:dLbls>
          <c:showLegendKey val="0"/>
          <c:showVal val="0"/>
          <c:showCatName val="0"/>
          <c:showSerName val="0"/>
          <c:showPercent val="0"/>
          <c:showBubbleSize val="0"/>
        </c:dLbls>
        <c:gapWidth val="150"/>
        <c:axId val="467110384"/>
        <c:axId val="467109208"/>
      </c:barChart>
      <c:catAx>
        <c:axId val="467110384"/>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400">
                <a:solidFill>
                  <a:srgbClr val="00703C"/>
                </a:solidFill>
              </a:defRPr>
            </a:pPr>
            <a:endParaRPr lang="pt-PT"/>
          </a:p>
        </c:txPr>
        <c:crossAx val="467109208"/>
        <c:crosses val="autoZero"/>
        <c:auto val="0"/>
        <c:lblAlgn val="ctr"/>
        <c:lblOffset val="0"/>
        <c:tickLblSkip val="1"/>
        <c:noMultiLvlLbl val="0"/>
      </c:catAx>
      <c:valAx>
        <c:axId val="467109208"/>
        <c:scaling>
          <c:orientation val="minMax"/>
        </c:scaling>
        <c:delete val="0"/>
        <c:axPos val="l"/>
        <c:numFmt formatCode="General" sourceLinked="1"/>
        <c:majorTickMark val="out"/>
        <c:minorTickMark val="none"/>
        <c:tickLblPos val="nextTo"/>
        <c:spPr>
          <a:ln>
            <a:solidFill>
              <a:schemeClr val="accent1"/>
            </a:solidFill>
          </a:ln>
        </c:spPr>
        <c:txPr>
          <a:bodyPr/>
          <a:lstStyle/>
          <a:p>
            <a:pPr>
              <a:defRPr sz="1200">
                <a:solidFill>
                  <a:srgbClr val="00703C"/>
                </a:solidFill>
              </a:defRPr>
            </a:pPr>
            <a:endParaRPr lang="pt-PT"/>
          </a:p>
        </c:txPr>
        <c:crossAx val="467110384"/>
        <c:crosses val="autoZero"/>
        <c:crossBetween val="between"/>
      </c:valAx>
      <c:spPr>
        <a:ln>
          <a:noFill/>
        </a:ln>
      </c:spPr>
    </c:plotArea>
    <c:legend>
      <c:legendPos val="r"/>
      <c:overlay val="0"/>
      <c:txPr>
        <a:bodyPr/>
        <a:lstStyle/>
        <a:p>
          <a:pPr>
            <a:defRPr sz="14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Hoja1!$B$2:$B$7</c:f>
              <c:numCache>
                <c:formatCode>General</c:formatCode>
                <c:ptCount val="6"/>
                <c:pt idx="0">
                  <c:v>1.7</c:v>
                </c:pt>
                <c:pt idx="1">
                  <c:v>2.2999999999999998</c:v>
                </c:pt>
                <c:pt idx="2">
                  <c:v>1.3</c:v>
                </c:pt>
                <c:pt idx="3">
                  <c:v>1.8</c:v>
                </c:pt>
                <c:pt idx="4">
                  <c:v>1.5</c:v>
                </c:pt>
                <c:pt idx="5">
                  <c:v>1.5</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0-B1DA-491E-AD6D-886969930BFF}"/>
            </c:ext>
          </c:extLst>
        </c:ser>
        <c:ser>
          <c:idx val="1"/>
          <c:order val="1"/>
          <c:tx>
            <c:strRef>
              <c:f>Hoja1!$C$1</c:f>
              <c:strCache>
                <c:ptCount val="1"/>
                <c:pt idx="0">
                  <c:v>Rupatadina</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Hoja1!$C$2:$C$7</c:f>
              <c:numCache>
                <c:formatCode>General</c:formatCode>
                <c:ptCount val="6"/>
                <c:pt idx="0">
                  <c:v>1.4</c:v>
                </c:pt>
                <c:pt idx="1">
                  <c:v>2</c:v>
                </c:pt>
                <c:pt idx="2">
                  <c:v>0.9</c:v>
                </c:pt>
                <c:pt idx="3">
                  <c:v>1.5</c:v>
                </c:pt>
                <c:pt idx="4">
                  <c:v>1.3</c:v>
                </c:pt>
                <c:pt idx="5">
                  <c:v>1.25</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B1DA-491E-AD6D-886969930BFF}"/>
            </c:ext>
          </c:extLst>
        </c:ser>
        <c:dLbls>
          <c:showLegendKey val="0"/>
          <c:showVal val="0"/>
          <c:showCatName val="0"/>
          <c:showSerName val="0"/>
          <c:showPercent val="0"/>
          <c:showBubbleSize val="0"/>
        </c:dLbls>
        <c:gapWidth val="150"/>
        <c:axId val="467107640"/>
        <c:axId val="467109992"/>
      </c:barChart>
      <c:catAx>
        <c:axId val="467107640"/>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467109992"/>
        <c:crosses val="autoZero"/>
        <c:auto val="0"/>
        <c:lblAlgn val="ctr"/>
        <c:lblOffset val="0"/>
        <c:tickLblSkip val="1"/>
        <c:noMultiLvlLbl val="0"/>
      </c:catAx>
      <c:valAx>
        <c:axId val="467109992"/>
        <c:scaling>
          <c:orientation val="minMax"/>
        </c:scaling>
        <c:delete val="0"/>
        <c:axPos val="l"/>
        <c:majorGridlines>
          <c:spPr>
            <a:ln w="3175">
              <a:solidFill>
                <a:srgbClr val="C1D1F1"/>
              </a:solidFill>
            </a:ln>
          </c:spPr>
        </c:majorGridlines>
        <c:title>
          <c:tx>
            <c:rich>
              <a:bodyPr rot="-5400000" vert="horz"/>
              <a:lstStyle/>
              <a:p>
                <a:pPr>
                  <a:defRPr sz="1200" b="0">
                    <a:solidFill>
                      <a:schemeClr val="accent2">
                        <a:lumMod val="50000"/>
                      </a:schemeClr>
                    </a:solidFill>
                  </a:defRPr>
                </a:pPr>
                <a:r>
                  <a:rPr lang="es-ES" sz="1200" b="0" dirty="0">
                    <a:solidFill>
                      <a:schemeClr val="accent2">
                        <a:lumMod val="50000"/>
                      </a:schemeClr>
                    </a:solidFill>
                  </a:rPr>
                  <a:t>Pontuação PRQLQ</a:t>
                </a:r>
              </a:p>
            </c:rich>
          </c:tx>
          <c:overlay val="0"/>
        </c:title>
        <c:numFmt formatCode="General" sourceLinked="1"/>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67107640"/>
        <c:crosses val="autoZero"/>
        <c:crossBetween val="between"/>
      </c:valAx>
      <c:spPr>
        <a:ln>
          <a:noFill/>
        </a:ln>
      </c:spPr>
    </c:plotArea>
    <c:legend>
      <c:legendPos val="b"/>
      <c:overlay val="0"/>
      <c:txPr>
        <a:bodyPr/>
        <a:lstStyle/>
        <a:p>
          <a:pPr>
            <a:defRPr sz="11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Hoja1!$B$2:$B$7</c:f>
              <c:numCache>
                <c:formatCode>General</c:formatCode>
                <c:ptCount val="6"/>
                <c:pt idx="0">
                  <c:v>1.5</c:v>
                </c:pt>
                <c:pt idx="1">
                  <c:v>2.1</c:v>
                </c:pt>
                <c:pt idx="2">
                  <c:v>1.1000000000000001</c:v>
                </c:pt>
                <c:pt idx="3">
                  <c:v>1.6</c:v>
                </c:pt>
                <c:pt idx="4">
                  <c:v>1.4</c:v>
                </c:pt>
                <c:pt idx="5">
                  <c:v>1.4</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0-C536-404F-B7C9-DF2B1C0ACAA2}"/>
            </c:ext>
          </c:extLst>
        </c:ser>
        <c:ser>
          <c:idx val="1"/>
          <c:order val="1"/>
          <c:tx>
            <c:strRef>
              <c:f>Hoja1!$C$1</c:f>
              <c:strCache>
                <c:ptCount val="1"/>
                <c:pt idx="0">
                  <c:v>Rupatadina</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Hoja1!$C$2:$C$7</c:f>
              <c:numCache>
                <c:formatCode>General</c:formatCode>
                <c:ptCount val="6"/>
                <c:pt idx="0">
                  <c:v>1.2</c:v>
                </c:pt>
                <c:pt idx="1">
                  <c:v>1.7</c:v>
                </c:pt>
                <c:pt idx="2">
                  <c:v>0.9</c:v>
                </c:pt>
                <c:pt idx="3">
                  <c:v>1.1000000000000001</c:v>
                </c:pt>
                <c:pt idx="4">
                  <c:v>1.1000000000000001</c:v>
                </c:pt>
                <c:pt idx="5">
                  <c:v>1</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C536-404F-B7C9-DF2B1C0ACAA2}"/>
            </c:ext>
          </c:extLst>
        </c:ser>
        <c:dLbls>
          <c:showLegendKey val="0"/>
          <c:showVal val="0"/>
          <c:showCatName val="0"/>
          <c:showSerName val="0"/>
          <c:showPercent val="0"/>
          <c:showBubbleSize val="0"/>
        </c:dLbls>
        <c:gapWidth val="150"/>
        <c:axId val="467111560"/>
        <c:axId val="467112736"/>
      </c:barChart>
      <c:catAx>
        <c:axId val="467111560"/>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467112736"/>
        <c:crosses val="autoZero"/>
        <c:auto val="0"/>
        <c:lblAlgn val="ctr"/>
        <c:lblOffset val="0"/>
        <c:tickLblSkip val="1"/>
        <c:noMultiLvlLbl val="0"/>
      </c:catAx>
      <c:valAx>
        <c:axId val="467112736"/>
        <c:scaling>
          <c:orientation val="minMax"/>
        </c:scaling>
        <c:delete val="0"/>
        <c:axPos val="l"/>
        <c:majorGridlines>
          <c:spPr>
            <a:ln w="3175">
              <a:solidFill>
                <a:srgbClr val="C1D1F1"/>
              </a:solidFill>
            </a:ln>
          </c:spPr>
        </c:majorGridlines>
        <c:title>
          <c:tx>
            <c:rich>
              <a:bodyPr rot="-5400000" vert="horz"/>
              <a:lstStyle/>
              <a:p>
                <a:pPr>
                  <a:defRPr sz="1200" b="0">
                    <a:solidFill>
                      <a:schemeClr val="accent2">
                        <a:lumMod val="50000"/>
                      </a:schemeClr>
                    </a:solidFill>
                  </a:defRPr>
                </a:pPr>
                <a:r>
                  <a:rPr lang="es-ES" sz="1200" b="0" dirty="0" err="1">
                    <a:solidFill>
                      <a:schemeClr val="accent2">
                        <a:lumMod val="50000"/>
                      </a:schemeClr>
                    </a:solidFill>
                  </a:rPr>
                  <a:t>Pontuação</a:t>
                </a:r>
                <a:r>
                  <a:rPr lang="es-ES" sz="1200" b="0" dirty="0">
                    <a:solidFill>
                      <a:schemeClr val="accent2">
                        <a:lumMod val="50000"/>
                      </a:schemeClr>
                    </a:solidFill>
                  </a:rPr>
                  <a:t> PRQLQ</a:t>
                </a:r>
              </a:p>
            </c:rich>
          </c:tx>
          <c:overlay val="0"/>
        </c:title>
        <c:numFmt formatCode="General" sourceLinked="1"/>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67111560"/>
        <c:crosses val="autoZero"/>
        <c:crossBetween val="between"/>
      </c:valAx>
      <c:spPr>
        <a:ln>
          <a:noFill/>
        </a:ln>
      </c:spPr>
    </c:plotArea>
    <c:legend>
      <c:legendPos val="b"/>
      <c:overlay val="0"/>
      <c:txPr>
        <a:bodyPr/>
        <a:lstStyle/>
        <a:p>
          <a:pPr>
            <a:defRPr sz="11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Hoja1!$B$2:$B$7</c:f>
              <c:numCache>
                <c:formatCode>General</c:formatCode>
                <c:ptCount val="6"/>
                <c:pt idx="0">
                  <c:v>1.75</c:v>
                </c:pt>
                <c:pt idx="1">
                  <c:v>2.35</c:v>
                </c:pt>
                <c:pt idx="2">
                  <c:v>1.3</c:v>
                </c:pt>
                <c:pt idx="3">
                  <c:v>1.8</c:v>
                </c:pt>
                <c:pt idx="4">
                  <c:v>1.6</c:v>
                </c:pt>
                <c:pt idx="5">
                  <c:v>1.7</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0-B5F8-4392-AD95-4432998B04A2}"/>
            </c:ext>
          </c:extLst>
        </c:ser>
        <c:ser>
          <c:idx val="1"/>
          <c:order val="1"/>
          <c:tx>
            <c:strRef>
              <c:f>Hoja1!$C$1</c:f>
              <c:strCache>
                <c:ptCount val="1"/>
                <c:pt idx="0">
                  <c:v>Rupatadine</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Hoja1!$C$2:$C$7</c:f>
              <c:numCache>
                <c:formatCode>General</c:formatCode>
                <c:ptCount val="6"/>
                <c:pt idx="0">
                  <c:v>1.4</c:v>
                </c:pt>
                <c:pt idx="1">
                  <c:v>1.95</c:v>
                </c:pt>
                <c:pt idx="2">
                  <c:v>0.8</c:v>
                </c:pt>
                <c:pt idx="3">
                  <c:v>1.5</c:v>
                </c:pt>
                <c:pt idx="4">
                  <c:v>1.3</c:v>
                </c:pt>
                <c:pt idx="5">
                  <c:v>1.2</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B5F8-4392-AD95-4432998B04A2}"/>
            </c:ext>
          </c:extLst>
        </c:ser>
        <c:dLbls>
          <c:showLegendKey val="0"/>
          <c:showVal val="0"/>
          <c:showCatName val="0"/>
          <c:showSerName val="0"/>
          <c:showPercent val="0"/>
          <c:showBubbleSize val="0"/>
        </c:dLbls>
        <c:gapWidth val="150"/>
        <c:axId val="388949144"/>
        <c:axId val="265462664"/>
      </c:barChart>
      <c:catAx>
        <c:axId val="388949144"/>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265462664"/>
        <c:crosses val="autoZero"/>
        <c:auto val="0"/>
        <c:lblAlgn val="ctr"/>
        <c:lblOffset val="0"/>
        <c:tickLblSkip val="1"/>
        <c:noMultiLvlLbl val="0"/>
      </c:catAx>
      <c:valAx>
        <c:axId val="265462664"/>
        <c:scaling>
          <c:orientation val="minMax"/>
        </c:scaling>
        <c:delete val="0"/>
        <c:axPos val="l"/>
        <c:majorGridlines>
          <c:spPr>
            <a:ln w="3175">
              <a:solidFill>
                <a:srgbClr val="C1D1F1"/>
              </a:solidFill>
            </a:ln>
          </c:spPr>
        </c:majorGridlines>
        <c:title>
          <c:tx>
            <c:rich>
              <a:bodyPr rot="-5400000" vert="horz"/>
              <a:lstStyle/>
              <a:p>
                <a:pPr>
                  <a:defRPr sz="1200" b="0">
                    <a:solidFill>
                      <a:schemeClr val="accent2">
                        <a:lumMod val="50000"/>
                      </a:schemeClr>
                    </a:solidFill>
                  </a:defRPr>
                </a:pPr>
                <a:r>
                  <a:rPr lang="es-ES" sz="1200" b="0" dirty="0">
                    <a:solidFill>
                      <a:schemeClr val="accent2">
                        <a:lumMod val="50000"/>
                      </a:schemeClr>
                    </a:solidFill>
                  </a:rPr>
                  <a:t>Pontuação PRQLQ</a:t>
                </a:r>
              </a:p>
            </c:rich>
          </c:tx>
          <c:overlay val="0"/>
        </c:title>
        <c:numFmt formatCode="General" sourceLinked="1"/>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388949144"/>
        <c:crosses val="autoZero"/>
        <c:crossBetween val="between"/>
      </c:valAx>
      <c:spPr>
        <a:ln>
          <a:noFill/>
        </a:ln>
      </c:spPr>
    </c:plotArea>
    <c:legend>
      <c:legendPos val="b"/>
      <c:overlay val="0"/>
      <c:txPr>
        <a:bodyPr/>
        <a:lstStyle/>
        <a:p>
          <a:pPr>
            <a:defRPr sz="11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Placebo</c:v>
                </c:pt>
              </c:strCache>
            </c:strRef>
          </c:tx>
          <c:spPr>
            <a:gradFill>
              <a:gsLst>
                <a:gs pos="0">
                  <a:srgbClr val="FFCC00"/>
                </a:gs>
                <a:gs pos="50000">
                  <a:srgbClr val="FFE265"/>
                </a:gs>
                <a:gs pos="100000">
                  <a:srgbClr val="FFC000"/>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Hoja1!$B$2:$B$7</c:f>
              <c:numCache>
                <c:formatCode>General</c:formatCode>
                <c:ptCount val="6"/>
                <c:pt idx="0">
                  <c:v>1.5</c:v>
                </c:pt>
                <c:pt idx="1">
                  <c:v>2.25</c:v>
                </c:pt>
                <c:pt idx="2">
                  <c:v>1.1499999999999999</c:v>
                </c:pt>
                <c:pt idx="3">
                  <c:v>1.6</c:v>
                </c:pt>
                <c:pt idx="4">
                  <c:v>1.4</c:v>
                </c:pt>
                <c:pt idx="5">
                  <c:v>1.3</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0-548C-479A-8215-55F17C8E6D87}"/>
            </c:ext>
          </c:extLst>
        </c:ser>
        <c:ser>
          <c:idx val="1"/>
          <c:order val="1"/>
          <c:tx>
            <c:strRef>
              <c:f>Hoja1!$C$1</c:f>
              <c:strCache>
                <c:ptCount val="1"/>
                <c:pt idx="0">
                  <c:v>Rupatadine</c:v>
                </c:pt>
              </c:strCache>
            </c:strRef>
          </c:tx>
          <c:spPr>
            <a:gradFill>
              <a:gsLst>
                <a:gs pos="0">
                  <a:srgbClr val="333399"/>
                </a:gs>
                <a:gs pos="50000">
                  <a:schemeClr val="accent2">
                    <a:lumMod val="60000"/>
                    <a:lumOff val="40000"/>
                  </a:schemeClr>
                </a:gs>
                <a:gs pos="100000">
                  <a:srgbClr val="333399"/>
                </a:gs>
              </a:gsLst>
              <a:lin ang="0" scaled="1"/>
            </a:gradFill>
          </c:spPr>
          <c:invertIfNegative val="0"/>
          <c:cat>
            <c:strRef>
              <c:f>Hoja1!$A$2:$A$7</c:f>
              <c:strCache>
                <c:ptCount val="6"/>
                <c:pt idx="0">
                  <c:v>QoL total</c:v>
                </c:pt>
                <c:pt idx="1">
                  <c:v>Sintomas nasais</c:v>
                </c:pt>
                <c:pt idx="2">
                  <c:v>Sintomas oculares</c:v>
                </c:pt>
                <c:pt idx="3">
                  <c:v>Problemas práticos</c:v>
                </c:pt>
                <c:pt idx="4">
                  <c:v>Outros sintomas</c:v>
                </c:pt>
                <c:pt idx="5">
                  <c:v>Limitação da actividade</c:v>
                </c:pt>
              </c:strCache>
            </c:strRef>
          </c:cat>
          <c:val>
            <c:numRef>
              <c:f>Hoja1!$C$2:$C$7</c:f>
              <c:numCache>
                <c:formatCode>General</c:formatCode>
                <c:ptCount val="6"/>
                <c:pt idx="0">
                  <c:v>1.2</c:v>
                </c:pt>
                <c:pt idx="1">
                  <c:v>1.6</c:v>
                </c:pt>
                <c:pt idx="2">
                  <c:v>0.8</c:v>
                </c:pt>
                <c:pt idx="3">
                  <c:v>1.45</c:v>
                </c:pt>
                <c:pt idx="4">
                  <c:v>1.1499999999999999</c:v>
                </c:pt>
                <c:pt idx="5">
                  <c:v>0.9</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548C-479A-8215-55F17C8E6D87}"/>
            </c:ext>
          </c:extLst>
        </c:ser>
        <c:dLbls>
          <c:showLegendKey val="0"/>
          <c:showVal val="0"/>
          <c:showCatName val="0"/>
          <c:showSerName val="0"/>
          <c:showPercent val="0"/>
          <c:showBubbleSize val="0"/>
        </c:dLbls>
        <c:gapWidth val="150"/>
        <c:axId val="470073776"/>
        <c:axId val="470074952"/>
      </c:barChart>
      <c:catAx>
        <c:axId val="470073776"/>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470074952"/>
        <c:crosses val="autoZero"/>
        <c:auto val="0"/>
        <c:lblAlgn val="ctr"/>
        <c:lblOffset val="0"/>
        <c:tickLblSkip val="1"/>
        <c:noMultiLvlLbl val="0"/>
      </c:catAx>
      <c:valAx>
        <c:axId val="470074952"/>
        <c:scaling>
          <c:orientation val="minMax"/>
        </c:scaling>
        <c:delete val="0"/>
        <c:axPos val="l"/>
        <c:majorGridlines>
          <c:spPr>
            <a:ln w="3175">
              <a:solidFill>
                <a:srgbClr val="C1D1F1"/>
              </a:solidFill>
            </a:ln>
          </c:spPr>
        </c:majorGridlines>
        <c:title>
          <c:tx>
            <c:rich>
              <a:bodyPr rot="-5400000" vert="horz"/>
              <a:lstStyle/>
              <a:p>
                <a:pPr>
                  <a:defRPr sz="1200" b="0">
                    <a:solidFill>
                      <a:schemeClr val="accent2">
                        <a:lumMod val="50000"/>
                      </a:schemeClr>
                    </a:solidFill>
                  </a:defRPr>
                </a:pPr>
                <a:r>
                  <a:rPr lang="es-ES" sz="1200" b="0">
                    <a:solidFill>
                      <a:schemeClr val="accent2">
                        <a:lumMod val="50000"/>
                      </a:schemeClr>
                    </a:solidFill>
                  </a:rPr>
                  <a:t>Pontuação PRQLQ</a:t>
                </a:r>
              </a:p>
            </c:rich>
          </c:tx>
          <c:overlay val="0"/>
        </c:title>
        <c:numFmt formatCode="General" sourceLinked="1"/>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0073776"/>
        <c:crosses val="autoZero"/>
        <c:crossBetween val="between"/>
      </c:valAx>
      <c:spPr>
        <a:ln>
          <a:noFill/>
        </a:ln>
      </c:spPr>
    </c:plotArea>
    <c:legend>
      <c:legendPos val="b"/>
      <c:overlay val="0"/>
      <c:txPr>
        <a:bodyPr/>
        <a:lstStyle/>
        <a:p>
          <a:pPr>
            <a:defRPr sz="11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Caucasian</c:v>
                </c:pt>
              </c:strCache>
            </c:strRef>
          </c:tx>
          <c:spPr>
            <a:gradFill>
              <a:gsLst>
                <a:gs pos="0">
                  <a:srgbClr val="FFCC00"/>
                </a:gs>
                <a:gs pos="50000">
                  <a:srgbClr val="FFE265"/>
                </a:gs>
                <a:gs pos="100000">
                  <a:srgbClr val="FFC000"/>
                </a:gs>
              </a:gsLst>
              <a:lin ang="0" scaled="1"/>
            </a:gradFill>
          </c:spPr>
          <c:invertIfNegative val="0"/>
          <c:dLbls>
            <c:dLbl>
              <c:idx val="0"/>
              <c:tx>
                <c:rich>
                  <a:bodyPr/>
                  <a:lstStyle/>
                  <a:p>
                    <a:r>
                      <a:rPr lang="en-US"/>
                      <a:t>16.7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B63-4262-A364-AE65487BC394}"/>
                </c:ext>
              </c:extLst>
            </c:dLbl>
            <c:dLbl>
              <c:idx val="1"/>
              <c:tx>
                <c:rich>
                  <a:bodyPr/>
                  <a:lstStyle/>
                  <a:p>
                    <a:r>
                      <a:rPr lang="en-US"/>
                      <a:t>20.3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B63-4262-A364-AE65487BC394}"/>
                </c:ext>
              </c:extLst>
            </c:dLbl>
            <c:dLbl>
              <c:idx val="2"/>
              <c:tx>
                <c:rich>
                  <a:bodyPr/>
                  <a:lstStyle/>
                  <a:p>
                    <a:r>
                      <a:rPr lang="en-US"/>
                      <a:t>18.3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B63-4262-A364-AE65487BC394}"/>
                </c:ext>
              </c:extLst>
            </c:dLbl>
            <c:spPr>
              <a:noFill/>
              <a:ln>
                <a:noFill/>
              </a:ln>
              <a:effectLst/>
            </c:spPr>
            <c:txPr>
              <a:bodyPr/>
              <a:lstStyle/>
              <a:p>
                <a:pPr>
                  <a:defRPr sz="1100">
                    <a:solidFill>
                      <a:schemeClr val="accent2">
                        <a:lumMod val="50000"/>
                      </a:schemeClr>
                    </a:solidFill>
                  </a:defRPr>
                </a:pPr>
                <a:endParaRPr lang="pt-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Hoja1!$A$2:$A$4</c:f>
              <c:strCache>
                <c:ptCount val="3"/>
                <c:pt idx="0">
                  <c:v>Rupatadine</c:v>
                </c:pt>
                <c:pt idx="1">
                  <c:v>Placebo</c:v>
                </c:pt>
                <c:pt idx="2">
                  <c:v>Desloratadine</c:v>
                </c:pt>
              </c:strCache>
            </c:strRef>
          </c:cat>
          <c:val>
            <c:numRef>
              <c:f>Hoja1!$B$2:$B$4</c:f>
              <c:numCache>
                <c:formatCode>General</c:formatCode>
                <c:ptCount val="3"/>
                <c:pt idx="0">
                  <c:v>16.7</c:v>
                </c:pt>
                <c:pt idx="1">
                  <c:v>20.3</c:v>
                </c:pt>
                <c:pt idx="2">
                  <c:v>18.3</c:v>
                </c:pt>
              </c:numCache>
            </c:numRef>
          </c:val>
          <c:extLst>
            <c:ext xmlns:c16="http://schemas.microsoft.com/office/drawing/2014/chart" uri="{C3380CC4-5D6E-409C-BE32-E72D297353CC}">
              <c16:uniqueId val="{00000003-BB63-4262-A364-AE65487BC394}"/>
            </c:ext>
          </c:extLst>
        </c:ser>
        <c:ser>
          <c:idx val="1"/>
          <c:order val="1"/>
          <c:tx>
            <c:strRef>
              <c:f>Hoja1!$C$1</c:f>
              <c:strCache>
                <c:ptCount val="1"/>
                <c:pt idx="0">
                  <c:v>Black</c:v>
                </c:pt>
              </c:strCache>
            </c:strRef>
          </c:tx>
          <c:spPr>
            <a:gradFill>
              <a:gsLst>
                <a:gs pos="0">
                  <a:srgbClr val="333399"/>
                </a:gs>
                <a:gs pos="50000">
                  <a:schemeClr val="accent2">
                    <a:lumMod val="60000"/>
                    <a:lumOff val="40000"/>
                  </a:schemeClr>
                </a:gs>
                <a:gs pos="100000">
                  <a:srgbClr val="333399"/>
                </a:gs>
              </a:gsLst>
              <a:lin ang="0" scaled="1"/>
            </a:gradFill>
          </c:spPr>
          <c:invertIfNegative val="0"/>
          <c:dLbls>
            <c:dLbl>
              <c:idx val="0"/>
              <c:tx>
                <c:rich>
                  <a:bodyPr/>
                  <a:lstStyle/>
                  <a:p>
                    <a:r>
                      <a:rPr lang="en-US"/>
                      <a:t>25.8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B63-4262-A364-AE65487BC394}"/>
                </c:ext>
              </c:extLst>
            </c:dLbl>
            <c:dLbl>
              <c:idx val="1"/>
              <c:tx>
                <c:rich>
                  <a:bodyPr/>
                  <a:lstStyle/>
                  <a:p>
                    <a:r>
                      <a:rPr lang="en-US"/>
                      <a:t>29.0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B63-4262-A364-AE65487BC394}"/>
                </c:ext>
              </c:extLst>
            </c:dLbl>
            <c:dLbl>
              <c:idx val="2"/>
              <c:tx>
                <c:rich>
                  <a:bodyPr/>
                  <a:lstStyle/>
                  <a:p>
                    <a:r>
                      <a:rPr lang="en-US"/>
                      <a:t>29.6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B63-4262-A364-AE65487BC394}"/>
                </c:ext>
              </c:extLst>
            </c:dLbl>
            <c:spPr>
              <a:noFill/>
              <a:ln>
                <a:noFill/>
              </a:ln>
              <a:effectLst/>
            </c:spPr>
            <c:txPr>
              <a:bodyPr/>
              <a:lstStyle/>
              <a:p>
                <a:pPr>
                  <a:defRPr sz="1100">
                    <a:solidFill>
                      <a:schemeClr val="accent2">
                        <a:lumMod val="50000"/>
                      </a:schemeClr>
                    </a:solidFill>
                  </a:defRPr>
                </a:pPr>
                <a:endParaRPr lang="pt-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Hoja1!$A$2:$A$4</c:f>
              <c:strCache>
                <c:ptCount val="3"/>
                <c:pt idx="0">
                  <c:v>Rupatadine</c:v>
                </c:pt>
                <c:pt idx="1">
                  <c:v>Placebo</c:v>
                </c:pt>
                <c:pt idx="2">
                  <c:v>Desloratadine</c:v>
                </c:pt>
              </c:strCache>
            </c:strRef>
          </c:cat>
          <c:val>
            <c:numRef>
              <c:f>Hoja1!$C$2:$C$4</c:f>
              <c:numCache>
                <c:formatCode>General</c:formatCode>
                <c:ptCount val="3"/>
                <c:pt idx="0">
                  <c:v>25.8</c:v>
                </c:pt>
                <c:pt idx="1">
                  <c:v>29</c:v>
                </c:pt>
                <c:pt idx="2">
                  <c:v>29.6</c:v>
                </c:pt>
              </c:numCache>
            </c:numRef>
          </c:val>
          <c:extLst>
            <c:ext xmlns:c16="http://schemas.microsoft.com/office/drawing/2014/chart" uri="{C3380CC4-5D6E-409C-BE32-E72D297353CC}">
              <c16:uniqueId val="{00000007-BB63-4262-A364-AE65487BC394}"/>
            </c:ext>
          </c:extLst>
        </c:ser>
        <c:ser>
          <c:idx val="2"/>
          <c:order val="2"/>
          <c:tx>
            <c:strRef>
              <c:f>Hoja1!$D$1</c:f>
              <c:strCache>
                <c:ptCount val="1"/>
                <c:pt idx="0">
                  <c:v>Asian (oriental)</c:v>
                </c:pt>
              </c:strCache>
            </c:strRef>
          </c:tx>
          <c:spPr>
            <a:solidFill>
              <a:schemeClr val="bg1">
                <a:lumMod val="65000"/>
              </a:schemeClr>
            </a:solidFill>
          </c:spPr>
          <c:invertIfNegative val="0"/>
          <c:dLbls>
            <c:dLbl>
              <c:idx val="0"/>
              <c:tx>
                <c:rich>
                  <a:bodyPr/>
                  <a:lstStyle/>
                  <a:p>
                    <a:r>
                      <a:rPr lang="en-US"/>
                      <a:t>4.5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BB63-4262-A364-AE65487BC394}"/>
                </c:ext>
              </c:extLst>
            </c:dLbl>
            <c:dLbl>
              <c:idx val="1"/>
              <c:tx>
                <c:rich>
                  <a:bodyPr/>
                  <a:lstStyle/>
                  <a:p>
                    <a:r>
                      <a:rPr lang="en-US"/>
                      <a:t>2.9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BB63-4262-A364-AE65487BC394}"/>
                </c:ext>
              </c:extLst>
            </c:dLbl>
            <c:dLbl>
              <c:idx val="2"/>
              <c:tx>
                <c:rich>
                  <a:bodyPr/>
                  <a:lstStyle/>
                  <a:p>
                    <a:r>
                      <a:rPr lang="en-US"/>
                      <a:t>5.6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BB63-4262-A364-AE65487BC394}"/>
                </c:ext>
              </c:extLst>
            </c:dLbl>
            <c:spPr>
              <a:noFill/>
              <a:ln>
                <a:noFill/>
              </a:ln>
              <a:effectLst/>
            </c:spPr>
            <c:txPr>
              <a:bodyPr/>
              <a:lstStyle/>
              <a:p>
                <a:pPr>
                  <a:defRPr sz="1100">
                    <a:solidFill>
                      <a:schemeClr val="accent2">
                        <a:lumMod val="50000"/>
                      </a:schemeClr>
                    </a:solidFill>
                  </a:defRPr>
                </a:pPr>
                <a:endParaRPr lang="pt-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Hoja1!$A$2:$A$4</c:f>
              <c:strCache>
                <c:ptCount val="3"/>
                <c:pt idx="0">
                  <c:v>Rupatadine</c:v>
                </c:pt>
                <c:pt idx="1">
                  <c:v>Placebo</c:v>
                </c:pt>
                <c:pt idx="2">
                  <c:v>Desloratadine</c:v>
                </c:pt>
              </c:strCache>
            </c:strRef>
          </c:cat>
          <c:val>
            <c:numRef>
              <c:f>Hoja1!$D$2:$D$4</c:f>
              <c:numCache>
                <c:formatCode>General</c:formatCode>
                <c:ptCount val="3"/>
                <c:pt idx="0">
                  <c:v>4.5</c:v>
                </c:pt>
                <c:pt idx="1">
                  <c:v>2.9</c:v>
                </c:pt>
                <c:pt idx="2">
                  <c:v>5.6</c:v>
                </c:pt>
              </c:numCache>
            </c:numRef>
          </c:val>
          <c:extLst>
            <c:ext xmlns:c16="http://schemas.microsoft.com/office/drawing/2014/chart" uri="{C3380CC4-5D6E-409C-BE32-E72D297353CC}">
              <c16:uniqueId val="{0000000B-BB63-4262-A364-AE65487BC394}"/>
            </c:ext>
          </c:extLst>
        </c:ser>
        <c:ser>
          <c:idx val="3"/>
          <c:order val="3"/>
          <c:tx>
            <c:strRef>
              <c:f>Hoja1!$E$1</c:f>
              <c:strCache>
                <c:ptCount val="1"/>
                <c:pt idx="0">
                  <c:v>Multiracial</c:v>
                </c:pt>
              </c:strCache>
            </c:strRef>
          </c:tx>
          <c:spPr>
            <a:gradFill>
              <a:gsLst>
                <a:gs pos="0">
                  <a:srgbClr val="C1D1F1"/>
                </a:gs>
                <a:gs pos="50000">
                  <a:srgbClr val="ECF1FB"/>
                </a:gs>
                <a:gs pos="100000">
                  <a:srgbClr val="C1D1F1"/>
                </a:gs>
              </a:gsLst>
              <a:lin ang="0" scaled="0"/>
            </a:gradFill>
          </c:spPr>
          <c:invertIfNegative val="0"/>
          <c:dLbls>
            <c:dLbl>
              <c:idx val="0"/>
              <c:tx>
                <c:rich>
                  <a:bodyPr/>
                  <a:lstStyle/>
                  <a:p>
                    <a:r>
                      <a:rPr lang="en-US"/>
                      <a:t>53.0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BB63-4262-A364-AE65487BC394}"/>
                </c:ext>
              </c:extLst>
            </c:dLbl>
            <c:dLbl>
              <c:idx val="1"/>
              <c:tx>
                <c:rich>
                  <a:bodyPr/>
                  <a:lstStyle/>
                  <a:p>
                    <a:r>
                      <a:rPr lang="en-US"/>
                      <a:t>47.8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BB63-4262-A364-AE65487BC394}"/>
                </c:ext>
              </c:extLst>
            </c:dLbl>
            <c:dLbl>
              <c:idx val="2"/>
              <c:tx>
                <c:rich>
                  <a:bodyPr/>
                  <a:lstStyle/>
                  <a:p>
                    <a:r>
                      <a:rPr lang="en-US"/>
                      <a:t>46.5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BB63-4262-A364-AE65487BC394}"/>
                </c:ext>
              </c:extLst>
            </c:dLbl>
            <c:spPr>
              <a:noFill/>
              <a:ln>
                <a:noFill/>
              </a:ln>
              <a:effectLst/>
            </c:spPr>
            <c:txPr>
              <a:bodyPr/>
              <a:lstStyle/>
              <a:p>
                <a:pPr>
                  <a:defRPr sz="1100">
                    <a:solidFill>
                      <a:schemeClr val="accent2">
                        <a:lumMod val="50000"/>
                      </a:schemeClr>
                    </a:solidFill>
                  </a:defRPr>
                </a:pPr>
                <a:endParaRPr lang="pt-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Hoja1!$A$2:$A$4</c:f>
              <c:strCache>
                <c:ptCount val="3"/>
                <c:pt idx="0">
                  <c:v>Rupatadine</c:v>
                </c:pt>
                <c:pt idx="1">
                  <c:v>Placebo</c:v>
                </c:pt>
                <c:pt idx="2">
                  <c:v>Desloratadine</c:v>
                </c:pt>
              </c:strCache>
            </c:strRef>
          </c:cat>
          <c:val>
            <c:numRef>
              <c:f>Hoja1!$E$2:$E$4</c:f>
              <c:numCache>
                <c:formatCode>General</c:formatCode>
                <c:ptCount val="3"/>
                <c:pt idx="0">
                  <c:v>53</c:v>
                </c:pt>
                <c:pt idx="1">
                  <c:v>47.8</c:v>
                </c:pt>
                <c:pt idx="2">
                  <c:v>46.5</c:v>
                </c:pt>
              </c:numCache>
            </c:numRef>
          </c:val>
          <c:extLst>
            <c:ext xmlns:c16="http://schemas.microsoft.com/office/drawing/2014/chart" uri="{C3380CC4-5D6E-409C-BE32-E72D297353CC}">
              <c16:uniqueId val="{0000000F-BB63-4262-A364-AE65487BC394}"/>
            </c:ext>
          </c:extLst>
        </c:ser>
        <c:dLbls>
          <c:showLegendKey val="0"/>
          <c:showVal val="1"/>
          <c:showCatName val="0"/>
          <c:showSerName val="0"/>
          <c:showPercent val="0"/>
          <c:showBubbleSize val="0"/>
        </c:dLbls>
        <c:gapWidth val="150"/>
        <c:axId val="470073384"/>
        <c:axId val="470071424"/>
      </c:barChart>
      <c:catAx>
        <c:axId val="470073384"/>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470071424"/>
        <c:crosses val="autoZero"/>
        <c:auto val="0"/>
        <c:lblAlgn val="ctr"/>
        <c:lblOffset val="0"/>
        <c:tickLblSkip val="1"/>
        <c:noMultiLvlLbl val="0"/>
      </c:catAx>
      <c:valAx>
        <c:axId val="470071424"/>
        <c:scaling>
          <c:orientation val="minMax"/>
        </c:scaling>
        <c:delete val="0"/>
        <c:axPos val="l"/>
        <c:majorGridlines>
          <c:spPr>
            <a:ln w="3175">
              <a:solidFill>
                <a:srgbClr val="C1D1F1"/>
              </a:solidFill>
            </a:ln>
          </c:spPr>
        </c:majorGridlines>
        <c:title>
          <c:tx>
            <c:rich>
              <a:bodyPr rot="0" vert="horz" anchor="t" anchorCtr="0"/>
              <a:lstStyle/>
              <a:p>
                <a:pPr>
                  <a:defRPr sz="1200" b="0">
                    <a:solidFill>
                      <a:schemeClr val="accent2">
                        <a:lumMod val="50000"/>
                      </a:schemeClr>
                    </a:solidFill>
                  </a:defRPr>
                </a:pPr>
                <a:r>
                  <a:rPr lang="es-ES" sz="1200" b="0">
                    <a:solidFill>
                      <a:schemeClr val="accent2">
                        <a:lumMod val="50000"/>
                      </a:schemeClr>
                    </a:solidFill>
                  </a:rPr>
                  <a:t>%</a:t>
                </a:r>
              </a:p>
            </c:rich>
          </c:tx>
          <c:layout>
            <c:manualLayout>
              <c:xMode val="edge"/>
              <c:yMode val="edge"/>
              <c:x val="2.1556925405322672E-2"/>
              <c:y val="1.477344371317948E-3"/>
            </c:manualLayout>
          </c:layout>
          <c:overlay val="0"/>
        </c:title>
        <c:numFmt formatCode="General" sourceLinked="1"/>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0073384"/>
        <c:crosses val="autoZero"/>
        <c:crossBetween val="between"/>
      </c:valAx>
      <c:spPr>
        <a:ln>
          <a:noFill/>
        </a:ln>
      </c:spPr>
    </c:plotArea>
    <c:legend>
      <c:legendPos val="b"/>
      <c:overlay val="0"/>
      <c:txPr>
        <a:bodyPr/>
        <a:lstStyle/>
        <a:p>
          <a:pPr>
            <a:defRPr sz="11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rgbClr val="C1D1F1"/>
                  </a:gs>
                  <a:gs pos="100000">
                    <a:srgbClr val="333399"/>
                  </a:gs>
                </a:gsLst>
                <a:lin ang="0" scaled="1"/>
              </a:gradFill>
            </c:spPr>
            <c:extLst>
              <c:ext xmlns:c16="http://schemas.microsoft.com/office/drawing/2014/chart" uri="{C3380CC4-5D6E-409C-BE32-E72D297353CC}">
                <c16:uniqueId val="{00000001-4DA6-43D3-A74E-3CFD868C192A}"/>
              </c:ext>
            </c:extLst>
          </c:dPt>
          <c:dPt>
            <c:idx val="2"/>
            <c:invertIfNegative val="0"/>
            <c:bubble3D val="0"/>
            <c:spPr>
              <a:solidFill>
                <a:sysClr val="window" lastClr="FFFFFF">
                  <a:lumMod val="65000"/>
                </a:sysClr>
              </a:solidFill>
            </c:spPr>
            <c:extLst>
              <c:ext xmlns:c16="http://schemas.microsoft.com/office/drawing/2014/chart" uri="{C3380CC4-5D6E-409C-BE32-E72D297353CC}">
                <c16:uniqueId val="{00000003-4DA6-43D3-A74E-3CFD868C192A}"/>
              </c:ext>
            </c:extLst>
          </c:dPt>
          <c:dLbls>
            <c:delete val="1"/>
          </c:dLbls>
          <c:cat>
            <c:strRef>
              <c:f>Hoja1!$A$2:$A$4</c:f>
              <c:strCache>
                <c:ptCount val="3"/>
                <c:pt idx="0">
                  <c:v>RUP</c:v>
                </c:pt>
                <c:pt idx="1">
                  <c:v>PCB</c:v>
                </c:pt>
                <c:pt idx="2">
                  <c:v>DESL</c:v>
                </c:pt>
              </c:strCache>
            </c:strRef>
          </c:cat>
          <c:val>
            <c:numRef>
              <c:f>Hoja1!$B$2:$B$4</c:f>
              <c:numCache>
                <c:formatCode>General</c:formatCode>
                <c:ptCount val="3"/>
                <c:pt idx="0">
                  <c:v>11</c:v>
                </c:pt>
                <c:pt idx="1">
                  <c:v>10.32</c:v>
                </c:pt>
                <c:pt idx="2">
                  <c:v>10.09</c:v>
                </c:pt>
              </c:numCache>
            </c:numRef>
          </c:val>
          <c:extLst>
            <c:ext xmlns:c16="http://schemas.microsoft.com/office/drawing/2014/chart" uri="{C3380CC4-5D6E-409C-BE32-E72D297353CC}">
              <c16:uniqueId val="{00000004-4DA6-43D3-A74E-3CFD868C192A}"/>
            </c:ext>
          </c:extLst>
        </c:ser>
        <c:dLbls>
          <c:showLegendKey val="0"/>
          <c:showVal val="1"/>
          <c:showCatName val="0"/>
          <c:showSerName val="0"/>
          <c:showPercent val="0"/>
          <c:showBubbleSize val="0"/>
        </c:dLbls>
        <c:gapWidth val="150"/>
        <c:axId val="470072600"/>
        <c:axId val="470074560"/>
      </c:barChart>
      <c:catAx>
        <c:axId val="470072600"/>
        <c:scaling>
          <c:orientation val="minMax"/>
        </c:scaling>
        <c:delete val="0"/>
        <c:axPos val="b"/>
        <c:numFmt formatCode="General" sourceLinked="0"/>
        <c:majorTickMark val="none"/>
        <c:minorTickMark val="none"/>
        <c:tickLblPos val="low"/>
        <c:spPr>
          <a:ln>
            <a:solidFill>
              <a:srgbClr val="99CB38"/>
            </a:solidFill>
          </a:ln>
        </c:spPr>
        <c:txPr>
          <a:bodyPr anchor="b"/>
          <a:lstStyle/>
          <a:p>
            <a:pPr>
              <a:defRPr sz="1200">
                <a:solidFill>
                  <a:schemeClr val="accent1">
                    <a:lumMod val="50000"/>
                  </a:schemeClr>
                </a:solidFill>
              </a:defRPr>
            </a:pPr>
            <a:endParaRPr lang="pt-PT"/>
          </a:p>
        </c:txPr>
        <c:crossAx val="470074560"/>
        <c:crosses val="autoZero"/>
        <c:auto val="0"/>
        <c:lblAlgn val="ctr"/>
        <c:lblOffset val="0"/>
        <c:tickLblSkip val="1"/>
        <c:noMultiLvlLbl val="0"/>
      </c:catAx>
      <c:valAx>
        <c:axId val="470074560"/>
        <c:scaling>
          <c:orientation val="minMax"/>
          <c:min val="0"/>
        </c:scaling>
        <c:delete val="0"/>
        <c:axPos val="l"/>
        <c:majorGridlines>
          <c:spPr>
            <a:ln w="3175">
              <a:solidFill>
                <a:srgbClr val="ECF1FB"/>
              </a:solidFill>
            </a:ln>
          </c:spPr>
        </c:majorGridlines>
        <c:numFmt formatCode="General" sourceLinked="1"/>
        <c:majorTickMark val="out"/>
        <c:minorTickMark val="none"/>
        <c:tickLblPos val="nextTo"/>
        <c:spPr>
          <a:ln>
            <a:solidFill>
              <a:srgbClr val="99CB38"/>
            </a:solidFill>
          </a:ln>
        </c:spPr>
        <c:txPr>
          <a:bodyPr/>
          <a:lstStyle/>
          <a:p>
            <a:pPr algn="ctr">
              <a:defRPr lang="en-US" sz="1100" b="0" i="0" u="none" strike="noStrike" kern="1200" baseline="0">
                <a:solidFill>
                  <a:srgbClr val="00703C"/>
                </a:solidFill>
                <a:latin typeface="+mn-lt"/>
                <a:ea typeface="+mn-ea"/>
                <a:cs typeface="+mn-cs"/>
              </a:defRPr>
            </a:pPr>
            <a:endParaRPr lang="pt-PT"/>
          </a:p>
        </c:txPr>
        <c:crossAx val="470072600"/>
        <c:crosses val="autoZero"/>
        <c:crossBetween val="between"/>
      </c:valAx>
      <c:spPr>
        <a:ln>
          <a:noFill/>
        </a:ln>
      </c:spPr>
    </c:plotArea>
    <c:plotVisOnly val="1"/>
    <c:dispBlanksAs val="gap"/>
    <c:showDLblsOverMax val="0"/>
  </c:chart>
  <c:txPr>
    <a:bodyPr/>
    <a:lstStyle/>
    <a:p>
      <a:pPr>
        <a:defRPr sz="1800"/>
      </a:pPr>
      <a:endParaRPr lang="pt-PT"/>
    </a:p>
  </c:tx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rgbClr val="C1D1F1"/>
                  </a:gs>
                  <a:gs pos="100000">
                    <a:srgbClr val="333399"/>
                  </a:gs>
                </a:gsLst>
                <a:lin ang="0" scaled="1"/>
              </a:gradFill>
            </c:spPr>
            <c:extLst>
              <c:ext xmlns:c16="http://schemas.microsoft.com/office/drawing/2014/chart" uri="{C3380CC4-5D6E-409C-BE32-E72D297353CC}">
                <c16:uniqueId val="{00000001-4C3C-44F8-8B0A-FA9A60B01BDB}"/>
              </c:ext>
            </c:extLst>
          </c:dPt>
          <c:dPt>
            <c:idx val="2"/>
            <c:invertIfNegative val="0"/>
            <c:bubble3D val="0"/>
            <c:spPr>
              <a:solidFill>
                <a:schemeClr val="bg1">
                  <a:lumMod val="65000"/>
                </a:schemeClr>
              </a:solidFill>
            </c:spPr>
            <c:extLst>
              <c:ext xmlns:c16="http://schemas.microsoft.com/office/drawing/2014/chart" uri="{C3380CC4-5D6E-409C-BE32-E72D297353CC}">
                <c16:uniqueId val="{00000003-4C3C-44F8-8B0A-FA9A60B01BDB}"/>
              </c:ext>
            </c:extLst>
          </c:dPt>
          <c:dLbls>
            <c:delete val="1"/>
          </c:dLbls>
          <c:cat>
            <c:strRef>
              <c:f>Hoja1!$A$2:$A$4</c:f>
              <c:strCache>
                <c:ptCount val="3"/>
                <c:pt idx="0">
                  <c:v>RUP</c:v>
                </c:pt>
                <c:pt idx="1">
                  <c:v>PCB</c:v>
                </c:pt>
                <c:pt idx="2">
                  <c:v>DESL</c:v>
                </c:pt>
              </c:strCache>
            </c:strRef>
          </c:cat>
          <c:val>
            <c:numRef>
              <c:f>Hoja1!$B$2:$B$4</c:f>
              <c:numCache>
                <c:formatCode>General</c:formatCode>
                <c:ptCount val="3"/>
                <c:pt idx="0">
                  <c:v>11.21</c:v>
                </c:pt>
                <c:pt idx="1">
                  <c:v>10.64</c:v>
                </c:pt>
                <c:pt idx="2">
                  <c:v>11.19</c:v>
                </c:pt>
              </c:numCache>
            </c:numRef>
          </c:val>
          <c:extLst>
            <c:ext xmlns:c16="http://schemas.microsoft.com/office/drawing/2014/chart" uri="{C3380CC4-5D6E-409C-BE32-E72D297353CC}">
              <c16:uniqueId val="{00000004-4C3C-44F8-8B0A-FA9A60B01BDB}"/>
            </c:ext>
          </c:extLst>
        </c:ser>
        <c:dLbls>
          <c:showLegendKey val="0"/>
          <c:showVal val="1"/>
          <c:showCatName val="0"/>
          <c:showSerName val="0"/>
          <c:showPercent val="0"/>
          <c:showBubbleSize val="0"/>
        </c:dLbls>
        <c:gapWidth val="150"/>
        <c:axId val="470075344"/>
        <c:axId val="470076128"/>
      </c:barChart>
      <c:catAx>
        <c:axId val="470075344"/>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470076128"/>
        <c:crosses val="autoZero"/>
        <c:auto val="0"/>
        <c:lblAlgn val="ctr"/>
        <c:lblOffset val="0"/>
        <c:tickLblSkip val="1"/>
        <c:noMultiLvlLbl val="0"/>
      </c:catAx>
      <c:valAx>
        <c:axId val="470076128"/>
        <c:scaling>
          <c:orientation val="minMax"/>
          <c:min val="0"/>
        </c:scaling>
        <c:delete val="0"/>
        <c:axPos val="l"/>
        <c:majorGridlines>
          <c:spPr>
            <a:ln w="3175">
              <a:solidFill>
                <a:srgbClr val="ECF1FB"/>
              </a:solidFill>
            </a:ln>
          </c:spPr>
        </c:majorGridlines>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0075344"/>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rgbClr val="C1D1F1"/>
                  </a:gs>
                  <a:gs pos="100000">
                    <a:srgbClr val="333399"/>
                  </a:gs>
                </a:gsLst>
                <a:lin ang="0" scaled="1"/>
              </a:gradFill>
            </c:spPr>
            <c:extLst>
              <c:ext xmlns:c16="http://schemas.microsoft.com/office/drawing/2014/chart" uri="{C3380CC4-5D6E-409C-BE32-E72D297353CC}">
                <c16:uniqueId val="{00000001-8E20-4EE1-A30C-969B6081F03C}"/>
              </c:ext>
            </c:extLst>
          </c:dPt>
          <c:dPt>
            <c:idx val="2"/>
            <c:invertIfNegative val="0"/>
            <c:bubble3D val="0"/>
            <c:spPr>
              <a:solidFill>
                <a:sysClr val="window" lastClr="FFFFFF">
                  <a:lumMod val="65000"/>
                </a:sysClr>
              </a:solidFill>
            </c:spPr>
            <c:extLst>
              <c:ext xmlns:c16="http://schemas.microsoft.com/office/drawing/2014/chart" uri="{C3380CC4-5D6E-409C-BE32-E72D297353CC}">
                <c16:uniqueId val="{00000003-8E20-4EE1-A30C-969B6081F03C}"/>
              </c:ext>
            </c:extLst>
          </c:dPt>
          <c:dLbls>
            <c:delete val="1"/>
          </c:dLbls>
          <c:cat>
            <c:strRef>
              <c:f>Hoja1!$A$2:$A$4</c:f>
              <c:strCache>
                <c:ptCount val="3"/>
                <c:pt idx="0">
                  <c:v>RUP</c:v>
                </c:pt>
                <c:pt idx="1">
                  <c:v>PCB</c:v>
                </c:pt>
                <c:pt idx="2">
                  <c:v>DESL</c:v>
                </c:pt>
              </c:strCache>
            </c:strRef>
          </c:cat>
          <c:val>
            <c:numRef>
              <c:f>Hoja1!$B$2:$B$4</c:f>
              <c:numCache>
                <c:formatCode>General</c:formatCode>
                <c:ptCount val="3"/>
                <c:pt idx="0">
                  <c:v>10.860000000000014</c:v>
                </c:pt>
                <c:pt idx="1">
                  <c:v>9.81</c:v>
                </c:pt>
                <c:pt idx="2">
                  <c:v>11.1</c:v>
                </c:pt>
              </c:numCache>
            </c:numRef>
          </c:val>
          <c:extLst>
            <c:ext xmlns:c16="http://schemas.microsoft.com/office/drawing/2014/chart" uri="{C3380CC4-5D6E-409C-BE32-E72D297353CC}">
              <c16:uniqueId val="{00000004-8E20-4EE1-A30C-969B6081F03C}"/>
            </c:ext>
          </c:extLst>
        </c:ser>
        <c:dLbls>
          <c:showLegendKey val="0"/>
          <c:showVal val="1"/>
          <c:showCatName val="0"/>
          <c:showSerName val="0"/>
          <c:showPercent val="0"/>
          <c:showBubbleSize val="0"/>
        </c:dLbls>
        <c:gapWidth val="150"/>
        <c:axId val="470069856"/>
        <c:axId val="470071816"/>
      </c:barChart>
      <c:catAx>
        <c:axId val="470069856"/>
        <c:scaling>
          <c:orientation val="minMax"/>
        </c:scaling>
        <c:delete val="0"/>
        <c:axPos val="b"/>
        <c:numFmt formatCode="General" sourceLinked="0"/>
        <c:majorTickMark val="none"/>
        <c:minorTickMark val="none"/>
        <c:tickLblPos val="low"/>
        <c:spPr>
          <a:ln>
            <a:solidFill>
              <a:srgbClr val="99CB38"/>
            </a:solidFill>
          </a:ln>
        </c:spPr>
        <c:txPr>
          <a:bodyPr anchor="b"/>
          <a:lstStyle/>
          <a:p>
            <a:pPr>
              <a:defRPr sz="1200">
                <a:solidFill>
                  <a:srgbClr val="00703C"/>
                </a:solidFill>
              </a:defRPr>
            </a:pPr>
            <a:endParaRPr lang="pt-PT"/>
          </a:p>
        </c:txPr>
        <c:crossAx val="470071816"/>
        <c:crosses val="autoZero"/>
        <c:auto val="0"/>
        <c:lblAlgn val="ctr"/>
        <c:lblOffset val="0"/>
        <c:tickLblSkip val="1"/>
        <c:noMultiLvlLbl val="0"/>
      </c:catAx>
      <c:valAx>
        <c:axId val="470071816"/>
        <c:scaling>
          <c:orientation val="minMax"/>
          <c:min val="0"/>
        </c:scaling>
        <c:delete val="0"/>
        <c:axPos val="l"/>
        <c:majorGridlines>
          <c:spPr>
            <a:ln w="3175">
              <a:solidFill>
                <a:srgbClr val="ECF1FB"/>
              </a:solidFill>
            </a:ln>
          </c:spPr>
        </c:majorGridlines>
        <c:numFmt formatCode="General" sourceLinked="1"/>
        <c:majorTickMark val="out"/>
        <c:minorTickMark val="none"/>
        <c:tickLblPos val="nextTo"/>
        <c:spPr>
          <a:ln>
            <a:solidFill>
              <a:srgbClr val="99CB38"/>
            </a:solidFill>
          </a:ln>
        </c:spPr>
        <c:txPr>
          <a:bodyPr/>
          <a:lstStyle/>
          <a:p>
            <a:pPr>
              <a:defRPr sz="1100">
                <a:solidFill>
                  <a:srgbClr val="00703C"/>
                </a:solidFill>
              </a:defRPr>
            </a:pPr>
            <a:endParaRPr lang="pt-PT"/>
          </a:p>
        </c:txPr>
        <c:crossAx val="470069856"/>
        <c:crosses val="autoZero"/>
        <c:crossBetween val="between"/>
      </c:valAx>
      <c:spPr>
        <a:ln>
          <a:noFill/>
        </a:ln>
      </c:spPr>
    </c:plotArea>
    <c:plotVisOnly val="1"/>
    <c:dispBlanksAs val="gap"/>
    <c:showDLblsOverMax val="0"/>
  </c:chart>
  <c:txPr>
    <a:bodyPr/>
    <a:lstStyle/>
    <a:p>
      <a:pPr>
        <a:defRPr sz="1800"/>
      </a:pPr>
      <a:endParaRPr lang="pt-PT"/>
    </a:p>
  </c:txPr>
  <c:externalData r:id="rId2">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rgbClr val="C1D1F1"/>
                  </a:gs>
                  <a:gs pos="100000">
                    <a:srgbClr val="333399"/>
                  </a:gs>
                </a:gsLst>
                <a:lin ang="0" scaled="1"/>
              </a:gradFill>
            </c:spPr>
            <c:extLst>
              <c:ext xmlns:c16="http://schemas.microsoft.com/office/drawing/2014/chart" uri="{C3380CC4-5D6E-409C-BE32-E72D297353CC}">
                <c16:uniqueId val="{00000001-ADBE-4DAD-99BA-310F9633583B}"/>
              </c:ext>
            </c:extLst>
          </c:dPt>
          <c:dPt>
            <c:idx val="2"/>
            <c:invertIfNegative val="0"/>
            <c:bubble3D val="0"/>
            <c:spPr>
              <a:solidFill>
                <a:schemeClr val="bg1">
                  <a:lumMod val="65000"/>
                </a:schemeClr>
              </a:solidFill>
            </c:spPr>
            <c:extLst>
              <c:ext xmlns:c16="http://schemas.microsoft.com/office/drawing/2014/chart" uri="{C3380CC4-5D6E-409C-BE32-E72D297353CC}">
                <c16:uniqueId val="{00000003-ADBE-4DAD-99BA-310F9633583B}"/>
              </c:ext>
            </c:extLst>
          </c:dPt>
          <c:dLbls>
            <c:delete val="1"/>
          </c:dLbls>
          <c:cat>
            <c:strRef>
              <c:f>Hoja1!$A$2:$A$4</c:f>
              <c:strCache>
                <c:ptCount val="3"/>
                <c:pt idx="0">
                  <c:v>RUP</c:v>
                </c:pt>
                <c:pt idx="1">
                  <c:v>PCB</c:v>
                </c:pt>
                <c:pt idx="2">
                  <c:v>DESL</c:v>
                </c:pt>
              </c:strCache>
            </c:strRef>
          </c:cat>
          <c:val>
            <c:numRef>
              <c:f>Hoja1!$B$2:$B$4</c:f>
              <c:numCache>
                <c:formatCode>General</c:formatCode>
                <c:ptCount val="3"/>
                <c:pt idx="0">
                  <c:v>22.06</c:v>
                </c:pt>
                <c:pt idx="1">
                  <c:v>20.45</c:v>
                </c:pt>
                <c:pt idx="2">
                  <c:v>18.3</c:v>
                </c:pt>
              </c:numCache>
            </c:numRef>
          </c:val>
          <c:extLst>
            <c:ext xmlns:c16="http://schemas.microsoft.com/office/drawing/2014/chart" uri="{C3380CC4-5D6E-409C-BE32-E72D297353CC}">
              <c16:uniqueId val="{00000004-ADBE-4DAD-99BA-310F9633583B}"/>
            </c:ext>
          </c:extLst>
        </c:ser>
        <c:dLbls>
          <c:showLegendKey val="0"/>
          <c:showVal val="1"/>
          <c:showCatName val="0"/>
          <c:showSerName val="0"/>
          <c:showPercent val="0"/>
          <c:showBubbleSize val="0"/>
        </c:dLbls>
        <c:gapWidth val="150"/>
        <c:axId val="470072208"/>
        <c:axId val="470072992"/>
      </c:barChart>
      <c:catAx>
        <c:axId val="470072208"/>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470072992"/>
        <c:crosses val="autoZero"/>
        <c:auto val="0"/>
        <c:lblAlgn val="ctr"/>
        <c:lblOffset val="0"/>
        <c:tickLblSkip val="1"/>
        <c:noMultiLvlLbl val="0"/>
      </c:catAx>
      <c:valAx>
        <c:axId val="470072992"/>
        <c:scaling>
          <c:orientation val="minMax"/>
        </c:scaling>
        <c:delete val="0"/>
        <c:axPos val="l"/>
        <c:majorGridlines>
          <c:spPr>
            <a:ln w="3175">
              <a:solidFill>
                <a:srgbClr val="ECF1FB"/>
              </a:solidFill>
            </a:ln>
          </c:spPr>
        </c:majorGridlines>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0072208"/>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140070331623287"/>
          <c:y val="8.9566637422045944E-2"/>
          <c:w val="0.83051409609986238"/>
          <c:h val="0.86863659106047286"/>
        </c:manualLayout>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chemeClr val="accent2">
                      <a:lumMod val="60000"/>
                      <a:lumOff val="40000"/>
                    </a:schemeClr>
                  </a:gs>
                  <a:gs pos="100000">
                    <a:srgbClr val="333399"/>
                  </a:gs>
                </a:gsLst>
                <a:lin ang="0" scaled="1"/>
              </a:gra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B4E2-4F01-99E3-B65BC8120E90}"/>
              </c:ext>
            </c:extLst>
          </c:dPt>
          <c:dPt>
            <c:idx val="2"/>
            <c:invertIfNegative val="0"/>
            <c:bubble3D val="0"/>
            <c:spPr>
              <a:solidFill>
                <a:schemeClr val="bg1">
                  <a:lumMod val="75000"/>
                </a:schemeClr>
              </a:soli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3-B4E2-4F01-99E3-B65BC8120E90}"/>
              </c:ext>
            </c:extLst>
          </c:dPt>
          <c:dLbls>
            <c:delete val="1"/>
          </c:dLbls>
          <c:cat>
            <c:strRef>
              <c:f>Hoja1!$A$2:$A$4</c:f>
              <c:strCache>
                <c:ptCount val="3"/>
                <c:pt idx="0">
                  <c:v>Rupatadine</c:v>
                </c:pt>
                <c:pt idx="1">
                  <c:v>Placebo</c:v>
                </c:pt>
                <c:pt idx="2">
                  <c:v>Desloratidine</c:v>
                </c:pt>
              </c:strCache>
            </c:strRef>
          </c:cat>
          <c:val>
            <c:numRef>
              <c:f>Hoja1!$B$2:$B$4</c:f>
              <c:numCache>
                <c:formatCode>General</c:formatCode>
                <c:ptCount val="3"/>
                <c:pt idx="0">
                  <c:v>-55.83</c:v>
                </c:pt>
                <c:pt idx="1">
                  <c:v>-30.29</c:v>
                </c:pt>
                <c:pt idx="2">
                  <c:v>-48.43</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4-B4E2-4F01-99E3-B65BC8120E90}"/>
            </c:ext>
          </c:extLst>
        </c:ser>
        <c:dLbls>
          <c:showLegendKey val="0"/>
          <c:showVal val="1"/>
          <c:showCatName val="0"/>
          <c:showSerName val="0"/>
          <c:showPercent val="0"/>
          <c:showBubbleSize val="0"/>
        </c:dLbls>
        <c:gapWidth val="150"/>
        <c:axId val="265460704"/>
        <c:axId val="265459136"/>
      </c:barChart>
      <c:catAx>
        <c:axId val="265460704"/>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200">
                <a:solidFill>
                  <a:srgbClr val="333399"/>
                </a:solidFill>
              </a:defRPr>
            </a:pPr>
            <a:endParaRPr lang="pt-PT"/>
          </a:p>
        </c:txPr>
        <c:crossAx val="265459136"/>
        <c:crosses val="autoZero"/>
        <c:auto val="0"/>
        <c:lblAlgn val="ctr"/>
        <c:lblOffset val="0"/>
        <c:tickLblSkip val="1"/>
        <c:noMultiLvlLbl val="0"/>
      </c:catAx>
      <c:valAx>
        <c:axId val="265459136"/>
        <c:scaling>
          <c:orientation val="minMax"/>
        </c:scaling>
        <c:delete val="0"/>
        <c:axPos val="l"/>
        <c:majorGridlines>
          <c:spPr>
            <a:ln w="3175">
              <a:solidFill>
                <a:srgbClr val="ECF1FB"/>
              </a:solidFill>
            </a:ln>
          </c:spPr>
        </c:majorGridlines>
        <c:title>
          <c:tx>
            <c:rich>
              <a:bodyPr rot="-5400000" vert="horz"/>
              <a:lstStyle/>
              <a:p>
                <a:pPr>
                  <a:defRPr>
                    <a:solidFill>
                      <a:schemeClr val="accent2">
                        <a:lumMod val="50000"/>
                      </a:schemeClr>
                    </a:solidFill>
                  </a:defRPr>
                </a:pPr>
                <a:r>
                  <a:rPr lang="pt-BR" sz="1100" b="1" dirty="0">
                    <a:solidFill>
                      <a:schemeClr val="accent2">
                        <a:lumMod val="50000"/>
                      </a:schemeClr>
                    </a:solidFill>
                  </a:rPr>
                  <a:t>% de variação da UAS7 adaptada (dia 1-42)</a:t>
                </a:r>
                <a:br>
                  <a:rPr lang="pt-BR" dirty="0">
                    <a:solidFill>
                      <a:schemeClr val="accent2">
                        <a:lumMod val="50000"/>
                      </a:schemeClr>
                    </a:solidFill>
                  </a:rPr>
                </a:br>
                <a:r>
                  <a:rPr lang="pt-BR" dirty="0">
                    <a:solidFill>
                      <a:schemeClr val="accent2">
                        <a:lumMod val="50000"/>
                      </a:schemeClr>
                    </a:solidFill>
                  </a:rPr>
                  <a:t> </a:t>
                </a:r>
                <a:r>
                  <a:rPr lang="pt-BR" sz="1100" b="1" baseline="0" dirty="0">
                    <a:solidFill>
                      <a:schemeClr val="accent2">
                        <a:lumMod val="50000"/>
                      </a:schemeClr>
                    </a:solidFill>
                  </a:rPr>
                  <a:t>por</a:t>
                </a:r>
                <a:r>
                  <a:rPr lang="pt-BR" dirty="0">
                    <a:solidFill>
                      <a:schemeClr val="accent2">
                        <a:lumMod val="50000"/>
                      </a:schemeClr>
                    </a:solidFill>
                  </a:rPr>
                  <a:t> </a:t>
                </a:r>
                <a:r>
                  <a:rPr lang="pt-BR" sz="1100" b="1" baseline="0" dirty="0">
                    <a:solidFill>
                      <a:schemeClr val="accent2">
                        <a:lumMod val="50000"/>
                      </a:schemeClr>
                    </a:solidFill>
                  </a:rPr>
                  <a:t>tratamento (ITT)</a:t>
                </a:r>
                <a:endParaRPr lang="pt-BR" sz="1100" b="1" dirty="0">
                  <a:solidFill>
                    <a:schemeClr val="accent2">
                      <a:lumMod val="50000"/>
                    </a:schemeClr>
                  </a:solidFill>
                </a:endParaRPr>
              </a:p>
            </c:rich>
          </c:tx>
          <c:layout>
            <c:manualLayout>
              <c:xMode val="edge"/>
              <c:yMode val="edge"/>
              <c:x val="1.6441091439913377E-3"/>
              <c:y val="0.20387208891713154"/>
            </c:manualLayout>
          </c:layout>
          <c:overlay val="0"/>
        </c:title>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265460704"/>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userShapes r:id="rId2"/>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68746865288996"/>
          <c:y val="8.6578489126004965E-2"/>
          <c:w val="0.85843513114838921"/>
          <c:h val="0.87308776999740656"/>
        </c:manualLayout>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chemeClr val="accent2">
                      <a:lumMod val="60000"/>
                      <a:lumOff val="40000"/>
                    </a:schemeClr>
                  </a:gs>
                  <a:gs pos="100000">
                    <a:srgbClr val="333399"/>
                  </a:gs>
                </a:gsLst>
                <a:lin ang="0" scaled="1"/>
              </a:gradFill>
            </c:spPr>
            <c:extLst>
              <c:ext xmlns:c16="http://schemas.microsoft.com/office/drawing/2014/chart" uri="{C3380CC4-5D6E-409C-BE32-E72D297353CC}">
                <c16:uniqueId val="{00000001-167B-400A-8EA6-E54270D24E6F}"/>
              </c:ext>
            </c:extLst>
          </c:dPt>
          <c:dPt>
            <c:idx val="2"/>
            <c:invertIfNegative val="0"/>
            <c:bubble3D val="0"/>
            <c:spPr>
              <a:solidFill>
                <a:schemeClr val="bg1">
                  <a:lumMod val="65000"/>
                </a:schemeClr>
              </a:solidFill>
            </c:spPr>
            <c:extLst>
              <c:ext xmlns:c16="http://schemas.microsoft.com/office/drawing/2014/chart" uri="{C3380CC4-5D6E-409C-BE32-E72D297353CC}">
                <c16:uniqueId val="{00000003-167B-400A-8EA6-E54270D24E6F}"/>
              </c:ext>
            </c:extLst>
          </c:dPt>
          <c:dLbls>
            <c:delete val="1"/>
          </c:dLbls>
          <c:cat>
            <c:strRef>
              <c:f>Hoja1!$A$2:$A$4</c:f>
              <c:strCache>
                <c:ptCount val="3"/>
                <c:pt idx="0">
                  <c:v>RUP (n = 19)</c:v>
                </c:pt>
                <c:pt idx="1">
                  <c:v>PCB (n = 22)</c:v>
                </c:pt>
                <c:pt idx="2">
                  <c:v>DESL (n = 22)</c:v>
                </c:pt>
              </c:strCache>
            </c:strRef>
          </c:cat>
          <c:val>
            <c:numRef>
              <c:f>Hoja1!$B$2:$B$4</c:f>
              <c:numCache>
                <c:formatCode>General</c:formatCode>
                <c:ptCount val="3"/>
                <c:pt idx="0">
                  <c:v>-63.56</c:v>
                </c:pt>
                <c:pt idx="1">
                  <c:v>-27.19</c:v>
                </c:pt>
                <c:pt idx="2">
                  <c:v>-45.53</c:v>
                </c:pt>
              </c:numCache>
            </c:numRef>
          </c:val>
          <c:extLst>
            <c:ext xmlns:c16="http://schemas.microsoft.com/office/drawing/2014/chart" uri="{C3380CC4-5D6E-409C-BE32-E72D297353CC}">
              <c16:uniqueId val="{00000004-167B-400A-8EA6-E54270D24E6F}"/>
            </c:ext>
          </c:extLst>
        </c:ser>
        <c:dLbls>
          <c:showLegendKey val="0"/>
          <c:showVal val="1"/>
          <c:showCatName val="0"/>
          <c:showSerName val="0"/>
          <c:showPercent val="0"/>
          <c:showBubbleSize val="0"/>
        </c:dLbls>
        <c:gapWidth val="150"/>
        <c:axId val="467109600"/>
        <c:axId val="265464232"/>
      </c:barChart>
      <c:catAx>
        <c:axId val="467109600"/>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000">
                <a:solidFill>
                  <a:schemeClr val="accent2">
                    <a:lumMod val="50000"/>
                  </a:schemeClr>
                </a:solidFill>
              </a:defRPr>
            </a:pPr>
            <a:endParaRPr lang="pt-PT"/>
          </a:p>
        </c:txPr>
        <c:crossAx val="265464232"/>
        <c:crosses val="autoZero"/>
        <c:auto val="0"/>
        <c:lblAlgn val="ctr"/>
        <c:lblOffset val="0"/>
        <c:tickLblSkip val="1"/>
        <c:noMultiLvlLbl val="0"/>
      </c:catAx>
      <c:valAx>
        <c:axId val="265464232"/>
        <c:scaling>
          <c:orientation val="minMax"/>
        </c:scaling>
        <c:delete val="0"/>
        <c:axPos val="l"/>
        <c:majorGridlines>
          <c:spPr>
            <a:ln w="3175">
              <a:solidFill>
                <a:srgbClr val="ECF1FB"/>
              </a:solidFill>
            </a:ln>
          </c:spPr>
        </c:majorGridlines>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67109600"/>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chemeClr val="accent2">
                      <a:lumMod val="60000"/>
                      <a:lumOff val="40000"/>
                    </a:schemeClr>
                  </a:gs>
                  <a:gs pos="100000">
                    <a:srgbClr val="333399"/>
                  </a:gs>
                </a:gsLst>
                <a:lin ang="0" scaled="1"/>
              </a:gradFill>
            </c:spPr>
            <c:extLst>
              <c:ext xmlns:c16="http://schemas.microsoft.com/office/drawing/2014/chart" uri="{C3380CC4-5D6E-409C-BE32-E72D297353CC}">
                <c16:uniqueId val="{00000001-F149-44BB-9A3F-F97B671991DD}"/>
              </c:ext>
            </c:extLst>
          </c:dPt>
          <c:dPt>
            <c:idx val="2"/>
            <c:invertIfNegative val="0"/>
            <c:bubble3D val="0"/>
            <c:spPr>
              <a:solidFill>
                <a:schemeClr val="bg1">
                  <a:lumMod val="65000"/>
                </a:schemeClr>
              </a:solidFill>
            </c:spPr>
            <c:extLst>
              <c:ext xmlns:c16="http://schemas.microsoft.com/office/drawing/2014/chart" uri="{C3380CC4-5D6E-409C-BE32-E72D297353CC}">
                <c16:uniqueId val="{00000003-F149-44BB-9A3F-F97B671991DD}"/>
              </c:ext>
            </c:extLst>
          </c:dPt>
          <c:dLbls>
            <c:delete val="1"/>
          </c:dLbls>
          <c:cat>
            <c:strRef>
              <c:f>Hoja1!$A$2:$A$4</c:f>
              <c:strCache>
                <c:ptCount val="3"/>
                <c:pt idx="0">
                  <c:v>RUP (n = 43)</c:v>
                </c:pt>
                <c:pt idx="1">
                  <c:v>PCB (n = 42)</c:v>
                </c:pt>
                <c:pt idx="2">
                  <c:v>DESL (n = 45)</c:v>
                </c:pt>
              </c:strCache>
            </c:strRef>
          </c:cat>
          <c:val>
            <c:numRef>
              <c:f>Hoja1!$B$2:$B$4</c:f>
              <c:numCache>
                <c:formatCode>General</c:formatCode>
                <c:ptCount val="3"/>
                <c:pt idx="0">
                  <c:v>-52.41</c:v>
                </c:pt>
                <c:pt idx="1">
                  <c:v>-31.91</c:v>
                </c:pt>
                <c:pt idx="2">
                  <c:v>-49.86</c:v>
                </c:pt>
              </c:numCache>
            </c:numRef>
          </c:val>
          <c:extLst>
            <c:ext xmlns:c16="http://schemas.microsoft.com/office/drawing/2014/chart" uri="{C3380CC4-5D6E-409C-BE32-E72D297353CC}">
              <c16:uniqueId val="{00000004-F149-44BB-9A3F-F97B671991DD}"/>
            </c:ext>
          </c:extLst>
        </c:ser>
        <c:dLbls>
          <c:showLegendKey val="0"/>
          <c:showVal val="1"/>
          <c:showCatName val="0"/>
          <c:showSerName val="0"/>
          <c:showPercent val="0"/>
          <c:showBubbleSize val="0"/>
        </c:dLbls>
        <c:gapWidth val="150"/>
        <c:axId val="470848560"/>
        <c:axId val="470848168"/>
      </c:barChart>
      <c:catAx>
        <c:axId val="470848560"/>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000">
                <a:solidFill>
                  <a:schemeClr val="accent2">
                    <a:lumMod val="50000"/>
                  </a:schemeClr>
                </a:solidFill>
              </a:defRPr>
            </a:pPr>
            <a:endParaRPr lang="pt-PT"/>
          </a:p>
        </c:txPr>
        <c:crossAx val="470848168"/>
        <c:crosses val="autoZero"/>
        <c:auto val="0"/>
        <c:lblAlgn val="ctr"/>
        <c:lblOffset val="0"/>
        <c:tickLblSkip val="1"/>
        <c:noMultiLvlLbl val="0"/>
      </c:catAx>
      <c:valAx>
        <c:axId val="470848168"/>
        <c:scaling>
          <c:orientation val="minMax"/>
        </c:scaling>
        <c:delete val="0"/>
        <c:axPos val="l"/>
        <c:majorGridlines>
          <c:spPr>
            <a:ln w="3175">
              <a:solidFill>
                <a:srgbClr val="ECF1FB"/>
              </a:solidFill>
            </a:ln>
          </c:spPr>
        </c:majorGridlines>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0848560"/>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430254141216667"/>
          <c:y val="9.3274829335709686E-2"/>
          <c:w val="0.83725876092215668"/>
          <c:h val="0.86319795068274496"/>
        </c:manualLayout>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chemeClr val="accent2">
                      <a:lumMod val="60000"/>
                      <a:lumOff val="40000"/>
                    </a:schemeClr>
                  </a:gs>
                  <a:gs pos="100000">
                    <a:srgbClr val="333399"/>
                  </a:gs>
                </a:gsLst>
                <a:lin ang="0" scaled="1"/>
              </a:gra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698A-4DB0-BFE5-82E00FC64E57}"/>
              </c:ext>
            </c:extLst>
          </c:dPt>
          <c:dPt>
            <c:idx val="2"/>
            <c:invertIfNegative val="0"/>
            <c:bubble3D val="0"/>
            <c:spPr>
              <a:solidFill>
                <a:schemeClr val="bg1">
                  <a:lumMod val="65000"/>
                </a:schemeClr>
              </a:soli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3-698A-4DB0-BFE5-82E00FC64E57}"/>
              </c:ext>
            </c:extLst>
          </c:dPt>
          <c:dLbls>
            <c:delete val="1"/>
          </c:dLbls>
          <c:cat>
            <c:strRef>
              <c:f>Hoja1!$A$2:$A$4</c:f>
              <c:strCache>
                <c:ptCount val="3"/>
                <c:pt idx="0">
                  <c:v>Rupatadina</c:v>
                </c:pt>
                <c:pt idx="1">
                  <c:v>Placebo</c:v>
                </c:pt>
                <c:pt idx="2">
                  <c:v>Desloratadina</c:v>
                </c:pt>
              </c:strCache>
            </c:strRef>
          </c:cat>
          <c:val>
            <c:numRef>
              <c:f>Hoja1!$B$2:$B$4</c:f>
              <c:numCache>
                <c:formatCode>General</c:formatCode>
                <c:ptCount val="3"/>
                <c:pt idx="0">
                  <c:v>-56.72</c:v>
                </c:pt>
                <c:pt idx="1">
                  <c:v>-22.74</c:v>
                </c:pt>
                <c:pt idx="2">
                  <c:v>-49.42</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4-698A-4DB0-BFE5-82E00FC64E57}"/>
            </c:ext>
          </c:extLst>
        </c:ser>
        <c:dLbls>
          <c:showLegendKey val="0"/>
          <c:showVal val="1"/>
          <c:showCatName val="0"/>
          <c:showSerName val="0"/>
          <c:showPercent val="0"/>
          <c:showBubbleSize val="0"/>
        </c:dLbls>
        <c:gapWidth val="150"/>
        <c:axId val="470847776"/>
        <c:axId val="470848952"/>
      </c:barChart>
      <c:catAx>
        <c:axId val="470847776"/>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200">
                <a:solidFill>
                  <a:schemeClr val="accent2">
                    <a:lumMod val="50000"/>
                  </a:schemeClr>
                </a:solidFill>
              </a:defRPr>
            </a:pPr>
            <a:endParaRPr lang="pt-PT"/>
          </a:p>
        </c:txPr>
        <c:crossAx val="470848952"/>
        <c:crosses val="autoZero"/>
        <c:auto val="0"/>
        <c:lblAlgn val="ctr"/>
        <c:lblOffset val="0"/>
        <c:tickLblSkip val="1"/>
        <c:noMultiLvlLbl val="0"/>
      </c:catAx>
      <c:valAx>
        <c:axId val="470848952"/>
        <c:scaling>
          <c:orientation val="minMax"/>
        </c:scaling>
        <c:delete val="0"/>
        <c:axPos val="l"/>
        <c:majorGridlines>
          <c:spPr>
            <a:ln w="3175">
              <a:solidFill>
                <a:srgbClr val="ECF1FB"/>
              </a:solidFill>
            </a:ln>
          </c:spPr>
        </c:majorGridlines>
        <c:title>
          <c:tx>
            <c:rich>
              <a:bodyPr rot="-5400000" vert="horz"/>
              <a:lstStyle/>
              <a:p>
                <a:pPr>
                  <a:defRPr>
                    <a:solidFill>
                      <a:schemeClr val="accent2">
                        <a:lumMod val="50000"/>
                      </a:schemeClr>
                    </a:solidFill>
                  </a:defRPr>
                </a:pPr>
                <a:r>
                  <a:rPr lang="pt-BR" sz="1100" b="1" dirty="0">
                    <a:solidFill>
                      <a:schemeClr val="accent2">
                        <a:lumMod val="50000"/>
                      </a:schemeClr>
                    </a:solidFill>
                  </a:rPr>
                  <a:t>% de variação do</a:t>
                </a:r>
                <a:r>
                  <a:rPr lang="pt-BR" sz="1100" b="1" baseline="0" dirty="0">
                    <a:solidFill>
                      <a:schemeClr val="accent2">
                        <a:lumMod val="50000"/>
                      </a:schemeClr>
                    </a:solidFill>
                  </a:rPr>
                  <a:t> n.º de pápulas </a:t>
                </a:r>
                <a:r>
                  <a:rPr lang="pt-BR" sz="1100" b="1" dirty="0" err="1">
                    <a:solidFill>
                      <a:schemeClr val="accent2">
                        <a:lumMod val="50000"/>
                      </a:schemeClr>
                    </a:solidFill>
                  </a:rPr>
                  <a:t>MNW</a:t>
                </a:r>
                <a:r>
                  <a:rPr lang="pt-BR" sz="1100" b="1" dirty="0">
                    <a:solidFill>
                      <a:schemeClr val="accent2">
                        <a:lumMod val="50000"/>
                      </a:schemeClr>
                    </a:solidFill>
                  </a:rPr>
                  <a:t>  (ITT)</a:t>
                </a:r>
              </a:p>
            </c:rich>
          </c:tx>
          <c:layout>
            <c:manualLayout>
              <c:xMode val="edge"/>
              <c:yMode val="edge"/>
              <c:x val="1.5086207181008221E-2"/>
              <c:y val="0.17024797885617624"/>
            </c:manualLayout>
          </c:layout>
          <c:overlay val="0"/>
        </c:title>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0847776"/>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25298355183176"/>
          <c:y val="8.9022170101077797E-2"/>
          <c:w val="0.85289815326232377"/>
          <c:h val="0.86943513709722453"/>
        </c:manualLayout>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chemeClr val="accent2">
                      <a:lumMod val="60000"/>
                      <a:lumOff val="40000"/>
                    </a:schemeClr>
                  </a:gs>
                  <a:gs pos="100000">
                    <a:srgbClr val="333399"/>
                  </a:gs>
                </a:gsLst>
                <a:lin ang="0" scaled="1"/>
              </a:gra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4C52-4EF0-8D16-BDD5D8AA09EF}"/>
              </c:ext>
            </c:extLst>
          </c:dPt>
          <c:dPt>
            <c:idx val="2"/>
            <c:invertIfNegative val="0"/>
            <c:bubble3D val="0"/>
            <c:spPr>
              <a:solidFill>
                <a:schemeClr val="bg1">
                  <a:lumMod val="65000"/>
                </a:schemeClr>
              </a:soli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3-4C52-4EF0-8D16-BDD5D8AA09EF}"/>
              </c:ext>
            </c:extLst>
          </c:dPt>
          <c:dLbls>
            <c:delete val="1"/>
          </c:dLbls>
          <c:cat>
            <c:strRef>
              <c:f>Hoja1!$A$2:$A$4</c:f>
              <c:strCache>
                <c:ptCount val="3"/>
                <c:pt idx="0">
                  <c:v>Rupatadina</c:v>
                </c:pt>
                <c:pt idx="1">
                  <c:v>Placebo</c:v>
                </c:pt>
                <c:pt idx="2">
                  <c:v>Desloratadina</c:v>
                </c:pt>
              </c:strCache>
            </c:strRef>
          </c:cat>
          <c:val>
            <c:numRef>
              <c:f>Hoja1!$B$2:$B$4</c:f>
              <c:numCache>
                <c:formatCode>General</c:formatCode>
                <c:ptCount val="3"/>
                <c:pt idx="0">
                  <c:v>-56.84</c:v>
                </c:pt>
                <c:pt idx="1">
                  <c:v>-33.42</c:v>
                </c:pt>
                <c:pt idx="2">
                  <c:v>-46.68</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4-4C52-4EF0-8D16-BDD5D8AA09EF}"/>
            </c:ext>
          </c:extLst>
        </c:ser>
        <c:dLbls>
          <c:showLegendKey val="0"/>
          <c:showVal val="1"/>
          <c:showCatName val="0"/>
          <c:showSerName val="0"/>
          <c:showPercent val="0"/>
          <c:showBubbleSize val="0"/>
        </c:dLbls>
        <c:gapWidth val="150"/>
        <c:axId val="470850128"/>
        <c:axId val="470847384"/>
      </c:barChart>
      <c:catAx>
        <c:axId val="470850128"/>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200">
                <a:solidFill>
                  <a:schemeClr val="accent2">
                    <a:lumMod val="50000"/>
                  </a:schemeClr>
                </a:solidFill>
              </a:defRPr>
            </a:pPr>
            <a:endParaRPr lang="pt-PT"/>
          </a:p>
        </c:txPr>
        <c:crossAx val="470847384"/>
        <c:crosses val="autoZero"/>
        <c:auto val="0"/>
        <c:lblAlgn val="ctr"/>
        <c:lblOffset val="0"/>
        <c:tickLblSkip val="1"/>
        <c:noMultiLvlLbl val="0"/>
      </c:catAx>
      <c:valAx>
        <c:axId val="470847384"/>
        <c:scaling>
          <c:orientation val="minMax"/>
        </c:scaling>
        <c:delete val="0"/>
        <c:axPos val="l"/>
        <c:majorGridlines>
          <c:spPr>
            <a:ln w="3175">
              <a:solidFill>
                <a:srgbClr val="ECF1FB"/>
              </a:solidFill>
            </a:ln>
          </c:spPr>
        </c:majorGridlines>
        <c:title>
          <c:tx>
            <c:rich>
              <a:bodyPr rot="-5400000" vert="horz"/>
              <a:lstStyle/>
              <a:p>
                <a:pPr>
                  <a:defRPr>
                    <a:solidFill>
                      <a:schemeClr val="accent2">
                        <a:lumMod val="50000"/>
                      </a:schemeClr>
                    </a:solidFill>
                  </a:defRPr>
                </a:pPr>
                <a:r>
                  <a:rPr lang="pt-BR" sz="1100" b="1" dirty="0">
                    <a:solidFill>
                      <a:schemeClr val="accent2">
                        <a:lumMod val="50000"/>
                      </a:schemeClr>
                    </a:solidFill>
                  </a:rPr>
                  <a:t>% de variação na pontuação </a:t>
                </a:r>
                <a:r>
                  <a:rPr lang="pt-BR" sz="1100" b="1" dirty="0" err="1">
                    <a:solidFill>
                      <a:schemeClr val="accent2">
                        <a:lumMod val="50000"/>
                      </a:schemeClr>
                    </a:solidFill>
                  </a:rPr>
                  <a:t>MPS</a:t>
                </a:r>
                <a:r>
                  <a:rPr lang="pt-BR" sz="1100" b="1" dirty="0">
                    <a:solidFill>
                      <a:schemeClr val="accent2">
                        <a:lumMod val="50000"/>
                      </a:schemeClr>
                    </a:solidFill>
                  </a:rPr>
                  <a:t> </a:t>
                </a:r>
                <a:r>
                  <a:rPr lang="pt-BR" dirty="0">
                    <a:solidFill>
                      <a:schemeClr val="accent2">
                        <a:lumMod val="50000"/>
                      </a:schemeClr>
                    </a:solidFill>
                  </a:rPr>
                  <a:t> </a:t>
                </a:r>
                <a:r>
                  <a:rPr lang="pt-BR" sz="1100" b="1" dirty="0">
                    <a:solidFill>
                      <a:schemeClr val="accent2">
                        <a:lumMod val="50000"/>
                      </a:schemeClr>
                    </a:solidFill>
                  </a:rPr>
                  <a:t>(ITT)</a:t>
                </a:r>
              </a:p>
            </c:rich>
          </c:tx>
          <c:layout>
            <c:manualLayout>
              <c:xMode val="edge"/>
              <c:yMode val="edge"/>
              <c:x val="1.6226239259858621E-3"/>
              <c:y val="0.15303037918132573"/>
            </c:manualLayout>
          </c:layout>
          <c:overlay val="0"/>
        </c:title>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0850128"/>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Columna1</c:v>
                </c:pt>
              </c:strCache>
            </c:strRef>
          </c:tx>
          <c:spPr>
            <a:gradFill>
              <a:gsLst>
                <a:gs pos="0">
                  <a:srgbClr val="FFCC00"/>
                </a:gs>
                <a:gs pos="50000">
                  <a:srgbClr val="FFE265"/>
                </a:gs>
                <a:gs pos="100000">
                  <a:srgbClr val="FFC000"/>
                </a:gs>
              </a:gsLst>
              <a:lin ang="0" scaled="1"/>
            </a:gradFill>
          </c:spPr>
          <c:invertIfNegative val="0"/>
          <c:dPt>
            <c:idx val="0"/>
            <c:invertIfNegative val="0"/>
            <c:bubble3D val="0"/>
            <c:spPr>
              <a:gradFill>
                <a:gsLst>
                  <a:gs pos="0">
                    <a:srgbClr val="333399"/>
                  </a:gs>
                  <a:gs pos="50000">
                    <a:schemeClr val="accent2">
                      <a:lumMod val="60000"/>
                      <a:lumOff val="40000"/>
                    </a:schemeClr>
                  </a:gs>
                  <a:gs pos="100000">
                    <a:srgbClr val="333399"/>
                  </a:gs>
                </a:gsLst>
                <a:lin ang="0" scaled="1"/>
              </a:gra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1-C469-428C-9D89-2392D7B2D0B1}"/>
              </c:ext>
            </c:extLst>
          </c:dPt>
          <c:dPt>
            <c:idx val="2"/>
            <c:invertIfNegative val="0"/>
            <c:bubble3D val="0"/>
            <c:spPr>
              <a:solidFill>
                <a:schemeClr val="bg1">
                  <a:lumMod val="65000"/>
                </a:schemeClr>
              </a:solidFill>
            </c:spPr>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3-C469-428C-9D89-2392D7B2D0B1}"/>
              </c:ext>
            </c:extLst>
          </c:dPt>
          <c:dLbls>
            <c:delete val="1"/>
          </c:dLbls>
          <c:cat>
            <c:strRef>
              <c:f>Hoja1!$A$2:$A$4</c:f>
              <c:strCache>
                <c:ptCount val="3"/>
                <c:pt idx="0">
                  <c:v>Rupatadina</c:v>
                </c:pt>
                <c:pt idx="1">
                  <c:v>Placebo</c:v>
                </c:pt>
                <c:pt idx="2">
                  <c:v>Desloratadina</c:v>
                </c:pt>
              </c:strCache>
            </c:strRef>
          </c:cat>
          <c:val>
            <c:numRef>
              <c:f>Hoja1!$B$2:$B$4</c:f>
              <c:numCache>
                <c:formatCode>General</c:formatCode>
                <c:ptCount val="3"/>
                <c:pt idx="0">
                  <c:v>6.94</c:v>
                </c:pt>
                <c:pt idx="1">
                  <c:v>3.32</c:v>
                </c:pt>
                <c:pt idx="2">
                  <c:v>6.18</c:v>
                </c:pt>
              </c:numCache>
            </c:numRef>
          </c:val>
          <c:extLst xmlns:mc="http://schemas.openxmlformats.org/markup-compatibility/2006" xmlns:a14="http://schemas.microsoft.com/office/drawing/2010/main" xmlns:p="http://schemas.openxmlformats.org/presentationml/2006/main"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c:ext xmlns:c16="http://schemas.microsoft.com/office/drawing/2014/chart" uri="{C3380CC4-5D6E-409C-BE32-E72D297353CC}">
              <c16:uniqueId val="{00000004-C469-428C-9D89-2392D7B2D0B1}"/>
            </c:ext>
          </c:extLst>
        </c:ser>
        <c:dLbls>
          <c:showLegendKey val="0"/>
          <c:showVal val="1"/>
          <c:showCatName val="0"/>
          <c:showSerName val="0"/>
          <c:showPercent val="0"/>
          <c:showBubbleSize val="0"/>
        </c:dLbls>
        <c:gapWidth val="150"/>
        <c:axId val="472428456"/>
        <c:axId val="472427672"/>
      </c:barChart>
      <c:catAx>
        <c:axId val="472428456"/>
        <c:scaling>
          <c:orientation val="minMax"/>
        </c:scaling>
        <c:delete val="0"/>
        <c:axPos val="b"/>
        <c:numFmt formatCode="General" sourceLinked="0"/>
        <c:majorTickMark val="none"/>
        <c:minorTickMark val="none"/>
        <c:tickLblPos val="high"/>
        <c:spPr>
          <a:ln>
            <a:solidFill>
              <a:schemeClr val="accent1"/>
            </a:solidFill>
          </a:ln>
        </c:spPr>
        <c:txPr>
          <a:bodyPr anchor="b"/>
          <a:lstStyle/>
          <a:p>
            <a:pPr>
              <a:defRPr sz="1400">
                <a:solidFill>
                  <a:schemeClr val="accent2">
                    <a:lumMod val="50000"/>
                  </a:schemeClr>
                </a:solidFill>
              </a:defRPr>
            </a:pPr>
            <a:endParaRPr lang="pt-PT"/>
          </a:p>
        </c:txPr>
        <c:crossAx val="472427672"/>
        <c:crosses val="autoZero"/>
        <c:auto val="0"/>
        <c:lblAlgn val="ctr"/>
        <c:lblOffset val="0"/>
        <c:tickLblSkip val="1"/>
        <c:noMultiLvlLbl val="0"/>
      </c:catAx>
      <c:valAx>
        <c:axId val="472427672"/>
        <c:scaling>
          <c:orientation val="minMax"/>
        </c:scaling>
        <c:delete val="0"/>
        <c:axPos val="l"/>
        <c:majorGridlines>
          <c:spPr>
            <a:ln w="3175">
              <a:solidFill>
                <a:srgbClr val="ECF1FB"/>
              </a:solidFill>
            </a:ln>
          </c:spPr>
        </c:majorGridlines>
        <c:title>
          <c:tx>
            <c:rich>
              <a:bodyPr rot="-5400000" vert="horz"/>
              <a:lstStyle/>
              <a:p>
                <a:pPr>
                  <a:defRPr sz="1400">
                    <a:solidFill>
                      <a:schemeClr val="accent2">
                        <a:lumMod val="50000"/>
                      </a:schemeClr>
                    </a:solidFill>
                  </a:defRPr>
                </a:pPr>
                <a:r>
                  <a:rPr lang="es-ES" sz="1400" b="1" dirty="0">
                    <a:solidFill>
                      <a:schemeClr val="accent2">
                        <a:lumMod val="50000"/>
                      </a:schemeClr>
                    </a:solidFill>
                  </a:rPr>
                  <a:t>Variação absoluta entre o valor basal e o fim do tratamento (CDLQI)</a:t>
                </a:r>
              </a:p>
            </c:rich>
          </c:tx>
          <c:overlay val="0"/>
        </c:title>
        <c:numFmt formatCode="General" sourceLinked="0"/>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2428456"/>
        <c:crosses val="autoZero"/>
        <c:crossBetween val="between"/>
      </c:valAx>
      <c:spPr>
        <a:ln>
          <a:noFill/>
        </a:ln>
      </c:spPr>
    </c:plotArea>
    <c:plotVisOnly val="1"/>
    <c:dispBlanksAs val="gap"/>
    <c:showDLblsOverMax val="0"/>
  </c:chart>
  <c:txPr>
    <a:bodyPr/>
    <a:lstStyle/>
    <a:p>
      <a:pPr>
        <a:defRPr sz="1800"/>
      </a:pPr>
      <a:endParaRPr lang="pt-PT"/>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Total doentes (por braço)</c:v>
                </c:pt>
              </c:strCache>
            </c:strRef>
          </c:tx>
          <c:spPr>
            <a:gradFill>
              <a:gsLst>
                <a:gs pos="0">
                  <a:srgbClr val="FFCC00"/>
                </a:gs>
                <a:gs pos="50000">
                  <a:srgbClr val="FFE265"/>
                </a:gs>
                <a:gs pos="100000">
                  <a:srgbClr val="FFC000"/>
                </a:gs>
              </a:gsLst>
              <a:lin ang="0" scaled="1"/>
            </a:gradFill>
          </c:spPr>
          <c:invertIfNegative val="0"/>
          <c:dLbls>
            <c:spPr>
              <a:noFill/>
              <a:ln>
                <a:noFill/>
              </a:ln>
              <a:effectLst/>
            </c:spPr>
            <c:txPr>
              <a:bodyPr/>
              <a:lstStyle/>
              <a:p>
                <a:pPr>
                  <a:defRPr sz="1200">
                    <a:solidFill>
                      <a:schemeClr val="accent2">
                        <a:lumMod val="50000"/>
                      </a:schemeClr>
                    </a:solidFill>
                  </a:defRPr>
                </a:pPr>
                <a:endParaRPr lang="pt-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Hoja1!$A$2:$A$4</c:f>
              <c:strCache>
                <c:ptCount val="3"/>
                <c:pt idx="0">
                  <c:v>Placebo</c:v>
                </c:pt>
                <c:pt idx="1">
                  <c:v>Rupatadina 2.5 mg</c:v>
                </c:pt>
                <c:pt idx="2">
                  <c:v>Rupatadina 5 mg</c:v>
                </c:pt>
              </c:strCache>
            </c:strRef>
          </c:cat>
          <c:val>
            <c:numRef>
              <c:f>Hoja1!$B$2:$B$4</c:f>
              <c:numCache>
                <c:formatCode>General</c:formatCode>
                <c:ptCount val="3"/>
                <c:pt idx="0">
                  <c:v>249</c:v>
                </c:pt>
                <c:pt idx="1">
                  <c:v>147</c:v>
                </c:pt>
                <c:pt idx="2">
                  <c:v>159</c:v>
                </c:pt>
              </c:numCache>
            </c:numRef>
          </c:val>
          <c:extLst>
            <c:ext xmlns:c16="http://schemas.microsoft.com/office/drawing/2014/chart" uri="{C3380CC4-5D6E-409C-BE32-E72D297353CC}">
              <c16:uniqueId val="{00000000-E866-4666-828B-AE7103F245F2}"/>
            </c:ext>
          </c:extLst>
        </c:ser>
        <c:ser>
          <c:idx val="2"/>
          <c:order val="1"/>
          <c:tx>
            <c:strRef>
              <c:f>Hoja1!$C$1</c:f>
              <c:strCache>
                <c:ptCount val="1"/>
                <c:pt idx="0">
                  <c:v>Reacções adversas possíveis, prováveis, efectivamente relaccionadas com o medicamento em estudo)</c:v>
                </c:pt>
              </c:strCache>
            </c:strRef>
          </c:tx>
          <c:spPr>
            <a:gradFill>
              <a:gsLst>
                <a:gs pos="0">
                  <a:srgbClr val="990033"/>
                </a:gs>
                <a:gs pos="50000">
                  <a:srgbClr val="C00000"/>
                </a:gs>
                <a:gs pos="100000">
                  <a:srgbClr val="990033"/>
                </a:gs>
              </a:gsLst>
              <a:lin ang="0" scaled="0"/>
            </a:gradFill>
          </c:spPr>
          <c:invertIfNegative val="0"/>
          <c:dLbls>
            <c:spPr>
              <a:noFill/>
              <a:ln>
                <a:noFill/>
              </a:ln>
              <a:effectLst/>
            </c:spPr>
            <c:txPr>
              <a:bodyPr/>
              <a:lstStyle/>
              <a:p>
                <a:pPr>
                  <a:defRPr sz="1100">
                    <a:solidFill>
                      <a:schemeClr val="accent2">
                        <a:lumMod val="50000"/>
                      </a:schemeClr>
                    </a:solidFill>
                  </a:defRPr>
                </a:pPr>
                <a:endParaRPr lang="pt-P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Hoja1!$A$2:$A$4</c:f>
              <c:strCache>
                <c:ptCount val="3"/>
                <c:pt idx="0">
                  <c:v>Placebo</c:v>
                </c:pt>
                <c:pt idx="1">
                  <c:v>Rupatadina 2.5 mg</c:v>
                </c:pt>
                <c:pt idx="2">
                  <c:v>Rupatadina 5 mg</c:v>
                </c:pt>
              </c:strCache>
            </c:strRef>
          </c:cat>
          <c:val>
            <c:numRef>
              <c:f>Hoja1!$C$2:$C$4</c:f>
              <c:numCache>
                <c:formatCode>General</c:formatCode>
                <c:ptCount val="3"/>
                <c:pt idx="0">
                  <c:v>9</c:v>
                </c:pt>
                <c:pt idx="1">
                  <c:v>3</c:v>
                </c:pt>
                <c:pt idx="2">
                  <c:v>10</c:v>
                </c:pt>
              </c:numCache>
            </c:numRef>
          </c:val>
          <c:extLst>
            <c:ext xmlns:c16="http://schemas.microsoft.com/office/drawing/2014/chart" uri="{C3380CC4-5D6E-409C-BE32-E72D297353CC}">
              <c16:uniqueId val="{00000001-E866-4666-828B-AE7103F245F2}"/>
            </c:ext>
          </c:extLst>
        </c:ser>
        <c:dLbls>
          <c:showLegendKey val="0"/>
          <c:showVal val="1"/>
          <c:showCatName val="0"/>
          <c:showSerName val="0"/>
          <c:showPercent val="0"/>
          <c:showBubbleSize val="0"/>
        </c:dLbls>
        <c:gapWidth val="150"/>
        <c:axId val="472430808"/>
        <c:axId val="472431984"/>
      </c:barChart>
      <c:catAx>
        <c:axId val="472430808"/>
        <c:scaling>
          <c:orientation val="minMax"/>
        </c:scaling>
        <c:delete val="0"/>
        <c:axPos val="b"/>
        <c:numFmt formatCode="General" sourceLinked="0"/>
        <c:majorTickMark val="none"/>
        <c:minorTickMark val="none"/>
        <c:tickLblPos val="low"/>
        <c:spPr>
          <a:ln>
            <a:solidFill>
              <a:schemeClr val="accent1"/>
            </a:solidFill>
          </a:ln>
        </c:spPr>
        <c:txPr>
          <a:bodyPr anchor="b"/>
          <a:lstStyle/>
          <a:p>
            <a:pPr>
              <a:defRPr sz="1200">
                <a:solidFill>
                  <a:schemeClr val="accent2">
                    <a:lumMod val="50000"/>
                  </a:schemeClr>
                </a:solidFill>
              </a:defRPr>
            </a:pPr>
            <a:endParaRPr lang="pt-PT"/>
          </a:p>
        </c:txPr>
        <c:crossAx val="472431984"/>
        <c:crosses val="autoZero"/>
        <c:auto val="0"/>
        <c:lblAlgn val="ctr"/>
        <c:lblOffset val="0"/>
        <c:tickLblSkip val="1"/>
        <c:noMultiLvlLbl val="0"/>
      </c:catAx>
      <c:valAx>
        <c:axId val="472431984"/>
        <c:scaling>
          <c:orientation val="minMax"/>
        </c:scaling>
        <c:delete val="0"/>
        <c:axPos val="l"/>
        <c:majorGridlines>
          <c:spPr>
            <a:ln w="3175">
              <a:solidFill>
                <a:srgbClr val="C1D1F1"/>
              </a:solidFill>
            </a:ln>
          </c:spPr>
        </c:majorGridlines>
        <c:numFmt formatCode="General" sourceLinked="1"/>
        <c:majorTickMark val="out"/>
        <c:minorTickMark val="none"/>
        <c:tickLblPos val="nextTo"/>
        <c:spPr>
          <a:ln>
            <a:solidFill>
              <a:schemeClr val="accent1"/>
            </a:solidFill>
          </a:ln>
        </c:spPr>
        <c:txPr>
          <a:bodyPr/>
          <a:lstStyle/>
          <a:p>
            <a:pPr>
              <a:defRPr sz="1100">
                <a:solidFill>
                  <a:schemeClr val="accent2">
                    <a:lumMod val="50000"/>
                  </a:schemeClr>
                </a:solidFill>
              </a:defRPr>
            </a:pPr>
            <a:endParaRPr lang="pt-PT"/>
          </a:p>
        </c:txPr>
        <c:crossAx val="472430808"/>
        <c:crosses val="autoZero"/>
        <c:crossBetween val="between"/>
      </c:valAx>
      <c:spPr>
        <a:ln>
          <a:noFill/>
        </a:ln>
      </c:spPr>
    </c:plotArea>
    <c:legend>
      <c:legendPos val="b"/>
      <c:layout>
        <c:manualLayout>
          <c:xMode val="edge"/>
          <c:yMode val="edge"/>
          <c:x val="4.5906463191933707E-2"/>
          <c:y val="0.86244369935680587"/>
          <c:w val="0.92945386132882846"/>
          <c:h val="9.3292518375195532E-2"/>
        </c:manualLayout>
      </c:layout>
      <c:overlay val="0"/>
      <c:txPr>
        <a:bodyPr/>
        <a:lstStyle/>
        <a:p>
          <a:pPr>
            <a:defRPr sz="1200">
              <a:solidFill>
                <a:schemeClr val="accent2">
                  <a:lumMod val="50000"/>
                </a:schemeClr>
              </a:solidFill>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drawing1.xml><?xml version="1.0" encoding="utf-8"?>
<c:userShapes xmlns:c="http://schemas.openxmlformats.org/drawingml/2006/chart">
  <cdr:relSizeAnchor xmlns:cdr="http://schemas.openxmlformats.org/drawingml/2006/chartDrawing">
    <cdr:from>
      <cdr:x>0.77869</cdr:x>
      <cdr:y>0.00751</cdr:y>
    </cdr:from>
    <cdr:to>
      <cdr:x>0.92813</cdr:x>
      <cdr:y>0.08606</cdr:y>
    </cdr:to>
    <cdr:sp macro="" textlink="">
      <cdr:nvSpPr>
        <cdr:cNvPr id="2" name="1 CuadroTexto"/>
        <cdr:cNvSpPr txBox="1"/>
      </cdr:nvSpPr>
      <cdr:spPr>
        <a:xfrm xmlns:a="http://schemas.openxmlformats.org/drawingml/2006/main">
          <a:off x="6015013" y="26728"/>
          <a:ext cx="1154362" cy="279600"/>
        </a:xfrm>
        <a:prstGeom xmlns:a="http://schemas.openxmlformats.org/drawingml/2006/main" prst="rect">
          <a:avLst/>
        </a:prstGeom>
        <a:solidFill xmlns:a="http://schemas.openxmlformats.org/drawingml/2006/main">
          <a:schemeClr val="bg1">
            <a:alpha val="80000"/>
          </a:schemeClr>
        </a:solidFill>
      </cdr:spPr>
      <cdr:txBody>
        <a:bodyPr xmlns:a="http://schemas.openxmlformats.org/drawingml/2006/main" vertOverflow="clip" wrap="square" rtlCol="0"/>
        <a:lstStyle xmlns:a="http://schemas.openxmlformats.org/drawingml/2006/main"/>
        <a:p xmlns:a="http://schemas.openxmlformats.org/drawingml/2006/main">
          <a:r>
            <a:rPr lang="pt-PT" sz="1200" b="0" dirty="0">
              <a:solidFill>
                <a:schemeClr val="tx1">
                  <a:lumMod val="65000"/>
                  <a:lumOff val="35000"/>
                </a:schemeClr>
              </a:solidFill>
            </a:rPr>
            <a:t>Desloratadina</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4301207" cy="340264"/>
          </a:xfrm>
          <a:prstGeom prst="rect">
            <a:avLst/>
          </a:prstGeom>
        </p:spPr>
        <p:txBody>
          <a:bodyPr vert="horz" wrap="square" lIns="91444" tIns="45722" rIns="91444" bIns="45722" numCol="1" anchor="t" anchorCtr="0" compatLnSpc="1">
            <a:prstTxWarp prst="textNoShape">
              <a:avLst/>
            </a:prstTxWarp>
          </a:bodyPr>
          <a:lstStyle>
            <a:lvl1pPr eaLnBrk="1" hangingPunct="1">
              <a:buClr>
                <a:srgbClr val="000000"/>
              </a:buClr>
              <a:buSzPct val="100000"/>
              <a:buFont typeface="Calibri" panose="020F0502020204030204" pitchFamily="34" charset="0"/>
              <a:buNone/>
              <a:defRPr sz="1200"/>
            </a:lvl1pPr>
          </a:lstStyle>
          <a:p>
            <a:pPr>
              <a:defRPr/>
            </a:pPr>
            <a:endParaRPr lang="es-ES_tradnl"/>
          </a:p>
        </p:txBody>
      </p:sp>
      <p:sp>
        <p:nvSpPr>
          <p:cNvPr id="3" name="2 Marcador de fecha"/>
          <p:cNvSpPr>
            <a:spLocks noGrp="1"/>
          </p:cNvSpPr>
          <p:nvPr>
            <p:ph type="dt" sz="quarter" idx="1"/>
          </p:nvPr>
        </p:nvSpPr>
        <p:spPr>
          <a:xfrm>
            <a:off x="5624654" y="0"/>
            <a:ext cx="4301207" cy="340264"/>
          </a:xfrm>
          <a:prstGeom prst="rect">
            <a:avLst/>
          </a:prstGeom>
        </p:spPr>
        <p:txBody>
          <a:bodyPr vert="horz" wrap="square" lIns="91444" tIns="45722" rIns="91444" bIns="45722" numCol="1" anchor="t" anchorCtr="0" compatLnSpc="1">
            <a:prstTxWarp prst="textNoShape">
              <a:avLst/>
            </a:prstTxWarp>
          </a:bodyPr>
          <a:lstStyle>
            <a:lvl1pPr algn="r" eaLnBrk="1" hangingPunct="1">
              <a:buClr>
                <a:srgbClr val="000000"/>
              </a:buClr>
              <a:buSzPct val="100000"/>
              <a:buFont typeface="Calibri" panose="020F0502020204030204" pitchFamily="34" charset="0"/>
              <a:buNone/>
              <a:defRPr sz="1200"/>
            </a:lvl1pPr>
          </a:lstStyle>
          <a:p>
            <a:pPr>
              <a:defRPr/>
            </a:pPr>
            <a:fld id="{144751BD-684D-4BD7-A346-DD978C1A3CCA}" type="datetime1">
              <a:rPr lang="es-ES_tradnl"/>
              <a:pPr>
                <a:defRPr/>
              </a:pPr>
              <a:t>03/11/2022</a:t>
            </a:fld>
            <a:endParaRPr lang="pt-PT"/>
          </a:p>
        </p:txBody>
      </p:sp>
      <p:sp>
        <p:nvSpPr>
          <p:cNvPr id="4" name="3 Marcador de pie de página"/>
          <p:cNvSpPr>
            <a:spLocks noGrp="1"/>
          </p:cNvSpPr>
          <p:nvPr>
            <p:ph type="ftr" sz="quarter" idx="2"/>
          </p:nvPr>
        </p:nvSpPr>
        <p:spPr>
          <a:xfrm>
            <a:off x="0" y="6456324"/>
            <a:ext cx="4301207" cy="340264"/>
          </a:xfrm>
          <a:prstGeom prst="rect">
            <a:avLst/>
          </a:prstGeom>
        </p:spPr>
        <p:txBody>
          <a:bodyPr vert="horz" wrap="square" lIns="91444" tIns="45722" rIns="91444" bIns="45722" numCol="1" anchor="b" anchorCtr="0" compatLnSpc="1">
            <a:prstTxWarp prst="textNoShape">
              <a:avLst/>
            </a:prstTxWarp>
          </a:bodyPr>
          <a:lstStyle>
            <a:lvl1pPr eaLnBrk="1" hangingPunct="1">
              <a:buClr>
                <a:srgbClr val="000000"/>
              </a:buClr>
              <a:buSzPct val="100000"/>
              <a:buFont typeface="Calibri" panose="020F0502020204030204" pitchFamily="34" charset="0"/>
              <a:buNone/>
              <a:defRPr sz="1200"/>
            </a:lvl1pPr>
          </a:lstStyle>
          <a:p>
            <a:pPr>
              <a:defRPr/>
            </a:pPr>
            <a:endParaRPr lang="es-ES_tradnl"/>
          </a:p>
        </p:txBody>
      </p:sp>
      <p:sp>
        <p:nvSpPr>
          <p:cNvPr id="5" name="4 Marcador de número de diapositiva"/>
          <p:cNvSpPr>
            <a:spLocks noGrp="1"/>
          </p:cNvSpPr>
          <p:nvPr>
            <p:ph type="sldNum" sz="quarter" idx="3"/>
          </p:nvPr>
        </p:nvSpPr>
        <p:spPr>
          <a:xfrm>
            <a:off x="5624654" y="6456324"/>
            <a:ext cx="4301207" cy="340264"/>
          </a:xfrm>
          <a:prstGeom prst="rect">
            <a:avLst/>
          </a:prstGeom>
        </p:spPr>
        <p:txBody>
          <a:bodyPr vert="horz" wrap="square" lIns="91444" tIns="45722" rIns="91444" bIns="45722" numCol="1" anchor="b" anchorCtr="0" compatLnSpc="1">
            <a:prstTxWarp prst="textNoShape">
              <a:avLst/>
            </a:prstTxWarp>
          </a:bodyPr>
          <a:lstStyle>
            <a:lvl1pPr algn="r" eaLnBrk="1" hangingPunct="1">
              <a:buClr>
                <a:srgbClr val="000000"/>
              </a:buClr>
              <a:buSzPct val="100000"/>
              <a:buFont typeface="Calibri" pitchFamily="34" charset="0"/>
              <a:buNone/>
              <a:defRPr sz="1200"/>
            </a:lvl1pPr>
          </a:lstStyle>
          <a:p>
            <a:pPr>
              <a:defRPr/>
            </a:pPr>
            <a:fld id="{D2841F23-C69E-4A29-AEFB-7659DEF2BCCB}" type="slidenum">
              <a:rPr lang="es-ES_tradnl"/>
              <a:pPr>
                <a:defRPr/>
              </a:pPr>
              <a:t>‹#›</a:t>
            </a:fld>
            <a:endParaRPr lang="pt-PT"/>
          </a:p>
        </p:txBody>
      </p:sp>
    </p:spTree>
    <p:extLst>
      <p:ext uri="{BB962C8B-B14F-4D97-AF65-F5344CB8AC3E}">
        <p14:creationId xmlns:p14="http://schemas.microsoft.com/office/powerpoint/2010/main" val="2741914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AutoShape 1"/>
          <p:cNvSpPr>
            <a:spLocks noChangeArrowheads="1"/>
          </p:cNvSpPr>
          <p:nvPr/>
        </p:nvSpPr>
        <p:spPr bwMode="auto">
          <a:xfrm>
            <a:off x="1" y="0"/>
            <a:ext cx="9928225" cy="6797675"/>
          </a:xfrm>
          <a:prstGeom prst="roundRect">
            <a:avLst>
              <a:gd name="adj" fmla="val 23"/>
            </a:avLst>
          </a:prstGeom>
          <a:solidFill>
            <a:srgbClr val="FFFFFF"/>
          </a:solidFill>
          <a:ln w="9360">
            <a:noFill/>
            <a:miter lim="800000"/>
            <a:headEnd/>
            <a:tailEnd/>
          </a:ln>
        </p:spPr>
        <p:txBody>
          <a:bodyPr wrap="none" lIns="91444" tIns="45722" rIns="91444" bIns="45722" anchor="ctr"/>
          <a:lstStyle/>
          <a:p>
            <a:pPr eaLnBrk="1" hangingPunct="1">
              <a:buClr>
                <a:srgbClr val="000000"/>
              </a:buClr>
              <a:buSzPct val="100000"/>
              <a:buFont typeface="Calibri" pitchFamily="34" charset="0"/>
              <a:buNone/>
            </a:pPr>
            <a:endParaRPr lang="es-ES_tradnl" altLang="es-ES"/>
          </a:p>
        </p:txBody>
      </p:sp>
      <p:sp>
        <p:nvSpPr>
          <p:cNvPr id="55299" name="AutoShape 2"/>
          <p:cNvSpPr>
            <a:spLocks noChangeArrowheads="1"/>
          </p:cNvSpPr>
          <p:nvPr/>
        </p:nvSpPr>
        <p:spPr bwMode="auto">
          <a:xfrm>
            <a:off x="1" y="0"/>
            <a:ext cx="9928225" cy="6797675"/>
          </a:xfrm>
          <a:prstGeom prst="roundRect">
            <a:avLst>
              <a:gd name="adj" fmla="val 23"/>
            </a:avLst>
          </a:prstGeom>
          <a:solidFill>
            <a:srgbClr val="FFFFFF"/>
          </a:solidFill>
          <a:ln w="9525">
            <a:noFill/>
            <a:round/>
            <a:headEnd/>
            <a:tailEnd/>
          </a:ln>
        </p:spPr>
        <p:txBody>
          <a:bodyPr wrap="none" lIns="91444" tIns="45722" rIns="91444" bIns="45722" anchor="ctr"/>
          <a:lstStyle/>
          <a:p>
            <a:pPr eaLnBrk="1" hangingPunct="1">
              <a:buClr>
                <a:srgbClr val="000000"/>
              </a:buClr>
              <a:buSzPct val="100000"/>
              <a:buFont typeface="Calibri" pitchFamily="34" charset="0"/>
              <a:buNone/>
            </a:pPr>
            <a:endParaRPr lang="es-ES_tradnl" altLang="es-ES"/>
          </a:p>
        </p:txBody>
      </p:sp>
      <p:sp>
        <p:nvSpPr>
          <p:cNvPr id="55300" name="AutoShape 3"/>
          <p:cNvSpPr>
            <a:spLocks noChangeArrowheads="1"/>
          </p:cNvSpPr>
          <p:nvPr/>
        </p:nvSpPr>
        <p:spPr bwMode="auto">
          <a:xfrm>
            <a:off x="1" y="0"/>
            <a:ext cx="9928225" cy="6797675"/>
          </a:xfrm>
          <a:prstGeom prst="roundRect">
            <a:avLst>
              <a:gd name="adj" fmla="val 23"/>
            </a:avLst>
          </a:prstGeom>
          <a:solidFill>
            <a:srgbClr val="FFFFFF"/>
          </a:solidFill>
          <a:ln w="9525">
            <a:noFill/>
            <a:round/>
            <a:headEnd/>
            <a:tailEnd/>
          </a:ln>
        </p:spPr>
        <p:txBody>
          <a:bodyPr wrap="none" lIns="91444" tIns="45722" rIns="91444" bIns="45722" anchor="ctr"/>
          <a:lstStyle/>
          <a:p>
            <a:pPr eaLnBrk="1" hangingPunct="1">
              <a:buClr>
                <a:srgbClr val="000000"/>
              </a:buClr>
              <a:buSzPct val="100000"/>
              <a:buFont typeface="Calibri" pitchFamily="34" charset="0"/>
              <a:buNone/>
            </a:pPr>
            <a:endParaRPr lang="es-ES_tradnl" altLang="es-ES"/>
          </a:p>
        </p:txBody>
      </p:sp>
      <p:sp>
        <p:nvSpPr>
          <p:cNvPr id="55301" name="AutoShape 4"/>
          <p:cNvSpPr>
            <a:spLocks noChangeArrowheads="1"/>
          </p:cNvSpPr>
          <p:nvPr/>
        </p:nvSpPr>
        <p:spPr bwMode="auto">
          <a:xfrm>
            <a:off x="1" y="0"/>
            <a:ext cx="9928225" cy="6797675"/>
          </a:xfrm>
          <a:prstGeom prst="roundRect">
            <a:avLst>
              <a:gd name="adj" fmla="val 23"/>
            </a:avLst>
          </a:prstGeom>
          <a:solidFill>
            <a:srgbClr val="FFFFFF"/>
          </a:solidFill>
          <a:ln w="9525">
            <a:noFill/>
            <a:round/>
            <a:headEnd/>
            <a:tailEnd/>
          </a:ln>
        </p:spPr>
        <p:txBody>
          <a:bodyPr wrap="none" lIns="91444" tIns="45722" rIns="91444" bIns="45722" anchor="ctr"/>
          <a:lstStyle/>
          <a:p>
            <a:pPr eaLnBrk="1" hangingPunct="1">
              <a:buClr>
                <a:srgbClr val="000000"/>
              </a:buClr>
              <a:buSzPct val="100000"/>
              <a:buFont typeface="Calibri" pitchFamily="34" charset="0"/>
              <a:buNone/>
            </a:pPr>
            <a:endParaRPr lang="es-ES_tradnl" altLang="es-ES"/>
          </a:p>
        </p:txBody>
      </p:sp>
      <p:sp>
        <p:nvSpPr>
          <p:cNvPr id="55302" name="Text Box 5"/>
          <p:cNvSpPr txBox="1">
            <a:spLocks noChangeArrowheads="1"/>
          </p:cNvSpPr>
          <p:nvPr/>
        </p:nvSpPr>
        <p:spPr bwMode="auto">
          <a:xfrm>
            <a:off x="0" y="0"/>
            <a:ext cx="4303570" cy="340264"/>
          </a:xfrm>
          <a:prstGeom prst="rect">
            <a:avLst/>
          </a:prstGeom>
          <a:noFill/>
          <a:ln w="9525">
            <a:noFill/>
            <a:round/>
            <a:headEnd/>
            <a:tailEnd/>
          </a:ln>
        </p:spPr>
        <p:txBody>
          <a:bodyPr wrap="none" lIns="91444" tIns="45722" rIns="91444" bIns="45722" anchor="ctr"/>
          <a:lstStyle/>
          <a:p>
            <a:pPr eaLnBrk="1" hangingPunct="1">
              <a:buClr>
                <a:srgbClr val="000000"/>
              </a:buClr>
              <a:buSzPct val="100000"/>
              <a:buFont typeface="Calibri" pitchFamily="34" charset="0"/>
              <a:buNone/>
            </a:pPr>
            <a:endParaRPr lang="es-ES_tradnl" altLang="es-ES"/>
          </a:p>
        </p:txBody>
      </p:sp>
      <p:sp>
        <p:nvSpPr>
          <p:cNvPr id="55303" name="Text Box 6"/>
          <p:cNvSpPr txBox="1">
            <a:spLocks noChangeArrowheads="1"/>
          </p:cNvSpPr>
          <p:nvPr/>
        </p:nvSpPr>
        <p:spPr bwMode="auto">
          <a:xfrm>
            <a:off x="5624655" y="0"/>
            <a:ext cx="4303570" cy="340264"/>
          </a:xfrm>
          <a:prstGeom prst="rect">
            <a:avLst/>
          </a:prstGeom>
          <a:noFill/>
          <a:ln w="9525">
            <a:noFill/>
            <a:round/>
            <a:headEnd/>
            <a:tailEnd/>
          </a:ln>
        </p:spPr>
        <p:txBody>
          <a:bodyPr wrap="none" lIns="91444" tIns="45722" rIns="91444" bIns="45722" anchor="ctr"/>
          <a:lstStyle/>
          <a:p>
            <a:pPr eaLnBrk="1" hangingPunct="1">
              <a:buClr>
                <a:srgbClr val="000000"/>
              </a:buClr>
              <a:buSzPct val="100000"/>
              <a:buFont typeface="Calibri" pitchFamily="34" charset="0"/>
              <a:buNone/>
            </a:pPr>
            <a:endParaRPr lang="es-ES_tradnl" altLang="es-ES"/>
          </a:p>
        </p:txBody>
      </p:sp>
      <p:sp>
        <p:nvSpPr>
          <p:cNvPr id="55304" name="Rectangle 7"/>
          <p:cNvSpPr>
            <a:spLocks noGrp="1" noRot="1" noChangeAspect="1" noChangeArrowheads="1"/>
          </p:cNvSpPr>
          <p:nvPr>
            <p:ph type="sldImg"/>
          </p:nvPr>
        </p:nvSpPr>
        <p:spPr bwMode="auto">
          <a:xfrm>
            <a:off x="3265488" y="509588"/>
            <a:ext cx="3392487" cy="2544762"/>
          </a:xfrm>
          <a:prstGeom prst="rect">
            <a:avLst/>
          </a:prstGeom>
          <a:noFill/>
          <a:ln w="9360">
            <a:solidFill>
              <a:srgbClr val="000000"/>
            </a:solidFill>
            <a:miter lim="800000"/>
            <a:headEnd/>
            <a:tailEnd/>
          </a:ln>
        </p:spPr>
      </p:sp>
      <p:sp>
        <p:nvSpPr>
          <p:cNvPr id="2056" name="Rectangle 8"/>
          <p:cNvSpPr>
            <a:spLocks noGrp="1" noChangeArrowheads="1"/>
          </p:cNvSpPr>
          <p:nvPr>
            <p:ph type="body"/>
          </p:nvPr>
        </p:nvSpPr>
        <p:spPr bwMode="auto">
          <a:xfrm>
            <a:off x="992588" y="3229793"/>
            <a:ext cx="7935962" cy="3053681"/>
          </a:xfrm>
          <a:prstGeom prst="rect">
            <a:avLst/>
          </a:prstGeom>
          <a:noFill/>
          <a:ln w="9525">
            <a:noFill/>
            <a:round/>
            <a:headEnd/>
            <a:tailEnd/>
          </a:ln>
          <a:effectLst/>
        </p:spPr>
        <p:txBody>
          <a:bodyPr vert="horz" wrap="square" lIns="91444" tIns="45722" rIns="91444" bIns="45722" numCol="1" anchor="t" anchorCtr="0" compatLnSpc="1">
            <a:prstTxWarp prst="textNoShape">
              <a:avLst/>
            </a:prstTxWarp>
          </a:bodyPr>
          <a:lstStyle/>
          <a:p>
            <a:pPr lvl="0"/>
            <a:endParaRPr lang="es-ES" noProof="0"/>
          </a:p>
        </p:txBody>
      </p:sp>
      <p:sp>
        <p:nvSpPr>
          <p:cNvPr id="55306" name="Text Box 9"/>
          <p:cNvSpPr txBox="1">
            <a:spLocks noChangeArrowheads="1"/>
          </p:cNvSpPr>
          <p:nvPr/>
        </p:nvSpPr>
        <p:spPr bwMode="auto">
          <a:xfrm>
            <a:off x="0" y="6456324"/>
            <a:ext cx="4303570" cy="340264"/>
          </a:xfrm>
          <a:prstGeom prst="rect">
            <a:avLst/>
          </a:prstGeom>
          <a:noFill/>
          <a:ln w="9525">
            <a:noFill/>
            <a:round/>
            <a:headEnd/>
            <a:tailEnd/>
          </a:ln>
        </p:spPr>
        <p:txBody>
          <a:bodyPr wrap="none" lIns="91444" tIns="45722" rIns="91444" bIns="45722" anchor="ctr"/>
          <a:lstStyle/>
          <a:p>
            <a:pPr eaLnBrk="1" hangingPunct="1">
              <a:buClr>
                <a:srgbClr val="000000"/>
              </a:buClr>
              <a:buSzPct val="100000"/>
              <a:buFont typeface="Calibri" pitchFamily="34" charset="0"/>
              <a:buNone/>
            </a:pPr>
            <a:endParaRPr lang="es-ES_tradnl" altLang="es-ES"/>
          </a:p>
        </p:txBody>
      </p:sp>
      <p:sp>
        <p:nvSpPr>
          <p:cNvPr id="2058" name="Rectangle 10"/>
          <p:cNvSpPr>
            <a:spLocks noGrp="1" noChangeArrowheads="1"/>
          </p:cNvSpPr>
          <p:nvPr>
            <p:ph type="sldNum"/>
          </p:nvPr>
        </p:nvSpPr>
        <p:spPr bwMode="auto">
          <a:xfrm>
            <a:off x="5624655" y="6456325"/>
            <a:ext cx="4294117" cy="335915"/>
          </a:xfrm>
          <a:prstGeom prst="rect">
            <a:avLst/>
          </a:prstGeom>
          <a:noFill/>
          <a:ln w="9525">
            <a:noFill/>
            <a:round/>
            <a:headEnd/>
            <a:tailEnd/>
          </a:ln>
          <a:effectLst/>
        </p:spPr>
        <p:txBody>
          <a:bodyPr vert="horz" wrap="square" lIns="91444" tIns="45722" rIns="91444" bIns="45722" numCol="1" anchor="b" anchorCtr="0" compatLnSpc="1">
            <a:prstTxWarp prst="textNoShape">
              <a:avLst/>
            </a:prstTxWarp>
          </a:bodyPr>
          <a:lstStyle>
            <a:lvl1pPr algn="r" eaLnBrk="1" hangingPunct="1">
              <a:buClr>
                <a:srgbClr val="000000"/>
              </a:buClr>
              <a:buSzPct val="100000"/>
              <a:buFont typeface="Calibri" pitchFamily="34" charset="0"/>
              <a:buNone/>
              <a:tabLst>
                <a:tab pos="0" algn="l"/>
                <a:tab pos="446368" algn="l"/>
                <a:tab pos="895934" algn="l"/>
                <a:tab pos="1345502" algn="l"/>
                <a:tab pos="1795068" algn="l"/>
                <a:tab pos="2244636" algn="l"/>
                <a:tab pos="2692603" algn="l"/>
                <a:tab pos="3142169" algn="l"/>
                <a:tab pos="3591737" algn="l"/>
                <a:tab pos="4041303" algn="l"/>
                <a:tab pos="4490871" algn="l"/>
                <a:tab pos="4940437" algn="l"/>
                <a:tab pos="5388404" algn="l"/>
                <a:tab pos="5837972" algn="l"/>
                <a:tab pos="6287538" algn="l"/>
                <a:tab pos="6737106" algn="l"/>
                <a:tab pos="7186672" algn="l"/>
                <a:tab pos="7634639" algn="l"/>
                <a:tab pos="8084207" algn="l"/>
                <a:tab pos="8533773" algn="l"/>
                <a:tab pos="8983341" algn="l"/>
              </a:tabLst>
              <a:defRPr sz="1200">
                <a:solidFill>
                  <a:srgbClr val="000000"/>
                </a:solidFill>
                <a:latin typeface="Arial" charset="0"/>
              </a:defRPr>
            </a:lvl1pPr>
          </a:lstStyle>
          <a:p>
            <a:pPr>
              <a:defRPr/>
            </a:pPr>
            <a:fld id="{C9DFD265-F5C2-4107-BFCF-338E16D81C93}" type="slidenum">
              <a:rPr lang="es-ES_tradnl"/>
              <a:pPr>
                <a:defRPr/>
              </a:pPr>
              <a:t>‹#›</a:t>
            </a:fld>
            <a:endParaRPr lang="pt-PT"/>
          </a:p>
        </p:txBody>
      </p:sp>
    </p:spTree>
    <p:extLst>
      <p:ext uri="{BB962C8B-B14F-4D97-AF65-F5344CB8AC3E}">
        <p14:creationId xmlns:p14="http://schemas.microsoft.com/office/powerpoint/2010/main" val="1448098117"/>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Calibri" pitchFamily="34" charset="0"/>
      <a:defRPr sz="1200" kern="1200">
        <a:solidFill>
          <a:srgbClr val="000000"/>
        </a:solidFill>
        <a:latin typeface="Calibri" pitchFamily="34" charset="0"/>
        <a:ea typeface="ＭＳ Ｐゴシック" pitchFamily="34" charset="-128"/>
        <a:cs typeface="+mn-cs"/>
      </a:defRPr>
    </a:lvl1pPr>
    <a:lvl2pPr marL="742950" indent="-285750" algn="l" defTabSz="449263" rtl="0" eaLnBrk="0" fontAlgn="base" hangingPunct="0">
      <a:spcBef>
        <a:spcPct val="30000"/>
      </a:spcBef>
      <a:spcAft>
        <a:spcPct val="0"/>
      </a:spcAft>
      <a:buClr>
        <a:srgbClr val="000000"/>
      </a:buClr>
      <a:buSzPct val="100000"/>
      <a:buFont typeface="Calibri" pitchFamily="34" charset="0"/>
      <a:defRPr sz="1200" kern="1200">
        <a:solidFill>
          <a:srgbClr val="000000"/>
        </a:solidFill>
        <a:latin typeface="Calibri" pitchFamily="34" charset="0"/>
        <a:ea typeface="ＭＳ Ｐゴシック" charset="-128"/>
        <a:cs typeface="+mn-cs"/>
      </a:defRPr>
    </a:lvl2pPr>
    <a:lvl3pPr marL="1143000" indent="-228600" algn="l" defTabSz="449263" rtl="0" eaLnBrk="0" fontAlgn="base" hangingPunct="0">
      <a:spcBef>
        <a:spcPct val="30000"/>
      </a:spcBef>
      <a:spcAft>
        <a:spcPct val="0"/>
      </a:spcAft>
      <a:buClr>
        <a:srgbClr val="000000"/>
      </a:buClr>
      <a:buSzPct val="100000"/>
      <a:buFont typeface="Calibri" pitchFamily="34" charset="0"/>
      <a:defRPr sz="1200" kern="1200">
        <a:solidFill>
          <a:srgbClr val="000000"/>
        </a:solidFill>
        <a:latin typeface="Calibri" pitchFamily="34" charset="0"/>
        <a:ea typeface="ＭＳ Ｐゴシック" charset="-128"/>
        <a:cs typeface="+mn-cs"/>
      </a:defRPr>
    </a:lvl3pPr>
    <a:lvl4pPr marL="1600200" indent="-228600" algn="l" defTabSz="449263" rtl="0" eaLnBrk="0" fontAlgn="base" hangingPunct="0">
      <a:spcBef>
        <a:spcPct val="30000"/>
      </a:spcBef>
      <a:spcAft>
        <a:spcPct val="0"/>
      </a:spcAft>
      <a:buClr>
        <a:srgbClr val="000000"/>
      </a:buClr>
      <a:buSzPct val="100000"/>
      <a:buFont typeface="Calibri" pitchFamily="34" charset="0"/>
      <a:defRPr sz="1200" kern="1200">
        <a:solidFill>
          <a:srgbClr val="000000"/>
        </a:solidFill>
        <a:latin typeface="Calibri" pitchFamily="34" charset="0"/>
        <a:ea typeface="ＭＳ Ｐゴシック" charset="-128"/>
        <a:cs typeface="+mn-cs"/>
      </a:defRPr>
    </a:lvl4pPr>
    <a:lvl5pPr marL="2057400" indent="-228600" algn="l" defTabSz="449263" rtl="0" eaLnBrk="0" fontAlgn="base" hangingPunct="0">
      <a:spcBef>
        <a:spcPct val="30000"/>
      </a:spcBef>
      <a:spcAft>
        <a:spcPct val="0"/>
      </a:spcAft>
      <a:buClr>
        <a:srgbClr val="000000"/>
      </a:buClr>
      <a:buSzPct val="100000"/>
      <a:buFont typeface="Calibri" pitchFamily="34" charset="0"/>
      <a:defRPr sz="1200" kern="1200">
        <a:solidFill>
          <a:srgbClr val="000000"/>
        </a:solidFill>
        <a:latin typeface="Calibri" pitchFamily="34"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en-US"/>
          </a:p>
        </p:txBody>
      </p:sp>
      <p:sp>
        <p:nvSpPr>
          <p:cNvPr id="4" name="Marcador de Posição do Número do Diapositivo 3"/>
          <p:cNvSpPr>
            <a:spLocks noGrp="1"/>
          </p:cNvSpPr>
          <p:nvPr>
            <p:ph type="sldNum" sz="quarter" idx="10"/>
          </p:nvPr>
        </p:nvSpPr>
        <p:spPr/>
        <p:txBody>
          <a:bodyPr/>
          <a:lstStyle/>
          <a:p>
            <a:fld id="{0E4D174F-CA97-4110-81AD-78F139EE913C}" type="slidenum">
              <a:rPr lang="en-US" smtClean="0"/>
              <a:t>1</a:t>
            </a:fld>
            <a:endParaRPr lang="en-US"/>
          </a:p>
        </p:txBody>
      </p:sp>
    </p:spTree>
    <p:extLst>
      <p:ext uri="{BB962C8B-B14F-4D97-AF65-F5344CB8AC3E}">
        <p14:creationId xmlns:p14="http://schemas.microsoft.com/office/powerpoint/2010/main" val="24539953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
          <p:cNvSpPr>
            <a:spLocks noGrp="1" noChangeArrowheads="1"/>
          </p:cNvSpPr>
          <p:nvPr>
            <p:ph type="sldNum" sz="quarter"/>
          </p:nvPr>
        </p:nvSpPr>
        <p:spPr>
          <a:noFill/>
        </p:spPr>
        <p:txBody>
          <a:bodyPr/>
          <a:lstStyle/>
          <a:p>
            <a:fld id="{64A0C3B8-C67A-4406-BA55-D4E9563D5CA9}" type="slidenum">
              <a:rPr lang="es-ES_tradnl" altLang="es-ES" smtClean="0"/>
              <a:pPr/>
              <a:t>2</a:t>
            </a:fld>
            <a:endParaRPr lang="es-ES_tradnl" altLang="es-ES" dirty="0"/>
          </a:p>
        </p:txBody>
      </p:sp>
      <p:sp>
        <p:nvSpPr>
          <p:cNvPr id="56323" name="Rectangle 2"/>
          <p:cNvSpPr>
            <a:spLocks noGrp="1" noRot="1" noChangeAspect="1" noChangeArrowheads="1" noTextEdit="1"/>
          </p:cNvSpPr>
          <p:nvPr>
            <p:ph type="sldImg"/>
          </p:nvPr>
        </p:nvSpPr>
        <p:spPr>
          <a:xfrm>
            <a:off x="3260725" y="509588"/>
            <a:ext cx="3376613" cy="2532062"/>
          </a:xfrm>
          <a:ln/>
        </p:spPr>
      </p:sp>
      <p:sp>
        <p:nvSpPr>
          <p:cNvPr id="56324" name="Rectangle 3"/>
          <p:cNvSpPr>
            <a:spLocks noGrp="1" noChangeArrowheads="1"/>
          </p:cNvSpPr>
          <p:nvPr>
            <p:ph type="body" idx="1"/>
          </p:nvPr>
        </p:nvSpPr>
        <p:spPr>
          <a:xfrm>
            <a:off x="992587" y="3228706"/>
            <a:ext cx="7912329" cy="3043897"/>
          </a:xfrm>
          <a:noFill/>
          <a:ln/>
        </p:spPr>
        <p:txBody>
          <a:bodyPr/>
          <a:lstStyle/>
          <a:p>
            <a:endParaRPr lang="es-ES" altLang="es-ES" dirty="0"/>
          </a:p>
        </p:txBody>
      </p:sp>
    </p:spTree>
    <p:extLst>
      <p:ext uri="{BB962C8B-B14F-4D97-AF65-F5344CB8AC3E}">
        <p14:creationId xmlns:p14="http://schemas.microsoft.com/office/powerpoint/2010/main" val="2876738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
          <p:cNvSpPr>
            <a:spLocks noGrp="1" noChangeArrowheads="1"/>
          </p:cNvSpPr>
          <p:nvPr>
            <p:ph type="sldNum" sz="quarter"/>
          </p:nvPr>
        </p:nvSpPr>
        <p:spPr>
          <a:noFill/>
        </p:spPr>
        <p:txBody>
          <a:bodyPr/>
          <a:lstStyle/>
          <a:p>
            <a:fld id="{64A0C3B8-C67A-4406-BA55-D4E9563D5CA9}" type="slidenum">
              <a:rPr lang="es-ES_tradnl" altLang="es-ES" smtClean="0"/>
              <a:pPr/>
              <a:t>3</a:t>
            </a:fld>
            <a:endParaRPr lang="es-ES_tradnl" altLang="es-ES" dirty="0"/>
          </a:p>
        </p:txBody>
      </p:sp>
      <p:sp>
        <p:nvSpPr>
          <p:cNvPr id="56323" name="Rectangle 2"/>
          <p:cNvSpPr>
            <a:spLocks noGrp="1" noRot="1" noChangeAspect="1" noChangeArrowheads="1" noTextEdit="1"/>
          </p:cNvSpPr>
          <p:nvPr>
            <p:ph type="sldImg"/>
          </p:nvPr>
        </p:nvSpPr>
        <p:spPr>
          <a:xfrm>
            <a:off x="3260725" y="509588"/>
            <a:ext cx="3376613" cy="2532062"/>
          </a:xfrm>
          <a:ln/>
        </p:spPr>
      </p:sp>
      <p:sp>
        <p:nvSpPr>
          <p:cNvPr id="56324" name="Rectangle 3"/>
          <p:cNvSpPr>
            <a:spLocks noGrp="1" noChangeArrowheads="1"/>
          </p:cNvSpPr>
          <p:nvPr>
            <p:ph type="body" idx="1"/>
          </p:nvPr>
        </p:nvSpPr>
        <p:spPr>
          <a:xfrm>
            <a:off x="992587" y="3228706"/>
            <a:ext cx="7912329" cy="3043897"/>
          </a:xfrm>
          <a:noFill/>
          <a:ln/>
        </p:spPr>
        <p:txBody>
          <a:bodyPr/>
          <a:lstStyle/>
          <a:p>
            <a:endParaRPr lang="es-ES" altLang="es-ES" dirty="0"/>
          </a:p>
        </p:txBody>
      </p:sp>
    </p:spTree>
    <p:extLst>
      <p:ext uri="{BB962C8B-B14F-4D97-AF65-F5344CB8AC3E}">
        <p14:creationId xmlns:p14="http://schemas.microsoft.com/office/powerpoint/2010/main" val="2130601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a:ln/>
        </p:spPr>
      </p:sp>
      <p:sp>
        <p:nvSpPr>
          <p:cNvPr id="61443" name="Rectangle 3"/>
          <p:cNvSpPr>
            <a:spLocks noGrp="1"/>
          </p:cNvSpPr>
          <p:nvPr>
            <p:ph type="body" idx="1"/>
          </p:nvPr>
        </p:nvSpPr>
        <p:spPr>
          <a:ln/>
        </p:spPr>
        <p:txBody>
          <a:bodyPr/>
          <a:lstStyle/>
          <a:p>
            <a:pPr marL="345575" indent="-345575" eaLnBrk="1" hangingPunct="1">
              <a:lnSpc>
                <a:spcPct val="150000"/>
              </a:lnSpc>
              <a:spcBef>
                <a:spcPts val="605"/>
              </a:spcBef>
              <a:buSzPct val="85000"/>
              <a:defRPr/>
            </a:pPr>
            <a:r>
              <a:rPr lang="en-NZ" sz="900" kern="0" dirty="0">
                <a:latin typeface="+mn-lt"/>
              </a:rPr>
              <a:t>Part one of this trial involved single-dose pharmacokinetic sampling over 48 hours, and part two involved a 28 days administration of rupatadine pediatric oral solution</a:t>
            </a:r>
            <a:r>
              <a:rPr lang="es-ES" sz="900" kern="0" dirty="0">
                <a:latin typeface="+mn-lt"/>
              </a:rPr>
              <a:t> </a:t>
            </a:r>
            <a:r>
              <a:rPr lang="en-NZ" sz="900" kern="0" dirty="0">
                <a:latin typeface="+mn-lt"/>
              </a:rPr>
              <a:t>1 mg/mL once daily.</a:t>
            </a:r>
          </a:p>
          <a:p>
            <a:pPr marL="345575" indent="-345575" eaLnBrk="1" hangingPunct="1">
              <a:lnSpc>
                <a:spcPct val="150000"/>
              </a:lnSpc>
              <a:spcBef>
                <a:spcPts val="605"/>
              </a:spcBef>
              <a:buSzPct val="85000"/>
              <a:defRPr/>
            </a:pPr>
            <a:r>
              <a:rPr lang="en-NZ" sz="900" kern="0" dirty="0">
                <a:latin typeface="+mn-lt"/>
              </a:rPr>
              <a:t>Children with bodyweight &lt; 25 kg received 2.5 mL (2.5 mg) once daily, and children with bodyweight ≥25 kg received 5 mL (5 mg) once daily.</a:t>
            </a:r>
          </a:p>
          <a:p>
            <a:pPr marL="345575" indent="-345575" eaLnBrk="1" hangingPunct="1">
              <a:lnSpc>
                <a:spcPct val="150000"/>
              </a:lnSpc>
              <a:spcBef>
                <a:spcPts val="605"/>
              </a:spcBef>
              <a:buSzPct val="85000"/>
              <a:defRPr/>
            </a:pPr>
            <a:r>
              <a:rPr lang="en-NZ" sz="900" kern="0" dirty="0">
                <a:latin typeface="+mn-lt"/>
              </a:rPr>
              <a:t>Besides pharmacokinetic assessments, this open-label trial involved evaluations of the peripheral H1-antihistamine activity of rupatadine, the effects of rupatadine on allergic symptom control, and rupatadine tolerability.</a:t>
            </a:r>
          </a:p>
          <a:p>
            <a:pPr marL="345575" indent="-345575" defTabSz="452767" eaLnBrk="1" hangingPunct="1">
              <a:lnSpc>
                <a:spcPct val="150000"/>
              </a:lnSpc>
              <a:spcBef>
                <a:spcPts val="605"/>
              </a:spcBef>
              <a:buSzPct val="85000"/>
              <a:defRPr/>
            </a:pPr>
            <a:r>
              <a:rPr lang="en-NZ" sz="900" kern="0" dirty="0">
                <a:latin typeface="+mn-lt"/>
              </a:rPr>
              <a:t>Flare testing was conducted at 5 sites on each child’s back at pre-study screening</a:t>
            </a:r>
            <a:r>
              <a:rPr lang="en-NZ" sz="900" kern="0" baseline="0" dirty="0">
                <a:latin typeface="+mn-lt"/>
              </a:rPr>
              <a:t> and at visit 3: intradermal provocation injections comprised control and histamine 0,1, 0,2, 0,4 and 0,8 µg, each in 0.05 mL saline. Flare areas were recorded every 2 minutes after injection, for 10 minutes, by placing an appropriately labelled acetate sheet over each flare and tracing around the flare. The diameter of each flare was measured from acetate sheets using a Visitrack image analyser. At pre-study screening, to enter to the trial, each child had to have a negative response (flare diameter &lt; 20 mm) to the saline control, and a positive response (flare diameter &gt; 20 mm) to each histamine concentration.</a:t>
            </a:r>
            <a:endParaRPr lang="en-NZ" sz="900" kern="0" dirty="0">
              <a:latin typeface="+mn-lt"/>
            </a:endParaRPr>
          </a:p>
          <a:p>
            <a:pPr marL="345575" indent="-345575" eaLnBrk="1" hangingPunct="1">
              <a:lnSpc>
                <a:spcPct val="150000"/>
              </a:lnSpc>
              <a:spcBef>
                <a:spcPts val="605"/>
              </a:spcBef>
              <a:buSzPct val="85000"/>
              <a:defRPr/>
            </a:pPr>
            <a:endParaRPr lang="en-NZ" sz="900" kern="0" dirty="0">
              <a:latin typeface="+mn-lt"/>
            </a:endParaRPr>
          </a:p>
          <a:p>
            <a:pPr marL="345575" indent="-345575" eaLnBrk="1" hangingPunct="1">
              <a:lnSpc>
                <a:spcPct val="150000"/>
              </a:lnSpc>
              <a:spcBef>
                <a:spcPts val="605"/>
              </a:spcBef>
              <a:buSzPct val="85000"/>
              <a:defRPr/>
            </a:pPr>
            <a:endParaRPr lang="es-ES" sz="900" b="1" dirty="0">
              <a:latin typeface="+mn-lt"/>
            </a:endParaRPr>
          </a:p>
          <a:p>
            <a:pPr>
              <a:defRPr/>
            </a:pPr>
            <a:r>
              <a:rPr lang="es-ES" sz="900" b="1" dirty="0">
                <a:latin typeface="+mn-lt"/>
              </a:rPr>
              <a:t>Reference</a:t>
            </a:r>
          </a:p>
          <a:p>
            <a:pPr>
              <a:defRPr/>
            </a:pPr>
            <a:r>
              <a:rPr lang="es-ES" sz="900" dirty="0">
                <a:latin typeface="+mn-lt"/>
              </a:rPr>
              <a:t>Izquierdo I, Cranswick N, McCreanor J, et al. Rupatadine oral </a:t>
            </a:r>
            <a:r>
              <a:rPr lang="en-US" sz="900" dirty="0">
                <a:latin typeface="+mn-lt"/>
              </a:rPr>
              <a:t>solution in children aged 6-11 years with allergic rhinitis: a proof of concept evaluation by a 4 weeks treatment follow-up study. </a:t>
            </a:r>
            <a:r>
              <a:rPr lang="es-ES" sz="900" dirty="0">
                <a:latin typeface="+mn-lt"/>
              </a:rPr>
              <a:t>Pediatr Allergy Immunol. 2009; (suppl.20):2.</a:t>
            </a:r>
          </a:p>
          <a:p>
            <a:pPr>
              <a:defRPr/>
            </a:pPr>
            <a:endParaRPr lang="es-ES" sz="900" dirty="0">
              <a:latin typeface="+mn-lt"/>
              <a:sym typeface="Wingdings" pitchFamily="2" charset="2"/>
            </a:endParaRPr>
          </a:p>
        </p:txBody>
      </p:sp>
    </p:spTree>
    <p:extLst>
      <p:ext uri="{BB962C8B-B14F-4D97-AF65-F5344CB8AC3E}">
        <p14:creationId xmlns:p14="http://schemas.microsoft.com/office/powerpoint/2010/main" val="1531566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a:ln/>
        </p:spPr>
      </p:sp>
      <p:sp>
        <p:nvSpPr>
          <p:cNvPr id="61443" name="Rectangle 3"/>
          <p:cNvSpPr>
            <a:spLocks noGrp="1"/>
          </p:cNvSpPr>
          <p:nvPr>
            <p:ph type="body" idx="1"/>
          </p:nvPr>
        </p:nvSpPr>
        <p:spPr>
          <a:ln/>
        </p:spPr>
        <p:txBody>
          <a:bodyPr/>
          <a:lstStyle/>
          <a:p>
            <a:pPr marL="345575" indent="-345575" eaLnBrk="1" hangingPunct="1">
              <a:lnSpc>
                <a:spcPct val="150000"/>
              </a:lnSpc>
              <a:spcBef>
                <a:spcPts val="605"/>
              </a:spcBef>
              <a:buSzPct val="85000"/>
              <a:defRPr/>
            </a:pPr>
            <a:r>
              <a:rPr lang="en-NZ" sz="900" kern="0" dirty="0">
                <a:latin typeface="+mn-lt"/>
              </a:rPr>
              <a:t>Part one of this trial involved single-dose pharmacokinetic sampling over 48 hours, and part two involved a 28 days administration of rupatadine pediatric oral solution</a:t>
            </a:r>
            <a:r>
              <a:rPr lang="es-ES" sz="900" kern="0" dirty="0">
                <a:latin typeface="+mn-lt"/>
              </a:rPr>
              <a:t> </a:t>
            </a:r>
            <a:r>
              <a:rPr lang="en-NZ" sz="900" kern="0" dirty="0">
                <a:latin typeface="+mn-lt"/>
              </a:rPr>
              <a:t>1 mg/mL once daily.</a:t>
            </a:r>
          </a:p>
          <a:p>
            <a:pPr marL="345575" indent="-345575" eaLnBrk="1" hangingPunct="1">
              <a:lnSpc>
                <a:spcPct val="150000"/>
              </a:lnSpc>
              <a:spcBef>
                <a:spcPts val="605"/>
              </a:spcBef>
              <a:buSzPct val="85000"/>
              <a:defRPr/>
            </a:pPr>
            <a:r>
              <a:rPr lang="en-NZ" sz="900" kern="0" dirty="0">
                <a:latin typeface="+mn-lt"/>
              </a:rPr>
              <a:t>Children with bodyweight &lt; 25 kg received 2.5 mL (2.5 mg) once daily, and children with bodyweight ≥25 kg received 5 mL (5 mg) once daily.</a:t>
            </a:r>
          </a:p>
          <a:p>
            <a:pPr marL="345575" indent="-345575" eaLnBrk="1" hangingPunct="1">
              <a:lnSpc>
                <a:spcPct val="150000"/>
              </a:lnSpc>
              <a:spcBef>
                <a:spcPts val="605"/>
              </a:spcBef>
              <a:buSzPct val="85000"/>
              <a:defRPr/>
            </a:pPr>
            <a:r>
              <a:rPr lang="en-NZ" sz="900" kern="0" dirty="0">
                <a:latin typeface="+mn-lt"/>
              </a:rPr>
              <a:t>Besides pharmacokinetic assessments, this open-label trial involved evaluations of the peripheral H1-antihistamine activity of rupatadine, the effects of rupatadine on allergic symptom control, and rupatadine tolerability.</a:t>
            </a:r>
          </a:p>
          <a:p>
            <a:pPr marL="345575" indent="-345575" defTabSz="452767" eaLnBrk="1" hangingPunct="1">
              <a:lnSpc>
                <a:spcPct val="150000"/>
              </a:lnSpc>
              <a:spcBef>
                <a:spcPts val="605"/>
              </a:spcBef>
              <a:buSzPct val="85000"/>
              <a:defRPr/>
            </a:pPr>
            <a:r>
              <a:rPr lang="en-NZ" sz="900" kern="0" dirty="0">
                <a:latin typeface="+mn-lt"/>
              </a:rPr>
              <a:t>Flare testing was conducted at 5 sites on each child’s back at pre-study screening</a:t>
            </a:r>
            <a:r>
              <a:rPr lang="en-NZ" sz="900" kern="0" baseline="0" dirty="0">
                <a:latin typeface="+mn-lt"/>
              </a:rPr>
              <a:t> and at visit 3: intradermal provocation injections comprised control and histamine 0,1, 0,2, 0,4 and 0,8 µg, each in 0.05 mL saline. Flare areas were recorded every 2 minutes after injection, for 10 minutes, by placing an appropriately labelled acetate sheet over each flare and tracing around the flare. The diameter of each flare was measured from acetate sheets using a Visitrack image analyser. At pre-study screening, to enter to the trial, each child had to have a negative response (flare diameter &lt; 20 mm) to the saline control, and a positive response (flare diameter &gt; 20 mm) to each histamine concentration.</a:t>
            </a:r>
            <a:endParaRPr lang="en-NZ" sz="900" kern="0" dirty="0">
              <a:latin typeface="+mn-lt"/>
            </a:endParaRPr>
          </a:p>
          <a:p>
            <a:pPr marL="345575" indent="-345575" eaLnBrk="1" hangingPunct="1">
              <a:lnSpc>
                <a:spcPct val="150000"/>
              </a:lnSpc>
              <a:spcBef>
                <a:spcPts val="605"/>
              </a:spcBef>
              <a:buSzPct val="85000"/>
              <a:defRPr/>
            </a:pPr>
            <a:endParaRPr lang="en-NZ" sz="900" kern="0" dirty="0">
              <a:latin typeface="+mn-lt"/>
            </a:endParaRPr>
          </a:p>
          <a:p>
            <a:pPr marL="345575" indent="-345575" eaLnBrk="1" hangingPunct="1">
              <a:lnSpc>
                <a:spcPct val="150000"/>
              </a:lnSpc>
              <a:spcBef>
                <a:spcPts val="605"/>
              </a:spcBef>
              <a:buSzPct val="85000"/>
              <a:defRPr/>
            </a:pPr>
            <a:endParaRPr lang="es-ES" sz="900" b="1" dirty="0">
              <a:latin typeface="+mn-lt"/>
            </a:endParaRPr>
          </a:p>
          <a:p>
            <a:pPr>
              <a:defRPr/>
            </a:pPr>
            <a:r>
              <a:rPr lang="es-ES" sz="900" b="1" dirty="0">
                <a:latin typeface="+mn-lt"/>
              </a:rPr>
              <a:t>Reference</a:t>
            </a:r>
          </a:p>
          <a:p>
            <a:pPr>
              <a:defRPr/>
            </a:pPr>
            <a:r>
              <a:rPr lang="es-ES" sz="900" dirty="0">
                <a:latin typeface="+mn-lt"/>
              </a:rPr>
              <a:t>Izquierdo I, Cranswick N, McCreanor J, et al. Rupatadine oral </a:t>
            </a:r>
            <a:r>
              <a:rPr lang="en-US" sz="900" dirty="0">
                <a:latin typeface="+mn-lt"/>
              </a:rPr>
              <a:t>solution in children aged 6-11 years with allergic rhinitis: a proof of concept evaluation by a 4 weeks treatment follow-up study. </a:t>
            </a:r>
            <a:r>
              <a:rPr lang="es-ES" sz="900" dirty="0">
                <a:latin typeface="+mn-lt"/>
              </a:rPr>
              <a:t>Pediatr Allergy Immunol. 2009; (suppl.20):2.</a:t>
            </a:r>
          </a:p>
          <a:p>
            <a:pPr>
              <a:defRPr/>
            </a:pPr>
            <a:endParaRPr lang="es-ES" sz="900" dirty="0">
              <a:latin typeface="+mn-lt"/>
              <a:sym typeface="Wingdings" pitchFamily="2" charset="2"/>
            </a:endParaRPr>
          </a:p>
        </p:txBody>
      </p:sp>
    </p:spTree>
    <p:extLst>
      <p:ext uri="{BB962C8B-B14F-4D97-AF65-F5344CB8AC3E}">
        <p14:creationId xmlns:p14="http://schemas.microsoft.com/office/powerpoint/2010/main" val="2575291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Rot="1" noChangeAspect="1" noTextEdit="1"/>
          </p:cNvSpPr>
          <p:nvPr>
            <p:ph type="sldImg"/>
          </p:nvPr>
        </p:nvSpPr>
        <p:spPr>
          <a:ln/>
        </p:spPr>
      </p:sp>
      <p:sp>
        <p:nvSpPr>
          <p:cNvPr id="62466" name="Rectangle 3"/>
          <p:cNvSpPr>
            <a:spLocks noGrp="1"/>
          </p:cNvSpPr>
          <p:nvPr>
            <p:ph type="body" idx="1"/>
          </p:nvPr>
        </p:nvSpPr>
        <p:spPr>
          <a:noFill/>
          <a:ln/>
        </p:spPr>
        <p:txBody>
          <a:bodyPr/>
          <a:lstStyle/>
          <a:p>
            <a:r>
              <a:rPr lang="es-ES" altLang="es-ES" sz="900" dirty="0">
                <a:latin typeface="+mn-lt"/>
                <a:ea typeface="ＭＳ Ｐゴシック" charset="-128"/>
              </a:rPr>
              <a:t>Rupatadine pediatric oral solution 1 mg/mL provided</a:t>
            </a:r>
            <a:r>
              <a:rPr lang="es-ES" altLang="es-ES" sz="900" baseline="0" dirty="0">
                <a:latin typeface="+mn-lt"/>
                <a:ea typeface="ＭＳ Ｐゴシック" charset="-128"/>
              </a:rPr>
              <a:t> </a:t>
            </a:r>
            <a:r>
              <a:rPr lang="es-ES" altLang="es-ES" sz="900" baseline="0" dirty="0" err="1">
                <a:latin typeface="+mn-lt"/>
                <a:ea typeface="ＭＳ Ｐゴシック" charset="-128"/>
              </a:rPr>
              <a:t>significant</a:t>
            </a:r>
            <a:r>
              <a:rPr lang="es-ES" altLang="es-ES" sz="900" baseline="0" dirty="0">
                <a:latin typeface="+mn-lt"/>
                <a:ea typeface="ＭＳ Ｐゴシック" charset="-128"/>
              </a:rPr>
              <a:t> </a:t>
            </a:r>
            <a:r>
              <a:rPr lang="es-ES" altLang="es-ES" sz="900" baseline="0" dirty="0" err="1">
                <a:latin typeface="+mn-lt"/>
                <a:ea typeface="ＭＳ Ｐゴシック" charset="-128"/>
              </a:rPr>
              <a:t>peripheral</a:t>
            </a:r>
            <a:r>
              <a:rPr lang="es-ES" altLang="es-ES" sz="900" baseline="0" dirty="0">
                <a:latin typeface="+mn-lt"/>
                <a:ea typeface="ＭＳ Ｐゴシック" charset="-128"/>
              </a:rPr>
              <a:t> </a:t>
            </a:r>
            <a:r>
              <a:rPr lang="es-ES" altLang="es-ES" sz="900" baseline="0" dirty="0" err="1">
                <a:latin typeface="+mn-lt"/>
                <a:ea typeface="ＭＳ Ｐゴシック" charset="-128"/>
              </a:rPr>
              <a:t>antihistamine</a:t>
            </a:r>
            <a:r>
              <a:rPr lang="es-ES" altLang="es-ES" sz="900" baseline="0" dirty="0">
                <a:latin typeface="+mn-lt"/>
                <a:ea typeface="ＭＳ Ｐゴシック" charset="-128"/>
              </a:rPr>
              <a:t> </a:t>
            </a:r>
            <a:r>
              <a:rPr lang="es-ES" altLang="es-ES" sz="900" baseline="0" dirty="0" err="1">
                <a:latin typeface="+mn-lt"/>
                <a:ea typeface="ＭＳ Ｐゴシック" charset="-128"/>
              </a:rPr>
              <a:t>activity</a:t>
            </a:r>
            <a:r>
              <a:rPr lang="es-ES" altLang="es-ES" sz="900" baseline="0" dirty="0">
                <a:latin typeface="+mn-lt"/>
                <a:ea typeface="ＭＳ Ｐゴシック" charset="-128"/>
              </a:rPr>
              <a:t> after 4 </a:t>
            </a:r>
            <a:r>
              <a:rPr lang="es-ES" altLang="es-ES" sz="900" baseline="0" dirty="0" err="1">
                <a:latin typeface="+mn-lt"/>
                <a:ea typeface="ＭＳ Ｐゴシック" charset="-128"/>
              </a:rPr>
              <a:t>weeks</a:t>
            </a:r>
            <a:r>
              <a:rPr lang="es-ES" altLang="es-ES" sz="900" baseline="0" dirty="0">
                <a:latin typeface="+mn-lt"/>
                <a:ea typeface="ＭＳ Ｐゴシック" charset="-128"/>
              </a:rPr>
              <a:t> in </a:t>
            </a:r>
            <a:r>
              <a:rPr lang="es-ES" altLang="es-ES" sz="900" baseline="0" dirty="0" err="1">
                <a:latin typeface="+mn-lt"/>
                <a:ea typeface="ＭＳ Ｐゴシック" charset="-128"/>
              </a:rPr>
              <a:t>children</a:t>
            </a:r>
            <a:r>
              <a:rPr lang="es-ES" altLang="es-ES" sz="900" baseline="0" dirty="0">
                <a:latin typeface="+mn-lt"/>
                <a:ea typeface="ＭＳ Ｐゴシック" charset="-128"/>
              </a:rPr>
              <a:t> </a:t>
            </a:r>
            <a:r>
              <a:rPr lang="es-ES" altLang="es-ES" sz="900" baseline="0" dirty="0" err="1">
                <a:latin typeface="+mn-lt"/>
                <a:ea typeface="ＭＳ Ｐゴシック" charset="-128"/>
              </a:rPr>
              <a:t>aged</a:t>
            </a:r>
            <a:r>
              <a:rPr lang="es-ES" altLang="es-ES" sz="900" baseline="0" dirty="0">
                <a:latin typeface="+mn-lt"/>
                <a:ea typeface="ＭＳ Ｐゴシック" charset="-128"/>
              </a:rPr>
              <a:t> 6-11 </a:t>
            </a:r>
            <a:r>
              <a:rPr lang="es-ES" altLang="es-ES" sz="900" baseline="0" dirty="0" err="1">
                <a:latin typeface="+mn-lt"/>
                <a:ea typeface="ＭＳ Ｐゴシック" charset="-128"/>
              </a:rPr>
              <a:t>years</a:t>
            </a:r>
            <a:r>
              <a:rPr lang="es-ES" altLang="es-ES" sz="900" baseline="0" dirty="0">
                <a:latin typeface="+mn-lt"/>
                <a:ea typeface="ＭＳ Ｐゴシック" charset="-128"/>
              </a:rPr>
              <a:t> with </a:t>
            </a:r>
            <a:r>
              <a:rPr lang="es-ES" altLang="es-ES" sz="900" baseline="0" dirty="0" err="1">
                <a:latin typeface="+mn-lt"/>
                <a:ea typeface="ＭＳ Ｐゴシック" charset="-128"/>
              </a:rPr>
              <a:t>allergic</a:t>
            </a:r>
            <a:r>
              <a:rPr lang="es-ES" altLang="es-ES" sz="900" baseline="0" dirty="0">
                <a:latin typeface="+mn-lt"/>
                <a:ea typeface="ＭＳ Ｐゴシック" charset="-128"/>
              </a:rPr>
              <a:t> </a:t>
            </a:r>
            <a:r>
              <a:rPr lang="es-ES" altLang="es-ES" sz="900" baseline="0" dirty="0" err="1">
                <a:latin typeface="+mn-lt"/>
                <a:ea typeface="ＭＳ Ｐゴシック" charset="-128"/>
              </a:rPr>
              <a:t>rhinitis</a:t>
            </a:r>
            <a:r>
              <a:rPr lang="es-ES" altLang="es-ES" sz="900" baseline="0" dirty="0">
                <a:latin typeface="+mn-lt"/>
                <a:ea typeface="ＭＳ Ｐゴシック" charset="-128"/>
              </a:rPr>
              <a:t>; </a:t>
            </a:r>
            <a:r>
              <a:rPr lang="es-ES" altLang="es-ES" sz="900" baseline="0" dirty="0" err="1">
                <a:latin typeface="+mn-lt"/>
                <a:ea typeface="ＭＳ Ｐゴシック" charset="-128"/>
              </a:rPr>
              <a:t>this</a:t>
            </a:r>
            <a:r>
              <a:rPr lang="es-ES" altLang="es-ES" sz="900" baseline="0" dirty="0">
                <a:latin typeface="+mn-lt"/>
                <a:ea typeface="ＭＳ Ｐゴシック" charset="-128"/>
              </a:rPr>
              <a:t> </a:t>
            </a:r>
            <a:r>
              <a:rPr lang="es-ES" altLang="es-ES" sz="900" baseline="0" dirty="0" err="1">
                <a:latin typeface="+mn-lt"/>
                <a:ea typeface="ＭＳ Ｐゴシック" charset="-128"/>
              </a:rPr>
              <a:t>marked</a:t>
            </a:r>
            <a:r>
              <a:rPr lang="es-ES" altLang="es-ES" sz="900" baseline="0" dirty="0">
                <a:latin typeface="+mn-lt"/>
                <a:ea typeface="ＭＳ Ｐゴシック" charset="-128"/>
              </a:rPr>
              <a:t> </a:t>
            </a:r>
            <a:r>
              <a:rPr lang="es-ES" altLang="es-ES" sz="900" baseline="0" dirty="0" err="1">
                <a:latin typeface="+mn-lt"/>
                <a:ea typeface="ＭＳ Ｐゴシック" charset="-128"/>
              </a:rPr>
              <a:t>efficacy</a:t>
            </a:r>
            <a:r>
              <a:rPr lang="es-ES" altLang="es-ES" sz="900" baseline="0" dirty="0">
                <a:latin typeface="+mn-lt"/>
                <a:ea typeface="ＭＳ Ｐゴシック" charset="-128"/>
              </a:rPr>
              <a:t> </a:t>
            </a:r>
            <a:r>
              <a:rPr lang="es-ES" altLang="es-ES" sz="900" baseline="0" dirty="0" err="1">
                <a:latin typeface="+mn-lt"/>
                <a:ea typeface="ＭＳ Ｐゴシック" charset="-128"/>
              </a:rPr>
              <a:t>was</a:t>
            </a:r>
            <a:r>
              <a:rPr lang="es-ES" altLang="es-ES" sz="900" baseline="0" dirty="0">
                <a:latin typeface="+mn-lt"/>
                <a:ea typeface="ＭＳ Ｐゴシック" charset="-128"/>
              </a:rPr>
              <a:t> </a:t>
            </a:r>
            <a:r>
              <a:rPr lang="es-ES" altLang="es-ES" sz="900" baseline="0" dirty="0" err="1">
                <a:latin typeface="+mn-lt"/>
                <a:ea typeface="ＭＳ Ｐゴシック" charset="-128"/>
              </a:rPr>
              <a:t>attained</a:t>
            </a:r>
            <a:r>
              <a:rPr lang="es-ES" altLang="es-ES" sz="900" baseline="0" dirty="0">
                <a:latin typeface="+mn-lt"/>
                <a:ea typeface="ＭＳ Ｐゴシック" charset="-128"/>
              </a:rPr>
              <a:t> at </a:t>
            </a:r>
            <a:r>
              <a:rPr lang="es-ES" altLang="es-ES" sz="900" baseline="0" dirty="0" err="1">
                <a:latin typeface="+mn-lt"/>
                <a:ea typeface="ＭＳ Ｐゴシック" charset="-128"/>
              </a:rPr>
              <a:t>levels</a:t>
            </a:r>
            <a:r>
              <a:rPr lang="es-ES" altLang="es-ES" sz="900" baseline="0" dirty="0">
                <a:latin typeface="+mn-lt"/>
                <a:ea typeface="ＭＳ Ｐゴシック" charset="-128"/>
              </a:rPr>
              <a:t> of </a:t>
            </a:r>
            <a:r>
              <a:rPr lang="es-ES" altLang="es-ES" sz="900" baseline="0" dirty="0" err="1">
                <a:latin typeface="+mn-lt"/>
                <a:ea typeface="ＭＳ Ｐゴシック" charset="-128"/>
              </a:rPr>
              <a:t>rupatadine</a:t>
            </a:r>
            <a:r>
              <a:rPr lang="es-ES" altLang="es-ES" sz="900" baseline="0" dirty="0">
                <a:latin typeface="+mn-lt"/>
                <a:ea typeface="ＭＳ Ｐゴシック" charset="-128"/>
              </a:rPr>
              <a:t> </a:t>
            </a:r>
            <a:r>
              <a:rPr lang="es-ES" altLang="es-ES" sz="900" baseline="0" dirty="0" err="1">
                <a:latin typeface="+mn-lt"/>
                <a:ea typeface="ＭＳ Ｐゴシック" charset="-128"/>
              </a:rPr>
              <a:t>exposure</a:t>
            </a:r>
            <a:r>
              <a:rPr lang="es-ES" altLang="es-ES" sz="900" baseline="0" dirty="0">
                <a:latin typeface="+mn-lt"/>
                <a:ea typeface="ＭＳ Ｐゴシック" charset="-128"/>
              </a:rPr>
              <a:t> similar to </a:t>
            </a:r>
            <a:r>
              <a:rPr lang="es-ES" altLang="es-ES" sz="900" baseline="0" dirty="0" err="1">
                <a:latin typeface="+mn-lt"/>
                <a:ea typeface="ＭＳ Ｐゴシック" charset="-128"/>
              </a:rPr>
              <a:t>those</a:t>
            </a:r>
            <a:r>
              <a:rPr lang="es-ES" altLang="es-ES" sz="900" baseline="0" dirty="0">
                <a:latin typeface="+mn-lt"/>
                <a:ea typeface="ＭＳ Ｐゴシック" charset="-128"/>
              </a:rPr>
              <a:t> </a:t>
            </a:r>
            <a:r>
              <a:rPr lang="es-ES" altLang="es-ES" sz="900" baseline="0" dirty="0" err="1">
                <a:latin typeface="+mn-lt"/>
                <a:ea typeface="ＭＳ Ｐゴシック" charset="-128"/>
              </a:rPr>
              <a:t>previously</a:t>
            </a:r>
            <a:r>
              <a:rPr lang="es-ES" altLang="es-ES" sz="900" baseline="0" dirty="0">
                <a:latin typeface="+mn-lt"/>
                <a:ea typeface="ＭＳ Ｐゴシック" charset="-128"/>
              </a:rPr>
              <a:t> </a:t>
            </a:r>
            <a:r>
              <a:rPr lang="es-ES" altLang="es-ES" sz="900" baseline="0" dirty="0" err="1">
                <a:latin typeface="+mn-lt"/>
                <a:ea typeface="ＭＳ Ｐゴシック" charset="-128"/>
              </a:rPr>
              <a:t>reported</a:t>
            </a:r>
            <a:r>
              <a:rPr lang="es-ES" altLang="es-ES" sz="900" baseline="0" dirty="0">
                <a:latin typeface="+mn-lt"/>
                <a:ea typeface="ＭＳ Ｐゴシック" charset="-128"/>
              </a:rPr>
              <a:t> in </a:t>
            </a:r>
            <a:r>
              <a:rPr lang="es-ES" altLang="es-ES" sz="900" baseline="0" dirty="0" err="1">
                <a:latin typeface="+mn-lt"/>
                <a:ea typeface="ＭＳ Ｐゴシック" charset="-128"/>
              </a:rPr>
              <a:t>adults</a:t>
            </a:r>
            <a:r>
              <a:rPr lang="es-ES" altLang="es-ES" sz="900" baseline="0" dirty="0">
                <a:latin typeface="+mn-lt"/>
                <a:ea typeface="ＭＳ Ｐゴシック" charset="-128"/>
              </a:rPr>
              <a:t>. A </a:t>
            </a:r>
            <a:r>
              <a:rPr lang="es-ES" altLang="es-ES" sz="900" baseline="0" dirty="0" err="1">
                <a:latin typeface="+mn-lt"/>
                <a:ea typeface="ＭＳ Ｐゴシック" charset="-128"/>
              </a:rPr>
              <a:t>significant</a:t>
            </a:r>
            <a:r>
              <a:rPr lang="es-ES" altLang="es-ES" sz="900" baseline="0" dirty="0">
                <a:latin typeface="+mn-lt"/>
                <a:ea typeface="ＭＳ Ｐゴシック" charset="-128"/>
              </a:rPr>
              <a:t> (p &lt; 0.001) </a:t>
            </a:r>
            <a:r>
              <a:rPr lang="es-ES" altLang="es-ES" sz="900" baseline="0" dirty="0" err="1">
                <a:latin typeface="+mn-lt"/>
                <a:ea typeface="ＭＳ Ｐゴシック" charset="-128"/>
              </a:rPr>
              <a:t>increase</a:t>
            </a:r>
            <a:r>
              <a:rPr lang="es-ES" altLang="es-ES" sz="900" baseline="0" dirty="0">
                <a:latin typeface="+mn-lt"/>
                <a:ea typeface="ＭＳ Ｐゴシック" charset="-128"/>
              </a:rPr>
              <a:t> in </a:t>
            </a:r>
            <a:r>
              <a:rPr lang="es-ES" altLang="es-ES" sz="900" baseline="0" dirty="0" err="1">
                <a:latin typeface="+mn-lt"/>
                <a:ea typeface="ＭＳ Ｐゴシック" charset="-128"/>
              </a:rPr>
              <a:t>flare</a:t>
            </a:r>
            <a:r>
              <a:rPr lang="es-ES" altLang="es-ES" sz="900" baseline="0" dirty="0">
                <a:latin typeface="+mn-lt"/>
                <a:ea typeface="ＭＳ Ｐゴシック" charset="-128"/>
              </a:rPr>
              <a:t> </a:t>
            </a:r>
            <a:r>
              <a:rPr lang="es-ES" altLang="es-ES" sz="900" baseline="0" dirty="0" err="1">
                <a:latin typeface="+mn-lt"/>
                <a:ea typeface="ＭＳ Ｐゴシック" charset="-128"/>
              </a:rPr>
              <a:t>size</a:t>
            </a:r>
            <a:r>
              <a:rPr lang="es-ES" altLang="es-ES" sz="900" baseline="0" dirty="0">
                <a:latin typeface="+mn-lt"/>
                <a:ea typeface="ＭＳ Ｐゴシック" charset="-128"/>
              </a:rPr>
              <a:t> </a:t>
            </a:r>
            <a:r>
              <a:rPr lang="es-ES" altLang="es-ES" sz="900" baseline="0" dirty="0" err="1">
                <a:latin typeface="+mn-lt"/>
                <a:ea typeface="ＭＳ Ｐゴシック" charset="-128"/>
              </a:rPr>
              <a:t>was</a:t>
            </a:r>
            <a:r>
              <a:rPr lang="es-ES" altLang="es-ES" sz="900" baseline="0" dirty="0">
                <a:latin typeface="+mn-lt"/>
                <a:ea typeface="ＭＳ Ｐゴシック" charset="-128"/>
              </a:rPr>
              <a:t> </a:t>
            </a:r>
            <a:r>
              <a:rPr lang="es-ES" altLang="es-ES" sz="900" baseline="0" dirty="0" err="1">
                <a:latin typeface="+mn-lt"/>
                <a:ea typeface="ＭＳ Ｐゴシック" charset="-128"/>
              </a:rPr>
              <a:t>evident</a:t>
            </a:r>
            <a:r>
              <a:rPr lang="es-ES" altLang="es-ES" sz="900" baseline="0" dirty="0">
                <a:latin typeface="+mn-lt"/>
                <a:ea typeface="ＭＳ Ｐゴシック" charset="-128"/>
              </a:rPr>
              <a:t> </a:t>
            </a:r>
            <a:r>
              <a:rPr lang="es-ES" altLang="es-ES" sz="900" baseline="0" dirty="0" err="1">
                <a:latin typeface="+mn-lt"/>
                <a:ea typeface="ＭＳ Ｐゴシック" charset="-128"/>
              </a:rPr>
              <a:t>in</a:t>
            </a:r>
            <a:r>
              <a:rPr lang="es-ES" altLang="es-ES" sz="900" baseline="0" dirty="0">
                <a:latin typeface="+mn-lt"/>
                <a:ea typeface="ＭＳ Ｐゴシック" charset="-128"/>
              </a:rPr>
              <a:t> line with </a:t>
            </a:r>
            <a:r>
              <a:rPr lang="es-ES" altLang="es-ES" sz="900" baseline="0" dirty="0" err="1">
                <a:latin typeface="+mn-lt"/>
                <a:ea typeface="ＭＳ Ｐゴシック" charset="-128"/>
              </a:rPr>
              <a:t>increasing</a:t>
            </a:r>
            <a:r>
              <a:rPr lang="es-ES" altLang="es-ES" sz="900" baseline="0" dirty="0">
                <a:latin typeface="+mn-lt"/>
                <a:ea typeface="ＭＳ Ｐゴシック" charset="-128"/>
              </a:rPr>
              <a:t> </a:t>
            </a:r>
            <a:r>
              <a:rPr lang="es-ES" altLang="es-ES" sz="900" baseline="0" dirty="0" err="1">
                <a:latin typeface="+mn-lt"/>
                <a:ea typeface="ＭＳ Ｐゴシック" charset="-128"/>
              </a:rPr>
              <a:t>histamine</a:t>
            </a:r>
            <a:r>
              <a:rPr lang="es-ES" altLang="es-ES" sz="900" baseline="0" dirty="0">
                <a:latin typeface="+mn-lt"/>
                <a:ea typeface="ＭＳ Ｐゴシック" charset="-128"/>
              </a:rPr>
              <a:t> </a:t>
            </a:r>
            <a:r>
              <a:rPr lang="es-ES" altLang="es-ES" sz="900" baseline="0" dirty="0" err="1">
                <a:latin typeface="+mn-lt"/>
                <a:ea typeface="ＭＳ Ｐゴシック" charset="-128"/>
              </a:rPr>
              <a:t>concentrations</a:t>
            </a:r>
            <a:r>
              <a:rPr lang="es-ES" altLang="es-ES" sz="900" baseline="0" dirty="0">
                <a:latin typeface="+mn-lt"/>
                <a:ea typeface="ＭＳ Ｐゴシック" charset="-128"/>
              </a:rPr>
              <a:t>, </a:t>
            </a:r>
            <a:r>
              <a:rPr lang="es-ES" altLang="es-ES" sz="900" baseline="0" dirty="0" err="1">
                <a:latin typeface="+mn-lt"/>
                <a:ea typeface="ＭＳ Ｐゴシック" charset="-128"/>
              </a:rPr>
              <a:t>but</a:t>
            </a:r>
            <a:r>
              <a:rPr lang="es-ES" altLang="es-ES" sz="900" baseline="0" dirty="0">
                <a:latin typeface="+mn-lt"/>
                <a:ea typeface="ＭＳ Ｐゴシック" charset="-128"/>
              </a:rPr>
              <a:t> at 4 </a:t>
            </a:r>
            <a:r>
              <a:rPr lang="es-ES" altLang="es-ES" sz="900" baseline="0" dirty="0" err="1">
                <a:latin typeface="+mn-lt"/>
                <a:ea typeface="ＭＳ Ｐゴシック" charset="-128"/>
              </a:rPr>
              <a:t>weeks</a:t>
            </a:r>
            <a:r>
              <a:rPr lang="es-ES" altLang="es-ES" sz="900" baseline="0" dirty="0">
                <a:latin typeface="+mn-lt"/>
                <a:ea typeface="ＭＳ Ｐゴシック" charset="-128"/>
              </a:rPr>
              <a:t>, </a:t>
            </a:r>
            <a:r>
              <a:rPr lang="es-ES" altLang="es-ES" sz="900" baseline="0" dirty="0" err="1">
                <a:latin typeface="+mn-lt"/>
                <a:ea typeface="ＭＳ Ｐゴシック" charset="-128"/>
              </a:rPr>
              <a:t>analysis</a:t>
            </a:r>
            <a:r>
              <a:rPr lang="es-ES" altLang="es-ES" sz="900" baseline="0" dirty="0">
                <a:latin typeface="+mn-lt"/>
                <a:ea typeface="ＭＳ Ｐゴシック" charset="-128"/>
              </a:rPr>
              <a:t> of </a:t>
            </a:r>
            <a:r>
              <a:rPr lang="es-ES" altLang="es-ES" sz="900" baseline="0" dirty="0" err="1">
                <a:latin typeface="+mn-lt"/>
                <a:ea typeface="ＭＳ Ｐゴシック" charset="-128"/>
              </a:rPr>
              <a:t>variance</a:t>
            </a:r>
            <a:r>
              <a:rPr lang="es-ES" altLang="es-ES" sz="900" baseline="0" dirty="0">
                <a:latin typeface="+mn-lt"/>
                <a:ea typeface="ＭＳ Ｐゴシック" charset="-128"/>
              </a:rPr>
              <a:t> </a:t>
            </a:r>
            <a:r>
              <a:rPr lang="es-ES" altLang="es-ES" sz="900" baseline="0" dirty="0" err="1">
                <a:latin typeface="+mn-lt"/>
                <a:ea typeface="ＭＳ Ｐゴシック" charset="-128"/>
              </a:rPr>
              <a:t>revealed</a:t>
            </a:r>
            <a:r>
              <a:rPr lang="es-ES" altLang="es-ES" sz="900" baseline="0" dirty="0">
                <a:latin typeface="+mn-lt"/>
                <a:ea typeface="ＭＳ Ｐゴシック" charset="-128"/>
              </a:rPr>
              <a:t> a </a:t>
            </a:r>
            <a:r>
              <a:rPr lang="es-ES" altLang="es-ES" sz="900" baseline="0" dirty="0" err="1">
                <a:latin typeface="+mn-lt"/>
                <a:ea typeface="ＭＳ Ｐゴシック" charset="-128"/>
              </a:rPr>
              <a:t>statistically</a:t>
            </a:r>
            <a:r>
              <a:rPr lang="es-ES" altLang="es-ES" sz="900" baseline="0" dirty="0">
                <a:latin typeface="+mn-lt"/>
                <a:ea typeface="ＭＳ Ｐゴシック" charset="-128"/>
              </a:rPr>
              <a:t> </a:t>
            </a:r>
            <a:r>
              <a:rPr lang="es-ES" altLang="es-ES" sz="900" baseline="0" dirty="0" err="1">
                <a:latin typeface="+mn-lt"/>
                <a:ea typeface="ＭＳ Ｐゴシック" charset="-128"/>
              </a:rPr>
              <a:t>significant</a:t>
            </a:r>
            <a:r>
              <a:rPr lang="es-ES" altLang="es-ES" sz="900" baseline="0" dirty="0">
                <a:latin typeface="+mn-lt"/>
                <a:ea typeface="ＭＳ Ｐゴシック" charset="-128"/>
              </a:rPr>
              <a:t> (p = 0.026) </a:t>
            </a:r>
            <a:r>
              <a:rPr lang="es-ES" altLang="es-ES" sz="900" baseline="0" dirty="0" err="1">
                <a:latin typeface="+mn-lt"/>
                <a:ea typeface="ＭＳ Ｐゴシック" charset="-128"/>
              </a:rPr>
              <a:t>effect</a:t>
            </a:r>
            <a:r>
              <a:rPr lang="es-ES" altLang="es-ES" sz="900" baseline="0" dirty="0">
                <a:latin typeface="+mn-lt"/>
                <a:ea typeface="ＭＳ Ｐゴシック" charset="-128"/>
              </a:rPr>
              <a:t> </a:t>
            </a:r>
            <a:r>
              <a:rPr lang="es-ES" altLang="es-ES" sz="900" baseline="0" dirty="0" err="1">
                <a:latin typeface="+mn-lt"/>
                <a:ea typeface="ＭＳ Ｐゴシック" charset="-128"/>
              </a:rPr>
              <a:t>for</a:t>
            </a:r>
            <a:r>
              <a:rPr lang="es-ES" altLang="es-ES" sz="900" baseline="0" dirty="0">
                <a:latin typeface="+mn-lt"/>
                <a:ea typeface="ＭＳ Ｐゴシック" charset="-128"/>
              </a:rPr>
              <a:t> </a:t>
            </a:r>
            <a:r>
              <a:rPr lang="es-ES" altLang="es-ES" sz="900" baseline="0" dirty="0" err="1">
                <a:latin typeface="+mn-lt"/>
                <a:ea typeface="ＭＳ Ｐゴシック" charset="-128"/>
              </a:rPr>
              <a:t>rupatadine</a:t>
            </a:r>
            <a:r>
              <a:rPr lang="es-ES" altLang="es-ES" sz="900" baseline="0" dirty="0">
                <a:latin typeface="+mn-lt"/>
                <a:ea typeface="ＭＳ Ｐゴシック" charset="-128"/>
              </a:rPr>
              <a:t> in </a:t>
            </a:r>
            <a:r>
              <a:rPr lang="es-ES" altLang="es-ES" sz="900" baseline="0" dirty="0" err="1">
                <a:latin typeface="+mn-lt"/>
                <a:ea typeface="ＭＳ Ｐゴシック" charset="-128"/>
              </a:rPr>
              <a:t>reducing</a:t>
            </a:r>
            <a:r>
              <a:rPr lang="es-ES" altLang="es-ES" sz="900" baseline="0" dirty="0">
                <a:latin typeface="+mn-lt"/>
                <a:ea typeface="ＭＳ Ｐゴシック" charset="-128"/>
              </a:rPr>
              <a:t> mean </a:t>
            </a:r>
            <a:r>
              <a:rPr lang="es-ES" altLang="es-ES" sz="900" baseline="0" dirty="0" err="1">
                <a:latin typeface="+mn-lt"/>
                <a:ea typeface="ＭＳ Ｐゴシック" charset="-128"/>
              </a:rPr>
              <a:t>flare</a:t>
            </a:r>
            <a:r>
              <a:rPr lang="es-ES" altLang="es-ES" sz="900" baseline="0" dirty="0">
                <a:latin typeface="+mn-lt"/>
                <a:ea typeface="ＭＳ Ｐゴシック" charset="-128"/>
              </a:rPr>
              <a:t> </a:t>
            </a:r>
            <a:r>
              <a:rPr lang="es-ES" altLang="es-ES" sz="900" baseline="0" dirty="0" err="1">
                <a:latin typeface="+mn-lt"/>
                <a:ea typeface="ＭＳ Ｐゴシック" charset="-128"/>
              </a:rPr>
              <a:t>size</a:t>
            </a:r>
            <a:r>
              <a:rPr lang="es-ES" altLang="es-ES" sz="900" baseline="0" dirty="0">
                <a:latin typeface="+mn-lt"/>
                <a:ea typeface="ＭＳ Ｐゴシック" charset="-128"/>
              </a:rPr>
              <a:t>. </a:t>
            </a:r>
          </a:p>
          <a:p>
            <a:endParaRPr lang="es-ES" altLang="es-ES" sz="900" dirty="0">
              <a:latin typeface="+mn-lt"/>
              <a:ea typeface="ＭＳ Ｐゴシック" charset="-128"/>
            </a:endParaRPr>
          </a:p>
          <a:p>
            <a:r>
              <a:rPr lang="es-ES" altLang="es-ES" sz="900" dirty="0" err="1">
                <a:latin typeface="+mn-lt"/>
                <a:ea typeface="ＭＳ Ｐゴシック" charset="-128"/>
              </a:rPr>
              <a:t>Significantly</a:t>
            </a:r>
            <a:r>
              <a:rPr lang="es-ES" altLang="es-ES" sz="900" dirty="0">
                <a:latin typeface="+mn-lt"/>
                <a:ea typeface="ＭＳ Ｐゴシック" charset="-128"/>
              </a:rPr>
              <a:t> </a:t>
            </a:r>
            <a:r>
              <a:rPr lang="es-ES" altLang="es-ES" sz="900" dirty="0" err="1">
                <a:latin typeface="+mn-lt"/>
                <a:ea typeface="ＭＳ Ｐゴシック" charset="-128"/>
              </a:rPr>
              <a:t>improved</a:t>
            </a:r>
            <a:r>
              <a:rPr lang="es-ES" altLang="es-ES" sz="900" dirty="0">
                <a:latin typeface="+mn-lt"/>
                <a:ea typeface="ＭＳ Ｐゴシック" charset="-128"/>
              </a:rPr>
              <a:t> </a:t>
            </a:r>
            <a:r>
              <a:rPr lang="es-ES" altLang="es-ES" sz="900" dirty="0" err="1">
                <a:latin typeface="+mn-lt"/>
                <a:ea typeface="ＭＳ Ｐゴシック" charset="-128"/>
              </a:rPr>
              <a:t>symptoms</a:t>
            </a:r>
            <a:r>
              <a:rPr lang="es-ES" altLang="es-ES" sz="900" dirty="0">
                <a:latin typeface="+mn-lt"/>
                <a:ea typeface="ＭＳ Ｐゴシック" charset="-128"/>
              </a:rPr>
              <a:t> of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rhinits</a:t>
            </a:r>
            <a:r>
              <a:rPr lang="es-ES" altLang="es-ES" sz="900" dirty="0">
                <a:latin typeface="+mn-lt"/>
                <a:ea typeface="ＭＳ Ｐゴシック" charset="-128"/>
              </a:rPr>
              <a:t> </a:t>
            </a:r>
            <a:r>
              <a:rPr lang="es-ES" altLang="es-ES" sz="900" dirty="0" err="1">
                <a:latin typeface="+mn-lt"/>
                <a:ea typeface="ＭＳ Ｐゴシック" charset="-128"/>
              </a:rPr>
              <a:t>were</a:t>
            </a:r>
            <a:r>
              <a:rPr lang="es-ES" altLang="es-ES" sz="900" dirty="0">
                <a:latin typeface="+mn-lt"/>
                <a:ea typeface="ＭＳ Ｐゴシック" charset="-128"/>
              </a:rPr>
              <a:t> </a:t>
            </a:r>
            <a:r>
              <a:rPr lang="es-ES" altLang="es-ES" sz="900" dirty="0" err="1">
                <a:latin typeface="+mn-lt"/>
                <a:ea typeface="ＭＳ Ｐゴシック" charset="-128"/>
              </a:rPr>
              <a:t>also</a:t>
            </a:r>
            <a:r>
              <a:rPr lang="es-ES" altLang="es-ES" sz="900" dirty="0">
                <a:latin typeface="+mn-lt"/>
                <a:ea typeface="ＭＳ Ｐゴシック" charset="-128"/>
              </a:rPr>
              <a:t> </a:t>
            </a:r>
            <a:r>
              <a:rPr lang="es-ES" altLang="es-ES" sz="900" dirty="0" err="1">
                <a:latin typeface="+mn-lt"/>
                <a:ea typeface="ＭＳ Ｐゴシック" charset="-128"/>
              </a:rPr>
              <a:t>noted</a:t>
            </a:r>
            <a:r>
              <a:rPr lang="es-ES" altLang="es-ES" sz="900" dirty="0">
                <a:latin typeface="+mn-lt"/>
                <a:ea typeface="ＭＳ Ｐゴシック" charset="-128"/>
              </a:rPr>
              <a:t> after 4 </a:t>
            </a:r>
            <a:r>
              <a:rPr lang="es-ES" altLang="es-ES" sz="900" dirty="0" err="1">
                <a:latin typeface="+mn-lt"/>
                <a:ea typeface="ＭＳ Ｐゴシック" charset="-128"/>
              </a:rPr>
              <a:t>weeks</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administration</a:t>
            </a:r>
            <a:r>
              <a:rPr lang="es-ES" altLang="es-ES" sz="900" dirty="0">
                <a:latin typeface="+mn-lt"/>
                <a:ea typeface="ＭＳ Ｐゴシック" charset="-128"/>
              </a:rPr>
              <a:t>.  Rupatadine </a:t>
            </a:r>
            <a:r>
              <a:rPr lang="es-ES" altLang="es-ES" sz="900" dirty="0" err="1">
                <a:latin typeface="+mn-lt"/>
                <a:ea typeface="ＭＳ Ｐゴシック" charset="-128"/>
              </a:rPr>
              <a:t>significantly</a:t>
            </a:r>
            <a:r>
              <a:rPr lang="es-ES" altLang="es-ES" sz="900" dirty="0">
                <a:latin typeface="+mn-lt"/>
                <a:ea typeface="ＭＳ Ｐゴシック" charset="-128"/>
              </a:rPr>
              <a:t> </a:t>
            </a:r>
            <a:r>
              <a:rPr lang="es-ES" altLang="es-ES" sz="900" dirty="0" err="1">
                <a:latin typeface="+mn-lt"/>
                <a:ea typeface="ＭＳ Ｐゴシック" charset="-128"/>
              </a:rPr>
              <a:t>reduced</a:t>
            </a:r>
            <a:r>
              <a:rPr lang="es-ES" altLang="es-ES" sz="900" dirty="0">
                <a:latin typeface="+mn-lt"/>
                <a:ea typeface="ＭＳ Ｐゴシック" charset="-128"/>
              </a:rPr>
              <a:t> Total </a:t>
            </a:r>
            <a:r>
              <a:rPr lang="es-ES" altLang="es-ES" sz="900" dirty="0" err="1">
                <a:latin typeface="+mn-lt"/>
                <a:ea typeface="ＭＳ Ｐゴシック" charset="-128"/>
              </a:rPr>
              <a:t>Five</a:t>
            </a:r>
            <a:r>
              <a:rPr lang="es-ES" altLang="es-ES" sz="900" dirty="0">
                <a:latin typeface="+mn-lt"/>
                <a:ea typeface="ＭＳ Ｐゴシック" charset="-128"/>
              </a:rPr>
              <a:t> </a:t>
            </a:r>
            <a:r>
              <a:rPr lang="es-ES" altLang="es-ES" sz="900" dirty="0" err="1">
                <a:latin typeface="+mn-lt"/>
                <a:ea typeface="ＭＳ Ｐゴシック" charset="-128"/>
              </a:rPr>
              <a:t>Symptoms</a:t>
            </a:r>
            <a:r>
              <a:rPr lang="es-ES" altLang="es-ES" sz="900" dirty="0">
                <a:latin typeface="+mn-lt"/>
                <a:ea typeface="ＭＳ Ｐゴシック" charset="-128"/>
              </a:rPr>
              <a:t> Score</a:t>
            </a:r>
            <a:r>
              <a:rPr lang="es-ES" altLang="es-ES" sz="900" baseline="0" dirty="0">
                <a:latin typeface="+mn-lt"/>
                <a:ea typeface="ＭＳ Ｐゴシック" charset="-128"/>
              </a:rPr>
              <a:t> </a:t>
            </a:r>
            <a:r>
              <a:rPr lang="es-ES" altLang="es-ES" sz="900" dirty="0">
                <a:latin typeface="+mn-lt"/>
                <a:ea typeface="ＭＳ Ｐゴシック" charset="-128"/>
              </a:rPr>
              <a:t>(T5SS) </a:t>
            </a:r>
            <a:r>
              <a:rPr lang="es-ES" altLang="es-ES" sz="900" dirty="0" err="1">
                <a:latin typeface="+mn-lt"/>
                <a:ea typeface="ＭＳ Ｐゴシック" charset="-128"/>
              </a:rPr>
              <a:t>by</a:t>
            </a:r>
            <a:r>
              <a:rPr lang="es-ES" altLang="es-ES" sz="900" dirty="0">
                <a:latin typeface="+mn-lt"/>
                <a:ea typeface="ＭＳ Ｐゴシック" charset="-128"/>
              </a:rPr>
              <a:t> 67% from </a:t>
            </a:r>
            <a:r>
              <a:rPr lang="es-ES" altLang="es-ES" sz="900" dirty="0" err="1">
                <a:latin typeface="+mn-lt"/>
                <a:ea typeface="ＭＳ Ｐゴシック" charset="-128"/>
              </a:rPr>
              <a:t>baseline</a:t>
            </a:r>
            <a:r>
              <a:rPr lang="es-ES" altLang="es-ES" sz="900" dirty="0">
                <a:latin typeface="+mn-lt"/>
                <a:ea typeface="ＭＳ Ｐゴシック" charset="-128"/>
              </a:rPr>
              <a:t> (p = 0.041) and total nasal </a:t>
            </a:r>
            <a:r>
              <a:rPr lang="es-ES" altLang="es-ES" sz="900" dirty="0" err="1">
                <a:latin typeface="+mn-lt"/>
                <a:ea typeface="ＭＳ Ｐゴシック" charset="-128"/>
              </a:rPr>
              <a:t>symptom</a:t>
            </a:r>
            <a:r>
              <a:rPr lang="es-ES" altLang="es-ES" sz="900" dirty="0">
                <a:latin typeface="+mn-lt"/>
                <a:ea typeface="ＭＳ Ｐゴシック" charset="-128"/>
              </a:rPr>
              <a:t> score (T4SS) </a:t>
            </a:r>
            <a:r>
              <a:rPr lang="es-ES" altLang="es-ES" sz="900" dirty="0" err="1">
                <a:latin typeface="+mn-lt"/>
                <a:ea typeface="ＭＳ Ｐゴシック" charset="-128"/>
              </a:rPr>
              <a:t>by</a:t>
            </a:r>
            <a:r>
              <a:rPr lang="es-ES" altLang="es-ES" sz="900" dirty="0">
                <a:latin typeface="+mn-lt"/>
                <a:ea typeface="ＭＳ Ｐゴシック" charset="-128"/>
              </a:rPr>
              <a:t> 63% from </a:t>
            </a:r>
            <a:r>
              <a:rPr lang="es-ES" altLang="es-ES" sz="900" dirty="0" err="1">
                <a:latin typeface="+mn-lt"/>
                <a:ea typeface="ＭＳ Ｐゴシック" charset="-128"/>
              </a:rPr>
              <a:t>baseline</a:t>
            </a:r>
            <a:r>
              <a:rPr lang="es-ES" altLang="es-ES" sz="900" dirty="0">
                <a:latin typeface="+mn-lt"/>
                <a:ea typeface="ＭＳ Ｐゴシック" charset="-128"/>
              </a:rPr>
              <a:t> (p = 0.021).</a:t>
            </a:r>
          </a:p>
          <a:p>
            <a:endParaRPr lang="es-ES" altLang="es-ES" sz="900" b="1" dirty="0">
              <a:latin typeface="+mn-lt"/>
              <a:ea typeface="ＭＳ Ｐゴシック" charset="-128"/>
            </a:endParaRPr>
          </a:p>
          <a:p>
            <a:r>
              <a:rPr lang="es-ES" altLang="es-ES" sz="900" b="1" dirty="0">
                <a:latin typeface="+mn-lt"/>
                <a:ea typeface="ＭＳ Ｐゴシック" charset="-128"/>
              </a:rPr>
              <a:t>Reference</a:t>
            </a:r>
          </a:p>
          <a:p>
            <a:r>
              <a:rPr lang="es-ES" altLang="es-ES" sz="900" dirty="0">
                <a:latin typeface="+mn-lt"/>
                <a:ea typeface="ＭＳ Ｐゴシック" charset="-128"/>
              </a:rPr>
              <a:t>Izquierdo I, Cranswick N, McCreanor J, et al. Rupatadine oral </a:t>
            </a:r>
            <a:r>
              <a:rPr lang="en-US" altLang="es-ES" sz="900" dirty="0">
                <a:latin typeface="+mn-lt"/>
                <a:ea typeface="ＭＳ Ｐゴシック" charset="-128"/>
              </a:rPr>
              <a:t>solution in children aged 6-11 years with allergic rhinitis: a proof of concept evaluation by a 4 weeks treatment follow-up study. </a:t>
            </a:r>
            <a:r>
              <a:rPr lang="es-ES" altLang="es-ES" sz="900" dirty="0">
                <a:latin typeface="+mn-lt"/>
                <a:ea typeface="ＭＳ Ｐゴシック" charset="-128"/>
              </a:rPr>
              <a:t>Pediatr Allergy Immunol. 2009; (suppl.20):2.</a:t>
            </a:r>
          </a:p>
          <a:p>
            <a:endParaRPr lang="es-ES" altLang="es-ES" sz="900" dirty="0">
              <a:latin typeface="+mn-lt"/>
              <a:ea typeface="ＭＳ Ｐゴシック" charset="-128"/>
              <a:sym typeface="Wingdings" pitchFamily="2" charset="2"/>
            </a:endParaRPr>
          </a:p>
          <a:p>
            <a:endParaRPr lang="es-ES" altLang="es-ES" sz="900" dirty="0">
              <a:latin typeface="+mn-lt"/>
              <a:ea typeface="ＭＳ Ｐゴシック" charset="-128"/>
              <a:sym typeface="Wingdings" pitchFamily="2" charset="2"/>
            </a:endParaRPr>
          </a:p>
        </p:txBody>
      </p:sp>
    </p:spTree>
    <p:extLst>
      <p:ext uri="{BB962C8B-B14F-4D97-AF65-F5344CB8AC3E}">
        <p14:creationId xmlns:p14="http://schemas.microsoft.com/office/powerpoint/2010/main" val="3311211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TextEdit="1"/>
          </p:cNvSpPr>
          <p:nvPr>
            <p:ph type="sldImg"/>
          </p:nvPr>
        </p:nvSpPr>
        <p:spPr>
          <a:ln/>
        </p:spPr>
      </p:sp>
      <p:sp>
        <p:nvSpPr>
          <p:cNvPr id="62467" name="Rectangle 3"/>
          <p:cNvSpPr>
            <a:spLocks noGrp="1"/>
          </p:cNvSpPr>
          <p:nvPr>
            <p:ph type="body" idx="1"/>
          </p:nvPr>
        </p:nvSpPr>
        <p:spPr>
          <a:noFill/>
          <a:ln/>
        </p:spPr>
        <p:txBody>
          <a:bodyPr/>
          <a:lstStyle/>
          <a:p>
            <a:r>
              <a:rPr lang="es-ES" altLang="es-ES" b="1" dirty="0"/>
              <a:t>Reference</a:t>
            </a:r>
          </a:p>
          <a:p>
            <a:r>
              <a:rPr lang="es-ES" altLang="es-ES" dirty="0"/>
              <a:t>Izquierdo I, Cranswick N, McCreanor J, et al. Rupatadine oral </a:t>
            </a:r>
            <a:r>
              <a:rPr lang="en-US" altLang="es-ES" dirty="0"/>
              <a:t>solution in children aged 6-11 years with allergic rhinitis: a proof of concept evaluation by a 4 weeks treatment follow-up study. </a:t>
            </a:r>
            <a:r>
              <a:rPr lang="es-ES" altLang="es-ES" dirty="0"/>
              <a:t>Pediatr Allergy Immunol. 2009; (suppl.20):2.</a:t>
            </a:r>
            <a:endParaRPr lang="es-ES" altLang="es-ES" dirty="0">
              <a:latin typeface="Arial" charset="0"/>
            </a:endParaRPr>
          </a:p>
          <a:p>
            <a:endParaRPr lang="es-ES" altLang="es-ES" dirty="0">
              <a:latin typeface="Arial" charset="0"/>
              <a:sym typeface="Wingdings" pitchFamily="2" charset="2"/>
            </a:endParaRPr>
          </a:p>
        </p:txBody>
      </p:sp>
    </p:spTree>
    <p:extLst>
      <p:ext uri="{BB962C8B-B14F-4D97-AF65-F5344CB8AC3E}">
        <p14:creationId xmlns:p14="http://schemas.microsoft.com/office/powerpoint/2010/main" val="2692478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8</a:t>
            </a:fld>
            <a:endParaRPr lang="es-ES_tradnl" dirty="0">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dirty="0">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r>
              <a:rPr lang="es-ES" altLang="es-ES" sz="900" dirty="0">
                <a:latin typeface="+mn-lt"/>
              </a:rPr>
              <a:t>A </a:t>
            </a:r>
            <a:r>
              <a:rPr lang="es-ES" altLang="es-ES" sz="900" dirty="0" err="1">
                <a:latin typeface="+mn-lt"/>
              </a:rPr>
              <a:t>multicentre</a:t>
            </a:r>
            <a:r>
              <a:rPr lang="es-ES" altLang="es-ES" sz="900" dirty="0">
                <a:latin typeface="+mn-lt"/>
              </a:rPr>
              <a:t> </a:t>
            </a:r>
            <a:r>
              <a:rPr lang="es-ES" altLang="es-ES" sz="900" dirty="0" err="1">
                <a:latin typeface="+mn-lt"/>
              </a:rPr>
              <a:t>phase</a:t>
            </a:r>
            <a:r>
              <a:rPr lang="es-ES" altLang="es-ES" sz="900" dirty="0">
                <a:latin typeface="+mn-lt"/>
              </a:rPr>
              <a:t> III study </a:t>
            </a:r>
            <a:r>
              <a:rPr lang="es-ES" altLang="es-ES" sz="900" dirty="0" err="1">
                <a:latin typeface="+mn-lt"/>
              </a:rPr>
              <a:t>was</a:t>
            </a:r>
            <a:r>
              <a:rPr lang="es-ES" altLang="es-ES" sz="900" dirty="0">
                <a:latin typeface="+mn-lt"/>
              </a:rPr>
              <a:t> </a:t>
            </a:r>
            <a:r>
              <a:rPr lang="es-ES" altLang="es-ES" sz="900" dirty="0" err="1">
                <a:latin typeface="+mn-lt"/>
              </a:rPr>
              <a:t>conducted</a:t>
            </a:r>
            <a:r>
              <a:rPr lang="es-ES" altLang="es-ES" sz="900" dirty="0">
                <a:latin typeface="+mn-lt"/>
              </a:rPr>
              <a:t> </a:t>
            </a:r>
            <a:r>
              <a:rPr lang="es-ES" altLang="es-ES" sz="900" dirty="0" err="1">
                <a:latin typeface="+mn-lt"/>
              </a:rPr>
              <a:t>to</a:t>
            </a:r>
            <a:r>
              <a:rPr lang="es-ES" altLang="es-ES" sz="900" dirty="0">
                <a:latin typeface="+mn-lt"/>
              </a:rPr>
              <a:t> </a:t>
            </a:r>
            <a:r>
              <a:rPr lang="es-ES" altLang="es-ES" sz="900" dirty="0" err="1">
                <a:latin typeface="+mn-lt"/>
              </a:rPr>
              <a:t>demonstrate</a:t>
            </a:r>
            <a:r>
              <a:rPr lang="es-ES" altLang="es-ES" sz="900" dirty="0">
                <a:latin typeface="+mn-lt"/>
              </a:rPr>
              <a:t> the </a:t>
            </a:r>
            <a:r>
              <a:rPr lang="es-ES" altLang="es-ES" sz="900" dirty="0" err="1">
                <a:latin typeface="+mn-lt"/>
              </a:rPr>
              <a:t>efficacy</a:t>
            </a:r>
            <a:r>
              <a:rPr lang="es-ES" altLang="es-ES" sz="900" dirty="0">
                <a:latin typeface="+mn-lt"/>
              </a:rPr>
              <a:t> of </a:t>
            </a:r>
            <a:r>
              <a:rPr lang="es-ES" altLang="es-ES" sz="900" dirty="0" err="1">
                <a:latin typeface="+mn-lt"/>
              </a:rPr>
              <a:t>rupatadine</a:t>
            </a:r>
            <a:r>
              <a:rPr lang="es-ES" altLang="es-ES" sz="900" dirty="0">
                <a:latin typeface="+mn-lt"/>
              </a:rPr>
              <a:t> </a:t>
            </a:r>
            <a:r>
              <a:rPr lang="es-ES" altLang="es-ES" sz="900" dirty="0" err="1">
                <a:latin typeface="+mn-lt"/>
              </a:rPr>
              <a:t>paediatric</a:t>
            </a:r>
            <a:r>
              <a:rPr lang="es-ES" altLang="es-ES" sz="900" dirty="0">
                <a:latin typeface="+mn-lt"/>
              </a:rPr>
              <a:t> oral solution 1 mg/mL in </a:t>
            </a:r>
            <a:r>
              <a:rPr lang="es-ES" altLang="es-ES" sz="900" dirty="0" err="1">
                <a:latin typeface="+mn-lt"/>
              </a:rPr>
              <a:t>improving</a:t>
            </a:r>
            <a:r>
              <a:rPr lang="es-ES" altLang="es-ES" sz="900" dirty="0">
                <a:latin typeface="+mn-lt"/>
              </a:rPr>
              <a:t> nasal </a:t>
            </a:r>
            <a:r>
              <a:rPr lang="es-ES" altLang="es-ES" sz="900" dirty="0" err="1">
                <a:latin typeface="+mn-lt"/>
              </a:rPr>
              <a:t>symptom</a:t>
            </a:r>
            <a:r>
              <a:rPr lang="es-ES" altLang="es-ES" sz="900" dirty="0">
                <a:latin typeface="+mn-lt"/>
              </a:rPr>
              <a:t> control </a:t>
            </a:r>
            <a:r>
              <a:rPr lang="es-ES" altLang="es-ES" sz="900" dirty="0" err="1">
                <a:latin typeface="+mn-lt"/>
              </a:rPr>
              <a:t>over</a:t>
            </a:r>
            <a:r>
              <a:rPr lang="es-ES" altLang="es-ES" sz="900" dirty="0">
                <a:latin typeface="+mn-lt"/>
              </a:rPr>
              <a:t> 4-6 </a:t>
            </a:r>
            <a:r>
              <a:rPr lang="es-ES" altLang="es-ES" sz="900" dirty="0" err="1">
                <a:latin typeface="+mn-lt"/>
              </a:rPr>
              <a:t>weeks</a:t>
            </a:r>
            <a:r>
              <a:rPr lang="es-ES" altLang="es-ES" sz="900" dirty="0">
                <a:latin typeface="+mn-lt"/>
              </a:rPr>
              <a:t> in </a:t>
            </a:r>
            <a:r>
              <a:rPr lang="es-ES" altLang="es-ES" sz="900" dirty="0" err="1">
                <a:latin typeface="+mn-lt"/>
              </a:rPr>
              <a:t>children</a:t>
            </a:r>
            <a:r>
              <a:rPr lang="es-ES" altLang="es-ES" sz="900" dirty="0">
                <a:latin typeface="+mn-lt"/>
              </a:rPr>
              <a:t> </a:t>
            </a:r>
            <a:r>
              <a:rPr lang="es-ES" altLang="es-ES" sz="900" dirty="0" err="1">
                <a:latin typeface="+mn-lt"/>
              </a:rPr>
              <a:t>aged</a:t>
            </a:r>
            <a:r>
              <a:rPr lang="es-ES" altLang="es-ES" sz="900" dirty="0">
                <a:latin typeface="+mn-lt"/>
              </a:rPr>
              <a:t> 6-11 </a:t>
            </a:r>
            <a:r>
              <a:rPr lang="es-ES" altLang="es-ES" sz="900" dirty="0" err="1">
                <a:latin typeface="+mn-lt"/>
              </a:rPr>
              <a:t>years</a:t>
            </a:r>
            <a:r>
              <a:rPr lang="es-ES" altLang="es-ES" sz="900" dirty="0">
                <a:latin typeface="+mn-lt"/>
              </a:rPr>
              <a:t> with </a:t>
            </a:r>
            <a:r>
              <a:rPr lang="es-ES" altLang="es-ES" sz="900" dirty="0" err="1">
                <a:latin typeface="+mn-lt"/>
              </a:rPr>
              <a:t>ARIA-defined</a:t>
            </a:r>
            <a:r>
              <a:rPr lang="es-ES" altLang="es-ES" sz="900" dirty="0">
                <a:latin typeface="+mn-lt"/>
              </a:rPr>
              <a:t> </a:t>
            </a:r>
            <a:r>
              <a:rPr lang="es-ES" altLang="es-ES" sz="900" dirty="0" err="1">
                <a:latin typeface="+mn-lt"/>
              </a:rPr>
              <a:t>persistent</a:t>
            </a:r>
            <a:r>
              <a:rPr lang="es-ES" altLang="es-ES" sz="900" dirty="0">
                <a:latin typeface="+mn-lt"/>
              </a:rPr>
              <a:t> </a:t>
            </a:r>
            <a:r>
              <a:rPr lang="es-ES" altLang="es-ES" sz="900" dirty="0" err="1">
                <a:latin typeface="+mn-lt"/>
              </a:rPr>
              <a:t>allergic</a:t>
            </a:r>
            <a:r>
              <a:rPr lang="es-ES" altLang="es-ES" sz="900" dirty="0">
                <a:latin typeface="+mn-lt"/>
              </a:rPr>
              <a:t> </a:t>
            </a:r>
            <a:r>
              <a:rPr lang="es-ES" altLang="es-ES" sz="900" dirty="0" err="1">
                <a:latin typeface="+mn-lt"/>
              </a:rPr>
              <a:t>rhinitis</a:t>
            </a:r>
            <a:r>
              <a:rPr lang="es-ES" altLang="es-ES" sz="900" dirty="0">
                <a:latin typeface="+mn-lt"/>
              </a:rPr>
              <a:t>. This </a:t>
            </a:r>
            <a:r>
              <a:rPr lang="es-ES" altLang="es-ES" sz="900" dirty="0" err="1">
                <a:latin typeface="+mn-lt"/>
              </a:rPr>
              <a:t>randomised</a:t>
            </a:r>
            <a:r>
              <a:rPr lang="es-ES" altLang="es-ES" sz="900" dirty="0">
                <a:latin typeface="+mn-lt"/>
              </a:rPr>
              <a:t>, </a:t>
            </a:r>
            <a:r>
              <a:rPr lang="es-ES" altLang="es-ES" sz="900" dirty="0" err="1">
                <a:latin typeface="+mn-lt"/>
              </a:rPr>
              <a:t>double-blind</a:t>
            </a:r>
            <a:r>
              <a:rPr lang="es-ES" altLang="es-ES" sz="900" dirty="0">
                <a:latin typeface="+mn-lt"/>
              </a:rPr>
              <a:t>, placebo </a:t>
            </a:r>
            <a:r>
              <a:rPr lang="es-ES" altLang="es-ES" sz="900" dirty="0" err="1">
                <a:latin typeface="+mn-lt"/>
              </a:rPr>
              <a:t>controlled</a:t>
            </a:r>
            <a:r>
              <a:rPr lang="es-ES" altLang="es-ES" sz="900" dirty="0">
                <a:latin typeface="+mn-lt"/>
              </a:rPr>
              <a:t> study </a:t>
            </a:r>
            <a:r>
              <a:rPr lang="es-ES" altLang="es-ES" sz="900" dirty="0" err="1">
                <a:latin typeface="+mn-lt"/>
              </a:rPr>
              <a:t>was</a:t>
            </a:r>
            <a:r>
              <a:rPr lang="es-ES" altLang="es-ES" sz="900" dirty="0">
                <a:latin typeface="+mn-lt"/>
              </a:rPr>
              <a:t> </a:t>
            </a:r>
            <a:r>
              <a:rPr lang="es-ES" altLang="es-ES" sz="900" dirty="0" err="1">
                <a:latin typeface="+mn-lt"/>
              </a:rPr>
              <a:t>performed</a:t>
            </a:r>
            <a:r>
              <a:rPr lang="es-ES" altLang="es-ES" sz="900" dirty="0">
                <a:latin typeface="+mn-lt"/>
              </a:rPr>
              <a:t> at 34 sites in Argentina, </a:t>
            </a:r>
            <a:r>
              <a:rPr lang="es-ES" altLang="es-ES" sz="900" dirty="0" err="1">
                <a:latin typeface="+mn-lt"/>
              </a:rPr>
              <a:t>Hungary</a:t>
            </a:r>
            <a:r>
              <a:rPr lang="es-ES" altLang="es-ES" sz="900" dirty="0">
                <a:latin typeface="+mn-lt"/>
              </a:rPr>
              <a:t>, South </a:t>
            </a:r>
            <a:r>
              <a:rPr lang="es-ES" altLang="es-ES" sz="900" dirty="0" err="1">
                <a:latin typeface="+mn-lt"/>
              </a:rPr>
              <a:t>Africa</a:t>
            </a:r>
            <a:r>
              <a:rPr lang="es-ES" altLang="es-ES" sz="900" dirty="0">
                <a:latin typeface="+mn-lt"/>
              </a:rPr>
              <a:t> and </a:t>
            </a:r>
            <a:r>
              <a:rPr lang="es-ES" altLang="es-ES" sz="900" dirty="0" err="1">
                <a:latin typeface="+mn-lt"/>
              </a:rPr>
              <a:t>Spain</a:t>
            </a:r>
            <a:r>
              <a:rPr lang="es-ES" altLang="es-ES" sz="900" dirty="0">
                <a:latin typeface="+mn-lt"/>
              </a:rPr>
              <a:t>.</a:t>
            </a:r>
          </a:p>
          <a:p>
            <a:endParaRPr lang="es-ES" altLang="es-ES" sz="900" b="1" dirty="0">
              <a:latin typeface="+mn-lt"/>
            </a:endParaRPr>
          </a:p>
          <a:p>
            <a:endParaRPr lang="es-ES" altLang="es-ES" sz="900" b="1" dirty="0">
              <a:latin typeface="+mn-lt"/>
            </a:endParaRPr>
          </a:p>
          <a:p>
            <a:r>
              <a:rPr lang="es-ES" altLang="es-ES" sz="900" b="1" dirty="0">
                <a:latin typeface="+mn-lt"/>
              </a:rPr>
              <a:t>Reference</a:t>
            </a:r>
          </a:p>
          <a:p>
            <a:r>
              <a:rPr lang="es-ES" altLang="es-ES" sz="900" dirty="0">
                <a:latin typeface="+mn-lt"/>
              </a:rPr>
              <a:t>Potter P, </a:t>
            </a:r>
            <a:r>
              <a:rPr lang="es-ES" altLang="es-ES" sz="900" dirty="0" err="1">
                <a:latin typeface="+mn-lt"/>
              </a:rPr>
              <a:t>Maspero</a:t>
            </a:r>
            <a:r>
              <a:rPr lang="es-ES" altLang="es-ES" sz="900" dirty="0">
                <a:latin typeface="+mn-lt"/>
              </a:rPr>
              <a:t> JF, </a:t>
            </a:r>
            <a:r>
              <a:rPr lang="es-ES" altLang="es-ES" sz="900" dirty="0" err="1">
                <a:latin typeface="+mn-lt"/>
              </a:rPr>
              <a:t>Vermeulen</a:t>
            </a:r>
            <a:r>
              <a:rPr lang="es-ES" altLang="es-ES" sz="900" dirty="0">
                <a:latin typeface="+mn-lt"/>
              </a:rPr>
              <a:t> J, et al. </a:t>
            </a:r>
            <a:r>
              <a:rPr lang="en-US" altLang="es-ES" sz="900" dirty="0" err="1">
                <a:latin typeface="+mn-lt"/>
              </a:rPr>
              <a:t>Rupatadine</a:t>
            </a:r>
            <a:r>
              <a:rPr lang="en-US" altLang="es-ES" sz="900" dirty="0">
                <a:latin typeface="+mn-lt"/>
              </a:rPr>
              <a:t> oral solution in children with persistent allergic rhinitis: A randomized, double-blind, placebo-controlled study. </a:t>
            </a:r>
            <a:r>
              <a:rPr lang="en-US" altLang="es-ES" sz="900" dirty="0" err="1">
                <a:latin typeface="+mn-lt"/>
              </a:rPr>
              <a:t>Pediatrc</a:t>
            </a:r>
            <a:r>
              <a:rPr lang="en-US" altLang="es-ES" sz="900" dirty="0">
                <a:latin typeface="+mn-lt"/>
              </a:rPr>
              <a:t> Allergy </a:t>
            </a:r>
            <a:r>
              <a:rPr lang="en-US" altLang="es-ES" sz="900" dirty="0" err="1">
                <a:latin typeface="+mn-lt"/>
              </a:rPr>
              <a:t>Immunol</a:t>
            </a:r>
            <a:r>
              <a:rPr lang="en-US" altLang="es-ES" sz="900" dirty="0">
                <a:latin typeface="+mn-lt"/>
              </a:rPr>
              <a:t> </a:t>
            </a:r>
            <a:r>
              <a:rPr lang="es-ES" altLang="es-ES" sz="900" dirty="0">
                <a:latin typeface="+mn-lt"/>
              </a:rPr>
              <a:t>2013;24(2):144-50.</a:t>
            </a:r>
            <a:endParaRPr lang="en-US" altLang="es-ES" sz="900" dirty="0">
              <a:latin typeface="+mn-lt"/>
            </a:endParaRPr>
          </a:p>
          <a:p>
            <a:pPr eaLnBrk="1" hangingPunct="1">
              <a:spcBef>
                <a:spcPts val="428"/>
              </a:spcBef>
            </a:pPr>
            <a:endParaRPr lang="es-ES_tradnl" altLang="es-ES" sz="900" dirty="0">
              <a:latin typeface="+mn-lt"/>
            </a:endParaRPr>
          </a:p>
          <a:p>
            <a:pPr eaLnBrk="1" hangingPunct="1">
              <a:spcBef>
                <a:spcPts val="428"/>
              </a:spcBef>
            </a:pPr>
            <a:endParaRPr lang="es-ES_tradnl" altLang="es-ES" sz="900" dirty="0">
              <a:latin typeface="+mn-lt"/>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mn-lt"/>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1564354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9</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r>
              <a:rPr lang="es-ES" altLang="es-ES" sz="900" dirty="0">
                <a:latin typeface="+mn-lt"/>
              </a:rPr>
              <a:t>Principal </a:t>
            </a:r>
            <a:r>
              <a:rPr lang="es-ES" altLang="es-ES" sz="900" dirty="0" err="1">
                <a:latin typeface="+mn-lt"/>
              </a:rPr>
              <a:t>inclusion</a:t>
            </a:r>
            <a:r>
              <a:rPr lang="es-ES" altLang="es-ES" sz="900" dirty="0">
                <a:latin typeface="+mn-lt"/>
              </a:rPr>
              <a:t> </a:t>
            </a:r>
            <a:r>
              <a:rPr lang="es-ES" altLang="es-ES" sz="900" dirty="0" err="1">
                <a:latin typeface="+mn-lt"/>
              </a:rPr>
              <a:t>criteria</a:t>
            </a:r>
            <a:r>
              <a:rPr lang="es-ES" altLang="es-ES" sz="900" dirty="0">
                <a:latin typeface="+mn-lt"/>
              </a:rPr>
              <a:t> </a:t>
            </a:r>
            <a:r>
              <a:rPr lang="es-ES" altLang="es-ES" sz="900" dirty="0" err="1">
                <a:latin typeface="+mn-lt"/>
              </a:rPr>
              <a:t>comprised</a:t>
            </a:r>
            <a:r>
              <a:rPr lang="es-ES" altLang="es-ES" sz="900" dirty="0">
                <a:latin typeface="+mn-lt"/>
              </a:rPr>
              <a:t>: </a:t>
            </a:r>
            <a:r>
              <a:rPr lang="es-ES" altLang="es-ES" sz="900" dirty="0" err="1">
                <a:latin typeface="+mn-lt"/>
              </a:rPr>
              <a:t>persistent</a:t>
            </a:r>
            <a:r>
              <a:rPr lang="es-ES" altLang="es-ES" sz="900" dirty="0">
                <a:latin typeface="+mn-lt"/>
              </a:rPr>
              <a:t> </a:t>
            </a:r>
            <a:r>
              <a:rPr lang="es-ES" altLang="es-ES" sz="900" dirty="0" err="1">
                <a:latin typeface="+mn-lt"/>
              </a:rPr>
              <a:t>allergic</a:t>
            </a:r>
            <a:r>
              <a:rPr lang="es-ES" altLang="es-ES" sz="900" dirty="0">
                <a:latin typeface="+mn-lt"/>
              </a:rPr>
              <a:t> </a:t>
            </a:r>
            <a:r>
              <a:rPr lang="es-ES" altLang="es-ES" sz="900" dirty="0" err="1">
                <a:latin typeface="+mn-lt"/>
              </a:rPr>
              <a:t>rhinitis</a:t>
            </a:r>
            <a:r>
              <a:rPr lang="es-ES" altLang="es-ES" sz="900" dirty="0">
                <a:latin typeface="+mn-lt"/>
              </a:rPr>
              <a:t> </a:t>
            </a:r>
            <a:r>
              <a:rPr lang="es-ES" altLang="es-ES" sz="900" dirty="0" err="1">
                <a:latin typeface="+mn-lt"/>
              </a:rPr>
              <a:t>for</a:t>
            </a:r>
            <a:r>
              <a:rPr lang="es-ES" altLang="es-ES" sz="900" dirty="0">
                <a:latin typeface="+mn-lt"/>
              </a:rPr>
              <a:t> ≥ 12 </a:t>
            </a:r>
            <a:r>
              <a:rPr lang="es-ES" altLang="es-ES" sz="900" dirty="0" err="1">
                <a:latin typeface="+mn-lt"/>
              </a:rPr>
              <a:t>months</a:t>
            </a:r>
            <a:r>
              <a:rPr lang="es-ES" altLang="es-ES" sz="900" dirty="0">
                <a:latin typeface="+mn-lt"/>
              </a:rPr>
              <a:t>; a total nasal </a:t>
            </a:r>
            <a:r>
              <a:rPr lang="es-ES" altLang="es-ES" sz="900" dirty="0" err="1">
                <a:latin typeface="+mn-lt"/>
              </a:rPr>
              <a:t>symptom</a:t>
            </a:r>
            <a:r>
              <a:rPr lang="es-ES" altLang="es-ES" sz="900" dirty="0">
                <a:latin typeface="+mn-lt"/>
              </a:rPr>
              <a:t> score (T4SS; nasal </a:t>
            </a:r>
            <a:r>
              <a:rPr lang="es-ES" altLang="es-ES" sz="900" dirty="0" err="1">
                <a:latin typeface="+mn-lt"/>
              </a:rPr>
              <a:t>congestion</a:t>
            </a:r>
            <a:r>
              <a:rPr lang="es-ES" altLang="es-ES" sz="900" dirty="0">
                <a:latin typeface="+mn-lt"/>
              </a:rPr>
              <a:t>, </a:t>
            </a:r>
            <a:r>
              <a:rPr lang="es-ES" altLang="es-ES" sz="900" dirty="0" err="1">
                <a:latin typeface="+mn-lt"/>
              </a:rPr>
              <a:t>itching</a:t>
            </a:r>
            <a:r>
              <a:rPr lang="es-ES" altLang="es-ES" sz="900" dirty="0">
                <a:latin typeface="+mn-lt"/>
              </a:rPr>
              <a:t>, </a:t>
            </a:r>
            <a:r>
              <a:rPr lang="es-ES" altLang="es-ES" sz="900" dirty="0" err="1">
                <a:latin typeface="+mn-lt"/>
              </a:rPr>
              <a:t>sneezing</a:t>
            </a:r>
            <a:r>
              <a:rPr lang="es-ES" altLang="es-ES" sz="900" dirty="0">
                <a:latin typeface="+mn-lt"/>
              </a:rPr>
              <a:t>, </a:t>
            </a:r>
            <a:r>
              <a:rPr lang="es-ES" altLang="es-ES" sz="900" dirty="0" err="1">
                <a:latin typeface="+mn-lt"/>
              </a:rPr>
              <a:t>rhinorrhea</a:t>
            </a:r>
            <a:r>
              <a:rPr lang="es-ES" altLang="es-ES" sz="900" dirty="0">
                <a:latin typeface="+mn-lt"/>
              </a:rPr>
              <a:t>) of ≥ 24 </a:t>
            </a:r>
            <a:r>
              <a:rPr lang="es-ES" altLang="es-ES" sz="900" dirty="0" err="1">
                <a:latin typeface="+mn-lt"/>
              </a:rPr>
              <a:t>over</a:t>
            </a:r>
            <a:r>
              <a:rPr lang="es-ES" altLang="es-ES" sz="900" dirty="0">
                <a:latin typeface="+mn-lt"/>
              </a:rPr>
              <a:t> 4 days </a:t>
            </a:r>
            <a:r>
              <a:rPr lang="es-ES" altLang="es-ES" sz="900" dirty="0" err="1">
                <a:latin typeface="+mn-lt"/>
              </a:rPr>
              <a:t>during</a:t>
            </a:r>
            <a:r>
              <a:rPr lang="es-ES" altLang="es-ES" sz="900" dirty="0">
                <a:latin typeface="+mn-lt"/>
              </a:rPr>
              <a:t> the 2-week </a:t>
            </a:r>
            <a:r>
              <a:rPr lang="es-ES" altLang="es-ES" sz="900" dirty="0" err="1">
                <a:latin typeface="+mn-lt"/>
              </a:rPr>
              <a:t>screening</a:t>
            </a:r>
            <a:r>
              <a:rPr lang="es-ES" altLang="es-ES" sz="900" dirty="0">
                <a:latin typeface="+mn-lt"/>
              </a:rPr>
              <a:t> </a:t>
            </a:r>
            <a:r>
              <a:rPr lang="es-ES" altLang="es-ES" sz="900" dirty="0" err="1">
                <a:latin typeface="+mn-lt"/>
              </a:rPr>
              <a:t>period</a:t>
            </a:r>
            <a:r>
              <a:rPr lang="es-ES" altLang="es-ES" sz="900" dirty="0">
                <a:latin typeface="+mn-lt"/>
              </a:rPr>
              <a:t>; a positive </a:t>
            </a:r>
            <a:r>
              <a:rPr lang="es-ES" altLang="es-ES" sz="900" dirty="0" err="1">
                <a:latin typeface="+mn-lt"/>
              </a:rPr>
              <a:t>skin-prick</a:t>
            </a:r>
            <a:r>
              <a:rPr lang="es-ES" altLang="es-ES" sz="900" dirty="0">
                <a:latin typeface="+mn-lt"/>
              </a:rPr>
              <a:t> test (&gt;3 mm more </a:t>
            </a:r>
            <a:r>
              <a:rPr lang="es-ES" altLang="es-ES" sz="900" dirty="0" err="1">
                <a:latin typeface="+mn-lt"/>
              </a:rPr>
              <a:t>than</a:t>
            </a:r>
            <a:r>
              <a:rPr lang="es-ES" altLang="es-ES" sz="900" dirty="0">
                <a:latin typeface="+mn-lt"/>
              </a:rPr>
              <a:t> a </a:t>
            </a:r>
            <a:r>
              <a:rPr lang="es-ES" altLang="es-ES" sz="900" dirty="0" err="1">
                <a:latin typeface="+mn-lt"/>
              </a:rPr>
              <a:t>negative</a:t>
            </a:r>
            <a:r>
              <a:rPr lang="es-ES" altLang="es-ES" sz="900" dirty="0">
                <a:latin typeface="+mn-lt"/>
              </a:rPr>
              <a:t> control) </a:t>
            </a:r>
            <a:r>
              <a:rPr lang="es-ES" altLang="es-ES" sz="900" dirty="0" err="1">
                <a:latin typeface="+mn-lt"/>
              </a:rPr>
              <a:t>to</a:t>
            </a:r>
            <a:r>
              <a:rPr lang="es-ES" altLang="es-ES" sz="900" dirty="0">
                <a:latin typeface="+mn-lt"/>
              </a:rPr>
              <a:t> house </a:t>
            </a:r>
            <a:r>
              <a:rPr lang="es-ES" altLang="es-ES" sz="900" dirty="0" err="1">
                <a:latin typeface="+mn-lt"/>
              </a:rPr>
              <a:t>dust</a:t>
            </a:r>
            <a:r>
              <a:rPr lang="es-ES" altLang="es-ES" sz="900" dirty="0">
                <a:latin typeface="+mn-lt"/>
              </a:rPr>
              <a:t> mites, </a:t>
            </a:r>
            <a:r>
              <a:rPr lang="es-ES" altLang="es-ES" sz="900" dirty="0" err="1">
                <a:latin typeface="+mn-lt"/>
              </a:rPr>
              <a:t>fungal</a:t>
            </a:r>
            <a:r>
              <a:rPr lang="es-ES" altLang="es-ES" sz="900" dirty="0">
                <a:latin typeface="+mn-lt"/>
              </a:rPr>
              <a:t> </a:t>
            </a:r>
            <a:r>
              <a:rPr lang="es-ES" altLang="es-ES" sz="900" dirty="0" err="1">
                <a:latin typeface="+mn-lt"/>
              </a:rPr>
              <a:t>spores</a:t>
            </a:r>
            <a:r>
              <a:rPr lang="es-ES" altLang="es-ES" sz="900" dirty="0">
                <a:latin typeface="+mn-lt"/>
              </a:rPr>
              <a:t> and/</a:t>
            </a:r>
            <a:r>
              <a:rPr lang="es-ES" altLang="es-ES" sz="900" dirty="0" err="1">
                <a:latin typeface="+mn-lt"/>
              </a:rPr>
              <a:t>or</a:t>
            </a:r>
            <a:r>
              <a:rPr lang="es-ES" altLang="es-ES" sz="900" dirty="0">
                <a:latin typeface="+mn-lt"/>
              </a:rPr>
              <a:t> </a:t>
            </a:r>
            <a:r>
              <a:rPr lang="es-ES" altLang="es-ES" sz="900" dirty="0" err="1">
                <a:latin typeface="+mn-lt"/>
              </a:rPr>
              <a:t>grass</a:t>
            </a:r>
            <a:r>
              <a:rPr lang="es-ES" altLang="es-ES" sz="900" dirty="0">
                <a:latin typeface="+mn-lt"/>
              </a:rPr>
              <a:t> </a:t>
            </a:r>
            <a:r>
              <a:rPr lang="es-ES" altLang="es-ES" sz="900" dirty="0" err="1">
                <a:latin typeface="+mn-lt"/>
              </a:rPr>
              <a:t>pollens</a:t>
            </a:r>
            <a:r>
              <a:rPr lang="es-ES" altLang="es-ES" sz="900" dirty="0">
                <a:latin typeface="+mn-lt"/>
              </a:rPr>
              <a:t>; </a:t>
            </a:r>
            <a:r>
              <a:rPr lang="es-ES" altLang="es-ES" sz="900" dirty="0" err="1">
                <a:latin typeface="+mn-lt"/>
              </a:rPr>
              <a:t>and</a:t>
            </a:r>
            <a:r>
              <a:rPr lang="es-ES" altLang="es-ES" sz="900" dirty="0">
                <a:latin typeface="+mn-lt"/>
              </a:rPr>
              <a:t> </a:t>
            </a:r>
            <a:r>
              <a:rPr lang="es-ES" altLang="es-ES" sz="900" dirty="0" err="1">
                <a:latin typeface="+mn-lt"/>
              </a:rPr>
              <a:t>bodyweight</a:t>
            </a:r>
            <a:r>
              <a:rPr lang="es-ES" altLang="es-ES" sz="900" dirty="0">
                <a:latin typeface="+mn-lt"/>
              </a:rPr>
              <a:t> ≥ 16 kg. </a:t>
            </a:r>
          </a:p>
          <a:p>
            <a:endParaRPr lang="es-ES" altLang="es-ES" sz="900" b="1" dirty="0">
              <a:latin typeface="+mn-lt"/>
            </a:endParaRPr>
          </a:p>
          <a:p>
            <a:r>
              <a:rPr lang="es-ES" altLang="es-ES" sz="900" b="1" dirty="0">
                <a:latin typeface="+mn-lt"/>
              </a:rPr>
              <a:t>Reference</a:t>
            </a:r>
          </a:p>
          <a:p>
            <a:r>
              <a:rPr lang="es-ES" altLang="es-ES" sz="900" dirty="0">
                <a:latin typeface="+mn-lt"/>
              </a:rPr>
              <a:t>Potter P, </a:t>
            </a:r>
            <a:r>
              <a:rPr lang="es-ES" altLang="es-ES" sz="900" dirty="0" err="1">
                <a:latin typeface="+mn-lt"/>
              </a:rPr>
              <a:t>Maspero</a:t>
            </a:r>
            <a:r>
              <a:rPr lang="es-ES" altLang="es-ES" sz="900" dirty="0">
                <a:latin typeface="+mn-lt"/>
              </a:rPr>
              <a:t> JF, </a:t>
            </a:r>
            <a:r>
              <a:rPr lang="es-ES" altLang="es-ES" sz="900" dirty="0" err="1">
                <a:latin typeface="+mn-lt"/>
              </a:rPr>
              <a:t>Vermeulen</a:t>
            </a:r>
            <a:r>
              <a:rPr lang="es-ES" altLang="es-ES" sz="900" dirty="0">
                <a:latin typeface="+mn-lt"/>
              </a:rPr>
              <a:t> J, et al. </a:t>
            </a:r>
            <a:r>
              <a:rPr lang="en-US" altLang="es-ES" sz="900" dirty="0" err="1">
                <a:latin typeface="+mn-lt"/>
              </a:rPr>
              <a:t>Rupatadine</a:t>
            </a:r>
            <a:r>
              <a:rPr lang="en-US" altLang="es-ES" sz="900" dirty="0">
                <a:latin typeface="+mn-lt"/>
              </a:rPr>
              <a:t> oral solution in children with persistent allergic rhinitis: A randomized, double-blind, placebo-controlled study. </a:t>
            </a:r>
            <a:r>
              <a:rPr lang="en-US" altLang="es-ES" sz="900" dirty="0" err="1">
                <a:latin typeface="+mn-lt"/>
              </a:rPr>
              <a:t>Pediatrc</a:t>
            </a:r>
            <a:r>
              <a:rPr lang="en-US" altLang="es-ES" sz="900" dirty="0">
                <a:latin typeface="+mn-lt"/>
              </a:rPr>
              <a:t> Allergy </a:t>
            </a:r>
            <a:r>
              <a:rPr lang="en-US" altLang="es-ES" sz="900" dirty="0" err="1">
                <a:latin typeface="+mn-lt"/>
              </a:rPr>
              <a:t>Immunol</a:t>
            </a:r>
            <a:r>
              <a:rPr lang="en-US" altLang="es-ES" sz="900" dirty="0">
                <a:latin typeface="+mn-lt"/>
              </a:rPr>
              <a:t> </a:t>
            </a:r>
            <a:r>
              <a:rPr lang="es-ES" altLang="es-ES" sz="900" dirty="0">
                <a:latin typeface="+mn-lt"/>
              </a:rPr>
              <a:t>2013;24(2):144-50.</a:t>
            </a:r>
            <a:endParaRPr lang="en-US" altLang="es-ES" sz="900" dirty="0">
              <a:latin typeface="+mn-lt"/>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mn-lt"/>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569629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10</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r>
              <a:rPr lang="es-ES" altLang="es-ES" sz="900" dirty="0" err="1">
                <a:latin typeface="Arial" charset="0"/>
              </a:rPr>
              <a:t>Among</a:t>
            </a:r>
            <a:r>
              <a:rPr lang="es-ES" altLang="es-ES" sz="900" dirty="0">
                <a:latin typeface="Arial" charset="0"/>
              </a:rPr>
              <a:t> a total of 445 </a:t>
            </a:r>
            <a:r>
              <a:rPr lang="es-ES" altLang="es-ES" sz="900" dirty="0" err="1">
                <a:latin typeface="Arial" charset="0"/>
              </a:rPr>
              <a:t>patients</a:t>
            </a:r>
            <a:r>
              <a:rPr lang="es-ES" altLang="es-ES" sz="900" dirty="0">
                <a:latin typeface="Arial" charset="0"/>
              </a:rPr>
              <a:t> </a:t>
            </a:r>
            <a:r>
              <a:rPr lang="es-ES" altLang="es-ES" sz="900" dirty="0" err="1">
                <a:latin typeface="Arial" charset="0"/>
              </a:rPr>
              <a:t>screened</a:t>
            </a:r>
            <a:r>
              <a:rPr lang="es-ES" altLang="es-ES" sz="900" dirty="0">
                <a:latin typeface="Arial" charset="0"/>
              </a:rPr>
              <a:t>, 360 </a:t>
            </a:r>
            <a:r>
              <a:rPr lang="es-ES" altLang="es-ES" sz="900" dirty="0" err="1">
                <a:latin typeface="Arial" charset="0"/>
              </a:rPr>
              <a:t>were</a:t>
            </a:r>
            <a:r>
              <a:rPr lang="es-ES" altLang="es-ES" sz="900" dirty="0">
                <a:latin typeface="Arial" charset="0"/>
              </a:rPr>
              <a:t> </a:t>
            </a:r>
            <a:r>
              <a:rPr lang="es-ES" altLang="es-ES" sz="900" dirty="0" err="1">
                <a:latin typeface="Arial" charset="0"/>
              </a:rPr>
              <a:t>randomised</a:t>
            </a:r>
            <a:r>
              <a:rPr lang="es-ES" altLang="es-ES" sz="900" dirty="0">
                <a:latin typeface="Arial" charset="0"/>
              </a:rPr>
              <a:t> to </a:t>
            </a:r>
            <a:r>
              <a:rPr lang="es-ES" altLang="es-ES" sz="900" dirty="0" err="1">
                <a:latin typeface="Arial" charset="0"/>
              </a:rPr>
              <a:t>receive</a:t>
            </a:r>
            <a:r>
              <a:rPr lang="es-ES" altLang="es-ES" sz="900" dirty="0">
                <a:latin typeface="Arial" charset="0"/>
              </a:rPr>
              <a:t> </a:t>
            </a:r>
            <a:r>
              <a:rPr lang="es-ES" altLang="es-ES" sz="900" dirty="0" err="1">
                <a:latin typeface="Arial" charset="0"/>
              </a:rPr>
              <a:t>rupatadine</a:t>
            </a:r>
            <a:r>
              <a:rPr lang="es-ES" altLang="es-ES" sz="900" dirty="0">
                <a:latin typeface="Arial" charset="0"/>
              </a:rPr>
              <a:t> (as per the </a:t>
            </a:r>
            <a:r>
              <a:rPr lang="es-ES" altLang="es-ES" sz="900" dirty="0" err="1">
                <a:latin typeface="Arial" charset="0"/>
              </a:rPr>
              <a:t>dosage</a:t>
            </a:r>
            <a:r>
              <a:rPr lang="es-ES" altLang="es-ES" sz="900" dirty="0">
                <a:latin typeface="Arial" charset="0"/>
              </a:rPr>
              <a:t> </a:t>
            </a:r>
            <a:r>
              <a:rPr lang="es-ES" altLang="es-ES" sz="900" dirty="0" err="1">
                <a:latin typeface="Arial" charset="0"/>
              </a:rPr>
              <a:t>shedule</a:t>
            </a:r>
            <a:r>
              <a:rPr lang="es-ES" altLang="es-ES" sz="900" dirty="0">
                <a:latin typeface="Arial" charset="0"/>
              </a:rPr>
              <a:t> in the </a:t>
            </a:r>
            <a:r>
              <a:rPr lang="es-ES" altLang="es-ES" sz="900" dirty="0" err="1">
                <a:latin typeface="Arial" charset="0"/>
              </a:rPr>
              <a:t>phase</a:t>
            </a:r>
            <a:r>
              <a:rPr lang="es-ES" altLang="es-ES" sz="900" dirty="0">
                <a:latin typeface="Arial" charset="0"/>
              </a:rPr>
              <a:t> II trial; n = 180) </a:t>
            </a:r>
            <a:r>
              <a:rPr lang="es-ES" altLang="es-ES" sz="900" dirty="0" err="1">
                <a:latin typeface="Arial" charset="0"/>
              </a:rPr>
              <a:t>or</a:t>
            </a:r>
            <a:r>
              <a:rPr lang="es-ES" altLang="es-ES" sz="900" dirty="0">
                <a:latin typeface="Arial" charset="0"/>
              </a:rPr>
              <a:t> placebo </a:t>
            </a:r>
            <a:r>
              <a:rPr lang="es-ES" altLang="es-ES" sz="900" dirty="0" err="1">
                <a:latin typeface="Arial" charset="0"/>
              </a:rPr>
              <a:t>for</a:t>
            </a:r>
            <a:r>
              <a:rPr lang="es-ES" altLang="es-ES" sz="900" dirty="0">
                <a:latin typeface="Arial" charset="0"/>
              </a:rPr>
              <a:t> 6 </a:t>
            </a:r>
            <a:r>
              <a:rPr lang="es-ES" altLang="es-ES" sz="900" dirty="0" err="1">
                <a:latin typeface="Arial" charset="0"/>
              </a:rPr>
              <a:t>weeks</a:t>
            </a:r>
            <a:r>
              <a:rPr lang="es-ES" altLang="es-ES" sz="900" dirty="0">
                <a:latin typeface="Arial" charset="0"/>
              </a:rPr>
              <a:t>. </a:t>
            </a:r>
            <a:r>
              <a:rPr lang="es-ES" altLang="es-ES" sz="900" dirty="0" err="1">
                <a:latin typeface="Arial" charset="0"/>
              </a:rPr>
              <a:t>That</a:t>
            </a:r>
            <a:r>
              <a:rPr lang="es-ES" altLang="es-ES" sz="900" dirty="0">
                <a:latin typeface="Arial" charset="0"/>
              </a:rPr>
              <a:t> </a:t>
            </a:r>
            <a:r>
              <a:rPr lang="es-ES" altLang="es-ES" sz="900" dirty="0" err="1">
                <a:latin typeface="Arial" charset="0"/>
              </a:rPr>
              <a:t>means</a:t>
            </a:r>
            <a:r>
              <a:rPr lang="es-ES" altLang="es-ES" sz="900" dirty="0">
                <a:latin typeface="Arial" charset="0"/>
              </a:rPr>
              <a:t> </a:t>
            </a:r>
            <a:r>
              <a:rPr lang="es-ES" altLang="es-ES" sz="900" dirty="0" err="1">
                <a:latin typeface="Arial" charset="0"/>
              </a:rPr>
              <a:t>rupatadine-treated</a:t>
            </a:r>
            <a:r>
              <a:rPr lang="es-ES" altLang="es-ES" sz="900" dirty="0">
                <a:latin typeface="Arial" charset="0"/>
              </a:rPr>
              <a:t> </a:t>
            </a:r>
            <a:r>
              <a:rPr lang="es-ES" altLang="es-ES" sz="900" dirty="0" err="1">
                <a:latin typeface="Arial" charset="0"/>
              </a:rPr>
              <a:t>patients</a:t>
            </a:r>
            <a:r>
              <a:rPr lang="es-ES" altLang="es-ES" sz="900" dirty="0">
                <a:latin typeface="Arial" charset="0"/>
              </a:rPr>
              <a:t> </a:t>
            </a:r>
            <a:r>
              <a:rPr lang="es-ES" altLang="es-ES" sz="900" dirty="0" err="1">
                <a:latin typeface="Arial" charset="0"/>
              </a:rPr>
              <a:t>received</a:t>
            </a:r>
            <a:r>
              <a:rPr lang="es-ES" altLang="es-ES" sz="900" dirty="0">
                <a:latin typeface="Arial" charset="0"/>
              </a:rPr>
              <a:t> 2.5 mg (2.5 mL) once </a:t>
            </a:r>
            <a:r>
              <a:rPr lang="es-ES" altLang="es-ES" sz="900" dirty="0" err="1">
                <a:latin typeface="Arial" charset="0"/>
              </a:rPr>
              <a:t>daily</a:t>
            </a:r>
            <a:r>
              <a:rPr lang="es-ES" altLang="es-ES" sz="900" dirty="0">
                <a:latin typeface="Arial" charset="0"/>
              </a:rPr>
              <a:t> (</a:t>
            </a:r>
            <a:r>
              <a:rPr lang="es-ES" altLang="es-ES" sz="900" dirty="0" err="1">
                <a:latin typeface="Arial" charset="0"/>
              </a:rPr>
              <a:t>bodyweight</a:t>
            </a:r>
            <a:r>
              <a:rPr lang="es-ES" altLang="es-ES" sz="900" dirty="0">
                <a:latin typeface="Arial" charset="0"/>
              </a:rPr>
              <a:t> &lt; 25 kg) </a:t>
            </a:r>
            <a:r>
              <a:rPr lang="es-ES" altLang="es-ES" sz="900" dirty="0" err="1">
                <a:latin typeface="Arial" charset="0"/>
              </a:rPr>
              <a:t>or</a:t>
            </a:r>
            <a:r>
              <a:rPr lang="es-ES" altLang="es-ES" sz="900" dirty="0">
                <a:latin typeface="Arial" charset="0"/>
              </a:rPr>
              <a:t> 5 mg (5 mL) once </a:t>
            </a:r>
            <a:r>
              <a:rPr lang="es-ES" altLang="es-ES" sz="900" dirty="0" err="1">
                <a:latin typeface="Arial" charset="0"/>
              </a:rPr>
              <a:t>daily</a:t>
            </a:r>
            <a:r>
              <a:rPr lang="es-ES" altLang="es-ES" sz="900" dirty="0">
                <a:latin typeface="Arial" charset="0"/>
              </a:rPr>
              <a:t> (</a:t>
            </a:r>
            <a:r>
              <a:rPr lang="es-ES" altLang="es-ES" sz="900" dirty="0" err="1">
                <a:latin typeface="Arial" charset="0"/>
              </a:rPr>
              <a:t>bodyweight</a:t>
            </a:r>
            <a:r>
              <a:rPr lang="es-ES" altLang="es-ES" sz="900" dirty="0">
                <a:latin typeface="Arial" charset="0"/>
              </a:rPr>
              <a:t> ≥ 25 kg).</a:t>
            </a:r>
          </a:p>
          <a:p>
            <a:endParaRPr lang="es-ES" altLang="es-ES" sz="900" b="1" dirty="0">
              <a:latin typeface="Arial" charset="0"/>
            </a:endParaRPr>
          </a:p>
          <a:p>
            <a:endParaRPr lang="es-ES" altLang="es-ES" sz="900" b="1" dirty="0">
              <a:latin typeface="Arial" charset="0"/>
            </a:endParaRPr>
          </a:p>
          <a:p>
            <a:r>
              <a:rPr lang="es-ES" altLang="es-ES" sz="900" b="1" dirty="0">
                <a:latin typeface="Arial" charset="0"/>
              </a:rPr>
              <a:t>Reference</a:t>
            </a:r>
          </a:p>
          <a:p>
            <a:r>
              <a:rPr lang="es-ES" altLang="es-ES" sz="900" dirty="0">
                <a:latin typeface="Arial" charset="0"/>
              </a:rPr>
              <a:t>Potter P, </a:t>
            </a:r>
            <a:r>
              <a:rPr lang="es-ES" altLang="es-ES" sz="900" dirty="0" err="1">
                <a:latin typeface="Arial" charset="0"/>
              </a:rPr>
              <a:t>Maspero</a:t>
            </a:r>
            <a:r>
              <a:rPr lang="es-ES" altLang="es-ES" sz="900" dirty="0">
                <a:latin typeface="Arial" charset="0"/>
              </a:rPr>
              <a:t> JF, </a:t>
            </a:r>
            <a:r>
              <a:rPr lang="es-ES" altLang="es-ES" sz="900" dirty="0" err="1">
                <a:latin typeface="Arial" charset="0"/>
              </a:rPr>
              <a:t>Vermeulen</a:t>
            </a:r>
            <a:r>
              <a:rPr lang="es-ES" altLang="es-ES" sz="900" dirty="0">
                <a:latin typeface="Arial" charset="0"/>
              </a:rPr>
              <a:t> J, et al. </a:t>
            </a:r>
            <a:r>
              <a:rPr lang="en-US" altLang="es-ES" sz="900" dirty="0"/>
              <a:t>Rupatadine oral solution in children with persistent allergic rhinitis: A randomized, double-blind, placebo-controlled study. </a:t>
            </a:r>
            <a:r>
              <a:rPr lang="en-US" altLang="es-ES" sz="900" dirty="0" err="1"/>
              <a:t>Pediatrc</a:t>
            </a:r>
            <a:r>
              <a:rPr lang="en-US" altLang="es-ES" sz="900" dirty="0"/>
              <a:t> Allergy </a:t>
            </a:r>
            <a:r>
              <a:rPr lang="en-US" altLang="es-ES" sz="900" dirty="0" err="1"/>
              <a:t>Immunol</a:t>
            </a:r>
            <a:r>
              <a:rPr lang="en-US" altLang="es-ES" sz="900" dirty="0"/>
              <a:t> </a:t>
            </a:r>
            <a:r>
              <a:rPr lang="es-ES" altLang="es-ES" sz="900" dirty="0"/>
              <a:t>2013;24(2):144-50.</a:t>
            </a:r>
            <a:endParaRPr lang="en-US" altLang="es-ES" sz="900" dirty="0"/>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Arial" charset="0"/>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2398537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11</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r>
              <a:rPr lang="es-ES" altLang="es-ES" sz="900" b="1" dirty="0">
                <a:latin typeface="Arial" charset="0"/>
              </a:rPr>
              <a:t>Reference</a:t>
            </a:r>
          </a:p>
          <a:p>
            <a:r>
              <a:rPr lang="es-ES" altLang="es-ES" sz="900" dirty="0">
                <a:latin typeface="Arial" charset="0"/>
              </a:rPr>
              <a:t>Potter P, </a:t>
            </a:r>
            <a:r>
              <a:rPr lang="es-ES" altLang="es-ES" sz="900" dirty="0" err="1">
                <a:latin typeface="Arial" charset="0"/>
              </a:rPr>
              <a:t>Maspero</a:t>
            </a:r>
            <a:r>
              <a:rPr lang="es-ES" altLang="es-ES" sz="900" dirty="0">
                <a:latin typeface="Arial" charset="0"/>
              </a:rPr>
              <a:t> JF, </a:t>
            </a:r>
            <a:r>
              <a:rPr lang="es-ES" altLang="es-ES" sz="900" dirty="0" err="1">
                <a:latin typeface="Arial" charset="0"/>
              </a:rPr>
              <a:t>Vermeulen</a:t>
            </a:r>
            <a:r>
              <a:rPr lang="es-ES" altLang="es-ES" sz="900" dirty="0">
                <a:latin typeface="Arial" charset="0"/>
              </a:rPr>
              <a:t> J, </a:t>
            </a:r>
            <a:r>
              <a:rPr lang="es-ES" altLang="es-ES" sz="900" dirty="0" err="1">
                <a:latin typeface="Arial" charset="0"/>
              </a:rPr>
              <a:t>et</a:t>
            </a:r>
            <a:r>
              <a:rPr lang="es-ES" altLang="es-ES" sz="900" dirty="0">
                <a:latin typeface="Arial" charset="0"/>
              </a:rPr>
              <a:t> al. </a:t>
            </a:r>
            <a:r>
              <a:rPr lang="en-US" altLang="es-ES" sz="900" dirty="0"/>
              <a:t>Rupatadine oral solution in children with persistent allergic rhinitis: A randomized, double-blind, placebo-controlled study. </a:t>
            </a:r>
            <a:r>
              <a:rPr lang="en-US" altLang="es-ES" sz="900" dirty="0" err="1"/>
              <a:t>Pediatrc</a:t>
            </a:r>
            <a:r>
              <a:rPr lang="en-US" altLang="es-ES" sz="900" dirty="0"/>
              <a:t> Allergy Immunol </a:t>
            </a:r>
            <a:r>
              <a:rPr lang="es-ES" altLang="es-ES" sz="900" dirty="0"/>
              <a:t>2013;24(2):144-50.</a:t>
            </a:r>
            <a:endParaRPr lang="en-US" altLang="es-ES" sz="900" dirty="0"/>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1501659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610" name="Rectangle 11"/>
          <p:cNvSpPr>
            <a:spLocks noGrp="1" noChangeArrowheads="1"/>
          </p:cNvSpPr>
          <p:nvPr>
            <p:ph type="sldNum" sz="quarter"/>
          </p:nvPr>
        </p:nvSpPr>
        <p:spPr>
          <a:noFill/>
        </p:spPr>
        <p:txBody>
          <a:bodyPr/>
          <a:lstStyle/>
          <a:p>
            <a:fld id="{BBD0BEB8-5BFF-4B5E-910E-78F609ECDA2F}" type="slidenum">
              <a:rPr lang="es-ES_tradnl">
                <a:solidFill>
                  <a:srgbClr val="FFFFFF"/>
                </a:solidFill>
              </a:rPr>
              <a:pPr/>
              <a:t>12</a:t>
            </a:fld>
            <a:endParaRPr lang="es-ES_tradnl" dirty="0">
              <a:solidFill>
                <a:srgbClr val="FFFFFF"/>
              </a:solidFill>
            </a:endParaRPr>
          </a:p>
        </p:txBody>
      </p:sp>
      <p:sp>
        <p:nvSpPr>
          <p:cNvPr id="68611"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dirty="0">
              <a:solidFill>
                <a:srgbClr val="FFFFFF"/>
              </a:solidFill>
              <a:ea typeface="ＭＳ Ｐゴシック" charset="-128"/>
            </a:endParaRPr>
          </a:p>
        </p:txBody>
      </p:sp>
      <p:sp>
        <p:nvSpPr>
          <p:cNvPr id="68612" name="Text Box 2"/>
          <p:cNvSpPr>
            <a:spLocks noGrp="1" noChangeArrowheads="1"/>
          </p:cNvSpPr>
          <p:nvPr>
            <p:ph type="body"/>
          </p:nvPr>
        </p:nvSpPr>
        <p:spPr>
          <a:xfrm>
            <a:off x="992587" y="3229793"/>
            <a:ext cx="7943053" cy="2996064"/>
          </a:xfrm>
          <a:noFill/>
          <a:ln/>
        </p:spPr>
        <p:txBody>
          <a:bodyPr lIns="0" tIns="0" rIns="0" bIns="0"/>
          <a:lstStyle/>
          <a:p>
            <a:pPr defTabSz="452767">
              <a:defRPr/>
            </a:pPr>
            <a:r>
              <a:rPr lang="es-ES" altLang="es-ES" sz="900" dirty="0">
                <a:latin typeface="+mn-lt"/>
                <a:ea typeface="ＭＳ Ｐゴシック" charset="-128"/>
              </a:rPr>
              <a:t>This </a:t>
            </a:r>
            <a:r>
              <a:rPr lang="es-ES" altLang="es-ES" sz="900" dirty="0" err="1">
                <a:latin typeface="+mn-lt"/>
                <a:ea typeface="ＭＳ Ｐゴシック" charset="-128"/>
              </a:rPr>
              <a:t>phase</a:t>
            </a:r>
            <a:r>
              <a:rPr lang="es-ES" altLang="es-ES" sz="900" dirty="0">
                <a:latin typeface="+mn-lt"/>
                <a:ea typeface="ＭＳ Ｐゴシック" charset="-128"/>
              </a:rPr>
              <a:t> III study is the </a:t>
            </a:r>
            <a:r>
              <a:rPr lang="es-ES" altLang="es-ES" sz="900" dirty="0" err="1">
                <a:latin typeface="+mn-lt"/>
                <a:ea typeface="ＭＳ Ｐゴシック" charset="-128"/>
              </a:rPr>
              <a:t>first</a:t>
            </a:r>
            <a:r>
              <a:rPr lang="es-ES" altLang="es-ES" sz="900" dirty="0">
                <a:latin typeface="+mn-lt"/>
                <a:ea typeface="ＭＳ Ｐゴシック" charset="-128"/>
              </a:rPr>
              <a:t> </a:t>
            </a:r>
            <a:r>
              <a:rPr lang="es-ES" altLang="es-ES" sz="900" dirty="0" err="1">
                <a:latin typeface="+mn-lt"/>
                <a:ea typeface="ＭＳ Ｐゴシック" charset="-128"/>
              </a:rPr>
              <a:t>to</a:t>
            </a:r>
            <a:r>
              <a:rPr lang="es-ES" altLang="es-ES" sz="900" dirty="0">
                <a:latin typeface="+mn-lt"/>
                <a:ea typeface="ＭＳ Ｐゴシック" charset="-128"/>
              </a:rPr>
              <a:t> </a:t>
            </a:r>
            <a:r>
              <a:rPr lang="es-ES" altLang="es-ES" sz="900" dirty="0" err="1">
                <a:latin typeface="+mn-lt"/>
                <a:ea typeface="ＭＳ Ｐゴシック" charset="-128"/>
              </a:rPr>
              <a:t>provide</a:t>
            </a:r>
            <a:r>
              <a:rPr lang="es-ES" altLang="es-ES" sz="900" dirty="0">
                <a:latin typeface="+mn-lt"/>
                <a:ea typeface="ＭＳ Ｐゴシック" charset="-128"/>
              </a:rPr>
              <a:t> </a:t>
            </a:r>
            <a:r>
              <a:rPr lang="es-ES" altLang="es-ES" sz="900" dirty="0" err="1">
                <a:latin typeface="+mn-lt"/>
                <a:ea typeface="ＭＳ Ｐゴシック" charset="-128"/>
              </a:rPr>
              <a:t>definitive</a:t>
            </a:r>
            <a:r>
              <a:rPr lang="es-ES" altLang="es-ES" sz="900" dirty="0">
                <a:latin typeface="+mn-lt"/>
                <a:ea typeface="ＭＳ Ｐゴシック" charset="-128"/>
              </a:rPr>
              <a:t> </a:t>
            </a:r>
            <a:r>
              <a:rPr lang="es-ES" altLang="es-ES" sz="900" dirty="0" err="1">
                <a:latin typeface="+mn-lt"/>
                <a:ea typeface="ＭＳ Ｐゴシック" charset="-128"/>
              </a:rPr>
              <a:t>clinical</a:t>
            </a:r>
            <a:r>
              <a:rPr lang="es-ES" altLang="es-ES" sz="900" dirty="0">
                <a:latin typeface="+mn-lt"/>
                <a:ea typeface="ＭＳ Ｐゴシック" charset="-128"/>
              </a:rPr>
              <a:t> </a:t>
            </a:r>
            <a:r>
              <a:rPr lang="es-ES" altLang="es-ES" sz="900" dirty="0" err="1">
                <a:latin typeface="+mn-lt"/>
                <a:ea typeface="ＭＳ Ｐゴシック" charset="-128"/>
              </a:rPr>
              <a:t>evidence</a:t>
            </a:r>
            <a:r>
              <a:rPr lang="es-ES" altLang="es-ES" sz="900" dirty="0">
                <a:latin typeface="+mn-lt"/>
                <a:ea typeface="ＭＳ Ｐゴシック" charset="-128"/>
              </a:rPr>
              <a:t> of </a:t>
            </a:r>
            <a:r>
              <a:rPr lang="es-ES" altLang="es-ES" sz="900" dirty="0" err="1">
                <a:latin typeface="+mn-lt"/>
                <a:ea typeface="ＭＳ Ｐゴシック" charset="-128"/>
              </a:rPr>
              <a:t>efficacy</a:t>
            </a:r>
            <a:r>
              <a:rPr lang="es-ES" altLang="es-ES" sz="900" dirty="0">
                <a:latin typeface="+mn-lt"/>
                <a:ea typeface="ＭＳ Ｐゴシック" charset="-128"/>
              </a:rPr>
              <a:t> </a:t>
            </a:r>
            <a:r>
              <a:rPr lang="es-ES" altLang="es-ES" sz="900" dirty="0" err="1">
                <a:latin typeface="+mn-lt"/>
                <a:ea typeface="ＭＳ Ｐゴシック" charset="-128"/>
              </a:rPr>
              <a:t>for</a:t>
            </a:r>
            <a:r>
              <a:rPr lang="es-ES" altLang="es-ES" sz="900" dirty="0">
                <a:latin typeface="+mn-lt"/>
                <a:ea typeface="ＭＳ Ｐゴシック" charset="-128"/>
              </a:rPr>
              <a:t> </a:t>
            </a:r>
            <a:r>
              <a:rPr lang="es-ES" altLang="es-ES" sz="900" dirty="0" err="1">
                <a:latin typeface="+mn-lt"/>
                <a:ea typeface="ＭＳ Ｐゴシック" charset="-128"/>
              </a:rPr>
              <a:t>an</a:t>
            </a:r>
            <a:r>
              <a:rPr lang="es-ES" altLang="es-ES" sz="900" dirty="0">
                <a:latin typeface="+mn-lt"/>
                <a:ea typeface="ＭＳ Ｐゴシック" charset="-128"/>
              </a:rPr>
              <a:t> oral H</a:t>
            </a:r>
            <a:r>
              <a:rPr lang="es-ES" altLang="es-ES" sz="900" baseline="-25000" dirty="0">
                <a:latin typeface="+mn-lt"/>
                <a:ea typeface="ＭＳ Ｐゴシック" charset="-128"/>
              </a:rPr>
              <a:t>1</a:t>
            </a:r>
            <a:r>
              <a:rPr lang="es-ES" altLang="es-ES" sz="900" dirty="0">
                <a:latin typeface="+mn-lt"/>
                <a:ea typeface="ＭＳ Ｐゴシック" charset="-128"/>
              </a:rPr>
              <a:t>-receptor </a:t>
            </a:r>
            <a:r>
              <a:rPr lang="es-ES" altLang="es-ES" sz="900" dirty="0" err="1">
                <a:latin typeface="+mn-lt"/>
                <a:ea typeface="ＭＳ Ｐゴシック" charset="-128"/>
              </a:rPr>
              <a:t>antagonist</a:t>
            </a:r>
            <a:r>
              <a:rPr lang="es-ES" altLang="es-ES" sz="900" dirty="0">
                <a:latin typeface="+mn-lt"/>
                <a:ea typeface="ＭＳ Ｐゴシック" charset="-128"/>
              </a:rPr>
              <a:t> in </a:t>
            </a:r>
            <a:r>
              <a:rPr lang="es-ES" altLang="es-ES" sz="900" dirty="0" err="1">
                <a:latin typeface="+mn-lt"/>
                <a:ea typeface="ＭＳ Ｐゴシック" charset="-128"/>
              </a:rPr>
              <a:t>children</a:t>
            </a:r>
            <a:r>
              <a:rPr lang="es-ES" altLang="es-ES" sz="900" dirty="0">
                <a:latin typeface="+mn-lt"/>
                <a:ea typeface="ＭＳ Ｐゴシック" charset="-128"/>
              </a:rPr>
              <a:t>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t>
            </a:r>
            <a:r>
              <a:rPr lang="es-ES" altLang="es-ES" sz="900" dirty="0" err="1">
                <a:latin typeface="+mn-lt"/>
                <a:ea typeface="ＭＳ Ｐゴシック" charset="-128"/>
              </a:rPr>
              <a:t>Despite</a:t>
            </a:r>
            <a:r>
              <a:rPr lang="es-ES" altLang="es-ES" sz="900" dirty="0">
                <a:latin typeface="+mn-lt"/>
                <a:ea typeface="ＭＳ Ｐゴシック" charset="-128"/>
              </a:rPr>
              <a:t> a </a:t>
            </a:r>
            <a:r>
              <a:rPr lang="es-ES" altLang="es-ES" sz="900" dirty="0" err="1">
                <a:latin typeface="+mn-lt"/>
                <a:ea typeface="ＭＳ Ｐゴシック" charset="-128"/>
              </a:rPr>
              <a:t>marked</a:t>
            </a:r>
            <a:r>
              <a:rPr lang="es-ES" altLang="es-ES" sz="900" dirty="0">
                <a:latin typeface="+mn-lt"/>
                <a:ea typeface="ＭＳ Ｐゴシック" charset="-128"/>
              </a:rPr>
              <a:t> placebo </a:t>
            </a:r>
            <a:r>
              <a:rPr lang="es-ES" altLang="es-ES" sz="900" dirty="0" err="1">
                <a:latin typeface="+mn-lt"/>
                <a:ea typeface="ＭＳ Ｐゴシック" charset="-128"/>
              </a:rPr>
              <a:t>effect</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paediatric</a:t>
            </a:r>
            <a:r>
              <a:rPr lang="es-ES" altLang="es-ES" sz="900" dirty="0">
                <a:latin typeface="+mn-lt"/>
                <a:ea typeface="ＭＳ Ｐゴシック" charset="-128"/>
              </a:rPr>
              <a:t> oral solution 1 mg/mL </a:t>
            </a:r>
            <a:r>
              <a:rPr lang="es-ES" altLang="es-ES" sz="900" dirty="0" err="1">
                <a:latin typeface="+mn-lt"/>
                <a:ea typeface="ＭＳ Ｐゴシック" charset="-128"/>
              </a:rPr>
              <a:t>reduced</a:t>
            </a:r>
            <a:r>
              <a:rPr lang="es-ES" altLang="es-ES" sz="900" dirty="0">
                <a:latin typeface="+mn-lt"/>
                <a:ea typeface="ＭＳ Ｐゴシック" charset="-128"/>
              </a:rPr>
              <a:t> T4SS </a:t>
            </a:r>
            <a:r>
              <a:rPr lang="es-ES" altLang="es-ES" sz="900" dirty="0" err="1">
                <a:latin typeface="+mn-lt"/>
                <a:ea typeface="ＭＳ Ｐゴシック" charset="-128"/>
              </a:rPr>
              <a:t>over</a:t>
            </a:r>
            <a:r>
              <a:rPr lang="es-ES" altLang="es-ES" sz="900" dirty="0">
                <a:latin typeface="+mn-lt"/>
                <a:ea typeface="ＭＳ Ｐゴシック" charset="-128"/>
              </a:rPr>
              <a:t> 4 and 6 </a:t>
            </a:r>
            <a:r>
              <a:rPr lang="es-ES" altLang="es-ES" sz="900" dirty="0" err="1">
                <a:latin typeface="+mn-lt"/>
                <a:ea typeface="ＭＳ Ｐゴシック" charset="-128"/>
              </a:rPr>
              <a:t>weeks</a:t>
            </a:r>
            <a:r>
              <a:rPr lang="es-ES" altLang="es-ES" sz="900" dirty="0">
                <a:latin typeface="+mn-lt"/>
                <a:ea typeface="ＭＳ Ｐゴシック" charset="-128"/>
              </a:rPr>
              <a:t> and T5SS </a:t>
            </a:r>
            <a:r>
              <a:rPr lang="es-ES" altLang="es-ES" sz="900" dirty="0" err="1">
                <a:latin typeface="+mn-lt"/>
                <a:ea typeface="ＭＳ Ｐゴシック" charset="-128"/>
              </a:rPr>
              <a:t>over</a:t>
            </a:r>
            <a:r>
              <a:rPr lang="es-ES" altLang="es-ES" sz="900" dirty="0">
                <a:latin typeface="+mn-lt"/>
                <a:ea typeface="ＭＳ Ｐゴシック" charset="-128"/>
              </a:rPr>
              <a:t> 4 </a:t>
            </a:r>
            <a:r>
              <a:rPr lang="es-ES" altLang="es-ES" sz="900" dirty="0" err="1">
                <a:latin typeface="+mn-lt"/>
                <a:ea typeface="ＭＳ Ｐゴシック" charset="-128"/>
              </a:rPr>
              <a:t>weeks</a:t>
            </a:r>
            <a:r>
              <a:rPr lang="es-ES" altLang="es-ES" sz="900" dirty="0">
                <a:latin typeface="+mn-lt"/>
                <a:ea typeface="ＭＳ Ｐゴシック" charset="-128"/>
              </a:rPr>
              <a:t>, to a </a:t>
            </a:r>
            <a:r>
              <a:rPr lang="es-ES" altLang="es-ES" sz="900" dirty="0" err="1">
                <a:latin typeface="+mn-lt"/>
                <a:ea typeface="ＭＳ Ｐゴシック" charset="-128"/>
              </a:rPr>
              <a:t>significantly</a:t>
            </a:r>
            <a:r>
              <a:rPr lang="es-ES" altLang="es-ES" sz="900" dirty="0">
                <a:latin typeface="+mn-lt"/>
                <a:ea typeface="ＭＳ Ｐゴシック" charset="-128"/>
              </a:rPr>
              <a:t> </a:t>
            </a:r>
            <a:r>
              <a:rPr lang="es-ES" altLang="es-ES" sz="900" dirty="0" err="1">
                <a:latin typeface="+mn-lt"/>
                <a:ea typeface="ＭＳ Ｐゴシック" charset="-128"/>
              </a:rPr>
              <a:t>greater</a:t>
            </a:r>
            <a:r>
              <a:rPr lang="es-ES" altLang="es-ES" sz="900" dirty="0">
                <a:latin typeface="+mn-lt"/>
                <a:ea typeface="ＭＳ Ｐゴシック" charset="-128"/>
              </a:rPr>
              <a:t> </a:t>
            </a:r>
            <a:r>
              <a:rPr lang="es-ES" altLang="es-ES" sz="900" dirty="0" err="1">
                <a:latin typeface="+mn-lt"/>
                <a:ea typeface="ＭＳ Ｐゴシック" charset="-128"/>
              </a:rPr>
              <a:t>extent</a:t>
            </a:r>
            <a:r>
              <a:rPr lang="es-ES" altLang="es-ES" sz="900" dirty="0">
                <a:latin typeface="+mn-lt"/>
                <a:ea typeface="ＭＳ Ｐゴシック" charset="-128"/>
              </a:rPr>
              <a:t> </a:t>
            </a:r>
            <a:r>
              <a:rPr lang="es-ES" altLang="es-ES" sz="900" dirty="0" err="1">
                <a:latin typeface="+mn-lt"/>
                <a:ea typeface="ＭＳ Ｐゴシック" charset="-128"/>
              </a:rPr>
              <a:t>than</a:t>
            </a:r>
            <a:r>
              <a:rPr lang="es-ES" altLang="es-ES" sz="900" dirty="0">
                <a:latin typeface="+mn-lt"/>
                <a:ea typeface="ＭＳ Ｐゴシック" charset="-128"/>
              </a:rPr>
              <a:t> placebo. </a:t>
            </a:r>
          </a:p>
          <a:p>
            <a:endParaRPr lang="es-ES" altLang="es-ES" sz="900" dirty="0">
              <a:latin typeface="+mn-lt"/>
              <a:ea typeface="ＭＳ Ｐゴシック" charset="-128"/>
            </a:endParaRPr>
          </a:p>
          <a:p>
            <a:r>
              <a:rPr lang="es-ES" altLang="es-ES" sz="900" dirty="0">
                <a:latin typeface="+mn-lt"/>
                <a:ea typeface="ＭＳ Ｐゴシック" charset="-128"/>
              </a:rPr>
              <a:t>The mean </a:t>
            </a:r>
            <a:r>
              <a:rPr lang="es-ES" altLang="es-ES" sz="900" dirty="0" err="1">
                <a:latin typeface="+mn-lt"/>
                <a:ea typeface="ＭＳ Ｐゴシック" charset="-128"/>
              </a:rPr>
              <a:t>baseline</a:t>
            </a:r>
            <a:r>
              <a:rPr lang="es-ES" altLang="es-ES" sz="900" dirty="0">
                <a:latin typeface="+mn-lt"/>
                <a:ea typeface="ＭＳ Ｐゴシック" charset="-128"/>
              </a:rPr>
              <a:t> T4SS </a:t>
            </a:r>
            <a:r>
              <a:rPr lang="es-ES" altLang="es-ES" sz="900" dirty="0" err="1">
                <a:latin typeface="+mn-lt"/>
                <a:ea typeface="ＭＳ Ｐゴシック" charset="-128"/>
              </a:rPr>
              <a:t>was</a:t>
            </a:r>
            <a:r>
              <a:rPr lang="es-ES" altLang="es-ES" sz="900" dirty="0">
                <a:latin typeface="+mn-lt"/>
                <a:ea typeface="ＭＳ Ｐゴシック" charset="-128"/>
              </a:rPr>
              <a:t> 7.2 in </a:t>
            </a:r>
            <a:r>
              <a:rPr lang="es-ES" altLang="es-ES" sz="900" dirty="0" err="1">
                <a:latin typeface="+mn-lt"/>
                <a:ea typeface="ＭＳ Ｐゴシック" charset="-128"/>
              </a:rPr>
              <a:t>both</a:t>
            </a:r>
            <a:r>
              <a:rPr lang="es-ES" altLang="es-ES" sz="900" dirty="0">
                <a:latin typeface="+mn-lt"/>
                <a:ea typeface="ＭＳ Ｐゴシック" charset="-128"/>
              </a:rPr>
              <a:t> </a:t>
            </a:r>
            <a:r>
              <a:rPr lang="es-ES" altLang="es-ES" sz="900" dirty="0" err="1">
                <a:latin typeface="+mn-lt"/>
                <a:ea typeface="ＭＳ Ｐゴシック" charset="-128"/>
              </a:rPr>
              <a:t>groups</a:t>
            </a:r>
            <a:r>
              <a:rPr lang="es-ES" altLang="es-ES" sz="900" dirty="0">
                <a:latin typeface="+mn-lt"/>
                <a:ea typeface="ＭＳ Ｐゴシック" charset="-128"/>
              </a:rPr>
              <a:t>, </a:t>
            </a:r>
            <a:r>
              <a:rPr lang="es-ES" altLang="es-ES" sz="900" dirty="0" err="1">
                <a:latin typeface="+mn-lt"/>
                <a:ea typeface="ＭＳ Ｐゴシック" charset="-128"/>
              </a:rPr>
              <a:t>but</a:t>
            </a:r>
            <a:r>
              <a:rPr lang="es-ES" altLang="es-ES" sz="900" dirty="0">
                <a:latin typeface="+mn-lt"/>
                <a:ea typeface="ＭＳ Ｐゴシック" charset="-128"/>
              </a:rPr>
              <a:t> mean </a:t>
            </a:r>
            <a:r>
              <a:rPr lang="es-ES" altLang="es-ES" sz="900" dirty="0" err="1">
                <a:latin typeface="+mn-lt"/>
                <a:ea typeface="ＭＳ Ｐゴシック" charset="-128"/>
              </a:rPr>
              <a:t>reductions</a:t>
            </a:r>
            <a:r>
              <a:rPr lang="es-ES" altLang="es-ES" sz="900" dirty="0">
                <a:latin typeface="+mn-lt"/>
                <a:ea typeface="ＭＳ Ｐゴシック" charset="-128"/>
              </a:rPr>
              <a:t> in </a:t>
            </a:r>
            <a:r>
              <a:rPr lang="es-ES" altLang="es-ES" sz="900" dirty="0" err="1">
                <a:latin typeface="+mn-lt"/>
                <a:ea typeface="ＭＳ Ｐゴシック" charset="-128"/>
              </a:rPr>
              <a:t>this</a:t>
            </a:r>
            <a:r>
              <a:rPr lang="es-ES" altLang="es-ES" sz="900" dirty="0">
                <a:latin typeface="+mn-lt"/>
                <a:ea typeface="ＭＳ Ｐゴシック" charset="-128"/>
              </a:rPr>
              <a:t> </a:t>
            </a:r>
            <a:r>
              <a:rPr lang="es-ES" altLang="es-ES" sz="900" dirty="0" err="1">
                <a:latin typeface="+mn-lt"/>
                <a:ea typeface="ＭＳ Ｐゴシック" charset="-128"/>
              </a:rPr>
              <a:t>parameter</a:t>
            </a:r>
            <a:r>
              <a:rPr lang="es-ES" altLang="es-ES" sz="900" dirty="0">
                <a:latin typeface="+mn-lt"/>
                <a:ea typeface="ＭＳ Ｐゴシック" charset="-128"/>
              </a:rPr>
              <a:t> </a:t>
            </a:r>
            <a:r>
              <a:rPr lang="es-ES" altLang="es-ES" sz="900" dirty="0" err="1">
                <a:latin typeface="+mn-lt"/>
                <a:ea typeface="ＭＳ Ｐゴシック" charset="-128"/>
              </a:rPr>
              <a:t>over</a:t>
            </a:r>
            <a:r>
              <a:rPr lang="es-ES" altLang="es-ES" sz="900" dirty="0">
                <a:latin typeface="+mn-lt"/>
                <a:ea typeface="ＭＳ Ｐゴシック" charset="-128"/>
              </a:rPr>
              <a:t> 4 </a:t>
            </a:r>
            <a:r>
              <a:rPr lang="es-ES" altLang="es-ES" sz="900" dirty="0" err="1">
                <a:latin typeface="+mn-lt"/>
                <a:ea typeface="ＭＳ Ｐゴシック" charset="-128"/>
              </a:rPr>
              <a:t>weeks</a:t>
            </a:r>
            <a:r>
              <a:rPr lang="es-ES" altLang="es-ES" sz="900" dirty="0">
                <a:latin typeface="+mn-lt"/>
                <a:ea typeface="ＭＳ Ｐゴシック" charset="-128"/>
              </a:rPr>
              <a:t> </a:t>
            </a:r>
            <a:r>
              <a:rPr lang="es-ES" altLang="es-ES" sz="900" dirty="0" err="1">
                <a:latin typeface="+mn-lt"/>
                <a:ea typeface="ＭＳ Ｐゴシック" charset="-128"/>
              </a:rPr>
              <a:t>were</a:t>
            </a:r>
            <a:r>
              <a:rPr lang="es-ES" altLang="es-ES" sz="900" dirty="0">
                <a:latin typeface="+mn-lt"/>
                <a:ea typeface="ＭＳ Ｐゴシック" charset="-128"/>
              </a:rPr>
              <a:t> 3.1. (-43.1% from </a:t>
            </a:r>
            <a:r>
              <a:rPr lang="es-ES" altLang="es-ES" sz="900" dirty="0" err="1">
                <a:latin typeface="+mn-lt"/>
                <a:ea typeface="ＭＳ Ｐゴシック" charset="-128"/>
              </a:rPr>
              <a:t>baseline</a:t>
            </a:r>
            <a:r>
              <a:rPr lang="es-ES" altLang="es-ES" sz="900" dirty="0">
                <a:latin typeface="+mn-lt"/>
                <a:ea typeface="ＭＳ Ｐゴシック" charset="-128"/>
              </a:rPr>
              <a:t>) in the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group</a:t>
            </a:r>
            <a:r>
              <a:rPr lang="es-ES" altLang="es-ES" sz="900" dirty="0">
                <a:latin typeface="+mn-lt"/>
                <a:ea typeface="ＭＳ Ｐゴシック" charset="-128"/>
              </a:rPr>
              <a:t> </a:t>
            </a:r>
            <a:r>
              <a:rPr lang="es-ES" altLang="es-ES" sz="900" dirty="0" err="1">
                <a:latin typeface="+mn-lt"/>
                <a:ea typeface="ＭＳ Ｐゴシック" charset="-128"/>
              </a:rPr>
              <a:t>compared</a:t>
            </a:r>
            <a:r>
              <a:rPr lang="es-ES" altLang="es-ES" sz="900" dirty="0">
                <a:latin typeface="+mn-lt"/>
                <a:ea typeface="ＭＳ Ｐゴシック" charset="-128"/>
              </a:rPr>
              <a:t> with 2.5 (-34,7%) in the placebo </a:t>
            </a:r>
            <a:r>
              <a:rPr lang="es-ES" altLang="es-ES" sz="900" dirty="0" err="1">
                <a:latin typeface="+mn-lt"/>
                <a:ea typeface="ＭＳ Ｐゴシック" charset="-128"/>
              </a:rPr>
              <a:t>group</a:t>
            </a:r>
            <a:r>
              <a:rPr lang="es-ES" altLang="es-ES" sz="900" dirty="0">
                <a:latin typeface="+mn-lt"/>
                <a:ea typeface="ＭＳ Ｐゴシック" charset="-128"/>
              </a:rPr>
              <a:t> (</a:t>
            </a:r>
            <a:r>
              <a:rPr lang="es-ES" altLang="es-ES" sz="900" dirty="0" err="1">
                <a:latin typeface="+mn-lt"/>
                <a:ea typeface="ＭＳ Ｐゴシック" charset="-128"/>
              </a:rPr>
              <a:t>analysis</a:t>
            </a:r>
            <a:r>
              <a:rPr lang="es-ES" altLang="es-ES" sz="900" dirty="0">
                <a:latin typeface="+mn-lt"/>
                <a:ea typeface="ＭＳ Ｐゴシック" charset="-128"/>
              </a:rPr>
              <a:t> of </a:t>
            </a:r>
            <a:r>
              <a:rPr lang="es-ES" altLang="es-ES" sz="900" dirty="0" err="1">
                <a:latin typeface="+mn-lt"/>
                <a:ea typeface="ＭＳ Ｐゴシック" charset="-128"/>
              </a:rPr>
              <a:t>covariance</a:t>
            </a:r>
            <a:r>
              <a:rPr lang="es-ES" altLang="es-ES" sz="900" dirty="0">
                <a:latin typeface="+mn-lt"/>
                <a:ea typeface="ＭＳ Ｐゴシック" charset="-128"/>
              </a:rPr>
              <a:t> [ANCOVA]: p=0.018 </a:t>
            </a:r>
            <a:r>
              <a:rPr lang="es-ES" altLang="es-ES" sz="900" dirty="0" err="1">
                <a:latin typeface="+mn-lt"/>
                <a:ea typeface="ＭＳ Ｐゴシック" charset="-128"/>
              </a:rPr>
              <a:t>for</a:t>
            </a:r>
            <a:r>
              <a:rPr lang="es-ES" altLang="es-ES" sz="900" dirty="0">
                <a:latin typeface="+mn-lt"/>
                <a:ea typeface="ＭＳ Ｐゴシック" charset="-128"/>
              </a:rPr>
              <a:t> </a:t>
            </a:r>
            <a:r>
              <a:rPr lang="es-ES" altLang="es-ES" sz="900" dirty="0" err="1">
                <a:latin typeface="+mn-lt"/>
                <a:ea typeface="ＭＳ Ｐゴシック" charset="-128"/>
              </a:rPr>
              <a:t>difference</a:t>
            </a:r>
            <a:r>
              <a:rPr lang="es-ES" altLang="es-ES" sz="900" dirty="0">
                <a:latin typeface="+mn-lt"/>
                <a:ea typeface="ＭＳ Ｐゴシック" charset="-128"/>
              </a:rPr>
              <a:t>). </a:t>
            </a:r>
            <a:r>
              <a:rPr lang="es-ES" altLang="es-ES" sz="900" dirty="0" err="1">
                <a:latin typeface="+mn-lt"/>
                <a:ea typeface="ＭＳ Ｐゴシック" charset="-128"/>
              </a:rPr>
              <a:t>Corresponding</a:t>
            </a:r>
            <a:r>
              <a:rPr lang="es-ES" altLang="es-ES" sz="900" dirty="0">
                <a:latin typeface="+mn-lt"/>
                <a:ea typeface="ＭＳ Ｐゴシック" charset="-128"/>
              </a:rPr>
              <a:t> </a:t>
            </a:r>
            <a:r>
              <a:rPr lang="es-ES" altLang="es-ES" sz="900" dirty="0" err="1">
                <a:latin typeface="+mn-lt"/>
                <a:ea typeface="ＭＳ Ｐゴシック" charset="-128"/>
              </a:rPr>
              <a:t>decreases</a:t>
            </a:r>
            <a:r>
              <a:rPr lang="es-ES" altLang="es-ES" sz="900" dirty="0">
                <a:latin typeface="+mn-lt"/>
                <a:ea typeface="ＭＳ Ｐゴシック" charset="-128"/>
              </a:rPr>
              <a:t> at 6 </a:t>
            </a:r>
            <a:r>
              <a:rPr lang="es-ES" altLang="es-ES" sz="900" dirty="0" err="1">
                <a:latin typeface="+mn-lt"/>
                <a:ea typeface="ＭＳ Ｐゴシック" charset="-128"/>
              </a:rPr>
              <a:t>weeks</a:t>
            </a:r>
            <a:r>
              <a:rPr lang="es-ES" altLang="es-ES" sz="900" dirty="0">
                <a:latin typeface="+mn-lt"/>
                <a:ea typeface="ＭＳ Ｐゴシック" charset="-128"/>
              </a:rPr>
              <a:t> </a:t>
            </a:r>
            <a:r>
              <a:rPr lang="es-ES" altLang="es-ES" sz="900" dirty="0" err="1">
                <a:latin typeface="+mn-lt"/>
                <a:ea typeface="ＭＳ Ｐゴシック" charset="-128"/>
              </a:rPr>
              <a:t>were</a:t>
            </a:r>
            <a:r>
              <a:rPr lang="es-ES" altLang="es-ES" sz="900" dirty="0">
                <a:latin typeface="+mn-lt"/>
                <a:ea typeface="ＭＳ Ｐゴシック" charset="-128"/>
              </a:rPr>
              <a:t> 3.3 (-45.8%) and 2.7 (-37.5%) [p=0.048; ANCOVA].</a:t>
            </a:r>
          </a:p>
          <a:p>
            <a:r>
              <a:rPr lang="es-ES" altLang="es-ES" sz="900" dirty="0" err="1">
                <a:latin typeface="+mn-lt"/>
                <a:ea typeface="ＭＳ Ｐゴシック" charset="-128"/>
              </a:rPr>
              <a:t>In</a:t>
            </a:r>
            <a:r>
              <a:rPr lang="es-ES" altLang="es-ES" sz="900" dirty="0">
                <a:latin typeface="+mn-lt"/>
                <a:ea typeface="ＭＳ Ｐゴシック" charset="-128"/>
              </a:rPr>
              <a:t> </a:t>
            </a:r>
            <a:r>
              <a:rPr lang="es-ES" altLang="es-ES" sz="900" dirty="0" err="1">
                <a:latin typeface="+mn-lt"/>
                <a:ea typeface="ＭＳ Ｐゴシック" charset="-128"/>
              </a:rPr>
              <a:t>summary</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paediatric</a:t>
            </a:r>
            <a:r>
              <a:rPr lang="es-ES" altLang="es-ES" sz="900" dirty="0">
                <a:latin typeface="+mn-lt"/>
                <a:ea typeface="ＭＳ Ｐゴシック" charset="-128"/>
              </a:rPr>
              <a:t> solution 1 mg/mL is </a:t>
            </a:r>
            <a:r>
              <a:rPr lang="es-ES" altLang="es-ES" sz="900" dirty="0" err="1">
                <a:latin typeface="+mn-lt"/>
                <a:ea typeface="ＭＳ Ｐゴシック" charset="-128"/>
              </a:rPr>
              <a:t>significantly</a:t>
            </a:r>
            <a:r>
              <a:rPr lang="es-ES" altLang="es-ES" sz="900" dirty="0">
                <a:latin typeface="+mn-lt"/>
                <a:ea typeface="ＭＳ Ｐゴシック" charset="-128"/>
              </a:rPr>
              <a:t> more </a:t>
            </a:r>
            <a:r>
              <a:rPr lang="es-ES" altLang="es-ES" sz="900" dirty="0" err="1">
                <a:latin typeface="+mn-lt"/>
                <a:ea typeface="ＭＳ Ｐゴシック" charset="-128"/>
              </a:rPr>
              <a:t>effective</a:t>
            </a:r>
            <a:r>
              <a:rPr lang="es-ES" altLang="es-ES" sz="900" dirty="0">
                <a:latin typeface="+mn-lt"/>
                <a:ea typeface="ＭＳ Ｐゴシック" charset="-128"/>
              </a:rPr>
              <a:t> </a:t>
            </a:r>
            <a:r>
              <a:rPr lang="es-ES" altLang="es-ES" sz="900" dirty="0" err="1">
                <a:latin typeface="+mn-lt"/>
                <a:ea typeface="ＭＳ Ｐゴシック" charset="-128"/>
              </a:rPr>
              <a:t>than</a:t>
            </a:r>
            <a:r>
              <a:rPr lang="es-ES" altLang="es-ES" sz="900" dirty="0">
                <a:latin typeface="+mn-lt"/>
                <a:ea typeface="ＭＳ Ｐゴシック" charset="-128"/>
              </a:rPr>
              <a:t> placebo in </a:t>
            </a:r>
            <a:r>
              <a:rPr lang="es-ES" altLang="es-ES" sz="900" dirty="0" err="1">
                <a:latin typeface="+mn-lt"/>
                <a:ea typeface="ＭＳ Ｐゴシック" charset="-128"/>
              </a:rPr>
              <a:t>reducing</a:t>
            </a:r>
            <a:r>
              <a:rPr lang="es-ES" altLang="es-ES" sz="900" dirty="0">
                <a:latin typeface="+mn-lt"/>
                <a:ea typeface="ＭＳ Ｐゴシック" charset="-128"/>
              </a:rPr>
              <a:t> nasal </a:t>
            </a:r>
            <a:r>
              <a:rPr lang="es-ES" altLang="es-ES" sz="900" dirty="0" err="1">
                <a:latin typeface="+mn-lt"/>
                <a:ea typeface="ＭＳ Ｐゴシック" charset="-128"/>
              </a:rPr>
              <a:t>symptoms</a:t>
            </a:r>
            <a:r>
              <a:rPr lang="es-ES" altLang="es-ES" sz="900" dirty="0">
                <a:latin typeface="+mn-lt"/>
                <a:ea typeface="ＭＳ Ｐゴシック" charset="-128"/>
              </a:rPr>
              <a:t> </a:t>
            </a:r>
            <a:r>
              <a:rPr lang="es-ES" altLang="es-ES" sz="900" dirty="0" err="1">
                <a:latin typeface="+mn-lt"/>
                <a:ea typeface="ＭＳ Ｐゴシック" charset="-128"/>
              </a:rPr>
              <a:t>over</a:t>
            </a:r>
            <a:r>
              <a:rPr lang="es-ES" altLang="es-ES" sz="900" dirty="0">
                <a:latin typeface="+mn-lt"/>
                <a:ea typeface="ＭＳ Ｐゴシック" charset="-128"/>
              </a:rPr>
              <a:t> 4 and 6 </a:t>
            </a:r>
            <a:r>
              <a:rPr lang="es-ES" altLang="es-ES" sz="900" dirty="0" err="1">
                <a:latin typeface="+mn-lt"/>
                <a:ea typeface="ＭＳ Ｐゴシック" charset="-128"/>
              </a:rPr>
              <a:t>weeks</a:t>
            </a:r>
            <a:r>
              <a:rPr lang="es-ES" altLang="es-ES" sz="900" dirty="0">
                <a:latin typeface="+mn-lt"/>
                <a:ea typeface="ＭＳ Ｐゴシック" charset="-128"/>
              </a:rPr>
              <a:t> in </a:t>
            </a:r>
            <a:r>
              <a:rPr lang="es-ES" altLang="es-ES" sz="900" dirty="0" err="1">
                <a:latin typeface="+mn-lt"/>
                <a:ea typeface="ＭＳ Ｐゴシック" charset="-128"/>
              </a:rPr>
              <a:t>children</a:t>
            </a:r>
            <a:r>
              <a:rPr lang="es-ES" altLang="es-ES" sz="900" dirty="0">
                <a:latin typeface="+mn-lt"/>
                <a:ea typeface="ＭＳ Ｐゴシック" charset="-128"/>
              </a:rPr>
              <a:t>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t>
            </a:r>
          </a:p>
          <a:p>
            <a:endParaRPr lang="es-ES" altLang="es-ES" sz="900" b="1" dirty="0">
              <a:latin typeface="+mn-lt"/>
              <a:ea typeface="ＭＳ Ｐゴシック" charset="-128"/>
            </a:endParaRPr>
          </a:p>
          <a:p>
            <a:r>
              <a:rPr lang="es-ES" altLang="es-ES" sz="900" b="1" u="none" dirty="0">
                <a:latin typeface="+mn-lt"/>
                <a:ea typeface="ＭＳ Ｐゴシック" charset="-128"/>
              </a:rPr>
              <a:t>Reference</a:t>
            </a:r>
          </a:p>
          <a:p>
            <a:r>
              <a:rPr lang="es-ES" altLang="es-ES" sz="900" dirty="0">
                <a:latin typeface="+mn-lt"/>
                <a:ea typeface="ＭＳ Ｐゴシック" charset="-128"/>
              </a:rPr>
              <a:t>Potter P, </a:t>
            </a:r>
            <a:r>
              <a:rPr lang="es-ES" altLang="es-ES" sz="900" dirty="0" err="1">
                <a:latin typeface="+mn-lt"/>
                <a:ea typeface="ＭＳ Ｐゴシック" charset="-128"/>
              </a:rPr>
              <a:t>Maspero</a:t>
            </a:r>
            <a:r>
              <a:rPr lang="es-ES" altLang="es-ES" sz="900" dirty="0">
                <a:latin typeface="+mn-lt"/>
                <a:ea typeface="ＭＳ Ｐゴシック" charset="-128"/>
              </a:rPr>
              <a:t> JF, </a:t>
            </a:r>
            <a:r>
              <a:rPr lang="es-ES" altLang="es-ES" sz="900" dirty="0" err="1">
                <a:latin typeface="+mn-lt"/>
                <a:ea typeface="ＭＳ Ｐゴシック" charset="-128"/>
              </a:rPr>
              <a:t>Vermeulen</a:t>
            </a:r>
            <a:r>
              <a:rPr lang="es-ES" altLang="es-ES" sz="900" dirty="0">
                <a:latin typeface="+mn-lt"/>
                <a:ea typeface="ＭＳ Ｐゴシック" charset="-128"/>
              </a:rPr>
              <a:t> J, et al. </a:t>
            </a:r>
            <a:r>
              <a:rPr lang="en-US" altLang="es-ES" sz="900" dirty="0" err="1">
                <a:latin typeface="+mn-lt"/>
                <a:ea typeface="ＭＳ Ｐゴシック" charset="-128"/>
              </a:rPr>
              <a:t>Rupatadine</a:t>
            </a:r>
            <a:r>
              <a:rPr lang="en-US" altLang="es-ES" sz="900" dirty="0">
                <a:latin typeface="+mn-lt"/>
                <a:ea typeface="ＭＳ Ｐゴシック" charset="-128"/>
              </a:rPr>
              <a:t> oral solution in children with persistent allergic rhinitis: A randomized, double-blind, placebo-controlled study. </a:t>
            </a:r>
            <a:r>
              <a:rPr lang="en-US" altLang="es-ES" sz="900" dirty="0" err="1">
                <a:latin typeface="+mn-lt"/>
                <a:ea typeface="ＭＳ Ｐゴシック" charset="-128"/>
              </a:rPr>
              <a:t>Pediatrc</a:t>
            </a:r>
            <a:r>
              <a:rPr lang="en-US" altLang="es-ES" sz="900" dirty="0">
                <a:latin typeface="+mn-lt"/>
                <a:ea typeface="ＭＳ Ｐゴシック" charset="-128"/>
              </a:rPr>
              <a:t> Allergy </a:t>
            </a:r>
            <a:r>
              <a:rPr lang="en-US" altLang="es-ES" sz="900" dirty="0" err="1">
                <a:latin typeface="+mn-lt"/>
                <a:ea typeface="ＭＳ Ｐゴシック" charset="-128"/>
              </a:rPr>
              <a:t>Immunol</a:t>
            </a:r>
            <a:r>
              <a:rPr lang="en-US" altLang="es-ES" sz="900" dirty="0">
                <a:latin typeface="+mn-lt"/>
                <a:ea typeface="ＭＳ Ｐゴシック" charset="-128"/>
              </a:rPr>
              <a:t> </a:t>
            </a:r>
            <a:r>
              <a:rPr lang="es-ES" altLang="es-ES" sz="900" dirty="0">
                <a:latin typeface="+mn-lt"/>
                <a:ea typeface="ＭＳ Ｐゴシック" charset="-128"/>
              </a:rPr>
              <a:t>2013;24(2):144-50.</a:t>
            </a:r>
            <a:endParaRPr lang="en-US" altLang="es-ES" sz="900" dirty="0">
              <a:latin typeface="+mn-lt"/>
              <a:ea typeface="ＭＳ Ｐゴシック" charset="-128"/>
            </a:endParaRPr>
          </a:p>
          <a:p>
            <a:endParaRPr lang="es-ES" altLang="es-ES" sz="900" dirty="0">
              <a:latin typeface="+mn-lt"/>
              <a:ea typeface="ＭＳ Ｐゴシック" charset="-128"/>
            </a:endParaRPr>
          </a:p>
          <a:p>
            <a:pPr eaLnBrk="1" hangingPunct="1">
              <a:spcBef>
                <a:spcPts val="428"/>
              </a:spcBef>
            </a:pPr>
            <a:endParaRPr lang="es-ES_tradnl" sz="900" dirty="0">
              <a:latin typeface="+mn-lt"/>
              <a:ea typeface="ＭＳ Ｐゴシック" charset="-128"/>
            </a:endParaRPr>
          </a:p>
        </p:txBody>
      </p:sp>
      <p:sp>
        <p:nvSpPr>
          <p:cNvPr id="6861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2701019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11"/>
          <p:cNvSpPr>
            <a:spLocks noGrp="1" noChangeArrowheads="1"/>
          </p:cNvSpPr>
          <p:nvPr>
            <p:ph type="sldNum" sz="quarter"/>
          </p:nvPr>
        </p:nvSpPr>
        <p:spPr>
          <a:noFill/>
        </p:spPr>
        <p:txBody>
          <a:bodyPr/>
          <a:lstStyle/>
          <a:p>
            <a:fld id="{7A21E9CF-3C36-4DB4-9B62-EA3110BC6EC9}" type="slidenum">
              <a:rPr lang="es-ES_tradnl">
                <a:solidFill>
                  <a:srgbClr val="FFFFFF"/>
                </a:solidFill>
              </a:rPr>
              <a:pPr/>
              <a:t>13</a:t>
            </a:fld>
            <a:endParaRPr lang="es-ES_tradnl" dirty="0">
              <a:solidFill>
                <a:srgbClr val="FFFFFF"/>
              </a:solidFill>
            </a:endParaRPr>
          </a:p>
        </p:txBody>
      </p:sp>
      <p:sp>
        <p:nvSpPr>
          <p:cNvPr id="69635"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dirty="0">
              <a:solidFill>
                <a:srgbClr val="FFFFFF"/>
              </a:solidFill>
              <a:ea typeface="ＭＳ Ｐゴシック" charset="-128"/>
            </a:endParaRPr>
          </a:p>
        </p:txBody>
      </p:sp>
      <p:sp>
        <p:nvSpPr>
          <p:cNvPr id="69636" name="Text Box 2"/>
          <p:cNvSpPr>
            <a:spLocks noGrp="1" noChangeArrowheads="1"/>
          </p:cNvSpPr>
          <p:nvPr>
            <p:ph type="body"/>
          </p:nvPr>
        </p:nvSpPr>
        <p:spPr>
          <a:xfrm>
            <a:off x="992587" y="3229793"/>
            <a:ext cx="7943053" cy="2996064"/>
          </a:xfrm>
          <a:noFill/>
          <a:ln/>
        </p:spPr>
        <p:txBody>
          <a:bodyPr lIns="0" tIns="0" rIns="0" bIns="0"/>
          <a:lstStyle/>
          <a:p>
            <a:r>
              <a:rPr lang="es-ES" altLang="es-ES" sz="900" dirty="0" err="1">
                <a:latin typeface="Arial" pitchFamily="34" charset="0"/>
                <a:ea typeface="ＭＳ Ｐゴシック" charset="-128"/>
              </a:rPr>
              <a:t>Regarding</a:t>
            </a:r>
            <a:r>
              <a:rPr lang="es-ES" altLang="es-ES" sz="900" dirty="0">
                <a:latin typeface="Arial" pitchFamily="34" charset="0"/>
                <a:ea typeface="ＭＳ Ｐゴシック" charset="-128"/>
              </a:rPr>
              <a:t> T5SS, mean </a:t>
            </a:r>
            <a:r>
              <a:rPr lang="es-ES" altLang="es-ES" sz="900" dirty="0" err="1">
                <a:latin typeface="Arial" pitchFamily="34" charset="0"/>
                <a:ea typeface="ＭＳ Ｐゴシック" charset="-128"/>
              </a:rPr>
              <a:t>values</a:t>
            </a:r>
            <a:r>
              <a:rPr lang="es-ES" altLang="es-ES" sz="900" dirty="0">
                <a:latin typeface="Arial" pitchFamily="34" charset="0"/>
                <a:ea typeface="ＭＳ Ｐゴシック" charset="-128"/>
              </a:rPr>
              <a:t> at </a:t>
            </a:r>
            <a:r>
              <a:rPr lang="es-ES" altLang="es-ES" sz="900" dirty="0" err="1">
                <a:latin typeface="Arial" pitchFamily="34" charset="0"/>
                <a:ea typeface="ＭＳ Ｐゴシック" charset="-128"/>
              </a:rPr>
              <a:t>baseline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were</a:t>
            </a:r>
            <a:r>
              <a:rPr lang="es-ES" altLang="es-ES" sz="900" dirty="0">
                <a:latin typeface="Arial" pitchFamily="34" charset="0"/>
                <a:ea typeface="ＭＳ Ｐゴシック" charset="-128"/>
              </a:rPr>
              <a:t> 8.5 in the </a:t>
            </a:r>
            <a:r>
              <a:rPr lang="es-ES" altLang="es-ES" sz="900" dirty="0" err="1">
                <a:latin typeface="Arial" pitchFamily="34" charset="0"/>
                <a:ea typeface="ＭＳ Ｐゴシック" charset="-128"/>
              </a:rPr>
              <a:t>rupatadine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group</a:t>
            </a:r>
            <a:r>
              <a:rPr lang="es-ES" altLang="es-ES" sz="900" dirty="0">
                <a:latin typeface="Arial" pitchFamily="34" charset="0"/>
                <a:ea typeface="ＭＳ Ｐゴシック" charset="-128"/>
              </a:rPr>
              <a:t> and 8.4 in the placebo </a:t>
            </a:r>
            <a:r>
              <a:rPr lang="es-ES" altLang="es-ES" sz="900" dirty="0" err="1">
                <a:latin typeface="Arial" pitchFamily="34" charset="0"/>
                <a:ea typeface="ＭＳ Ｐゴシック" charset="-128"/>
              </a:rPr>
              <a:t>group</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Respective</a:t>
            </a:r>
            <a:r>
              <a:rPr lang="es-ES" altLang="es-ES" sz="900" dirty="0">
                <a:latin typeface="Arial" pitchFamily="34" charset="0"/>
                <a:ea typeface="ＭＳ Ｐゴシック" charset="-128"/>
              </a:rPr>
              <a:t> mean </a:t>
            </a:r>
            <a:r>
              <a:rPr lang="es-ES" altLang="es-ES" sz="900" dirty="0" err="1">
                <a:latin typeface="Arial" pitchFamily="34" charset="0"/>
                <a:ea typeface="ＭＳ Ｐゴシック" charset="-128"/>
              </a:rPr>
              <a:t>decreases</a:t>
            </a:r>
            <a:r>
              <a:rPr lang="es-ES" altLang="es-ES" sz="900" dirty="0">
                <a:latin typeface="Arial" pitchFamily="34" charset="0"/>
                <a:ea typeface="ＭＳ Ｐゴシック" charset="-128"/>
              </a:rPr>
              <a:t> at </a:t>
            </a:r>
            <a:r>
              <a:rPr lang="es-ES" altLang="es-ES" sz="900" dirty="0" err="1">
                <a:latin typeface="Arial" pitchFamily="34" charset="0"/>
                <a:ea typeface="ＭＳ Ｐゴシック" charset="-128"/>
              </a:rPr>
              <a:t>week</a:t>
            </a:r>
            <a:r>
              <a:rPr lang="es-ES" altLang="es-ES" sz="900" dirty="0">
                <a:latin typeface="Arial" pitchFamily="34" charset="0"/>
                <a:ea typeface="ＭＳ Ｐゴシック" charset="-128"/>
              </a:rPr>
              <a:t> 4 </a:t>
            </a:r>
            <a:r>
              <a:rPr lang="es-ES" altLang="es-ES" sz="900" dirty="0" err="1">
                <a:latin typeface="Arial" pitchFamily="34" charset="0"/>
                <a:ea typeface="ＭＳ Ｐゴシック" charset="-128"/>
              </a:rPr>
              <a:t>were</a:t>
            </a:r>
            <a:r>
              <a:rPr lang="es-ES" altLang="es-ES" sz="900" dirty="0">
                <a:latin typeface="Arial" pitchFamily="34" charset="0"/>
                <a:ea typeface="ＭＳ Ｐゴシック" charset="-128"/>
              </a:rPr>
              <a:t> 3.5 (-41.2% from </a:t>
            </a:r>
            <a:r>
              <a:rPr lang="es-ES" altLang="es-ES" sz="900" dirty="0" err="1">
                <a:latin typeface="Arial" pitchFamily="34" charset="0"/>
                <a:ea typeface="ＭＳ Ｐゴシック" charset="-128"/>
              </a:rPr>
              <a:t>baseline</a:t>
            </a:r>
            <a:r>
              <a:rPr lang="es-ES" altLang="es-ES" sz="900" dirty="0">
                <a:latin typeface="Arial" pitchFamily="34" charset="0"/>
                <a:ea typeface="ＭＳ Ｐゴシック" charset="-128"/>
              </a:rPr>
              <a:t>) and 2.8 (-33.3%) [p.0.03 </a:t>
            </a:r>
            <a:r>
              <a:rPr lang="es-ES" altLang="es-ES" sz="900" dirty="0" err="1">
                <a:latin typeface="Arial" pitchFamily="34" charset="0"/>
                <a:ea typeface="ＭＳ Ｐゴシック" charset="-128"/>
              </a:rPr>
              <a:t>for</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difference</a:t>
            </a:r>
            <a:r>
              <a:rPr lang="es-ES" altLang="es-ES" sz="900" dirty="0">
                <a:latin typeface="Arial" pitchFamily="34" charset="0"/>
                <a:ea typeface="ＭＳ Ｐゴシック" charset="-128"/>
              </a:rPr>
              <a:t>; ANCOVA]. </a:t>
            </a:r>
            <a:r>
              <a:rPr lang="es-ES" altLang="es-ES" sz="900" dirty="0" err="1">
                <a:latin typeface="Arial" pitchFamily="34" charset="0"/>
                <a:ea typeface="ＭＳ Ｐゴシック" charset="-128"/>
              </a:rPr>
              <a:t>Decreases</a:t>
            </a:r>
            <a:r>
              <a:rPr lang="es-ES" altLang="es-ES" sz="900" dirty="0">
                <a:latin typeface="Arial" pitchFamily="34" charset="0"/>
                <a:ea typeface="ＭＳ Ｐゴシック" charset="-128"/>
              </a:rPr>
              <a:t> at </a:t>
            </a:r>
            <a:r>
              <a:rPr lang="es-ES" altLang="es-ES" sz="900" dirty="0" err="1">
                <a:latin typeface="Arial" pitchFamily="34" charset="0"/>
                <a:ea typeface="ＭＳ Ｐゴシック" charset="-128"/>
              </a:rPr>
              <a:t>week</a:t>
            </a:r>
            <a:r>
              <a:rPr lang="es-ES" altLang="es-ES" sz="900" dirty="0">
                <a:latin typeface="Arial" pitchFamily="34" charset="0"/>
                <a:ea typeface="ＭＳ Ｐゴシック" charset="-128"/>
              </a:rPr>
              <a:t> 6 </a:t>
            </a:r>
            <a:r>
              <a:rPr lang="es-ES" altLang="es-ES" sz="900" dirty="0" err="1">
                <a:latin typeface="Arial" pitchFamily="34" charset="0"/>
                <a:ea typeface="ＭＳ Ｐゴシック" charset="-128"/>
              </a:rPr>
              <a:t>revealed</a:t>
            </a:r>
            <a:r>
              <a:rPr lang="es-ES" altLang="es-ES" sz="900" dirty="0">
                <a:latin typeface="Arial" pitchFamily="34" charset="0"/>
                <a:ea typeface="ＭＳ Ｐゴシック" charset="-128"/>
              </a:rPr>
              <a:t> no </a:t>
            </a:r>
            <a:r>
              <a:rPr lang="es-ES" altLang="es-ES" sz="900" dirty="0" err="1">
                <a:latin typeface="Arial" pitchFamily="34" charset="0"/>
                <a:ea typeface="ＭＳ Ｐゴシック" charset="-128"/>
              </a:rPr>
              <a:t>statistically</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significant</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difference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between</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groups</a:t>
            </a:r>
            <a:r>
              <a:rPr lang="es-ES" altLang="es-ES" sz="900" dirty="0">
                <a:latin typeface="Arial" pitchFamily="34" charset="0"/>
                <a:ea typeface="ＭＳ Ｐゴシック" charset="-128"/>
              </a:rPr>
              <a:t>: 3.8 (-44.7%) in the </a:t>
            </a:r>
            <a:r>
              <a:rPr lang="es-ES" altLang="es-ES" sz="900" dirty="0" err="1">
                <a:latin typeface="Arial" pitchFamily="34" charset="0"/>
                <a:ea typeface="ＭＳ Ｐゴシック" charset="-128"/>
              </a:rPr>
              <a:t>rupatadine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group</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compared</a:t>
            </a:r>
            <a:r>
              <a:rPr lang="es-ES" altLang="es-ES" sz="900" dirty="0">
                <a:latin typeface="Arial" pitchFamily="34" charset="0"/>
                <a:ea typeface="ＭＳ Ｐゴシック" charset="-128"/>
              </a:rPr>
              <a:t> with 3.1 (-36.9%) in the placebo </a:t>
            </a:r>
            <a:r>
              <a:rPr lang="es-ES" altLang="es-ES" sz="900" dirty="0" err="1">
                <a:latin typeface="Arial" pitchFamily="34" charset="0"/>
                <a:ea typeface="ＭＳ Ｐゴシック" charset="-128"/>
              </a:rPr>
              <a:t>group</a:t>
            </a:r>
            <a:r>
              <a:rPr lang="es-ES" altLang="es-ES" sz="900" dirty="0">
                <a:latin typeface="Arial" pitchFamily="34" charset="0"/>
                <a:ea typeface="ＭＳ Ｐゴシック" charset="-128"/>
              </a:rPr>
              <a:t> (p=0.08) </a:t>
            </a:r>
            <a:r>
              <a:rPr lang="es-ES" altLang="es-ES" sz="900" dirty="0" err="1">
                <a:latin typeface="Arial" pitchFamily="34" charset="0"/>
                <a:ea typeface="ＭＳ Ｐゴシック" charset="-128"/>
              </a:rPr>
              <a:t>for</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difference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however</a:t>
            </a:r>
            <a:r>
              <a:rPr lang="es-ES" altLang="es-ES" sz="900" dirty="0">
                <a:latin typeface="Arial" pitchFamily="34" charset="0"/>
                <a:ea typeface="ＭＳ Ｐゴシック" charset="-128"/>
              </a:rPr>
              <a:t>, at 6 </a:t>
            </a:r>
            <a:r>
              <a:rPr lang="es-ES" altLang="es-ES" sz="900" dirty="0" err="1">
                <a:latin typeface="Arial" pitchFamily="34" charset="0"/>
                <a:ea typeface="ＭＳ Ｐゴシック" charset="-128"/>
              </a:rPr>
              <a:t>weeks</a:t>
            </a:r>
            <a:r>
              <a:rPr lang="es-ES" altLang="es-ES" sz="900" dirty="0">
                <a:latin typeface="Arial" pitchFamily="34" charset="0"/>
                <a:ea typeface="ＭＳ Ｐゴシック" charset="-128"/>
              </a:rPr>
              <a:t> in the </a:t>
            </a:r>
            <a:r>
              <a:rPr lang="es-ES" altLang="es-ES" sz="900" dirty="0" err="1">
                <a:latin typeface="Arial" pitchFamily="34" charset="0"/>
                <a:ea typeface="ＭＳ Ｐゴシック" charset="-128"/>
              </a:rPr>
              <a:t>per-protocol</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population</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rupatadine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was</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significantly</a:t>
            </a:r>
            <a:r>
              <a:rPr lang="es-ES" altLang="es-ES" sz="900" dirty="0">
                <a:latin typeface="Arial" pitchFamily="34" charset="0"/>
                <a:ea typeface="ＭＳ Ｐゴシック" charset="-128"/>
              </a:rPr>
              <a:t> more </a:t>
            </a:r>
            <a:r>
              <a:rPr lang="es-ES" altLang="es-ES" sz="900" dirty="0" err="1">
                <a:latin typeface="Arial" pitchFamily="34" charset="0"/>
                <a:ea typeface="ＭＳ Ｐゴシック" charset="-128"/>
              </a:rPr>
              <a:t>effective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than</a:t>
            </a:r>
            <a:r>
              <a:rPr lang="es-ES" altLang="es-ES" sz="900" dirty="0">
                <a:latin typeface="Arial" pitchFamily="34" charset="0"/>
                <a:ea typeface="ＭＳ Ｐゴシック" charset="-128"/>
              </a:rPr>
              <a:t> placebo </a:t>
            </a:r>
            <a:r>
              <a:rPr lang="es-ES" altLang="es-ES" sz="900" dirty="0" err="1">
                <a:latin typeface="Arial" pitchFamily="34" charset="0"/>
                <a:ea typeface="ＭＳ Ｐゴシック" charset="-128"/>
              </a:rPr>
              <a:t>regarding</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patient-assessed</a:t>
            </a:r>
            <a:r>
              <a:rPr lang="es-ES" altLang="es-ES" sz="900" dirty="0">
                <a:latin typeface="Arial" pitchFamily="34" charset="0"/>
                <a:ea typeface="ＭＳ Ｐゴシック" charset="-128"/>
              </a:rPr>
              <a:t> and </a:t>
            </a:r>
            <a:r>
              <a:rPr lang="es-ES" altLang="es-ES" sz="900" dirty="0" err="1">
                <a:latin typeface="Arial" pitchFamily="34" charset="0"/>
                <a:ea typeface="ＭＳ Ｐゴシック" charset="-128"/>
              </a:rPr>
              <a:t>investigator-assessed</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redutions</a:t>
            </a:r>
            <a:r>
              <a:rPr lang="es-ES" altLang="es-ES" sz="900" dirty="0">
                <a:latin typeface="Arial" pitchFamily="34" charset="0"/>
                <a:ea typeface="ＭＳ Ｐゴシック" charset="-128"/>
              </a:rPr>
              <a:t> from </a:t>
            </a:r>
            <a:r>
              <a:rPr lang="es-ES" altLang="es-ES" sz="900" dirty="0" err="1">
                <a:latin typeface="Arial" pitchFamily="34" charset="0"/>
                <a:ea typeface="ＭＳ Ｐゴシック" charset="-128"/>
              </a:rPr>
              <a:t>baseline</a:t>
            </a:r>
            <a:r>
              <a:rPr lang="es-ES" altLang="es-ES" sz="900" dirty="0">
                <a:latin typeface="Arial" pitchFamily="34" charset="0"/>
                <a:ea typeface="ＭＳ Ｐゴシック" charset="-128"/>
              </a:rPr>
              <a:t> in </a:t>
            </a:r>
            <a:r>
              <a:rPr lang="es-ES" altLang="es-ES" sz="900" dirty="0" err="1">
                <a:latin typeface="Arial" pitchFamily="34" charset="0"/>
                <a:ea typeface="ＭＳ Ｐゴシック" charset="-128"/>
              </a:rPr>
              <a:t>instantaneous</a:t>
            </a:r>
            <a:r>
              <a:rPr lang="es-ES" altLang="es-ES" sz="900" dirty="0">
                <a:latin typeface="Arial" pitchFamily="34" charset="0"/>
                <a:ea typeface="ＭＳ Ｐゴシック" charset="-128"/>
              </a:rPr>
              <a:t> T5SS </a:t>
            </a:r>
            <a:r>
              <a:rPr lang="es-ES" altLang="es-ES" sz="900" dirty="0" err="1">
                <a:latin typeface="Arial" pitchFamily="34" charset="0"/>
                <a:ea typeface="ＭＳ Ｐゴシック" charset="-128"/>
              </a:rPr>
              <a:t>values</a:t>
            </a:r>
            <a:r>
              <a:rPr lang="es-ES" altLang="es-ES" sz="900" dirty="0">
                <a:latin typeface="Arial" pitchFamily="34" charset="0"/>
                <a:ea typeface="ＭＳ Ｐゴシック" charset="-128"/>
              </a:rPr>
              <a:t> (p = 0.005 and p = 0.034, </a:t>
            </a:r>
            <a:r>
              <a:rPr lang="es-ES" altLang="es-ES" sz="900" dirty="0" err="1">
                <a:latin typeface="Arial" pitchFamily="34" charset="0"/>
                <a:ea typeface="ＭＳ Ｐゴシック" charset="-128"/>
              </a:rPr>
              <a:t>respectively</a:t>
            </a:r>
            <a:r>
              <a:rPr lang="es-ES" altLang="es-ES" sz="900" dirty="0">
                <a:latin typeface="Arial" pitchFamily="34" charset="0"/>
                <a:ea typeface="ＭＳ Ｐゴシック" charset="-128"/>
              </a:rPr>
              <a:t>).</a:t>
            </a:r>
          </a:p>
          <a:p>
            <a:endParaRPr lang="es-ES" altLang="es-ES" sz="900" b="1" dirty="0">
              <a:latin typeface="Arial" pitchFamily="34" charset="0"/>
              <a:ea typeface="ＭＳ Ｐゴシック" charset="-128"/>
            </a:endParaRPr>
          </a:p>
          <a:p>
            <a:endParaRPr lang="es-ES" altLang="es-ES" sz="900" b="1" dirty="0">
              <a:latin typeface="Arial" pitchFamily="34" charset="0"/>
              <a:ea typeface="ＭＳ Ｐゴシック" charset="-128"/>
            </a:endParaRPr>
          </a:p>
          <a:p>
            <a:r>
              <a:rPr lang="es-ES" altLang="es-ES" sz="900" b="1" dirty="0">
                <a:latin typeface="Arial" pitchFamily="34" charset="0"/>
                <a:ea typeface="ＭＳ Ｐゴシック" charset="-128"/>
              </a:rPr>
              <a:t>Reference</a:t>
            </a:r>
          </a:p>
          <a:p>
            <a:r>
              <a:rPr lang="es-ES" altLang="es-ES" sz="900" dirty="0">
                <a:latin typeface="Arial" pitchFamily="34" charset="0"/>
                <a:ea typeface="ＭＳ Ｐゴシック" charset="-128"/>
              </a:rPr>
              <a:t>Potter P, </a:t>
            </a:r>
            <a:r>
              <a:rPr lang="es-ES" altLang="es-ES" sz="900" dirty="0" err="1">
                <a:latin typeface="Arial" pitchFamily="34" charset="0"/>
                <a:ea typeface="ＭＳ Ｐゴシック" charset="-128"/>
              </a:rPr>
              <a:t>Maspero</a:t>
            </a:r>
            <a:r>
              <a:rPr lang="es-ES" altLang="es-ES" sz="900" dirty="0">
                <a:latin typeface="Arial" pitchFamily="34" charset="0"/>
                <a:ea typeface="ＭＳ Ｐゴシック" charset="-128"/>
              </a:rPr>
              <a:t> JF, </a:t>
            </a:r>
            <a:r>
              <a:rPr lang="es-ES" altLang="es-ES" sz="900" dirty="0" err="1">
                <a:latin typeface="Arial" pitchFamily="34" charset="0"/>
                <a:ea typeface="ＭＳ Ｐゴシック" charset="-128"/>
              </a:rPr>
              <a:t>Vermeulen</a:t>
            </a:r>
            <a:r>
              <a:rPr lang="es-ES" altLang="es-ES" sz="900" dirty="0">
                <a:latin typeface="Arial" pitchFamily="34" charset="0"/>
                <a:ea typeface="ＭＳ Ｐゴシック" charset="-128"/>
              </a:rPr>
              <a:t> J, et al. </a:t>
            </a:r>
            <a:r>
              <a:rPr lang="en-US" altLang="es-ES" sz="900" dirty="0" err="1">
                <a:ea typeface="ＭＳ Ｐゴシック" charset="-128"/>
              </a:rPr>
              <a:t>Rupatadine</a:t>
            </a:r>
            <a:r>
              <a:rPr lang="en-US" altLang="es-ES" sz="900" dirty="0">
                <a:ea typeface="ＭＳ Ｐゴシック" charset="-128"/>
              </a:rPr>
              <a:t> oral solution in children with persistent allergic rhinitis: A randomized, double-blind, placebo-controlled study. </a:t>
            </a:r>
            <a:r>
              <a:rPr lang="en-US" altLang="es-ES" sz="900" dirty="0" err="1">
                <a:ea typeface="ＭＳ Ｐゴシック" charset="-128"/>
              </a:rPr>
              <a:t>Pediatrc</a:t>
            </a:r>
            <a:r>
              <a:rPr lang="en-US" altLang="es-ES" sz="900" dirty="0">
                <a:ea typeface="ＭＳ Ｐゴシック" charset="-128"/>
              </a:rPr>
              <a:t> Allergy </a:t>
            </a:r>
            <a:r>
              <a:rPr lang="en-US" altLang="es-ES" sz="900" dirty="0" err="1">
                <a:ea typeface="ＭＳ Ｐゴシック" charset="-128"/>
              </a:rPr>
              <a:t>Immunol</a:t>
            </a:r>
            <a:r>
              <a:rPr lang="en-US" altLang="es-ES" sz="900" dirty="0">
                <a:ea typeface="ＭＳ Ｐゴシック" charset="-128"/>
              </a:rPr>
              <a:t> </a:t>
            </a:r>
            <a:r>
              <a:rPr lang="es-ES" altLang="es-ES" sz="900" dirty="0">
                <a:ea typeface="ＭＳ Ｐゴシック" charset="-128"/>
              </a:rPr>
              <a:t>2013;24(2):144-50.</a:t>
            </a:r>
            <a:endParaRPr lang="en-US" altLang="es-ES" sz="900" dirty="0">
              <a:ea typeface="ＭＳ Ｐゴシック" charset="-128"/>
            </a:endParaRPr>
          </a:p>
          <a:p>
            <a:endParaRPr lang="es-ES" altLang="es-ES" sz="900" dirty="0">
              <a:latin typeface="Arial" pitchFamily="34" charset="0"/>
              <a:ea typeface="ＭＳ Ｐゴシック" charset="-128"/>
            </a:endParaRPr>
          </a:p>
          <a:p>
            <a:pPr eaLnBrk="1" hangingPunct="1">
              <a:spcBef>
                <a:spcPts val="428"/>
              </a:spcBef>
            </a:pPr>
            <a:endParaRPr lang="es-ES_tradnl" sz="900" dirty="0">
              <a:latin typeface="Arial" pitchFamily="34" charset="0"/>
              <a:ea typeface="ＭＳ Ｐゴシック" charset="-128"/>
            </a:endParaRPr>
          </a:p>
        </p:txBody>
      </p:sp>
      <p:sp>
        <p:nvSpPr>
          <p:cNvPr id="69637"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25866838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14</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r>
              <a:rPr lang="es-ES" altLang="es-ES" sz="900" dirty="0" err="1">
                <a:latin typeface="+mn-lt"/>
              </a:rPr>
              <a:t>Throughout</a:t>
            </a:r>
            <a:r>
              <a:rPr lang="es-ES" altLang="es-ES" sz="900" dirty="0">
                <a:latin typeface="+mn-lt"/>
              </a:rPr>
              <a:t> the trial, mean </a:t>
            </a:r>
            <a:r>
              <a:rPr lang="es-ES" altLang="es-ES" sz="900" dirty="0" err="1">
                <a:latin typeface="+mn-lt"/>
              </a:rPr>
              <a:t>daily</a:t>
            </a:r>
            <a:r>
              <a:rPr lang="es-ES" altLang="es-ES" sz="900" dirty="0">
                <a:latin typeface="+mn-lt"/>
              </a:rPr>
              <a:t> T5SS </a:t>
            </a:r>
            <a:r>
              <a:rPr lang="es-ES" altLang="es-ES" sz="900" dirty="0" err="1">
                <a:latin typeface="+mn-lt"/>
              </a:rPr>
              <a:t>values</a:t>
            </a:r>
            <a:r>
              <a:rPr lang="es-ES" altLang="es-ES" sz="900" dirty="0">
                <a:latin typeface="+mn-lt"/>
              </a:rPr>
              <a:t> </a:t>
            </a:r>
            <a:r>
              <a:rPr lang="es-ES" altLang="es-ES" sz="900" dirty="0" err="1">
                <a:latin typeface="+mn-lt"/>
              </a:rPr>
              <a:t>were</a:t>
            </a:r>
            <a:r>
              <a:rPr lang="es-ES" altLang="es-ES" sz="900" dirty="0">
                <a:latin typeface="+mn-lt"/>
              </a:rPr>
              <a:t> </a:t>
            </a:r>
            <a:r>
              <a:rPr lang="es-ES" altLang="es-ES" sz="900" dirty="0" err="1">
                <a:latin typeface="+mn-lt"/>
              </a:rPr>
              <a:t>markedly</a:t>
            </a:r>
            <a:r>
              <a:rPr lang="es-ES" altLang="es-ES" sz="900" dirty="0">
                <a:latin typeface="+mn-lt"/>
              </a:rPr>
              <a:t> </a:t>
            </a:r>
            <a:r>
              <a:rPr lang="es-ES" altLang="es-ES" sz="900" dirty="0" err="1">
                <a:latin typeface="+mn-lt"/>
              </a:rPr>
              <a:t>lower</a:t>
            </a:r>
            <a:r>
              <a:rPr lang="es-ES" altLang="es-ES" sz="900" dirty="0">
                <a:latin typeface="+mn-lt"/>
              </a:rPr>
              <a:t> in </a:t>
            </a:r>
            <a:r>
              <a:rPr lang="es-ES" altLang="es-ES" sz="900" dirty="0" err="1">
                <a:latin typeface="+mn-lt"/>
              </a:rPr>
              <a:t>rupatadine</a:t>
            </a:r>
            <a:r>
              <a:rPr lang="es-ES" altLang="es-ES" sz="900" dirty="0">
                <a:latin typeface="+mn-lt"/>
              </a:rPr>
              <a:t> </a:t>
            </a:r>
            <a:r>
              <a:rPr lang="es-ES" altLang="es-ES" sz="900" dirty="0" err="1">
                <a:latin typeface="+mn-lt"/>
              </a:rPr>
              <a:t>than</a:t>
            </a:r>
            <a:r>
              <a:rPr lang="es-ES" altLang="es-ES" sz="900" dirty="0">
                <a:latin typeface="+mn-lt"/>
              </a:rPr>
              <a:t> placebo </a:t>
            </a:r>
            <a:r>
              <a:rPr lang="es-ES" altLang="es-ES" sz="900" dirty="0" err="1">
                <a:latin typeface="+mn-lt"/>
              </a:rPr>
              <a:t>recipients</a:t>
            </a:r>
            <a:r>
              <a:rPr lang="es-ES" altLang="es-ES" sz="900" dirty="0">
                <a:latin typeface="+mn-lt"/>
              </a:rPr>
              <a:t>. </a:t>
            </a:r>
            <a:r>
              <a:rPr lang="es-ES" altLang="es-ES" sz="900" dirty="0" err="1">
                <a:latin typeface="+mn-lt"/>
              </a:rPr>
              <a:t>Moreover</a:t>
            </a:r>
            <a:r>
              <a:rPr lang="es-ES" altLang="es-ES" sz="900" dirty="0">
                <a:latin typeface="+mn-lt"/>
              </a:rPr>
              <a:t>, </a:t>
            </a:r>
            <a:r>
              <a:rPr lang="es-ES" altLang="es-ES" sz="900" b="1" dirty="0">
                <a:latin typeface="+mn-lt"/>
              </a:rPr>
              <a:t>a </a:t>
            </a:r>
            <a:r>
              <a:rPr lang="es-ES" altLang="es-ES" sz="900" b="1" dirty="0" err="1">
                <a:latin typeface="+mn-lt"/>
              </a:rPr>
              <a:t>rapid</a:t>
            </a:r>
            <a:r>
              <a:rPr lang="es-ES" altLang="es-ES" sz="900" b="1" dirty="0">
                <a:latin typeface="+mn-lt"/>
              </a:rPr>
              <a:t> onset of action </a:t>
            </a:r>
            <a:r>
              <a:rPr lang="es-ES" altLang="es-ES" sz="900" b="1" dirty="0" err="1">
                <a:latin typeface="+mn-lt"/>
              </a:rPr>
              <a:t>was</a:t>
            </a:r>
            <a:r>
              <a:rPr lang="es-ES" altLang="es-ES" sz="900" b="1" dirty="0">
                <a:latin typeface="+mn-lt"/>
              </a:rPr>
              <a:t> </a:t>
            </a:r>
            <a:r>
              <a:rPr lang="es-ES" altLang="es-ES" sz="900" b="1" dirty="0" err="1">
                <a:latin typeface="+mn-lt"/>
              </a:rPr>
              <a:t>significantly</a:t>
            </a:r>
            <a:r>
              <a:rPr lang="es-ES" altLang="es-ES" sz="900" b="1" dirty="0">
                <a:latin typeface="+mn-lt"/>
              </a:rPr>
              <a:t> </a:t>
            </a:r>
            <a:r>
              <a:rPr lang="es-ES" altLang="es-ES" sz="900" b="1" dirty="0" err="1">
                <a:latin typeface="+mn-lt"/>
              </a:rPr>
              <a:t>evident</a:t>
            </a:r>
            <a:r>
              <a:rPr lang="es-ES" altLang="es-ES" sz="900" b="1" dirty="0">
                <a:latin typeface="+mn-lt"/>
              </a:rPr>
              <a:t> </a:t>
            </a:r>
            <a:r>
              <a:rPr lang="es-ES" altLang="es-ES" sz="900" b="1" dirty="0" err="1">
                <a:latin typeface="+mn-lt"/>
              </a:rPr>
              <a:t>for</a:t>
            </a:r>
            <a:r>
              <a:rPr lang="es-ES" altLang="es-ES" sz="900" b="1" dirty="0">
                <a:latin typeface="+mn-lt"/>
              </a:rPr>
              <a:t> </a:t>
            </a:r>
            <a:r>
              <a:rPr lang="es-ES" altLang="es-ES" sz="900" b="1" dirty="0" err="1">
                <a:latin typeface="+mn-lt"/>
              </a:rPr>
              <a:t>rupatadine</a:t>
            </a:r>
            <a:r>
              <a:rPr lang="es-ES" altLang="es-ES" sz="900" dirty="0">
                <a:latin typeface="+mn-lt"/>
              </a:rPr>
              <a:t>: 12 h after the </a:t>
            </a:r>
            <a:r>
              <a:rPr lang="es-ES" altLang="es-ES" sz="900" dirty="0" err="1">
                <a:latin typeface="+mn-lt"/>
              </a:rPr>
              <a:t>first</a:t>
            </a:r>
            <a:r>
              <a:rPr lang="es-ES" altLang="es-ES" sz="900" dirty="0">
                <a:latin typeface="+mn-lt"/>
              </a:rPr>
              <a:t> </a:t>
            </a:r>
            <a:r>
              <a:rPr lang="es-ES" altLang="es-ES" sz="900" dirty="0" err="1">
                <a:latin typeface="+mn-lt"/>
              </a:rPr>
              <a:t>ingestion</a:t>
            </a:r>
            <a:r>
              <a:rPr lang="es-ES" altLang="es-ES" sz="900" dirty="0">
                <a:latin typeface="+mn-lt"/>
              </a:rPr>
              <a:t> of study </a:t>
            </a:r>
            <a:r>
              <a:rPr lang="es-ES" altLang="es-ES" sz="900" dirty="0" err="1">
                <a:latin typeface="+mn-lt"/>
              </a:rPr>
              <a:t>medication</a:t>
            </a:r>
            <a:r>
              <a:rPr lang="es-ES" altLang="es-ES" sz="900" dirty="0">
                <a:latin typeface="+mn-lt"/>
              </a:rPr>
              <a:t>, the mean </a:t>
            </a:r>
            <a:r>
              <a:rPr lang="es-ES" altLang="es-ES" sz="900" dirty="0" err="1">
                <a:latin typeface="+mn-lt"/>
              </a:rPr>
              <a:t>daily</a:t>
            </a:r>
            <a:r>
              <a:rPr lang="es-ES" altLang="es-ES" sz="900" dirty="0">
                <a:latin typeface="+mn-lt"/>
              </a:rPr>
              <a:t> T5SS </a:t>
            </a:r>
            <a:r>
              <a:rPr lang="es-ES" altLang="es-ES" sz="900" dirty="0" err="1">
                <a:latin typeface="+mn-lt"/>
              </a:rPr>
              <a:t>value</a:t>
            </a:r>
            <a:r>
              <a:rPr lang="es-ES" altLang="es-ES" sz="900" dirty="0">
                <a:latin typeface="+mn-lt"/>
              </a:rPr>
              <a:t> </a:t>
            </a:r>
            <a:r>
              <a:rPr lang="es-ES" altLang="es-ES" sz="900" dirty="0" err="1">
                <a:latin typeface="+mn-lt"/>
              </a:rPr>
              <a:t>was</a:t>
            </a:r>
            <a:r>
              <a:rPr lang="es-ES" altLang="es-ES" sz="900" dirty="0">
                <a:latin typeface="+mn-lt"/>
              </a:rPr>
              <a:t> 6.1 in the </a:t>
            </a:r>
            <a:r>
              <a:rPr lang="es-ES" altLang="es-ES" sz="900" dirty="0" err="1">
                <a:latin typeface="+mn-lt"/>
              </a:rPr>
              <a:t>rupatadine</a:t>
            </a:r>
            <a:r>
              <a:rPr lang="es-ES" altLang="es-ES" sz="900" dirty="0">
                <a:latin typeface="+mn-lt"/>
              </a:rPr>
              <a:t> </a:t>
            </a:r>
            <a:r>
              <a:rPr lang="es-ES" altLang="es-ES" sz="900" dirty="0" err="1">
                <a:latin typeface="+mn-lt"/>
              </a:rPr>
              <a:t>group</a:t>
            </a:r>
            <a:r>
              <a:rPr lang="es-ES" altLang="es-ES" sz="900" dirty="0">
                <a:latin typeface="+mn-lt"/>
              </a:rPr>
              <a:t> </a:t>
            </a:r>
            <a:r>
              <a:rPr lang="es-ES" altLang="es-ES" sz="900" dirty="0" err="1">
                <a:latin typeface="+mn-lt"/>
              </a:rPr>
              <a:t>compared</a:t>
            </a:r>
            <a:r>
              <a:rPr lang="es-ES" altLang="es-ES" sz="900" dirty="0">
                <a:latin typeface="+mn-lt"/>
              </a:rPr>
              <a:t> with 6.8 in the placebo </a:t>
            </a:r>
            <a:r>
              <a:rPr lang="es-ES" altLang="es-ES" sz="900" dirty="0" err="1">
                <a:latin typeface="+mn-lt"/>
              </a:rPr>
              <a:t>group</a:t>
            </a:r>
            <a:r>
              <a:rPr lang="es-ES" altLang="es-ES" sz="900" dirty="0">
                <a:latin typeface="+mn-lt"/>
              </a:rPr>
              <a:t> (p = 0.032; ANOVA).</a:t>
            </a:r>
          </a:p>
          <a:p>
            <a:endParaRPr lang="es-ES" altLang="es-ES" sz="900" b="1" dirty="0">
              <a:latin typeface="+mn-lt"/>
            </a:endParaRPr>
          </a:p>
          <a:p>
            <a:endParaRPr lang="es-ES" altLang="es-ES" sz="900" b="1" dirty="0">
              <a:latin typeface="+mn-lt"/>
            </a:endParaRPr>
          </a:p>
          <a:p>
            <a:r>
              <a:rPr lang="es-ES" altLang="es-ES" sz="900" b="1" dirty="0">
                <a:latin typeface="+mn-lt"/>
              </a:rPr>
              <a:t>Reference</a:t>
            </a:r>
          </a:p>
          <a:p>
            <a:r>
              <a:rPr lang="es-ES" altLang="es-ES" sz="900" dirty="0">
                <a:latin typeface="+mn-lt"/>
              </a:rPr>
              <a:t>Potter P, </a:t>
            </a:r>
            <a:r>
              <a:rPr lang="es-ES" altLang="es-ES" sz="900" dirty="0" err="1">
                <a:latin typeface="+mn-lt"/>
              </a:rPr>
              <a:t>Maspero</a:t>
            </a:r>
            <a:r>
              <a:rPr lang="es-ES" altLang="es-ES" sz="900" dirty="0">
                <a:latin typeface="+mn-lt"/>
              </a:rPr>
              <a:t> JF, </a:t>
            </a:r>
            <a:r>
              <a:rPr lang="es-ES" altLang="es-ES" sz="900" dirty="0" err="1">
                <a:latin typeface="+mn-lt"/>
              </a:rPr>
              <a:t>Vermeulen</a:t>
            </a:r>
            <a:r>
              <a:rPr lang="es-ES" altLang="es-ES" sz="900" dirty="0">
                <a:latin typeface="+mn-lt"/>
              </a:rPr>
              <a:t> J, et al. </a:t>
            </a:r>
            <a:r>
              <a:rPr lang="en-US" altLang="es-ES" sz="900" dirty="0" err="1">
                <a:latin typeface="+mn-lt"/>
              </a:rPr>
              <a:t>Rupatadine</a:t>
            </a:r>
            <a:r>
              <a:rPr lang="en-US" altLang="es-ES" sz="900" dirty="0">
                <a:latin typeface="+mn-lt"/>
              </a:rPr>
              <a:t> oral solution in children with persistent allergic rhinitis: A randomized, double-blind, placebo-controlled study. </a:t>
            </a:r>
            <a:r>
              <a:rPr lang="en-US" altLang="es-ES" sz="900" dirty="0" err="1">
                <a:latin typeface="+mn-lt"/>
              </a:rPr>
              <a:t>Pediatrc</a:t>
            </a:r>
            <a:r>
              <a:rPr lang="en-US" altLang="es-ES" sz="900" dirty="0">
                <a:latin typeface="+mn-lt"/>
              </a:rPr>
              <a:t> Allergy </a:t>
            </a:r>
            <a:r>
              <a:rPr lang="en-US" altLang="es-ES" sz="900" dirty="0" err="1">
                <a:latin typeface="+mn-lt"/>
              </a:rPr>
              <a:t>Immunol</a:t>
            </a:r>
            <a:r>
              <a:rPr lang="en-US" altLang="es-ES" sz="900" dirty="0">
                <a:latin typeface="+mn-lt"/>
              </a:rPr>
              <a:t> </a:t>
            </a:r>
            <a:r>
              <a:rPr lang="es-ES" altLang="es-ES" sz="900" dirty="0">
                <a:latin typeface="+mn-lt"/>
              </a:rPr>
              <a:t>2013;24(2):144-50.</a:t>
            </a:r>
            <a:endParaRPr lang="es-ES_tradnl" sz="900" dirty="0">
              <a:latin typeface="+mn-lt"/>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1150955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11"/>
          <p:cNvSpPr>
            <a:spLocks noGrp="1" noChangeArrowheads="1"/>
          </p:cNvSpPr>
          <p:nvPr>
            <p:ph type="sldNum" sz="quarter"/>
          </p:nvPr>
        </p:nvSpPr>
        <p:spPr>
          <a:noFill/>
        </p:spPr>
        <p:txBody>
          <a:bodyPr/>
          <a:lstStyle/>
          <a:p>
            <a:fld id="{CE200FC5-0623-47F4-8565-3B8AD7ECCE5E}" type="slidenum">
              <a:rPr lang="es-ES_tradnl">
                <a:solidFill>
                  <a:srgbClr val="FFFFFF"/>
                </a:solidFill>
              </a:rPr>
              <a:pPr/>
              <a:t>15</a:t>
            </a:fld>
            <a:endParaRPr lang="es-ES_tradnl">
              <a:solidFill>
                <a:srgbClr val="FFFFFF"/>
              </a:solidFill>
            </a:endParaRPr>
          </a:p>
        </p:txBody>
      </p:sp>
      <p:sp>
        <p:nvSpPr>
          <p:cNvPr id="71683"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a:solidFill>
                <a:srgbClr val="FFFFFF"/>
              </a:solidFill>
              <a:ea typeface="ＭＳ Ｐゴシック" charset="-128"/>
            </a:endParaRPr>
          </a:p>
        </p:txBody>
      </p:sp>
      <p:sp>
        <p:nvSpPr>
          <p:cNvPr id="71684" name="Text Box 2"/>
          <p:cNvSpPr>
            <a:spLocks noGrp="1" noChangeArrowheads="1"/>
          </p:cNvSpPr>
          <p:nvPr>
            <p:ph type="body"/>
          </p:nvPr>
        </p:nvSpPr>
        <p:spPr>
          <a:xfrm>
            <a:off x="992587" y="3229793"/>
            <a:ext cx="7943053" cy="2996064"/>
          </a:xfrm>
          <a:noFill/>
          <a:ln/>
        </p:spPr>
        <p:txBody>
          <a:bodyPr lIns="0" tIns="0" rIns="0" bIns="0"/>
          <a:lstStyle/>
          <a:p>
            <a:r>
              <a:rPr lang="es-ES" altLang="es-ES" sz="900" b="1" dirty="0">
                <a:latin typeface="Arial" pitchFamily="34" charset="0"/>
                <a:ea typeface="ＭＳ Ｐゴシック" charset="-128"/>
              </a:rPr>
              <a:t>Mean </a:t>
            </a:r>
            <a:r>
              <a:rPr lang="es-ES" altLang="es-ES" sz="900" b="1" dirty="0" err="1">
                <a:latin typeface="Arial" pitchFamily="34" charset="0"/>
                <a:ea typeface="ＭＳ Ｐゴシック" charset="-128"/>
              </a:rPr>
              <a:t>reductions</a:t>
            </a:r>
            <a:r>
              <a:rPr lang="es-ES" altLang="es-ES" sz="900" b="1" dirty="0">
                <a:latin typeface="Arial" pitchFamily="34" charset="0"/>
                <a:ea typeface="ＭＳ Ｐゴシック" charset="-128"/>
              </a:rPr>
              <a:t> in </a:t>
            </a:r>
            <a:r>
              <a:rPr lang="es-ES" altLang="es-ES" sz="900" b="1" dirty="0" err="1">
                <a:latin typeface="Arial" pitchFamily="34" charset="0"/>
                <a:ea typeface="ＭＳ Ｐゴシック" charset="-128"/>
              </a:rPr>
              <a:t>daily</a:t>
            </a:r>
            <a:r>
              <a:rPr lang="es-ES" altLang="es-ES" sz="900" b="1" dirty="0">
                <a:latin typeface="Arial" pitchFamily="34" charset="0"/>
                <a:ea typeface="ＭＳ Ｐゴシック" charset="-128"/>
              </a:rPr>
              <a:t> scores </a:t>
            </a:r>
            <a:r>
              <a:rPr lang="es-ES" altLang="es-ES" sz="900" b="1" dirty="0" err="1">
                <a:latin typeface="Arial" pitchFamily="34" charset="0"/>
                <a:ea typeface="ＭＳ Ｐゴシック" charset="-128"/>
              </a:rPr>
              <a:t>for</a:t>
            </a:r>
            <a:r>
              <a:rPr lang="es-ES" altLang="es-ES" sz="900" b="1" dirty="0">
                <a:latin typeface="Arial" pitchFamily="34" charset="0"/>
                <a:ea typeface="ＭＳ Ｐゴシック" charset="-128"/>
              </a:rPr>
              <a:t> individual </a:t>
            </a:r>
            <a:r>
              <a:rPr lang="es-ES" altLang="es-ES" sz="900" b="1" dirty="0" err="1">
                <a:latin typeface="Arial" pitchFamily="34" charset="0"/>
                <a:ea typeface="ＭＳ Ｐゴシック" charset="-128"/>
              </a:rPr>
              <a:t>symptoms</a:t>
            </a:r>
            <a:r>
              <a:rPr lang="es-ES" altLang="es-ES" sz="900" b="1" dirty="0">
                <a:latin typeface="Arial" pitchFamily="34" charset="0"/>
                <a:ea typeface="ＭＳ Ｐゴシック" charset="-128"/>
              </a:rPr>
              <a:t> </a:t>
            </a:r>
            <a:r>
              <a:rPr lang="es-ES" altLang="es-ES" sz="900" b="1" dirty="0" err="1">
                <a:latin typeface="Arial" pitchFamily="34" charset="0"/>
                <a:ea typeface="ＭＳ Ｐゴシック" charset="-128"/>
              </a:rPr>
              <a:t>were</a:t>
            </a:r>
            <a:r>
              <a:rPr lang="es-ES" altLang="es-ES" sz="900" b="1" dirty="0">
                <a:latin typeface="Arial" pitchFamily="34" charset="0"/>
                <a:ea typeface="ＭＳ Ｐゴシック" charset="-128"/>
              </a:rPr>
              <a:t> </a:t>
            </a:r>
            <a:r>
              <a:rPr lang="es-ES" altLang="es-ES" sz="900" b="1" dirty="0" err="1">
                <a:latin typeface="Arial" pitchFamily="34" charset="0"/>
                <a:ea typeface="ＭＳ Ｐゴシック" charset="-128"/>
              </a:rPr>
              <a:t>markedly</a:t>
            </a:r>
            <a:r>
              <a:rPr lang="es-ES" altLang="es-ES" sz="900" b="1" dirty="0">
                <a:latin typeface="Arial" pitchFamily="34" charset="0"/>
                <a:ea typeface="ＭＳ Ｐゴシック" charset="-128"/>
              </a:rPr>
              <a:t> </a:t>
            </a:r>
            <a:r>
              <a:rPr lang="es-ES" altLang="es-ES" sz="900" b="1" dirty="0" err="1">
                <a:latin typeface="Arial" pitchFamily="34" charset="0"/>
                <a:ea typeface="ＭＳ Ｐゴシック" charset="-128"/>
              </a:rPr>
              <a:t>greater</a:t>
            </a:r>
            <a:r>
              <a:rPr lang="es-ES" altLang="es-ES" sz="900" b="1" dirty="0">
                <a:latin typeface="Arial" pitchFamily="34" charset="0"/>
                <a:ea typeface="ＭＳ Ｐゴシック" charset="-128"/>
              </a:rPr>
              <a:t> with </a:t>
            </a:r>
            <a:r>
              <a:rPr lang="es-ES" altLang="es-ES" sz="900" b="1" dirty="0" err="1">
                <a:latin typeface="Arial" pitchFamily="34" charset="0"/>
                <a:ea typeface="ＭＳ Ｐゴシック" charset="-128"/>
              </a:rPr>
              <a:t>rupatadine</a:t>
            </a:r>
            <a:r>
              <a:rPr lang="es-ES" altLang="es-ES" sz="900" b="1" dirty="0">
                <a:latin typeface="Arial" pitchFamily="34" charset="0"/>
                <a:ea typeface="ＭＳ Ｐゴシック" charset="-128"/>
              </a:rPr>
              <a:t> </a:t>
            </a:r>
            <a:r>
              <a:rPr lang="es-ES" altLang="es-ES" sz="900" b="1" dirty="0" err="1">
                <a:latin typeface="Arial" pitchFamily="34" charset="0"/>
                <a:ea typeface="ＭＳ Ｐゴシック" charset="-128"/>
              </a:rPr>
              <a:t>compared</a:t>
            </a:r>
            <a:r>
              <a:rPr lang="es-ES" altLang="es-ES" sz="900" b="1" dirty="0">
                <a:latin typeface="Arial" pitchFamily="34" charset="0"/>
                <a:ea typeface="ＭＳ Ｐゴシック" charset="-128"/>
              </a:rPr>
              <a:t> </a:t>
            </a:r>
            <a:r>
              <a:rPr lang="es-ES" altLang="es-ES" sz="900" b="1" dirty="0" err="1">
                <a:latin typeface="Arial" pitchFamily="34" charset="0"/>
                <a:ea typeface="ＭＳ Ｐゴシック" charset="-128"/>
              </a:rPr>
              <a:t>with</a:t>
            </a:r>
            <a:r>
              <a:rPr lang="es-ES" altLang="es-ES" sz="900" b="1" dirty="0">
                <a:latin typeface="Arial" pitchFamily="34" charset="0"/>
                <a:ea typeface="ＭＳ Ｐゴシック" charset="-128"/>
              </a:rPr>
              <a:t> placebo </a:t>
            </a:r>
            <a:r>
              <a:rPr lang="es-ES" altLang="es-ES" sz="900" dirty="0">
                <a:latin typeface="Arial" pitchFamily="34" charset="0"/>
                <a:ea typeface="ＭＳ Ｐゴシック" charset="-128"/>
              </a:rPr>
              <a:t>from </a:t>
            </a:r>
            <a:r>
              <a:rPr lang="es-ES" altLang="es-ES" sz="900" dirty="0" err="1">
                <a:latin typeface="Arial" pitchFamily="34" charset="0"/>
                <a:ea typeface="ＭＳ Ｐゴシック" charset="-128"/>
              </a:rPr>
              <a:t>baseline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to</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week</a:t>
            </a:r>
            <a:r>
              <a:rPr lang="es-ES" altLang="es-ES" sz="900" dirty="0">
                <a:latin typeface="Arial" pitchFamily="34" charset="0"/>
                <a:ea typeface="ＭＳ Ｐゴシック" charset="-128"/>
              </a:rPr>
              <a:t> 6. After 6 </a:t>
            </a:r>
            <a:r>
              <a:rPr lang="es-ES" altLang="es-ES" sz="900" dirty="0" err="1">
                <a:latin typeface="Arial" pitchFamily="34" charset="0"/>
                <a:ea typeface="ＭＳ Ｐゴシック" charset="-128"/>
              </a:rPr>
              <a:t>weeks</a:t>
            </a:r>
            <a:r>
              <a:rPr lang="es-ES" altLang="es-ES" sz="900" dirty="0">
                <a:latin typeface="Arial" pitchFamily="34" charset="0"/>
                <a:ea typeface="ＭＳ Ｐゴシック" charset="-128"/>
              </a:rPr>
              <a:t> of </a:t>
            </a:r>
            <a:r>
              <a:rPr lang="es-ES" altLang="es-ES" sz="900" dirty="0" err="1">
                <a:latin typeface="Arial" pitchFamily="34" charset="0"/>
                <a:ea typeface="ＭＳ Ｐゴシック" charset="-128"/>
              </a:rPr>
              <a:t>treatment</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statistically</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significant</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differences</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between</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rupatadine</a:t>
            </a:r>
            <a:r>
              <a:rPr lang="es-ES" altLang="es-ES" sz="900" dirty="0">
                <a:latin typeface="Arial" pitchFamily="34" charset="0"/>
                <a:ea typeface="ＭＳ Ｐゴシック" charset="-128"/>
              </a:rPr>
              <a:t> and placebo </a:t>
            </a:r>
            <a:r>
              <a:rPr lang="es-ES" altLang="es-ES" sz="900" dirty="0" err="1">
                <a:latin typeface="Arial" pitchFamily="34" charset="0"/>
                <a:ea typeface="ＭＳ Ｐゴシック" charset="-128"/>
              </a:rPr>
              <a:t>were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seen</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for</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runny</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nose</a:t>
            </a:r>
            <a:r>
              <a:rPr lang="es-ES" altLang="es-ES" sz="900" dirty="0">
                <a:latin typeface="Arial" pitchFamily="34" charset="0"/>
                <a:ea typeface="ＭＳ Ｐゴシック" charset="-128"/>
              </a:rPr>
              <a:t>” (p = 0.023) and “</a:t>
            </a:r>
            <a:r>
              <a:rPr lang="es-ES" altLang="es-ES" sz="900" dirty="0" err="1">
                <a:latin typeface="Arial" pitchFamily="34" charset="0"/>
                <a:ea typeface="ＭＳ Ｐゴシック" charset="-128"/>
              </a:rPr>
              <a:t>itchy</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nose</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mouth</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throat</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and</a:t>
            </a:r>
            <a:r>
              <a:rPr lang="es-ES" altLang="es-ES" sz="900" dirty="0">
                <a:latin typeface="Arial" pitchFamily="34" charset="0"/>
                <a:ea typeface="ＭＳ Ｐゴシック" charset="-128"/>
              </a:rPr>
              <a:t>/</a:t>
            </a:r>
            <a:r>
              <a:rPr lang="es-ES" altLang="es-ES" sz="900" dirty="0" err="1">
                <a:latin typeface="Arial" pitchFamily="34" charset="0"/>
                <a:ea typeface="ＭＳ Ｐゴシック" charset="-128"/>
              </a:rPr>
              <a:t>or</a:t>
            </a:r>
            <a:r>
              <a:rPr lang="es-ES" altLang="es-ES" sz="900" dirty="0">
                <a:latin typeface="Arial" pitchFamily="34" charset="0"/>
                <a:ea typeface="ＭＳ Ｐゴシック" charset="-128"/>
              </a:rPr>
              <a:t> </a:t>
            </a:r>
            <a:r>
              <a:rPr lang="es-ES" altLang="es-ES" sz="900" dirty="0" err="1">
                <a:latin typeface="Arial" pitchFamily="34" charset="0"/>
                <a:ea typeface="ＭＳ Ｐゴシック" charset="-128"/>
              </a:rPr>
              <a:t>ears</a:t>
            </a:r>
            <a:r>
              <a:rPr lang="es-ES" altLang="es-ES" sz="900" dirty="0">
                <a:latin typeface="Arial" pitchFamily="34" charset="0"/>
                <a:ea typeface="ＭＳ Ｐゴシック" charset="-128"/>
              </a:rPr>
              <a:t>” (p = 0.04).</a:t>
            </a:r>
          </a:p>
          <a:p>
            <a:endParaRPr lang="es-ES" altLang="es-ES" sz="900" b="1" dirty="0">
              <a:latin typeface="Arial" pitchFamily="34" charset="0"/>
              <a:ea typeface="ＭＳ Ｐゴシック" charset="-128"/>
            </a:endParaRPr>
          </a:p>
          <a:p>
            <a:endParaRPr lang="es-ES" altLang="es-ES" sz="900" b="1" dirty="0">
              <a:latin typeface="Arial" pitchFamily="34" charset="0"/>
              <a:ea typeface="ＭＳ Ｐゴシック" charset="-128"/>
            </a:endParaRPr>
          </a:p>
          <a:p>
            <a:r>
              <a:rPr lang="es-ES" altLang="es-ES" sz="900" b="1" dirty="0">
                <a:latin typeface="Arial" pitchFamily="34" charset="0"/>
                <a:ea typeface="ＭＳ Ｐゴシック" charset="-128"/>
              </a:rPr>
              <a:t>Reference</a:t>
            </a:r>
          </a:p>
          <a:p>
            <a:r>
              <a:rPr lang="es-ES" altLang="es-ES" sz="900" dirty="0">
                <a:latin typeface="Arial" pitchFamily="34" charset="0"/>
                <a:ea typeface="ＭＳ Ｐゴシック" charset="-128"/>
              </a:rPr>
              <a:t>Potter P, </a:t>
            </a:r>
            <a:r>
              <a:rPr lang="es-ES" altLang="es-ES" sz="900" dirty="0" err="1">
                <a:latin typeface="Arial" pitchFamily="34" charset="0"/>
                <a:ea typeface="ＭＳ Ｐゴシック" charset="-128"/>
              </a:rPr>
              <a:t>Maspero</a:t>
            </a:r>
            <a:r>
              <a:rPr lang="es-ES" altLang="es-ES" sz="900" dirty="0">
                <a:latin typeface="Arial" pitchFamily="34" charset="0"/>
                <a:ea typeface="ＭＳ Ｐゴシック" charset="-128"/>
              </a:rPr>
              <a:t> JF, </a:t>
            </a:r>
            <a:r>
              <a:rPr lang="es-ES" altLang="es-ES" sz="900" dirty="0" err="1">
                <a:latin typeface="Arial" pitchFamily="34" charset="0"/>
                <a:ea typeface="ＭＳ Ｐゴシック" charset="-128"/>
              </a:rPr>
              <a:t>Vermeulen</a:t>
            </a:r>
            <a:r>
              <a:rPr lang="es-ES" altLang="es-ES" sz="900" dirty="0">
                <a:latin typeface="Arial" pitchFamily="34" charset="0"/>
                <a:ea typeface="ＭＳ Ｐゴシック" charset="-128"/>
              </a:rPr>
              <a:t> J, et al. </a:t>
            </a:r>
            <a:r>
              <a:rPr lang="en-US" altLang="es-ES" sz="900" dirty="0" err="1">
                <a:ea typeface="ＭＳ Ｐゴシック" charset="-128"/>
              </a:rPr>
              <a:t>Rupatadine</a:t>
            </a:r>
            <a:r>
              <a:rPr lang="en-US" altLang="es-ES" sz="900" dirty="0">
                <a:ea typeface="ＭＳ Ｐゴシック" charset="-128"/>
              </a:rPr>
              <a:t> oral solution in children with persistent allergic rhinitis: A randomized, double-blind, placebo-controlled study. </a:t>
            </a:r>
            <a:r>
              <a:rPr lang="en-US" altLang="es-ES" sz="900" dirty="0" err="1">
                <a:ea typeface="ＭＳ Ｐゴシック" charset="-128"/>
              </a:rPr>
              <a:t>Pediatrc</a:t>
            </a:r>
            <a:r>
              <a:rPr lang="en-US" altLang="es-ES" sz="900" dirty="0">
                <a:ea typeface="ＭＳ Ｐゴシック" charset="-128"/>
              </a:rPr>
              <a:t> Allergy </a:t>
            </a:r>
            <a:r>
              <a:rPr lang="en-US" altLang="es-ES" sz="900" dirty="0" err="1">
                <a:ea typeface="ＭＳ Ｐゴシック" charset="-128"/>
              </a:rPr>
              <a:t>Immunol</a:t>
            </a:r>
            <a:r>
              <a:rPr lang="en-US" altLang="es-ES" sz="900" dirty="0">
                <a:ea typeface="ＭＳ Ｐゴシック" charset="-128"/>
              </a:rPr>
              <a:t> </a:t>
            </a:r>
            <a:r>
              <a:rPr lang="es-ES" altLang="es-ES" sz="900" dirty="0">
                <a:ea typeface="ＭＳ Ｐゴシック" charset="-128"/>
              </a:rPr>
              <a:t>2013;24(2):144-50.</a:t>
            </a:r>
            <a:endParaRPr lang="es-ES_tradnl" sz="900" dirty="0">
              <a:latin typeface="Arial" pitchFamily="34" charset="0"/>
              <a:ea typeface="ＭＳ Ｐゴシック" charset="-128"/>
            </a:endParaRPr>
          </a:p>
        </p:txBody>
      </p:sp>
      <p:sp>
        <p:nvSpPr>
          <p:cNvPr id="71685"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3135159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Rot="1" noChangeAspect="1" noTextEdit="1"/>
          </p:cNvSpPr>
          <p:nvPr>
            <p:ph type="sldImg"/>
          </p:nvPr>
        </p:nvSpPr>
        <p:spPr>
          <a:ln/>
        </p:spPr>
      </p:sp>
      <p:sp>
        <p:nvSpPr>
          <p:cNvPr id="76802" name="Rectangle 3"/>
          <p:cNvSpPr>
            <a:spLocks noGrp="1"/>
          </p:cNvSpPr>
          <p:nvPr>
            <p:ph type="body" idx="1"/>
          </p:nvPr>
        </p:nvSpPr>
        <p:spPr>
          <a:noFill/>
          <a:ln/>
        </p:spPr>
        <p:txBody>
          <a:bodyPr/>
          <a:lstStyle/>
          <a:p>
            <a:r>
              <a:rPr lang="es-ES" altLang="es-ES" dirty="0" err="1">
                <a:latin typeface="Arial" pitchFamily="34" charset="0"/>
                <a:ea typeface="ＭＳ Ｐゴシック" charset="-128"/>
              </a:rPr>
              <a:t>Differences</a:t>
            </a:r>
            <a:r>
              <a:rPr lang="es-ES" altLang="es-ES" dirty="0">
                <a:latin typeface="Arial" pitchFamily="34" charset="0"/>
                <a:ea typeface="ＭＳ Ｐゴシック" charset="-128"/>
              </a:rPr>
              <a:t> after 6 </a:t>
            </a:r>
            <a:r>
              <a:rPr lang="es-ES" altLang="es-ES" dirty="0" err="1">
                <a:latin typeface="Arial" pitchFamily="34" charset="0"/>
                <a:ea typeface="ＭＳ Ｐゴシック" charset="-128"/>
              </a:rPr>
              <a:t>weeks</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treatment</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between</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rupatadine</a:t>
            </a:r>
            <a:r>
              <a:rPr lang="es-ES" altLang="es-ES" dirty="0">
                <a:latin typeface="Arial" pitchFamily="34" charset="0"/>
                <a:ea typeface="ＭＳ Ｐゴシック" charset="-128"/>
              </a:rPr>
              <a:t> and placebo in individual </a:t>
            </a:r>
            <a:r>
              <a:rPr lang="es-ES" altLang="es-ES" dirty="0" err="1">
                <a:latin typeface="Arial" pitchFamily="34" charset="0"/>
                <a:ea typeface="ＭＳ Ｐゴシック" charset="-128"/>
              </a:rPr>
              <a:t>symptoms</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were</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also</a:t>
            </a:r>
            <a:r>
              <a:rPr lang="es-ES" altLang="es-ES" dirty="0">
                <a:latin typeface="Arial" pitchFamily="34" charset="0"/>
                <a:ea typeface="ＭＳ Ｐゴシック" charset="-128"/>
              </a:rPr>
              <a:t> more </a:t>
            </a:r>
            <a:r>
              <a:rPr lang="es-ES" altLang="es-ES" dirty="0" err="1">
                <a:latin typeface="Arial" pitchFamily="34" charset="0"/>
                <a:ea typeface="ＭＳ Ｐゴシック" charset="-128"/>
              </a:rPr>
              <a:t>marked</a:t>
            </a:r>
            <a:r>
              <a:rPr lang="es-ES" altLang="es-ES" dirty="0">
                <a:latin typeface="Arial" pitchFamily="34" charset="0"/>
                <a:ea typeface="ＭＳ Ｐゴシック" charset="-128"/>
              </a:rPr>
              <a:t> in the </a:t>
            </a:r>
            <a:r>
              <a:rPr lang="es-ES" altLang="es-ES" dirty="0" err="1">
                <a:latin typeface="Arial" pitchFamily="34" charset="0"/>
                <a:ea typeface="ＭＳ Ｐゴシック" charset="-128"/>
              </a:rPr>
              <a:t>subgroup</a:t>
            </a:r>
            <a:r>
              <a:rPr lang="es-ES" altLang="es-ES" dirty="0">
                <a:latin typeface="Arial" pitchFamily="34" charset="0"/>
                <a:ea typeface="ＭＳ Ｐゴシック" charset="-128"/>
              </a:rPr>
              <a:t> of </a:t>
            </a:r>
            <a:r>
              <a:rPr lang="es-ES" altLang="es-ES" dirty="0" err="1">
                <a:latin typeface="Arial" pitchFamily="34" charset="0"/>
                <a:ea typeface="ＭＳ Ｐゴシック" charset="-128"/>
              </a:rPr>
              <a:t>children</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weighing</a:t>
            </a:r>
            <a:r>
              <a:rPr lang="es-ES" altLang="es-ES" dirty="0">
                <a:latin typeface="Arial" pitchFamily="34" charset="0"/>
                <a:ea typeface="ＭＳ Ｐゴシック" charset="-128"/>
              </a:rPr>
              <a:t> ≥ 25 kg </a:t>
            </a:r>
            <a:r>
              <a:rPr lang="es-ES" altLang="es-ES" dirty="0" err="1">
                <a:latin typeface="Arial" pitchFamily="34" charset="0"/>
                <a:ea typeface="ＭＳ Ｐゴシック" charset="-128"/>
              </a:rPr>
              <a:t>then</a:t>
            </a:r>
            <a:r>
              <a:rPr lang="es-ES" altLang="es-ES" dirty="0">
                <a:latin typeface="Arial" pitchFamily="34" charset="0"/>
                <a:ea typeface="ＭＳ Ｐゴシック" charset="-128"/>
              </a:rPr>
              <a:t> in the total study </a:t>
            </a:r>
            <a:r>
              <a:rPr lang="es-ES" altLang="es-ES" dirty="0" err="1">
                <a:latin typeface="Arial" pitchFamily="34" charset="0"/>
                <a:ea typeface="ＭＳ Ｐゴシック" charset="-128"/>
              </a:rPr>
              <a:t>population</a:t>
            </a:r>
            <a:r>
              <a:rPr lang="es-ES" altLang="es-ES" dirty="0">
                <a:latin typeface="Arial" pitchFamily="34" charset="0"/>
                <a:ea typeface="ＭＳ Ｐゴシック" charset="-128"/>
              </a:rPr>
              <a:t>.</a:t>
            </a:r>
          </a:p>
          <a:p>
            <a:endParaRPr lang="es-ES" altLang="es-ES" dirty="0">
              <a:latin typeface="Arial" pitchFamily="34" charset="0"/>
              <a:ea typeface="ＭＳ Ｐゴシック" charset="-128"/>
            </a:endParaRPr>
          </a:p>
          <a:p>
            <a:r>
              <a:rPr lang="es-ES" altLang="es-ES" dirty="0">
                <a:latin typeface="Arial" pitchFamily="34" charset="0"/>
                <a:ea typeface="ＭＳ Ｐゴシック" charset="-128"/>
              </a:rPr>
              <a:t>The </a:t>
            </a:r>
            <a:r>
              <a:rPr lang="es-ES" altLang="es-ES" dirty="0" err="1">
                <a:latin typeface="Arial" pitchFamily="34" charset="0"/>
                <a:ea typeface="ＭＳ Ｐゴシック" charset="-128"/>
              </a:rPr>
              <a:t>most</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significant</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reductions</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were</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seen</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for</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sneezing</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itchy</a:t>
            </a:r>
            <a:r>
              <a:rPr lang="es-ES" altLang="es-ES" baseline="0" dirty="0">
                <a:latin typeface="Arial" pitchFamily="34" charset="0"/>
                <a:ea typeface="ＭＳ Ｐゴシック" charset="-128"/>
              </a:rPr>
              <a:t> and red </a:t>
            </a:r>
            <a:r>
              <a:rPr lang="es-ES" altLang="es-ES" baseline="0" dirty="0" err="1">
                <a:latin typeface="Arial" pitchFamily="34" charset="0"/>
                <a:ea typeface="ＭＳ Ｐゴシック" charset="-128"/>
              </a:rPr>
              <a:t>eyes</a:t>
            </a:r>
            <a:r>
              <a:rPr lang="es-ES" altLang="es-ES" baseline="0" dirty="0">
                <a:latin typeface="Arial" pitchFamily="34" charset="0"/>
                <a:ea typeface="ＭＳ Ｐゴシック" charset="-128"/>
              </a:rPr>
              <a:t>, and </a:t>
            </a:r>
            <a:r>
              <a:rPr lang="es-ES" altLang="es-ES" baseline="0" dirty="0" err="1">
                <a:latin typeface="Arial" pitchFamily="34" charset="0"/>
                <a:ea typeface="ＭＳ Ｐゴシック" charset="-128"/>
              </a:rPr>
              <a:t>for</a:t>
            </a:r>
            <a:r>
              <a:rPr lang="es-ES" altLang="es-ES" baseline="0" dirty="0">
                <a:latin typeface="Arial" pitchFamily="34" charset="0"/>
                <a:ea typeface="ＭＳ Ｐゴシック" charset="-128"/>
              </a:rPr>
              <a:t> nasal </a:t>
            </a:r>
            <a:r>
              <a:rPr lang="es-ES" altLang="es-ES" baseline="0" dirty="0" err="1">
                <a:latin typeface="Arial" pitchFamily="34" charset="0"/>
                <a:ea typeface="ＭＳ Ｐゴシック" charset="-128"/>
              </a:rPr>
              <a:t>congestion</a:t>
            </a:r>
            <a:r>
              <a:rPr lang="es-ES" altLang="es-ES" baseline="0" dirty="0">
                <a:latin typeface="Arial" pitchFamily="34" charset="0"/>
                <a:ea typeface="ＭＳ Ｐゴシック" charset="-128"/>
              </a:rPr>
              <a:t>.</a:t>
            </a:r>
          </a:p>
          <a:p>
            <a:endParaRPr lang="es-ES" altLang="es-ES" dirty="0">
              <a:latin typeface="Arial" pitchFamily="34" charset="0"/>
              <a:ea typeface="ＭＳ Ｐゴシック" charset="-128"/>
            </a:endParaRPr>
          </a:p>
          <a:p>
            <a:r>
              <a:rPr lang="es-ES" altLang="es-ES" dirty="0">
                <a:latin typeface="Arial" pitchFamily="34" charset="0"/>
                <a:ea typeface="ＭＳ Ｐゴシック" charset="-128"/>
              </a:rPr>
              <a:t>This </a:t>
            </a:r>
            <a:r>
              <a:rPr lang="es-ES" altLang="es-ES" dirty="0" err="1">
                <a:latin typeface="Arial" pitchFamily="34" charset="0"/>
                <a:ea typeface="ＭＳ Ｐゴシック" charset="-128"/>
              </a:rPr>
              <a:t>slide</a:t>
            </a:r>
            <a:r>
              <a:rPr lang="es-ES" altLang="es-ES" dirty="0">
                <a:latin typeface="Arial" pitchFamily="34" charset="0"/>
                <a:ea typeface="ＭＳ Ｐゴシック" charset="-128"/>
              </a:rPr>
              <a:t> shows mean </a:t>
            </a:r>
            <a:r>
              <a:rPr lang="es-ES" altLang="es-ES" dirty="0" err="1">
                <a:latin typeface="Arial" pitchFamily="34" charset="0"/>
                <a:ea typeface="ＭＳ Ｐゴシック" charset="-128"/>
              </a:rPr>
              <a:t>reductions</a:t>
            </a:r>
            <a:r>
              <a:rPr lang="es-ES" altLang="es-ES" dirty="0">
                <a:latin typeface="Arial" pitchFamily="34" charset="0"/>
                <a:ea typeface="ＭＳ Ｐゴシック" charset="-128"/>
              </a:rPr>
              <a:t> from </a:t>
            </a:r>
            <a:r>
              <a:rPr lang="es-ES" altLang="es-ES" dirty="0" err="1">
                <a:latin typeface="Arial" pitchFamily="34" charset="0"/>
                <a:ea typeface="ＭＳ Ｐゴシック" charset="-128"/>
              </a:rPr>
              <a:t>baseline</a:t>
            </a:r>
            <a:r>
              <a:rPr lang="es-ES" altLang="es-ES" dirty="0">
                <a:latin typeface="Arial" pitchFamily="34" charset="0"/>
                <a:ea typeface="ＭＳ Ｐゴシック" charset="-128"/>
              </a:rPr>
              <a:t> in </a:t>
            </a:r>
            <a:r>
              <a:rPr lang="es-ES" altLang="es-ES" dirty="0" err="1">
                <a:latin typeface="Arial" pitchFamily="34" charset="0"/>
                <a:ea typeface="ＭＳ Ｐゴシック" charset="-128"/>
              </a:rPr>
              <a:t>daily</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symptom</a:t>
            </a:r>
            <a:r>
              <a:rPr lang="es-ES" altLang="es-ES" dirty="0">
                <a:latin typeface="Arial" pitchFamily="34" charset="0"/>
                <a:ea typeface="ＭＳ Ｐゴシック" charset="-128"/>
              </a:rPr>
              <a:t> score </a:t>
            </a:r>
            <a:r>
              <a:rPr lang="es-ES" altLang="es-ES" dirty="0" err="1">
                <a:latin typeface="Arial" pitchFamily="34" charset="0"/>
                <a:ea typeface="ＭＳ Ｐゴシック" charset="-128"/>
              </a:rPr>
              <a:t>for</a:t>
            </a:r>
            <a:r>
              <a:rPr lang="es-ES" altLang="es-ES" dirty="0">
                <a:latin typeface="Arial" pitchFamily="34" charset="0"/>
                <a:ea typeface="ＭＳ Ｐゴシック" charset="-128"/>
              </a:rPr>
              <a:t> individual </a:t>
            </a:r>
            <a:r>
              <a:rPr lang="es-ES" altLang="es-ES" dirty="0" err="1">
                <a:latin typeface="Arial" pitchFamily="34" charset="0"/>
                <a:ea typeface="ＭＳ Ｐゴシック" charset="-128"/>
              </a:rPr>
              <a:t>symptoms</a:t>
            </a:r>
            <a:r>
              <a:rPr lang="es-ES" altLang="es-ES" dirty="0">
                <a:latin typeface="Arial" pitchFamily="34" charset="0"/>
                <a:ea typeface="ＭＳ Ｐゴシック" charset="-128"/>
              </a:rPr>
              <a:t> with </a:t>
            </a:r>
            <a:r>
              <a:rPr lang="es-ES" altLang="es-ES" dirty="0" err="1">
                <a:latin typeface="Arial" pitchFamily="34" charset="0"/>
                <a:ea typeface="ＭＳ Ｐゴシック" charset="-128"/>
              </a:rPr>
              <a:t>rupatadine</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or</a:t>
            </a:r>
            <a:r>
              <a:rPr lang="es-ES" altLang="es-ES" dirty="0">
                <a:latin typeface="Arial" pitchFamily="34" charset="0"/>
                <a:ea typeface="ＭＳ Ｐゴシック" charset="-128"/>
              </a:rPr>
              <a:t> placebo </a:t>
            </a:r>
            <a:r>
              <a:rPr lang="es-ES" altLang="es-ES" dirty="0" err="1">
                <a:latin typeface="Arial" pitchFamily="34" charset="0"/>
                <a:ea typeface="ＭＳ Ｐゴシック" charset="-128"/>
              </a:rPr>
              <a:t>for</a:t>
            </a:r>
            <a:r>
              <a:rPr lang="es-ES" altLang="es-ES" dirty="0">
                <a:latin typeface="Arial" pitchFamily="34" charset="0"/>
                <a:ea typeface="ＭＳ Ｐゴシック" charset="-128"/>
              </a:rPr>
              <a:t> 6 </a:t>
            </a:r>
            <a:r>
              <a:rPr lang="es-ES" altLang="es-ES" dirty="0" err="1">
                <a:latin typeface="Arial" pitchFamily="34" charset="0"/>
                <a:ea typeface="ＭＳ Ｐゴシック" charset="-128"/>
              </a:rPr>
              <a:t>weeks</a:t>
            </a:r>
            <a:r>
              <a:rPr lang="es-ES" altLang="es-ES" dirty="0">
                <a:latin typeface="Arial" pitchFamily="34" charset="0"/>
                <a:ea typeface="ＭＳ Ｐゴシック" charset="-128"/>
              </a:rPr>
              <a:t> in </a:t>
            </a:r>
            <a:r>
              <a:rPr lang="es-ES" altLang="es-ES" dirty="0" err="1">
                <a:latin typeface="Arial" pitchFamily="34" charset="0"/>
                <a:ea typeface="ＭＳ Ｐゴシック" charset="-128"/>
              </a:rPr>
              <a:t>children</a:t>
            </a:r>
            <a:r>
              <a:rPr lang="es-ES" altLang="es-ES" dirty="0">
                <a:latin typeface="Arial" pitchFamily="34" charset="0"/>
                <a:ea typeface="ＭＳ Ｐゴシック" charset="-128"/>
              </a:rPr>
              <a:t> with </a:t>
            </a:r>
            <a:r>
              <a:rPr lang="es-ES" altLang="es-ES" dirty="0" err="1">
                <a:latin typeface="Arial" pitchFamily="34" charset="0"/>
                <a:ea typeface="ＭＳ Ｐゴシック" charset="-128"/>
              </a:rPr>
              <a:t>persistent</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allergic</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rhinitis</a:t>
            </a:r>
            <a:r>
              <a:rPr lang="es-ES" altLang="es-ES" dirty="0">
                <a:latin typeface="Arial" pitchFamily="34" charset="0"/>
                <a:ea typeface="ＭＳ Ｐゴシック" charset="-128"/>
              </a:rPr>
              <a:t> and </a:t>
            </a:r>
            <a:r>
              <a:rPr lang="es-ES" altLang="es-ES" dirty="0" err="1">
                <a:latin typeface="Arial" pitchFamily="34" charset="0"/>
                <a:ea typeface="ＭＳ Ｐゴシック" charset="-128"/>
              </a:rPr>
              <a:t>bodyweight</a:t>
            </a:r>
            <a:r>
              <a:rPr lang="es-ES" altLang="es-ES" dirty="0">
                <a:latin typeface="Arial" pitchFamily="34" charset="0"/>
                <a:ea typeface="ＭＳ Ｐゴシック" charset="-128"/>
              </a:rPr>
              <a:t> ≥ 25 kg. </a:t>
            </a:r>
          </a:p>
          <a:p>
            <a:r>
              <a:rPr lang="es-ES" altLang="es-ES" dirty="0" err="1">
                <a:latin typeface="Arial" pitchFamily="34" charset="0"/>
                <a:ea typeface="ＭＳ Ｐゴシック" charset="-128"/>
              </a:rPr>
              <a:t>Statistical</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significance</a:t>
            </a:r>
            <a:r>
              <a:rPr lang="es-ES" altLang="es-ES" dirty="0">
                <a:latin typeface="Arial" pitchFamily="34" charset="0"/>
                <a:ea typeface="ＭＳ Ｐゴシック" charset="-128"/>
              </a:rPr>
              <a:t>: *p &lt; 0.05; **p &lt; 0.01 </a:t>
            </a:r>
            <a:r>
              <a:rPr lang="es-ES" altLang="es-ES" dirty="0" err="1">
                <a:latin typeface="Arial" pitchFamily="34" charset="0"/>
                <a:ea typeface="ＭＳ Ｐゴシック" charset="-128"/>
              </a:rPr>
              <a:t>for</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rupatadine</a:t>
            </a:r>
            <a:r>
              <a:rPr lang="es-ES" altLang="es-ES" dirty="0">
                <a:latin typeface="Arial" pitchFamily="34" charset="0"/>
                <a:ea typeface="ＭＳ Ｐゴシック" charset="-128"/>
              </a:rPr>
              <a:t> vs placebo.</a:t>
            </a:r>
          </a:p>
          <a:p>
            <a:endParaRPr lang="es-ES" altLang="es-ES" b="1" dirty="0">
              <a:latin typeface="Arial" pitchFamily="34" charset="0"/>
              <a:ea typeface="ＭＳ Ｐゴシック" charset="-128"/>
            </a:endParaRPr>
          </a:p>
          <a:p>
            <a:endParaRPr lang="es-ES" altLang="es-ES" b="1" dirty="0">
              <a:latin typeface="Arial" pitchFamily="34" charset="0"/>
              <a:ea typeface="ＭＳ Ｐゴシック" charset="-128"/>
            </a:endParaRPr>
          </a:p>
          <a:p>
            <a:r>
              <a:rPr lang="es-ES" altLang="es-ES" b="1" dirty="0">
                <a:latin typeface="Arial" pitchFamily="34" charset="0"/>
                <a:ea typeface="ＭＳ Ｐゴシック" charset="-128"/>
              </a:rPr>
              <a:t>Reference</a:t>
            </a:r>
          </a:p>
          <a:p>
            <a:r>
              <a:rPr lang="es-ES" altLang="es-ES" dirty="0">
                <a:ea typeface="ＭＳ Ｐゴシック" charset="-128"/>
              </a:rPr>
              <a:t>Izquierdo I, Potter P, </a:t>
            </a:r>
            <a:r>
              <a:rPr lang="es-ES" altLang="es-ES" dirty="0" err="1">
                <a:ea typeface="ＭＳ Ｐゴシック" charset="-128"/>
              </a:rPr>
              <a:t>Maspero</a:t>
            </a:r>
            <a:r>
              <a:rPr lang="es-ES" altLang="es-ES" dirty="0">
                <a:ea typeface="ＭＳ Ｐゴシック" charset="-128"/>
              </a:rPr>
              <a:t> J, </a:t>
            </a:r>
            <a:r>
              <a:rPr lang="es-ES" altLang="es-ES" dirty="0" err="1">
                <a:ea typeface="ＭＳ Ｐゴシック" charset="-128"/>
              </a:rPr>
              <a:t>Vermeulen</a:t>
            </a:r>
            <a:r>
              <a:rPr lang="es-ES" altLang="es-ES" dirty="0">
                <a:ea typeface="ＭＳ Ｐゴシック" charset="-128"/>
              </a:rPr>
              <a:t> J, </a:t>
            </a:r>
            <a:r>
              <a:rPr lang="es-ES" altLang="es-ES" dirty="0" err="1">
                <a:ea typeface="ＭＳ Ｐゴシック" charset="-128"/>
              </a:rPr>
              <a:t>Barkai</a:t>
            </a:r>
            <a:r>
              <a:rPr lang="es-ES" altLang="es-ES" dirty="0">
                <a:ea typeface="ＭＳ Ｐゴシック" charset="-128"/>
              </a:rPr>
              <a:t> L, </a:t>
            </a:r>
            <a:r>
              <a:rPr lang="es-ES" altLang="es-ES" dirty="0" err="1">
                <a:ea typeface="ＭＳ Ｐゴシック" charset="-128"/>
              </a:rPr>
              <a:t>Nemeth</a:t>
            </a:r>
            <a:r>
              <a:rPr lang="es-ES" altLang="es-ES" dirty="0">
                <a:ea typeface="ＭＳ Ｐゴシック" charset="-128"/>
              </a:rPr>
              <a:t> I, et al.</a:t>
            </a:r>
            <a:r>
              <a:rPr lang="es-ES" altLang="es-ES" b="1" dirty="0">
                <a:ea typeface="ＭＳ Ｐゴシック" charset="-128"/>
              </a:rPr>
              <a:t> </a:t>
            </a:r>
            <a:r>
              <a:rPr lang="es-ES" altLang="es-ES" dirty="0">
                <a:ea typeface="ＭＳ Ｐゴシック" charset="-128"/>
              </a:rPr>
              <a:t>Rupatadine oral solution </a:t>
            </a:r>
            <a:r>
              <a:rPr lang="es-ES" altLang="es-ES" dirty="0" err="1">
                <a:ea typeface="ＭＳ Ｐゴシック" charset="-128"/>
              </a:rPr>
              <a:t>improves</a:t>
            </a:r>
            <a:r>
              <a:rPr lang="es-ES" altLang="es-ES" dirty="0">
                <a:ea typeface="ＭＳ Ｐゴシック" charset="-128"/>
              </a:rPr>
              <a:t> </a:t>
            </a:r>
            <a:r>
              <a:rPr lang="es-ES" altLang="es-ES" dirty="0" err="1">
                <a:ea typeface="ＭＳ Ｐゴシック" charset="-128"/>
              </a:rPr>
              <a:t>rhino-conjunctive</a:t>
            </a:r>
            <a:r>
              <a:rPr lang="es-ES" altLang="es-ES" dirty="0">
                <a:ea typeface="ＭＳ Ｐゴシック" charset="-128"/>
              </a:rPr>
              <a:t> </a:t>
            </a:r>
            <a:r>
              <a:rPr lang="es-ES" altLang="es-ES" dirty="0" err="1">
                <a:ea typeface="ＭＳ Ｐゴシック" charset="-128"/>
              </a:rPr>
              <a:t>symptoms</a:t>
            </a:r>
            <a:r>
              <a:rPr lang="es-ES" altLang="es-ES" dirty="0">
                <a:ea typeface="ＭＳ Ｐゴシック" charset="-128"/>
              </a:rPr>
              <a:t> control in </a:t>
            </a:r>
            <a:r>
              <a:rPr lang="es-ES" altLang="es-ES" dirty="0" err="1">
                <a:ea typeface="ＭＳ Ｐゴシック" charset="-128"/>
              </a:rPr>
              <a:t>children</a:t>
            </a:r>
            <a:r>
              <a:rPr lang="es-ES" altLang="es-ES" dirty="0">
                <a:ea typeface="ＭＳ Ｐゴシック" charset="-128"/>
              </a:rPr>
              <a:t> with 6-11 </a:t>
            </a:r>
            <a:r>
              <a:rPr lang="es-ES" altLang="es-ES" dirty="0" err="1">
                <a:ea typeface="ＭＳ Ｐゴシック" charset="-128"/>
              </a:rPr>
              <a:t>years</a:t>
            </a:r>
            <a:r>
              <a:rPr lang="es-ES" altLang="es-ES" dirty="0">
                <a:ea typeface="ＭＳ Ｐゴシック" charset="-128"/>
              </a:rPr>
              <a:t> </a:t>
            </a:r>
            <a:r>
              <a:rPr lang="es-ES" altLang="es-ES" dirty="0" err="1">
                <a:ea typeface="ＭＳ Ｐゴシック" charset="-128"/>
              </a:rPr>
              <a:t>weighing</a:t>
            </a:r>
            <a:r>
              <a:rPr lang="es-ES" altLang="es-ES" dirty="0">
                <a:ea typeface="ＭＳ Ｐゴシック" charset="-128"/>
              </a:rPr>
              <a:t> ≥25 kg with </a:t>
            </a:r>
            <a:r>
              <a:rPr lang="es-ES" altLang="es-ES" dirty="0" err="1">
                <a:ea typeface="ＭＳ Ｐゴシック" charset="-128"/>
              </a:rPr>
              <a:t>persistent</a:t>
            </a:r>
            <a:r>
              <a:rPr lang="es-ES" altLang="es-ES" dirty="0">
                <a:ea typeface="ＭＳ Ｐゴシック" charset="-128"/>
              </a:rPr>
              <a:t> </a:t>
            </a:r>
            <a:r>
              <a:rPr lang="es-ES" altLang="es-ES" dirty="0" err="1">
                <a:ea typeface="ＭＳ Ｐゴシック" charset="-128"/>
              </a:rPr>
              <a:t>allergic</a:t>
            </a:r>
            <a:r>
              <a:rPr lang="es-ES" altLang="es-ES" dirty="0">
                <a:ea typeface="ＭＳ Ｐゴシック" charset="-128"/>
              </a:rPr>
              <a:t> </a:t>
            </a:r>
            <a:r>
              <a:rPr lang="es-ES" altLang="es-ES" dirty="0" err="1">
                <a:ea typeface="ＭＳ Ｐゴシック" charset="-128"/>
              </a:rPr>
              <a:t>rhinitis</a:t>
            </a:r>
            <a:r>
              <a:rPr lang="es-ES" altLang="es-ES" dirty="0">
                <a:ea typeface="ＭＳ Ｐゴシック" charset="-128"/>
              </a:rPr>
              <a:t>. </a:t>
            </a:r>
            <a:r>
              <a:rPr lang="en-US" altLang="es-ES" dirty="0" err="1">
                <a:ea typeface="ＭＳ Ｐゴシック" charset="-128"/>
              </a:rPr>
              <a:t>Clin</a:t>
            </a:r>
            <a:r>
              <a:rPr lang="en-US" altLang="es-ES" dirty="0">
                <a:ea typeface="ＭＳ Ｐゴシック" charset="-128"/>
              </a:rPr>
              <a:t> Trans Allergy. 2013; 3(</a:t>
            </a:r>
            <a:r>
              <a:rPr lang="en-US" altLang="es-ES" dirty="0" err="1">
                <a:ea typeface="ＭＳ Ｐゴシック" charset="-128"/>
              </a:rPr>
              <a:t>Suppl</a:t>
            </a:r>
            <a:r>
              <a:rPr lang="en-US" altLang="es-ES" dirty="0">
                <a:ea typeface="ＭＳ Ｐゴシック" charset="-128"/>
              </a:rPr>
              <a:t> 2):P33.</a:t>
            </a:r>
            <a:endParaRPr lang="es-ES" altLang="es-ES" dirty="0">
              <a:ea typeface="ＭＳ Ｐゴシック" charset="-128"/>
            </a:endParaRPr>
          </a:p>
        </p:txBody>
      </p:sp>
    </p:spTree>
    <p:extLst>
      <p:ext uri="{BB962C8B-B14F-4D97-AF65-F5344CB8AC3E}">
        <p14:creationId xmlns:p14="http://schemas.microsoft.com/office/powerpoint/2010/main" val="24077699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Rot="1" noChangeAspect="1" noTextEdit="1"/>
          </p:cNvSpPr>
          <p:nvPr>
            <p:ph type="sldImg"/>
          </p:nvPr>
        </p:nvSpPr>
        <p:spPr>
          <a:ln/>
        </p:spPr>
      </p:sp>
      <p:sp>
        <p:nvSpPr>
          <p:cNvPr id="73730" name="Rectangle 3"/>
          <p:cNvSpPr>
            <a:spLocks noGrp="1"/>
          </p:cNvSpPr>
          <p:nvPr>
            <p:ph type="body" idx="1"/>
          </p:nvPr>
        </p:nvSpPr>
        <p:spPr>
          <a:noFill/>
          <a:ln/>
        </p:spPr>
        <p:txBody>
          <a:bodyPr/>
          <a:lstStyle/>
          <a:p>
            <a:r>
              <a:rPr lang="es-ES" altLang="es-ES" sz="900" b="1" dirty="0">
                <a:latin typeface="+mn-lt"/>
                <a:ea typeface="ＭＳ Ｐゴシック" charset="-128"/>
              </a:rPr>
              <a:t>The </a:t>
            </a:r>
            <a:r>
              <a:rPr lang="es-ES" altLang="es-ES" sz="900" b="1" dirty="0" err="1">
                <a:latin typeface="+mn-lt"/>
                <a:ea typeface="ＭＳ Ｐゴシック" charset="-128"/>
              </a:rPr>
              <a:t>efficacy</a:t>
            </a:r>
            <a:r>
              <a:rPr lang="es-ES" altLang="es-ES" sz="900" b="1" dirty="0">
                <a:latin typeface="+mn-lt"/>
                <a:ea typeface="ＭＳ Ｐゴシック" charset="-128"/>
              </a:rPr>
              <a:t> </a:t>
            </a:r>
            <a:r>
              <a:rPr lang="es-ES" altLang="es-ES" sz="900" b="1" dirty="0" err="1">
                <a:latin typeface="+mn-lt"/>
                <a:ea typeface="ＭＳ Ｐゴシック" charset="-128"/>
              </a:rPr>
              <a:t>subanalysis</a:t>
            </a:r>
            <a:r>
              <a:rPr lang="es-ES" altLang="es-ES" sz="900" b="1" dirty="0">
                <a:latin typeface="+mn-lt"/>
                <a:ea typeface="ＭＳ Ｐゴシック" charset="-128"/>
              </a:rPr>
              <a:t> in </a:t>
            </a:r>
            <a:r>
              <a:rPr lang="es-ES" altLang="es-ES" sz="900" b="1" dirty="0" err="1">
                <a:latin typeface="+mn-lt"/>
                <a:ea typeface="ＭＳ Ｐゴシック" charset="-128"/>
              </a:rPr>
              <a:t>children</a:t>
            </a:r>
            <a:r>
              <a:rPr lang="es-ES" altLang="es-ES" sz="900" b="1" dirty="0">
                <a:latin typeface="+mn-lt"/>
                <a:ea typeface="ＭＳ Ｐゴシック" charset="-128"/>
              </a:rPr>
              <a:t> </a:t>
            </a:r>
            <a:r>
              <a:rPr lang="es-ES" altLang="es-ES" sz="900" b="1" dirty="0" err="1">
                <a:latin typeface="+mn-lt"/>
                <a:ea typeface="ＭＳ Ｐゴシック" charset="-128"/>
              </a:rPr>
              <a:t>weighing</a:t>
            </a:r>
            <a:r>
              <a:rPr lang="es-ES" altLang="es-ES" sz="900" b="1" dirty="0">
                <a:latin typeface="+mn-lt"/>
                <a:ea typeface="ＭＳ Ｐゴシック" charset="-128"/>
              </a:rPr>
              <a:t> ≥ 25 kg (n = 266) </a:t>
            </a:r>
            <a:r>
              <a:rPr lang="es-ES" altLang="es-ES" sz="900" b="1" dirty="0" err="1">
                <a:latin typeface="+mn-lt"/>
                <a:ea typeface="ＭＳ Ｐゴシック" charset="-128"/>
              </a:rPr>
              <a:t>showed</a:t>
            </a:r>
            <a:r>
              <a:rPr lang="es-ES" altLang="es-ES" sz="900" b="1" dirty="0">
                <a:latin typeface="+mn-lt"/>
                <a:ea typeface="ＭＳ Ｐゴシック" charset="-128"/>
              </a:rPr>
              <a:t> </a:t>
            </a:r>
            <a:r>
              <a:rPr lang="es-ES" altLang="es-ES" sz="900" b="1" dirty="0" err="1">
                <a:latin typeface="+mn-lt"/>
                <a:ea typeface="ＭＳ Ｐゴシック" charset="-128"/>
              </a:rPr>
              <a:t>statistically</a:t>
            </a:r>
            <a:r>
              <a:rPr lang="es-ES" altLang="es-ES" sz="900" b="1" dirty="0">
                <a:latin typeface="+mn-lt"/>
                <a:ea typeface="ＭＳ Ｐゴシック" charset="-128"/>
              </a:rPr>
              <a:t> </a:t>
            </a:r>
            <a:r>
              <a:rPr lang="es-ES" altLang="es-ES" sz="900" b="1" dirty="0" err="1">
                <a:latin typeface="+mn-lt"/>
                <a:ea typeface="ＭＳ Ｐゴシック" charset="-128"/>
              </a:rPr>
              <a:t>significant</a:t>
            </a:r>
            <a:r>
              <a:rPr lang="es-ES" altLang="es-ES" sz="900" b="1" dirty="0">
                <a:latin typeface="+mn-lt"/>
                <a:ea typeface="ＭＳ Ｐゴシック" charset="-128"/>
              </a:rPr>
              <a:t> </a:t>
            </a:r>
            <a:r>
              <a:rPr lang="es-ES" altLang="es-ES" sz="900" b="1" dirty="0" err="1">
                <a:latin typeface="+mn-lt"/>
                <a:ea typeface="ＭＳ Ｐゴシック" charset="-128"/>
              </a:rPr>
              <a:t>outcomes</a:t>
            </a:r>
            <a:r>
              <a:rPr lang="es-ES" altLang="es-ES" sz="900" b="1" dirty="0">
                <a:latin typeface="+mn-lt"/>
                <a:ea typeface="ＭＳ Ｐゴシック" charset="-128"/>
              </a:rPr>
              <a:t> with </a:t>
            </a:r>
            <a:r>
              <a:rPr lang="es-ES" altLang="es-ES" sz="900" b="1" dirty="0" err="1">
                <a:latin typeface="+mn-lt"/>
                <a:ea typeface="ＭＳ Ｐゴシック" charset="-128"/>
              </a:rPr>
              <a:t>rupatadine</a:t>
            </a:r>
            <a:r>
              <a:rPr lang="es-ES" altLang="es-ES" sz="900" b="1" dirty="0">
                <a:latin typeface="+mn-lt"/>
                <a:ea typeface="ＭＳ Ｐゴシック" charset="-128"/>
              </a:rPr>
              <a:t> </a:t>
            </a:r>
            <a:r>
              <a:rPr lang="es-ES" altLang="es-ES" sz="900" b="1" dirty="0" err="1">
                <a:latin typeface="+mn-lt"/>
                <a:ea typeface="ＭＳ Ｐゴシック" charset="-128"/>
              </a:rPr>
              <a:t>compared</a:t>
            </a:r>
            <a:r>
              <a:rPr lang="es-ES" altLang="es-ES" sz="900" b="1" dirty="0">
                <a:latin typeface="+mn-lt"/>
                <a:ea typeface="ＭＳ Ｐゴシック" charset="-128"/>
              </a:rPr>
              <a:t> </a:t>
            </a:r>
            <a:r>
              <a:rPr lang="es-ES" altLang="es-ES" sz="900" b="1" dirty="0" err="1">
                <a:latin typeface="+mn-lt"/>
                <a:ea typeface="ＭＳ Ｐゴシック" charset="-128"/>
              </a:rPr>
              <a:t>with</a:t>
            </a:r>
            <a:r>
              <a:rPr lang="es-ES" altLang="es-ES" sz="900" b="1" dirty="0">
                <a:latin typeface="+mn-lt"/>
                <a:ea typeface="ＭＳ Ｐゴシック" charset="-128"/>
              </a:rPr>
              <a:t> placebo </a:t>
            </a:r>
            <a:r>
              <a:rPr lang="es-ES" altLang="es-ES" sz="900" b="1" dirty="0" err="1">
                <a:latin typeface="+mn-lt"/>
                <a:ea typeface="ＭＳ Ｐゴシック" charset="-128"/>
              </a:rPr>
              <a:t>for</a:t>
            </a:r>
            <a:r>
              <a:rPr lang="es-ES" altLang="es-ES" sz="900" b="1" dirty="0">
                <a:latin typeface="+mn-lt"/>
                <a:ea typeface="ＭＳ Ｐゴシック" charset="-128"/>
              </a:rPr>
              <a:t> the </a:t>
            </a:r>
            <a:r>
              <a:rPr lang="es-ES" altLang="es-ES" sz="900" b="1" dirty="0" err="1">
                <a:latin typeface="+mn-lt"/>
                <a:ea typeface="ＭＳ Ｐゴシック" charset="-128"/>
              </a:rPr>
              <a:t>primary</a:t>
            </a:r>
            <a:r>
              <a:rPr lang="es-ES" altLang="es-ES" sz="900" b="1" dirty="0">
                <a:latin typeface="+mn-lt"/>
                <a:ea typeface="ＭＳ Ｐゴシック" charset="-128"/>
              </a:rPr>
              <a:t> and </a:t>
            </a:r>
            <a:r>
              <a:rPr lang="es-ES" altLang="es-ES" sz="900" b="1" dirty="0" err="1">
                <a:latin typeface="+mn-lt"/>
                <a:ea typeface="ＭＳ Ｐゴシック" charset="-128"/>
              </a:rPr>
              <a:t>main</a:t>
            </a:r>
            <a:r>
              <a:rPr lang="es-ES" altLang="es-ES" sz="900" b="1" dirty="0">
                <a:latin typeface="+mn-lt"/>
                <a:ea typeface="ＭＳ Ｐゴシック" charset="-128"/>
              </a:rPr>
              <a:t> </a:t>
            </a:r>
            <a:r>
              <a:rPr lang="es-ES" altLang="es-ES" sz="900" b="1" dirty="0" err="1">
                <a:latin typeface="+mn-lt"/>
                <a:ea typeface="ＭＳ Ｐゴシック" charset="-128"/>
              </a:rPr>
              <a:t>secondary</a:t>
            </a:r>
            <a:r>
              <a:rPr lang="es-ES" altLang="es-ES" sz="900" b="1" dirty="0">
                <a:latin typeface="+mn-lt"/>
                <a:ea typeface="ＭＳ Ｐゴシック" charset="-128"/>
              </a:rPr>
              <a:t> </a:t>
            </a:r>
            <a:r>
              <a:rPr lang="es-ES" altLang="es-ES" sz="900" b="1" dirty="0" err="1">
                <a:latin typeface="+mn-lt"/>
                <a:ea typeface="ＭＳ Ｐゴシック" charset="-128"/>
              </a:rPr>
              <a:t>efficacy</a:t>
            </a:r>
            <a:r>
              <a:rPr lang="es-ES" altLang="es-ES" sz="900" b="1" dirty="0">
                <a:latin typeface="+mn-lt"/>
                <a:ea typeface="ＭＳ Ｐゴシック" charset="-128"/>
              </a:rPr>
              <a:t> </a:t>
            </a:r>
            <a:r>
              <a:rPr lang="es-ES" altLang="es-ES" sz="900" b="1" dirty="0" err="1">
                <a:latin typeface="+mn-lt"/>
                <a:ea typeface="ＭＳ Ｐゴシック" charset="-128"/>
              </a:rPr>
              <a:t>outcomes</a:t>
            </a:r>
            <a:r>
              <a:rPr lang="es-ES" altLang="es-ES" sz="900" b="1" dirty="0">
                <a:latin typeface="+mn-lt"/>
                <a:ea typeface="ＭＳ Ｐゴシック" charset="-128"/>
              </a:rPr>
              <a:t>, as </a:t>
            </a:r>
            <a:r>
              <a:rPr lang="es-ES" altLang="es-ES" sz="900" b="1" dirty="0" err="1">
                <a:latin typeface="+mn-lt"/>
                <a:ea typeface="ＭＳ Ｐゴシック" charset="-128"/>
              </a:rPr>
              <a:t>well</a:t>
            </a:r>
            <a:r>
              <a:rPr lang="es-ES" altLang="es-ES" sz="900" b="1" dirty="0">
                <a:latin typeface="+mn-lt"/>
                <a:ea typeface="ＭＳ Ｐゴシック" charset="-128"/>
              </a:rPr>
              <a:t> as </a:t>
            </a:r>
            <a:r>
              <a:rPr lang="es-ES" altLang="es-ES" sz="900" b="1" dirty="0" err="1">
                <a:latin typeface="+mn-lt"/>
                <a:ea typeface="ＭＳ Ｐゴシック" charset="-128"/>
              </a:rPr>
              <a:t>for</a:t>
            </a:r>
            <a:r>
              <a:rPr lang="es-ES" altLang="es-ES" sz="900" b="1" dirty="0">
                <a:latin typeface="+mn-lt"/>
                <a:ea typeface="ＭＳ Ｐゴシック" charset="-128"/>
              </a:rPr>
              <a:t> the </a:t>
            </a:r>
            <a:r>
              <a:rPr lang="es-ES" altLang="es-ES" sz="900" b="1" dirty="0" err="1">
                <a:latin typeface="+mn-lt"/>
                <a:ea typeface="ＭＳ Ｐゴシック" charset="-128"/>
              </a:rPr>
              <a:t>QoL</a:t>
            </a:r>
            <a:r>
              <a:rPr lang="es-ES" altLang="es-ES" sz="900" b="1" dirty="0">
                <a:latin typeface="+mn-lt"/>
                <a:ea typeface="ＭＳ Ｐゴシック" charset="-128"/>
              </a:rPr>
              <a:t> assessment. </a:t>
            </a:r>
            <a:r>
              <a:rPr lang="es-ES" altLang="es-ES" sz="900" dirty="0" err="1">
                <a:latin typeface="+mn-lt"/>
                <a:ea typeface="ＭＳ Ｐゴシック" charset="-128"/>
              </a:rPr>
              <a:t>Furthermore</a:t>
            </a:r>
            <a:r>
              <a:rPr lang="es-ES" altLang="es-ES" sz="900" dirty="0">
                <a:latin typeface="+mn-lt"/>
                <a:ea typeface="ＭＳ Ｐゴシック" charset="-128"/>
              </a:rPr>
              <a:t>, </a:t>
            </a:r>
            <a:r>
              <a:rPr lang="es-ES" altLang="es-ES" sz="900" dirty="0" err="1">
                <a:latin typeface="+mn-lt"/>
                <a:ea typeface="ＭＳ Ｐゴシック" charset="-128"/>
              </a:rPr>
              <a:t>statistical</a:t>
            </a:r>
            <a:r>
              <a:rPr lang="es-ES" altLang="es-ES" sz="900" dirty="0">
                <a:latin typeface="+mn-lt"/>
                <a:ea typeface="ＭＳ Ｐゴシック" charset="-128"/>
              </a:rPr>
              <a:t> </a:t>
            </a:r>
            <a:r>
              <a:rPr lang="es-ES" altLang="es-ES" sz="900" dirty="0" err="1">
                <a:latin typeface="+mn-lt"/>
                <a:ea typeface="ＭＳ Ｐゴシック" charset="-128"/>
              </a:rPr>
              <a:t>significance</a:t>
            </a:r>
            <a:r>
              <a:rPr lang="es-ES" altLang="es-ES" sz="900" dirty="0">
                <a:latin typeface="+mn-lt"/>
                <a:ea typeface="ＭＳ Ｐゴシック" charset="-128"/>
              </a:rPr>
              <a:t> </a:t>
            </a:r>
            <a:r>
              <a:rPr lang="es-ES" altLang="es-ES" sz="900" dirty="0" err="1">
                <a:latin typeface="+mn-lt"/>
                <a:ea typeface="ＭＳ Ｐゴシック" charset="-128"/>
              </a:rPr>
              <a:t>was</a:t>
            </a:r>
            <a:r>
              <a:rPr lang="es-ES" altLang="es-ES" sz="900" dirty="0">
                <a:latin typeface="+mn-lt"/>
                <a:ea typeface="ＭＳ Ｐゴシック" charset="-128"/>
              </a:rPr>
              <a:t> </a:t>
            </a:r>
            <a:r>
              <a:rPr lang="es-ES" altLang="es-ES" sz="900" dirty="0" err="1">
                <a:latin typeface="+mn-lt"/>
                <a:ea typeface="ＭＳ Ｐゴシック" charset="-128"/>
              </a:rPr>
              <a:t>observed</a:t>
            </a:r>
            <a:r>
              <a:rPr lang="es-ES" altLang="es-ES" sz="900" dirty="0">
                <a:latin typeface="+mn-lt"/>
                <a:ea typeface="ＭＳ Ｐゴシック" charset="-128"/>
              </a:rPr>
              <a:t> in </a:t>
            </a:r>
            <a:r>
              <a:rPr lang="es-ES" altLang="es-ES" sz="900" dirty="0" err="1">
                <a:latin typeface="+mn-lt"/>
                <a:ea typeface="ＭＳ Ｐゴシック" charset="-128"/>
              </a:rPr>
              <a:t>all</a:t>
            </a:r>
            <a:r>
              <a:rPr lang="es-ES" altLang="es-ES" sz="900" dirty="0">
                <a:latin typeface="+mn-lt"/>
                <a:ea typeface="ＭＳ Ｐゴシック" charset="-128"/>
              </a:rPr>
              <a:t> cases, </a:t>
            </a:r>
            <a:r>
              <a:rPr lang="es-ES" altLang="es-ES" sz="900" dirty="0" err="1">
                <a:latin typeface="+mn-lt"/>
                <a:ea typeface="ＭＳ Ｐゴシック" charset="-128"/>
              </a:rPr>
              <a:t>including</a:t>
            </a:r>
            <a:r>
              <a:rPr lang="es-ES" altLang="es-ES" sz="900" dirty="0">
                <a:latin typeface="+mn-lt"/>
                <a:ea typeface="ＭＳ Ｐゴシック" charset="-128"/>
              </a:rPr>
              <a:t> </a:t>
            </a:r>
            <a:r>
              <a:rPr lang="es-ES" altLang="es-ES" sz="900" dirty="0" err="1">
                <a:latin typeface="+mn-lt"/>
                <a:ea typeface="ＭＳ Ｐゴシック" charset="-128"/>
              </a:rPr>
              <a:t>those</a:t>
            </a:r>
            <a:r>
              <a:rPr lang="es-ES" altLang="es-ES" sz="900" dirty="0">
                <a:latin typeface="+mn-lt"/>
                <a:ea typeface="ＭＳ Ｐゴシック" charset="-128"/>
              </a:rPr>
              <a:t> in </a:t>
            </a:r>
            <a:r>
              <a:rPr lang="es-ES" altLang="es-ES" sz="900" dirty="0" err="1">
                <a:latin typeface="+mn-lt"/>
                <a:ea typeface="ＭＳ Ｐゴシック" charset="-128"/>
              </a:rPr>
              <a:t>which</a:t>
            </a:r>
            <a:r>
              <a:rPr lang="es-ES" altLang="es-ES" sz="900" dirty="0">
                <a:latin typeface="+mn-lt"/>
                <a:ea typeface="ＭＳ Ｐゴシック" charset="-128"/>
              </a:rPr>
              <a:t> no </a:t>
            </a:r>
            <a:r>
              <a:rPr lang="es-ES" altLang="es-ES" sz="900" dirty="0" err="1">
                <a:latin typeface="+mn-lt"/>
                <a:ea typeface="ＭＳ Ｐゴシック" charset="-128"/>
              </a:rPr>
              <a:t>statistical</a:t>
            </a:r>
            <a:r>
              <a:rPr lang="es-ES" altLang="es-ES" sz="900" dirty="0">
                <a:latin typeface="+mn-lt"/>
                <a:ea typeface="ＭＳ Ｐゴシック" charset="-128"/>
              </a:rPr>
              <a:t> </a:t>
            </a:r>
            <a:r>
              <a:rPr lang="es-ES" altLang="es-ES" sz="900" dirty="0" err="1">
                <a:latin typeface="+mn-lt"/>
                <a:ea typeface="ＭＳ Ｐゴシック" charset="-128"/>
              </a:rPr>
              <a:t>significance</a:t>
            </a:r>
            <a:r>
              <a:rPr lang="es-ES" altLang="es-ES" sz="900" dirty="0">
                <a:latin typeface="+mn-lt"/>
                <a:ea typeface="ＭＳ Ｐゴシック" charset="-128"/>
              </a:rPr>
              <a:t> </a:t>
            </a:r>
            <a:r>
              <a:rPr lang="es-ES" altLang="es-ES" sz="900" dirty="0" err="1">
                <a:latin typeface="+mn-lt"/>
                <a:ea typeface="ＭＳ Ｐゴシック" charset="-128"/>
              </a:rPr>
              <a:t>was</a:t>
            </a:r>
            <a:r>
              <a:rPr lang="es-ES" altLang="es-ES" sz="900" dirty="0">
                <a:latin typeface="+mn-lt"/>
                <a:ea typeface="ＭＳ Ｐゴシック" charset="-128"/>
              </a:rPr>
              <a:t> </a:t>
            </a:r>
            <a:r>
              <a:rPr lang="es-ES" altLang="es-ES" sz="900" dirty="0" err="1">
                <a:latin typeface="+mn-lt"/>
                <a:ea typeface="ＭＳ Ｐゴシック" charset="-128"/>
              </a:rPr>
              <a:t>achieved</a:t>
            </a:r>
            <a:r>
              <a:rPr lang="es-ES" altLang="es-ES" sz="900" dirty="0">
                <a:latin typeface="+mn-lt"/>
                <a:ea typeface="ＭＳ Ｐゴシック" charset="-128"/>
              </a:rPr>
              <a:t> in </a:t>
            </a:r>
            <a:r>
              <a:rPr lang="es-ES" altLang="es-ES" sz="900" dirty="0" err="1">
                <a:latin typeface="+mn-lt"/>
                <a:ea typeface="ＭＳ Ｐゴシック" charset="-128"/>
              </a:rPr>
              <a:t>analyses</a:t>
            </a:r>
            <a:r>
              <a:rPr lang="es-ES" altLang="es-ES" sz="900" dirty="0">
                <a:latin typeface="+mn-lt"/>
                <a:ea typeface="ＭＳ Ｐゴシック" charset="-128"/>
              </a:rPr>
              <a:t> of the total study population. </a:t>
            </a:r>
            <a:r>
              <a:rPr lang="es-ES" altLang="es-ES" sz="900" dirty="0" err="1">
                <a:latin typeface="+mn-lt"/>
                <a:ea typeface="ＭＳ Ｐゴシック" charset="-128"/>
              </a:rPr>
              <a:t>In</a:t>
            </a:r>
            <a:r>
              <a:rPr lang="es-ES" altLang="es-ES" sz="900" dirty="0">
                <a:latin typeface="+mn-lt"/>
                <a:ea typeface="ＭＳ Ｐゴシック" charset="-128"/>
              </a:rPr>
              <a:t> the </a:t>
            </a:r>
            <a:r>
              <a:rPr lang="es-ES" altLang="es-ES" sz="900" dirty="0" err="1">
                <a:latin typeface="+mn-lt"/>
                <a:ea typeface="ＭＳ Ｐゴシック" charset="-128"/>
              </a:rPr>
              <a:t>subgroup</a:t>
            </a:r>
            <a:r>
              <a:rPr lang="es-ES" altLang="es-ES" sz="900" dirty="0">
                <a:latin typeface="+mn-lt"/>
                <a:ea typeface="ＭＳ Ｐゴシック" charset="-128"/>
              </a:rPr>
              <a:t> of </a:t>
            </a:r>
            <a:r>
              <a:rPr lang="es-ES" altLang="es-ES" sz="900" dirty="0" err="1">
                <a:latin typeface="+mn-lt"/>
                <a:ea typeface="ＭＳ Ｐゴシック" charset="-128"/>
              </a:rPr>
              <a:t>children</a:t>
            </a:r>
            <a:r>
              <a:rPr lang="es-ES" altLang="es-ES" sz="900" dirty="0">
                <a:latin typeface="+mn-lt"/>
                <a:ea typeface="ＭＳ Ｐゴシック" charset="-128"/>
              </a:rPr>
              <a:t> </a:t>
            </a:r>
            <a:r>
              <a:rPr lang="es-ES" altLang="es-ES" sz="900" dirty="0" err="1">
                <a:latin typeface="+mn-lt"/>
                <a:ea typeface="ＭＳ Ｐゴシック" charset="-128"/>
              </a:rPr>
              <a:t>weighing</a:t>
            </a:r>
            <a:r>
              <a:rPr lang="es-ES" altLang="es-ES" sz="900" dirty="0">
                <a:latin typeface="+mn-lt"/>
                <a:ea typeface="ＭＳ Ｐゴシック" charset="-128"/>
              </a:rPr>
              <a:t> ≥ 25 kg , </a:t>
            </a:r>
            <a:r>
              <a:rPr lang="es-ES" altLang="es-ES" sz="900" dirty="0" err="1">
                <a:latin typeface="+mn-lt"/>
                <a:ea typeface="ＭＳ Ｐゴシック" charset="-128"/>
              </a:rPr>
              <a:t>there</a:t>
            </a:r>
            <a:r>
              <a:rPr lang="es-ES" altLang="es-ES" sz="900" dirty="0">
                <a:latin typeface="+mn-lt"/>
                <a:ea typeface="ＭＳ Ｐゴシック" charset="-128"/>
              </a:rPr>
              <a:t> </a:t>
            </a:r>
            <a:r>
              <a:rPr lang="es-ES" altLang="es-ES" sz="900" dirty="0" err="1">
                <a:latin typeface="+mn-lt"/>
                <a:ea typeface="ＭＳ Ｐゴシック" charset="-128"/>
              </a:rPr>
              <a:t>were</a:t>
            </a:r>
            <a:r>
              <a:rPr lang="es-ES" altLang="es-ES" sz="900" dirty="0">
                <a:latin typeface="+mn-lt"/>
                <a:ea typeface="ＭＳ Ｐゴシック" charset="-128"/>
              </a:rPr>
              <a:t> 266 </a:t>
            </a:r>
            <a:r>
              <a:rPr lang="es-ES" altLang="es-ES" sz="900" dirty="0" err="1">
                <a:latin typeface="+mn-lt"/>
                <a:ea typeface="ＭＳ Ｐゴシック" charset="-128"/>
              </a:rPr>
              <a:t>children</a:t>
            </a:r>
            <a:r>
              <a:rPr lang="es-ES" altLang="es-ES" sz="900" dirty="0">
                <a:latin typeface="+mn-lt"/>
                <a:ea typeface="ＭＳ Ｐゴシック" charset="-128"/>
              </a:rPr>
              <a:t> out of total of 360 </a:t>
            </a:r>
            <a:r>
              <a:rPr lang="es-ES" altLang="es-ES" sz="900" dirty="0" err="1">
                <a:latin typeface="+mn-lt"/>
                <a:ea typeface="ＭＳ Ｐゴシック" charset="-128"/>
              </a:rPr>
              <a:t>children</a:t>
            </a:r>
            <a:r>
              <a:rPr lang="es-ES" altLang="es-ES" sz="900" dirty="0">
                <a:latin typeface="+mn-lt"/>
                <a:ea typeface="ＭＳ Ｐゴシック" charset="-128"/>
              </a:rPr>
              <a:t>, </a:t>
            </a:r>
            <a:r>
              <a:rPr lang="es-ES" altLang="es-ES" sz="900" dirty="0" err="1">
                <a:latin typeface="+mn-lt"/>
                <a:ea typeface="ＭＳ Ｐゴシック" charset="-128"/>
              </a:rPr>
              <a:t>allowing</a:t>
            </a:r>
            <a:r>
              <a:rPr lang="es-ES" altLang="es-ES" sz="900" dirty="0">
                <a:latin typeface="+mn-lt"/>
                <a:ea typeface="ＭＳ Ｐゴシック" charset="-128"/>
              </a:rPr>
              <a:t> a more </a:t>
            </a:r>
            <a:r>
              <a:rPr lang="es-ES" altLang="es-ES" sz="900" dirty="0" err="1">
                <a:latin typeface="+mn-lt"/>
                <a:ea typeface="ＭＳ Ｐゴシック" charset="-128"/>
              </a:rPr>
              <a:t>robust</a:t>
            </a:r>
            <a:r>
              <a:rPr lang="es-ES" altLang="es-ES" sz="900" dirty="0">
                <a:latin typeface="+mn-lt"/>
                <a:ea typeface="ＭＳ Ｐゴシック" charset="-128"/>
              </a:rPr>
              <a:t> </a:t>
            </a:r>
            <a:r>
              <a:rPr lang="es-ES" altLang="es-ES" sz="900" dirty="0" err="1">
                <a:latin typeface="+mn-lt"/>
                <a:ea typeface="ＭＳ Ｐゴシック" charset="-128"/>
              </a:rPr>
              <a:t>statistical</a:t>
            </a:r>
            <a:r>
              <a:rPr lang="es-ES" altLang="es-ES" sz="900" dirty="0">
                <a:latin typeface="+mn-lt"/>
                <a:ea typeface="ＭＳ Ｐゴシック" charset="-128"/>
              </a:rPr>
              <a:t> </a:t>
            </a:r>
            <a:r>
              <a:rPr lang="es-ES" altLang="es-ES" sz="900" dirty="0" err="1">
                <a:latin typeface="+mn-lt"/>
                <a:ea typeface="ＭＳ Ｐゴシック" charset="-128"/>
              </a:rPr>
              <a:t>analyses</a:t>
            </a:r>
            <a:r>
              <a:rPr lang="es-ES" altLang="es-ES" sz="900" dirty="0">
                <a:latin typeface="+mn-lt"/>
                <a:ea typeface="ＭＳ Ｐゴシック" charset="-128"/>
              </a:rPr>
              <a:t> in the </a:t>
            </a:r>
            <a:r>
              <a:rPr lang="es-ES" altLang="es-ES" sz="900" dirty="0" err="1">
                <a:latin typeface="+mn-lt"/>
                <a:ea typeface="ＭＳ Ｐゴシック" charset="-128"/>
              </a:rPr>
              <a:t>subgroup</a:t>
            </a:r>
            <a:r>
              <a:rPr lang="es-ES" altLang="es-ES" sz="900" dirty="0">
                <a:latin typeface="+mn-lt"/>
                <a:ea typeface="ＭＳ Ｐゴシック" charset="-128"/>
              </a:rPr>
              <a:t> of </a:t>
            </a:r>
            <a:r>
              <a:rPr lang="es-ES" altLang="es-ES" sz="900" dirty="0" err="1">
                <a:latin typeface="+mn-lt"/>
                <a:ea typeface="ＭＳ Ｐゴシック" charset="-128"/>
              </a:rPr>
              <a:t>children</a:t>
            </a:r>
            <a:r>
              <a:rPr lang="es-ES" altLang="es-ES" sz="900" dirty="0">
                <a:latin typeface="+mn-lt"/>
                <a:ea typeface="ＭＳ Ｐゴシック" charset="-128"/>
              </a:rPr>
              <a:t> with </a:t>
            </a:r>
            <a:r>
              <a:rPr lang="es-ES" altLang="es-ES" sz="900" dirty="0" err="1">
                <a:latin typeface="+mn-lt"/>
                <a:ea typeface="ＭＳ Ｐゴシック" charset="-128"/>
              </a:rPr>
              <a:t>bodyweight</a:t>
            </a:r>
            <a:r>
              <a:rPr lang="es-ES" altLang="es-ES" sz="900" dirty="0">
                <a:latin typeface="+mn-lt"/>
                <a:ea typeface="ＭＳ Ｐゴシック" charset="-128"/>
              </a:rPr>
              <a:t> &lt; 25 kg.</a:t>
            </a:r>
          </a:p>
          <a:p>
            <a:r>
              <a:rPr lang="es-ES" altLang="es-ES" sz="900" dirty="0">
                <a:latin typeface="+mn-lt"/>
                <a:ea typeface="ＭＳ Ｐゴシック" charset="-128"/>
              </a:rPr>
              <a:t>This </a:t>
            </a:r>
            <a:r>
              <a:rPr lang="es-ES" altLang="es-ES" sz="900" dirty="0" err="1">
                <a:latin typeface="+mn-lt"/>
                <a:ea typeface="ＭＳ Ｐゴシック" charset="-128"/>
              </a:rPr>
              <a:t>slide</a:t>
            </a:r>
            <a:r>
              <a:rPr lang="es-ES" altLang="es-ES" sz="900" dirty="0">
                <a:latin typeface="+mn-lt"/>
                <a:ea typeface="ＭＳ Ｐゴシック" charset="-128"/>
              </a:rPr>
              <a:t> shows the </a:t>
            </a:r>
            <a:r>
              <a:rPr lang="es-ES" altLang="es-ES" sz="900" dirty="0" err="1">
                <a:latin typeface="+mn-lt"/>
                <a:ea typeface="ＭＳ Ｐゴシック" charset="-128"/>
              </a:rPr>
              <a:t>main</a:t>
            </a:r>
            <a:r>
              <a:rPr lang="es-ES" altLang="es-ES" sz="900" dirty="0">
                <a:latin typeface="+mn-lt"/>
                <a:ea typeface="ＭＳ Ｐゴシック" charset="-128"/>
              </a:rPr>
              <a:t> </a:t>
            </a:r>
            <a:r>
              <a:rPr lang="es-ES" altLang="es-ES" sz="900" dirty="0" err="1">
                <a:latin typeface="+mn-lt"/>
                <a:ea typeface="ＭＳ Ｐゴシック" charset="-128"/>
              </a:rPr>
              <a:t>efficacy</a:t>
            </a:r>
            <a:r>
              <a:rPr lang="es-ES" altLang="es-ES" sz="900" dirty="0">
                <a:latin typeface="+mn-lt"/>
                <a:ea typeface="ＭＳ Ｐゴシック" charset="-128"/>
              </a:rPr>
              <a:t> </a:t>
            </a:r>
            <a:r>
              <a:rPr lang="es-ES" altLang="es-ES" sz="900" dirty="0" err="1">
                <a:latin typeface="+mn-lt"/>
                <a:ea typeface="ＭＳ Ｐゴシック" charset="-128"/>
              </a:rPr>
              <a:t>outcomes</a:t>
            </a:r>
            <a:r>
              <a:rPr lang="es-ES" altLang="es-ES" sz="900" dirty="0">
                <a:latin typeface="+mn-lt"/>
                <a:ea typeface="ＭＳ Ｐゴシック" charset="-128"/>
              </a:rPr>
              <a:t> and </a:t>
            </a:r>
            <a:r>
              <a:rPr lang="es-ES" altLang="es-ES" sz="900" dirty="0" err="1">
                <a:latin typeface="+mn-lt"/>
                <a:ea typeface="ＭＳ Ｐゴシック" charset="-128"/>
              </a:rPr>
              <a:t>QoL</a:t>
            </a:r>
            <a:r>
              <a:rPr lang="es-ES" altLang="es-ES" sz="900" dirty="0">
                <a:latin typeface="+mn-lt"/>
                <a:ea typeface="ＭＳ Ｐゴシック" charset="-128"/>
              </a:rPr>
              <a:t> assessment </a:t>
            </a:r>
            <a:r>
              <a:rPr lang="es-ES" altLang="es-ES" sz="900" dirty="0" err="1">
                <a:latin typeface="+mn-lt"/>
                <a:ea typeface="ＭＳ Ｐゴシック" charset="-128"/>
              </a:rPr>
              <a:t>for</a:t>
            </a:r>
            <a:r>
              <a:rPr lang="es-ES" altLang="es-ES" sz="900" dirty="0">
                <a:latin typeface="+mn-lt"/>
                <a:ea typeface="ＭＳ Ｐゴシック" charset="-128"/>
              </a:rPr>
              <a:t> the </a:t>
            </a:r>
            <a:r>
              <a:rPr lang="es-ES" altLang="es-ES" sz="900" b="1" dirty="0" err="1">
                <a:latin typeface="+mn-lt"/>
                <a:ea typeface="ＭＳ Ｐゴシック" charset="-128"/>
              </a:rPr>
              <a:t>subgroup</a:t>
            </a:r>
            <a:r>
              <a:rPr lang="es-ES" altLang="es-ES" sz="900" b="1" dirty="0">
                <a:latin typeface="+mn-lt"/>
                <a:ea typeface="ＭＳ Ｐゴシック" charset="-128"/>
              </a:rPr>
              <a:t> of </a:t>
            </a:r>
            <a:r>
              <a:rPr lang="es-ES" altLang="es-ES" sz="900" b="1" dirty="0" err="1">
                <a:latin typeface="+mn-lt"/>
                <a:ea typeface="ＭＳ Ｐゴシック" charset="-128"/>
              </a:rPr>
              <a:t>children</a:t>
            </a:r>
            <a:r>
              <a:rPr lang="es-ES" altLang="es-ES" sz="900" b="1" dirty="0">
                <a:latin typeface="+mn-lt"/>
                <a:ea typeface="ＭＳ Ｐゴシック" charset="-128"/>
              </a:rPr>
              <a:t> </a:t>
            </a:r>
            <a:r>
              <a:rPr lang="es-ES" altLang="es-ES" sz="900" dirty="0">
                <a:latin typeface="+mn-lt"/>
                <a:ea typeface="ＭＳ Ｐゴシック" charset="-128"/>
              </a:rPr>
              <a:t>with </a:t>
            </a:r>
            <a:r>
              <a:rPr lang="es-ES" altLang="es-ES" sz="900" dirty="0" err="1">
                <a:latin typeface="+mn-lt"/>
                <a:ea typeface="ＭＳ Ｐゴシック" charset="-128"/>
              </a:rPr>
              <a:t>bodyweight</a:t>
            </a:r>
            <a:r>
              <a:rPr lang="es-ES" altLang="es-ES" sz="900" dirty="0">
                <a:latin typeface="+mn-lt"/>
                <a:ea typeface="ＭＳ Ｐゴシック" charset="-128"/>
              </a:rPr>
              <a:t> </a:t>
            </a:r>
            <a:r>
              <a:rPr lang="es-ES" altLang="es-ES" sz="900" b="1" dirty="0">
                <a:latin typeface="+mn-lt"/>
                <a:ea typeface="ＭＳ Ｐゴシック" charset="-128"/>
              </a:rPr>
              <a:t>≥ 25 kg</a:t>
            </a:r>
            <a:r>
              <a:rPr lang="es-ES" altLang="es-ES" sz="900" dirty="0">
                <a:latin typeface="+mn-lt"/>
                <a:ea typeface="ＭＳ Ｐゴシック" charset="-128"/>
              </a:rPr>
              <a:t>. </a:t>
            </a:r>
            <a:r>
              <a:rPr lang="es-ES" altLang="es-ES" sz="900" b="1" dirty="0" err="1">
                <a:latin typeface="+mn-lt"/>
                <a:ea typeface="ＭＳ Ｐゴシック" charset="-128"/>
              </a:rPr>
              <a:t>For</a:t>
            </a:r>
            <a:r>
              <a:rPr lang="es-ES" altLang="es-ES" sz="900" b="1" dirty="0">
                <a:latin typeface="+mn-lt"/>
                <a:ea typeface="ＭＳ Ｐゴシック" charset="-128"/>
              </a:rPr>
              <a:t> the </a:t>
            </a:r>
            <a:r>
              <a:rPr lang="es-ES" altLang="es-ES" sz="900" b="1" dirty="0" err="1">
                <a:latin typeface="+mn-lt"/>
                <a:ea typeface="ＭＳ Ｐゴシック" charset="-128"/>
              </a:rPr>
              <a:t>primary</a:t>
            </a:r>
            <a:r>
              <a:rPr lang="es-ES" altLang="es-ES" sz="900" b="1" dirty="0">
                <a:latin typeface="+mn-lt"/>
                <a:ea typeface="ＭＳ Ｐゴシック" charset="-128"/>
              </a:rPr>
              <a:t> </a:t>
            </a:r>
            <a:r>
              <a:rPr lang="es-ES" altLang="es-ES" sz="900" b="1" dirty="0" err="1">
                <a:latin typeface="+mn-lt"/>
                <a:ea typeface="ＭＳ Ｐゴシック" charset="-128"/>
              </a:rPr>
              <a:t>endopoint</a:t>
            </a:r>
            <a:r>
              <a:rPr lang="es-ES" altLang="es-ES" sz="900" b="1" dirty="0">
                <a:latin typeface="+mn-lt"/>
                <a:ea typeface="ＭＳ Ｐゴシック" charset="-128"/>
              </a:rPr>
              <a:t> (</a:t>
            </a:r>
            <a:r>
              <a:rPr lang="es-ES" altLang="es-ES" sz="900" b="1" dirty="0" err="1">
                <a:latin typeface="+mn-lt"/>
                <a:ea typeface="ＭＳ Ｐゴシック" charset="-128"/>
              </a:rPr>
              <a:t>reduction</a:t>
            </a:r>
            <a:r>
              <a:rPr lang="es-ES" altLang="es-ES" sz="900" b="1" dirty="0">
                <a:latin typeface="+mn-lt"/>
                <a:ea typeface="ＭＳ Ｐゴシック" charset="-128"/>
              </a:rPr>
              <a:t> in T4SS), </a:t>
            </a:r>
            <a:r>
              <a:rPr lang="es-ES" altLang="es-ES" sz="900" b="1" dirty="0" err="1">
                <a:latin typeface="+mn-lt"/>
                <a:ea typeface="ＭＳ Ｐゴシック" charset="-128"/>
              </a:rPr>
              <a:t>rupatadine</a:t>
            </a:r>
            <a:r>
              <a:rPr lang="es-ES" altLang="es-ES" sz="900" b="1" dirty="0">
                <a:latin typeface="+mn-lt"/>
                <a:ea typeface="ＭＳ Ｐゴシック" charset="-128"/>
              </a:rPr>
              <a:t> </a:t>
            </a:r>
            <a:r>
              <a:rPr lang="es-ES" altLang="es-ES" sz="900" b="1" dirty="0" err="1">
                <a:latin typeface="+mn-lt"/>
                <a:ea typeface="ＭＳ Ｐゴシック" charset="-128"/>
              </a:rPr>
              <a:t>demostrated</a:t>
            </a:r>
            <a:r>
              <a:rPr lang="es-ES" altLang="es-ES" sz="900" b="1" dirty="0">
                <a:latin typeface="+mn-lt"/>
                <a:ea typeface="ＭＳ Ｐゴシック" charset="-128"/>
              </a:rPr>
              <a:t> </a:t>
            </a:r>
            <a:r>
              <a:rPr lang="es-ES" altLang="es-ES" sz="900" b="1" dirty="0" err="1">
                <a:latin typeface="+mn-lt"/>
                <a:ea typeface="ＭＳ Ｐゴシック" charset="-128"/>
              </a:rPr>
              <a:t>significantly</a:t>
            </a:r>
            <a:r>
              <a:rPr lang="es-ES" altLang="es-ES" sz="900" b="1" dirty="0">
                <a:latin typeface="+mn-lt"/>
                <a:ea typeface="ＭＳ Ｐゴシック" charset="-128"/>
              </a:rPr>
              <a:t> </a:t>
            </a:r>
            <a:r>
              <a:rPr lang="es-ES" altLang="es-ES" sz="900" b="1" dirty="0" err="1">
                <a:latin typeface="+mn-lt"/>
                <a:ea typeface="ＭＳ Ｐゴシック" charset="-128"/>
              </a:rPr>
              <a:t>greater</a:t>
            </a:r>
            <a:r>
              <a:rPr lang="es-ES" altLang="es-ES" sz="900" b="1" dirty="0">
                <a:latin typeface="+mn-lt"/>
                <a:ea typeface="ＭＳ Ｐゴシック" charset="-128"/>
              </a:rPr>
              <a:t> </a:t>
            </a:r>
            <a:r>
              <a:rPr lang="es-ES" altLang="es-ES" sz="900" b="1" dirty="0" err="1">
                <a:latin typeface="+mn-lt"/>
                <a:ea typeface="ＭＳ Ｐゴシック" charset="-128"/>
              </a:rPr>
              <a:t>reductions</a:t>
            </a:r>
            <a:r>
              <a:rPr lang="es-ES" altLang="es-ES" sz="900" b="1" dirty="0">
                <a:latin typeface="+mn-lt"/>
                <a:ea typeface="ＭＳ Ｐゴシック" charset="-128"/>
              </a:rPr>
              <a:t> </a:t>
            </a:r>
            <a:r>
              <a:rPr lang="es-ES" altLang="es-ES" sz="900" b="1" dirty="0" err="1">
                <a:latin typeface="+mn-lt"/>
                <a:ea typeface="ＭＳ Ｐゴシック" charset="-128"/>
              </a:rPr>
              <a:t>than</a:t>
            </a:r>
            <a:r>
              <a:rPr lang="es-ES" altLang="es-ES" sz="900" b="1" dirty="0">
                <a:latin typeface="+mn-lt"/>
                <a:ea typeface="ＭＳ Ｐゴシック" charset="-128"/>
              </a:rPr>
              <a:t> placebo </a:t>
            </a:r>
            <a:r>
              <a:rPr lang="es-ES" altLang="es-ES" sz="900" dirty="0">
                <a:latin typeface="+mn-lt"/>
                <a:ea typeface="ＭＳ Ｐゴシック" charset="-128"/>
              </a:rPr>
              <a:t>at </a:t>
            </a:r>
            <a:r>
              <a:rPr lang="es-ES" altLang="es-ES" sz="900" dirty="0" err="1">
                <a:latin typeface="+mn-lt"/>
                <a:ea typeface="ＭＳ Ｐゴシック" charset="-128"/>
              </a:rPr>
              <a:t>weeks</a:t>
            </a:r>
            <a:r>
              <a:rPr lang="es-ES" altLang="es-ES" sz="900" dirty="0">
                <a:latin typeface="+mn-lt"/>
                <a:ea typeface="ＭＳ Ｐゴシック" charset="-128"/>
              </a:rPr>
              <a:t> 4 and 6 (similar to the </a:t>
            </a:r>
            <a:r>
              <a:rPr lang="es-ES" altLang="es-ES" sz="900" dirty="0" err="1">
                <a:latin typeface="+mn-lt"/>
                <a:ea typeface="ＭＳ Ｐゴシック" charset="-128"/>
              </a:rPr>
              <a:t>outcomes</a:t>
            </a:r>
            <a:r>
              <a:rPr lang="es-ES" altLang="es-ES" sz="900" dirty="0">
                <a:latin typeface="+mn-lt"/>
                <a:ea typeface="ＭＳ Ｐゴシック" charset="-128"/>
              </a:rPr>
              <a:t> </a:t>
            </a:r>
            <a:r>
              <a:rPr lang="es-ES" altLang="es-ES" sz="900" dirty="0" err="1">
                <a:latin typeface="+mn-lt"/>
                <a:ea typeface="ＭＳ Ｐゴシック" charset="-128"/>
              </a:rPr>
              <a:t>achieved</a:t>
            </a:r>
            <a:r>
              <a:rPr lang="es-ES" altLang="es-ES" sz="900" dirty="0">
                <a:latin typeface="+mn-lt"/>
                <a:ea typeface="ＭＳ Ｐゴシック" charset="-128"/>
              </a:rPr>
              <a:t> in the total study population).</a:t>
            </a:r>
          </a:p>
          <a:p>
            <a:r>
              <a:rPr lang="es-ES" altLang="es-ES" sz="900" dirty="0" err="1">
                <a:latin typeface="+mn-lt"/>
                <a:ea typeface="ＭＳ Ｐゴシック" charset="-128"/>
              </a:rPr>
              <a:t>Reduction</a:t>
            </a:r>
            <a:r>
              <a:rPr lang="es-ES" altLang="es-ES" sz="900" dirty="0">
                <a:latin typeface="+mn-lt"/>
                <a:ea typeface="ＭＳ Ｐゴシック" charset="-128"/>
              </a:rPr>
              <a:t> in nasal </a:t>
            </a:r>
            <a:r>
              <a:rPr lang="es-ES" altLang="es-ES" sz="900" dirty="0" err="1">
                <a:latin typeface="+mn-lt"/>
                <a:ea typeface="ＭＳ Ｐゴシック" charset="-128"/>
              </a:rPr>
              <a:t>symptom</a:t>
            </a:r>
            <a:r>
              <a:rPr lang="es-ES" altLang="es-ES" sz="900" dirty="0">
                <a:latin typeface="+mn-lt"/>
                <a:ea typeface="ＭＳ Ｐゴシック" charset="-128"/>
              </a:rPr>
              <a:t> (T4SS) scores after 4 and 6 </a:t>
            </a:r>
            <a:r>
              <a:rPr lang="es-ES" altLang="es-ES" sz="900" dirty="0" err="1">
                <a:latin typeface="+mn-lt"/>
                <a:ea typeface="ＭＳ Ｐゴシック" charset="-128"/>
              </a:rPr>
              <a:t>weeks</a:t>
            </a:r>
            <a:r>
              <a:rPr lang="es-ES" altLang="es-ES" sz="900" dirty="0">
                <a:latin typeface="+mn-lt"/>
                <a:ea typeface="ＭＳ Ｐゴシック" charset="-128"/>
              </a:rPr>
              <a:t> of </a:t>
            </a:r>
            <a:r>
              <a:rPr lang="es-ES" altLang="es-ES" sz="900" dirty="0" err="1">
                <a:latin typeface="+mn-lt"/>
                <a:ea typeface="ＭＳ Ｐゴシック" charset="-128"/>
              </a:rPr>
              <a:t>treatment</a:t>
            </a:r>
            <a:r>
              <a:rPr lang="es-ES" altLang="es-ES" sz="900" dirty="0">
                <a:latin typeface="+mn-lt"/>
                <a:ea typeface="ＭＳ Ｐゴシック" charset="-128"/>
              </a:rPr>
              <a:t> with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or</a:t>
            </a:r>
            <a:r>
              <a:rPr lang="es-ES" altLang="es-ES" sz="900" dirty="0">
                <a:latin typeface="+mn-lt"/>
                <a:ea typeface="ＭＳ Ｐゴシック" charset="-128"/>
              </a:rPr>
              <a:t> placebo in </a:t>
            </a:r>
            <a:r>
              <a:rPr lang="es-ES" altLang="es-ES" sz="900" dirty="0" err="1">
                <a:latin typeface="+mn-lt"/>
                <a:ea typeface="ＭＳ Ｐゴシック" charset="-128"/>
              </a:rPr>
              <a:t>children</a:t>
            </a:r>
            <a:r>
              <a:rPr lang="es-ES" altLang="es-ES" sz="900" dirty="0">
                <a:latin typeface="+mn-lt"/>
                <a:ea typeface="ＭＳ Ｐゴシック" charset="-128"/>
              </a:rPr>
              <a:t>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and </a:t>
            </a:r>
            <a:r>
              <a:rPr lang="es-ES" altLang="es-ES" sz="900" dirty="0" err="1">
                <a:latin typeface="+mn-lt"/>
                <a:ea typeface="ＭＳ Ｐゴシック" charset="-128"/>
              </a:rPr>
              <a:t>bodyweight</a:t>
            </a:r>
            <a:r>
              <a:rPr lang="es-ES" altLang="es-ES" sz="900" dirty="0">
                <a:latin typeface="+mn-lt"/>
                <a:ea typeface="ＭＳ Ｐゴシック" charset="-128"/>
              </a:rPr>
              <a:t> &gt; 25 kg. T4SS is a total </a:t>
            </a:r>
            <a:r>
              <a:rPr lang="es-ES" altLang="es-ES" sz="900" dirty="0" err="1">
                <a:latin typeface="+mn-lt"/>
                <a:ea typeface="ＭＳ Ｐゴシック" charset="-128"/>
              </a:rPr>
              <a:t>symptom</a:t>
            </a:r>
            <a:r>
              <a:rPr lang="es-ES" altLang="es-ES" sz="900" dirty="0">
                <a:latin typeface="+mn-lt"/>
                <a:ea typeface="ＭＳ Ｐゴシック" charset="-128"/>
              </a:rPr>
              <a:t> score </a:t>
            </a:r>
            <a:r>
              <a:rPr lang="es-ES" altLang="es-ES" sz="900" dirty="0" err="1">
                <a:latin typeface="+mn-lt"/>
                <a:ea typeface="ＭＳ Ｐゴシック" charset="-128"/>
              </a:rPr>
              <a:t>for</a:t>
            </a:r>
            <a:r>
              <a:rPr lang="es-ES" altLang="es-ES" sz="900" dirty="0">
                <a:latin typeface="+mn-lt"/>
                <a:ea typeface="ＭＳ Ｐゴシック" charset="-128"/>
              </a:rPr>
              <a:t> 4 nasal </a:t>
            </a:r>
            <a:r>
              <a:rPr lang="es-ES" altLang="es-ES" sz="900" dirty="0" err="1">
                <a:latin typeface="+mn-lt"/>
                <a:ea typeface="ＭＳ Ｐゴシック" charset="-128"/>
              </a:rPr>
              <a:t>symptoms</a:t>
            </a:r>
            <a:r>
              <a:rPr lang="es-ES" altLang="es-ES" sz="900" dirty="0">
                <a:latin typeface="+mn-lt"/>
                <a:ea typeface="ＭＳ Ｐゴシック" charset="-128"/>
              </a:rPr>
              <a:t>: </a:t>
            </a:r>
            <a:r>
              <a:rPr lang="es-ES" altLang="es-ES" sz="900" dirty="0" err="1">
                <a:latin typeface="+mn-lt"/>
                <a:ea typeface="ＭＳ Ｐゴシック" charset="-128"/>
              </a:rPr>
              <a:t>congestion</a:t>
            </a:r>
            <a:r>
              <a:rPr lang="es-ES" altLang="es-ES" sz="900" dirty="0">
                <a:latin typeface="+mn-lt"/>
                <a:ea typeface="ＭＳ Ｐゴシック" charset="-128"/>
              </a:rPr>
              <a:t>; </a:t>
            </a:r>
            <a:r>
              <a:rPr lang="es-ES" altLang="es-ES" sz="900" dirty="0" err="1">
                <a:latin typeface="+mn-lt"/>
                <a:ea typeface="ＭＳ Ｐゴシック" charset="-128"/>
              </a:rPr>
              <a:t>sneezing</a:t>
            </a:r>
            <a:r>
              <a:rPr lang="es-ES" altLang="es-ES" sz="900" dirty="0">
                <a:latin typeface="+mn-lt"/>
                <a:ea typeface="ＭＳ Ｐゴシック" charset="-128"/>
              </a:rPr>
              <a:t>; </a:t>
            </a:r>
            <a:r>
              <a:rPr lang="es-ES" altLang="es-ES" sz="900" dirty="0" err="1">
                <a:latin typeface="+mn-lt"/>
                <a:ea typeface="ＭＳ Ｐゴシック" charset="-128"/>
              </a:rPr>
              <a:t>runny</a:t>
            </a:r>
            <a:r>
              <a:rPr lang="es-ES" altLang="es-ES" sz="900" dirty="0">
                <a:latin typeface="+mn-lt"/>
                <a:ea typeface="ＭＳ Ｐゴシック" charset="-128"/>
              </a:rPr>
              <a:t> </a:t>
            </a:r>
            <a:r>
              <a:rPr lang="es-ES" altLang="es-ES" sz="900" dirty="0" err="1">
                <a:latin typeface="+mn-lt"/>
                <a:ea typeface="ＭＳ Ｐゴシック" charset="-128"/>
              </a:rPr>
              <a:t>nose</a:t>
            </a:r>
            <a:r>
              <a:rPr lang="es-ES" altLang="es-ES" sz="900" dirty="0">
                <a:latin typeface="+mn-lt"/>
                <a:ea typeface="ＭＳ Ｐゴシック" charset="-128"/>
              </a:rPr>
              <a:t>; </a:t>
            </a:r>
            <a:r>
              <a:rPr lang="es-ES" altLang="es-ES" sz="900" dirty="0" err="1">
                <a:latin typeface="+mn-lt"/>
                <a:ea typeface="ＭＳ Ｐゴシック" charset="-128"/>
              </a:rPr>
              <a:t>itchy</a:t>
            </a:r>
            <a:r>
              <a:rPr lang="es-ES" altLang="es-ES" sz="900" dirty="0">
                <a:latin typeface="+mn-lt"/>
                <a:ea typeface="ＭＳ Ｐゴシック" charset="-128"/>
              </a:rPr>
              <a:t> </a:t>
            </a:r>
            <a:r>
              <a:rPr lang="es-ES" altLang="es-ES" sz="900" dirty="0" err="1">
                <a:latin typeface="+mn-lt"/>
                <a:ea typeface="ＭＳ Ｐゴシック" charset="-128"/>
              </a:rPr>
              <a:t>nose</a:t>
            </a:r>
            <a:r>
              <a:rPr lang="es-ES" altLang="es-ES" sz="900" dirty="0">
                <a:latin typeface="+mn-lt"/>
                <a:ea typeface="ＭＳ Ｐゴシック" charset="-128"/>
              </a:rPr>
              <a:t>, mouth, </a:t>
            </a:r>
            <a:r>
              <a:rPr lang="es-ES" altLang="es-ES" sz="900" dirty="0" err="1">
                <a:latin typeface="+mn-lt"/>
                <a:ea typeface="ＭＳ Ｐゴシック" charset="-128"/>
              </a:rPr>
              <a:t>throat</a:t>
            </a:r>
            <a:r>
              <a:rPr lang="es-ES" altLang="es-ES" sz="900" dirty="0">
                <a:latin typeface="+mn-lt"/>
                <a:ea typeface="ＭＳ Ｐゴシック" charset="-128"/>
              </a:rPr>
              <a:t> and/</a:t>
            </a:r>
            <a:r>
              <a:rPr lang="es-ES" altLang="es-ES" sz="900" dirty="0" err="1">
                <a:latin typeface="+mn-lt"/>
                <a:ea typeface="ＭＳ Ｐゴシック" charset="-128"/>
              </a:rPr>
              <a:t>or</a:t>
            </a:r>
            <a:r>
              <a:rPr lang="es-ES" altLang="es-ES" sz="900" dirty="0">
                <a:latin typeface="+mn-lt"/>
                <a:ea typeface="ＭＳ Ｐゴシック" charset="-128"/>
              </a:rPr>
              <a:t> </a:t>
            </a:r>
            <a:r>
              <a:rPr lang="es-ES" altLang="es-ES" sz="900" dirty="0" err="1">
                <a:latin typeface="+mn-lt"/>
                <a:ea typeface="ＭＳ Ｐゴシック" charset="-128"/>
              </a:rPr>
              <a:t>ears</a:t>
            </a:r>
            <a:r>
              <a:rPr lang="es-ES" altLang="es-ES" sz="900" dirty="0">
                <a:latin typeface="+mn-lt"/>
                <a:ea typeface="ＭＳ Ｐゴシック" charset="-128"/>
              </a:rPr>
              <a:t>. </a:t>
            </a:r>
            <a:r>
              <a:rPr lang="es-ES" altLang="es-ES" sz="900" dirty="0" err="1">
                <a:latin typeface="+mn-lt"/>
                <a:ea typeface="ＭＳ Ｐゴシック" charset="-128"/>
              </a:rPr>
              <a:t>Statistical</a:t>
            </a:r>
            <a:r>
              <a:rPr lang="es-ES" altLang="es-ES" sz="900" dirty="0">
                <a:latin typeface="+mn-lt"/>
                <a:ea typeface="ＭＳ Ｐゴシック" charset="-128"/>
              </a:rPr>
              <a:t> </a:t>
            </a:r>
            <a:r>
              <a:rPr lang="es-ES" altLang="es-ES" sz="900" dirty="0" err="1">
                <a:latin typeface="+mn-lt"/>
                <a:ea typeface="ＭＳ Ｐゴシック" charset="-128"/>
              </a:rPr>
              <a:t>significance</a:t>
            </a:r>
            <a:r>
              <a:rPr lang="es-ES" altLang="es-ES" sz="900" dirty="0">
                <a:latin typeface="+mn-lt"/>
                <a:ea typeface="ＭＳ Ｐゴシック" charset="-128"/>
              </a:rPr>
              <a:t>: p &lt; 0.01 </a:t>
            </a:r>
            <a:r>
              <a:rPr lang="es-ES" altLang="es-ES" sz="900" dirty="0" err="1">
                <a:latin typeface="+mn-lt"/>
                <a:ea typeface="ＭＳ Ｐゴシック" charset="-128"/>
              </a:rPr>
              <a:t>for</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vs placebo.</a:t>
            </a:r>
            <a:endParaRPr lang="es-ES" altLang="es-ES" sz="900" b="1" dirty="0">
              <a:latin typeface="+mn-lt"/>
              <a:ea typeface="ＭＳ Ｐゴシック" charset="-128"/>
            </a:endParaRPr>
          </a:p>
          <a:p>
            <a:endParaRPr lang="es-ES" altLang="es-ES" sz="900" b="1" dirty="0">
              <a:latin typeface="+mn-lt"/>
              <a:ea typeface="ＭＳ Ｐゴシック" charset="-128"/>
            </a:endParaRPr>
          </a:p>
          <a:p>
            <a:r>
              <a:rPr lang="es-ES" altLang="es-ES" sz="900" b="1" dirty="0">
                <a:latin typeface="+mn-lt"/>
                <a:ea typeface="ＭＳ Ｐゴシック" charset="-128"/>
              </a:rPr>
              <a:t>Reference</a:t>
            </a:r>
          </a:p>
          <a:p>
            <a:r>
              <a:rPr lang="es-ES" altLang="es-ES" sz="900" dirty="0">
                <a:latin typeface="+mn-lt"/>
                <a:ea typeface="ＭＳ Ｐゴシック" charset="-128"/>
              </a:rPr>
              <a:t>Izquierdo I, Potter P, </a:t>
            </a:r>
            <a:r>
              <a:rPr lang="es-ES" altLang="es-ES" sz="900" dirty="0" err="1">
                <a:latin typeface="+mn-lt"/>
                <a:ea typeface="ＭＳ Ｐゴシック" charset="-128"/>
              </a:rPr>
              <a:t>Maspero</a:t>
            </a:r>
            <a:r>
              <a:rPr lang="es-ES" altLang="es-ES" sz="900" dirty="0">
                <a:latin typeface="+mn-lt"/>
                <a:ea typeface="ＭＳ Ｐゴシック" charset="-128"/>
              </a:rPr>
              <a:t> J, </a:t>
            </a:r>
            <a:r>
              <a:rPr lang="es-ES" altLang="es-ES" sz="900" dirty="0" err="1">
                <a:latin typeface="+mn-lt"/>
                <a:ea typeface="ＭＳ Ｐゴシック" charset="-128"/>
              </a:rPr>
              <a:t>Vermeulen</a:t>
            </a:r>
            <a:r>
              <a:rPr lang="es-ES" altLang="es-ES" sz="900" dirty="0">
                <a:latin typeface="+mn-lt"/>
                <a:ea typeface="ＭＳ Ｐゴシック" charset="-128"/>
              </a:rPr>
              <a:t> J, </a:t>
            </a:r>
            <a:r>
              <a:rPr lang="es-ES" altLang="es-ES" sz="900" dirty="0" err="1">
                <a:latin typeface="+mn-lt"/>
                <a:ea typeface="ＭＳ Ｐゴシック" charset="-128"/>
              </a:rPr>
              <a:t>Barkai</a:t>
            </a:r>
            <a:r>
              <a:rPr lang="es-ES" altLang="es-ES" sz="900" dirty="0">
                <a:latin typeface="+mn-lt"/>
                <a:ea typeface="ＭＳ Ｐゴシック" charset="-128"/>
              </a:rPr>
              <a:t> L, </a:t>
            </a:r>
            <a:r>
              <a:rPr lang="es-ES" altLang="es-ES" sz="900" dirty="0" err="1">
                <a:latin typeface="+mn-lt"/>
                <a:ea typeface="ＭＳ Ｐゴシック" charset="-128"/>
              </a:rPr>
              <a:t>Nemeth</a:t>
            </a:r>
            <a:r>
              <a:rPr lang="es-ES" altLang="es-ES" sz="900" dirty="0">
                <a:latin typeface="+mn-lt"/>
                <a:ea typeface="ＭＳ Ｐゴシック" charset="-128"/>
              </a:rPr>
              <a:t> I, et al.</a:t>
            </a:r>
            <a:r>
              <a:rPr lang="es-ES" altLang="es-ES" sz="900" b="1" dirty="0">
                <a:latin typeface="+mn-lt"/>
                <a:ea typeface="ＭＳ Ｐゴシック" charset="-128"/>
              </a:rPr>
              <a:t> </a:t>
            </a:r>
            <a:r>
              <a:rPr lang="es-ES" altLang="es-ES" sz="900" dirty="0">
                <a:latin typeface="+mn-lt"/>
                <a:ea typeface="ＭＳ Ｐゴシック" charset="-128"/>
              </a:rPr>
              <a:t>Rupatadine oral solution </a:t>
            </a:r>
            <a:r>
              <a:rPr lang="es-ES" altLang="es-ES" sz="900" dirty="0" err="1">
                <a:latin typeface="+mn-lt"/>
                <a:ea typeface="ＭＳ Ｐゴシック" charset="-128"/>
              </a:rPr>
              <a:t>improves</a:t>
            </a:r>
            <a:r>
              <a:rPr lang="es-ES" altLang="es-ES" sz="900" dirty="0">
                <a:latin typeface="+mn-lt"/>
                <a:ea typeface="ＭＳ Ｐゴシック" charset="-128"/>
              </a:rPr>
              <a:t> </a:t>
            </a:r>
            <a:r>
              <a:rPr lang="es-ES" altLang="es-ES" sz="900" dirty="0" err="1">
                <a:latin typeface="+mn-lt"/>
                <a:ea typeface="ＭＳ Ｐゴシック" charset="-128"/>
              </a:rPr>
              <a:t>rhino-conjunctive</a:t>
            </a:r>
            <a:r>
              <a:rPr lang="es-ES" altLang="es-ES" sz="900" dirty="0">
                <a:latin typeface="+mn-lt"/>
                <a:ea typeface="ＭＳ Ｐゴシック" charset="-128"/>
              </a:rPr>
              <a:t> </a:t>
            </a:r>
            <a:r>
              <a:rPr lang="es-ES" altLang="es-ES" sz="900" dirty="0" err="1">
                <a:latin typeface="+mn-lt"/>
                <a:ea typeface="ＭＳ Ｐゴシック" charset="-128"/>
              </a:rPr>
              <a:t>symptoms</a:t>
            </a:r>
            <a:r>
              <a:rPr lang="es-ES" altLang="es-ES" sz="900" dirty="0">
                <a:latin typeface="+mn-lt"/>
                <a:ea typeface="ＭＳ Ｐゴシック" charset="-128"/>
              </a:rPr>
              <a:t> control in </a:t>
            </a:r>
            <a:r>
              <a:rPr lang="es-ES" altLang="es-ES" sz="900" dirty="0" err="1">
                <a:latin typeface="+mn-lt"/>
                <a:ea typeface="ＭＳ Ｐゴシック" charset="-128"/>
              </a:rPr>
              <a:t>children</a:t>
            </a:r>
            <a:r>
              <a:rPr lang="es-ES" altLang="es-ES" sz="900" dirty="0">
                <a:latin typeface="+mn-lt"/>
                <a:ea typeface="ＭＳ Ｐゴシック" charset="-128"/>
              </a:rPr>
              <a:t> with 6-11 </a:t>
            </a:r>
            <a:r>
              <a:rPr lang="es-ES" altLang="es-ES" sz="900" dirty="0" err="1">
                <a:latin typeface="+mn-lt"/>
                <a:ea typeface="ＭＳ Ｐゴシック" charset="-128"/>
              </a:rPr>
              <a:t>years</a:t>
            </a:r>
            <a:r>
              <a:rPr lang="es-ES" altLang="es-ES" sz="900" dirty="0">
                <a:latin typeface="+mn-lt"/>
                <a:ea typeface="ＭＳ Ｐゴシック" charset="-128"/>
              </a:rPr>
              <a:t> </a:t>
            </a:r>
            <a:r>
              <a:rPr lang="es-ES" altLang="es-ES" sz="900" dirty="0" err="1">
                <a:latin typeface="+mn-lt"/>
                <a:ea typeface="ＭＳ Ｐゴシック" charset="-128"/>
              </a:rPr>
              <a:t>weighing</a:t>
            </a:r>
            <a:r>
              <a:rPr lang="es-ES" altLang="es-ES" sz="900" dirty="0">
                <a:latin typeface="+mn-lt"/>
                <a:ea typeface="ＭＳ Ｐゴシック" charset="-128"/>
              </a:rPr>
              <a:t> ≥ 25 kg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t>
            </a:r>
            <a:r>
              <a:rPr lang="en-US" altLang="es-ES" sz="900" dirty="0" err="1">
                <a:latin typeface="+mn-lt"/>
                <a:ea typeface="ＭＳ Ｐゴシック" charset="-128"/>
              </a:rPr>
              <a:t>Clin</a:t>
            </a:r>
            <a:r>
              <a:rPr lang="en-US" altLang="es-ES" sz="900" dirty="0">
                <a:latin typeface="+mn-lt"/>
                <a:ea typeface="ＭＳ Ｐゴシック" charset="-128"/>
              </a:rPr>
              <a:t> Trans Allergy. 2013;3(</a:t>
            </a:r>
            <a:r>
              <a:rPr lang="en-US" altLang="es-ES" sz="900" dirty="0" err="1">
                <a:latin typeface="+mn-lt"/>
                <a:ea typeface="ＭＳ Ｐゴシック" charset="-128"/>
              </a:rPr>
              <a:t>Suppl</a:t>
            </a:r>
            <a:r>
              <a:rPr lang="en-US" altLang="es-ES" sz="900" dirty="0">
                <a:latin typeface="+mn-lt"/>
                <a:ea typeface="ＭＳ Ｐゴシック" charset="-128"/>
              </a:rPr>
              <a:t> 2):P33.</a:t>
            </a:r>
            <a:endParaRPr lang="es-ES" altLang="es-ES" sz="900" dirty="0">
              <a:latin typeface="+mn-lt"/>
              <a:ea typeface="ＭＳ Ｐゴシック" charset="-128"/>
            </a:endParaRPr>
          </a:p>
          <a:p>
            <a:endParaRPr lang="es-ES" altLang="es-ES" sz="900" dirty="0">
              <a:latin typeface="+mn-lt"/>
              <a:ea typeface="ＭＳ Ｐゴシック" charset="-128"/>
            </a:endParaRPr>
          </a:p>
        </p:txBody>
      </p:sp>
    </p:spTree>
    <p:extLst>
      <p:ext uri="{BB962C8B-B14F-4D97-AF65-F5344CB8AC3E}">
        <p14:creationId xmlns:p14="http://schemas.microsoft.com/office/powerpoint/2010/main" val="2712257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Rot="1" noChangeAspect="1" noTextEdit="1"/>
          </p:cNvSpPr>
          <p:nvPr>
            <p:ph type="sldImg"/>
          </p:nvPr>
        </p:nvSpPr>
        <p:spPr>
          <a:ln/>
        </p:spPr>
      </p:sp>
      <p:sp>
        <p:nvSpPr>
          <p:cNvPr id="74754" name="Rectangle 3"/>
          <p:cNvSpPr>
            <a:spLocks noGrp="1"/>
          </p:cNvSpPr>
          <p:nvPr>
            <p:ph type="body" idx="1"/>
          </p:nvPr>
        </p:nvSpPr>
        <p:spPr>
          <a:noFill/>
          <a:ln/>
        </p:spPr>
        <p:txBody>
          <a:bodyPr/>
          <a:lstStyle/>
          <a:p>
            <a:r>
              <a:rPr lang="es-ES" altLang="es-ES" b="1" dirty="0" err="1">
                <a:latin typeface="Arial" pitchFamily="34" charset="0"/>
                <a:ea typeface="ＭＳ Ｐゴシック" charset="-128"/>
              </a:rPr>
              <a:t>In</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children</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weighing</a:t>
            </a:r>
            <a:r>
              <a:rPr lang="es-ES" altLang="es-ES" b="1" dirty="0">
                <a:latin typeface="Arial" pitchFamily="34" charset="0"/>
                <a:ea typeface="ＭＳ Ｐゴシック" charset="-128"/>
              </a:rPr>
              <a:t> ≥ 25 kg, </a:t>
            </a:r>
            <a:r>
              <a:rPr lang="es-ES" altLang="es-ES" b="1" dirty="0" err="1">
                <a:latin typeface="Arial" pitchFamily="34" charset="0"/>
                <a:ea typeface="ＭＳ Ｐゴシック" charset="-128"/>
              </a:rPr>
              <a:t>statistically</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significant</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difference</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between</a:t>
            </a:r>
            <a:r>
              <a:rPr lang="es-ES" altLang="es-ES" b="1" dirty="0">
                <a:latin typeface="Arial" pitchFamily="34" charset="0"/>
                <a:ea typeface="ＭＳ Ｐゴシック" charset="-128"/>
              </a:rPr>
              <a:t> the </a:t>
            </a:r>
            <a:r>
              <a:rPr lang="es-ES" altLang="es-ES" b="1" dirty="0" err="1">
                <a:latin typeface="Arial" pitchFamily="34" charset="0"/>
                <a:ea typeface="ＭＳ Ｐゴシック" charset="-128"/>
              </a:rPr>
              <a:t>rupatadine</a:t>
            </a:r>
            <a:r>
              <a:rPr lang="es-ES" altLang="es-ES" b="1" dirty="0">
                <a:latin typeface="Arial" pitchFamily="34" charset="0"/>
                <a:ea typeface="ＭＳ Ｐゴシック" charset="-128"/>
              </a:rPr>
              <a:t> and placebo </a:t>
            </a:r>
            <a:r>
              <a:rPr lang="es-ES" altLang="es-ES" dirty="0" err="1">
                <a:latin typeface="Arial" pitchFamily="34" charset="0"/>
                <a:ea typeface="ＭＳ Ｐゴシック" charset="-128"/>
              </a:rPr>
              <a:t>treatment</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groups</a:t>
            </a:r>
            <a:r>
              <a:rPr lang="es-ES" altLang="es-ES" dirty="0">
                <a:latin typeface="Arial" pitchFamily="34" charset="0"/>
                <a:ea typeface="ＭＳ Ｐゴシック" charset="-128"/>
              </a:rPr>
              <a:t> </a:t>
            </a:r>
            <a:r>
              <a:rPr lang="es-ES" altLang="es-ES" b="1" dirty="0" err="1">
                <a:latin typeface="Arial" pitchFamily="34" charset="0"/>
                <a:ea typeface="ＭＳ Ｐゴシック" charset="-128"/>
              </a:rPr>
              <a:t>were</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also</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observed</a:t>
            </a:r>
            <a:r>
              <a:rPr lang="es-ES" altLang="es-ES" b="1" dirty="0">
                <a:latin typeface="Arial" pitchFamily="34" charset="0"/>
                <a:ea typeface="ＭＳ Ｐゴシック" charset="-128"/>
              </a:rPr>
              <a:t> at 4 and 6 </a:t>
            </a:r>
            <a:r>
              <a:rPr lang="es-ES" altLang="es-ES" b="1" dirty="0" err="1">
                <a:latin typeface="Arial" pitchFamily="34" charset="0"/>
                <a:ea typeface="ＭＳ Ｐゴシック" charset="-128"/>
              </a:rPr>
              <a:t>weeks</a:t>
            </a:r>
            <a:r>
              <a:rPr lang="es-ES" altLang="es-ES" b="1" dirty="0">
                <a:latin typeface="Arial" pitchFamily="34" charset="0"/>
                <a:ea typeface="ＭＳ Ｐゴシック" charset="-128"/>
              </a:rPr>
              <a:t> </a:t>
            </a:r>
            <a:r>
              <a:rPr lang="es-ES" altLang="es-ES" b="1" dirty="0" err="1">
                <a:latin typeface="Arial" pitchFamily="34" charset="0"/>
                <a:ea typeface="ＭＳ Ｐゴシック" charset="-128"/>
              </a:rPr>
              <a:t>for</a:t>
            </a:r>
            <a:r>
              <a:rPr lang="es-ES" altLang="es-ES" b="1" dirty="0">
                <a:latin typeface="Arial" pitchFamily="34" charset="0"/>
                <a:ea typeface="ＭＳ Ｐゴシック" charset="-128"/>
              </a:rPr>
              <a:t> the mean </a:t>
            </a:r>
            <a:r>
              <a:rPr lang="es-ES" altLang="es-ES" b="1" dirty="0" err="1">
                <a:latin typeface="Arial" pitchFamily="34" charset="0"/>
                <a:ea typeface="ＭＳ Ｐゴシック" charset="-128"/>
              </a:rPr>
              <a:t>reduction</a:t>
            </a:r>
            <a:r>
              <a:rPr lang="es-ES" altLang="es-ES" b="1" dirty="0">
                <a:latin typeface="Arial" pitchFamily="34" charset="0"/>
                <a:ea typeface="ＭＳ Ｐゴシック" charset="-128"/>
              </a:rPr>
              <a:t> from </a:t>
            </a:r>
            <a:r>
              <a:rPr lang="es-ES" altLang="es-ES" b="1" dirty="0" err="1">
                <a:latin typeface="Arial" pitchFamily="34" charset="0"/>
                <a:ea typeface="ＭＳ Ｐゴシック" charset="-128"/>
              </a:rPr>
              <a:t>baseline</a:t>
            </a:r>
            <a:r>
              <a:rPr lang="es-ES" altLang="es-ES" b="1" dirty="0">
                <a:latin typeface="Arial" pitchFamily="34" charset="0"/>
                <a:ea typeface="ＭＳ Ｐゴシック" charset="-128"/>
              </a:rPr>
              <a:t> in T5SS score</a:t>
            </a:r>
            <a:r>
              <a:rPr lang="es-ES" altLang="es-ES" dirty="0">
                <a:latin typeface="Arial" pitchFamily="34" charset="0"/>
                <a:ea typeface="ＭＳ Ｐゴシック" charset="-128"/>
              </a:rPr>
              <a:t>. This </a:t>
            </a:r>
            <a:r>
              <a:rPr lang="es-ES" altLang="es-ES" dirty="0" err="1">
                <a:latin typeface="Arial" pitchFamily="34" charset="0"/>
                <a:ea typeface="ＭＳ Ｐゴシック" charset="-128"/>
              </a:rPr>
              <a:t>outcome</a:t>
            </a:r>
            <a:r>
              <a:rPr lang="es-ES" altLang="es-ES" dirty="0">
                <a:latin typeface="Arial" pitchFamily="34" charset="0"/>
                <a:ea typeface="ＭＳ Ｐゴシック" charset="-128"/>
              </a:rPr>
              <a:t> is in </a:t>
            </a:r>
            <a:r>
              <a:rPr lang="es-ES" altLang="es-ES" dirty="0" err="1">
                <a:latin typeface="Arial" pitchFamily="34" charset="0"/>
                <a:ea typeface="ＭＳ Ｐゴシック" charset="-128"/>
              </a:rPr>
              <a:t>contrast</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to</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that</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seen</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in</a:t>
            </a:r>
            <a:r>
              <a:rPr lang="es-ES" altLang="es-ES" dirty="0">
                <a:latin typeface="Arial" pitchFamily="34" charset="0"/>
                <a:ea typeface="ＭＳ Ｐゴシック" charset="-128"/>
              </a:rPr>
              <a:t> the total study </a:t>
            </a:r>
            <a:r>
              <a:rPr lang="es-ES" altLang="es-ES" dirty="0" err="1">
                <a:latin typeface="Arial" pitchFamily="34" charset="0"/>
                <a:ea typeface="ＭＳ Ｐゴシック" charset="-128"/>
              </a:rPr>
              <a:t>population</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where</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between-group</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differences</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were</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only</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statistically</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significant</a:t>
            </a:r>
            <a:r>
              <a:rPr lang="es-ES" altLang="es-ES" dirty="0">
                <a:latin typeface="Arial" pitchFamily="34" charset="0"/>
                <a:ea typeface="ＭＳ Ｐゴシック" charset="-128"/>
              </a:rPr>
              <a:t> at </a:t>
            </a:r>
            <a:r>
              <a:rPr lang="es-ES" altLang="es-ES" dirty="0" err="1">
                <a:latin typeface="Arial" pitchFamily="34" charset="0"/>
                <a:ea typeface="ＭＳ Ｐゴシック" charset="-128"/>
              </a:rPr>
              <a:t>week</a:t>
            </a:r>
            <a:r>
              <a:rPr lang="es-ES" altLang="es-ES" dirty="0">
                <a:latin typeface="Arial" pitchFamily="34" charset="0"/>
                <a:ea typeface="ＭＳ Ｐゴシック" charset="-128"/>
              </a:rPr>
              <a:t> 4.</a:t>
            </a:r>
          </a:p>
          <a:p>
            <a:r>
              <a:rPr lang="es-ES" altLang="es-ES" dirty="0">
                <a:latin typeface="Arial" pitchFamily="34" charset="0"/>
                <a:ea typeface="ＭＳ Ｐゴシック" charset="-128"/>
              </a:rPr>
              <a:t>T5SS is a total </a:t>
            </a:r>
            <a:r>
              <a:rPr lang="es-ES" altLang="es-ES" dirty="0" err="1">
                <a:latin typeface="Arial" pitchFamily="34" charset="0"/>
                <a:ea typeface="ＭＳ Ｐゴシック" charset="-128"/>
              </a:rPr>
              <a:t>symptom</a:t>
            </a:r>
            <a:r>
              <a:rPr lang="es-ES" altLang="es-ES" dirty="0">
                <a:latin typeface="Arial" pitchFamily="34" charset="0"/>
                <a:ea typeface="ＭＳ Ｐゴシック" charset="-128"/>
              </a:rPr>
              <a:t> score </a:t>
            </a:r>
            <a:r>
              <a:rPr lang="es-ES" altLang="es-ES" dirty="0" err="1">
                <a:latin typeface="Arial" pitchFamily="34" charset="0"/>
                <a:ea typeface="ＭＳ Ｐゴシック" charset="-128"/>
              </a:rPr>
              <a:t>for</a:t>
            </a:r>
            <a:r>
              <a:rPr lang="es-ES" altLang="es-ES" dirty="0">
                <a:latin typeface="Arial" pitchFamily="34" charset="0"/>
                <a:ea typeface="ＭＳ Ｐゴシック" charset="-128"/>
              </a:rPr>
              <a:t>: nasal </a:t>
            </a:r>
            <a:r>
              <a:rPr lang="es-ES" altLang="es-ES" dirty="0" err="1">
                <a:latin typeface="Arial" pitchFamily="34" charset="0"/>
                <a:ea typeface="ＭＳ Ｐゴシック" charset="-128"/>
              </a:rPr>
              <a:t>congestion</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sneezing</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runny</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nose</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mouth</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throat</a:t>
            </a:r>
            <a:r>
              <a:rPr lang="es-ES" altLang="es-ES" dirty="0">
                <a:latin typeface="Arial" pitchFamily="34" charset="0"/>
                <a:ea typeface="ＭＳ Ｐゴシック" charset="-128"/>
              </a:rPr>
              <a:t> and/</a:t>
            </a:r>
            <a:r>
              <a:rPr lang="es-ES" altLang="es-ES" dirty="0" err="1">
                <a:latin typeface="Arial" pitchFamily="34" charset="0"/>
                <a:ea typeface="ＭＳ Ｐゴシック" charset="-128"/>
              </a:rPr>
              <a:t>or</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ears</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and</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itchy</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watery</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and</a:t>
            </a:r>
            <a:r>
              <a:rPr lang="es-ES" altLang="es-ES" dirty="0">
                <a:latin typeface="Arial" pitchFamily="34" charset="0"/>
                <a:ea typeface="ＭＳ Ｐゴシック" charset="-128"/>
              </a:rPr>
              <a:t> red </a:t>
            </a:r>
            <a:r>
              <a:rPr lang="es-ES" altLang="es-ES" dirty="0" err="1">
                <a:latin typeface="Arial" pitchFamily="34" charset="0"/>
                <a:ea typeface="ＭＳ Ｐゴシック" charset="-128"/>
              </a:rPr>
              <a:t>eyes</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Statistical</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significance</a:t>
            </a:r>
            <a:r>
              <a:rPr lang="es-ES" altLang="es-ES" dirty="0">
                <a:latin typeface="Arial" pitchFamily="34" charset="0"/>
                <a:ea typeface="ＭＳ Ｐゴシック" charset="-128"/>
              </a:rPr>
              <a:t>: p &lt; 0.01 </a:t>
            </a:r>
            <a:r>
              <a:rPr lang="es-ES" altLang="es-ES" dirty="0" err="1">
                <a:latin typeface="Arial" pitchFamily="34" charset="0"/>
                <a:ea typeface="ＭＳ Ｐゴシック" charset="-128"/>
              </a:rPr>
              <a:t>for</a:t>
            </a:r>
            <a:r>
              <a:rPr lang="es-ES" altLang="es-ES" dirty="0">
                <a:latin typeface="Arial" pitchFamily="34" charset="0"/>
                <a:ea typeface="ＭＳ Ｐゴシック" charset="-128"/>
              </a:rPr>
              <a:t> </a:t>
            </a:r>
            <a:r>
              <a:rPr lang="es-ES" altLang="es-ES" dirty="0" err="1">
                <a:latin typeface="Arial" pitchFamily="34" charset="0"/>
                <a:ea typeface="ＭＳ Ｐゴシック" charset="-128"/>
              </a:rPr>
              <a:t>rupatadine</a:t>
            </a:r>
            <a:r>
              <a:rPr lang="es-ES" altLang="es-ES" dirty="0">
                <a:latin typeface="Arial" pitchFamily="34" charset="0"/>
                <a:ea typeface="ＭＳ Ｐゴシック" charset="-128"/>
              </a:rPr>
              <a:t> vs placebo.</a:t>
            </a:r>
          </a:p>
          <a:p>
            <a:endParaRPr lang="es-ES" altLang="es-ES" dirty="0">
              <a:latin typeface="Arial" pitchFamily="34" charset="0"/>
              <a:ea typeface="ＭＳ Ｐゴシック" charset="-128"/>
            </a:endParaRPr>
          </a:p>
          <a:p>
            <a:r>
              <a:rPr lang="es-ES" altLang="es-ES" b="1" dirty="0">
                <a:latin typeface="Arial" pitchFamily="34" charset="0"/>
                <a:ea typeface="ＭＳ Ｐゴシック" charset="-128"/>
              </a:rPr>
              <a:t>Reference</a:t>
            </a:r>
          </a:p>
          <a:p>
            <a:r>
              <a:rPr lang="es-ES" altLang="es-ES" dirty="0">
                <a:ea typeface="ＭＳ Ｐゴシック" charset="-128"/>
              </a:rPr>
              <a:t>Izquierdo I, Potter P, </a:t>
            </a:r>
            <a:r>
              <a:rPr lang="es-ES" altLang="es-ES" dirty="0" err="1">
                <a:ea typeface="ＭＳ Ｐゴシック" charset="-128"/>
              </a:rPr>
              <a:t>Maspero</a:t>
            </a:r>
            <a:r>
              <a:rPr lang="es-ES" altLang="es-ES" dirty="0">
                <a:ea typeface="ＭＳ Ｐゴシック" charset="-128"/>
              </a:rPr>
              <a:t> J, </a:t>
            </a:r>
            <a:r>
              <a:rPr lang="es-ES" altLang="es-ES" dirty="0" err="1">
                <a:ea typeface="ＭＳ Ｐゴシック" charset="-128"/>
              </a:rPr>
              <a:t>Vermeulen</a:t>
            </a:r>
            <a:r>
              <a:rPr lang="es-ES" altLang="es-ES" dirty="0">
                <a:ea typeface="ＭＳ Ｐゴシック" charset="-128"/>
              </a:rPr>
              <a:t> J, </a:t>
            </a:r>
            <a:r>
              <a:rPr lang="es-ES" altLang="es-ES" dirty="0" err="1">
                <a:ea typeface="ＭＳ Ｐゴシック" charset="-128"/>
              </a:rPr>
              <a:t>Barkai</a:t>
            </a:r>
            <a:r>
              <a:rPr lang="es-ES" altLang="es-ES" dirty="0">
                <a:ea typeface="ＭＳ Ｐゴシック" charset="-128"/>
              </a:rPr>
              <a:t> L, </a:t>
            </a:r>
            <a:r>
              <a:rPr lang="es-ES" altLang="es-ES" dirty="0" err="1">
                <a:ea typeface="ＭＳ Ｐゴシック" charset="-128"/>
              </a:rPr>
              <a:t>Nemeth</a:t>
            </a:r>
            <a:r>
              <a:rPr lang="es-ES" altLang="es-ES" dirty="0">
                <a:ea typeface="ＭＳ Ｐゴシック" charset="-128"/>
              </a:rPr>
              <a:t> I, et al.</a:t>
            </a:r>
            <a:r>
              <a:rPr lang="es-ES" altLang="es-ES" b="1" dirty="0">
                <a:ea typeface="ＭＳ Ｐゴシック" charset="-128"/>
              </a:rPr>
              <a:t> </a:t>
            </a:r>
            <a:r>
              <a:rPr lang="es-ES" altLang="es-ES" dirty="0">
                <a:ea typeface="ＭＳ Ｐゴシック" charset="-128"/>
              </a:rPr>
              <a:t>Rupatadine oral solution </a:t>
            </a:r>
            <a:r>
              <a:rPr lang="es-ES" altLang="es-ES" dirty="0" err="1">
                <a:ea typeface="ＭＳ Ｐゴシック" charset="-128"/>
              </a:rPr>
              <a:t>improves</a:t>
            </a:r>
            <a:r>
              <a:rPr lang="es-ES" altLang="es-ES" dirty="0">
                <a:ea typeface="ＭＳ Ｐゴシック" charset="-128"/>
              </a:rPr>
              <a:t> </a:t>
            </a:r>
            <a:r>
              <a:rPr lang="es-ES" altLang="es-ES" dirty="0" err="1">
                <a:ea typeface="ＭＳ Ｐゴシック" charset="-128"/>
              </a:rPr>
              <a:t>rhino-conjunctive</a:t>
            </a:r>
            <a:r>
              <a:rPr lang="es-ES" altLang="es-ES" dirty="0">
                <a:ea typeface="ＭＳ Ｐゴシック" charset="-128"/>
              </a:rPr>
              <a:t> </a:t>
            </a:r>
            <a:r>
              <a:rPr lang="es-ES" altLang="es-ES" dirty="0" err="1">
                <a:ea typeface="ＭＳ Ｐゴシック" charset="-128"/>
              </a:rPr>
              <a:t>symptoms</a:t>
            </a:r>
            <a:r>
              <a:rPr lang="es-ES" altLang="es-ES" dirty="0">
                <a:ea typeface="ＭＳ Ｐゴシック" charset="-128"/>
              </a:rPr>
              <a:t> control in </a:t>
            </a:r>
            <a:r>
              <a:rPr lang="es-ES" altLang="es-ES" dirty="0" err="1">
                <a:ea typeface="ＭＳ Ｐゴシック" charset="-128"/>
              </a:rPr>
              <a:t>children</a:t>
            </a:r>
            <a:r>
              <a:rPr lang="es-ES" altLang="es-ES" dirty="0">
                <a:ea typeface="ＭＳ Ｐゴシック" charset="-128"/>
              </a:rPr>
              <a:t> with 6-11 </a:t>
            </a:r>
            <a:r>
              <a:rPr lang="es-ES" altLang="es-ES" dirty="0" err="1">
                <a:ea typeface="ＭＳ Ｐゴシック" charset="-128"/>
              </a:rPr>
              <a:t>years</a:t>
            </a:r>
            <a:r>
              <a:rPr lang="es-ES" altLang="es-ES" dirty="0">
                <a:ea typeface="ＭＳ Ｐゴシック" charset="-128"/>
              </a:rPr>
              <a:t> </a:t>
            </a:r>
            <a:r>
              <a:rPr lang="es-ES" altLang="es-ES" dirty="0" err="1">
                <a:ea typeface="ＭＳ Ｐゴシック" charset="-128"/>
              </a:rPr>
              <a:t>weighing</a:t>
            </a:r>
            <a:r>
              <a:rPr lang="es-ES" altLang="es-ES" dirty="0">
                <a:ea typeface="ＭＳ Ｐゴシック" charset="-128"/>
              </a:rPr>
              <a:t> ≥25 kg with </a:t>
            </a:r>
            <a:r>
              <a:rPr lang="es-ES" altLang="es-ES" dirty="0" err="1">
                <a:ea typeface="ＭＳ Ｐゴシック" charset="-128"/>
              </a:rPr>
              <a:t>persistent</a:t>
            </a:r>
            <a:r>
              <a:rPr lang="es-ES" altLang="es-ES" dirty="0">
                <a:ea typeface="ＭＳ Ｐゴシック" charset="-128"/>
              </a:rPr>
              <a:t> </a:t>
            </a:r>
            <a:r>
              <a:rPr lang="es-ES" altLang="es-ES" dirty="0" err="1">
                <a:ea typeface="ＭＳ Ｐゴシック" charset="-128"/>
              </a:rPr>
              <a:t>allergic</a:t>
            </a:r>
            <a:r>
              <a:rPr lang="es-ES" altLang="es-ES" dirty="0">
                <a:ea typeface="ＭＳ Ｐゴシック" charset="-128"/>
              </a:rPr>
              <a:t> </a:t>
            </a:r>
            <a:r>
              <a:rPr lang="es-ES" altLang="es-ES" dirty="0" err="1">
                <a:ea typeface="ＭＳ Ｐゴシック" charset="-128"/>
              </a:rPr>
              <a:t>rhinitis</a:t>
            </a:r>
            <a:r>
              <a:rPr lang="es-ES" altLang="es-ES" dirty="0">
                <a:ea typeface="ＭＳ Ｐゴシック" charset="-128"/>
              </a:rPr>
              <a:t>. </a:t>
            </a:r>
            <a:r>
              <a:rPr lang="en-US" altLang="es-ES" dirty="0" err="1">
                <a:ea typeface="ＭＳ Ｐゴシック" charset="-128"/>
              </a:rPr>
              <a:t>Clin</a:t>
            </a:r>
            <a:r>
              <a:rPr lang="en-US" altLang="es-ES" dirty="0">
                <a:ea typeface="ＭＳ Ｐゴシック" charset="-128"/>
              </a:rPr>
              <a:t> Trans Allergy. 2013; 3(</a:t>
            </a:r>
            <a:r>
              <a:rPr lang="en-US" altLang="es-ES" dirty="0" err="1">
                <a:ea typeface="ＭＳ Ｐゴシック" charset="-128"/>
              </a:rPr>
              <a:t>Suppl</a:t>
            </a:r>
            <a:r>
              <a:rPr lang="en-US" altLang="es-ES" dirty="0">
                <a:ea typeface="ＭＳ Ｐゴシック" charset="-128"/>
              </a:rPr>
              <a:t> 2):P33.</a:t>
            </a:r>
            <a:endParaRPr lang="es-ES" altLang="es-ES" dirty="0">
              <a:ea typeface="ＭＳ Ｐゴシック" charset="-128"/>
            </a:endParaRPr>
          </a:p>
          <a:p>
            <a:endParaRPr lang="es-ES" altLang="es-ES" dirty="0">
              <a:latin typeface="Arial" pitchFamily="34" charset="0"/>
              <a:ea typeface="ＭＳ Ｐゴシック" charset="-128"/>
            </a:endParaRPr>
          </a:p>
        </p:txBody>
      </p:sp>
    </p:spTree>
    <p:extLst>
      <p:ext uri="{BB962C8B-B14F-4D97-AF65-F5344CB8AC3E}">
        <p14:creationId xmlns:p14="http://schemas.microsoft.com/office/powerpoint/2010/main" val="28213266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Rot="1" noChangeAspect="1" noTextEdit="1"/>
          </p:cNvSpPr>
          <p:nvPr>
            <p:ph type="sldImg"/>
          </p:nvPr>
        </p:nvSpPr>
        <p:spPr>
          <a:ln/>
        </p:spPr>
      </p:sp>
      <p:sp>
        <p:nvSpPr>
          <p:cNvPr id="78850" name="Rectangle 3"/>
          <p:cNvSpPr>
            <a:spLocks noGrp="1"/>
          </p:cNvSpPr>
          <p:nvPr>
            <p:ph type="body" idx="1"/>
          </p:nvPr>
        </p:nvSpPr>
        <p:spPr>
          <a:noFill/>
          <a:ln/>
        </p:spPr>
        <p:txBody>
          <a:bodyPr/>
          <a:lstStyle/>
          <a:p>
            <a:r>
              <a:rPr lang="en-GB" altLang="es-ES" dirty="0">
                <a:latin typeface="Arial" pitchFamily="34" charset="0"/>
                <a:ea typeface="ＭＳ Ｐゴシック" charset="-128"/>
              </a:rPr>
              <a:t>Validated in children,</a:t>
            </a:r>
            <a:r>
              <a:rPr lang="en-GB" altLang="es-ES" baseline="0" dirty="0">
                <a:latin typeface="Arial" pitchFamily="34" charset="0"/>
                <a:ea typeface="ＭＳ Ｐゴシック" charset="-128"/>
              </a:rPr>
              <a:t> the PRQLQ consists of 23 items in five domains (nose symptoms, eye symptoms, practical problems, activity limitation and other symptoms). Responses are given on a seven-point scale (0 = not bothered/none of the time, 6 = extremely bothered/all of the time), and children are asked to score their experiences during the previous 7 days. </a:t>
            </a:r>
          </a:p>
          <a:p>
            <a:r>
              <a:rPr lang="en-GB" altLang="es-ES" baseline="0" dirty="0">
                <a:latin typeface="Arial" pitchFamily="34" charset="0"/>
                <a:ea typeface="ＭＳ Ｐゴシック" charset="-128"/>
              </a:rPr>
              <a:t>“Practical problems” and “activity limitation” domains contain questions that are not directly symptom-related (practical problems: rub nose and eyes, blow nose, carry tissues, take medications, feel embarrassed; activity limitation: playing outdoors, hard to get to sleep at night; hard to pay attention; wake up during the night). </a:t>
            </a:r>
          </a:p>
          <a:p>
            <a:r>
              <a:rPr lang="en-GB" altLang="es-ES" baseline="0" dirty="0">
                <a:latin typeface="Arial" pitchFamily="34" charset="0"/>
                <a:ea typeface="ＭＳ Ｐゴシック" charset="-128"/>
              </a:rPr>
              <a:t>“Other symptoms” domain covers items such as feeling thirsty, tired, not well at all or irritable, or having a headache or a scratchy ant itchy throat.</a:t>
            </a:r>
            <a:endParaRPr lang="en-GB" altLang="es-ES" dirty="0">
              <a:latin typeface="Arial" pitchFamily="34" charset="0"/>
              <a:ea typeface="ＭＳ Ｐゴシック" charset="-128"/>
            </a:endParaRPr>
          </a:p>
          <a:p>
            <a:endParaRPr lang="en-GB" altLang="es-ES" dirty="0">
              <a:latin typeface="Arial" pitchFamily="34" charset="0"/>
              <a:ea typeface="ＭＳ Ｐゴシック" charset="-128"/>
            </a:endParaRPr>
          </a:p>
          <a:p>
            <a:r>
              <a:rPr lang="en-GB" altLang="es-ES" b="1" dirty="0" err="1">
                <a:latin typeface="Arial" pitchFamily="34" charset="0"/>
                <a:ea typeface="ＭＳ Ｐゴシック" charset="-128"/>
              </a:rPr>
              <a:t>Rupatadine</a:t>
            </a:r>
            <a:r>
              <a:rPr lang="en-GB" altLang="es-ES" b="1" dirty="0">
                <a:latin typeface="Arial" pitchFamily="34" charset="0"/>
                <a:ea typeface="ＭＳ Ｐゴシック" charset="-128"/>
              </a:rPr>
              <a:t> versus placebo produced significantly better mean total PRQLQ scores at week 4 and week 6. </a:t>
            </a:r>
            <a:r>
              <a:rPr lang="en-GB" altLang="es-ES" dirty="0" err="1">
                <a:latin typeface="Arial" pitchFamily="34" charset="0"/>
                <a:ea typeface="ＭＳ Ｐゴシック" charset="-128"/>
              </a:rPr>
              <a:t>Furhermore</a:t>
            </a:r>
            <a:r>
              <a:rPr lang="en-GB" altLang="es-ES" dirty="0">
                <a:latin typeface="Arial" pitchFamily="34" charset="0"/>
                <a:ea typeface="ＭＳ Ｐゴシック" charset="-128"/>
              </a:rPr>
              <a:t>, </a:t>
            </a:r>
            <a:r>
              <a:rPr lang="en-GB" altLang="es-ES" dirty="0" err="1">
                <a:latin typeface="Arial" pitchFamily="34" charset="0"/>
                <a:ea typeface="ＭＳ Ｐゴシック" charset="-128"/>
              </a:rPr>
              <a:t>rupatadine</a:t>
            </a:r>
            <a:r>
              <a:rPr lang="en-GB" altLang="es-ES" dirty="0">
                <a:latin typeface="Arial" pitchFamily="34" charset="0"/>
                <a:ea typeface="ＭＳ Ｐゴシック" charset="-128"/>
              </a:rPr>
              <a:t> versus placebo was associated with significantly better domain scores for nose symptoms at weeks 4 and 6, and for eye symptoms, practical problems and activity limitations at week 4.</a:t>
            </a:r>
          </a:p>
          <a:p>
            <a:endParaRPr lang="en-GB" altLang="es-ES" dirty="0">
              <a:latin typeface="Arial" pitchFamily="34" charset="0"/>
              <a:ea typeface="ＭＳ Ｐゴシック" charset="-128"/>
            </a:endParaRPr>
          </a:p>
          <a:p>
            <a:r>
              <a:rPr lang="es-ES" altLang="es-ES" b="1" dirty="0">
                <a:latin typeface="Arial" pitchFamily="34" charset="0"/>
                <a:ea typeface="ＭＳ Ｐゴシック" charset="-128"/>
              </a:rPr>
              <a:t>Reference</a:t>
            </a:r>
          </a:p>
          <a:p>
            <a:r>
              <a:rPr lang="es-ES" altLang="es-ES" dirty="0">
                <a:latin typeface="Arial" pitchFamily="34" charset="0"/>
                <a:ea typeface="ＭＳ Ｐゴシック" charset="-128"/>
              </a:rPr>
              <a:t>Potter P, </a:t>
            </a:r>
            <a:r>
              <a:rPr lang="es-ES" altLang="es-ES" dirty="0" err="1">
                <a:latin typeface="Arial" pitchFamily="34" charset="0"/>
                <a:ea typeface="ＭＳ Ｐゴシック" charset="-128"/>
              </a:rPr>
              <a:t>Maspero</a:t>
            </a:r>
            <a:r>
              <a:rPr lang="es-ES" altLang="es-ES" dirty="0">
                <a:latin typeface="Arial" pitchFamily="34" charset="0"/>
                <a:ea typeface="ＭＳ Ｐゴシック" charset="-128"/>
              </a:rPr>
              <a:t> JF, </a:t>
            </a:r>
            <a:r>
              <a:rPr lang="es-ES" altLang="es-ES" dirty="0" err="1">
                <a:latin typeface="Arial" pitchFamily="34" charset="0"/>
                <a:ea typeface="ＭＳ Ｐゴシック" charset="-128"/>
              </a:rPr>
              <a:t>Vermeulen</a:t>
            </a:r>
            <a:r>
              <a:rPr lang="es-ES" altLang="es-ES" dirty="0">
                <a:latin typeface="Arial" pitchFamily="34" charset="0"/>
                <a:ea typeface="ＭＳ Ｐゴシック" charset="-128"/>
              </a:rPr>
              <a:t> J, et al. </a:t>
            </a:r>
            <a:r>
              <a:rPr lang="en-US" altLang="es-ES" dirty="0" err="1">
                <a:ea typeface="ＭＳ Ｐゴシック" charset="-128"/>
              </a:rPr>
              <a:t>Rupatadine</a:t>
            </a:r>
            <a:r>
              <a:rPr lang="en-US" altLang="es-ES" dirty="0">
                <a:ea typeface="ＭＳ Ｐゴシック" charset="-128"/>
              </a:rPr>
              <a:t> oral solution in children with persistent allergic rhinitis: A randomized, double-blind, placebo-controlled study. </a:t>
            </a:r>
            <a:r>
              <a:rPr lang="en-US" altLang="es-ES" dirty="0" err="1">
                <a:ea typeface="ＭＳ Ｐゴシック" charset="-128"/>
              </a:rPr>
              <a:t>Pediatrc</a:t>
            </a:r>
            <a:r>
              <a:rPr lang="en-US" altLang="es-ES" dirty="0">
                <a:ea typeface="ＭＳ Ｐゴシック" charset="-128"/>
              </a:rPr>
              <a:t> Allergy </a:t>
            </a:r>
            <a:r>
              <a:rPr lang="en-US" altLang="es-ES" dirty="0" err="1">
                <a:ea typeface="ＭＳ Ｐゴシック" charset="-128"/>
              </a:rPr>
              <a:t>Immunol</a:t>
            </a:r>
            <a:r>
              <a:rPr lang="en-US" altLang="es-ES" dirty="0">
                <a:ea typeface="ＭＳ Ｐゴシック" charset="-128"/>
              </a:rPr>
              <a:t> </a:t>
            </a:r>
            <a:r>
              <a:rPr lang="es-ES" altLang="es-ES" dirty="0">
                <a:ea typeface="ＭＳ Ｐゴシック" charset="-128"/>
              </a:rPr>
              <a:t>2013;24(2):144-50.</a:t>
            </a:r>
            <a:endParaRPr lang="en-US" altLang="es-ES" dirty="0">
              <a:ea typeface="ＭＳ Ｐゴシック" charset="-128"/>
            </a:endParaRPr>
          </a:p>
          <a:p>
            <a:endParaRPr lang="en-GB" altLang="es-ES" dirty="0">
              <a:latin typeface="Arial" pitchFamily="34" charset="0"/>
              <a:ea typeface="ＭＳ Ｐゴシック" charset="-128"/>
            </a:endParaRPr>
          </a:p>
        </p:txBody>
      </p:sp>
    </p:spTree>
    <p:extLst>
      <p:ext uri="{BB962C8B-B14F-4D97-AF65-F5344CB8AC3E}">
        <p14:creationId xmlns:p14="http://schemas.microsoft.com/office/powerpoint/2010/main" val="27285588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noRot="1" noChangeAspect="1" noTextEdit="1"/>
          </p:cNvSpPr>
          <p:nvPr>
            <p:ph type="sldImg"/>
          </p:nvPr>
        </p:nvSpPr>
        <p:spPr>
          <a:ln/>
        </p:spPr>
      </p:sp>
      <p:sp>
        <p:nvSpPr>
          <p:cNvPr id="79874" name="Rectangle 3"/>
          <p:cNvSpPr>
            <a:spLocks noGrp="1"/>
          </p:cNvSpPr>
          <p:nvPr>
            <p:ph type="body" idx="1"/>
          </p:nvPr>
        </p:nvSpPr>
        <p:spPr>
          <a:noFill/>
          <a:ln/>
        </p:spPr>
        <p:txBody>
          <a:bodyPr/>
          <a:lstStyle/>
          <a:p>
            <a:endParaRPr lang="en-GB" altLang="es-ES" dirty="0">
              <a:latin typeface="Arial" pitchFamily="34" charset="0"/>
              <a:ea typeface="ＭＳ Ｐゴシック" charset="-128"/>
            </a:endParaRPr>
          </a:p>
          <a:p>
            <a:endParaRPr lang="en-GB" altLang="es-ES" dirty="0">
              <a:latin typeface="Arial" pitchFamily="34" charset="0"/>
              <a:ea typeface="ＭＳ Ｐゴシック" charset="-128"/>
            </a:endParaRPr>
          </a:p>
          <a:p>
            <a:r>
              <a:rPr lang="en-GB" altLang="es-ES" dirty="0" err="1">
                <a:latin typeface="Arial" pitchFamily="34" charset="0"/>
                <a:ea typeface="ＭＳ Ｐゴシック" charset="-128"/>
              </a:rPr>
              <a:t>Rupatadine</a:t>
            </a:r>
            <a:r>
              <a:rPr lang="en-GB" altLang="es-ES" dirty="0">
                <a:latin typeface="Arial" pitchFamily="34" charset="0"/>
                <a:ea typeface="ＭＳ Ｐゴシック" charset="-128"/>
              </a:rPr>
              <a:t> also improves quality of life at 6 weeks in children with persistent allergic rhinitis.</a:t>
            </a:r>
          </a:p>
          <a:p>
            <a:endParaRPr lang="en-GB" altLang="es-ES" dirty="0">
              <a:latin typeface="Arial" pitchFamily="34" charset="0"/>
              <a:ea typeface="ＭＳ Ｐゴシック" charset="-128"/>
            </a:endParaRPr>
          </a:p>
        </p:txBody>
      </p:sp>
    </p:spTree>
    <p:extLst>
      <p:ext uri="{BB962C8B-B14F-4D97-AF65-F5344CB8AC3E}">
        <p14:creationId xmlns:p14="http://schemas.microsoft.com/office/powerpoint/2010/main" val="6859989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p:cNvSpPr>
            <a:spLocks noGrp="1" noRot="1" noChangeAspect="1" noTextEdit="1"/>
          </p:cNvSpPr>
          <p:nvPr>
            <p:ph type="sldImg"/>
          </p:nvPr>
        </p:nvSpPr>
        <p:spPr>
          <a:ln/>
        </p:spPr>
      </p:sp>
      <p:sp>
        <p:nvSpPr>
          <p:cNvPr id="80898" name="Rectangle 3"/>
          <p:cNvSpPr>
            <a:spLocks noGrp="1"/>
          </p:cNvSpPr>
          <p:nvPr>
            <p:ph type="body" idx="1"/>
          </p:nvPr>
        </p:nvSpPr>
        <p:spPr>
          <a:noFill/>
          <a:ln/>
        </p:spPr>
        <p:txBody>
          <a:bodyPr/>
          <a:lstStyle/>
          <a:p>
            <a:r>
              <a:rPr lang="es-ES" altLang="es-ES" sz="900" b="1" dirty="0">
                <a:latin typeface="+mn-lt"/>
                <a:ea typeface="ＭＳ Ｐゴシック" charset="-128"/>
              </a:rPr>
              <a:t>The </a:t>
            </a:r>
            <a:r>
              <a:rPr lang="es-ES" altLang="es-ES" sz="900" b="1" dirty="0" err="1">
                <a:latin typeface="+mn-lt"/>
                <a:ea typeface="ＭＳ Ｐゴシック" charset="-128"/>
              </a:rPr>
              <a:t>QoL</a:t>
            </a:r>
            <a:r>
              <a:rPr lang="es-ES" altLang="es-ES" sz="900" b="1" dirty="0">
                <a:latin typeface="+mn-lt"/>
                <a:ea typeface="ＭＳ Ｐゴシック" charset="-128"/>
              </a:rPr>
              <a:t> assessment in the </a:t>
            </a:r>
            <a:r>
              <a:rPr lang="es-ES" altLang="es-ES" sz="900" b="1" dirty="0" err="1">
                <a:latin typeface="+mn-lt"/>
                <a:ea typeface="ＭＳ Ｐゴシック" charset="-128"/>
              </a:rPr>
              <a:t>subgroup</a:t>
            </a:r>
            <a:r>
              <a:rPr lang="es-ES" altLang="es-ES" sz="900" b="1" dirty="0">
                <a:latin typeface="+mn-lt"/>
                <a:ea typeface="ＭＳ Ｐゴシック" charset="-128"/>
              </a:rPr>
              <a:t> of </a:t>
            </a:r>
            <a:r>
              <a:rPr lang="es-ES" altLang="es-ES" sz="900" b="1" dirty="0" err="1">
                <a:latin typeface="+mn-lt"/>
                <a:ea typeface="ＭＳ Ｐゴシック" charset="-128"/>
              </a:rPr>
              <a:t>children</a:t>
            </a:r>
            <a:r>
              <a:rPr lang="es-ES" altLang="es-ES" sz="900" b="1" dirty="0">
                <a:latin typeface="+mn-lt"/>
                <a:ea typeface="ＭＳ Ｐゴシック" charset="-128"/>
              </a:rPr>
              <a:t> </a:t>
            </a:r>
            <a:r>
              <a:rPr lang="es-ES" altLang="es-ES" sz="900" b="1" dirty="0" err="1">
                <a:latin typeface="+mn-lt"/>
                <a:ea typeface="ＭＳ Ｐゴシック" charset="-128"/>
              </a:rPr>
              <a:t>weighing</a:t>
            </a:r>
            <a:r>
              <a:rPr lang="es-ES" altLang="es-ES" sz="900" b="1" dirty="0">
                <a:latin typeface="+mn-lt"/>
                <a:ea typeface="ＭＳ Ｐゴシック" charset="-128"/>
              </a:rPr>
              <a:t> ≥ 25 kg </a:t>
            </a:r>
            <a:r>
              <a:rPr lang="es-ES" altLang="es-ES" sz="900" b="1" dirty="0" err="1">
                <a:latin typeface="+mn-lt"/>
                <a:ea typeface="ＭＳ Ｐゴシック" charset="-128"/>
              </a:rPr>
              <a:t>demonstrated</a:t>
            </a:r>
            <a:r>
              <a:rPr lang="es-ES" altLang="es-ES" sz="900" b="1" dirty="0">
                <a:latin typeface="+mn-lt"/>
                <a:ea typeface="ＭＳ Ｐゴシック" charset="-128"/>
              </a:rPr>
              <a:t> </a:t>
            </a:r>
            <a:r>
              <a:rPr lang="es-ES" altLang="es-ES" sz="900" b="1" dirty="0" err="1">
                <a:latin typeface="+mn-lt"/>
                <a:ea typeface="ＭＳ Ｐゴシック" charset="-128"/>
              </a:rPr>
              <a:t>even</a:t>
            </a:r>
            <a:r>
              <a:rPr lang="es-ES" altLang="es-ES" sz="900" b="1" dirty="0">
                <a:latin typeface="+mn-lt"/>
                <a:ea typeface="ＭＳ Ｐゴシック" charset="-128"/>
              </a:rPr>
              <a:t> </a:t>
            </a:r>
            <a:r>
              <a:rPr lang="es-ES" altLang="es-ES" sz="900" b="1" dirty="0" err="1">
                <a:latin typeface="+mn-lt"/>
                <a:ea typeface="ＭＳ Ｐゴシック" charset="-128"/>
              </a:rPr>
              <a:t>better</a:t>
            </a:r>
            <a:r>
              <a:rPr lang="es-ES" altLang="es-ES" sz="900" b="1" dirty="0">
                <a:latin typeface="+mn-lt"/>
                <a:ea typeface="ＭＳ Ｐゴシック" charset="-128"/>
              </a:rPr>
              <a:t> </a:t>
            </a:r>
            <a:r>
              <a:rPr lang="es-ES" altLang="es-ES" sz="900" b="1" dirty="0" err="1">
                <a:latin typeface="+mn-lt"/>
                <a:ea typeface="ＭＳ Ｐゴシック" charset="-128"/>
              </a:rPr>
              <a:t>outcomes</a:t>
            </a:r>
            <a:r>
              <a:rPr lang="es-ES" altLang="es-ES" sz="900" b="1" dirty="0">
                <a:latin typeface="+mn-lt"/>
                <a:ea typeface="ＭＳ Ｐゴシック" charset="-128"/>
              </a:rPr>
              <a:t> </a:t>
            </a:r>
            <a:r>
              <a:rPr lang="es-ES" altLang="es-ES" sz="900" b="1" dirty="0" err="1">
                <a:latin typeface="+mn-lt"/>
                <a:ea typeface="ＭＳ Ｐゴシック" charset="-128"/>
              </a:rPr>
              <a:t>than</a:t>
            </a:r>
            <a:r>
              <a:rPr lang="es-ES" altLang="es-ES" sz="900" b="1" dirty="0">
                <a:latin typeface="+mn-lt"/>
                <a:ea typeface="ＭＳ Ｐゴシック" charset="-128"/>
              </a:rPr>
              <a:t> </a:t>
            </a:r>
            <a:r>
              <a:rPr lang="es-ES" altLang="es-ES" sz="900" b="1" dirty="0" err="1">
                <a:latin typeface="+mn-lt"/>
                <a:ea typeface="ＭＳ Ｐゴシック" charset="-128"/>
              </a:rPr>
              <a:t>those</a:t>
            </a:r>
            <a:r>
              <a:rPr lang="es-ES" altLang="es-ES" sz="900" b="1" dirty="0">
                <a:latin typeface="+mn-lt"/>
                <a:ea typeface="ＭＳ Ｐゴシック" charset="-128"/>
              </a:rPr>
              <a:t> </a:t>
            </a:r>
            <a:r>
              <a:rPr lang="es-ES" altLang="es-ES" sz="900" b="1" dirty="0" err="1">
                <a:latin typeface="+mn-lt"/>
                <a:ea typeface="ＭＳ Ｐゴシック" charset="-128"/>
              </a:rPr>
              <a:t>observed</a:t>
            </a:r>
            <a:r>
              <a:rPr lang="es-ES" altLang="es-ES" sz="900" b="1" dirty="0">
                <a:latin typeface="+mn-lt"/>
                <a:ea typeface="ＭＳ Ｐゴシック" charset="-128"/>
              </a:rPr>
              <a:t> in the total study </a:t>
            </a:r>
            <a:r>
              <a:rPr lang="es-ES" altLang="es-ES" sz="900" b="1" dirty="0" err="1">
                <a:latin typeface="+mn-lt"/>
                <a:ea typeface="ＭＳ Ｐゴシック" charset="-128"/>
              </a:rPr>
              <a:t>population</a:t>
            </a:r>
            <a:r>
              <a:rPr lang="es-ES" altLang="es-ES" sz="900" b="1" dirty="0">
                <a:latin typeface="+mn-lt"/>
                <a:ea typeface="ＭＳ Ｐゴシック" charset="-128"/>
              </a:rPr>
              <a:t>. </a:t>
            </a:r>
            <a:r>
              <a:rPr lang="es-ES" altLang="es-ES" sz="900" dirty="0">
                <a:latin typeface="+mn-lt"/>
                <a:ea typeface="ＭＳ Ｐゴシック" charset="-128"/>
              </a:rPr>
              <a:t>Of </a:t>
            </a:r>
            <a:r>
              <a:rPr lang="es-ES" altLang="es-ES" sz="900" dirty="0" err="1">
                <a:latin typeface="+mn-lt"/>
                <a:ea typeface="ＭＳ Ｐゴシック" charset="-128"/>
              </a:rPr>
              <a:t>interest</a:t>
            </a:r>
            <a:r>
              <a:rPr lang="es-ES" altLang="es-ES" sz="900" dirty="0">
                <a:latin typeface="+mn-lt"/>
                <a:ea typeface="ＭＳ Ｐゴシック" charset="-128"/>
              </a:rPr>
              <a:t>, at 4 </a:t>
            </a:r>
            <a:r>
              <a:rPr lang="es-ES" altLang="es-ES" sz="900" dirty="0" err="1">
                <a:latin typeface="+mn-lt"/>
                <a:ea typeface="ＭＳ Ｐゴシック" charset="-128"/>
              </a:rPr>
              <a:t>weeks</a:t>
            </a:r>
            <a:r>
              <a:rPr lang="es-ES" altLang="es-ES" sz="900" dirty="0">
                <a:latin typeface="+mn-lt"/>
                <a:ea typeface="ＭＳ Ｐゴシック" charset="-128"/>
              </a:rPr>
              <a:t> and 6 </a:t>
            </a:r>
            <a:r>
              <a:rPr lang="es-ES" altLang="es-ES" sz="900" dirty="0" err="1">
                <a:latin typeface="+mn-lt"/>
                <a:ea typeface="ＭＳ Ｐゴシック" charset="-128"/>
              </a:rPr>
              <a:t>weeks</a:t>
            </a:r>
            <a:r>
              <a:rPr lang="es-ES" altLang="es-ES" sz="900" dirty="0">
                <a:latin typeface="+mn-lt"/>
                <a:ea typeface="ＭＳ Ｐゴシック" charset="-128"/>
              </a:rPr>
              <a:t>, </a:t>
            </a:r>
            <a:r>
              <a:rPr lang="es-ES" altLang="es-ES" sz="900" dirty="0" err="1">
                <a:latin typeface="+mn-lt"/>
                <a:ea typeface="ＭＳ Ｐゴシック" charset="-128"/>
              </a:rPr>
              <a:t>some</a:t>
            </a:r>
            <a:r>
              <a:rPr lang="es-ES" altLang="es-ES" sz="900" dirty="0">
                <a:latin typeface="+mn-lt"/>
                <a:ea typeface="ＭＳ Ｐゴシック" charset="-128"/>
              </a:rPr>
              <a:t> individual </a:t>
            </a:r>
            <a:r>
              <a:rPr lang="es-ES" altLang="es-ES" sz="900" dirty="0" err="1">
                <a:latin typeface="+mn-lt"/>
                <a:ea typeface="ＭＳ Ｐゴシック" charset="-128"/>
              </a:rPr>
              <a:t>QoL</a:t>
            </a:r>
            <a:r>
              <a:rPr lang="es-ES" altLang="es-ES" sz="900" dirty="0">
                <a:latin typeface="+mn-lt"/>
                <a:ea typeface="ＭＳ Ｐゴシック" charset="-128"/>
              </a:rPr>
              <a:t> </a:t>
            </a:r>
            <a:r>
              <a:rPr lang="es-ES" altLang="es-ES" sz="900" dirty="0" err="1">
                <a:latin typeface="+mn-lt"/>
                <a:ea typeface="ＭＳ Ｐゴシック" charset="-128"/>
              </a:rPr>
              <a:t>domains</a:t>
            </a:r>
            <a:r>
              <a:rPr lang="es-ES" altLang="es-ES" sz="900" dirty="0">
                <a:latin typeface="+mn-lt"/>
                <a:ea typeface="ＭＳ Ｐゴシック" charset="-128"/>
              </a:rPr>
              <a:t> </a:t>
            </a:r>
            <a:r>
              <a:rPr lang="es-ES" altLang="es-ES" sz="900" dirty="0" err="1">
                <a:latin typeface="+mn-lt"/>
                <a:ea typeface="ＭＳ Ｐゴシック" charset="-128"/>
              </a:rPr>
              <a:t>showed</a:t>
            </a:r>
            <a:r>
              <a:rPr lang="es-ES" altLang="es-ES" sz="900" dirty="0">
                <a:latin typeface="+mn-lt"/>
                <a:ea typeface="ＭＳ Ｐゴシック" charset="-128"/>
              </a:rPr>
              <a:t> </a:t>
            </a:r>
            <a:r>
              <a:rPr lang="es-ES" altLang="es-ES" sz="900" dirty="0" err="1">
                <a:latin typeface="+mn-lt"/>
                <a:ea typeface="ＭＳ Ｐゴシック" charset="-128"/>
              </a:rPr>
              <a:t>differences</a:t>
            </a:r>
            <a:r>
              <a:rPr lang="es-ES" altLang="es-ES" sz="900" dirty="0">
                <a:latin typeface="+mn-lt"/>
                <a:ea typeface="ＭＳ Ｐゴシック" charset="-128"/>
              </a:rPr>
              <a:t> with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compared</a:t>
            </a:r>
            <a:r>
              <a:rPr lang="es-ES" altLang="es-ES" sz="900" dirty="0">
                <a:latin typeface="+mn-lt"/>
                <a:ea typeface="ＭＳ Ｐゴシック" charset="-128"/>
              </a:rPr>
              <a:t> </a:t>
            </a:r>
            <a:r>
              <a:rPr lang="es-ES" altLang="es-ES" sz="900" dirty="0" err="1">
                <a:latin typeface="+mn-lt"/>
                <a:ea typeface="ＭＳ Ｐゴシック" charset="-128"/>
              </a:rPr>
              <a:t>with</a:t>
            </a:r>
            <a:r>
              <a:rPr lang="es-ES" altLang="es-ES" sz="900" dirty="0">
                <a:latin typeface="+mn-lt"/>
                <a:ea typeface="ＭＳ Ｐゴシック" charset="-128"/>
              </a:rPr>
              <a:t> placebo </a:t>
            </a:r>
            <a:r>
              <a:rPr lang="es-ES" altLang="es-ES" sz="900" dirty="0" err="1">
                <a:latin typeface="+mn-lt"/>
                <a:ea typeface="ＭＳ Ｐゴシック" charset="-128"/>
              </a:rPr>
              <a:t>which</a:t>
            </a:r>
            <a:r>
              <a:rPr lang="es-ES" altLang="es-ES" sz="900" dirty="0">
                <a:latin typeface="+mn-lt"/>
                <a:ea typeface="ＭＳ Ｐゴシック" charset="-128"/>
              </a:rPr>
              <a:t> </a:t>
            </a:r>
            <a:r>
              <a:rPr lang="es-ES" altLang="es-ES" sz="900" dirty="0" err="1">
                <a:latin typeface="+mn-lt"/>
                <a:ea typeface="ＭＳ Ｐゴシック" charset="-128"/>
              </a:rPr>
              <a:t>were</a:t>
            </a:r>
            <a:r>
              <a:rPr lang="es-ES" altLang="es-ES" sz="900" dirty="0">
                <a:latin typeface="+mn-lt"/>
                <a:ea typeface="ＭＳ Ｐゴシック" charset="-128"/>
              </a:rPr>
              <a:t> </a:t>
            </a:r>
            <a:r>
              <a:rPr lang="es-ES" altLang="es-ES" sz="900" dirty="0" err="1">
                <a:latin typeface="+mn-lt"/>
                <a:ea typeface="ＭＳ Ｐゴシック" charset="-128"/>
              </a:rPr>
              <a:t>statistically</a:t>
            </a:r>
            <a:r>
              <a:rPr lang="es-ES" altLang="es-ES" sz="900" dirty="0">
                <a:latin typeface="+mn-lt"/>
                <a:ea typeface="ＭＳ Ｐゴシック" charset="-128"/>
              </a:rPr>
              <a:t> </a:t>
            </a:r>
            <a:r>
              <a:rPr lang="es-ES" altLang="es-ES" sz="900" dirty="0" err="1">
                <a:latin typeface="+mn-lt"/>
                <a:ea typeface="ＭＳ Ｐゴシック" charset="-128"/>
              </a:rPr>
              <a:t>significant</a:t>
            </a:r>
            <a:r>
              <a:rPr lang="es-ES" altLang="es-ES" sz="900" dirty="0">
                <a:latin typeface="+mn-lt"/>
                <a:ea typeface="ＭＳ Ｐゴシック" charset="-128"/>
              </a:rPr>
              <a:t> in the </a:t>
            </a:r>
            <a:r>
              <a:rPr lang="es-ES" altLang="es-ES" sz="900" dirty="0" err="1">
                <a:latin typeface="+mn-lt"/>
                <a:ea typeface="ＭＳ Ｐゴシック" charset="-128"/>
              </a:rPr>
              <a:t>subgroup</a:t>
            </a:r>
            <a:r>
              <a:rPr lang="es-ES" altLang="es-ES" sz="900" dirty="0">
                <a:latin typeface="+mn-lt"/>
                <a:ea typeface="ＭＳ Ｐゴシック" charset="-128"/>
              </a:rPr>
              <a:t> </a:t>
            </a:r>
            <a:r>
              <a:rPr lang="es-ES" altLang="es-ES" sz="900" dirty="0" err="1">
                <a:latin typeface="+mn-lt"/>
                <a:ea typeface="ＭＳ Ｐゴシック" charset="-128"/>
              </a:rPr>
              <a:t>compared</a:t>
            </a:r>
            <a:r>
              <a:rPr lang="es-ES" altLang="es-ES" sz="900" dirty="0">
                <a:latin typeface="+mn-lt"/>
                <a:ea typeface="ＭＳ Ｐゴシック" charset="-128"/>
              </a:rPr>
              <a:t> with the </a:t>
            </a:r>
            <a:r>
              <a:rPr lang="es-ES" altLang="es-ES" sz="900" dirty="0" err="1">
                <a:latin typeface="+mn-lt"/>
                <a:ea typeface="ＭＳ Ｐゴシック" charset="-128"/>
              </a:rPr>
              <a:t>overall</a:t>
            </a:r>
            <a:r>
              <a:rPr lang="es-ES" altLang="es-ES" sz="900" dirty="0">
                <a:latin typeface="+mn-lt"/>
                <a:ea typeface="ＭＳ Ｐゴシック" charset="-128"/>
              </a:rPr>
              <a:t> study </a:t>
            </a:r>
            <a:r>
              <a:rPr lang="es-ES" altLang="es-ES" sz="900" dirty="0" err="1">
                <a:latin typeface="+mn-lt"/>
                <a:ea typeface="ＭＳ Ｐゴシック" charset="-128"/>
              </a:rPr>
              <a:t>population</a:t>
            </a:r>
            <a:r>
              <a:rPr lang="es-ES" altLang="es-ES" sz="900" dirty="0">
                <a:latin typeface="+mn-lt"/>
                <a:ea typeface="ＭＳ Ｐゴシック" charset="-128"/>
              </a:rPr>
              <a:t>.</a:t>
            </a:r>
          </a:p>
          <a:p>
            <a:r>
              <a:rPr lang="es-ES" altLang="es-ES" sz="900" dirty="0">
                <a:latin typeface="+mn-lt"/>
                <a:ea typeface="ＭＳ Ｐゴシック" charset="-128"/>
              </a:rPr>
              <a:t>Mean total and individual </a:t>
            </a:r>
            <a:r>
              <a:rPr lang="es-ES" altLang="es-ES" sz="900" dirty="0" err="1">
                <a:latin typeface="+mn-lt"/>
                <a:ea typeface="ＭＳ Ｐゴシック" charset="-128"/>
              </a:rPr>
              <a:t>domain</a:t>
            </a:r>
            <a:r>
              <a:rPr lang="es-ES" altLang="es-ES" sz="900" dirty="0">
                <a:latin typeface="+mn-lt"/>
                <a:ea typeface="ＭＳ Ｐゴシック" charset="-128"/>
              </a:rPr>
              <a:t> PRQLQ scores </a:t>
            </a:r>
            <a:r>
              <a:rPr lang="es-ES" altLang="es-ES" sz="900" dirty="0" err="1">
                <a:latin typeface="+mn-lt"/>
                <a:ea typeface="ＭＳ Ｐゴシック" charset="-128"/>
              </a:rPr>
              <a:t>over</a:t>
            </a:r>
            <a:r>
              <a:rPr lang="es-ES" altLang="es-ES" sz="900" dirty="0">
                <a:latin typeface="+mn-lt"/>
                <a:ea typeface="ＭＳ Ｐゴシック" charset="-128"/>
              </a:rPr>
              <a:t> 4 </a:t>
            </a:r>
            <a:r>
              <a:rPr lang="es-ES" altLang="es-ES" sz="900" dirty="0" err="1">
                <a:latin typeface="+mn-lt"/>
                <a:ea typeface="ＭＳ Ｐゴシック" charset="-128"/>
              </a:rPr>
              <a:t>weeks</a:t>
            </a:r>
            <a:r>
              <a:rPr lang="es-ES" altLang="es-ES" sz="900" dirty="0">
                <a:latin typeface="+mn-lt"/>
                <a:ea typeface="ＭＳ Ｐゴシック" charset="-128"/>
              </a:rPr>
              <a:t> with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or</a:t>
            </a:r>
            <a:r>
              <a:rPr lang="es-ES" altLang="es-ES" sz="900" dirty="0">
                <a:latin typeface="+mn-lt"/>
                <a:ea typeface="ＭＳ Ｐゴシック" charset="-128"/>
              </a:rPr>
              <a:t> placebo in </a:t>
            </a:r>
            <a:r>
              <a:rPr lang="es-ES" altLang="es-ES" sz="900" dirty="0" err="1">
                <a:latin typeface="+mn-lt"/>
                <a:ea typeface="ＭＳ Ｐゴシック" charset="-128"/>
              </a:rPr>
              <a:t>children</a:t>
            </a:r>
            <a:r>
              <a:rPr lang="es-ES" altLang="es-ES" sz="900" dirty="0">
                <a:latin typeface="+mn-lt"/>
                <a:ea typeface="ＭＳ Ｐゴシック" charset="-128"/>
              </a:rPr>
              <a:t>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and </a:t>
            </a:r>
            <a:r>
              <a:rPr lang="es-ES" altLang="es-ES" sz="900" dirty="0" err="1">
                <a:latin typeface="+mn-lt"/>
                <a:ea typeface="ＭＳ Ｐゴシック" charset="-128"/>
              </a:rPr>
              <a:t>bodyweight</a:t>
            </a:r>
            <a:r>
              <a:rPr lang="es-ES" altLang="es-ES" sz="900" dirty="0">
                <a:latin typeface="+mn-lt"/>
                <a:ea typeface="ＭＳ Ｐゴシック" charset="-128"/>
              </a:rPr>
              <a:t> ≥ 25 kg.</a:t>
            </a:r>
          </a:p>
          <a:p>
            <a:r>
              <a:rPr lang="es-ES" altLang="es-ES" sz="900" dirty="0">
                <a:latin typeface="+mn-lt"/>
                <a:ea typeface="ＭＳ Ｐゴシック" charset="-128"/>
              </a:rPr>
              <a:t>PRQLQ: </a:t>
            </a:r>
            <a:r>
              <a:rPr lang="es-ES" altLang="es-ES" sz="900" dirty="0" err="1">
                <a:latin typeface="+mn-lt"/>
                <a:ea typeface="ＭＳ Ｐゴシック" charset="-128"/>
              </a:rPr>
              <a:t>Paediatric</a:t>
            </a:r>
            <a:r>
              <a:rPr lang="es-ES" altLang="es-ES" sz="900" dirty="0">
                <a:latin typeface="+mn-lt"/>
                <a:ea typeface="ＭＳ Ｐゴシック" charset="-128"/>
              </a:rPr>
              <a:t> </a:t>
            </a:r>
            <a:r>
              <a:rPr lang="es-ES" altLang="es-ES" sz="900" dirty="0" err="1">
                <a:latin typeface="+mn-lt"/>
                <a:ea typeface="ＭＳ Ｐゴシック" charset="-128"/>
              </a:rPr>
              <a:t>Rhinoconjunctivitis</a:t>
            </a:r>
            <a:r>
              <a:rPr lang="es-ES" altLang="es-ES" sz="900" dirty="0">
                <a:latin typeface="+mn-lt"/>
                <a:ea typeface="ＭＳ Ｐゴシック" charset="-128"/>
              </a:rPr>
              <a:t> </a:t>
            </a:r>
            <a:r>
              <a:rPr lang="es-ES" altLang="es-ES" sz="900" dirty="0" err="1">
                <a:latin typeface="+mn-lt"/>
                <a:ea typeface="ＭＳ Ｐゴシック" charset="-128"/>
              </a:rPr>
              <a:t>Quality</a:t>
            </a:r>
            <a:r>
              <a:rPr lang="es-ES" altLang="es-ES" sz="900" dirty="0">
                <a:latin typeface="+mn-lt"/>
                <a:ea typeface="ＭＳ Ｐゴシック" charset="-128"/>
              </a:rPr>
              <a:t> of </a:t>
            </a:r>
            <a:r>
              <a:rPr lang="es-ES" altLang="es-ES" sz="900" dirty="0" err="1">
                <a:latin typeface="+mn-lt"/>
                <a:ea typeface="ＭＳ Ｐゴシック" charset="-128"/>
              </a:rPr>
              <a:t>Life</a:t>
            </a:r>
            <a:r>
              <a:rPr lang="es-ES" altLang="es-ES" sz="900" dirty="0">
                <a:latin typeface="+mn-lt"/>
                <a:ea typeface="ＭＳ Ｐゴシック" charset="-128"/>
              </a:rPr>
              <a:t> </a:t>
            </a:r>
            <a:r>
              <a:rPr lang="es-ES" altLang="es-ES" sz="900" dirty="0" err="1">
                <a:latin typeface="+mn-lt"/>
                <a:ea typeface="ＭＳ Ｐゴシック" charset="-128"/>
              </a:rPr>
              <a:t>Questionarire</a:t>
            </a:r>
            <a:r>
              <a:rPr lang="es-ES" altLang="es-ES" sz="900" dirty="0">
                <a:latin typeface="+mn-lt"/>
                <a:ea typeface="ＭＳ Ｐゴシック" charset="-128"/>
              </a:rPr>
              <a:t>.</a:t>
            </a:r>
          </a:p>
          <a:p>
            <a:r>
              <a:rPr lang="es-ES" altLang="es-ES" sz="900" dirty="0" err="1">
                <a:latin typeface="+mn-lt"/>
                <a:ea typeface="ＭＳ Ｐゴシック" charset="-128"/>
              </a:rPr>
              <a:t>Statistical</a:t>
            </a:r>
            <a:r>
              <a:rPr lang="es-ES" altLang="es-ES" sz="900" dirty="0">
                <a:latin typeface="+mn-lt"/>
                <a:ea typeface="ＭＳ Ｐゴシック" charset="-128"/>
              </a:rPr>
              <a:t> </a:t>
            </a:r>
            <a:r>
              <a:rPr lang="es-ES" altLang="es-ES" sz="900" dirty="0" err="1">
                <a:latin typeface="+mn-lt"/>
                <a:ea typeface="ＭＳ Ｐゴシック" charset="-128"/>
              </a:rPr>
              <a:t>significance</a:t>
            </a:r>
            <a:r>
              <a:rPr lang="es-ES" altLang="es-ES" sz="900" dirty="0">
                <a:latin typeface="+mn-lt"/>
                <a:ea typeface="ＭＳ Ｐゴシック" charset="-128"/>
              </a:rPr>
              <a:t>: *p &lt; 0.05; **p &lt; 0.01 </a:t>
            </a:r>
            <a:r>
              <a:rPr lang="es-ES" altLang="es-ES" sz="900" dirty="0" err="1">
                <a:latin typeface="+mn-lt"/>
                <a:ea typeface="ＭＳ Ｐゴシック" charset="-128"/>
              </a:rPr>
              <a:t>for</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vs placebo.</a:t>
            </a:r>
          </a:p>
          <a:p>
            <a:endParaRPr lang="es-ES" altLang="es-ES" sz="900" b="1" dirty="0">
              <a:latin typeface="+mn-lt"/>
              <a:ea typeface="ＭＳ Ｐゴシック" charset="-128"/>
            </a:endParaRPr>
          </a:p>
          <a:p>
            <a:r>
              <a:rPr lang="es-ES" altLang="es-ES" sz="900" b="1" dirty="0">
                <a:latin typeface="+mn-lt"/>
                <a:ea typeface="ＭＳ Ｐゴシック" charset="-128"/>
              </a:rPr>
              <a:t>Reference</a:t>
            </a:r>
          </a:p>
          <a:p>
            <a:r>
              <a:rPr lang="es-ES" altLang="es-ES" sz="900" dirty="0">
                <a:latin typeface="+mn-lt"/>
                <a:ea typeface="ＭＳ Ｐゴシック" charset="-128"/>
              </a:rPr>
              <a:t>Potter P, </a:t>
            </a:r>
            <a:r>
              <a:rPr lang="es-ES" altLang="es-ES" sz="900" dirty="0" err="1">
                <a:latin typeface="+mn-lt"/>
                <a:ea typeface="ＭＳ Ｐゴシック" charset="-128"/>
              </a:rPr>
              <a:t>Maspero</a:t>
            </a:r>
            <a:r>
              <a:rPr lang="es-ES" altLang="es-ES" sz="900" dirty="0">
                <a:latin typeface="+mn-lt"/>
                <a:ea typeface="ＭＳ Ｐゴシック" charset="-128"/>
              </a:rPr>
              <a:t> J, </a:t>
            </a:r>
            <a:r>
              <a:rPr lang="es-ES" altLang="es-ES" sz="900" dirty="0" err="1">
                <a:latin typeface="+mn-lt"/>
                <a:ea typeface="ＭＳ Ｐゴシック" charset="-128"/>
              </a:rPr>
              <a:t>Vermeulen</a:t>
            </a:r>
            <a:r>
              <a:rPr lang="es-ES" altLang="es-ES" sz="900" dirty="0">
                <a:latin typeface="+mn-lt"/>
                <a:ea typeface="ＭＳ Ｐゴシック" charset="-128"/>
              </a:rPr>
              <a:t> J, </a:t>
            </a:r>
            <a:r>
              <a:rPr lang="es-ES" altLang="es-ES" sz="900" dirty="0" err="1">
                <a:latin typeface="+mn-lt"/>
                <a:ea typeface="ＭＳ Ｐゴシック" charset="-128"/>
              </a:rPr>
              <a:t>Barkai</a:t>
            </a:r>
            <a:r>
              <a:rPr lang="es-ES" altLang="es-ES" sz="900" dirty="0">
                <a:latin typeface="+mn-lt"/>
                <a:ea typeface="ＭＳ Ｐゴシック" charset="-128"/>
              </a:rPr>
              <a:t> L, et al.</a:t>
            </a:r>
            <a:r>
              <a:rPr lang="es-ES" altLang="es-ES" sz="900" b="1" dirty="0">
                <a:latin typeface="+mn-lt"/>
                <a:ea typeface="ＭＳ Ｐゴシック" charset="-128"/>
              </a:rPr>
              <a:t> </a:t>
            </a:r>
            <a:r>
              <a:rPr lang="es-ES" altLang="es-ES" sz="900" dirty="0" err="1">
                <a:latin typeface="+mn-lt"/>
                <a:ea typeface="ＭＳ Ｐゴシック" charset="-128"/>
              </a:rPr>
              <a:t>Subanalysis</a:t>
            </a:r>
            <a:r>
              <a:rPr lang="es-ES" altLang="es-ES" sz="900" dirty="0">
                <a:latin typeface="+mn-lt"/>
                <a:ea typeface="ＭＳ Ｐゴシック" charset="-128"/>
              </a:rPr>
              <a:t> of </a:t>
            </a:r>
            <a:r>
              <a:rPr lang="es-ES" altLang="es-ES" sz="900" dirty="0" err="1">
                <a:latin typeface="+mn-lt"/>
                <a:ea typeface="ＭＳ Ｐゴシック" charset="-128"/>
              </a:rPr>
              <a:t>quality</a:t>
            </a:r>
            <a:r>
              <a:rPr lang="es-ES" altLang="es-ES" sz="900" dirty="0">
                <a:latin typeface="+mn-lt"/>
                <a:ea typeface="ＭＳ Ｐゴシック" charset="-128"/>
              </a:rPr>
              <a:t> of </a:t>
            </a:r>
            <a:r>
              <a:rPr lang="es-ES" altLang="es-ES" sz="900" dirty="0" err="1">
                <a:latin typeface="+mn-lt"/>
                <a:ea typeface="ＭＳ Ｐゴシック" charset="-128"/>
              </a:rPr>
              <a:t>life</a:t>
            </a:r>
            <a:r>
              <a:rPr lang="es-ES" altLang="es-ES" sz="900" dirty="0">
                <a:latin typeface="+mn-lt"/>
                <a:ea typeface="ＭＳ Ｐゴシック" charset="-128"/>
              </a:rPr>
              <a:t> in </a:t>
            </a:r>
            <a:r>
              <a:rPr lang="es-ES" altLang="es-ES" sz="900" dirty="0" err="1">
                <a:latin typeface="+mn-lt"/>
                <a:ea typeface="ＭＳ Ｐゴシック" charset="-128"/>
              </a:rPr>
              <a:t>children</a:t>
            </a:r>
            <a:r>
              <a:rPr lang="es-ES" altLang="es-ES" sz="900" dirty="0">
                <a:latin typeface="+mn-lt"/>
                <a:ea typeface="ＭＳ Ｐゴシック" charset="-128"/>
              </a:rPr>
              <a:t> with 6-11 </a:t>
            </a:r>
            <a:r>
              <a:rPr lang="es-ES" altLang="es-ES" sz="900" dirty="0" err="1">
                <a:latin typeface="+mn-lt"/>
                <a:ea typeface="ＭＳ Ｐゴシック" charset="-128"/>
              </a:rPr>
              <a:t>years</a:t>
            </a:r>
            <a:r>
              <a:rPr lang="es-ES" altLang="es-ES" sz="900" dirty="0">
                <a:latin typeface="+mn-lt"/>
                <a:ea typeface="ＭＳ Ｐゴシック" charset="-128"/>
              </a:rPr>
              <a:t> </a:t>
            </a:r>
            <a:r>
              <a:rPr lang="es-ES" altLang="es-ES" sz="900" dirty="0" err="1">
                <a:latin typeface="+mn-lt"/>
                <a:ea typeface="ＭＳ Ｐゴシック" charset="-128"/>
              </a:rPr>
              <a:t>weighing</a:t>
            </a:r>
            <a:r>
              <a:rPr lang="es-ES" altLang="es-ES" sz="900" dirty="0">
                <a:latin typeface="+mn-lt"/>
                <a:ea typeface="ＭＳ Ｐゴシック" charset="-128"/>
              </a:rPr>
              <a:t> ≥25 Kg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results</a:t>
            </a:r>
            <a:r>
              <a:rPr lang="es-ES" altLang="es-ES" sz="900" dirty="0">
                <a:latin typeface="+mn-lt"/>
                <a:ea typeface="ＭＳ Ｐゴシック" charset="-128"/>
              </a:rPr>
              <a:t>. </a:t>
            </a:r>
            <a:r>
              <a:rPr lang="en-US" altLang="es-ES" sz="900" dirty="0">
                <a:latin typeface="+mn-lt"/>
                <a:ea typeface="ＭＳ Ｐゴシック" charset="-128"/>
              </a:rPr>
              <a:t>Allergy. 2013; 68 (</a:t>
            </a:r>
            <a:r>
              <a:rPr lang="en-US" altLang="es-ES" sz="900" dirty="0" err="1">
                <a:latin typeface="+mn-lt"/>
                <a:ea typeface="ＭＳ Ｐゴシック" charset="-128"/>
              </a:rPr>
              <a:t>Suppl</a:t>
            </a:r>
            <a:r>
              <a:rPr lang="en-US" altLang="es-ES" sz="900" dirty="0">
                <a:latin typeface="+mn-lt"/>
                <a:ea typeface="ＭＳ Ｐゴシック" charset="-128"/>
              </a:rPr>
              <a:t> 97). Abstract 686 (p.275).</a:t>
            </a:r>
            <a:endParaRPr lang="es-ES" altLang="es-ES" sz="900" dirty="0">
              <a:latin typeface="+mn-lt"/>
              <a:ea typeface="ＭＳ Ｐゴシック" charset="-128"/>
            </a:endParaRPr>
          </a:p>
        </p:txBody>
      </p:sp>
    </p:spTree>
    <p:extLst>
      <p:ext uri="{BB962C8B-B14F-4D97-AF65-F5344CB8AC3E}">
        <p14:creationId xmlns:p14="http://schemas.microsoft.com/office/powerpoint/2010/main" val="39578561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noRot="1" noChangeAspect="1" noTextEdit="1"/>
          </p:cNvSpPr>
          <p:nvPr>
            <p:ph type="sldImg"/>
          </p:nvPr>
        </p:nvSpPr>
        <p:spPr>
          <a:ln/>
        </p:spPr>
      </p:sp>
      <p:sp>
        <p:nvSpPr>
          <p:cNvPr id="81922" name="Rectangle 3"/>
          <p:cNvSpPr>
            <a:spLocks noGrp="1"/>
          </p:cNvSpPr>
          <p:nvPr>
            <p:ph type="body" idx="1"/>
          </p:nvPr>
        </p:nvSpPr>
        <p:spPr>
          <a:noFill/>
          <a:ln/>
        </p:spPr>
        <p:txBody>
          <a:bodyPr/>
          <a:lstStyle/>
          <a:p>
            <a:r>
              <a:rPr lang="es-ES" altLang="es-ES" sz="900" dirty="0">
                <a:latin typeface="+mn-lt"/>
                <a:ea typeface="ＭＳ Ｐゴシック" charset="-128"/>
              </a:rPr>
              <a:t>Mean total and individual </a:t>
            </a:r>
            <a:r>
              <a:rPr lang="es-ES" altLang="es-ES" sz="900" dirty="0" err="1">
                <a:latin typeface="+mn-lt"/>
                <a:ea typeface="ＭＳ Ｐゴシック" charset="-128"/>
              </a:rPr>
              <a:t>domain</a:t>
            </a:r>
            <a:r>
              <a:rPr lang="es-ES" altLang="es-ES" sz="900" dirty="0">
                <a:latin typeface="+mn-lt"/>
                <a:ea typeface="ＭＳ Ｐゴシック" charset="-128"/>
              </a:rPr>
              <a:t> PRQLQ scores </a:t>
            </a:r>
            <a:r>
              <a:rPr lang="es-ES" altLang="es-ES" sz="900" dirty="0" err="1">
                <a:latin typeface="+mn-lt"/>
                <a:ea typeface="ＭＳ Ｐゴシック" charset="-128"/>
              </a:rPr>
              <a:t>over</a:t>
            </a:r>
            <a:r>
              <a:rPr lang="es-ES" altLang="es-ES" sz="900" dirty="0">
                <a:latin typeface="+mn-lt"/>
                <a:ea typeface="ＭＳ Ｐゴシック" charset="-128"/>
              </a:rPr>
              <a:t> 6 </a:t>
            </a:r>
            <a:r>
              <a:rPr lang="es-ES" altLang="es-ES" sz="900" dirty="0" err="1">
                <a:latin typeface="+mn-lt"/>
                <a:ea typeface="ＭＳ Ｐゴシック" charset="-128"/>
              </a:rPr>
              <a:t>weeks</a:t>
            </a:r>
            <a:r>
              <a:rPr lang="es-ES" altLang="es-ES" sz="900" dirty="0">
                <a:latin typeface="+mn-lt"/>
                <a:ea typeface="ＭＳ Ｐゴシック" charset="-128"/>
              </a:rPr>
              <a:t> with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or</a:t>
            </a:r>
            <a:r>
              <a:rPr lang="es-ES" altLang="es-ES" sz="900" dirty="0">
                <a:latin typeface="+mn-lt"/>
                <a:ea typeface="ＭＳ Ｐゴシック" charset="-128"/>
              </a:rPr>
              <a:t> placebo in </a:t>
            </a:r>
            <a:r>
              <a:rPr lang="es-ES" altLang="es-ES" sz="900" dirty="0" err="1">
                <a:latin typeface="+mn-lt"/>
                <a:ea typeface="ＭＳ Ｐゴシック" charset="-128"/>
              </a:rPr>
              <a:t>children</a:t>
            </a:r>
            <a:r>
              <a:rPr lang="es-ES" altLang="es-ES" sz="900" dirty="0">
                <a:latin typeface="+mn-lt"/>
                <a:ea typeface="ＭＳ Ｐゴシック" charset="-128"/>
              </a:rPr>
              <a:t>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and </a:t>
            </a:r>
            <a:r>
              <a:rPr lang="es-ES" altLang="es-ES" sz="900" dirty="0" err="1">
                <a:latin typeface="+mn-lt"/>
                <a:ea typeface="ＭＳ Ｐゴシック" charset="-128"/>
              </a:rPr>
              <a:t>bodyweight</a:t>
            </a:r>
            <a:r>
              <a:rPr lang="es-ES" altLang="es-ES" sz="900" dirty="0">
                <a:latin typeface="+mn-lt"/>
                <a:ea typeface="ＭＳ Ｐゴシック" charset="-128"/>
              </a:rPr>
              <a:t> ≥ 25 kg. </a:t>
            </a:r>
          </a:p>
          <a:p>
            <a:r>
              <a:rPr lang="es-ES" altLang="es-ES" sz="900" dirty="0">
                <a:latin typeface="+mn-lt"/>
                <a:ea typeface="ＭＳ Ｐゴシック" charset="-128"/>
              </a:rPr>
              <a:t>PRQLQ: </a:t>
            </a:r>
            <a:r>
              <a:rPr lang="es-ES" altLang="es-ES" sz="900" dirty="0" err="1">
                <a:latin typeface="+mn-lt"/>
                <a:ea typeface="ＭＳ Ｐゴシック" charset="-128"/>
              </a:rPr>
              <a:t>Pediatric</a:t>
            </a:r>
            <a:r>
              <a:rPr lang="es-ES" altLang="es-ES" sz="900" dirty="0">
                <a:latin typeface="+mn-lt"/>
                <a:ea typeface="ＭＳ Ｐゴシック" charset="-128"/>
              </a:rPr>
              <a:t> </a:t>
            </a:r>
            <a:r>
              <a:rPr lang="es-ES" altLang="es-ES" sz="900" dirty="0" err="1">
                <a:latin typeface="+mn-lt"/>
                <a:ea typeface="ＭＳ Ｐゴシック" charset="-128"/>
              </a:rPr>
              <a:t>Rhinoconjunctivitis</a:t>
            </a:r>
            <a:r>
              <a:rPr lang="es-ES" altLang="es-ES" sz="900" dirty="0">
                <a:latin typeface="+mn-lt"/>
                <a:ea typeface="ＭＳ Ｐゴシック" charset="-128"/>
              </a:rPr>
              <a:t> </a:t>
            </a:r>
            <a:r>
              <a:rPr lang="es-ES" altLang="es-ES" sz="900" dirty="0" err="1">
                <a:latin typeface="+mn-lt"/>
                <a:ea typeface="ＭＳ Ｐゴシック" charset="-128"/>
              </a:rPr>
              <a:t>Quality</a:t>
            </a:r>
            <a:r>
              <a:rPr lang="es-ES" altLang="es-ES" sz="900" dirty="0">
                <a:latin typeface="+mn-lt"/>
                <a:ea typeface="ＭＳ Ｐゴシック" charset="-128"/>
              </a:rPr>
              <a:t> of </a:t>
            </a:r>
            <a:r>
              <a:rPr lang="es-ES" altLang="es-ES" sz="900" dirty="0" err="1">
                <a:latin typeface="+mn-lt"/>
                <a:ea typeface="ＭＳ Ｐゴシック" charset="-128"/>
              </a:rPr>
              <a:t>Life</a:t>
            </a:r>
            <a:r>
              <a:rPr lang="es-ES" altLang="es-ES" sz="900" dirty="0">
                <a:latin typeface="+mn-lt"/>
                <a:ea typeface="ＭＳ Ｐゴシック" charset="-128"/>
              </a:rPr>
              <a:t> </a:t>
            </a:r>
            <a:r>
              <a:rPr lang="es-ES" altLang="es-ES" sz="900" dirty="0" err="1">
                <a:latin typeface="+mn-lt"/>
                <a:ea typeface="ＭＳ Ｐゴシック" charset="-128"/>
              </a:rPr>
              <a:t>Questionnaire</a:t>
            </a:r>
            <a:r>
              <a:rPr lang="es-ES" altLang="es-ES" sz="900" dirty="0">
                <a:latin typeface="+mn-lt"/>
                <a:ea typeface="ＭＳ Ｐゴシック" charset="-128"/>
              </a:rPr>
              <a:t>. </a:t>
            </a:r>
            <a:r>
              <a:rPr lang="es-ES" altLang="es-ES" sz="900" dirty="0" err="1">
                <a:latin typeface="+mn-lt"/>
                <a:ea typeface="ＭＳ Ｐゴシック" charset="-128"/>
              </a:rPr>
              <a:t>Statistical</a:t>
            </a:r>
            <a:r>
              <a:rPr lang="es-ES" altLang="es-ES" sz="900" dirty="0">
                <a:latin typeface="+mn-lt"/>
                <a:ea typeface="ＭＳ Ｐゴシック" charset="-128"/>
              </a:rPr>
              <a:t> </a:t>
            </a:r>
            <a:r>
              <a:rPr lang="es-ES" altLang="es-ES" sz="900" dirty="0" err="1">
                <a:latin typeface="+mn-lt"/>
                <a:ea typeface="ＭＳ Ｐゴシック" charset="-128"/>
              </a:rPr>
              <a:t>significance</a:t>
            </a:r>
            <a:r>
              <a:rPr lang="es-ES" altLang="es-ES" sz="900" dirty="0">
                <a:latin typeface="+mn-lt"/>
                <a:ea typeface="ＭＳ Ｐゴシック" charset="-128"/>
              </a:rPr>
              <a:t>; *p &lt; 0.05; **p &lt; 0.01 </a:t>
            </a:r>
            <a:r>
              <a:rPr lang="es-ES" altLang="es-ES" sz="900" dirty="0" err="1">
                <a:latin typeface="+mn-lt"/>
                <a:ea typeface="ＭＳ Ｐゴシック" charset="-128"/>
              </a:rPr>
              <a:t>for</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vs placebo.</a:t>
            </a:r>
          </a:p>
          <a:p>
            <a:endParaRPr lang="es-ES" altLang="es-ES" sz="900" b="1" dirty="0">
              <a:latin typeface="+mn-lt"/>
              <a:ea typeface="ＭＳ Ｐゴシック" charset="-128"/>
            </a:endParaRPr>
          </a:p>
          <a:p>
            <a:r>
              <a:rPr lang="es-ES" altLang="es-ES" sz="900" b="1" dirty="0">
                <a:latin typeface="+mn-lt"/>
                <a:ea typeface="ＭＳ Ｐゴシック" charset="-128"/>
              </a:rPr>
              <a:t>Reference</a:t>
            </a:r>
          </a:p>
          <a:p>
            <a:r>
              <a:rPr lang="es-ES" altLang="es-ES" sz="900" dirty="0">
                <a:latin typeface="+mn-lt"/>
                <a:ea typeface="ＭＳ Ｐゴシック" charset="-128"/>
              </a:rPr>
              <a:t>Potter P, </a:t>
            </a:r>
            <a:r>
              <a:rPr lang="es-ES" altLang="es-ES" sz="900" dirty="0" err="1">
                <a:latin typeface="+mn-lt"/>
                <a:ea typeface="ＭＳ Ｐゴシック" charset="-128"/>
              </a:rPr>
              <a:t>Maspero</a:t>
            </a:r>
            <a:r>
              <a:rPr lang="es-ES" altLang="es-ES" sz="900" dirty="0">
                <a:latin typeface="+mn-lt"/>
                <a:ea typeface="ＭＳ Ｐゴシック" charset="-128"/>
              </a:rPr>
              <a:t> J, </a:t>
            </a:r>
            <a:r>
              <a:rPr lang="es-ES" altLang="es-ES" sz="900" dirty="0" err="1">
                <a:latin typeface="+mn-lt"/>
                <a:ea typeface="ＭＳ Ｐゴシック" charset="-128"/>
              </a:rPr>
              <a:t>Vermeulen</a:t>
            </a:r>
            <a:r>
              <a:rPr lang="es-ES" altLang="es-ES" sz="900" dirty="0">
                <a:latin typeface="+mn-lt"/>
                <a:ea typeface="ＭＳ Ｐゴシック" charset="-128"/>
              </a:rPr>
              <a:t> J, </a:t>
            </a:r>
            <a:r>
              <a:rPr lang="es-ES" altLang="es-ES" sz="900" dirty="0" err="1">
                <a:latin typeface="+mn-lt"/>
                <a:ea typeface="ＭＳ Ｐゴシック" charset="-128"/>
              </a:rPr>
              <a:t>Barkai</a:t>
            </a:r>
            <a:r>
              <a:rPr lang="es-ES" altLang="es-ES" sz="900" dirty="0">
                <a:latin typeface="+mn-lt"/>
                <a:ea typeface="ＭＳ Ｐゴシック" charset="-128"/>
              </a:rPr>
              <a:t> L, et al.</a:t>
            </a:r>
            <a:r>
              <a:rPr lang="es-ES" altLang="es-ES" sz="900" b="1" dirty="0">
                <a:latin typeface="+mn-lt"/>
                <a:ea typeface="ＭＳ Ｐゴシック" charset="-128"/>
              </a:rPr>
              <a:t> </a:t>
            </a:r>
            <a:r>
              <a:rPr lang="es-ES" altLang="es-ES" sz="900" dirty="0" err="1">
                <a:latin typeface="+mn-lt"/>
                <a:ea typeface="ＭＳ Ｐゴシック" charset="-128"/>
              </a:rPr>
              <a:t>Subanalysis</a:t>
            </a:r>
            <a:r>
              <a:rPr lang="es-ES" altLang="es-ES" sz="900" dirty="0">
                <a:latin typeface="+mn-lt"/>
                <a:ea typeface="ＭＳ Ｐゴシック" charset="-128"/>
              </a:rPr>
              <a:t> of </a:t>
            </a:r>
            <a:r>
              <a:rPr lang="es-ES" altLang="es-ES" sz="900" dirty="0" err="1">
                <a:latin typeface="+mn-lt"/>
                <a:ea typeface="ＭＳ Ｐゴシック" charset="-128"/>
              </a:rPr>
              <a:t>quality</a:t>
            </a:r>
            <a:r>
              <a:rPr lang="es-ES" altLang="es-ES" sz="900" dirty="0">
                <a:latin typeface="+mn-lt"/>
                <a:ea typeface="ＭＳ Ｐゴシック" charset="-128"/>
              </a:rPr>
              <a:t> of </a:t>
            </a:r>
            <a:r>
              <a:rPr lang="es-ES" altLang="es-ES" sz="900" dirty="0" err="1">
                <a:latin typeface="+mn-lt"/>
                <a:ea typeface="ＭＳ Ｐゴシック" charset="-128"/>
              </a:rPr>
              <a:t>life</a:t>
            </a:r>
            <a:r>
              <a:rPr lang="es-ES" altLang="es-ES" sz="900" dirty="0">
                <a:latin typeface="+mn-lt"/>
                <a:ea typeface="ＭＳ Ｐゴシック" charset="-128"/>
              </a:rPr>
              <a:t> in </a:t>
            </a:r>
            <a:r>
              <a:rPr lang="es-ES" altLang="es-ES" sz="900" dirty="0" err="1">
                <a:latin typeface="+mn-lt"/>
                <a:ea typeface="ＭＳ Ｐゴシック" charset="-128"/>
              </a:rPr>
              <a:t>children</a:t>
            </a:r>
            <a:r>
              <a:rPr lang="es-ES" altLang="es-ES" sz="900" dirty="0">
                <a:latin typeface="+mn-lt"/>
                <a:ea typeface="ＭＳ Ｐゴシック" charset="-128"/>
              </a:rPr>
              <a:t> with 6-11 </a:t>
            </a:r>
            <a:r>
              <a:rPr lang="es-ES" altLang="es-ES" sz="900" dirty="0" err="1">
                <a:latin typeface="+mn-lt"/>
                <a:ea typeface="ＭＳ Ｐゴシック" charset="-128"/>
              </a:rPr>
              <a:t>years</a:t>
            </a:r>
            <a:r>
              <a:rPr lang="es-ES" altLang="es-ES" sz="900" dirty="0">
                <a:latin typeface="+mn-lt"/>
                <a:ea typeface="ＭＳ Ｐゴシック" charset="-128"/>
              </a:rPr>
              <a:t> </a:t>
            </a:r>
            <a:r>
              <a:rPr lang="es-ES" altLang="es-ES" sz="900" dirty="0" err="1">
                <a:latin typeface="+mn-lt"/>
                <a:ea typeface="ＭＳ Ｐゴシック" charset="-128"/>
              </a:rPr>
              <a:t>weighing</a:t>
            </a:r>
            <a:r>
              <a:rPr lang="es-ES" altLang="es-ES" sz="900" dirty="0">
                <a:latin typeface="+mn-lt"/>
                <a:ea typeface="ＭＳ Ｐゴシック" charset="-128"/>
              </a:rPr>
              <a:t> ≥25 Kg with </a:t>
            </a:r>
            <a:r>
              <a:rPr lang="es-ES" altLang="es-ES" sz="900" dirty="0" err="1">
                <a:latin typeface="+mn-lt"/>
                <a:ea typeface="ＭＳ Ｐゴシック" charset="-128"/>
              </a:rPr>
              <a:t>persistent</a:t>
            </a:r>
            <a:r>
              <a:rPr lang="es-ES" altLang="es-ES" sz="900" dirty="0">
                <a:latin typeface="+mn-lt"/>
                <a:ea typeface="ＭＳ Ｐゴシック" charset="-128"/>
              </a:rPr>
              <a:t> </a:t>
            </a:r>
            <a:r>
              <a:rPr lang="es-ES" altLang="es-ES" sz="900" dirty="0" err="1">
                <a:latin typeface="+mn-lt"/>
                <a:ea typeface="ＭＳ Ｐゴシック" charset="-128"/>
              </a:rPr>
              <a:t>allergic</a:t>
            </a:r>
            <a:r>
              <a:rPr lang="es-ES" altLang="es-ES" sz="900" dirty="0">
                <a:latin typeface="+mn-lt"/>
                <a:ea typeface="ＭＳ Ｐゴシック" charset="-128"/>
              </a:rPr>
              <a:t> </a:t>
            </a:r>
            <a:r>
              <a:rPr lang="es-ES" altLang="es-ES" sz="900" dirty="0" err="1">
                <a:latin typeface="+mn-lt"/>
                <a:ea typeface="ＭＳ Ｐゴシック" charset="-128"/>
              </a:rPr>
              <a:t>rhinitis</a:t>
            </a:r>
            <a:r>
              <a:rPr lang="es-ES" altLang="es-ES" sz="900" dirty="0">
                <a:latin typeface="+mn-lt"/>
                <a:ea typeface="ＭＳ Ｐゴシック" charset="-128"/>
              </a:rPr>
              <a:t>: </a:t>
            </a:r>
            <a:r>
              <a:rPr lang="es-ES" altLang="es-ES" sz="900" dirty="0" err="1">
                <a:latin typeface="+mn-lt"/>
                <a:ea typeface="ＭＳ Ｐゴシック" charset="-128"/>
              </a:rPr>
              <a:t>rupatadine</a:t>
            </a:r>
            <a:r>
              <a:rPr lang="es-ES" altLang="es-ES" sz="900" dirty="0">
                <a:latin typeface="+mn-lt"/>
                <a:ea typeface="ＭＳ Ｐゴシック" charset="-128"/>
              </a:rPr>
              <a:t> </a:t>
            </a:r>
            <a:r>
              <a:rPr lang="es-ES" altLang="es-ES" sz="900" dirty="0" err="1">
                <a:latin typeface="+mn-lt"/>
                <a:ea typeface="ＭＳ Ｐゴシック" charset="-128"/>
              </a:rPr>
              <a:t>results</a:t>
            </a:r>
            <a:r>
              <a:rPr lang="es-ES" altLang="es-ES" sz="900" dirty="0">
                <a:latin typeface="+mn-lt"/>
                <a:ea typeface="ＭＳ Ｐゴシック" charset="-128"/>
              </a:rPr>
              <a:t>. </a:t>
            </a:r>
            <a:r>
              <a:rPr lang="en-US" altLang="es-ES" sz="900" dirty="0">
                <a:latin typeface="+mn-lt"/>
                <a:ea typeface="ＭＳ Ｐゴシック" charset="-128"/>
              </a:rPr>
              <a:t>Allergy. 2013; 68 (</a:t>
            </a:r>
            <a:r>
              <a:rPr lang="en-US" altLang="es-ES" sz="900" dirty="0" err="1">
                <a:latin typeface="+mn-lt"/>
                <a:ea typeface="ＭＳ Ｐゴシック" charset="-128"/>
              </a:rPr>
              <a:t>Suppl</a:t>
            </a:r>
            <a:r>
              <a:rPr lang="en-US" altLang="es-ES" sz="900" dirty="0">
                <a:latin typeface="+mn-lt"/>
                <a:ea typeface="ＭＳ Ｐゴシック" charset="-128"/>
              </a:rPr>
              <a:t> 97). Abstract 686 (p.275).</a:t>
            </a:r>
            <a:endParaRPr lang="es-ES" altLang="es-ES" sz="900" dirty="0">
              <a:latin typeface="+mn-lt"/>
              <a:ea typeface="ＭＳ Ｐゴシック" charset="-128"/>
            </a:endParaRPr>
          </a:p>
          <a:p>
            <a:endParaRPr lang="es-ES" altLang="es-ES" dirty="0">
              <a:latin typeface="Arial" pitchFamily="34" charset="0"/>
              <a:ea typeface="ＭＳ Ｐゴシック" charset="-128"/>
            </a:endParaRPr>
          </a:p>
        </p:txBody>
      </p:sp>
    </p:spTree>
    <p:extLst>
      <p:ext uri="{BB962C8B-B14F-4D97-AF65-F5344CB8AC3E}">
        <p14:creationId xmlns:p14="http://schemas.microsoft.com/office/powerpoint/2010/main" val="18731699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1699710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644561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25</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marL="345575" indent="-345575" eaLnBrk="1" hangingPunct="1">
              <a:lnSpc>
                <a:spcPct val="150000"/>
              </a:lnSpc>
              <a:spcBef>
                <a:spcPts val="605"/>
              </a:spcBef>
              <a:buSzPct val="85000"/>
              <a:defRPr/>
            </a:pPr>
            <a:r>
              <a:rPr lang="en-NZ" sz="900" kern="0" dirty="0">
                <a:solidFill>
                  <a:schemeClr val="tx1"/>
                </a:solidFill>
                <a:latin typeface="+mn-lt"/>
              </a:rPr>
              <a:t>A phase II trial of </a:t>
            </a:r>
            <a:r>
              <a:rPr lang="en-NZ" sz="900" kern="0" dirty="0" err="1">
                <a:solidFill>
                  <a:schemeClr val="tx1"/>
                </a:solidFill>
                <a:latin typeface="+mn-lt"/>
              </a:rPr>
              <a:t>rupatadine</a:t>
            </a:r>
            <a:r>
              <a:rPr lang="en-NZ" sz="900" kern="0" dirty="0">
                <a:solidFill>
                  <a:schemeClr val="tx1"/>
                </a:solidFill>
                <a:latin typeface="+mn-lt"/>
              </a:rPr>
              <a:t> was conducted in Hungary</a:t>
            </a:r>
            <a:r>
              <a:rPr lang="en-NZ" sz="900" kern="0" baseline="0" dirty="0">
                <a:solidFill>
                  <a:schemeClr val="tx1"/>
                </a:solidFill>
                <a:latin typeface="+mn-lt"/>
              </a:rPr>
              <a:t> and South Africa </a:t>
            </a:r>
            <a:r>
              <a:rPr lang="en-NZ" sz="900" kern="0" dirty="0">
                <a:solidFill>
                  <a:schemeClr val="tx1"/>
                </a:solidFill>
                <a:latin typeface="+mn-lt"/>
              </a:rPr>
              <a:t>in 44 children aged 2-5 years with seasonal allergic rhinitis. The main aim of this study was to </a:t>
            </a:r>
            <a:r>
              <a:rPr lang="en-US" sz="900" kern="0" dirty="0">
                <a:solidFill>
                  <a:schemeClr val="tx1"/>
                </a:solidFill>
                <a:latin typeface="+mn-lt"/>
              </a:rPr>
              <a:t>complete the available PK information with a subset of children aged 2-5 years with AR.</a:t>
            </a:r>
          </a:p>
          <a:p>
            <a:pPr marL="345575" marR="0" indent="-345575" algn="l" defTabSz="449263" rtl="0" eaLnBrk="1" fontAlgn="base" latinLnBrk="0" hangingPunct="1">
              <a:lnSpc>
                <a:spcPct val="150000"/>
              </a:lnSpc>
              <a:spcBef>
                <a:spcPts val="605"/>
              </a:spcBef>
              <a:spcAft>
                <a:spcPct val="0"/>
              </a:spcAft>
              <a:buClr>
                <a:srgbClr val="000000"/>
              </a:buClr>
              <a:buSzPct val="85000"/>
              <a:buFont typeface="Calibri" pitchFamily="34" charset="0"/>
              <a:buNone/>
              <a:tabLst/>
              <a:defRPr/>
            </a:pPr>
            <a:r>
              <a:rPr lang="en-NZ" sz="900" kern="0" dirty="0">
                <a:latin typeface="+mn-lt"/>
              </a:rPr>
              <a:t>Mean age was 3.9 years, mean height 1.0 m, and mean body mass index (BMI) 15.3 kg/m</a:t>
            </a:r>
            <a:r>
              <a:rPr lang="en-NZ" sz="900" kern="0" baseline="30000" dirty="0">
                <a:latin typeface="+mn-lt"/>
              </a:rPr>
              <a:t>2</a:t>
            </a:r>
            <a:r>
              <a:rPr lang="en-NZ" sz="900" kern="0" dirty="0">
                <a:latin typeface="+mn-lt"/>
              </a:rPr>
              <a:t>.</a:t>
            </a:r>
            <a:endParaRPr lang="en-US" sz="900" kern="0" dirty="0">
              <a:solidFill>
                <a:schemeClr val="tx1"/>
              </a:solidFill>
              <a:latin typeface="+mn-lt"/>
            </a:endParaRPr>
          </a:p>
          <a:p>
            <a:pPr marL="345575" indent="-345575" defTabSz="452767" eaLnBrk="1" hangingPunct="1">
              <a:lnSpc>
                <a:spcPct val="150000"/>
              </a:lnSpc>
              <a:spcBef>
                <a:spcPts val="605"/>
              </a:spcBef>
              <a:buSzPct val="85000"/>
              <a:defRPr/>
            </a:pPr>
            <a:r>
              <a:rPr lang="en-NZ" sz="900" kern="0" dirty="0">
                <a:solidFill>
                  <a:schemeClr val="tx1"/>
                </a:solidFill>
                <a:latin typeface="+mn-lt"/>
              </a:rPr>
              <a:t>All</a:t>
            </a:r>
            <a:r>
              <a:rPr lang="en-NZ" sz="900" kern="0" baseline="0" dirty="0">
                <a:solidFill>
                  <a:schemeClr val="tx1"/>
                </a:solidFill>
                <a:latin typeface="+mn-lt"/>
              </a:rPr>
              <a:t> the patients weighted less than 22 kg, therefore all received 2.5 ml of </a:t>
            </a:r>
            <a:r>
              <a:rPr lang="en-NZ" sz="900" kern="0" baseline="0" dirty="0" err="1">
                <a:solidFill>
                  <a:schemeClr val="tx1"/>
                </a:solidFill>
                <a:latin typeface="+mn-lt"/>
              </a:rPr>
              <a:t>rupatadine</a:t>
            </a:r>
            <a:r>
              <a:rPr lang="en-NZ" sz="900" kern="0" baseline="0" dirty="0">
                <a:solidFill>
                  <a:schemeClr val="tx1"/>
                </a:solidFill>
                <a:latin typeface="+mn-lt"/>
              </a:rPr>
              <a:t> oral solution (2.5 mg of </a:t>
            </a:r>
            <a:r>
              <a:rPr lang="en-NZ" sz="900" kern="0" baseline="0" dirty="0" err="1">
                <a:solidFill>
                  <a:schemeClr val="tx1"/>
                </a:solidFill>
                <a:latin typeface="+mn-lt"/>
              </a:rPr>
              <a:t>rupatadine</a:t>
            </a:r>
            <a:r>
              <a:rPr lang="en-NZ" sz="900" kern="0" baseline="0" dirty="0">
                <a:solidFill>
                  <a:schemeClr val="tx1"/>
                </a:solidFill>
                <a:latin typeface="+mn-lt"/>
              </a:rPr>
              <a:t>)</a:t>
            </a:r>
            <a:endParaRPr lang="en-NZ" sz="900" kern="0" dirty="0">
              <a:solidFill>
                <a:schemeClr val="tx1"/>
              </a:solidFill>
              <a:latin typeface="+mn-lt"/>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Arial" charset="0"/>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Arial" charset="0"/>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3758870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Rot="1" noChangeAspect="1" noTextEdit="1"/>
          </p:cNvSpPr>
          <p:nvPr>
            <p:ph type="sldImg"/>
          </p:nvPr>
        </p:nvSpPr>
        <p:spPr>
          <a:ln/>
        </p:spPr>
      </p:sp>
      <p:sp>
        <p:nvSpPr>
          <p:cNvPr id="62466" name="Rectangle 3"/>
          <p:cNvSpPr>
            <a:spLocks noGrp="1"/>
          </p:cNvSpPr>
          <p:nvPr>
            <p:ph type="body" idx="1"/>
          </p:nvPr>
        </p:nvSpPr>
        <p:spPr>
          <a:noFill/>
          <a:ln/>
        </p:spPr>
        <p:txBody>
          <a:bodyPr/>
          <a:lstStyle/>
          <a:p>
            <a:r>
              <a:rPr lang="es-ES" altLang="es-ES" dirty="0">
                <a:ea typeface="ＭＳ Ｐゴシック" charset="-128"/>
              </a:rPr>
              <a:t>Rupatadine pediatric oral solution 1 mg/mL provided</a:t>
            </a:r>
            <a:r>
              <a:rPr lang="es-ES" altLang="es-ES" baseline="0" dirty="0">
                <a:ea typeface="ＭＳ Ｐゴシック" charset="-128"/>
              </a:rPr>
              <a:t> </a:t>
            </a:r>
            <a:r>
              <a:rPr lang="es-ES" altLang="es-ES" baseline="0" dirty="0" err="1">
                <a:ea typeface="ＭＳ Ｐゴシック" charset="-128"/>
              </a:rPr>
              <a:t>significant</a:t>
            </a:r>
            <a:r>
              <a:rPr lang="es-ES" altLang="es-ES" baseline="0" dirty="0">
                <a:ea typeface="ＭＳ Ｐゴシック" charset="-128"/>
              </a:rPr>
              <a:t> </a:t>
            </a:r>
            <a:r>
              <a:rPr lang="es-ES" altLang="es-ES" baseline="0" dirty="0" err="1">
                <a:ea typeface="ＭＳ Ｐゴシック" charset="-128"/>
              </a:rPr>
              <a:t>peripheral</a:t>
            </a:r>
            <a:r>
              <a:rPr lang="es-ES" altLang="es-ES" baseline="0" dirty="0">
                <a:ea typeface="ＭＳ Ｐゴシック" charset="-128"/>
              </a:rPr>
              <a:t> </a:t>
            </a:r>
            <a:r>
              <a:rPr lang="es-ES" altLang="es-ES" baseline="0" dirty="0" err="1">
                <a:ea typeface="ＭＳ Ｐゴシック" charset="-128"/>
              </a:rPr>
              <a:t>antihistamine</a:t>
            </a:r>
            <a:r>
              <a:rPr lang="es-ES" altLang="es-ES" baseline="0" dirty="0">
                <a:ea typeface="ＭＳ Ｐゴシック" charset="-128"/>
              </a:rPr>
              <a:t> </a:t>
            </a:r>
            <a:r>
              <a:rPr lang="es-ES" altLang="es-ES" baseline="0" dirty="0" err="1">
                <a:ea typeface="ＭＳ Ｐゴシック" charset="-128"/>
              </a:rPr>
              <a:t>activity</a:t>
            </a:r>
            <a:r>
              <a:rPr lang="es-ES" altLang="es-ES" baseline="0" dirty="0">
                <a:ea typeface="ＭＳ Ｐゴシック" charset="-128"/>
              </a:rPr>
              <a:t> </a:t>
            </a:r>
            <a:r>
              <a:rPr lang="es-ES" altLang="es-ES" b="0" baseline="0" dirty="0">
                <a:ea typeface="ＭＳ Ｐゴシック" charset="-128"/>
              </a:rPr>
              <a:t>after 2 and 4 </a:t>
            </a:r>
            <a:r>
              <a:rPr lang="es-ES" altLang="es-ES" b="0" baseline="0" dirty="0" err="1">
                <a:ea typeface="ＭＳ Ｐゴシック" charset="-128"/>
              </a:rPr>
              <a:t>weeks</a:t>
            </a:r>
            <a:r>
              <a:rPr lang="es-ES" altLang="es-ES" b="0" baseline="0" dirty="0">
                <a:ea typeface="ＭＳ Ｐゴシック" charset="-128"/>
              </a:rPr>
              <a:t> </a:t>
            </a:r>
            <a:r>
              <a:rPr lang="es-ES" altLang="es-ES" baseline="0" dirty="0">
                <a:ea typeface="ＭＳ Ｐゴシック" charset="-128"/>
              </a:rPr>
              <a:t>in </a:t>
            </a:r>
            <a:r>
              <a:rPr lang="es-ES" altLang="es-ES" baseline="0" dirty="0" err="1">
                <a:ea typeface="ＭＳ Ｐゴシック" charset="-128"/>
              </a:rPr>
              <a:t>children</a:t>
            </a:r>
            <a:r>
              <a:rPr lang="es-ES" altLang="es-ES" baseline="0" dirty="0">
                <a:ea typeface="ＭＳ Ｐゴシック" charset="-128"/>
              </a:rPr>
              <a:t> </a:t>
            </a:r>
            <a:r>
              <a:rPr lang="es-ES" altLang="es-ES" baseline="0" dirty="0" err="1">
                <a:ea typeface="ＭＳ Ｐゴシック" charset="-128"/>
              </a:rPr>
              <a:t>aged</a:t>
            </a:r>
            <a:r>
              <a:rPr lang="es-ES" altLang="es-ES" baseline="0" dirty="0">
                <a:ea typeface="ＭＳ Ｐゴシック" charset="-128"/>
              </a:rPr>
              <a:t> 2-5 </a:t>
            </a:r>
            <a:r>
              <a:rPr lang="es-ES" altLang="es-ES" baseline="0" dirty="0" err="1">
                <a:ea typeface="ＭＳ Ｐゴシック" charset="-128"/>
              </a:rPr>
              <a:t>years</a:t>
            </a:r>
            <a:r>
              <a:rPr lang="es-ES" altLang="es-ES" baseline="0" dirty="0">
                <a:ea typeface="ＭＳ Ｐゴシック" charset="-128"/>
              </a:rPr>
              <a:t> with </a:t>
            </a:r>
            <a:r>
              <a:rPr lang="es-ES" altLang="es-ES" baseline="0" dirty="0" err="1">
                <a:ea typeface="ＭＳ Ｐゴシック" charset="-128"/>
              </a:rPr>
              <a:t>allergic</a:t>
            </a:r>
            <a:r>
              <a:rPr lang="es-ES" altLang="es-ES" baseline="0" dirty="0">
                <a:ea typeface="ＭＳ Ｐゴシック" charset="-128"/>
              </a:rPr>
              <a:t> </a:t>
            </a:r>
            <a:r>
              <a:rPr lang="es-ES" altLang="es-ES" baseline="0" dirty="0" err="1">
                <a:ea typeface="ＭＳ Ｐゴシック" charset="-128"/>
              </a:rPr>
              <a:t>rhinitis</a:t>
            </a:r>
            <a:r>
              <a:rPr lang="es-ES" altLang="es-ES" baseline="0" dirty="0">
                <a:ea typeface="ＭＳ Ｐゴシック" charset="-128"/>
              </a:rPr>
              <a:t>; </a:t>
            </a:r>
            <a:r>
              <a:rPr lang="es-ES" altLang="es-ES" baseline="0" dirty="0" err="1">
                <a:ea typeface="ＭＳ Ｐゴシック" charset="-128"/>
              </a:rPr>
              <a:t>this</a:t>
            </a:r>
            <a:r>
              <a:rPr lang="es-ES" altLang="es-ES" baseline="0" dirty="0">
                <a:ea typeface="ＭＳ Ｐゴシック" charset="-128"/>
              </a:rPr>
              <a:t> </a:t>
            </a:r>
            <a:r>
              <a:rPr lang="es-ES" altLang="es-ES" baseline="0" dirty="0" err="1">
                <a:ea typeface="ＭＳ Ｐゴシック" charset="-128"/>
              </a:rPr>
              <a:t>efficacy</a:t>
            </a:r>
            <a:r>
              <a:rPr lang="es-ES" altLang="es-ES" baseline="0" dirty="0">
                <a:ea typeface="ＭＳ Ｐゴシック" charset="-128"/>
              </a:rPr>
              <a:t> </a:t>
            </a:r>
            <a:r>
              <a:rPr lang="es-ES" altLang="es-ES" baseline="0" dirty="0" err="1">
                <a:ea typeface="ＭＳ Ｐゴシック" charset="-128"/>
              </a:rPr>
              <a:t>was</a:t>
            </a:r>
            <a:r>
              <a:rPr lang="es-ES" altLang="es-ES" baseline="0" dirty="0">
                <a:ea typeface="ＭＳ Ｐゴシック" charset="-128"/>
              </a:rPr>
              <a:t> </a:t>
            </a:r>
            <a:r>
              <a:rPr lang="es-ES" altLang="es-ES" baseline="0" dirty="0" err="1">
                <a:ea typeface="ＭＳ Ｐゴシック" charset="-128"/>
              </a:rPr>
              <a:t>attained</a:t>
            </a:r>
            <a:r>
              <a:rPr lang="es-ES" altLang="es-ES" baseline="0" dirty="0">
                <a:ea typeface="ＭＳ Ｐゴシック" charset="-128"/>
              </a:rPr>
              <a:t> at </a:t>
            </a:r>
            <a:r>
              <a:rPr lang="es-ES" altLang="es-ES" baseline="0" dirty="0" err="1">
                <a:ea typeface="ＭＳ Ｐゴシック" charset="-128"/>
              </a:rPr>
              <a:t>levels</a:t>
            </a:r>
            <a:r>
              <a:rPr lang="es-ES" altLang="es-ES" baseline="0" dirty="0">
                <a:ea typeface="ＭＳ Ｐゴシック" charset="-128"/>
              </a:rPr>
              <a:t> of </a:t>
            </a:r>
            <a:r>
              <a:rPr lang="es-ES" altLang="es-ES" baseline="0" dirty="0" err="1">
                <a:ea typeface="ＭＳ Ｐゴシック" charset="-128"/>
              </a:rPr>
              <a:t>rupatadine</a:t>
            </a:r>
            <a:r>
              <a:rPr lang="es-ES" altLang="es-ES" baseline="0" dirty="0">
                <a:ea typeface="ＭＳ Ｐゴシック" charset="-128"/>
              </a:rPr>
              <a:t> </a:t>
            </a:r>
            <a:r>
              <a:rPr lang="es-ES" altLang="es-ES" baseline="0" dirty="0" err="1">
                <a:ea typeface="ＭＳ Ｐゴシック" charset="-128"/>
              </a:rPr>
              <a:t>exposure</a:t>
            </a:r>
            <a:r>
              <a:rPr lang="es-ES" altLang="es-ES" baseline="0" dirty="0">
                <a:ea typeface="ＭＳ Ｐゴシック" charset="-128"/>
              </a:rPr>
              <a:t> similar to </a:t>
            </a:r>
            <a:r>
              <a:rPr lang="es-ES" altLang="es-ES" baseline="0" dirty="0" err="1">
                <a:ea typeface="ＭＳ Ｐゴシック" charset="-128"/>
              </a:rPr>
              <a:t>those</a:t>
            </a:r>
            <a:r>
              <a:rPr lang="es-ES" altLang="es-ES" baseline="0" dirty="0">
                <a:ea typeface="ＭＳ Ｐゴシック" charset="-128"/>
              </a:rPr>
              <a:t> </a:t>
            </a:r>
            <a:r>
              <a:rPr lang="es-ES" altLang="es-ES" baseline="0" dirty="0" err="1">
                <a:ea typeface="ＭＳ Ｐゴシック" charset="-128"/>
              </a:rPr>
              <a:t>previously</a:t>
            </a:r>
            <a:r>
              <a:rPr lang="es-ES" altLang="es-ES" baseline="0" dirty="0">
                <a:ea typeface="ＭＳ Ｐゴシック" charset="-128"/>
              </a:rPr>
              <a:t> </a:t>
            </a:r>
            <a:r>
              <a:rPr lang="es-ES" altLang="es-ES" baseline="0" dirty="0" err="1">
                <a:ea typeface="ＭＳ Ｐゴシック" charset="-128"/>
              </a:rPr>
              <a:t>reported</a:t>
            </a:r>
            <a:r>
              <a:rPr lang="es-ES" altLang="es-ES" baseline="0" dirty="0">
                <a:ea typeface="ＭＳ Ｐゴシック" charset="-128"/>
              </a:rPr>
              <a:t> in 6-11 </a:t>
            </a:r>
            <a:r>
              <a:rPr lang="es-ES" altLang="es-ES" baseline="0" dirty="0" err="1">
                <a:ea typeface="ＭＳ Ｐゴシック" charset="-128"/>
              </a:rPr>
              <a:t>year</a:t>
            </a:r>
            <a:r>
              <a:rPr lang="es-ES" altLang="es-ES" baseline="0" dirty="0">
                <a:ea typeface="ＭＳ Ｐゴシック" charset="-128"/>
              </a:rPr>
              <a:t> </a:t>
            </a:r>
            <a:r>
              <a:rPr lang="es-ES" altLang="es-ES" baseline="0" dirty="0" err="1">
                <a:ea typeface="ＭＳ Ｐゴシック" charset="-128"/>
              </a:rPr>
              <a:t>old</a:t>
            </a:r>
            <a:r>
              <a:rPr lang="es-ES" altLang="es-ES" baseline="0" dirty="0">
                <a:ea typeface="ＭＳ Ｐゴシック" charset="-128"/>
              </a:rPr>
              <a:t> </a:t>
            </a:r>
            <a:r>
              <a:rPr lang="es-ES" altLang="es-ES" baseline="0" dirty="0" err="1">
                <a:ea typeface="ＭＳ Ｐゴシック" charset="-128"/>
              </a:rPr>
              <a:t>children</a:t>
            </a:r>
            <a:r>
              <a:rPr lang="es-ES" altLang="es-ES" baseline="0" dirty="0">
                <a:ea typeface="ＭＳ Ｐゴシック" charset="-128"/>
              </a:rPr>
              <a:t> and </a:t>
            </a:r>
            <a:r>
              <a:rPr lang="es-ES" altLang="es-ES" baseline="0" dirty="0" err="1">
                <a:ea typeface="ＭＳ Ｐゴシック" charset="-128"/>
              </a:rPr>
              <a:t>adults</a:t>
            </a:r>
            <a:r>
              <a:rPr lang="es-ES" altLang="es-ES" baseline="0" dirty="0">
                <a:ea typeface="ＭＳ Ｐゴシック" charset="-128"/>
              </a:rPr>
              <a:t>. </a:t>
            </a:r>
            <a:r>
              <a:rPr lang="es-ES" altLang="es-ES" baseline="0" dirty="0" err="1">
                <a:ea typeface="ＭＳ Ｐゴシック" charset="-128"/>
              </a:rPr>
              <a:t>Although</a:t>
            </a:r>
            <a:r>
              <a:rPr lang="es-ES" altLang="es-ES" baseline="0" dirty="0">
                <a:ea typeface="ＭＳ Ｐゴシック" charset="-128"/>
              </a:rPr>
              <a:t> no </a:t>
            </a:r>
            <a:r>
              <a:rPr lang="es-ES" altLang="es-ES" baseline="0" dirty="0" err="1">
                <a:ea typeface="ＭＳ Ｐゴシック" charset="-128"/>
              </a:rPr>
              <a:t>statistical</a:t>
            </a:r>
            <a:r>
              <a:rPr lang="es-ES" altLang="es-ES" baseline="0" dirty="0">
                <a:ea typeface="ＭＳ Ｐゴシック" charset="-128"/>
              </a:rPr>
              <a:t> </a:t>
            </a:r>
            <a:r>
              <a:rPr lang="es-ES" altLang="es-ES" baseline="0" dirty="0" err="1">
                <a:ea typeface="ＭＳ Ｐゴシック" charset="-128"/>
              </a:rPr>
              <a:t>comparison</a:t>
            </a:r>
            <a:r>
              <a:rPr lang="es-ES" altLang="es-ES" baseline="0" dirty="0">
                <a:ea typeface="ＭＳ Ｐゴシック" charset="-128"/>
              </a:rPr>
              <a:t> </a:t>
            </a:r>
            <a:r>
              <a:rPr lang="es-ES" altLang="es-ES" baseline="0" dirty="0" err="1">
                <a:ea typeface="ＭＳ Ｐゴシック" charset="-128"/>
              </a:rPr>
              <a:t>was</a:t>
            </a:r>
            <a:r>
              <a:rPr lang="es-ES" altLang="es-ES" baseline="0" dirty="0">
                <a:ea typeface="ＭＳ Ｐゴシック" charset="-128"/>
              </a:rPr>
              <a:t> </a:t>
            </a:r>
            <a:r>
              <a:rPr lang="es-ES" altLang="es-ES" baseline="0" dirty="0" err="1">
                <a:ea typeface="ＭＳ Ｐゴシック" charset="-128"/>
              </a:rPr>
              <a:t>performed</a:t>
            </a:r>
            <a:r>
              <a:rPr lang="es-ES" altLang="es-ES" baseline="0" dirty="0">
                <a:ea typeface="ＭＳ Ｐゴシック" charset="-128"/>
              </a:rPr>
              <a:t>, </a:t>
            </a:r>
            <a:r>
              <a:rPr lang="es-ES" altLang="es-ES" baseline="0" dirty="0" err="1">
                <a:ea typeface="ＭＳ Ｐゴシック" charset="-128"/>
              </a:rPr>
              <a:t>it</a:t>
            </a:r>
            <a:r>
              <a:rPr lang="es-ES" altLang="es-ES" baseline="0" dirty="0">
                <a:ea typeface="ＭＳ Ｐゴシック" charset="-128"/>
              </a:rPr>
              <a:t> can be </a:t>
            </a:r>
            <a:r>
              <a:rPr lang="es-ES" altLang="es-ES" baseline="0" dirty="0" err="1">
                <a:ea typeface="ＭＳ Ｐゴシック" charset="-128"/>
              </a:rPr>
              <a:t>observed</a:t>
            </a:r>
            <a:r>
              <a:rPr lang="es-ES" altLang="es-ES" baseline="0" dirty="0">
                <a:ea typeface="ＭＳ Ｐゴシック" charset="-128"/>
              </a:rPr>
              <a:t> </a:t>
            </a:r>
            <a:r>
              <a:rPr lang="es-ES" altLang="es-ES" baseline="0" dirty="0" err="1">
                <a:ea typeface="ＭＳ Ｐゴシック" charset="-128"/>
              </a:rPr>
              <a:t>that</a:t>
            </a:r>
            <a:r>
              <a:rPr lang="es-ES" altLang="es-ES" baseline="0" dirty="0">
                <a:ea typeface="ＭＳ Ｐゴシック" charset="-128"/>
              </a:rPr>
              <a:t> total </a:t>
            </a:r>
            <a:r>
              <a:rPr lang="es-ES" altLang="es-ES" baseline="0" dirty="0" err="1">
                <a:ea typeface="ＭＳ Ｐゴシック" charset="-128"/>
              </a:rPr>
              <a:t>symptoms</a:t>
            </a:r>
            <a:r>
              <a:rPr lang="es-ES" altLang="es-ES" baseline="0" dirty="0">
                <a:ea typeface="ＭＳ Ｐゴシック" charset="-128"/>
              </a:rPr>
              <a:t> (T5SS) </a:t>
            </a:r>
            <a:r>
              <a:rPr lang="es-ES" altLang="es-ES" baseline="0" dirty="0" err="1">
                <a:ea typeface="ＭＳ Ｐゴシック" charset="-128"/>
              </a:rPr>
              <a:t>were</a:t>
            </a:r>
            <a:r>
              <a:rPr lang="es-ES" altLang="es-ES" baseline="0" dirty="0">
                <a:ea typeface="ＭＳ Ｐゴシック" charset="-128"/>
              </a:rPr>
              <a:t> </a:t>
            </a:r>
            <a:r>
              <a:rPr lang="es-ES" altLang="es-ES" baseline="0" dirty="0" err="1">
                <a:ea typeface="ＭＳ Ｐゴシック" charset="-128"/>
              </a:rPr>
              <a:t>amealiorated</a:t>
            </a:r>
            <a:r>
              <a:rPr lang="es-ES" altLang="es-ES" baseline="0" dirty="0">
                <a:ea typeface="ＭＳ Ｐゴシック" charset="-128"/>
              </a:rPr>
              <a:t>.</a:t>
            </a:r>
            <a:endParaRPr lang="es-ES" altLang="es-ES" dirty="0">
              <a:ea typeface="ＭＳ Ｐゴシック" charset="-128"/>
            </a:endParaRPr>
          </a:p>
          <a:p>
            <a:r>
              <a:rPr lang="en-US" altLang="es-ES" dirty="0" err="1">
                <a:ea typeface="ＭＳ Ｐゴシック" charset="-128"/>
              </a:rPr>
              <a:t>Rupatadine</a:t>
            </a:r>
            <a:r>
              <a:rPr lang="en-US" altLang="es-ES" dirty="0">
                <a:ea typeface="ＭＳ Ｐゴシック" charset="-128"/>
              </a:rPr>
              <a:t> solution 1 mg/ml reduced the total score of patient symptoms (T5SS) from baseline in a 26.6% at 14 days and 37.4% at 28 days.</a:t>
            </a:r>
            <a:endParaRPr lang="es-ES" altLang="es-ES" dirty="0">
              <a:latin typeface="Arial" pitchFamily="34" charset="0"/>
              <a:ea typeface="ＭＳ Ｐゴシック" charset="-128"/>
              <a:sym typeface="Wingdings" pitchFamily="2" charset="2"/>
            </a:endParaRPr>
          </a:p>
        </p:txBody>
      </p:sp>
    </p:spTree>
    <p:extLst>
      <p:ext uri="{BB962C8B-B14F-4D97-AF65-F5344CB8AC3E}">
        <p14:creationId xmlns:p14="http://schemas.microsoft.com/office/powerpoint/2010/main" val="32785885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
          <p:cNvSpPr>
            <a:spLocks noGrp="1" noChangeArrowheads="1"/>
          </p:cNvSpPr>
          <p:nvPr>
            <p:ph type="sldNum" sz="quarter"/>
          </p:nvPr>
        </p:nvSpPr>
        <p:spPr>
          <a:noFill/>
        </p:spPr>
        <p:txBody>
          <a:bodyPr/>
          <a:lstStyle/>
          <a:p>
            <a:fld id="{64A0C3B8-C67A-4406-BA55-D4E9563D5CA9}" type="slidenum">
              <a:rPr lang="es-ES_tradnl" altLang="es-ES" smtClean="0"/>
              <a:pPr/>
              <a:t>27</a:t>
            </a:fld>
            <a:endParaRPr lang="es-ES_tradnl" altLang="es-ES" dirty="0"/>
          </a:p>
        </p:txBody>
      </p:sp>
      <p:sp>
        <p:nvSpPr>
          <p:cNvPr id="56323" name="Rectangle 2"/>
          <p:cNvSpPr>
            <a:spLocks noGrp="1" noRot="1" noChangeAspect="1" noChangeArrowheads="1" noTextEdit="1"/>
          </p:cNvSpPr>
          <p:nvPr>
            <p:ph type="sldImg"/>
          </p:nvPr>
        </p:nvSpPr>
        <p:spPr>
          <a:xfrm>
            <a:off x="3260725" y="509588"/>
            <a:ext cx="3376613" cy="2532062"/>
          </a:xfrm>
          <a:ln/>
        </p:spPr>
      </p:sp>
      <p:sp>
        <p:nvSpPr>
          <p:cNvPr id="56324" name="Rectangle 3"/>
          <p:cNvSpPr>
            <a:spLocks noGrp="1" noChangeArrowheads="1"/>
          </p:cNvSpPr>
          <p:nvPr>
            <p:ph type="body" idx="1"/>
          </p:nvPr>
        </p:nvSpPr>
        <p:spPr>
          <a:xfrm>
            <a:off x="992587" y="3228706"/>
            <a:ext cx="7912329" cy="3043897"/>
          </a:xfrm>
          <a:noFill/>
          <a:ln/>
        </p:spPr>
        <p:txBody>
          <a:bodyPr/>
          <a:lstStyle/>
          <a:p>
            <a:endParaRPr lang="es-ES" altLang="es-ES" dirty="0"/>
          </a:p>
        </p:txBody>
      </p:sp>
    </p:spTree>
    <p:extLst>
      <p:ext uri="{BB962C8B-B14F-4D97-AF65-F5344CB8AC3E}">
        <p14:creationId xmlns:p14="http://schemas.microsoft.com/office/powerpoint/2010/main" val="15100062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smtClean="0">
                <a:solidFill>
                  <a:prstClr val="white"/>
                </a:solidFill>
              </a:rPr>
              <a:pPr/>
              <a:t>28</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marL="0" marR="0" lvl="0" indent="0" algn="l" defTabSz="449263" rtl="0" eaLnBrk="1" fontAlgn="base" latinLnBrk="0" hangingPunct="1">
              <a:lnSpc>
                <a:spcPct val="100000"/>
              </a:lnSpc>
              <a:spcBef>
                <a:spcPts val="434"/>
              </a:spcBef>
              <a:spcAft>
                <a:spcPct val="0"/>
              </a:spcAft>
              <a:buClr>
                <a:srgbClr val="000000"/>
              </a:buClr>
              <a:buSzPct val="100000"/>
              <a:buFont typeface="Calibri" pitchFamily="34" charset="0"/>
              <a:buNone/>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defRPr/>
            </a:pPr>
            <a:r>
              <a:rPr lang="es-ES" altLang="es-ES" sz="900" dirty="0">
                <a:latin typeface="+mn-lt"/>
              </a:rPr>
              <a:t>A </a:t>
            </a:r>
            <a:r>
              <a:rPr lang="es-ES" altLang="es-ES" sz="900" dirty="0" err="1">
                <a:latin typeface="+mn-lt"/>
              </a:rPr>
              <a:t>multicentre</a:t>
            </a:r>
            <a:r>
              <a:rPr lang="es-ES" altLang="es-ES" sz="900" dirty="0">
                <a:latin typeface="+mn-lt"/>
              </a:rPr>
              <a:t> </a:t>
            </a:r>
            <a:r>
              <a:rPr lang="es-ES" altLang="es-ES" sz="900" dirty="0" err="1">
                <a:latin typeface="+mn-lt"/>
              </a:rPr>
              <a:t>phase</a:t>
            </a:r>
            <a:r>
              <a:rPr lang="es-ES" altLang="es-ES" sz="900" dirty="0">
                <a:latin typeface="+mn-lt"/>
              </a:rPr>
              <a:t> III study </a:t>
            </a:r>
            <a:r>
              <a:rPr lang="es-ES" altLang="es-ES" sz="900" dirty="0" err="1">
                <a:latin typeface="+mn-lt"/>
              </a:rPr>
              <a:t>was</a:t>
            </a:r>
            <a:r>
              <a:rPr lang="es-ES" altLang="es-ES" sz="900" dirty="0">
                <a:latin typeface="+mn-lt"/>
              </a:rPr>
              <a:t> </a:t>
            </a:r>
            <a:r>
              <a:rPr lang="es-ES" altLang="es-ES" sz="900" dirty="0" err="1">
                <a:latin typeface="+mn-lt"/>
              </a:rPr>
              <a:t>conducted</a:t>
            </a:r>
            <a:r>
              <a:rPr lang="es-ES" altLang="es-ES" sz="900" dirty="0">
                <a:latin typeface="+mn-lt"/>
              </a:rPr>
              <a:t> to </a:t>
            </a:r>
            <a:r>
              <a:rPr lang="es-ES" altLang="es-ES" sz="900" dirty="0" err="1">
                <a:latin typeface="+mn-lt"/>
              </a:rPr>
              <a:t>demonstrate</a:t>
            </a:r>
            <a:r>
              <a:rPr lang="es-ES" altLang="es-ES" sz="900" dirty="0">
                <a:latin typeface="+mn-lt"/>
              </a:rPr>
              <a:t> the </a:t>
            </a:r>
            <a:r>
              <a:rPr lang="es-ES" altLang="es-ES" sz="900" dirty="0" err="1">
                <a:latin typeface="+mn-lt"/>
              </a:rPr>
              <a:t>efficacy</a:t>
            </a:r>
            <a:r>
              <a:rPr lang="es-ES" altLang="es-ES" sz="900" dirty="0">
                <a:latin typeface="+mn-lt"/>
              </a:rPr>
              <a:t> of </a:t>
            </a:r>
            <a:r>
              <a:rPr lang="es-ES" altLang="es-ES" sz="900" dirty="0" err="1">
                <a:latin typeface="+mn-lt"/>
              </a:rPr>
              <a:t>rupatadine</a:t>
            </a:r>
            <a:r>
              <a:rPr lang="es-ES" altLang="es-ES" sz="900" dirty="0">
                <a:latin typeface="+mn-lt"/>
              </a:rPr>
              <a:t> </a:t>
            </a:r>
            <a:r>
              <a:rPr lang="es-ES" altLang="es-ES" sz="900" dirty="0" err="1">
                <a:latin typeface="+mn-lt"/>
              </a:rPr>
              <a:t>paediatric</a:t>
            </a:r>
            <a:r>
              <a:rPr lang="es-ES" altLang="es-ES" sz="900" dirty="0">
                <a:latin typeface="+mn-lt"/>
              </a:rPr>
              <a:t> oral solution 1 mg/mL in </a:t>
            </a:r>
            <a:r>
              <a:rPr lang="es-ES" altLang="es-ES" sz="900" dirty="0" err="1">
                <a:latin typeface="+mn-lt"/>
              </a:rPr>
              <a:t>improving</a:t>
            </a:r>
            <a:r>
              <a:rPr lang="es-ES" altLang="es-ES" sz="900" dirty="0">
                <a:latin typeface="+mn-lt"/>
              </a:rPr>
              <a:t> urticaria </a:t>
            </a:r>
            <a:r>
              <a:rPr lang="es-ES" altLang="es-ES" sz="900" dirty="0" err="1">
                <a:latin typeface="+mn-lt"/>
              </a:rPr>
              <a:t>symptoms</a:t>
            </a:r>
            <a:r>
              <a:rPr lang="es-ES" altLang="es-ES" sz="900" dirty="0">
                <a:latin typeface="+mn-lt"/>
              </a:rPr>
              <a:t> control </a:t>
            </a:r>
            <a:r>
              <a:rPr lang="es-ES" altLang="es-ES" sz="900" dirty="0" err="1">
                <a:latin typeface="+mn-lt"/>
              </a:rPr>
              <a:t>over</a:t>
            </a:r>
            <a:r>
              <a:rPr lang="es-ES" altLang="es-ES" sz="900" dirty="0">
                <a:latin typeface="+mn-lt"/>
              </a:rPr>
              <a:t> 6 </a:t>
            </a:r>
            <a:r>
              <a:rPr lang="es-ES" altLang="es-ES" sz="900" dirty="0" err="1">
                <a:latin typeface="+mn-lt"/>
              </a:rPr>
              <a:t>weeks</a:t>
            </a:r>
            <a:r>
              <a:rPr lang="es-ES" altLang="es-ES" sz="900" dirty="0">
                <a:latin typeface="+mn-lt"/>
              </a:rPr>
              <a:t> in </a:t>
            </a:r>
            <a:r>
              <a:rPr lang="es-ES" altLang="es-ES" sz="900" dirty="0" err="1">
                <a:latin typeface="+mn-lt"/>
              </a:rPr>
              <a:t>children</a:t>
            </a:r>
            <a:r>
              <a:rPr lang="es-ES" altLang="es-ES" sz="900" dirty="0">
                <a:latin typeface="+mn-lt"/>
              </a:rPr>
              <a:t> </a:t>
            </a:r>
            <a:r>
              <a:rPr lang="es-ES" altLang="es-ES" sz="900" dirty="0" err="1">
                <a:latin typeface="+mn-lt"/>
              </a:rPr>
              <a:t>aged</a:t>
            </a:r>
            <a:r>
              <a:rPr lang="es-ES" altLang="es-ES" sz="900" dirty="0">
                <a:latin typeface="+mn-lt"/>
              </a:rPr>
              <a:t> 2-11 </a:t>
            </a:r>
            <a:r>
              <a:rPr lang="es-ES" altLang="es-ES" sz="900" dirty="0" err="1">
                <a:latin typeface="+mn-lt"/>
              </a:rPr>
              <a:t>years</a:t>
            </a:r>
            <a:r>
              <a:rPr lang="es-ES" altLang="es-ES" sz="900" dirty="0">
                <a:latin typeface="+mn-lt"/>
              </a:rPr>
              <a:t> with </a:t>
            </a:r>
            <a:r>
              <a:rPr lang="es-ES" altLang="es-ES" sz="900" dirty="0" err="1">
                <a:latin typeface="+mn-lt"/>
              </a:rPr>
              <a:t>Chronic</a:t>
            </a:r>
            <a:r>
              <a:rPr lang="es-ES" altLang="es-ES" sz="900" baseline="0" dirty="0">
                <a:latin typeface="+mn-lt"/>
              </a:rPr>
              <a:t> </a:t>
            </a:r>
            <a:r>
              <a:rPr lang="es-ES" altLang="es-ES" sz="900" baseline="0" dirty="0" err="1">
                <a:latin typeface="+mn-lt"/>
              </a:rPr>
              <a:t>Spontaneous</a:t>
            </a:r>
            <a:r>
              <a:rPr lang="es-ES" altLang="es-ES" sz="900" baseline="0" dirty="0">
                <a:latin typeface="+mn-lt"/>
              </a:rPr>
              <a:t> Urticaria</a:t>
            </a:r>
            <a:r>
              <a:rPr lang="es-ES" altLang="es-ES" sz="900" b="0" dirty="0">
                <a:latin typeface="+mn-lt"/>
              </a:rPr>
              <a:t>. </a:t>
            </a:r>
            <a:r>
              <a:rPr lang="es-ES" altLang="es-ES" sz="900" b="0" dirty="0" err="1">
                <a:latin typeface="+mn-lt"/>
              </a:rPr>
              <a:t>Chronic</a:t>
            </a:r>
            <a:r>
              <a:rPr lang="es-ES" altLang="es-ES" sz="900" b="0" baseline="0" dirty="0">
                <a:latin typeface="+mn-lt"/>
              </a:rPr>
              <a:t> </a:t>
            </a:r>
            <a:r>
              <a:rPr lang="es-ES" altLang="es-ES" sz="900" b="0" baseline="0" dirty="0" err="1">
                <a:latin typeface="+mn-lt"/>
              </a:rPr>
              <a:t>spontaneous</a:t>
            </a:r>
            <a:r>
              <a:rPr lang="es-ES" altLang="es-ES" sz="900" b="0" baseline="0" dirty="0">
                <a:latin typeface="+mn-lt"/>
              </a:rPr>
              <a:t> urticaria </a:t>
            </a:r>
            <a:r>
              <a:rPr lang="es-ES" altLang="es-ES" sz="900" b="0" baseline="0" dirty="0" err="1">
                <a:latin typeface="+mn-lt"/>
              </a:rPr>
              <a:t>is</a:t>
            </a:r>
            <a:r>
              <a:rPr lang="es-ES" altLang="es-ES" sz="900" b="0" baseline="0" dirty="0">
                <a:latin typeface="+mn-lt"/>
              </a:rPr>
              <a:t> </a:t>
            </a:r>
            <a:r>
              <a:rPr lang="es-ES" altLang="es-ES" sz="900" b="0" baseline="0" dirty="0" err="1">
                <a:latin typeface="+mn-lt"/>
              </a:rPr>
              <a:t>defined</a:t>
            </a:r>
            <a:r>
              <a:rPr lang="es-ES" altLang="es-ES" sz="900" b="0" baseline="0" dirty="0">
                <a:latin typeface="+mn-lt"/>
              </a:rPr>
              <a:t> as </a:t>
            </a:r>
            <a:r>
              <a:rPr lang="en-US" altLang="es-ES" sz="900" b="0" baseline="0" dirty="0">
                <a:latin typeface="+mn-lt"/>
              </a:rPr>
              <a:t>a skin condition characterized by recurrent itchy wheals and/or angioedema for a minimum of 6 weeks</a:t>
            </a:r>
            <a:r>
              <a:rPr lang="es-ES" altLang="es-ES" sz="900" b="0" baseline="0" dirty="0">
                <a:latin typeface="+mn-lt"/>
              </a:rPr>
              <a:t>.</a:t>
            </a:r>
            <a:r>
              <a:rPr lang="es-ES" altLang="es-ES" sz="900" b="0" dirty="0">
                <a:latin typeface="+mn-lt"/>
              </a:rPr>
              <a:t> </a:t>
            </a:r>
          </a:p>
          <a:p>
            <a:pPr marL="0" marR="0" lvl="0" indent="0" algn="l" defTabSz="449263" rtl="0" eaLnBrk="1" fontAlgn="base" latinLnBrk="0" hangingPunct="1">
              <a:lnSpc>
                <a:spcPct val="100000"/>
              </a:lnSpc>
              <a:spcBef>
                <a:spcPts val="434"/>
              </a:spcBef>
              <a:spcAft>
                <a:spcPct val="0"/>
              </a:spcAft>
              <a:buClr>
                <a:srgbClr val="000000"/>
              </a:buClr>
              <a:buSzPct val="100000"/>
              <a:buFont typeface="Calibri" pitchFamily="34" charset="0"/>
              <a:buNone/>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defRPr/>
            </a:pPr>
            <a:r>
              <a:rPr lang="es-ES" altLang="es-ES" sz="900" b="0" dirty="0">
                <a:latin typeface="+mn-lt"/>
              </a:rPr>
              <a:t>This </a:t>
            </a:r>
            <a:r>
              <a:rPr lang="es-ES" altLang="es-ES" sz="900" b="0" dirty="0" err="1">
                <a:latin typeface="+mn-lt"/>
              </a:rPr>
              <a:t>randomised</a:t>
            </a:r>
            <a:r>
              <a:rPr lang="es-ES" altLang="es-ES" sz="900" b="0" dirty="0">
                <a:latin typeface="+mn-lt"/>
              </a:rPr>
              <a:t>, </a:t>
            </a:r>
            <a:r>
              <a:rPr lang="es-ES" altLang="es-ES" sz="900" b="0" dirty="0" err="1">
                <a:latin typeface="+mn-lt"/>
              </a:rPr>
              <a:t>double-blind</a:t>
            </a:r>
            <a:r>
              <a:rPr lang="es-ES" altLang="es-ES" sz="900" b="0" dirty="0">
                <a:latin typeface="+mn-lt"/>
              </a:rPr>
              <a:t>, placebo and</a:t>
            </a:r>
            <a:r>
              <a:rPr lang="es-ES" altLang="es-ES" sz="900" b="0" baseline="0" dirty="0">
                <a:latin typeface="+mn-lt"/>
              </a:rPr>
              <a:t> active </a:t>
            </a:r>
            <a:r>
              <a:rPr lang="es-ES" altLang="es-ES" sz="900" b="0" baseline="0" dirty="0" err="1">
                <a:latin typeface="+mn-lt"/>
              </a:rPr>
              <a:t>comparator</a:t>
            </a:r>
            <a:r>
              <a:rPr lang="es-ES" altLang="es-ES" sz="900" b="0" baseline="0" dirty="0">
                <a:latin typeface="+mn-lt"/>
              </a:rPr>
              <a:t> (</a:t>
            </a:r>
            <a:r>
              <a:rPr lang="es-ES" altLang="es-ES" sz="900" b="0" baseline="0" dirty="0" err="1">
                <a:latin typeface="+mn-lt"/>
              </a:rPr>
              <a:t>desloratadine</a:t>
            </a:r>
            <a:r>
              <a:rPr lang="es-ES" altLang="es-ES" sz="900" b="0" baseline="0" dirty="0">
                <a:latin typeface="+mn-lt"/>
              </a:rPr>
              <a:t>) study </a:t>
            </a:r>
            <a:r>
              <a:rPr lang="es-ES" altLang="es-ES" sz="900" b="0" baseline="0" dirty="0" err="1">
                <a:latin typeface="+mn-lt"/>
              </a:rPr>
              <a:t>was</a:t>
            </a:r>
            <a:r>
              <a:rPr lang="es-ES" altLang="es-ES" sz="900" b="0" baseline="0" dirty="0">
                <a:latin typeface="+mn-lt"/>
              </a:rPr>
              <a:t> </a:t>
            </a:r>
            <a:r>
              <a:rPr lang="es-ES" altLang="es-ES" sz="900" b="0" baseline="0" dirty="0" err="1">
                <a:latin typeface="+mn-lt"/>
              </a:rPr>
              <a:t>conducted</a:t>
            </a:r>
            <a:r>
              <a:rPr lang="es-ES" altLang="es-ES" sz="900" b="0" baseline="0" dirty="0">
                <a:latin typeface="+mn-lt"/>
              </a:rPr>
              <a:t> at </a:t>
            </a:r>
            <a:r>
              <a:rPr lang="es-ES" altLang="es-ES" sz="900" baseline="0" dirty="0">
                <a:latin typeface="+mn-lt"/>
              </a:rPr>
              <a:t>19 centres, in South </a:t>
            </a:r>
            <a:r>
              <a:rPr lang="es-ES" altLang="es-ES" sz="900" baseline="0" dirty="0" err="1">
                <a:latin typeface="+mn-lt"/>
              </a:rPr>
              <a:t>Africa</a:t>
            </a:r>
            <a:r>
              <a:rPr lang="es-ES" altLang="es-ES" sz="900" baseline="0" dirty="0">
                <a:latin typeface="+mn-lt"/>
              </a:rPr>
              <a:t> and </a:t>
            </a:r>
            <a:r>
              <a:rPr lang="es-ES" altLang="es-ES" sz="900" baseline="0" dirty="0" err="1">
                <a:latin typeface="+mn-lt"/>
              </a:rPr>
              <a:t>Hungary</a:t>
            </a:r>
            <a:r>
              <a:rPr lang="es-ES" altLang="es-ES" sz="900" baseline="0" dirty="0">
                <a:latin typeface="+mn-lt"/>
              </a:rPr>
              <a:t>.</a:t>
            </a:r>
            <a:endParaRPr lang="es-ES" altLang="es-ES" sz="900" dirty="0">
              <a:latin typeface="+mn-lt"/>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mn-lt"/>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27051116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29</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dirty="0">
                <a:latin typeface="+mn-lt"/>
              </a:rPr>
              <a:t>The study was designed as </a:t>
            </a:r>
            <a:r>
              <a:rPr lang="en-US" sz="900" b="1" dirty="0">
                <a:latin typeface="+mn-lt"/>
              </a:rPr>
              <a:t>a three-arm trial including an active control </a:t>
            </a:r>
            <a:r>
              <a:rPr lang="en-US" sz="900" dirty="0">
                <a:latin typeface="+mn-lt"/>
              </a:rPr>
              <a:t>(</a:t>
            </a:r>
            <a:r>
              <a:rPr lang="en-US" sz="900" dirty="0" err="1">
                <a:latin typeface="+mn-lt"/>
              </a:rPr>
              <a:t>desloratadine</a:t>
            </a:r>
            <a:r>
              <a:rPr lang="en-US" sz="900" dirty="0">
                <a:latin typeface="+mn-lt"/>
              </a:rPr>
              <a:t>) as well as a placebo control group following the recommendations from the EMEA </a:t>
            </a:r>
            <a:r>
              <a:rPr lang="en-US" sz="900" dirty="0" err="1">
                <a:latin typeface="+mn-lt"/>
              </a:rPr>
              <a:t>Paediatric</a:t>
            </a:r>
            <a:r>
              <a:rPr lang="en-US" sz="900" dirty="0">
                <a:latin typeface="+mn-lt"/>
              </a:rPr>
              <a:t> Committee.</a:t>
            </a:r>
          </a:p>
          <a:p>
            <a:pPr lvl="0"/>
            <a:endParaRPr lang="en-GB" sz="900" kern="1200" dirty="0">
              <a:solidFill>
                <a:srgbClr val="000000"/>
              </a:solidFill>
              <a:effectLst/>
              <a:latin typeface="+mn-lt"/>
              <a:ea typeface="ＭＳ Ｐゴシック" pitchFamily="34" charset="-128"/>
              <a:cs typeface="+mn-cs"/>
            </a:endParaRPr>
          </a:p>
          <a:p>
            <a:pPr lvl="0"/>
            <a:r>
              <a:rPr lang="en-GB" sz="900" kern="1200" dirty="0">
                <a:solidFill>
                  <a:srgbClr val="000000"/>
                </a:solidFill>
                <a:effectLst/>
                <a:latin typeface="+mn-lt"/>
                <a:ea typeface="ＭＳ Ｐゴシック" pitchFamily="34" charset="-128"/>
                <a:cs typeface="+mn-cs"/>
              </a:rPr>
              <a:t>The </a:t>
            </a:r>
            <a:r>
              <a:rPr lang="en-GB" sz="900" b="1" kern="1200" dirty="0">
                <a:solidFill>
                  <a:srgbClr val="000000"/>
                </a:solidFill>
                <a:effectLst/>
                <a:latin typeface="+mn-lt"/>
                <a:ea typeface="ＭＳ Ｐゴシック" pitchFamily="34" charset="-128"/>
                <a:cs typeface="+mn-cs"/>
              </a:rPr>
              <a:t>study population </a:t>
            </a:r>
            <a:r>
              <a:rPr lang="en-GB" sz="900" kern="1200" dirty="0">
                <a:solidFill>
                  <a:srgbClr val="000000"/>
                </a:solidFill>
                <a:effectLst/>
                <a:latin typeface="+mn-lt"/>
                <a:ea typeface="ＭＳ Ｐゴシック" pitchFamily="34" charset="-128"/>
                <a:cs typeface="+mn-cs"/>
              </a:rPr>
              <a:t>consisted of boys and girls between 2 and 11 years old, weighting</a:t>
            </a:r>
            <a:r>
              <a:rPr lang="en-GB" sz="900" kern="1200" baseline="0" dirty="0">
                <a:solidFill>
                  <a:srgbClr val="000000"/>
                </a:solidFill>
                <a:effectLst/>
                <a:latin typeface="+mn-lt"/>
                <a:ea typeface="ＭＳ Ｐゴシック" pitchFamily="34" charset="-128"/>
                <a:cs typeface="+mn-cs"/>
              </a:rPr>
              <a:t> ≥ 10 kg.</a:t>
            </a:r>
            <a:r>
              <a:rPr lang="es-ES" sz="900" kern="1200" baseline="0" dirty="0">
                <a:solidFill>
                  <a:srgbClr val="000000"/>
                </a:solidFill>
                <a:effectLst/>
                <a:latin typeface="+mn-lt"/>
                <a:ea typeface="ＭＳ Ｐゴシック" pitchFamily="34" charset="-128"/>
                <a:cs typeface="+mn-cs"/>
              </a:rPr>
              <a:t> </a:t>
            </a:r>
            <a:r>
              <a:rPr lang="en-GB" sz="900" kern="1200" dirty="0">
                <a:solidFill>
                  <a:srgbClr val="000000"/>
                </a:solidFill>
                <a:effectLst/>
                <a:latin typeface="+mn-lt"/>
                <a:ea typeface="ＭＳ Ｐゴシック" pitchFamily="34" charset="-128"/>
                <a:cs typeface="+mn-cs"/>
              </a:rPr>
              <a:t>Documented history of chronic spontaneous </a:t>
            </a:r>
            <a:r>
              <a:rPr lang="en-GB" sz="900" kern="1200" dirty="0" err="1">
                <a:solidFill>
                  <a:srgbClr val="000000"/>
                </a:solidFill>
                <a:effectLst/>
                <a:latin typeface="+mn-lt"/>
                <a:ea typeface="ＭＳ Ｐゴシック" pitchFamily="34" charset="-128"/>
                <a:cs typeface="+mn-cs"/>
              </a:rPr>
              <a:t>urticaria</a:t>
            </a:r>
            <a:r>
              <a:rPr lang="en-GB" sz="900" kern="1200" dirty="0">
                <a:solidFill>
                  <a:srgbClr val="000000"/>
                </a:solidFill>
                <a:effectLst/>
                <a:latin typeface="+mn-lt"/>
                <a:ea typeface="ＭＳ Ｐゴシック" pitchFamily="34" charset="-128"/>
                <a:cs typeface="+mn-cs"/>
              </a:rPr>
              <a:t> (urticarial itchy wheals) with or without angioedema of at least 6 weeks before the selection visit. Patients with a cumulative score ≥ 12 points in the adapted </a:t>
            </a:r>
            <a:r>
              <a:rPr lang="en-GB" sz="900" kern="1200" dirty="0" err="1">
                <a:solidFill>
                  <a:srgbClr val="000000"/>
                </a:solidFill>
                <a:effectLst/>
                <a:latin typeface="+mn-lt"/>
                <a:ea typeface="ＭＳ Ｐゴシック" pitchFamily="34" charset="-128"/>
                <a:cs typeface="+mn-cs"/>
              </a:rPr>
              <a:t>Urticaria</a:t>
            </a:r>
            <a:r>
              <a:rPr lang="en-GB" sz="900" kern="1200" dirty="0">
                <a:solidFill>
                  <a:srgbClr val="000000"/>
                </a:solidFill>
                <a:effectLst/>
                <a:latin typeface="+mn-lt"/>
                <a:ea typeface="ＭＳ Ｐゴシック" pitchFamily="34" charset="-128"/>
                <a:cs typeface="+mn-cs"/>
              </a:rPr>
              <a:t> Activity Score of the 7 days (adapted UAS7) before Visit 0. UAS is defined as the sum of the scores (0-3) of the two symptoms assessed (pruritus and number of wheals) in a daily basis. A 12 lead ECG obtained at screening within acceptable limits, </a:t>
            </a:r>
            <a:r>
              <a:rPr lang="en-GB" sz="900" kern="1200" dirty="0" err="1">
                <a:solidFill>
                  <a:srgbClr val="000000"/>
                </a:solidFill>
                <a:effectLst/>
                <a:latin typeface="+mn-lt"/>
                <a:ea typeface="ＭＳ Ｐゴシック" pitchFamily="34" charset="-128"/>
                <a:cs typeface="+mn-cs"/>
              </a:rPr>
              <a:t>QTc</a:t>
            </a:r>
            <a:r>
              <a:rPr lang="en-GB" sz="900" kern="1200" dirty="0">
                <a:solidFill>
                  <a:srgbClr val="000000"/>
                </a:solidFill>
                <a:effectLst/>
                <a:latin typeface="+mn-lt"/>
                <a:ea typeface="ＭＳ Ｐゴシック" pitchFamily="34" charset="-128"/>
                <a:cs typeface="+mn-cs"/>
              </a:rPr>
              <a:t> interval values (</a:t>
            </a:r>
            <a:r>
              <a:rPr lang="en-GB" sz="900" kern="1200" dirty="0" err="1">
                <a:solidFill>
                  <a:srgbClr val="000000"/>
                </a:solidFill>
                <a:effectLst/>
                <a:latin typeface="+mn-lt"/>
                <a:ea typeface="ＭＳ Ｐゴシック" pitchFamily="34" charset="-128"/>
                <a:cs typeface="+mn-cs"/>
              </a:rPr>
              <a:t>msec</a:t>
            </a:r>
            <a:r>
              <a:rPr lang="en-GB" sz="900" kern="1200" dirty="0">
                <a:solidFill>
                  <a:srgbClr val="000000"/>
                </a:solidFill>
                <a:effectLst/>
                <a:latin typeface="+mn-lt"/>
                <a:ea typeface="ＭＳ Ｐゴシック" pitchFamily="34" charset="-128"/>
                <a:cs typeface="+mn-cs"/>
              </a:rPr>
              <a:t>) after </a:t>
            </a:r>
            <a:r>
              <a:rPr lang="en-GB" sz="900" kern="1200" dirty="0" err="1">
                <a:solidFill>
                  <a:srgbClr val="000000"/>
                </a:solidFill>
                <a:effectLst/>
                <a:latin typeface="+mn-lt"/>
                <a:ea typeface="ＭＳ Ｐゴシック" pitchFamily="34" charset="-128"/>
                <a:cs typeface="+mn-cs"/>
              </a:rPr>
              <a:t>Fridericia’s</a:t>
            </a:r>
            <a:r>
              <a:rPr lang="en-GB" sz="900" kern="1200" dirty="0">
                <a:solidFill>
                  <a:srgbClr val="000000"/>
                </a:solidFill>
                <a:effectLst/>
                <a:latin typeface="+mn-lt"/>
                <a:ea typeface="ＭＳ Ｐゴシック" pitchFamily="34" charset="-128"/>
                <a:cs typeface="+mn-cs"/>
              </a:rPr>
              <a:t> correction had to be normal (&lt; 450 </a:t>
            </a:r>
            <a:r>
              <a:rPr lang="en-GB" sz="900" kern="1200" dirty="0" err="1">
                <a:solidFill>
                  <a:srgbClr val="000000"/>
                </a:solidFill>
                <a:effectLst/>
                <a:latin typeface="+mn-lt"/>
                <a:ea typeface="ＭＳ Ｐゴシック" pitchFamily="34" charset="-128"/>
                <a:cs typeface="+mn-cs"/>
              </a:rPr>
              <a:t>msec</a:t>
            </a:r>
            <a:r>
              <a:rPr lang="en-GB" sz="900" kern="1200" dirty="0">
                <a:solidFill>
                  <a:srgbClr val="000000"/>
                </a:solidFill>
                <a:effectLst/>
                <a:latin typeface="+mn-lt"/>
                <a:ea typeface="ＭＳ Ｐゴシック" pitchFamily="34" charset="-128"/>
                <a:cs typeface="+mn-cs"/>
              </a:rPr>
              <a:t>). </a:t>
            </a:r>
            <a:endParaRPr lang="es-ES" sz="900" kern="1200" dirty="0">
              <a:solidFill>
                <a:srgbClr val="000000"/>
              </a:solidFill>
              <a:effectLst/>
              <a:latin typeface="+mn-lt"/>
              <a:ea typeface="ＭＳ Ｐゴシック" pitchFamily="34" charset="-128"/>
              <a:cs typeface="+mn-cs"/>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n-US" sz="900" dirty="0">
              <a:latin typeface="+mn-lt"/>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s-ES_tradnl" sz="900" b="1" dirty="0" err="1">
                <a:latin typeface="+mn-lt"/>
              </a:rPr>
              <a:t>Efficacy</a:t>
            </a:r>
            <a:r>
              <a:rPr lang="es-ES_tradnl" sz="900" b="1" dirty="0">
                <a:latin typeface="+mn-lt"/>
              </a:rPr>
              <a:t> </a:t>
            </a:r>
            <a:r>
              <a:rPr lang="es-ES_tradnl" sz="900" b="1" dirty="0" err="1">
                <a:latin typeface="+mn-lt"/>
              </a:rPr>
              <a:t>evaluation</a:t>
            </a:r>
            <a:r>
              <a:rPr lang="es-ES_tradnl" sz="900" b="1" dirty="0">
                <a:latin typeface="+mn-lt"/>
              </a:rPr>
              <a:t> </a:t>
            </a:r>
            <a:r>
              <a:rPr lang="es-ES_tradnl" sz="900" dirty="0" err="1">
                <a:latin typeface="+mn-lt"/>
              </a:rPr>
              <a:t>was</a:t>
            </a:r>
            <a:r>
              <a:rPr lang="es-ES_tradnl" sz="900" baseline="0" dirty="0">
                <a:latin typeface="+mn-lt"/>
              </a:rPr>
              <a:t> </a:t>
            </a:r>
            <a:r>
              <a:rPr lang="es-ES_tradnl" sz="900" baseline="0" dirty="0" err="1">
                <a:latin typeface="+mn-lt"/>
              </a:rPr>
              <a:t>performed</a:t>
            </a:r>
            <a:r>
              <a:rPr lang="es-ES_tradnl" sz="900" baseline="0" dirty="0">
                <a:latin typeface="+mn-lt"/>
              </a:rPr>
              <a:t> in </a:t>
            </a:r>
            <a:r>
              <a:rPr lang="es-ES_tradnl" sz="900" baseline="0" dirty="0" err="1">
                <a:latin typeface="+mn-lt"/>
              </a:rPr>
              <a:t>terms</a:t>
            </a:r>
            <a:r>
              <a:rPr lang="es-ES_tradnl" sz="900" baseline="0" dirty="0">
                <a:latin typeface="+mn-lt"/>
              </a:rPr>
              <a:t> of </a:t>
            </a:r>
            <a:r>
              <a:rPr lang="es-ES_tradnl" sz="900" baseline="0" dirty="0" err="1">
                <a:latin typeface="+mn-lt"/>
              </a:rPr>
              <a:t>symptoms</a:t>
            </a:r>
            <a:r>
              <a:rPr lang="es-ES_tradnl" sz="900" baseline="0" dirty="0">
                <a:latin typeface="+mn-lt"/>
              </a:rPr>
              <a:t> </a:t>
            </a:r>
            <a:r>
              <a:rPr lang="es-ES_tradnl" sz="900" baseline="0" dirty="0" err="1">
                <a:latin typeface="+mn-lt"/>
              </a:rPr>
              <a:t>evolution</a:t>
            </a:r>
            <a:r>
              <a:rPr lang="es-ES_tradnl" sz="900" baseline="0" dirty="0">
                <a:latin typeface="+mn-lt"/>
              </a:rPr>
              <a:t>. UAS7 score </a:t>
            </a:r>
            <a:r>
              <a:rPr lang="es-ES_tradnl" sz="900" baseline="0" dirty="0" err="1">
                <a:latin typeface="+mn-lt"/>
              </a:rPr>
              <a:t>is</a:t>
            </a:r>
            <a:r>
              <a:rPr lang="es-ES_tradnl" sz="900" baseline="0" dirty="0">
                <a:latin typeface="+mn-lt"/>
              </a:rPr>
              <a:t> a </a:t>
            </a:r>
            <a:r>
              <a:rPr lang="es-ES_tradnl" sz="900" baseline="0" dirty="0" err="1">
                <a:latin typeface="+mn-lt"/>
              </a:rPr>
              <a:t>cumulative</a:t>
            </a:r>
            <a:r>
              <a:rPr lang="es-ES_tradnl" sz="900" baseline="0" dirty="0">
                <a:latin typeface="+mn-lt"/>
              </a:rPr>
              <a:t> 7 </a:t>
            </a:r>
            <a:r>
              <a:rPr lang="es-ES_tradnl" sz="900" baseline="0" dirty="0" err="1">
                <a:latin typeface="+mn-lt"/>
              </a:rPr>
              <a:t>days</a:t>
            </a:r>
            <a:r>
              <a:rPr lang="es-ES_tradnl" sz="900" baseline="0" dirty="0">
                <a:latin typeface="+mn-lt"/>
              </a:rPr>
              <a:t> score </a:t>
            </a:r>
            <a:r>
              <a:rPr lang="es-ES_tradnl" sz="900" baseline="0" dirty="0" err="1">
                <a:latin typeface="+mn-lt"/>
              </a:rPr>
              <a:t>that</a:t>
            </a:r>
            <a:r>
              <a:rPr lang="es-ES_tradnl" sz="900" baseline="0" dirty="0">
                <a:latin typeface="+mn-lt"/>
              </a:rPr>
              <a:t> </a:t>
            </a:r>
            <a:r>
              <a:rPr lang="es-ES_tradnl" sz="900" baseline="0" dirty="0" err="1">
                <a:latin typeface="+mn-lt"/>
              </a:rPr>
              <a:t>integrates</a:t>
            </a:r>
            <a:r>
              <a:rPr lang="es-ES_tradnl" sz="900" baseline="0" dirty="0">
                <a:latin typeface="+mn-lt"/>
              </a:rPr>
              <a:t> </a:t>
            </a:r>
            <a:r>
              <a:rPr lang="es-ES_tradnl" sz="900" baseline="0" dirty="0" err="1">
                <a:latin typeface="+mn-lt"/>
              </a:rPr>
              <a:t>both</a:t>
            </a:r>
            <a:r>
              <a:rPr lang="es-ES_tradnl" sz="900" baseline="0" dirty="0">
                <a:latin typeface="+mn-lt"/>
              </a:rPr>
              <a:t> </a:t>
            </a:r>
            <a:r>
              <a:rPr lang="es-ES_tradnl" sz="900" baseline="0" dirty="0" err="1">
                <a:latin typeface="+mn-lt"/>
              </a:rPr>
              <a:t>wheals</a:t>
            </a:r>
            <a:r>
              <a:rPr lang="es-ES_tradnl" sz="900" baseline="0" dirty="0">
                <a:latin typeface="+mn-lt"/>
              </a:rPr>
              <a:t> and </a:t>
            </a:r>
            <a:r>
              <a:rPr lang="es-ES_tradnl" sz="900" baseline="0" dirty="0" err="1">
                <a:latin typeface="+mn-lt"/>
              </a:rPr>
              <a:t>pruritus</a:t>
            </a:r>
            <a:r>
              <a:rPr lang="es-ES_tradnl" sz="900" baseline="0" dirty="0">
                <a:latin typeface="+mn-lt"/>
              </a:rPr>
              <a:t> </a:t>
            </a:r>
            <a:r>
              <a:rPr lang="es-ES_tradnl" sz="900" baseline="0" dirty="0" err="1">
                <a:latin typeface="+mn-lt"/>
              </a:rPr>
              <a:t>symptomatology</a:t>
            </a:r>
            <a:r>
              <a:rPr lang="es-ES_tradnl" sz="900" baseline="0" dirty="0">
                <a:latin typeface="+mn-lt"/>
              </a:rPr>
              <a:t> </a:t>
            </a:r>
            <a:r>
              <a:rPr lang="es-ES_tradnl" sz="900" baseline="0" dirty="0" err="1">
                <a:latin typeface="+mn-lt"/>
              </a:rPr>
              <a:t>evaluation</a:t>
            </a:r>
            <a:r>
              <a:rPr lang="es-ES_tradnl" sz="900" baseline="0" dirty="0">
                <a:latin typeface="+mn-lt"/>
              </a:rPr>
              <a:t> </a:t>
            </a:r>
            <a:r>
              <a:rPr lang="es-ES_tradnl" sz="900" baseline="0" dirty="0" err="1">
                <a:latin typeface="+mn-lt"/>
              </a:rPr>
              <a:t>by</a:t>
            </a:r>
            <a:r>
              <a:rPr lang="es-ES_tradnl" sz="900" baseline="0" dirty="0">
                <a:latin typeface="+mn-lt"/>
              </a:rPr>
              <a:t> </a:t>
            </a:r>
            <a:r>
              <a:rPr lang="es-ES_tradnl" sz="900" baseline="0" dirty="0" err="1">
                <a:latin typeface="+mn-lt"/>
              </a:rPr>
              <a:t>the</a:t>
            </a:r>
            <a:r>
              <a:rPr lang="es-ES_tradnl" sz="900" baseline="0" dirty="0">
                <a:latin typeface="+mn-lt"/>
              </a:rPr>
              <a:t> </a:t>
            </a:r>
            <a:r>
              <a:rPr lang="es-ES_tradnl" sz="900" baseline="0" dirty="0" err="1">
                <a:latin typeface="+mn-lt"/>
              </a:rPr>
              <a:t>patient</a:t>
            </a:r>
            <a:r>
              <a:rPr lang="es-ES_tradnl" sz="900" baseline="0" dirty="0">
                <a:latin typeface="+mn-lt"/>
              </a:rPr>
              <a:t>/</a:t>
            </a:r>
            <a:r>
              <a:rPr lang="es-ES_tradnl" sz="900" baseline="0" dirty="0" err="1">
                <a:latin typeface="+mn-lt"/>
              </a:rPr>
              <a:t>parent</a:t>
            </a:r>
            <a:r>
              <a:rPr lang="es-ES_tradnl" sz="900" baseline="0" dirty="0">
                <a:latin typeface="+mn-lt"/>
              </a:rPr>
              <a:t>. </a:t>
            </a:r>
            <a:r>
              <a:rPr lang="es-ES_tradnl" sz="900" baseline="0" dirty="0" err="1">
                <a:latin typeface="+mn-lt"/>
              </a:rPr>
              <a:t>Quality</a:t>
            </a:r>
            <a:r>
              <a:rPr lang="es-ES_tradnl" sz="900" baseline="0" dirty="0">
                <a:latin typeface="+mn-lt"/>
              </a:rPr>
              <a:t> of </a:t>
            </a:r>
            <a:r>
              <a:rPr lang="es-ES_tradnl" sz="900" baseline="0" dirty="0" err="1">
                <a:latin typeface="+mn-lt"/>
              </a:rPr>
              <a:t>Life</a:t>
            </a:r>
            <a:r>
              <a:rPr lang="es-ES_tradnl" sz="900" baseline="0" dirty="0">
                <a:latin typeface="+mn-lt"/>
              </a:rPr>
              <a:t> </a:t>
            </a:r>
            <a:r>
              <a:rPr lang="es-ES_tradnl" sz="900" baseline="0" dirty="0" err="1">
                <a:latin typeface="+mn-lt"/>
              </a:rPr>
              <a:t>assessment</a:t>
            </a:r>
            <a:r>
              <a:rPr lang="es-ES_tradnl" sz="900" baseline="0" dirty="0">
                <a:latin typeface="+mn-lt"/>
              </a:rPr>
              <a:t> </a:t>
            </a:r>
            <a:r>
              <a:rPr lang="es-ES_tradnl" sz="900" baseline="0" dirty="0" err="1">
                <a:latin typeface="+mn-lt"/>
              </a:rPr>
              <a:t>was</a:t>
            </a:r>
            <a:r>
              <a:rPr lang="es-ES_tradnl" sz="900" baseline="0" dirty="0">
                <a:latin typeface="+mn-lt"/>
              </a:rPr>
              <a:t> </a:t>
            </a:r>
            <a:r>
              <a:rPr lang="es-ES_tradnl" sz="900" baseline="0" dirty="0" err="1">
                <a:latin typeface="+mn-lt"/>
              </a:rPr>
              <a:t>performed</a:t>
            </a:r>
            <a:r>
              <a:rPr lang="es-ES_tradnl" sz="900" baseline="0" dirty="0">
                <a:latin typeface="+mn-lt"/>
              </a:rPr>
              <a:t> </a:t>
            </a:r>
            <a:r>
              <a:rPr lang="es-ES_tradnl" sz="900" baseline="0" dirty="0" err="1">
                <a:latin typeface="+mn-lt"/>
              </a:rPr>
              <a:t>using</a:t>
            </a:r>
            <a:r>
              <a:rPr lang="es-ES_tradnl" sz="900" baseline="0" dirty="0">
                <a:latin typeface="+mn-lt"/>
              </a:rPr>
              <a:t> </a:t>
            </a:r>
            <a:r>
              <a:rPr lang="es-ES_tradnl" sz="900" baseline="0" dirty="0" err="1">
                <a:latin typeface="+mn-lt"/>
              </a:rPr>
              <a:t>Children’s</a:t>
            </a:r>
            <a:r>
              <a:rPr lang="es-ES_tradnl" sz="900" baseline="0" dirty="0">
                <a:latin typeface="+mn-lt"/>
              </a:rPr>
              <a:t> </a:t>
            </a:r>
            <a:r>
              <a:rPr lang="es-ES_tradnl" sz="900" baseline="0" dirty="0" err="1">
                <a:latin typeface="+mn-lt"/>
              </a:rPr>
              <a:t>Dermatology</a:t>
            </a:r>
            <a:r>
              <a:rPr lang="es-ES_tradnl" sz="900" baseline="0" dirty="0">
                <a:latin typeface="+mn-lt"/>
              </a:rPr>
              <a:t> </a:t>
            </a:r>
            <a:r>
              <a:rPr lang="es-ES_tradnl" sz="900" baseline="0" dirty="0" err="1">
                <a:latin typeface="+mn-lt"/>
              </a:rPr>
              <a:t>Life</a:t>
            </a:r>
            <a:r>
              <a:rPr lang="es-ES_tradnl" sz="900" baseline="0" dirty="0">
                <a:latin typeface="+mn-lt"/>
              </a:rPr>
              <a:t> </a:t>
            </a:r>
            <a:r>
              <a:rPr lang="es-ES_tradnl" sz="900" baseline="0" dirty="0" err="1">
                <a:latin typeface="+mn-lt"/>
              </a:rPr>
              <a:t>Quality</a:t>
            </a:r>
            <a:r>
              <a:rPr lang="es-ES_tradnl" sz="900" baseline="0" dirty="0">
                <a:latin typeface="+mn-lt"/>
              </a:rPr>
              <a:t> </a:t>
            </a:r>
            <a:r>
              <a:rPr lang="es-ES_tradnl" sz="900" baseline="0" dirty="0" err="1">
                <a:latin typeface="+mn-lt"/>
              </a:rPr>
              <a:t>Index</a:t>
            </a:r>
            <a:r>
              <a:rPr lang="es-ES_tradnl" sz="900" baseline="0" dirty="0">
                <a:latin typeface="+mn-lt"/>
              </a:rPr>
              <a:t>.</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mn-lt"/>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3938439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30</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Arial" charset="0"/>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8849655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31</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dirty="0">
                <a:latin typeface="Arial" charset="0"/>
              </a:rPr>
              <a:t>The study was initially planned to be conducted in three European countries: Germany, Romania and Hungary; and in South Africa. However, the</a:t>
            </a:r>
            <a:r>
              <a:rPr lang="en-US" sz="900" baseline="0" dirty="0">
                <a:latin typeface="Arial" charset="0"/>
              </a:rPr>
              <a:t> European authorities in Germany and Romania did not accept placebo use in </a:t>
            </a:r>
            <a:r>
              <a:rPr lang="en-US" sz="900" baseline="0" dirty="0" err="1">
                <a:latin typeface="Arial" charset="0"/>
              </a:rPr>
              <a:t>paediatric</a:t>
            </a:r>
            <a:r>
              <a:rPr lang="en-US" sz="900" baseline="0" dirty="0">
                <a:latin typeface="Arial" charset="0"/>
              </a:rPr>
              <a:t> trials. For this reason only</a:t>
            </a:r>
            <a:r>
              <a:rPr lang="en-US" sz="900" dirty="0">
                <a:latin typeface="Arial" charset="0"/>
              </a:rPr>
              <a:t> Hungary and South Africa participated in the study. </a:t>
            </a:r>
            <a:endParaRPr lang="es-ES_tradnl" sz="900" dirty="0">
              <a:latin typeface="Arial" charset="0"/>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1459293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090" name="Rectangle 11"/>
          <p:cNvSpPr>
            <a:spLocks noGrp="1" noChangeArrowheads="1"/>
          </p:cNvSpPr>
          <p:nvPr>
            <p:ph type="sldNum" sz="quarter"/>
          </p:nvPr>
        </p:nvSpPr>
        <p:spPr>
          <a:noFill/>
        </p:spPr>
        <p:txBody>
          <a:bodyPr/>
          <a:lstStyle/>
          <a:p>
            <a:fld id="{AAC9FF6B-F98B-45AF-B0C9-79BAA97B2BA4}" type="slidenum">
              <a:rPr lang="es-ES_tradnl">
                <a:solidFill>
                  <a:srgbClr val="FFFFFF"/>
                </a:solidFill>
              </a:rPr>
              <a:pPr/>
              <a:t>32</a:t>
            </a:fld>
            <a:endParaRPr lang="es-ES_tradnl">
              <a:solidFill>
                <a:srgbClr val="FFFFFF"/>
              </a:solidFill>
            </a:endParaRPr>
          </a:p>
        </p:txBody>
      </p:sp>
      <p:sp>
        <p:nvSpPr>
          <p:cNvPr id="89091"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a:solidFill>
                <a:srgbClr val="FFFFFF"/>
              </a:solidFill>
              <a:ea typeface="ＭＳ Ｐゴシック" charset="-128"/>
            </a:endParaRPr>
          </a:p>
        </p:txBody>
      </p:sp>
      <p:sp>
        <p:nvSpPr>
          <p:cNvPr id="89092" name="Text Box 2"/>
          <p:cNvSpPr>
            <a:spLocks noGrp="1" noChangeArrowheads="1"/>
          </p:cNvSpPr>
          <p:nvPr>
            <p:ph type="body"/>
          </p:nvPr>
        </p:nvSpPr>
        <p:spPr>
          <a:xfrm>
            <a:off x="992587" y="3229793"/>
            <a:ext cx="7943053" cy="2996064"/>
          </a:xfrm>
          <a:noFill/>
          <a:ln/>
        </p:spPr>
        <p:txBody>
          <a:bodyPr lIns="0" tIns="0" rIns="0" bIns="0"/>
          <a:lstStyle/>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endParaRPr lang="es-ES_tradnl" sz="900">
              <a:latin typeface="Arial" pitchFamily="34" charset="0"/>
              <a:ea typeface="ＭＳ Ｐゴシック" charset="-128"/>
            </a:endParaRPr>
          </a:p>
        </p:txBody>
      </p:sp>
      <p:sp>
        <p:nvSpPr>
          <p:cNvPr id="890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1565282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33</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b="1" dirty="0">
                <a:latin typeface="Arial" charset="0"/>
              </a:rPr>
              <a:t>UAS</a:t>
            </a:r>
            <a:r>
              <a:rPr lang="en-US" sz="900" dirty="0">
                <a:latin typeface="Arial" charset="0"/>
              </a:rPr>
              <a:t> is defined as the sum of the scores (0-3) of the two symptoms assessed (</a:t>
            </a:r>
            <a:r>
              <a:rPr lang="en-US" sz="900" b="1" dirty="0">
                <a:latin typeface="Arial" charset="0"/>
              </a:rPr>
              <a:t>pruritus </a:t>
            </a:r>
            <a:r>
              <a:rPr lang="en-US" sz="900" dirty="0">
                <a:latin typeface="Arial" charset="0"/>
              </a:rPr>
              <a:t>and </a:t>
            </a:r>
            <a:r>
              <a:rPr lang="en-US" sz="900" b="1" dirty="0">
                <a:latin typeface="Arial" charset="0"/>
              </a:rPr>
              <a:t>number of wheals</a:t>
            </a:r>
            <a:r>
              <a:rPr lang="en-US" sz="900" dirty="0">
                <a:latin typeface="Arial" charset="0"/>
              </a:rPr>
              <a:t>) in a daily basis,</a:t>
            </a:r>
            <a:r>
              <a:rPr lang="en-US" sz="900" baseline="0" dirty="0">
                <a:latin typeface="Arial" charset="0"/>
              </a:rPr>
              <a:t> as shown below:</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n-US" sz="900" baseline="0" dirty="0">
              <a:latin typeface="Arial" charset="0"/>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u="sng" kern="1200" baseline="0" dirty="0">
                <a:solidFill>
                  <a:srgbClr val="000000"/>
                </a:solidFill>
                <a:effectLst/>
                <a:latin typeface="Arial" charset="0"/>
                <a:ea typeface="ＭＳ Ｐゴシック" pitchFamily="34" charset="-128"/>
                <a:cs typeface="+mn-cs"/>
              </a:rPr>
              <a:t>Number of Wheals:</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u="none" kern="1200" baseline="0" dirty="0">
                <a:solidFill>
                  <a:srgbClr val="000000"/>
                </a:solidFill>
                <a:effectLst/>
                <a:latin typeface="Arial" charset="0"/>
                <a:ea typeface="ＭＳ Ｐゴシック" pitchFamily="34" charset="-128"/>
                <a:cs typeface="+mn-cs"/>
              </a:rPr>
              <a:t>Score</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(0) = symptom is absent</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(1) = mild:(1-&lt;10 wheals/24 h)</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(2) = moderate: (10-30 wheals/24 h)</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(3) = intense: (&gt;30 wheals/24 h or large confluent areas of wheals)</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n-US" sz="900" kern="1200" baseline="0" dirty="0">
              <a:solidFill>
                <a:srgbClr val="000000"/>
              </a:solidFill>
              <a:effectLst/>
              <a:latin typeface="Arial" charset="0"/>
              <a:ea typeface="ＭＳ Ｐゴシック" pitchFamily="34" charset="-128"/>
              <a:cs typeface="+mn-cs"/>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u="sng" kern="1200" baseline="0" dirty="0">
                <a:solidFill>
                  <a:srgbClr val="000000"/>
                </a:solidFill>
                <a:effectLst/>
                <a:latin typeface="Arial" charset="0"/>
                <a:ea typeface="ＭＳ Ｐゴシック" pitchFamily="34" charset="-128"/>
                <a:cs typeface="+mn-cs"/>
              </a:rPr>
              <a:t>Pruritus:</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Score</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(0) = symptom is absent</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(1) = mild: present but not annoying or troublesome</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(2) = moderate: troublesome but does not interfere with normal daily activity or sleep</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kern="1200" baseline="0" dirty="0">
                <a:solidFill>
                  <a:srgbClr val="000000"/>
                </a:solidFill>
                <a:effectLst/>
                <a:latin typeface="Arial" charset="0"/>
                <a:ea typeface="ＭＳ Ｐゴシック" pitchFamily="34" charset="-128"/>
                <a:cs typeface="+mn-cs"/>
              </a:rPr>
              <a:t>(3) = intense: severe pruritus, which is sufficiently troublesome to interfere with normal activity or sleep)</a:t>
            </a: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n-GB" sz="1200" kern="1200" dirty="0">
              <a:solidFill>
                <a:srgbClr val="000000"/>
              </a:solidFill>
              <a:effectLst/>
              <a:latin typeface="Calibri" pitchFamily="34" charset="0"/>
              <a:ea typeface="ＭＳ Ｐゴシック" pitchFamily="34" charset="-128"/>
              <a:cs typeface="+mn-cs"/>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GB" sz="1200" b="1" kern="1200" dirty="0">
                <a:solidFill>
                  <a:srgbClr val="000000"/>
                </a:solidFill>
                <a:effectLst/>
                <a:latin typeface="Calibri" pitchFamily="34" charset="0"/>
                <a:ea typeface="ＭＳ Ｐゴシック" pitchFamily="34" charset="-128"/>
                <a:cs typeface="+mn-cs"/>
              </a:rPr>
              <a:t>UAS7</a:t>
            </a:r>
            <a:r>
              <a:rPr lang="en-GB" sz="1200" kern="1200" dirty="0">
                <a:solidFill>
                  <a:srgbClr val="000000"/>
                </a:solidFill>
                <a:effectLst/>
                <a:latin typeface="Calibri" pitchFamily="34" charset="0"/>
                <a:ea typeface="ＭＳ Ｐゴシック" pitchFamily="34" charset="-128"/>
                <a:cs typeface="+mn-cs"/>
              </a:rPr>
              <a:t>: The primary endpoint of the study consisted on the cumulative adapted UAS of the 7 prior days (adapted </a:t>
            </a:r>
            <a:r>
              <a:rPr lang="en-GB" sz="1200" b="0" kern="1200" dirty="0">
                <a:solidFill>
                  <a:srgbClr val="000000"/>
                </a:solidFill>
                <a:effectLst/>
                <a:latin typeface="Calibri" pitchFamily="34" charset="0"/>
                <a:ea typeface="ＭＳ Ｐゴシック" pitchFamily="34" charset="-128"/>
                <a:cs typeface="+mn-cs"/>
              </a:rPr>
              <a:t>UAS7</a:t>
            </a:r>
            <a:r>
              <a:rPr lang="en-GB" sz="1200" kern="1200" dirty="0">
                <a:solidFill>
                  <a:srgbClr val="000000"/>
                </a:solidFill>
                <a:effectLst/>
                <a:latin typeface="Calibri" pitchFamily="34" charset="0"/>
                <a:ea typeface="ＭＳ Ｐゴシック" pitchFamily="34" charset="-128"/>
                <a:cs typeface="+mn-cs"/>
              </a:rPr>
              <a:t>).</a:t>
            </a:r>
            <a:r>
              <a:rPr lang="en-GB" sz="1200" kern="1200" baseline="0" dirty="0">
                <a:solidFill>
                  <a:srgbClr val="000000"/>
                </a:solidFill>
                <a:effectLst/>
                <a:latin typeface="Calibri" pitchFamily="34" charset="0"/>
                <a:ea typeface="ＭＳ Ｐゴシック" pitchFamily="34" charset="-128"/>
                <a:cs typeface="+mn-cs"/>
              </a:rPr>
              <a:t> </a:t>
            </a:r>
            <a:endParaRPr lang="es-ES" sz="1200" kern="1200" dirty="0">
              <a:solidFill>
                <a:srgbClr val="000000"/>
              </a:solidFill>
              <a:effectLst/>
              <a:latin typeface="Calibri" pitchFamily="34" charset="0"/>
              <a:ea typeface="ＭＳ Ｐゴシック" pitchFamily="34" charset="-128"/>
              <a:cs typeface="+mn-cs"/>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s-ES_tradnl" sz="900" dirty="0">
              <a:latin typeface="Arial" charset="0"/>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9046222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11"/>
          <p:cNvSpPr>
            <a:spLocks noGrp="1" noChangeArrowheads="1"/>
          </p:cNvSpPr>
          <p:nvPr>
            <p:ph type="sldNum" sz="quarter"/>
          </p:nvPr>
        </p:nvSpPr>
        <p:spPr>
          <a:noFill/>
        </p:spPr>
        <p:txBody>
          <a:bodyPr/>
          <a:lstStyle/>
          <a:p>
            <a:fld id="{2DE2115F-B026-42DB-89D2-9B6B51267AD3}" type="slidenum">
              <a:rPr lang="es-ES_tradnl">
                <a:solidFill>
                  <a:srgbClr val="FFFFFF"/>
                </a:solidFill>
              </a:rPr>
              <a:pPr/>
              <a:t>34</a:t>
            </a:fld>
            <a:endParaRPr lang="es-ES_tradnl">
              <a:solidFill>
                <a:srgbClr val="FFFFFF"/>
              </a:solidFill>
            </a:endParaRPr>
          </a:p>
        </p:txBody>
      </p:sp>
      <p:sp>
        <p:nvSpPr>
          <p:cNvPr id="91139"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a:solidFill>
                <a:srgbClr val="FFFFFF"/>
              </a:solidFill>
              <a:ea typeface="ＭＳ Ｐゴシック" charset="-128"/>
            </a:endParaRPr>
          </a:p>
        </p:txBody>
      </p:sp>
      <p:sp>
        <p:nvSpPr>
          <p:cNvPr id="91140" name="Text Box 2"/>
          <p:cNvSpPr>
            <a:spLocks noGrp="1" noChangeArrowheads="1"/>
          </p:cNvSpPr>
          <p:nvPr>
            <p:ph type="body"/>
          </p:nvPr>
        </p:nvSpPr>
        <p:spPr>
          <a:xfrm>
            <a:off x="992587" y="3229793"/>
            <a:ext cx="7943053" cy="2996064"/>
          </a:xfrm>
          <a:noFill/>
          <a:ln/>
        </p:spPr>
        <p:txBody>
          <a:bodyPr lIns="0" tIns="0" rIns="0" bIns="0"/>
          <a:lstStyle/>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r>
              <a:rPr lang="es-ES_tradnl" sz="900" dirty="0" err="1">
                <a:latin typeface="+mn-lt"/>
                <a:ea typeface="ＭＳ Ｐゴシック" charset="-128"/>
              </a:rPr>
              <a:t>There</a:t>
            </a:r>
            <a:r>
              <a:rPr lang="es-ES_tradnl" sz="900" baseline="0" dirty="0">
                <a:latin typeface="+mn-lt"/>
                <a:ea typeface="ＭＳ Ｐゴシック" charset="-128"/>
              </a:rPr>
              <a:t> </a:t>
            </a:r>
            <a:r>
              <a:rPr lang="es-ES_tradnl" sz="900" baseline="0" dirty="0" err="1">
                <a:latin typeface="+mn-lt"/>
                <a:ea typeface="ＭＳ Ｐゴシック" charset="-128"/>
              </a:rPr>
              <a:t>were</a:t>
            </a:r>
            <a:r>
              <a:rPr lang="es-ES_tradnl" sz="900" baseline="0" dirty="0">
                <a:latin typeface="+mn-lt"/>
                <a:ea typeface="ＭＳ Ｐゴシック" charset="-128"/>
              </a:rPr>
              <a:t> no </a:t>
            </a:r>
            <a:r>
              <a:rPr lang="es-ES_tradnl" sz="900" baseline="0" dirty="0" err="1">
                <a:latin typeface="+mn-lt"/>
                <a:ea typeface="ＭＳ Ｐゴシック" charset="-128"/>
              </a:rPr>
              <a:t>differences</a:t>
            </a:r>
            <a:r>
              <a:rPr lang="es-ES_tradnl" sz="900" baseline="0" dirty="0">
                <a:latin typeface="+mn-lt"/>
                <a:ea typeface="ＭＳ Ｐゴシック" charset="-128"/>
              </a:rPr>
              <a:t> in </a:t>
            </a:r>
            <a:r>
              <a:rPr lang="es-ES_tradnl" sz="900" baseline="0" dirty="0" err="1">
                <a:latin typeface="+mn-lt"/>
                <a:ea typeface="ＭＳ Ｐゴシック" charset="-128"/>
              </a:rPr>
              <a:t>the</a:t>
            </a:r>
            <a:r>
              <a:rPr lang="es-ES_tradnl" sz="900" baseline="0" dirty="0">
                <a:latin typeface="+mn-lt"/>
                <a:ea typeface="ＭＳ Ｐゴシック" charset="-128"/>
              </a:rPr>
              <a:t> basal </a:t>
            </a:r>
            <a:r>
              <a:rPr lang="es-ES_tradnl" sz="900" baseline="0" dirty="0" err="1">
                <a:latin typeface="+mn-lt"/>
                <a:ea typeface="ＭＳ Ｐゴシック" charset="-128"/>
              </a:rPr>
              <a:t>values</a:t>
            </a:r>
            <a:r>
              <a:rPr lang="es-ES_tradnl" sz="900" baseline="0" dirty="0">
                <a:latin typeface="+mn-lt"/>
                <a:ea typeface="ＭＳ Ｐゴシック" charset="-128"/>
              </a:rPr>
              <a:t> of </a:t>
            </a:r>
            <a:r>
              <a:rPr lang="es-ES_tradnl" sz="900" baseline="0" dirty="0" err="1">
                <a:latin typeface="+mn-lt"/>
                <a:ea typeface="ＭＳ Ｐゴシック" charset="-128"/>
              </a:rPr>
              <a:t>the</a:t>
            </a:r>
            <a:r>
              <a:rPr lang="es-ES_tradnl" sz="900" baseline="0" dirty="0">
                <a:latin typeface="+mn-lt"/>
                <a:ea typeface="ＭＳ Ｐゴシック" charset="-128"/>
              </a:rPr>
              <a:t> </a:t>
            </a:r>
            <a:r>
              <a:rPr lang="es-ES_tradnl" sz="900" baseline="0" dirty="0" err="1">
                <a:latin typeface="+mn-lt"/>
                <a:ea typeface="ＭＳ Ｐゴシック" charset="-128"/>
              </a:rPr>
              <a:t>efficacy</a:t>
            </a:r>
            <a:r>
              <a:rPr lang="es-ES_tradnl" sz="900" baseline="0" dirty="0">
                <a:latin typeface="+mn-lt"/>
                <a:ea typeface="ＭＳ Ｐゴシック" charset="-128"/>
              </a:rPr>
              <a:t> and </a:t>
            </a:r>
            <a:r>
              <a:rPr lang="es-ES_tradnl" sz="900" baseline="0" dirty="0" err="1">
                <a:latin typeface="+mn-lt"/>
                <a:ea typeface="ＭＳ Ｐゴシック" charset="-128"/>
              </a:rPr>
              <a:t>Quality</a:t>
            </a:r>
            <a:r>
              <a:rPr lang="es-ES_tradnl" sz="900" baseline="0" dirty="0">
                <a:latin typeface="+mn-lt"/>
                <a:ea typeface="ＭＳ Ｐゴシック" charset="-128"/>
              </a:rPr>
              <a:t> of </a:t>
            </a:r>
            <a:r>
              <a:rPr lang="es-ES_tradnl" sz="900" baseline="0" dirty="0" err="1">
                <a:latin typeface="+mn-lt"/>
                <a:ea typeface="ＭＳ Ｐゴシック" charset="-128"/>
              </a:rPr>
              <a:t>life</a:t>
            </a:r>
            <a:r>
              <a:rPr lang="es-ES_tradnl" sz="900" baseline="0" dirty="0">
                <a:latin typeface="+mn-lt"/>
                <a:ea typeface="ＭＳ Ｐゴシック" charset="-128"/>
              </a:rPr>
              <a:t> variables </a:t>
            </a:r>
            <a:r>
              <a:rPr lang="es-ES_tradnl" sz="900" baseline="0" dirty="0" err="1">
                <a:latin typeface="+mn-lt"/>
                <a:ea typeface="ＭＳ Ｐゴシック" charset="-128"/>
              </a:rPr>
              <a:t>between</a:t>
            </a:r>
            <a:r>
              <a:rPr lang="es-ES_tradnl" sz="900" baseline="0" dirty="0">
                <a:latin typeface="+mn-lt"/>
                <a:ea typeface="ＭＳ Ｐゴシック" charset="-128"/>
              </a:rPr>
              <a:t> </a:t>
            </a:r>
            <a:r>
              <a:rPr lang="es-ES_tradnl" sz="900" baseline="0" dirty="0" err="1">
                <a:latin typeface="+mn-lt"/>
                <a:ea typeface="ＭＳ Ｐゴシック" charset="-128"/>
              </a:rPr>
              <a:t>treatment</a:t>
            </a:r>
            <a:r>
              <a:rPr lang="es-ES_tradnl" sz="900" baseline="0" dirty="0">
                <a:latin typeface="+mn-lt"/>
                <a:ea typeface="ＭＳ Ｐゴシック" charset="-128"/>
              </a:rPr>
              <a:t> </a:t>
            </a:r>
            <a:r>
              <a:rPr lang="es-ES_tradnl" sz="900" baseline="0" dirty="0" err="1">
                <a:latin typeface="+mn-lt"/>
                <a:ea typeface="ＭＳ Ｐゴシック" charset="-128"/>
              </a:rPr>
              <a:t>groups</a:t>
            </a:r>
            <a:r>
              <a:rPr lang="es-ES_tradnl" sz="900" baseline="0" dirty="0">
                <a:latin typeface="+mn-lt"/>
                <a:ea typeface="ＭＳ Ｐゴシック" charset="-128"/>
              </a:rPr>
              <a:t>. </a:t>
            </a:r>
            <a:r>
              <a:rPr lang="es-ES_tradnl" sz="900" baseline="0" dirty="0" err="1">
                <a:latin typeface="+mn-lt"/>
                <a:ea typeface="ＭＳ Ｐゴシック" charset="-128"/>
              </a:rPr>
              <a:t>Demonstrating</a:t>
            </a:r>
            <a:r>
              <a:rPr lang="es-ES_tradnl" sz="900" baseline="0" dirty="0">
                <a:latin typeface="+mn-lt"/>
                <a:ea typeface="ＭＳ Ｐゴシック" charset="-128"/>
              </a:rPr>
              <a:t> </a:t>
            </a:r>
            <a:r>
              <a:rPr lang="es-ES_tradnl" sz="900" baseline="0" dirty="0" err="1">
                <a:latin typeface="+mn-lt"/>
                <a:ea typeface="ＭＳ Ｐゴシック" charset="-128"/>
              </a:rPr>
              <a:t>that</a:t>
            </a:r>
            <a:r>
              <a:rPr lang="es-ES_tradnl" sz="900" baseline="0" dirty="0">
                <a:latin typeface="+mn-lt"/>
                <a:ea typeface="ＭＳ Ｐゴシック" charset="-128"/>
              </a:rPr>
              <a:t> </a:t>
            </a:r>
            <a:r>
              <a:rPr lang="es-ES_tradnl" sz="900" baseline="0" dirty="0" err="1">
                <a:latin typeface="+mn-lt"/>
                <a:ea typeface="ＭＳ Ｐゴシック" charset="-128"/>
              </a:rPr>
              <a:t>randomisation</a:t>
            </a:r>
            <a:r>
              <a:rPr lang="es-ES_tradnl" sz="900" baseline="0" dirty="0">
                <a:latin typeface="+mn-lt"/>
                <a:ea typeface="ＭＳ Ｐゴシック" charset="-128"/>
              </a:rPr>
              <a:t> </a:t>
            </a:r>
            <a:r>
              <a:rPr lang="es-ES_tradnl" sz="900" baseline="0" dirty="0" err="1">
                <a:latin typeface="+mn-lt"/>
                <a:ea typeface="ＭＳ Ｐゴシック" charset="-128"/>
              </a:rPr>
              <a:t>worked</a:t>
            </a:r>
            <a:r>
              <a:rPr lang="es-ES_tradnl" sz="900" baseline="0" dirty="0">
                <a:latin typeface="+mn-lt"/>
                <a:ea typeface="ＭＳ Ｐゴシック" charset="-128"/>
              </a:rPr>
              <a:t> </a:t>
            </a:r>
            <a:r>
              <a:rPr lang="es-ES_tradnl" sz="900" baseline="0" dirty="0" err="1">
                <a:latin typeface="+mn-lt"/>
                <a:ea typeface="ＭＳ Ｐゴシック" charset="-128"/>
              </a:rPr>
              <a:t>well</a:t>
            </a:r>
            <a:r>
              <a:rPr lang="es-ES_tradnl" sz="900" baseline="0" dirty="0">
                <a:latin typeface="+mn-lt"/>
                <a:ea typeface="ＭＳ Ｐゴシック" charset="-128"/>
              </a:rPr>
              <a:t>, and </a:t>
            </a:r>
            <a:r>
              <a:rPr lang="es-ES_tradnl" sz="900" baseline="0" dirty="0" err="1">
                <a:latin typeface="+mn-lt"/>
                <a:ea typeface="ＭＳ Ｐゴシック" charset="-128"/>
              </a:rPr>
              <a:t>that</a:t>
            </a:r>
            <a:r>
              <a:rPr lang="es-ES_tradnl" sz="900" baseline="0" dirty="0">
                <a:latin typeface="+mn-lt"/>
                <a:ea typeface="ＭＳ Ｐゴシック" charset="-128"/>
              </a:rPr>
              <a:t> </a:t>
            </a:r>
            <a:r>
              <a:rPr lang="es-ES_tradnl" sz="900" baseline="0" dirty="0" err="1">
                <a:latin typeface="+mn-lt"/>
                <a:ea typeface="ＭＳ Ｐゴシック" charset="-128"/>
              </a:rPr>
              <a:t>the</a:t>
            </a:r>
            <a:r>
              <a:rPr lang="es-ES_tradnl" sz="900" baseline="0" dirty="0">
                <a:latin typeface="+mn-lt"/>
                <a:ea typeface="ＭＳ Ｐゴシック" charset="-128"/>
              </a:rPr>
              <a:t> </a:t>
            </a:r>
            <a:r>
              <a:rPr lang="es-ES_tradnl" sz="900" baseline="0" dirty="0" err="1">
                <a:latin typeface="+mn-lt"/>
                <a:ea typeface="ＭＳ Ｐゴシック" charset="-128"/>
              </a:rPr>
              <a:t>three</a:t>
            </a:r>
            <a:r>
              <a:rPr lang="es-ES_tradnl" sz="900" baseline="0" dirty="0">
                <a:latin typeface="+mn-lt"/>
                <a:ea typeface="ＭＳ Ｐゴシック" charset="-128"/>
              </a:rPr>
              <a:t> </a:t>
            </a:r>
            <a:r>
              <a:rPr lang="es-ES_tradnl" sz="900" baseline="0" dirty="0" err="1">
                <a:latin typeface="+mn-lt"/>
                <a:ea typeface="ＭＳ Ｐゴシック" charset="-128"/>
              </a:rPr>
              <a:t>groups</a:t>
            </a:r>
            <a:r>
              <a:rPr lang="es-ES_tradnl" sz="900" baseline="0" dirty="0">
                <a:latin typeface="+mn-lt"/>
                <a:ea typeface="ＭＳ Ｐゴシック" charset="-128"/>
              </a:rPr>
              <a:t> of </a:t>
            </a:r>
            <a:r>
              <a:rPr lang="es-ES_tradnl" sz="900" baseline="0" dirty="0" err="1">
                <a:latin typeface="+mn-lt"/>
                <a:ea typeface="ＭＳ Ｐゴシック" charset="-128"/>
              </a:rPr>
              <a:t>treatment</a:t>
            </a:r>
            <a:r>
              <a:rPr lang="es-ES_tradnl" sz="900" baseline="0" dirty="0">
                <a:latin typeface="+mn-lt"/>
                <a:ea typeface="ＭＳ Ｐゴシック" charset="-128"/>
              </a:rPr>
              <a:t> </a:t>
            </a:r>
            <a:r>
              <a:rPr lang="es-ES_tradnl" sz="900" baseline="0" dirty="0" err="1">
                <a:latin typeface="+mn-lt"/>
                <a:ea typeface="ＭＳ Ｐゴシック" charset="-128"/>
              </a:rPr>
              <a:t>were</a:t>
            </a:r>
            <a:r>
              <a:rPr lang="es-ES_tradnl" sz="900" baseline="0" dirty="0">
                <a:latin typeface="+mn-lt"/>
                <a:ea typeface="ＭＳ Ｐゴシック" charset="-128"/>
              </a:rPr>
              <a:t> comparable in </a:t>
            </a:r>
            <a:r>
              <a:rPr lang="es-ES_tradnl" sz="900" baseline="0" dirty="0" err="1">
                <a:latin typeface="+mn-lt"/>
                <a:ea typeface="ＭＳ Ｐゴシック" charset="-128"/>
              </a:rPr>
              <a:t>terms</a:t>
            </a:r>
            <a:r>
              <a:rPr lang="es-ES_tradnl" sz="900" baseline="0" dirty="0">
                <a:latin typeface="+mn-lt"/>
                <a:ea typeface="ＭＳ Ｐゴシック" charset="-128"/>
              </a:rPr>
              <a:t> of </a:t>
            </a:r>
            <a:r>
              <a:rPr lang="es-ES_tradnl" sz="900" baseline="0" dirty="0" err="1">
                <a:latin typeface="+mn-lt"/>
                <a:ea typeface="ＭＳ Ｐゴシック" charset="-128"/>
              </a:rPr>
              <a:t>disease</a:t>
            </a:r>
            <a:r>
              <a:rPr lang="es-ES_tradnl" sz="900" baseline="0" dirty="0">
                <a:latin typeface="+mn-lt"/>
                <a:ea typeface="ＭＳ Ｐゴシック" charset="-128"/>
              </a:rPr>
              <a:t> </a:t>
            </a:r>
            <a:r>
              <a:rPr lang="es-ES_tradnl" sz="900" baseline="0" dirty="0" err="1">
                <a:latin typeface="+mn-lt"/>
                <a:ea typeface="ＭＳ Ｐゴシック" charset="-128"/>
              </a:rPr>
              <a:t>activity</a:t>
            </a:r>
            <a:r>
              <a:rPr lang="es-ES_tradnl" sz="900" baseline="0" dirty="0">
                <a:latin typeface="+mn-lt"/>
                <a:ea typeface="ＭＳ Ｐゴシック" charset="-128"/>
              </a:rPr>
              <a:t> at </a:t>
            </a:r>
            <a:r>
              <a:rPr lang="es-ES_tradnl" sz="900" baseline="0" dirty="0" err="1">
                <a:latin typeface="+mn-lt"/>
                <a:ea typeface="ＭＳ Ｐゴシック" charset="-128"/>
              </a:rPr>
              <a:t>the</a:t>
            </a:r>
            <a:r>
              <a:rPr lang="es-ES_tradnl" sz="900" baseline="0" dirty="0">
                <a:latin typeface="+mn-lt"/>
                <a:ea typeface="ＭＳ Ｐゴシック" charset="-128"/>
              </a:rPr>
              <a:t> </a:t>
            </a:r>
            <a:r>
              <a:rPr lang="es-ES_tradnl" sz="900" baseline="0" dirty="0" err="1">
                <a:latin typeface="+mn-lt"/>
                <a:ea typeface="ＭＳ Ｐゴシック" charset="-128"/>
              </a:rPr>
              <a:t>begining</a:t>
            </a:r>
            <a:r>
              <a:rPr lang="es-ES_tradnl" sz="900" baseline="0" dirty="0">
                <a:latin typeface="+mn-lt"/>
                <a:ea typeface="ＭＳ Ｐゴシック" charset="-128"/>
              </a:rPr>
              <a:t> of </a:t>
            </a:r>
            <a:r>
              <a:rPr lang="es-ES_tradnl" sz="900" baseline="0" dirty="0" err="1">
                <a:latin typeface="+mn-lt"/>
                <a:ea typeface="ＭＳ Ｐゴシック" charset="-128"/>
              </a:rPr>
              <a:t>the</a:t>
            </a:r>
            <a:r>
              <a:rPr lang="es-ES_tradnl" sz="900" baseline="0" dirty="0">
                <a:latin typeface="+mn-lt"/>
                <a:ea typeface="ＭＳ Ｐゴシック" charset="-128"/>
              </a:rPr>
              <a:t> </a:t>
            </a:r>
            <a:r>
              <a:rPr lang="es-ES_tradnl" sz="900" baseline="0" dirty="0" err="1">
                <a:latin typeface="+mn-lt"/>
                <a:ea typeface="ＭＳ Ｐゴシック" charset="-128"/>
              </a:rPr>
              <a:t>study</a:t>
            </a:r>
            <a:r>
              <a:rPr lang="es-ES_tradnl" sz="900" baseline="0" dirty="0">
                <a:latin typeface="+mn-lt"/>
                <a:ea typeface="ＭＳ Ｐゴシック" charset="-128"/>
              </a:rPr>
              <a:t>. </a:t>
            </a:r>
          </a:p>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endParaRPr lang="es-ES_tradnl" sz="900" baseline="0" dirty="0">
              <a:latin typeface="+mn-lt"/>
              <a:ea typeface="ＭＳ Ｐゴシック" charset="-128"/>
            </a:endParaRPr>
          </a:p>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r>
              <a:rPr lang="es-ES_tradnl" sz="900" baseline="0" dirty="0">
                <a:latin typeface="+mn-lt"/>
                <a:ea typeface="ＭＳ Ｐゴシック" charset="-128"/>
              </a:rPr>
              <a:t>UAS7: </a:t>
            </a:r>
            <a:r>
              <a:rPr lang="es-ES_tradnl" sz="900" baseline="0" dirty="0" err="1">
                <a:latin typeface="+mn-lt"/>
                <a:ea typeface="ＭＳ Ｐゴシック" charset="-128"/>
              </a:rPr>
              <a:t>cumulative</a:t>
            </a:r>
            <a:r>
              <a:rPr lang="es-ES_tradnl" sz="900" baseline="0" dirty="0">
                <a:latin typeface="+mn-lt"/>
                <a:ea typeface="ＭＳ Ｐゴシック" charset="-128"/>
              </a:rPr>
              <a:t> 7 </a:t>
            </a:r>
            <a:r>
              <a:rPr lang="es-ES_tradnl" sz="900" baseline="0" dirty="0" err="1">
                <a:latin typeface="+mn-lt"/>
                <a:ea typeface="ＭＳ Ｐゴシック" charset="-128"/>
              </a:rPr>
              <a:t>days</a:t>
            </a:r>
            <a:r>
              <a:rPr lang="es-ES_tradnl" sz="900" baseline="0" dirty="0">
                <a:latin typeface="+mn-lt"/>
                <a:ea typeface="ＭＳ Ｐゴシック" charset="-128"/>
              </a:rPr>
              <a:t> Urticaria </a:t>
            </a:r>
            <a:r>
              <a:rPr lang="es-ES_tradnl" sz="900" baseline="0" dirty="0" err="1">
                <a:latin typeface="+mn-lt"/>
                <a:ea typeface="ＭＳ Ｐゴシック" charset="-128"/>
              </a:rPr>
              <a:t>Activity</a:t>
            </a:r>
            <a:r>
              <a:rPr lang="es-ES_tradnl" sz="900" baseline="0" dirty="0">
                <a:latin typeface="+mn-lt"/>
                <a:ea typeface="ＭＳ Ｐゴシック" charset="-128"/>
              </a:rPr>
              <a:t> Score (</a:t>
            </a:r>
            <a:r>
              <a:rPr lang="es-ES_tradnl" sz="900" baseline="0" dirty="0" err="1">
                <a:latin typeface="+mn-lt"/>
                <a:ea typeface="ＭＳ Ｐゴシック" charset="-128"/>
              </a:rPr>
              <a:t>Wheals</a:t>
            </a:r>
            <a:r>
              <a:rPr lang="es-ES_tradnl" sz="900" baseline="0" dirty="0">
                <a:latin typeface="+mn-lt"/>
                <a:ea typeface="ＭＳ Ｐゴシック" charset="-128"/>
              </a:rPr>
              <a:t> + </a:t>
            </a:r>
            <a:r>
              <a:rPr lang="es-ES_tradnl" sz="900" baseline="0" dirty="0" err="1">
                <a:latin typeface="+mn-lt"/>
                <a:ea typeface="ＭＳ Ｐゴシック" charset="-128"/>
              </a:rPr>
              <a:t>Pruritus</a:t>
            </a:r>
            <a:r>
              <a:rPr lang="es-ES_tradnl" sz="900" baseline="0" dirty="0">
                <a:latin typeface="+mn-lt"/>
                <a:ea typeface="ＭＳ Ｐゴシック" charset="-128"/>
              </a:rPr>
              <a:t>)</a:t>
            </a:r>
          </a:p>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r>
              <a:rPr lang="es-ES_tradnl" sz="900" baseline="0" dirty="0">
                <a:latin typeface="+mn-lt"/>
                <a:ea typeface="ＭＳ Ｐゴシック" charset="-128"/>
              </a:rPr>
              <a:t>MNW: (</a:t>
            </a:r>
            <a:r>
              <a:rPr lang="es-ES_tradnl" sz="900" baseline="0" dirty="0" err="1">
                <a:latin typeface="+mn-lt"/>
                <a:ea typeface="ＭＳ Ｐゴシック" charset="-128"/>
              </a:rPr>
              <a:t>cumulative</a:t>
            </a:r>
            <a:r>
              <a:rPr lang="es-ES_tradnl" sz="900" baseline="0" dirty="0">
                <a:latin typeface="+mn-lt"/>
                <a:ea typeface="ＭＳ Ｐゴシック" charset="-128"/>
              </a:rPr>
              <a:t> 7 </a:t>
            </a:r>
            <a:r>
              <a:rPr lang="es-ES_tradnl" sz="900" baseline="0" dirty="0" err="1">
                <a:latin typeface="+mn-lt"/>
                <a:ea typeface="ＭＳ Ｐゴシック" charset="-128"/>
              </a:rPr>
              <a:t>days</a:t>
            </a:r>
            <a:r>
              <a:rPr lang="es-ES_tradnl" sz="900" baseline="0" dirty="0">
                <a:latin typeface="+mn-lt"/>
                <a:ea typeface="ＭＳ Ｐゴシック" charset="-128"/>
              </a:rPr>
              <a:t>) Mean </a:t>
            </a:r>
            <a:r>
              <a:rPr lang="es-ES_tradnl" sz="900" baseline="0" dirty="0" err="1">
                <a:latin typeface="+mn-lt"/>
                <a:ea typeface="ＭＳ Ｐゴシック" charset="-128"/>
              </a:rPr>
              <a:t>Number</a:t>
            </a:r>
            <a:r>
              <a:rPr lang="es-ES_tradnl" sz="900" baseline="0" dirty="0">
                <a:latin typeface="+mn-lt"/>
                <a:ea typeface="ＭＳ Ｐゴシック" charset="-128"/>
              </a:rPr>
              <a:t> of </a:t>
            </a:r>
            <a:r>
              <a:rPr lang="es-ES_tradnl" sz="900" baseline="0" dirty="0" err="1">
                <a:latin typeface="+mn-lt"/>
                <a:ea typeface="ＭＳ Ｐゴシック" charset="-128"/>
              </a:rPr>
              <a:t>Wheals</a:t>
            </a:r>
            <a:r>
              <a:rPr lang="es-ES_tradnl" sz="900" baseline="0" dirty="0">
                <a:latin typeface="+mn-lt"/>
                <a:ea typeface="ＭＳ Ｐゴシック" charset="-128"/>
              </a:rPr>
              <a:t> Score</a:t>
            </a: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s-ES_tradnl" sz="900" baseline="0" dirty="0">
                <a:latin typeface="+mn-lt"/>
                <a:ea typeface="ＭＳ Ｐゴシック" charset="-128"/>
              </a:rPr>
              <a:t>MPS: (</a:t>
            </a:r>
            <a:r>
              <a:rPr lang="es-ES_tradnl" sz="900" baseline="0" dirty="0" err="1">
                <a:latin typeface="+mn-lt"/>
                <a:ea typeface="ＭＳ Ｐゴシック" charset="-128"/>
              </a:rPr>
              <a:t>cumulative</a:t>
            </a:r>
            <a:r>
              <a:rPr lang="es-ES_tradnl" sz="900" baseline="0" dirty="0">
                <a:latin typeface="+mn-lt"/>
                <a:ea typeface="ＭＳ Ｐゴシック" charset="-128"/>
              </a:rPr>
              <a:t> 7 </a:t>
            </a:r>
            <a:r>
              <a:rPr lang="es-ES_tradnl" sz="900" baseline="0" dirty="0" err="1">
                <a:latin typeface="+mn-lt"/>
                <a:ea typeface="ＭＳ Ｐゴシック" charset="-128"/>
              </a:rPr>
              <a:t>days</a:t>
            </a:r>
            <a:r>
              <a:rPr lang="es-ES_tradnl" sz="900" baseline="0" dirty="0">
                <a:latin typeface="+mn-lt"/>
                <a:ea typeface="ＭＳ Ｐゴシック" charset="-128"/>
              </a:rPr>
              <a:t>) Mean </a:t>
            </a:r>
            <a:r>
              <a:rPr lang="es-ES_tradnl" sz="900" baseline="0" dirty="0" err="1">
                <a:latin typeface="+mn-lt"/>
                <a:ea typeface="ＭＳ Ｐゴシック" charset="-128"/>
              </a:rPr>
              <a:t>Pruritus</a:t>
            </a:r>
            <a:r>
              <a:rPr lang="es-ES_tradnl" sz="900" baseline="0" dirty="0">
                <a:latin typeface="+mn-lt"/>
                <a:ea typeface="ＭＳ Ｐゴシック" charset="-128"/>
              </a:rPr>
              <a:t> Score</a:t>
            </a: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endParaRPr lang="es-ES_tradnl" sz="900" baseline="0" dirty="0">
              <a:latin typeface="+mn-lt"/>
              <a:ea typeface="ＭＳ Ｐゴシック" charset="-128"/>
            </a:endParaRP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s-ES_tradnl" sz="900" baseline="0" dirty="0" err="1">
                <a:latin typeface="+mn-lt"/>
                <a:ea typeface="ＭＳ Ｐゴシック" charset="-128"/>
              </a:rPr>
              <a:t>Maximum</a:t>
            </a:r>
            <a:r>
              <a:rPr lang="es-ES_tradnl" sz="900" baseline="0" dirty="0">
                <a:latin typeface="+mn-lt"/>
                <a:ea typeface="ＭＳ Ｐゴシック" charset="-128"/>
              </a:rPr>
              <a:t> UAS7 </a:t>
            </a:r>
            <a:r>
              <a:rPr lang="es-ES_tradnl" sz="900" baseline="0" dirty="0" err="1">
                <a:latin typeface="+mn-lt"/>
                <a:ea typeface="ＭＳ Ｐゴシック" charset="-128"/>
              </a:rPr>
              <a:t>value</a:t>
            </a:r>
            <a:r>
              <a:rPr lang="es-ES_tradnl" sz="900" baseline="0" dirty="0">
                <a:latin typeface="+mn-lt"/>
                <a:ea typeface="ＭＳ Ｐゴシック" charset="-128"/>
              </a:rPr>
              <a:t>: 42= (3score 2items) 7days</a:t>
            </a: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s-ES_tradnl" sz="900" baseline="0" dirty="0" err="1">
                <a:latin typeface="+mn-lt"/>
                <a:ea typeface="ＭＳ Ｐゴシック" charset="-128"/>
              </a:rPr>
              <a:t>Maximum</a:t>
            </a:r>
            <a:r>
              <a:rPr lang="es-ES_tradnl" sz="900" baseline="0" dirty="0">
                <a:latin typeface="+mn-lt"/>
                <a:ea typeface="ＭＳ Ｐゴシック" charset="-128"/>
              </a:rPr>
              <a:t> MNW </a:t>
            </a:r>
            <a:r>
              <a:rPr lang="es-ES_tradnl" sz="900" baseline="0" dirty="0" err="1">
                <a:latin typeface="+mn-lt"/>
                <a:ea typeface="ＭＳ Ｐゴシック" charset="-128"/>
              </a:rPr>
              <a:t>value</a:t>
            </a:r>
            <a:r>
              <a:rPr lang="es-ES_tradnl" sz="900" baseline="0" dirty="0">
                <a:latin typeface="+mn-lt"/>
                <a:ea typeface="ＭＳ Ｐゴシック" charset="-128"/>
              </a:rPr>
              <a:t>: 21= (3score 1item) 7days</a:t>
            </a: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s-ES_tradnl" sz="900" baseline="0" dirty="0" err="1">
                <a:latin typeface="+mn-lt"/>
                <a:ea typeface="ＭＳ Ｐゴシック" charset="-128"/>
              </a:rPr>
              <a:t>Maximum</a:t>
            </a:r>
            <a:r>
              <a:rPr lang="es-ES_tradnl" sz="900" baseline="0" dirty="0">
                <a:latin typeface="+mn-lt"/>
                <a:ea typeface="ＭＳ Ｐゴシック" charset="-128"/>
              </a:rPr>
              <a:t> MPS </a:t>
            </a:r>
            <a:r>
              <a:rPr lang="es-ES_tradnl" sz="900" baseline="0" dirty="0" err="1">
                <a:latin typeface="+mn-lt"/>
                <a:ea typeface="ＭＳ Ｐゴシック" charset="-128"/>
              </a:rPr>
              <a:t>value</a:t>
            </a:r>
            <a:r>
              <a:rPr lang="es-ES_tradnl" sz="900" baseline="0" dirty="0">
                <a:latin typeface="+mn-lt"/>
                <a:ea typeface="ＭＳ Ｐゴシック" charset="-128"/>
              </a:rPr>
              <a:t>: 21= (3score 1item) 7days</a:t>
            </a: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s-ES_tradnl" sz="900" baseline="0" dirty="0" err="1">
                <a:latin typeface="+mn-lt"/>
                <a:ea typeface="ＭＳ Ｐゴシック" charset="-128"/>
              </a:rPr>
              <a:t>Maximum</a:t>
            </a:r>
            <a:r>
              <a:rPr lang="es-ES_tradnl" sz="900" baseline="0" dirty="0">
                <a:latin typeface="+mn-lt"/>
                <a:ea typeface="ＭＳ Ｐゴシック" charset="-128"/>
              </a:rPr>
              <a:t> CDLQI </a:t>
            </a:r>
            <a:r>
              <a:rPr lang="es-ES_tradnl" sz="900" baseline="0" dirty="0" err="1">
                <a:latin typeface="+mn-lt"/>
                <a:ea typeface="ＭＳ Ｐゴシック" charset="-128"/>
              </a:rPr>
              <a:t>value</a:t>
            </a:r>
            <a:r>
              <a:rPr lang="es-ES_tradnl" sz="900" baseline="0" dirty="0">
                <a:latin typeface="+mn-lt"/>
                <a:ea typeface="ＭＳ Ｐゴシック" charset="-128"/>
              </a:rPr>
              <a:t>: 30= 5score 6domains</a:t>
            </a: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endParaRPr lang="es-ES_tradnl" sz="900" baseline="0" dirty="0">
              <a:latin typeface="+mn-lt"/>
              <a:ea typeface="ＭＳ Ｐゴシック" charset="-128"/>
            </a:endParaRPr>
          </a:p>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endParaRPr lang="es-ES_tradnl" sz="900" dirty="0">
              <a:latin typeface="+mn-lt"/>
              <a:ea typeface="ＭＳ Ｐゴシック" charset="-128"/>
            </a:endParaRPr>
          </a:p>
        </p:txBody>
      </p:sp>
      <p:sp>
        <p:nvSpPr>
          <p:cNvPr id="91141"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25280631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35</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GB" sz="1200" kern="1200" dirty="0">
                <a:solidFill>
                  <a:srgbClr val="000000"/>
                </a:solidFill>
                <a:effectLst/>
                <a:latin typeface="Calibri" pitchFamily="34" charset="0"/>
                <a:ea typeface="ＭＳ Ｐゴシック" pitchFamily="34" charset="-128"/>
                <a:cs typeface="+mn-cs"/>
              </a:rPr>
              <a:t>A </a:t>
            </a:r>
            <a:r>
              <a:rPr lang="en-GB" sz="1200" kern="1200" dirty="0" err="1">
                <a:solidFill>
                  <a:srgbClr val="000000"/>
                </a:solidFill>
                <a:effectLst/>
                <a:latin typeface="Calibri" pitchFamily="34" charset="0"/>
                <a:ea typeface="ＭＳ Ｐゴシック" pitchFamily="34" charset="-128"/>
                <a:cs typeface="+mn-cs"/>
              </a:rPr>
              <a:t>subanalysis</a:t>
            </a:r>
            <a:r>
              <a:rPr lang="en-GB" sz="1200" kern="1200" dirty="0">
                <a:solidFill>
                  <a:srgbClr val="000000"/>
                </a:solidFill>
                <a:effectLst/>
                <a:latin typeface="Calibri" pitchFamily="34" charset="0"/>
                <a:ea typeface="ＭＳ Ｐゴシック" pitchFamily="34" charset="-128"/>
                <a:cs typeface="+mn-cs"/>
              </a:rPr>
              <a:t> of efficacy was performed based on the dose received,</a:t>
            </a:r>
            <a:r>
              <a:rPr lang="en-GB" sz="1200" kern="1200" baseline="0" dirty="0">
                <a:solidFill>
                  <a:srgbClr val="000000"/>
                </a:solidFill>
                <a:effectLst/>
                <a:latin typeface="Calibri" pitchFamily="34" charset="0"/>
                <a:ea typeface="ＭＳ Ｐゴシック" pitchFamily="34" charset="-128"/>
                <a:cs typeface="+mn-cs"/>
              </a:rPr>
              <a:t> it </a:t>
            </a:r>
            <a:r>
              <a:rPr lang="en-GB" sz="1200" kern="1200" dirty="0">
                <a:solidFill>
                  <a:srgbClr val="000000"/>
                </a:solidFill>
                <a:effectLst/>
                <a:latin typeface="Calibri" pitchFamily="34" charset="0"/>
                <a:ea typeface="ＭＳ Ｐゴシック" pitchFamily="34" charset="-128"/>
                <a:cs typeface="+mn-cs"/>
              </a:rPr>
              <a:t>grouped</a:t>
            </a:r>
            <a:r>
              <a:rPr lang="en-GB" sz="1200" kern="1200" baseline="0" dirty="0">
                <a:solidFill>
                  <a:srgbClr val="000000"/>
                </a:solidFill>
                <a:effectLst/>
                <a:latin typeface="Calibri" pitchFamily="34" charset="0"/>
                <a:ea typeface="ＭＳ Ｐゴシック" pitchFamily="34" charset="-128"/>
                <a:cs typeface="+mn-cs"/>
              </a:rPr>
              <a:t> the p</a:t>
            </a:r>
            <a:r>
              <a:rPr lang="en-GB" sz="1200" kern="1200" dirty="0">
                <a:solidFill>
                  <a:srgbClr val="000000"/>
                </a:solidFill>
                <a:effectLst/>
                <a:latin typeface="Calibri" pitchFamily="34" charset="0"/>
                <a:ea typeface="ＭＳ Ｐゴシック" pitchFamily="34" charset="-128"/>
                <a:cs typeface="+mn-cs"/>
              </a:rPr>
              <a:t>atients dosed with 2.5 mL separately</a:t>
            </a:r>
            <a:r>
              <a:rPr lang="en-GB" sz="1200" kern="1200" baseline="0" dirty="0">
                <a:solidFill>
                  <a:srgbClr val="000000"/>
                </a:solidFill>
                <a:effectLst/>
                <a:latin typeface="Calibri" pitchFamily="34" charset="0"/>
                <a:ea typeface="ＭＳ Ｐゴシック" pitchFamily="34" charset="-128"/>
                <a:cs typeface="+mn-cs"/>
              </a:rPr>
              <a:t> from those dosed</a:t>
            </a:r>
            <a:r>
              <a:rPr lang="en-GB" sz="1200" kern="1200" dirty="0">
                <a:solidFill>
                  <a:srgbClr val="000000"/>
                </a:solidFill>
                <a:effectLst/>
                <a:latin typeface="Calibri" pitchFamily="34" charset="0"/>
                <a:ea typeface="ＭＳ Ｐゴシック" pitchFamily="34" charset="-128"/>
                <a:cs typeface="+mn-cs"/>
              </a:rPr>
              <a:t> 5 </a:t>
            </a:r>
            <a:r>
              <a:rPr lang="en-GB" sz="1200" kern="1200" dirty="0" err="1">
                <a:solidFill>
                  <a:srgbClr val="000000"/>
                </a:solidFill>
                <a:effectLst/>
                <a:latin typeface="Calibri" pitchFamily="34" charset="0"/>
                <a:ea typeface="ＭＳ Ｐゴシック" pitchFamily="34" charset="-128"/>
                <a:cs typeface="+mn-cs"/>
              </a:rPr>
              <a:t>mL.</a:t>
            </a:r>
            <a:r>
              <a:rPr lang="en-GB" sz="1200" kern="1200" dirty="0">
                <a:solidFill>
                  <a:srgbClr val="000000"/>
                </a:solidFill>
                <a:effectLst/>
                <a:latin typeface="Calibri" pitchFamily="34" charset="0"/>
                <a:ea typeface="ＭＳ Ｐゴシック" pitchFamily="34" charset="-128"/>
                <a:cs typeface="+mn-cs"/>
              </a:rPr>
              <a:t> </a:t>
            </a:r>
            <a:endParaRPr lang="es-ES_tradnl" sz="900" dirty="0">
              <a:latin typeface="Arial" charset="0"/>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36644697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11"/>
          <p:cNvSpPr>
            <a:spLocks noGrp="1" noChangeArrowheads="1"/>
          </p:cNvSpPr>
          <p:nvPr>
            <p:ph type="sldNum" sz="quarter"/>
          </p:nvPr>
        </p:nvSpPr>
        <p:spPr>
          <a:noFill/>
        </p:spPr>
        <p:txBody>
          <a:bodyPr/>
          <a:lstStyle/>
          <a:p>
            <a:fld id="{94B45371-B9D6-4A73-8EA9-268FB47E6244}" type="slidenum">
              <a:rPr lang="es-ES_tradnl">
                <a:solidFill>
                  <a:srgbClr val="FFFFFF"/>
                </a:solidFill>
              </a:rPr>
              <a:pPr/>
              <a:t>36</a:t>
            </a:fld>
            <a:endParaRPr lang="es-ES_tradnl">
              <a:solidFill>
                <a:srgbClr val="FFFFFF"/>
              </a:solidFill>
            </a:endParaRPr>
          </a:p>
        </p:txBody>
      </p:sp>
      <p:sp>
        <p:nvSpPr>
          <p:cNvPr id="92163"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a:solidFill>
                <a:srgbClr val="FFFFFF"/>
              </a:solidFill>
              <a:ea typeface="ＭＳ Ｐゴシック" charset="-128"/>
            </a:endParaRPr>
          </a:p>
        </p:txBody>
      </p:sp>
      <p:sp>
        <p:nvSpPr>
          <p:cNvPr id="92164" name="Text Box 2"/>
          <p:cNvSpPr>
            <a:spLocks noGrp="1" noChangeArrowheads="1"/>
          </p:cNvSpPr>
          <p:nvPr>
            <p:ph type="body"/>
          </p:nvPr>
        </p:nvSpPr>
        <p:spPr>
          <a:xfrm>
            <a:off x="992587" y="3229793"/>
            <a:ext cx="7943053" cy="2996064"/>
          </a:xfrm>
          <a:noFill/>
          <a:ln/>
        </p:spPr>
        <p:txBody>
          <a:bodyPr lIns="0" tIns="0" rIns="0" bIns="0"/>
          <a:lstStyle/>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r>
              <a:rPr lang="en-US" sz="900" dirty="0" err="1">
                <a:latin typeface="+mn-lt"/>
                <a:ea typeface="ＭＳ Ｐゴシック" charset="-128"/>
              </a:rPr>
              <a:t>Rupatadine</a:t>
            </a:r>
            <a:r>
              <a:rPr lang="en-US" sz="900" dirty="0">
                <a:latin typeface="+mn-lt"/>
                <a:ea typeface="ＭＳ Ｐゴシック" charset="-128"/>
              </a:rPr>
              <a:t> was statistically better than placebo, in reducing the UAS7 from baseline over the 42-days treatment period in the ITT population. The mean greatest change was obtained with </a:t>
            </a:r>
            <a:r>
              <a:rPr lang="en-US" sz="900" dirty="0" err="1">
                <a:latin typeface="+mn-lt"/>
                <a:ea typeface="ＭＳ Ｐゴシック" charset="-128"/>
              </a:rPr>
              <a:t>rupatadine</a:t>
            </a:r>
            <a:r>
              <a:rPr lang="en-US" sz="900" dirty="0">
                <a:latin typeface="+mn-lt"/>
                <a:ea typeface="ＭＳ Ｐゴシック" charset="-128"/>
              </a:rPr>
              <a:t> for both absolute (-11.8, p&lt;0.001 vs placebo) and percentage change (-55.8%, p= 0.001 vs placebo), followed by </a:t>
            </a:r>
            <a:r>
              <a:rPr lang="en-US" sz="900" dirty="0" err="1">
                <a:latin typeface="+mn-lt"/>
                <a:ea typeface="ＭＳ Ｐゴシック" charset="-128"/>
              </a:rPr>
              <a:t>desloratadine</a:t>
            </a:r>
            <a:r>
              <a:rPr lang="en-US" sz="900" dirty="0">
                <a:latin typeface="+mn-lt"/>
                <a:ea typeface="ＭＳ Ｐゴシック" charset="-128"/>
              </a:rPr>
              <a:t> (-10.6, p= 0.001 vs placebo; -48.4%, p= 0.013 vs placebo) and placebo (-5.6; -30.3%).</a:t>
            </a:r>
            <a:endParaRPr lang="es-ES_tradnl" sz="900" dirty="0">
              <a:latin typeface="+mn-lt"/>
              <a:ea typeface="ＭＳ Ｐゴシック" charset="-128"/>
            </a:endParaRPr>
          </a:p>
        </p:txBody>
      </p:sp>
      <p:sp>
        <p:nvSpPr>
          <p:cNvPr id="92165"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38357862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306" name="Rectangle 11"/>
          <p:cNvSpPr>
            <a:spLocks noGrp="1" noChangeArrowheads="1"/>
          </p:cNvSpPr>
          <p:nvPr>
            <p:ph type="sldNum" sz="quarter"/>
          </p:nvPr>
        </p:nvSpPr>
        <p:spPr>
          <a:noFill/>
        </p:spPr>
        <p:txBody>
          <a:bodyPr/>
          <a:lstStyle/>
          <a:p>
            <a:fld id="{8408DB43-51FF-4EB4-A4BD-853FCC0696CA}" type="slidenum">
              <a:rPr lang="es-ES_tradnl">
                <a:solidFill>
                  <a:srgbClr val="FFFFFF"/>
                </a:solidFill>
              </a:rPr>
              <a:pPr/>
              <a:t>37</a:t>
            </a:fld>
            <a:endParaRPr lang="es-ES_tradnl">
              <a:solidFill>
                <a:srgbClr val="FFFFFF"/>
              </a:solidFill>
            </a:endParaRPr>
          </a:p>
        </p:txBody>
      </p:sp>
      <p:sp>
        <p:nvSpPr>
          <p:cNvPr id="98307"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a:solidFill>
                <a:srgbClr val="FFFFFF"/>
              </a:solidFill>
              <a:ea typeface="ＭＳ Ｐゴシック" charset="-128"/>
            </a:endParaRPr>
          </a:p>
        </p:txBody>
      </p:sp>
      <p:sp>
        <p:nvSpPr>
          <p:cNvPr id="98308" name="Text Box 2"/>
          <p:cNvSpPr>
            <a:spLocks noGrp="1" noChangeArrowheads="1"/>
          </p:cNvSpPr>
          <p:nvPr>
            <p:ph type="body"/>
          </p:nvPr>
        </p:nvSpPr>
        <p:spPr>
          <a:xfrm>
            <a:off x="992587" y="3229793"/>
            <a:ext cx="7943053" cy="2996064"/>
          </a:xfrm>
          <a:noFill/>
          <a:ln/>
        </p:spPr>
        <p:txBody>
          <a:bodyPr lIns="0" tIns="0" rIns="0" bIns="0"/>
          <a:lstStyle/>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n-US" sz="900" dirty="0">
                <a:latin typeface="Arial" pitchFamily="34" charset="0"/>
                <a:ea typeface="ＭＳ Ｐゴシック" charset="-128"/>
              </a:rPr>
              <a:t>In the 5mL dose the % of</a:t>
            </a:r>
            <a:r>
              <a:rPr lang="en-US" sz="900" baseline="0" dirty="0">
                <a:latin typeface="Arial" pitchFamily="34" charset="0"/>
                <a:ea typeface="ＭＳ Ｐゴシック" charset="-128"/>
              </a:rPr>
              <a:t> </a:t>
            </a:r>
            <a:r>
              <a:rPr lang="en-US" sz="900" dirty="0">
                <a:latin typeface="Arial" pitchFamily="34" charset="0"/>
                <a:ea typeface="ＭＳ Ｐゴシック" charset="-128"/>
              </a:rPr>
              <a:t>UAS7 change</a:t>
            </a:r>
            <a:r>
              <a:rPr lang="en-US" sz="900" baseline="0" dirty="0">
                <a:latin typeface="Arial" pitchFamily="34" charset="0"/>
                <a:ea typeface="ＭＳ Ｐゴシック" charset="-128"/>
              </a:rPr>
              <a:t> s</a:t>
            </a:r>
            <a:r>
              <a:rPr lang="en-US" sz="900" dirty="0">
                <a:latin typeface="Arial" pitchFamily="34" charset="0"/>
                <a:ea typeface="ＭＳ Ｐゴシック" charset="-128"/>
              </a:rPr>
              <a:t>howed statistically significant differences for</a:t>
            </a:r>
            <a:r>
              <a:rPr lang="en-US" sz="900" baseline="0" dirty="0">
                <a:latin typeface="Arial" pitchFamily="34" charset="0"/>
                <a:ea typeface="ＭＳ Ｐゴシック" charset="-128"/>
              </a:rPr>
              <a:t> </a:t>
            </a:r>
            <a:r>
              <a:rPr lang="en-US" sz="900" baseline="0" dirty="0" err="1">
                <a:latin typeface="Arial" pitchFamily="34" charset="0"/>
                <a:ea typeface="ＭＳ Ｐゴシック" charset="-128"/>
              </a:rPr>
              <a:t>rupatadine</a:t>
            </a:r>
            <a:r>
              <a:rPr lang="en-US" sz="900" baseline="0" dirty="0">
                <a:latin typeface="Arial" pitchFamily="34" charset="0"/>
                <a:ea typeface="ＭＳ Ｐゴシック" charset="-128"/>
              </a:rPr>
              <a:t> compared to placebo (p&lt;0.001), but not for </a:t>
            </a:r>
            <a:r>
              <a:rPr lang="en-US" sz="900" baseline="0" dirty="0" err="1">
                <a:latin typeface="Arial" pitchFamily="34" charset="0"/>
                <a:ea typeface="ＭＳ Ｐゴシック" charset="-128"/>
              </a:rPr>
              <a:t>desloratadine</a:t>
            </a:r>
            <a:r>
              <a:rPr lang="en-US" sz="900" baseline="0" dirty="0">
                <a:latin typeface="Arial" pitchFamily="34" charset="0"/>
                <a:ea typeface="ＭＳ Ｐゴシック" charset="-128"/>
              </a:rPr>
              <a:t> compared to placebo. </a:t>
            </a:r>
          </a:p>
          <a:p>
            <a:pPr marL="0" marR="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n-US" sz="900" dirty="0">
                <a:latin typeface="Arial" pitchFamily="34" charset="0"/>
                <a:ea typeface="ＭＳ Ｐゴシック" charset="-128"/>
              </a:rPr>
              <a:t>Although in the 2.5mL statistical significant were not detected, </a:t>
            </a:r>
            <a:r>
              <a:rPr lang="en-US" sz="900" dirty="0" err="1">
                <a:latin typeface="Arial" pitchFamily="34" charset="0"/>
                <a:ea typeface="ＭＳ Ｐゴシック" charset="-128"/>
              </a:rPr>
              <a:t>rupatadine</a:t>
            </a:r>
            <a:r>
              <a:rPr lang="en-US" sz="900" dirty="0">
                <a:latin typeface="Arial" pitchFamily="34" charset="0"/>
                <a:ea typeface="ＭＳ Ｐゴシック" charset="-128"/>
              </a:rPr>
              <a:t> and </a:t>
            </a:r>
            <a:r>
              <a:rPr lang="en-US" sz="900" dirty="0" err="1">
                <a:latin typeface="Arial" pitchFamily="34" charset="0"/>
                <a:ea typeface="ＭＳ Ｐゴシック" charset="-128"/>
              </a:rPr>
              <a:t>desloratadine</a:t>
            </a:r>
            <a:r>
              <a:rPr lang="en-US" sz="900" dirty="0">
                <a:latin typeface="Arial" pitchFamily="34" charset="0"/>
                <a:ea typeface="ＭＳ Ｐゴシック" charset="-128"/>
              </a:rPr>
              <a:t> effects showed a trend of superiority in comparison with placebo.</a:t>
            </a:r>
            <a:endParaRPr lang="es-ES_tradnl" sz="900" dirty="0">
              <a:latin typeface="Arial" pitchFamily="34" charset="0"/>
              <a:ea typeface="ＭＳ Ｐゴシック" charset="-128"/>
            </a:endParaRPr>
          </a:p>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endParaRPr lang="es-ES_tradnl" sz="900" dirty="0">
              <a:latin typeface="Arial" pitchFamily="34" charset="0"/>
              <a:ea typeface="ＭＳ Ｐゴシック" charset="-128"/>
            </a:endParaRPr>
          </a:p>
        </p:txBody>
      </p:sp>
      <p:sp>
        <p:nvSpPr>
          <p:cNvPr id="98309"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333081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11"/>
          <p:cNvSpPr>
            <a:spLocks noGrp="1" noChangeArrowheads="1"/>
          </p:cNvSpPr>
          <p:nvPr>
            <p:ph type="sldNum" sz="quarter"/>
          </p:nvPr>
        </p:nvSpPr>
        <p:spPr>
          <a:noFill/>
        </p:spPr>
        <p:txBody>
          <a:bodyPr/>
          <a:lstStyle/>
          <a:p>
            <a:fld id="{8FC76BAF-5BF5-457F-9A1B-3FAC745F7EF0}" type="slidenum">
              <a:rPr lang="es-ES_tradnl">
                <a:solidFill>
                  <a:srgbClr val="FFFFFF"/>
                </a:solidFill>
              </a:rPr>
              <a:pPr/>
              <a:t>38</a:t>
            </a:fld>
            <a:endParaRPr lang="es-ES_tradnl">
              <a:solidFill>
                <a:srgbClr val="FFFFFF"/>
              </a:solidFill>
            </a:endParaRPr>
          </a:p>
        </p:txBody>
      </p:sp>
      <p:sp>
        <p:nvSpPr>
          <p:cNvPr id="93187"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a:solidFill>
                <a:srgbClr val="FFFFFF"/>
              </a:solidFill>
              <a:ea typeface="ＭＳ Ｐゴシック" charset="-128"/>
            </a:endParaRPr>
          </a:p>
        </p:txBody>
      </p:sp>
      <p:sp>
        <p:nvSpPr>
          <p:cNvPr id="93188" name="Text Box 2"/>
          <p:cNvSpPr>
            <a:spLocks noGrp="1" noChangeArrowheads="1"/>
          </p:cNvSpPr>
          <p:nvPr>
            <p:ph type="body"/>
          </p:nvPr>
        </p:nvSpPr>
        <p:spPr>
          <a:xfrm>
            <a:off x="992587" y="3229793"/>
            <a:ext cx="7943053" cy="2996064"/>
          </a:xfrm>
          <a:noFill/>
          <a:ln/>
        </p:spPr>
        <p:txBody>
          <a:bodyPr lIns="0" tIns="0" rIns="0" bIns="0"/>
          <a:lstStyle/>
          <a:p>
            <a:pPr marL="0" marR="0" lvl="0" indent="0" algn="l" defTabSz="449263" rtl="0" eaLnBrk="1" fontAlgn="base" latinLnBrk="0" hangingPunct="1">
              <a:lnSpc>
                <a:spcPct val="100000"/>
              </a:lnSpc>
              <a:spcBef>
                <a:spcPts val="428"/>
              </a:spcBef>
              <a:spcAft>
                <a:spcPct val="0"/>
              </a:spcAft>
              <a:buClr>
                <a:srgbClr val="000000"/>
              </a:buClr>
              <a:buSzPct val="100000"/>
              <a:buFont typeface="Calibri" pitchFamily="34" charset="0"/>
              <a:buNone/>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defRPr/>
            </a:pPr>
            <a:r>
              <a:rPr lang="en-GB" sz="900" kern="1200" dirty="0" err="1">
                <a:solidFill>
                  <a:srgbClr val="000000"/>
                </a:solidFill>
                <a:effectLst/>
                <a:latin typeface="+mn-lt"/>
                <a:ea typeface="ＭＳ Ｐゴシック" pitchFamily="34" charset="-128"/>
                <a:cs typeface="+mn-cs"/>
              </a:rPr>
              <a:t>Rupatadine</a:t>
            </a:r>
            <a:r>
              <a:rPr lang="en-GB" sz="900" kern="1200" dirty="0">
                <a:solidFill>
                  <a:srgbClr val="000000"/>
                </a:solidFill>
                <a:effectLst/>
                <a:latin typeface="+mn-lt"/>
                <a:ea typeface="ＭＳ Ｐゴシック" pitchFamily="34" charset="-128"/>
                <a:cs typeface="+mn-cs"/>
              </a:rPr>
              <a:t> was statistically better than placebo</a:t>
            </a:r>
            <a:r>
              <a:rPr lang="en-GB" sz="900" kern="1200" baseline="0" dirty="0">
                <a:solidFill>
                  <a:srgbClr val="000000"/>
                </a:solidFill>
                <a:effectLst/>
                <a:latin typeface="+mn-lt"/>
                <a:ea typeface="ＭＳ Ｐゴシック" pitchFamily="34" charset="-128"/>
                <a:cs typeface="+mn-cs"/>
              </a:rPr>
              <a:t> </a:t>
            </a:r>
            <a:r>
              <a:rPr lang="en-GB" sz="900" kern="1200" dirty="0">
                <a:solidFill>
                  <a:srgbClr val="000000"/>
                </a:solidFill>
                <a:effectLst/>
                <a:latin typeface="+mn-lt"/>
                <a:ea typeface="ＭＳ Ｐゴシック" pitchFamily="34" charset="-128"/>
                <a:cs typeface="+mn-cs"/>
              </a:rPr>
              <a:t>in reducing the MNW score from baseline over the 42-days treatment period in the ITT population. The mean greatest change was obtained with </a:t>
            </a:r>
            <a:r>
              <a:rPr lang="en-GB" sz="900" kern="1200" dirty="0" err="1">
                <a:solidFill>
                  <a:srgbClr val="000000"/>
                </a:solidFill>
                <a:effectLst/>
                <a:latin typeface="+mn-lt"/>
                <a:ea typeface="ＭＳ Ｐゴシック" pitchFamily="34" charset="-128"/>
                <a:cs typeface="+mn-cs"/>
              </a:rPr>
              <a:t>rupatadine</a:t>
            </a:r>
            <a:r>
              <a:rPr lang="en-GB" sz="900" kern="1200" dirty="0">
                <a:solidFill>
                  <a:srgbClr val="000000"/>
                </a:solidFill>
                <a:effectLst/>
                <a:latin typeface="+mn-lt"/>
                <a:ea typeface="ＭＳ Ｐゴシック" pitchFamily="34" charset="-128"/>
                <a:cs typeface="+mn-cs"/>
              </a:rPr>
              <a:t> for both absolute (-5.8 p&lt;0.001 vs placebo) and percentage change (-56.7% p&lt; 0.001 vs placebo), followed by </a:t>
            </a:r>
            <a:r>
              <a:rPr lang="en-GB" sz="900" kern="1200" dirty="0" err="1">
                <a:solidFill>
                  <a:srgbClr val="000000"/>
                </a:solidFill>
                <a:effectLst/>
                <a:latin typeface="+mn-lt"/>
                <a:ea typeface="ＭＳ Ｐゴシック" pitchFamily="34" charset="-128"/>
                <a:cs typeface="+mn-cs"/>
              </a:rPr>
              <a:t>desloratadine</a:t>
            </a:r>
            <a:r>
              <a:rPr lang="en-GB" sz="900" kern="1200" dirty="0">
                <a:solidFill>
                  <a:srgbClr val="000000"/>
                </a:solidFill>
                <a:effectLst/>
                <a:latin typeface="+mn-lt"/>
                <a:ea typeface="ＭＳ Ｐゴシック" pitchFamily="34" charset="-128"/>
                <a:cs typeface="+mn-cs"/>
              </a:rPr>
              <a:t> (-5.15, p= 0.001 vs placebo; -49.4% p= 0.003 vs placebo) and placebo (-2.3; -22.7%).</a:t>
            </a:r>
            <a:endParaRPr lang="es-ES" sz="900" kern="1200" dirty="0">
              <a:solidFill>
                <a:srgbClr val="000000"/>
              </a:solidFill>
              <a:effectLst/>
              <a:latin typeface="+mn-lt"/>
              <a:ea typeface="ＭＳ Ｐゴシック" pitchFamily="34" charset="-128"/>
              <a:cs typeface="+mn-cs"/>
            </a:endParaRPr>
          </a:p>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endParaRPr lang="es-ES_tradnl" sz="900" dirty="0">
              <a:latin typeface="+mn-lt"/>
              <a:ea typeface="ＭＳ Ｐゴシック" charset="-128"/>
            </a:endParaRPr>
          </a:p>
        </p:txBody>
      </p:sp>
      <p:sp>
        <p:nvSpPr>
          <p:cNvPr id="93189"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72267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11"/>
          <p:cNvSpPr>
            <a:spLocks noGrp="1" noChangeArrowheads="1"/>
          </p:cNvSpPr>
          <p:nvPr>
            <p:ph type="sldNum" sz="quarter"/>
          </p:nvPr>
        </p:nvSpPr>
        <p:spPr>
          <a:noFill/>
        </p:spPr>
        <p:txBody>
          <a:bodyPr/>
          <a:lstStyle/>
          <a:p>
            <a:fld id="{155870A9-7C1D-4568-B30F-F66132D249CC}" type="slidenum">
              <a:rPr lang="es-ES_tradnl">
                <a:solidFill>
                  <a:srgbClr val="FFFFFF"/>
                </a:solidFill>
              </a:rPr>
              <a:pPr/>
              <a:t>39</a:t>
            </a:fld>
            <a:endParaRPr lang="es-ES_tradnl">
              <a:solidFill>
                <a:srgbClr val="FFFFFF"/>
              </a:solidFill>
            </a:endParaRPr>
          </a:p>
        </p:txBody>
      </p:sp>
      <p:sp>
        <p:nvSpPr>
          <p:cNvPr id="94211" name="Text Box 1"/>
          <p:cNvSpPr txBox="1">
            <a:spLocks noChangeArrowheads="1"/>
          </p:cNvSpPr>
          <p:nvPr/>
        </p:nvSpPr>
        <p:spPr bwMode="auto">
          <a:xfrm>
            <a:off x="1337629" y="509853"/>
            <a:ext cx="7252969" cy="2548177"/>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167" eaLnBrk="1" hangingPunct="1">
              <a:spcBef>
                <a:spcPts val="542"/>
              </a:spcBef>
              <a:buClr>
                <a:srgbClr val="000000"/>
              </a:buClr>
              <a:buSzPct val="100000"/>
            </a:pPr>
            <a:endParaRPr lang="es-ES_tradnl" sz="2600" u="sng">
              <a:solidFill>
                <a:srgbClr val="FFFFFF"/>
              </a:solidFill>
              <a:ea typeface="ＭＳ Ｐゴシック" charset="-128"/>
            </a:endParaRPr>
          </a:p>
        </p:txBody>
      </p:sp>
      <p:sp>
        <p:nvSpPr>
          <p:cNvPr id="94212" name="Text Box 2"/>
          <p:cNvSpPr>
            <a:spLocks noGrp="1" noChangeArrowheads="1"/>
          </p:cNvSpPr>
          <p:nvPr>
            <p:ph type="body"/>
          </p:nvPr>
        </p:nvSpPr>
        <p:spPr>
          <a:xfrm>
            <a:off x="992587" y="3229793"/>
            <a:ext cx="7943053" cy="2996064"/>
          </a:xfrm>
          <a:noFill/>
          <a:ln/>
        </p:spPr>
        <p:txBody>
          <a:bodyPr lIns="0" tIns="0" rIns="0" bIns="0"/>
          <a:lstStyle/>
          <a:p>
            <a:pPr eaLnBrk="1" hangingPunct="1">
              <a:spcBef>
                <a:spcPts val="428"/>
              </a:spcBef>
              <a:tabLst>
                <a:tab pos="0" algn="l"/>
                <a:tab pos="430369" algn="l"/>
                <a:tab pos="863937" algn="l"/>
                <a:tab pos="1297505" algn="l"/>
                <a:tab pos="1731073" algn="l"/>
                <a:tab pos="2164642" algn="l"/>
                <a:tab pos="2598209" algn="l"/>
                <a:tab pos="3031778" algn="l"/>
                <a:tab pos="3465345" algn="l"/>
                <a:tab pos="3898914" algn="l"/>
                <a:tab pos="4332482" algn="l"/>
                <a:tab pos="4766050" algn="l"/>
                <a:tab pos="5199618" algn="l"/>
                <a:tab pos="5633187" algn="l"/>
                <a:tab pos="6066754" algn="l"/>
                <a:tab pos="6500323" algn="l"/>
                <a:tab pos="6933891" algn="l"/>
                <a:tab pos="7367459" algn="l"/>
                <a:tab pos="7801027" algn="l"/>
                <a:tab pos="8232995" algn="l"/>
                <a:tab pos="8666564" algn="l"/>
              </a:tabLst>
            </a:pPr>
            <a:r>
              <a:rPr lang="en-US" sz="900" dirty="0" err="1">
                <a:latin typeface="Arial" pitchFamily="34" charset="0"/>
                <a:ea typeface="ＭＳ Ｐゴシック" charset="-128"/>
              </a:rPr>
              <a:t>Rupatadine</a:t>
            </a:r>
            <a:r>
              <a:rPr lang="en-US" sz="900" dirty="0">
                <a:latin typeface="Arial" pitchFamily="34" charset="0"/>
                <a:ea typeface="ＭＳ Ｐゴシック" charset="-128"/>
              </a:rPr>
              <a:t> was statistically better than placebo in reducing the MPS score from baseline over the 42-days treatment period in the ITT population. </a:t>
            </a:r>
            <a:r>
              <a:rPr lang="en-US" sz="900" dirty="0" err="1">
                <a:latin typeface="Arial" pitchFamily="34" charset="0"/>
                <a:ea typeface="ＭＳ Ｐゴシック" charset="-128"/>
              </a:rPr>
              <a:t>Desloratadine</a:t>
            </a:r>
            <a:r>
              <a:rPr lang="en-US" sz="900" dirty="0">
                <a:latin typeface="Arial" pitchFamily="34" charset="0"/>
                <a:ea typeface="ＭＳ Ｐゴシック" charset="-128"/>
              </a:rPr>
              <a:t> was statistically better than placebo for absolute change, but not for percentage change calculation. The mean greatest change was obtained with </a:t>
            </a:r>
            <a:r>
              <a:rPr lang="en-US" sz="900" dirty="0" err="1">
                <a:latin typeface="Arial" pitchFamily="34" charset="0"/>
                <a:ea typeface="ＭＳ Ｐゴシック" charset="-128"/>
              </a:rPr>
              <a:t>rupatadine</a:t>
            </a:r>
            <a:r>
              <a:rPr lang="en-US" sz="900" dirty="0">
                <a:latin typeface="Arial" pitchFamily="34" charset="0"/>
                <a:ea typeface="ＭＳ Ｐゴシック" charset="-128"/>
              </a:rPr>
              <a:t> for both absolute (-5.9 p= 0.001 vs placebo) and percentage change (-56.8%,p= 0.005 vs placebo), followed by </a:t>
            </a:r>
            <a:r>
              <a:rPr lang="en-US" sz="900" dirty="0" err="1">
                <a:latin typeface="Arial" pitchFamily="34" charset="0"/>
                <a:ea typeface="ＭＳ Ｐゴシック" charset="-128"/>
              </a:rPr>
              <a:t>desloratadine</a:t>
            </a:r>
            <a:r>
              <a:rPr lang="en-US" sz="900" dirty="0">
                <a:latin typeface="Arial" pitchFamily="34" charset="0"/>
                <a:ea typeface="ＭＳ Ｐゴシック" charset="-128"/>
              </a:rPr>
              <a:t> (-5.40, p= 0.008 vs placebo; -46.7% not significant vs placebo) and placebo (-3.3; -33.4%).</a:t>
            </a:r>
            <a:endParaRPr lang="es-ES_tradnl" sz="900" dirty="0">
              <a:latin typeface="Arial" pitchFamily="34" charset="0"/>
              <a:ea typeface="ＭＳ Ｐゴシック" charset="-128"/>
            </a:endParaRPr>
          </a:p>
        </p:txBody>
      </p:sp>
      <p:sp>
        <p:nvSpPr>
          <p:cNvPr id="9421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25163261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40</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dirty="0">
                <a:latin typeface="+mn-lt"/>
              </a:rPr>
              <a:t>Regarding the symptoms’ progression,</a:t>
            </a:r>
            <a:r>
              <a:rPr lang="en-US" sz="900" baseline="0" dirty="0">
                <a:latin typeface="+mn-lt"/>
              </a:rPr>
              <a:t> </a:t>
            </a:r>
            <a:r>
              <a:rPr lang="en-US" sz="900" dirty="0">
                <a:latin typeface="+mn-lt"/>
              </a:rPr>
              <a:t>UAS7</a:t>
            </a:r>
            <a:r>
              <a:rPr lang="en-US" sz="900" baseline="0" dirty="0">
                <a:latin typeface="+mn-lt"/>
              </a:rPr>
              <a:t>  </a:t>
            </a:r>
            <a:r>
              <a:rPr lang="en-US" sz="900" dirty="0">
                <a:latin typeface="+mn-lt"/>
              </a:rPr>
              <a:t>weekly scores showed statistically significant differences by treatment, from the first week (week 1) after starting treatment administration until the end of the treatment period (week 6), being </a:t>
            </a:r>
            <a:r>
              <a:rPr lang="en-US" sz="900" dirty="0" err="1">
                <a:latin typeface="+mn-lt"/>
              </a:rPr>
              <a:t>rupatadine</a:t>
            </a:r>
            <a:r>
              <a:rPr lang="en-US" sz="900" dirty="0">
                <a:latin typeface="+mn-lt"/>
              </a:rPr>
              <a:t> and </a:t>
            </a:r>
            <a:r>
              <a:rPr lang="en-US" sz="900" dirty="0" err="1">
                <a:latin typeface="+mn-lt"/>
              </a:rPr>
              <a:t>desloratadine</a:t>
            </a:r>
            <a:r>
              <a:rPr lang="en-US" sz="900" dirty="0">
                <a:latin typeface="+mn-lt"/>
              </a:rPr>
              <a:t> scores always lower than placebo. Onset of action was achieved one week after treatment was started. </a:t>
            </a:r>
            <a:endParaRPr lang="es-ES_tradnl" sz="900" dirty="0">
              <a:latin typeface="+mn-lt"/>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92961248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5890" name="Rectangle 11"/>
          <p:cNvSpPr>
            <a:spLocks noGrp="1" noChangeArrowheads="1"/>
          </p:cNvSpPr>
          <p:nvPr>
            <p:ph type="sldNum" sz="quarter"/>
          </p:nvPr>
        </p:nvSpPr>
        <p:spPr>
          <a:noFill/>
          <a:ln>
            <a:round/>
            <a:headEnd/>
            <a:tailEnd/>
          </a:ln>
        </p:spPr>
        <p:txBody>
          <a:bodyPr/>
          <a:lstStyle/>
          <a:p>
            <a:fld id="{B5D12FAD-9678-4D01-9ADB-D6D7861D20A4}" type="slidenum">
              <a:rPr lang="es-ES_tradnl">
                <a:solidFill>
                  <a:prstClr val="white"/>
                </a:solidFill>
              </a:rPr>
              <a:pPr/>
              <a:t>41</a:t>
            </a:fld>
            <a:endParaRPr lang="es-ES_tradnl">
              <a:solidFill>
                <a:prstClr val="white"/>
              </a:solidFill>
            </a:endParaRPr>
          </a:p>
        </p:txBody>
      </p:sp>
      <p:sp>
        <p:nvSpPr>
          <p:cNvPr id="165891" name="Text Box 1"/>
          <p:cNvSpPr txBox="1">
            <a:spLocks noChangeArrowheads="1"/>
          </p:cNvSpPr>
          <p:nvPr/>
        </p:nvSpPr>
        <p:spPr bwMode="auto">
          <a:xfrm>
            <a:off x="1338714" y="510327"/>
            <a:ext cx="7250802" cy="2547415"/>
          </a:xfrm>
          <a:prstGeom prst="rect">
            <a:avLst/>
          </a:prstGeom>
          <a:solidFill>
            <a:srgbClr val="FFFFFF"/>
          </a:solidFill>
          <a:ln w="9360">
            <a:solidFill>
              <a:srgbClr val="000000"/>
            </a:solidFill>
            <a:miter lim="800000"/>
            <a:headEnd/>
            <a:tailEnd/>
          </a:ln>
        </p:spPr>
        <p:txBody>
          <a:bodyPr wrap="none" lIns="92142" tIns="46071" rIns="92142" bIns="46071" anchor="ctr"/>
          <a:lstStyle/>
          <a:p>
            <a:pPr algn="ctr" defTabSz="451860" eaLnBrk="1" hangingPunct="1">
              <a:spcBef>
                <a:spcPts val="543"/>
              </a:spcBef>
              <a:buClr>
                <a:srgbClr val="000000"/>
              </a:buClr>
              <a:buSzPct val="100000"/>
            </a:pPr>
            <a:endParaRPr lang="es-ES_tradnl" sz="2600" u="sng">
              <a:solidFill>
                <a:prstClr val="white"/>
              </a:solidFill>
              <a:ea typeface="ＭＳ Ｐゴシック" charset="-128"/>
            </a:endParaRPr>
          </a:p>
        </p:txBody>
      </p:sp>
      <p:sp>
        <p:nvSpPr>
          <p:cNvPr id="165892" name="Text Box 2"/>
          <p:cNvSpPr>
            <a:spLocks noGrp="1" noChangeArrowheads="1"/>
          </p:cNvSpPr>
          <p:nvPr>
            <p:ph type="body"/>
          </p:nvPr>
        </p:nvSpPr>
        <p:spPr>
          <a:xfrm>
            <a:off x="992381" y="3229608"/>
            <a:ext cx="7943468" cy="2996587"/>
          </a:xfrm>
          <a:noFill/>
        </p:spPr>
        <p:txBody>
          <a:bodyPr lIns="0" tIns="0" rIns="0" bIns="0"/>
          <a:lstStyle/>
          <a:p>
            <a:pPr lvl="0"/>
            <a:r>
              <a:rPr lang="en-GB" sz="900" kern="1200" dirty="0">
                <a:solidFill>
                  <a:srgbClr val="000000"/>
                </a:solidFill>
                <a:effectLst/>
                <a:latin typeface="+mn-lt"/>
                <a:ea typeface="ＭＳ Ｐゴシック" pitchFamily="34" charset="-128"/>
                <a:cs typeface="+mn-cs"/>
              </a:rPr>
              <a:t>Quality of Life (</a:t>
            </a:r>
            <a:r>
              <a:rPr lang="en-GB" sz="900" kern="1200" dirty="0" err="1">
                <a:solidFill>
                  <a:srgbClr val="000000"/>
                </a:solidFill>
                <a:effectLst/>
                <a:latin typeface="+mn-lt"/>
                <a:ea typeface="ＭＳ Ｐゴシック" pitchFamily="34" charset="-128"/>
                <a:cs typeface="+mn-cs"/>
              </a:rPr>
              <a:t>QoL</a:t>
            </a:r>
            <a:r>
              <a:rPr lang="en-GB" sz="900" kern="1200" dirty="0">
                <a:solidFill>
                  <a:srgbClr val="000000"/>
                </a:solidFill>
                <a:effectLst/>
                <a:latin typeface="+mn-lt"/>
                <a:ea typeface="ＭＳ Ｐゴシック" pitchFamily="34" charset="-128"/>
                <a:cs typeface="+mn-cs"/>
              </a:rPr>
              <a:t>) was evaluated using the validated Children Dermatology Life Quality Index (CDLQI) for children </a:t>
            </a:r>
            <a:r>
              <a:rPr lang="en-GB" sz="900" b="1" kern="1200" dirty="0">
                <a:solidFill>
                  <a:srgbClr val="000000"/>
                </a:solidFill>
                <a:effectLst/>
                <a:latin typeface="+mn-lt"/>
                <a:ea typeface="ＭＳ Ｐゴシック" pitchFamily="34" charset="-128"/>
                <a:cs typeface="+mn-cs"/>
              </a:rPr>
              <a:t>aged ≥ 4 years </a:t>
            </a:r>
            <a:r>
              <a:rPr lang="en-GB" sz="900" kern="1200" dirty="0">
                <a:solidFill>
                  <a:srgbClr val="000000"/>
                </a:solidFill>
                <a:effectLst/>
                <a:latin typeface="+mn-lt"/>
                <a:ea typeface="ＭＳ Ｐゴシック" pitchFamily="34" charset="-128"/>
                <a:cs typeface="+mn-cs"/>
              </a:rPr>
              <a:t>old. The questionnaire was completed both at baseline and the end of treatment (Visit 2), the change in overall score from baseline to Visit 2 was evaluated. The following six domains were evaluated by the children in this </a:t>
            </a:r>
            <a:r>
              <a:rPr lang="en-GB" sz="900" kern="1200" dirty="0" err="1">
                <a:solidFill>
                  <a:srgbClr val="000000"/>
                </a:solidFill>
                <a:effectLst/>
                <a:latin typeface="+mn-lt"/>
                <a:ea typeface="ＭＳ Ｐゴシック" pitchFamily="34" charset="-128"/>
                <a:cs typeface="+mn-cs"/>
              </a:rPr>
              <a:t>QoL</a:t>
            </a:r>
            <a:r>
              <a:rPr lang="en-GB" sz="900" kern="1200" dirty="0">
                <a:solidFill>
                  <a:srgbClr val="000000"/>
                </a:solidFill>
                <a:effectLst/>
                <a:latin typeface="+mn-lt"/>
                <a:ea typeface="ＭＳ Ｐゴシック" pitchFamily="34" charset="-128"/>
                <a:cs typeface="+mn-cs"/>
              </a:rPr>
              <a:t> questionnaire: symptoms/feelings, daily activities, school/holiday activities, personal relations, sleep and treatment. The final score at Visit 2 of these six domains was also compared among treatment groups.</a:t>
            </a:r>
            <a:endParaRPr lang="es-ES" sz="900" kern="1200" dirty="0">
              <a:solidFill>
                <a:srgbClr val="000000"/>
              </a:solidFill>
              <a:effectLst/>
              <a:latin typeface="+mn-lt"/>
              <a:ea typeface="ＭＳ Ｐゴシック" pitchFamily="34" charset="-128"/>
              <a:cs typeface="+mn-cs"/>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endParaRPr lang="en-US" sz="900" dirty="0">
              <a:latin typeface="+mn-lt"/>
            </a:endParaRPr>
          </a:p>
          <a:p>
            <a:pPr eaLnBrk="1" hangingPunct="1">
              <a:spcBef>
                <a:spcPts val="434"/>
              </a:spcBef>
              <a:tabLst>
                <a:tab pos="0" algn="l"/>
                <a:tab pos="431947" algn="l"/>
                <a:tab pos="865426" algn="l"/>
                <a:tab pos="1298905" algn="l"/>
                <a:tab pos="1732384" algn="l"/>
                <a:tab pos="2165863" algn="l"/>
                <a:tab pos="2599342" algn="l"/>
                <a:tab pos="3032821" algn="l"/>
                <a:tab pos="3466300" algn="l"/>
                <a:tab pos="3899778" algn="l"/>
                <a:tab pos="4333258" algn="l"/>
                <a:tab pos="4766736" algn="l"/>
                <a:tab pos="5200216" algn="l"/>
                <a:tab pos="5633694" algn="l"/>
                <a:tab pos="6067173" algn="l"/>
                <a:tab pos="6500652" algn="l"/>
                <a:tab pos="6934131" algn="l"/>
                <a:tab pos="7367610" algn="l"/>
                <a:tab pos="7801089" algn="l"/>
                <a:tab pos="8234568" algn="l"/>
                <a:tab pos="8668046" algn="l"/>
              </a:tabLst>
            </a:pPr>
            <a:r>
              <a:rPr lang="en-US" sz="900" dirty="0">
                <a:latin typeface="+mn-lt"/>
              </a:rPr>
              <a:t>Statistical significant differences were found in the change of overall CDLQI score among treatment groups (p= 0.006 in absolute change; p= 0.001 in percentage change). </a:t>
            </a:r>
            <a:r>
              <a:rPr lang="en-US" sz="900" dirty="0" err="1">
                <a:latin typeface="+mn-lt"/>
              </a:rPr>
              <a:t>Rupatadine</a:t>
            </a:r>
            <a:r>
              <a:rPr lang="en-US" sz="900" dirty="0">
                <a:latin typeface="+mn-lt"/>
              </a:rPr>
              <a:t> and </a:t>
            </a:r>
            <a:r>
              <a:rPr lang="en-US" sz="900" dirty="0" err="1">
                <a:latin typeface="+mn-lt"/>
              </a:rPr>
              <a:t>desloratadine</a:t>
            </a:r>
            <a:r>
              <a:rPr lang="en-US" sz="900" dirty="0">
                <a:latin typeface="+mn-lt"/>
              </a:rPr>
              <a:t> changes in CDLQI scores were higher than for placebo. When absolute changes of the six domains comprised in the CDLQI questionnaire were individually </a:t>
            </a:r>
            <a:r>
              <a:rPr lang="en-US" sz="900" dirty="0" err="1">
                <a:latin typeface="+mn-lt"/>
              </a:rPr>
              <a:t>analysed</a:t>
            </a:r>
            <a:r>
              <a:rPr lang="en-US" sz="900" dirty="0">
                <a:latin typeface="+mn-lt"/>
              </a:rPr>
              <a:t>, statistical differences were only found in “school/holidays activities” and “daily activities” domains. However, a trend of superiority of </a:t>
            </a:r>
            <a:r>
              <a:rPr lang="en-US" sz="900" dirty="0" err="1">
                <a:latin typeface="+mn-lt"/>
              </a:rPr>
              <a:t>rupatadine</a:t>
            </a:r>
            <a:r>
              <a:rPr lang="en-US" sz="900" dirty="0">
                <a:latin typeface="+mn-lt"/>
              </a:rPr>
              <a:t> over placebo was seen in all domains.</a:t>
            </a:r>
            <a:endParaRPr lang="es-ES_tradnl" sz="900" dirty="0">
              <a:latin typeface="+mn-lt"/>
            </a:endParaRPr>
          </a:p>
        </p:txBody>
      </p:sp>
      <p:sp>
        <p:nvSpPr>
          <p:cNvPr id="165893" name="Rectangle 5"/>
          <p:cNvSpPr>
            <a:spLocks noGrp="1" noRot="1" noChangeAspect="1" noChangeArrowheads="1" noTextEdit="1"/>
          </p:cNvSpPr>
          <p:nvPr>
            <p:ph type="sldImg"/>
          </p:nvPr>
        </p:nvSpPr>
        <p:spPr>
          <a:ln/>
        </p:spPr>
      </p:sp>
    </p:spTree>
    <p:extLst>
      <p:ext uri="{BB962C8B-B14F-4D97-AF65-F5344CB8AC3E}">
        <p14:creationId xmlns:p14="http://schemas.microsoft.com/office/powerpoint/2010/main" val="7249191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2093900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36786988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
          <p:cNvSpPr>
            <a:spLocks noGrp="1" noChangeArrowheads="1"/>
          </p:cNvSpPr>
          <p:nvPr>
            <p:ph type="sldNum" sz="quarter"/>
          </p:nvPr>
        </p:nvSpPr>
        <p:spPr>
          <a:noFill/>
        </p:spPr>
        <p:txBody>
          <a:bodyPr/>
          <a:lstStyle/>
          <a:p>
            <a:fld id="{64A0C3B8-C67A-4406-BA55-D4E9563D5CA9}" type="slidenum">
              <a:rPr lang="es-ES_tradnl" altLang="es-ES" smtClean="0"/>
              <a:pPr/>
              <a:t>44</a:t>
            </a:fld>
            <a:endParaRPr lang="es-ES_tradnl" altLang="es-ES" dirty="0"/>
          </a:p>
        </p:txBody>
      </p:sp>
      <p:sp>
        <p:nvSpPr>
          <p:cNvPr id="56323" name="Rectangle 2"/>
          <p:cNvSpPr>
            <a:spLocks noGrp="1" noRot="1" noChangeAspect="1" noChangeArrowheads="1" noTextEdit="1"/>
          </p:cNvSpPr>
          <p:nvPr>
            <p:ph type="sldImg"/>
          </p:nvPr>
        </p:nvSpPr>
        <p:spPr>
          <a:xfrm>
            <a:off x="3260725" y="509588"/>
            <a:ext cx="3376613" cy="2532062"/>
          </a:xfrm>
          <a:ln/>
        </p:spPr>
      </p:sp>
      <p:sp>
        <p:nvSpPr>
          <p:cNvPr id="56324" name="Rectangle 3"/>
          <p:cNvSpPr>
            <a:spLocks noGrp="1" noChangeArrowheads="1"/>
          </p:cNvSpPr>
          <p:nvPr>
            <p:ph type="body" idx="1"/>
          </p:nvPr>
        </p:nvSpPr>
        <p:spPr>
          <a:xfrm>
            <a:off x="992587" y="3228706"/>
            <a:ext cx="7912329" cy="3043897"/>
          </a:xfrm>
          <a:noFill/>
          <a:ln/>
        </p:spPr>
        <p:txBody>
          <a:bodyPr/>
          <a:lstStyle/>
          <a:p>
            <a:endParaRPr lang="es-ES" altLang="es-ES" dirty="0"/>
          </a:p>
        </p:txBody>
      </p:sp>
    </p:spTree>
    <p:extLst>
      <p:ext uri="{BB962C8B-B14F-4D97-AF65-F5344CB8AC3E}">
        <p14:creationId xmlns:p14="http://schemas.microsoft.com/office/powerpoint/2010/main" val="25166098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p:cNvSpPr>
            <a:spLocks noGrp="1" noRot="1" noChangeAspect="1" noTextEdit="1"/>
          </p:cNvSpPr>
          <p:nvPr>
            <p:ph type="sldImg"/>
          </p:nvPr>
        </p:nvSpPr>
        <p:spPr>
          <a:ln/>
        </p:spPr>
      </p:sp>
      <p:sp>
        <p:nvSpPr>
          <p:cNvPr id="105474" name="Rectangle 3"/>
          <p:cNvSpPr>
            <a:spLocks noGrp="1"/>
          </p:cNvSpPr>
          <p:nvPr>
            <p:ph type="body" idx="1"/>
          </p:nvPr>
        </p:nvSpPr>
        <p:spPr>
          <a:noFill/>
          <a:ln/>
        </p:spPr>
        <p:txBody>
          <a:bodyPr/>
          <a:lstStyle/>
          <a:p>
            <a:endParaRPr lang="es-ES" altLang="es-ES" dirty="0">
              <a:latin typeface="Arial" pitchFamily="34" charset="0"/>
              <a:ea typeface="ＭＳ Ｐゴシック" charset="-128"/>
            </a:endParaRPr>
          </a:p>
        </p:txBody>
      </p:sp>
    </p:spTree>
    <p:extLst>
      <p:ext uri="{BB962C8B-B14F-4D97-AF65-F5344CB8AC3E}">
        <p14:creationId xmlns:p14="http://schemas.microsoft.com/office/powerpoint/2010/main" val="39773908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TextEdit="1"/>
          </p:cNvSpPr>
          <p:nvPr>
            <p:ph type="sldImg"/>
          </p:nvPr>
        </p:nvSpPr>
        <p:spPr>
          <a:ln/>
        </p:spPr>
      </p:sp>
      <p:sp>
        <p:nvSpPr>
          <p:cNvPr id="102403" name="Rectangle 3"/>
          <p:cNvSpPr>
            <a:spLocks noGrp="1"/>
          </p:cNvSpPr>
          <p:nvPr>
            <p:ph type="body" idx="1"/>
          </p:nvPr>
        </p:nvSpPr>
        <p:spPr>
          <a:noFill/>
          <a:ln/>
        </p:spPr>
        <p:txBody>
          <a:bodyPr/>
          <a:lstStyle/>
          <a:p>
            <a:r>
              <a:rPr lang="es-ES" altLang="es-ES" b="1" dirty="0">
                <a:latin typeface="Arial" charset="0"/>
              </a:rPr>
              <a:t>Complete</a:t>
            </a:r>
            <a:r>
              <a:rPr lang="es-ES" altLang="es-ES" b="1" baseline="0" dirty="0">
                <a:latin typeface="Arial" charset="0"/>
              </a:rPr>
              <a:t> </a:t>
            </a:r>
            <a:r>
              <a:rPr lang="es-ES" altLang="es-ES" b="1" baseline="0" dirty="0" err="1">
                <a:latin typeface="Arial" charset="0"/>
              </a:rPr>
              <a:t>AEs</a:t>
            </a:r>
            <a:r>
              <a:rPr lang="es-ES" altLang="es-ES" b="1" baseline="0" dirty="0">
                <a:latin typeface="Arial" charset="0"/>
              </a:rPr>
              <a:t> in the </a:t>
            </a:r>
            <a:r>
              <a:rPr lang="es-ES" altLang="es-ES" b="1" baseline="0" dirty="0" err="1">
                <a:latin typeface="Arial" charset="0"/>
              </a:rPr>
              <a:t>SmPC</a:t>
            </a:r>
            <a:r>
              <a:rPr lang="es-ES" altLang="es-ES" b="1" baseline="0" dirty="0">
                <a:latin typeface="Arial" charset="0"/>
              </a:rPr>
              <a:t> </a:t>
            </a:r>
            <a:r>
              <a:rPr lang="es-ES" altLang="es-ES" b="0" baseline="0" dirty="0">
                <a:latin typeface="Arial" charset="0"/>
              </a:rPr>
              <a:t>(</a:t>
            </a:r>
            <a:r>
              <a:rPr lang="es-ES" altLang="es-ES" b="0" baseline="0" dirty="0" err="1">
                <a:latin typeface="Arial" charset="0"/>
              </a:rPr>
              <a:t>including</a:t>
            </a:r>
            <a:r>
              <a:rPr lang="es-ES" altLang="es-ES" b="0" baseline="0" dirty="0">
                <a:latin typeface="Arial" charset="0"/>
              </a:rPr>
              <a:t> </a:t>
            </a:r>
            <a:r>
              <a:rPr lang="es-ES" altLang="es-ES" b="0" baseline="0" dirty="0" err="1">
                <a:latin typeface="Arial" charset="0"/>
              </a:rPr>
              <a:t>uncommon</a:t>
            </a:r>
            <a:r>
              <a:rPr lang="es-ES" altLang="es-ES" b="0" baseline="0" dirty="0">
                <a:latin typeface="Arial" charset="0"/>
              </a:rPr>
              <a:t> </a:t>
            </a:r>
            <a:r>
              <a:rPr lang="es-ES" altLang="es-ES" b="0" baseline="0" dirty="0" err="1">
                <a:latin typeface="Arial" charset="0"/>
              </a:rPr>
              <a:t>AEs</a:t>
            </a:r>
            <a:r>
              <a:rPr lang="es-ES" altLang="es-ES" b="0" baseline="0" dirty="0">
                <a:latin typeface="Arial" charset="0"/>
              </a:rPr>
              <a:t>)</a:t>
            </a:r>
          </a:p>
          <a:p>
            <a:endParaRPr lang="es-ES" altLang="es-ES" b="0" baseline="0" dirty="0">
              <a:latin typeface="Arial" charset="0"/>
            </a:endParaRPr>
          </a:p>
          <a:p>
            <a:r>
              <a:rPr lang="es-ES" sz="1200" kern="1200" dirty="0">
                <a:solidFill>
                  <a:srgbClr val="000000"/>
                </a:solidFill>
                <a:effectLst/>
                <a:latin typeface="Calibri" pitchFamily="34" charset="0"/>
                <a:ea typeface="ＭＳ Ｐゴシック" pitchFamily="34" charset="-128"/>
                <a:cs typeface="+mn-cs"/>
              </a:rPr>
              <a:t>							</a:t>
            </a:r>
            <a:r>
              <a:rPr lang="es-ES" sz="1200" b="1" kern="1200" dirty="0">
                <a:solidFill>
                  <a:srgbClr val="000000"/>
                </a:solidFill>
                <a:effectLst/>
                <a:latin typeface="Calibri" pitchFamily="34" charset="0"/>
                <a:ea typeface="ＭＳ Ｐゴシック" pitchFamily="34" charset="-128"/>
                <a:cs typeface="+mn-cs"/>
              </a:rPr>
              <a:t>Rupatadine 2.5mg	</a:t>
            </a:r>
            <a:r>
              <a:rPr lang="es-ES" sz="1200" b="1" kern="1200" dirty="0" err="1">
                <a:solidFill>
                  <a:srgbClr val="000000"/>
                </a:solidFill>
                <a:effectLst/>
                <a:latin typeface="Calibri" pitchFamily="34" charset="0"/>
                <a:ea typeface="ＭＳ Ｐゴシック" pitchFamily="34" charset="-128"/>
                <a:cs typeface="+mn-cs"/>
              </a:rPr>
              <a:t>Rupatadine</a:t>
            </a:r>
            <a:r>
              <a:rPr lang="es-ES" sz="1200" b="1" kern="1200" dirty="0">
                <a:solidFill>
                  <a:srgbClr val="000000"/>
                </a:solidFill>
                <a:effectLst/>
                <a:latin typeface="Calibri" pitchFamily="34" charset="0"/>
                <a:ea typeface="ＭＳ Ｐゴシック" pitchFamily="34" charset="-128"/>
                <a:cs typeface="+mn-cs"/>
              </a:rPr>
              <a:t> 5mg</a:t>
            </a:r>
            <a:r>
              <a:rPr lang="es-ES" sz="1200" kern="1200" dirty="0">
                <a:solidFill>
                  <a:srgbClr val="000000"/>
                </a:solidFill>
                <a:effectLst/>
                <a:latin typeface="Calibri" pitchFamily="34" charset="0"/>
                <a:ea typeface="ＭＳ Ｐゴシック" pitchFamily="34" charset="-128"/>
                <a:cs typeface="+mn-cs"/>
              </a:rPr>
              <a:t>		</a:t>
            </a:r>
            <a:r>
              <a:rPr lang="es-ES" sz="1200" b="1" kern="1200" dirty="0">
                <a:solidFill>
                  <a:srgbClr val="000000"/>
                </a:solidFill>
                <a:effectLst/>
                <a:latin typeface="Calibri" pitchFamily="34" charset="0"/>
                <a:ea typeface="ＭＳ Ｐゴシック" pitchFamily="34" charset="-128"/>
                <a:cs typeface="+mn-cs"/>
              </a:rPr>
              <a:t>Placebo</a:t>
            </a:r>
          </a:p>
          <a:p>
            <a:r>
              <a:rPr lang="es-ES" sz="1200" u="sng" kern="1200" dirty="0" err="1">
                <a:solidFill>
                  <a:srgbClr val="000000"/>
                </a:solidFill>
                <a:effectLst/>
                <a:latin typeface="Calibri" pitchFamily="34" charset="0"/>
                <a:ea typeface="ＭＳ Ｐゴシック" pitchFamily="34" charset="-128"/>
                <a:cs typeface="+mn-cs"/>
              </a:rPr>
              <a:t>Frequency</a:t>
            </a:r>
            <a:r>
              <a:rPr lang="es-ES" sz="1200" kern="1200" dirty="0">
                <a:solidFill>
                  <a:srgbClr val="000000"/>
                </a:solidFill>
                <a:effectLst/>
                <a:latin typeface="Calibri" pitchFamily="34" charset="0"/>
                <a:ea typeface="ＭＳ Ｐゴシック" pitchFamily="34" charset="-128"/>
                <a:cs typeface="+mn-cs"/>
              </a:rPr>
              <a:t>	</a:t>
            </a:r>
            <a:r>
              <a:rPr lang="es-ES" sz="1200" u="sng" kern="1200" dirty="0" err="1">
                <a:solidFill>
                  <a:srgbClr val="000000"/>
                </a:solidFill>
                <a:effectLst/>
                <a:latin typeface="Calibri" pitchFamily="34" charset="0"/>
                <a:ea typeface="ＭＳ Ｐゴシック" pitchFamily="34" charset="-128"/>
                <a:cs typeface="+mn-cs"/>
              </a:rPr>
              <a:t>Preferred</a:t>
            </a:r>
            <a:r>
              <a:rPr lang="es-ES" sz="1200" u="sng" kern="1200" dirty="0">
                <a:solidFill>
                  <a:srgbClr val="000000"/>
                </a:solidFill>
                <a:effectLst/>
                <a:latin typeface="Calibri" pitchFamily="34" charset="0"/>
                <a:ea typeface="ＭＳ Ｐゴシック" pitchFamily="34" charset="-128"/>
                <a:cs typeface="+mn-cs"/>
              </a:rPr>
              <a:t> </a:t>
            </a:r>
            <a:r>
              <a:rPr lang="es-ES" sz="1200" u="sng" kern="1200" dirty="0" err="1">
                <a:solidFill>
                  <a:srgbClr val="000000"/>
                </a:solidFill>
                <a:effectLst/>
                <a:latin typeface="Calibri" pitchFamily="34" charset="0"/>
                <a:ea typeface="ＭＳ Ｐゴシック" pitchFamily="34" charset="-128"/>
                <a:cs typeface="+mn-cs"/>
              </a:rPr>
              <a:t>term</a:t>
            </a:r>
            <a:r>
              <a:rPr lang="es-ES" sz="1200" kern="1200" dirty="0">
                <a:solidFill>
                  <a:srgbClr val="000000"/>
                </a:solidFill>
                <a:effectLst/>
                <a:latin typeface="Calibri" pitchFamily="34" charset="0"/>
                <a:ea typeface="ＭＳ Ｐゴシック" pitchFamily="34" charset="-128"/>
                <a:cs typeface="+mn-cs"/>
              </a:rPr>
              <a:t>			</a:t>
            </a:r>
            <a:r>
              <a:rPr lang="es-ES" sz="1200" b="1" kern="1200" dirty="0">
                <a:solidFill>
                  <a:srgbClr val="000000"/>
                </a:solidFill>
                <a:effectLst/>
                <a:latin typeface="Calibri" pitchFamily="34" charset="0"/>
                <a:ea typeface="ＭＳ Ｐゴシック" pitchFamily="34" charset="-128"/>
                <a:cs typeface="+mn-cs"/>
              </a:rPr>
              <a:t>(n=147)			 (n=159)			(n=249)</a:t>
            </a:r>
          </a:p>
          <a:p>
            <a:pPr>
              <a:lnSpc>
                <a:spcPct val="150000"/>
              </a:lnSpc>
            </a:pPr>
            <a:endParaRPr lang="es-ES" sz="1200" b="0" kern="1200" dirty="0">
              <a:solidFill>
                <a:srgbClr val="000000"/>
              </a:solidFill>
              <a:effectLst/>
              <a:latin typeface="Calibri" pitchFamily="34" charset="0"/>
              <a:ea typeface="ＭＳ Ｐゴシック" pitchFamily="34" charset="-128"/>
              <a:cs typeface="+mn-cs"/>
            </a:endParaRPr>
          </a:p>
          <a:p>
            <a:pPr>
              <a:lnSpc>
                <a:spcPct val="150000"/>
              </a:lnSpc>
            </a:pPr>
            <a:r>
              <a:rPr lang="es-ES" sz="1200" b="0" kern="1200" dirty="0">
                <a:solidFill>
                  <a:srgbClr val="000000"/>
                </a:solidFill>
                <a:effectLst/>
                <a:latin typeface="Calibri" pitchFamily="34" charset="0"/>
                <a:ea typeface="ＭＳ Ｐゴシック" pitchFamily="34" charset="-128"/>
                <a:cs typeface="+mn-cs"/>
              </a:rPr>
              <a:t>(INFECTIONS </a:t>
            </a:r>
            <a:r>
              <a:rPr lang="es-ES" sz="1200" b="0" kern="1200" dirty="0" err="1">
                <a:solidFill>
                  <a:srgbClr val="000000"/>
                </a:solidFill>
                <a:effectLst/>
                <a:latin typeface="Calibri" pitchFamily="34" charset="0"/>
                <a:ea typeface="ＭＳ Ｐゴシック" pitchFamily="34" charset="-128"/>
                <a:cs typeface="+mn-cs"/>
              </a:rPr>
              <a:t>AND</a:t>
            </a:r>
            <a:r>
              <a:rPr lang="es-ES" sz="1200" b="0" kern="1200" dirty="0">
                <a:solidFill>
                  <a:srgbClr val="000000"/>
                </a:solidFill>
                <a:effectLst/>
                <a:latin typeface="Calibri" pitchFamily="34" charset="0"/>
                <a:ea typeface="ＭＳ Ｐゴシック" pitchFamily="34" charset="-128"/>
                <a:cs typeface="+mn-cs"/>
              </a:rPr>
              <a:t> INFESTATIONS)</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Influenza				0				1(0.63%)			0 </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Nasopharyngitis</a:t>
            </a:r>
            <a:r>
              <a:rPr lang="es-ES" sz="1200" kern="1200" dirty="0">
                <a:solidFill>
                  <a:srgbClr val="000000"/>
                </a:solidFill>
                <a:effectLst/>
                <a:latin typeface="Calibri" pitchFamily="34" charset="0"/>
                <a:ea typeface="ＭＳ Ｐゴシック" pitchFamily="34" charset="-128"/>
                <a:cs typeface="+mn-cs"/>
              </a:rPr>
              <a:t>			1 (0.68%)			0				0 </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Upper</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respiratory</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tract</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infection</a:t>
            </a:r>
            <a:r>
              <a:rPr lang="es-ES" sz="1200" kern="1200" dirty="0">
                <a:solidFill>
                  <a:srgbClr val="000000"/>
                </a:solidFill>
                <a:effectLst/>
                <a:latin typeface="Calibri" pitchFamily="34" charset="0"/>
                <a:ea typeface="ＭＳ Ｐゴシック" pitchFamily="34" charset="-128"/>
                <a:cs typeface="+mn-cs"/>
              </a:rPr>
              <a:t>	1 (0.68%)			0				0 </a:t>
            </a:r>
          </a:p>
          <a:p>
            <a:pPr>
              <a:lnSpc>
                <a:spcPct val="150000"/>
              </a:lnSpc>
            </a:pPr>
            <a:endParaRPr lang="es-ES" sz="1200" kern="1200" dirty="0">
              <a:solidFill>
                <a:srgbClr val="000000"/>
              </a:solidFill>
              <a:effectLst/>
              <a:latin typeface="Calibri" pitchFamily="34" charset="0"/>
              <a:ea typeface="ＭＳ Ｐゴシック" pitchFamily="34" charset="-128"/>
              <a:cs typeface="+mn-cs"/>
            </a:endParaRPr>
          </a:p>
          <a:p>
            <a:pPr>
              <a:lnSpc>
                <a:spcPct val="150000"/>
              </a:lnSpc>
            </a:pPr>
            <a:r>
              <a:rPr lang="es-ES" sz="1200" kern="1200" dirty="0">
                <a:solidFill>
                  <a:srgbClr val="000000"/>
                </a:solidFill>
                <a:effectLst/>
                <a:latin typeface="Calibri" pitchFamily="34" charset="0"/>
                <a:ea typeface="ＭＳ Ｐゴシック" pitchFamily="34" charset="-128"/>
                <a:cs typeface="+mn-cs"/>
              </a:rPr>
              <a:t>(BLOOD </a:t>
            </a:r>
            <a:r>
              <a:rPr lang="es-ES" sz="1200" kern="1200" dirty="0" err="1">
                <a:solidFill>
                  <a:srgbClr val="000000"/>
                </a:solidFill>
                <a:effectLst/>
                <a:latin typeface="Calibri" pitchFamily="34" charset="0"/>
                <a:ea typeface="ＭＳ Ｐゴシック" pitchFamily="34" charset="-128"/>
                <a:cs typeface="+mn-cs"/>
              </a:rPr>
              <a:t>AND</a:t>
            </a:r>
            <a:r>
              <a:rPr lang="es-ES" sz="1200" kern="1200" dirty="0">
                <a:solidFill>
                  <a:srgbClr val="000000"/>
                </a:solidFill>
                <a:effectLst/>
                <a:latin typeface="Calibri" pitchFamily="34" charset="0"/>
                <a:ea typeface="ＭＳ Ｐゴシック" pitchFamily="34" charset="-128"/>
                <a:cs typeface="+mn-cs"/>
              </a:rPr>
              <a:t> LYMPHATIC</a:t>
            </a:r>
            <a:r>
              <a:rPr lang="es-ES" sz="1200" kern="1200" baseline="0" dirty="0">
                <a:solidFill>
                  <a:srgbClr val="000000"/>
                </a:solidFill>
                <a:effectLst/>
                <a:latin typeface="Calibri" pitchFamily="34" charset="0"/>
                <a:ea typeface="ＭＳ Ｐゴシック" pitchFamily="34" charset="-128"/>
                <a:cs typeface="+mn-cs"/>
              </a:rPr>
              <a:t> SYSTEM DISORDERS)</a:t>
            </a:r>
            <a:endParaRPr lang="es-ES" sz="1200" kern="1200" dirty="0">
              <a:solidFill>
                <a:srgbClr val="000000"/>
              </a:solidFill>
              <a:effectLst/>
              <a:latin typeface="Calibri" pitchFamily="34" charset="0"/>
              <a:ea typeface="ＭＳ Ｐゴシック" pitchFamily="34" charset="-128"/>
              <a:cs typeface="+mn-cs"/>
            </a:endParaRP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Eosinophilia</a:t>
            </a:r>
            <a:r>
              <a:rPr lang="es-ES" sz="1200" kern="1200" dirty="0">
                <a:solidFill>
                  <a:srgbClr val="000000"/>
                </a:solidFill>
                <a:effectLst/>
                <a:latin typeface="Calibri" pitchFamily="34" charset="0"/>
                <a:ea typeface="ＭＳ Ｐゴシック" pitchFamily="34" charset="-128"/>
                <a:cs typeface="+mn-cs"/>
              </a:rPr>
              <a:t>				0				1(0.63%)			0 </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Neutropenia				0				1(0.63%)			0 </a:t>
            </a:r>
          </a:p>
          <a:p>
            <a:pPr>
              <a:lnSpc>
                <a:spcPct val="150000"/>
              </a:lnSpc>
            </a:pPr>
            <a:endParaRPr lang="es-ES" sz="1200" kern="1200" dirty="0">
              <a:solidFill>
                <a:srgbClr val="000000"/>
              </a:solidFill>
              <a:effectLst/>
              <a:latin typeface="Calibri" pitchFamily="34" charset="0"/>
              <a:ea typeface="ＭＳ Ｐゴシック" pitchFamily="34" charset="-128"/>
              <a:cs typeface="+mn-cs"/>
            </a:endParaRPr>
          </a:p>
          <a:p>
            <a:pPr>
              <a:lnSpc>
                <a:spcPct val="150000"/>
              </a:lnSpc>
            </a:pPr>
            <a:r>
              <a:rPr lang="es-ES" sz="1200" kern="1200" dirty="0">
                <a:solidFill>
                  <a:srgbClr val="000000"/>
                </a:solidFill>
                <a:effectLst/>
                <a:latin typeface="Calibri" pitchFamily="34" charset="0"/>
                <a:ea typeface="ＭＳ Ｐゴシック" pitchFamily="34" charset="-128"/>
                <a:cs typeface="+mn-cs"/>
              </a:rPr>
              <a:t>(NERVOUS SYSTEM DISORDERS)</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Common</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Headache</a:t>
            </a:r>
            <a:r>
              <a:rPr lang="es-ES" sz="1200" kern="1200" dirty="0">
                <a:solidFill>
                  <a:srgbClr val="000000"/>
                </a:solidFill>
                <a:effectLst/>
                <a:latin typeface="Calibri" pitchFamily="34" charset="0"/>
                <a:ea typeface="ＭＳ Ｐゴシック" pitchFamily="34" charset="-128"/>
                <a:cs typeface="+mn-cs"/>
              </a:rPr>
              <a:t>				2 (1.36%)			4 (2.52%)			4 (1.61%)</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Common</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Somnolence</a:t>
            </a:r>
            <a:r>
              <a:rPr lang="es-ES" sz="1200" kern="1200" dirty="0">
                <a:solidFill>
                  <a:srgbClr val="000000"/>
                </a:solidFill>
                <a:effectLst/>
                <a:latin typeface="Calibri" pitchFamily="34" charset="0"/>
                <a:ea typeface="ＭＳ Ｐゴシック" pitchFamily="34" charset="-128"/>
                <a:cs typeface="+mn-cs"/>
              </a:rPr>
              <a:t>				0				2 (1.26%)			0</a:t>
            </a:r>
          </a:p>
          <a:p>
            <a:pPr>
              <a:lnSpc>
                <a:spcPct val="150000"/>
              </a:lnSpc>
            </a:pPr>
            <a:endParaRPr lang="es-ES" sz="1200" kern="1200" dirty="0">
              <a:solidFill>
                <a:srgbClr val="000000"/>
              </a:solidFill>
              <a:effectLst/>
              <a:latin typeface="Calibri" pitchFamily="34" charset="0"/>
              <a:ea typeface="ＭＳ Ｐゴシック" pitchFamily="34" charset="-128"/>
              <a:cs typeface="+mn-cs"/>
            </a:endParaRPr>
          </a:p>
          <a:p>
            <a:pPr>
              <a:lnSpc>
                <a:spcPct val="150000"/>
              </a:lnSpc>
            </a:pPr>
            <a:r>
              <a:rPr lang="es-ES" sz="1200" kern="1200" dirty="0">
                <a:solidFill>
                  <a:srgbClr val="000000"/>
                </a:solidFill>
                <a:effectLst/>
                <a:latin typeface="Calibri" pitchFamily="34" charset="0"/>
                <a:ea typeface="ＭＳ Ｐゴシック" pitchFamily="34" charset="-128"/>
                <a:cs typeface="+mn-cs"/>
              </a:rPr>
              <a:t>(GASTROINTESTINAL DISORDERS)</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Dizziness</a:t>
            </a:r>
            <a:r>
              <a:rPr lang="es-ES" sz="1200" kern="1200" dirty="0">
                <a:solidFill>
                  <a:srgbClr val="000000"/>
                </a:solidFill>
                <a:effectLst/>
                <a:latin typeface="Calibri" pitchFamily="34" charset="0"/>
                <a:ea typeface="ＭＳ Ｐゴシック" pitchFamily="34" charset="-128"/>
                <a:cs typeface="+mn-cs"/>
              </a:rPr>
              <a:t>				0				1 (0.63%)			1 (0.40%)</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Nausea				0				1 (0.63%)			2 (0.80%)</a:t>
            </a:r>
          </a:p>
          <a:p>
            <a:pPr>
              <a:lnSpc>
                <a:spcPct val="150000"/>
              </a:lnSpc>
            </a:pPr>
            <a:endParaRPr lang="es-ES" sz="1200" kern="1200" dirty="0">
              <a:solidFill>
                <a:srgbClr val="000000"/>
              </a:solidFill>
              <a:effectLst/>
              <a:latin typeface="Calibri" pitchFamily="34" charset="0"/>
              <a:ea typeface="ＭＳ Ｐゴシック" pitchFamily="34" charset="-128"/>
              <a:cs typeface="+mn-cs"/>
            </a:endParaRPr>
          </a:p>
          <a:p>
            <a:pPr>
              <a:lnSpc>
                <a:spcPct val="150000"/>
              </a:lnSpc>
            </a:pPr>
            <a:r>
              <a:rPr lang="es-ES" sz="1200" kern="1200" dirty="0">
                <a:solidFill>
                  <a:srgbClr val="000000"/>
                </a:solidFill>
                <a:effectLst/>
                <a:latin typeface="Calibri" pitchFamily="34" charset="0"/>
                <a:ea typeface="ＭＳ Ｐゴシック" pitchFamily="34" charset="-128"/>
                <a:cs typeface="+mn-cs"/>
              </a:rPr>
              <a:t>(SKIN </a:t>
            </a:r>
            <a:r>
              <a:rPr lang="es-ES" sz="1200" kern="1200" dirty="0" err="1">
                <a:solidFill>
                  <a:srgbClr val="000000"/>
                </a:solidFill>
                <a:effectLst/>
                <a:latin typeface="Calibri" pitchFamily="34" charset="0"/>
                <a:ea typeface="ＭＳ Ｐゴシック" pitchFamily="34" charset="-128"/>
                <a:cs typeface="+mn-cs"/>
              </a:rPr>
              <a:t>AND</a:t>
            </a:r>
            <a:r>
              <a:rPr lang="es-ES" sz="1200" kern="1200" dirty="0">
                <a:solidFill>
                  <a:srgbClr val="000000"/>
                </a:solidFill>
                <a:effectLst/>
                <a:latin typeface="Calibri" pitchFamily="34" charset="0"/>
                <a:ea typeface="ＭＳ Ｐゴシック" pitchFamily="34" charset="-128"/>
                <a:cs typeface="+mn-cs"/>
              </a:rPr>
              <a:t> SUBCUTANEOUS TISSUE DISORDERS)</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Eczema				0				1 (0.63%)			1 (0.40%)</a:t>
            </a: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Night</a:t>
            </a:r>
            <a:r>
              <a:rPr lang="es-ES" sz="1200" kern="1200" dirty="0">
                <a:solidFill>
                  <a:srgbClr val="000000"/>
                </a:solidFill>
                <a:effectLst/>
                <a:latin typeface="Calibri" pitchFamily="34" charset="0"/>
                <a:ea typeface="ＭＳ Ｐゴシック" pitchFamily="34" charset="-128"/>
                <a:cs typeface="+mn-cs"/>
              </a:rPr>
              <a:t> </a:t>
            </a:r>
            <a:r>
              <a:rPr lang="es-ES" sz="1200" kern="1200" dirty="0" err="1">
                <a:solidFill>
                  <a:srgbClr val="000000"/>
                </a:solidFill>
                <a:effectLst/>
                <a:latin typeface="Calibri" pitchFamily="34" charset="0"/>
                <a:ea typeface="ＭＳ Ｐゴシック" pitchFamily="34" charset="-128"/>
                <a:cs typeface="+mn-cs"/>
              </a:rPr>
              <a:t>sweats</a:t>
            </a:r>
            <a:r>
              <a:rPr lang="es-ES" sz="1200" kern="1200" dirty="0">
                <a:solidFill>
                  <a:srgbClr val="000000"/>
                </a:solidFill>
                <a:effectLst/>
                <a:latin typeface="Calibri" pitchFamily="34" charset="0"/>
                <a:ea typeface="ＭＳ Ｐゴシック" pitchFamily="34" charset="-128"/>
                <a:cs typeface="+mn-cs"/>
              </a:rPr>
              <a:t>				0				1 (0.63%)			0 </a:t>
            </a:r>
          </a:p>
          <a:p>
            <a:pPr>
              <a:lnSpc>
                <a:spcPct val="150000"/>
              </a:lnSpc>
            </a:pPr>
            <a:endParaRPr lang="es-ES" sz="1200" kern="1200" dirty="0">
              <a:solidFill>
                <a:srgbClr val="000000"/>
              </a:solidFill>
              <a:effectLst/>
              <a:latin typeface="Calibri" pitchFamily="34" charset="0"/>
              <a:ea typeface="ＭＳ Ｐゴシック" pitchFamily="34" charset="-128"/>
              <a:cs typeface="+mn-cs"/>
            </a:endParaRPr>
          </a:p>
          <a:p>
            <a:pPr>
              <a:lnSpc>
                <a:spcPct val="150000"/>
              </a:lnSpc>
            </a:pPr>
            <a:r>
              <a:rPr lang="es-ES" sz="1200" kern="1200" dirty="0">
                <a:solidFill>
                  <a:srgbClr val="000000"/>
                </a:solidFill>
                <a:effectLst/>
                <a:latin typeface="Calibri" pitchFamily="34" charset="0"/>
                <a:ea typeface="ＭＳ Ｐゴシック" pitchFamily="34" charset="-128"/>
                <a:cs typeface="+mn-cs"/>
              </a:rPr>
              <a:t>(GENERAL DISORDERS </a:t>
            </a:r>
            <a:r>
              <a:rPr lang="es-ES" sz="1200" kern="1200" dirty="0" err="1">
                <a:solidFill>
                  <a:srgbClr val="000000"/>
                </a:solidFill>
                <a:effectLst/>
                <a:latin typeface="Calibri" pitchFamily="34" charset="0"/>
                <a:ea typeface="ＭＳ Ｐゴシック" pitchFamily="34" charset="-128"/>
                <a:cs typeface="+mn-cs"/>
              </a:rPr>
              <a:t>AND</a:t>
            </a:r>
            <a:r>
              <a:rPr lang="es-ES" sz="1200" kern="1200" dirty="0">
                <a:solidFill>
                  <a:srgbClr val="000000"/>
                </a:solidFill>
                <a:effectLst/>
                <a:latin typeface="Calibri" pitchFamily="34" charset="0"/>
                <a:ea typeface="ＭＳ Ｐゴシック" pitchFamily="34" charset="-128"/>
                <a:cs typeface="+mn-cs"/>
              </a:rPr>
              <a:t> ADMINISTRATION</a:t>
            </a:r>
            <a:r>
              <a:rPr lang="es-ES" sz="1200" kern="1200" baseline="0" dirty="0">
                <a:solidFill>
                  <a:srgbClr val="000000"/>
                </a:solidFill>
                <a:effectLst/>
                <a:latin typeface="Calibri" pitchFamily="34" charset="0"/>
                <a:ea typeface="ＭＳ Ｐゴシック" pitchFamily="34" charset="-128"/>
                <a:cs typeface="+mn-cs"/>
              </a:rPr>
              <a:t> SITE CONDITIONS)</a:t>
            </a:r>
            <a:endParaRPr lang="es-ES" sz="1200" kern="1200" dirty="0">
              <a:solidFill>
                <a:srgbClr val="000000"/>
              </a:solidFill>
              <a:effectLst/>
              <a:latin typeface="Calibri" pitchFamily="34" charset="0"/>
              <a:ea typeface="ＭＳ Ｐゴシック" pitchFamily="34" charset="-128"/>
              <a:cs typeface="+mn-cs"/>
            </a:endParaRPr>
          </a:p>
          <a:p>
            <a:pPr>
              <a:lnSpc>
                <a:spcPct val="150000"/>
              </a:lnSpc>
            </a:pPr>
            <a:r>
              <a:rPr lang="es-ES" sz="1200" kern="1200" dirty="0" err="1">
                <a:solidFill>
                  <a:srgbClr val="000000"/>
                </a:solidFill>
                <a:effectLst/>
                <a:latin typeface="Calibri" pitchFamily="34" charset="0"/>
                <a:ea typeface="ＭＳ Ｐゴシック" pitchFamily="34" charset="-128"/>
                <a:cs typeface="+mn-cs"/>
              </a:rPr>
              <a:t>Uncommon</a:t>
            </a:r>
            <a:r>
              <a:rPr lang="es-ES" sz="1200" kern="1200" dirty="0">
                <a:solidFill>
                  <a:srgbClr val="000000"/>
                </a:solidFill>
                <a:effectLst/>
                <a:latin typeface="Calibri" pitchFamily="34" charset="0"/>
                <a:ea typeface="ＭＳ Ｐゴシック" pitchFamily="34" charset="-128"/>
                <a:cs typeface="+mn-cs"/>
              </a:rPr>
              <a:t>	Fatigue				0				1 (0.63%)			0 </a:t>
            </a:r>
            <a:endParaRPr lang="es-ES" altLang="es-ES" b="0" dirty="0">
              <a:latin typeface="Arial" charset="0"/>
            </a:endParaRPr>
          </a:p>
        </p:txBody>
      </p:sp>
    </p:spTree>
    <p:extLst>
      <p:ext uri="{BB962C8B-B14F-4D97-AF65-F5344CB8AC3E}">
        <p14:creationId xmlns:p14="http://schemas.microsoft.com/office/powerpoint/2010/main" val="9900273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
          <p:cNvSpPr>
            <a:spLocks noGrp="1" noChangeArrowheads="1"/>
          </p:cNvSpPr>
          <p:nvPr>
            <p:ph type="sldNum" sz="quarter"/>
          </p:nvPr>
        </p:nvSpPr>
        <p:spPr>
          <a:noFill/>
        </p:spPr>
        <p:txBody>
          <a:bodyPr/>
          <a:lstStyle/>
          <a:p>
            <a:fld id="{64A0C3B8-C67A-4406-BA55-D4E9563D5CA9}" type="slidenum">
              <a:rPr lang="es-ES_tradnl" altLang="es-ES" smtClean="0"/>
              <a:pPr/>
              <a:t>47</a:t>
            </a:fld>
            <a:endParaRPr lang="es-ES_tradnl" altLang="es-ES" dirty="0"/>
          </a:p>
        </p:txBody>
      </p:sp>
      <p:sp>
        <p:nvSpPr>
          <p:cNvPr id="56323" name="Rectangle 2"/>
          <p:cNvSpPr>
            <a:spLocks noGrp="1" noRot="1" noChangeAspect="1" noChangeArrowheads="1" noTextEdit="1"/>
          </p:cNvSpPr>
          <p:nvPr>
            <p:ph type="sldImg"/>
          </p:nvPr>
        </p:nvSpPr>
        <p:spPr>
          <a:xfrm>
            <a:off x="3260725" y="509588"/>
            <a:ext cx="3376613" cy="2532062"/>
          </a:xfrm>
          <a:ln/>
        </p:spPr>
      </p:sp>
      <p:sp>
        <p:nvSpPr>
          <p:cNvPr id="56324" name="Rectangle 3"/>
          <p:cNvSpPr>
            <a:spLocks noGrp="1" noChangeArrowheads="1"/>
          </p:cNvSpPr>
          <p:nvPr>
            <p:ph type="body" idx="1"/>
          </p:nvPr>
        </p:nvSpPr>
        <p:spPr>
          <a:xfrm>
            <a:off x="992587" y="3228706"/>
            <a:ext cx="7912329" cy="3043897"/>
          </a:xfrm>
          <a:noFill/>
          <a:ln/>
        </p:spPr>
        <p:txBody>
          <a:bodyPr/>
          <a:lstStyle/>
          <a:p>
            <a:endParaRPr lang="es-ES" altLang="es-ES" dirty="0"/>
          </a:p>
        </p:txBody>
      </p:sp>
    </p:spTree>
    <p:extLst>
      <p:ext uri="{BB962C8B-B14F-4D97-AF65-F5344CB8AC3E}">
        <p14:creationId xmlns:p14="http://schemas.microsoft.com/office/powerpoint/2010/main" val="12292165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305204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
          <p:cNvSpPr>
            <a:spLocks noGrp="1" noChangeArrowheads="1"/>
          </p:cNvSpPr>
          <p:nvPr>
            <p:ph type="sldNum" sz="quarter"/>
          </p:nvPr>
        </p:nvSpPr>
        <p:spPr>
          <a:noFill/>
        </p:spPr>
        <p:txBody>
          <a:bodyPr/>
          <a:lstStyle/>
          <a:p>
            <a:fld id="{64A0C3B8-C67A-4406-BA55-D4E9563D5CA9}" type="slidenum">
              <a:rPr lang="es-ES_tradnl" altLang="es-ES" smtClean="0"/>
              <a:pPr/>
              <a:t>49</a:t>
            </a:fld>
            <a:endParaRPr lang="es-ES_tradnl" altLang="es-ES" dirty="0"/>
          </a:p>
        </p:txBody>
      </p:sp>
      <p:sp>
        <p:nvSpPr>
          <p:cNvPr id="56323" name="Rectangle 2"/>
          <p:cNvSpPr>
            <a:spLocks noGrp="1" noRot="1" noChangeAspect="1" noChangeArrowheads="1" noTextEdit="1"/>
          </p:cNvSpPr>
          <p:nvPr>
            <p:ph type="sldImg"/>
          </p:nvPr>
        </p:nvSpPr>
        <p:spPr>
          <a:xfrm>
            <a:off x="3260725" y="509588"/>
            <a:ext cx="3376613" cy="2532062"/>
          </a:xfrm>
          <a:ln/>
        </p:spPr>
      </p:sp>
      <p:sp>
        <p:nvSpPr>
          <p:cNvPr id="56324" name="Rectangle 3"/>
          <p:cNvSpPr>
            <a:spLocks noGrp="1" noChangeArrowheads="1"/>
          </p:cNvSpPr>
          <p:nvPr>
            <p:ph type="body" idx="1"/>
          </p:nvPr>
        </p:nvSpPr>
        <p:spPr>
          <a:xfrm>
            <a:off x="992587" y="3228706"/>
            <a:ext cx="7912329" cy="3043897"/>
          </a:xfrm>
          <a:noFill/>
          <a:ln/>
        </p:spPr>
        <p:txBody>
          <a:bodyPr/>
          <a:lstStyle/>
          <a:p>
            <a:endParaRPr lang="es-ES" altLang="es-ES" dirty="0"/>
          </a:p>
        </p:txBody>
      </p:sp>
    </p:spTree>
    <p:extLst>
      <p:ext uri="{BB962C8B-B14F-4D97-AF65-F5344CB8AC3E}">
        <p14:creationId xmlns:p14="http://schemas.microsoft.com/office/powerpoint/2010/main" val="30898671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35707727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288434216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3111694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TextEdit="1"/>
          </p:cNvSpPr>
          <p:nvPr>
            <p:ph type="sldImg"/>
          </p:nvPr>
        </p:nvSpPr>
        <p:spPr>
          <a:ln/>
        </p:spPr>
      </p:sp>
      <p:sp>
        <p:nvSpPr>
          <p:cNvPr id="81923" name="Rectangle 3"/>
          <p:cNvSpPr>
            <a:spLocks noGrp="1"/>
          </p:cNvSpPr>
          <p:nvPr>
            <p:ph type="body" idx="1"/>
          </p:nvPr>
        </p:nvSpPr>
        <p:spPr>
          <a:noFill/>
          <a:ln/>
        </p:spPr>
        <p:txBody>
          <a:bodyPr/>
          <a:lstStyle/>
          <a:p>
            <a:endParaRPr lang="es-ES" altLang="es-ES">
              <a:latin typeface="Arial" charset="0"/>
            </a:endParaRPr>
          </a:p>
        </p:txBody>
      </p:sp>
    </p:spTree>
    <p:extLst>
      <p:ext uri="{BB962C8B-B14F-4D97-AF65-F5344CB8AC3E}">
        <p14:creationId xmlns:p14="http://schemas.microsoft.com/office/powerpoint/2010/main" val="25697568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en-US"/>
          </a:p>
        </p:txBody>
      </p:sp>
      <p:sp>
        <p:nvSpPr>
          <p:cNvPr id="4" name="Marcador de Posição do Número do Diapositivo 3"/>
          <p:cNvSpPr>
            <a:spLocks noGrp="1"/>
          </p:cNvSpPr>
          <p:nvPr>
            <p:ph type="sldNum" sz="quarter" idx="10"/>
          </p:nvPr>
        </p:nvSpPr>
        <p:spPr/>
        <p:txBody>
          <a:bodyPr/>
          <a:lstStyle/>
          <a:p>
            <a:fld id="{0E4D174F-CA97-4110-81AD-78F139EE913C}" type="slidenum">
              <a:rPr lang="en-US" smtClean="0"/>
              <a:t>54</a:t>
            </a:fld>
            <a:endParaRPr lang="en-US"/>
          </a:p>
        </p:txBody>
      </p:sp>
    </p:spTree>
    <p:extLst>
      <p:ext uri="{BB962C8B-B14F-4D97-AF65-F5344CB8AC3E}">
        <p14:creationId xmlns:p14="http://schemas.microsoft.com/office/powerpoint/2010/main" val="3607303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accent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83A977F-2504-E741-85B4-8F01994E1F25}" type="datetimeFigureOut">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787643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9A02F-357D-AF42-B110-A7740AFDCA1B}" type="datetimeFigureOut">
              <a:rPr lang="en-US" smtClean="0"/>
              <a:t>11/3/2022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814104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CF7878-2C98-7449-BB8F-764A5EA8E558}" type="datetimeFigureOut">
              <a:rPr lang="en-US" smtClean="0"/>
              <a:t>11/3/2022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303101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8C0351-EB03-5444-BA93-B7E778374E24}" type="datetimeFigureOut">
              <a:rPr lang="en-US" smtClean="0"/>
              <a:t>11/3/2022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901997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bg2">
                <a:tint val="90000"/>
                <a:satMod val="92000"/>
                <a:lumMod val="120000"/>
              </a:schemeClr>
            </a:gs>
            <a:gs pos="100000">
              <a:schemeClr val="accent1">
                <a:lumMod val="40000"/>
                <a:lumOff val="60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EADB90-FF7E-5041-AB9F-1BC0957AB829}" type="datetimeFigureOut">
              <a:rPr lang="en-US" smtClean="0"/>
              <a:t>11/3/2022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54154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0000"/>
                <a:satMod val="92000"/>
                <a:lumMod val="120000"/>
              </a:schemeClr>
            </a:gs>
            <a:gs pos="100000">
              <a:schemeClr val="accent1">
                <a:lumMod val="40000"/>
                <a:lumOff val="60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accent2">
                    <a:lumMod val="50000"/>
                  </a:schemeClr>
                </a:solidFill>
              </a:defRPr>
            </a:lvl1pPr>
          </a:lstStyle>
          <a:p>
            <a:fld id="{4D9FFFB4-400D-1240-AB24-6F86C96D4DFB}" type="datetimeFigureOut">
              <a:rPr lang="en-US" smtClean="0"/>
              <a:pPr/>
              <a:t>11/3/2022</a:t>
            </a:fld>
            <a:endParaRPr lang="en-US" dirty="0"/>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47368529"/>
      </p:ext>
    </p:extLst>
  </p:cSld>
  <p:clrMap bg1="lt1" tx1="dk1" bg2="lt2" tx2="dk2" accent1="accent1" accent2="accent2" accent3="accent3" accent4="accent4" accent5="accent5" accent6="accent6" hlink="hlink" folHlink="folHlink"/>
  <p:sldLayoutIdLst>
    <p:sldLayoutId id="2147483970" r:id="rId1"/>
    <p:sldLayoutId id="2147483971" r:id="rId2"/>
    <p:sldLayoutId id="2147483973" r:id="rId3"/>
    <p:sldLayoutId id="2147483975" r:id="rId4"/>
    <p:sldLayoutId id="2147483976" r:id="rId5"/>
  </p:sldLayoutIdLst>
  <p:txStyles>
    <p:titleStyle>
      <a:lvl1pPr algn="l" defTabSz="457200" rtl="0" eaLnBrk="1" latinLnBrk="0" hangingPunct="1">
        <a:spcBef>
          <a:spcPct val="0"/>
        </a:spcBef>
        <a:buNone/>
        <a:defRPr sz="3600" kern="1200">
          <a:solidFill>
            <a:schemeClr val="accent2">
              <a:lumMod val="50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accent2">
              <a:lumMod val="50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accent2">
              <a:lumMod val="50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accent2">
              <a:lumMod val="50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accent2">
              <a:lumMod val="50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accent2">
              <a:lumMod val="50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chart" Target="../charts/chart15.xml"/><Relationship Id="rId5" Type="http://schemas.openxmlformats.org/officeDocument/2006/relationships/chart" Target="../charts/chart14.xml"/><Relationship Id="rId4" Type="http://schemas.openxmlformats.org/officeDocument/2006/relationships/chart" Target="../charts/char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36.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chart" Target="../charts/chart18.xml"/></Relationships>
</file>

<file path=ppt/slides/_rels/slide38.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5.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A47F48-14F5-4BC0-A801-E99D6209A4C5}"/>
              </a:ext>
            </a:extLst>
          </p:cNvPr>
          <p:cNvSpPr txBox="1"/>
          <p:nvPr/>
        </p:nvSpPr>
        <p:spPr>
          <a:xfrm>
            <a:off x="303191" y="4404992"/>
            <a:ext cx="3450661" cy="1200329"/>
          </a:xfrm>
          <a:prstGeom prst="rect">
            <a:avLst/>
          </a:prstGeom>
          <a:noFill/>
        </p:spPr>
        <p:txBody>
          <a:bodyPr wrap="square" rtlCol="0">
            <a:spAutoFit/>
          </a:bodyPr>
          <a:lstStyle/>
          <a:p>
            <a:r>
              <a:rPr lang="pt-PT" sz="2400" dirty="0">
                <a:solidFill>
                  <a:schemeClr val="accent2">
                    <a:lumMod val="50000"/>
                  </a:schemeClr>
                </a:solidFill>
              </a:rPr>
              <a:t>Evento</a:t>
            </a:r>
          </a:p>
          <a:p>
            <a:r>
              <a:rPr lang="pt-PT" sz="2400" dirty="0">
                <a:solidFill>
                  <a:schemeClr val="accent2">
                    <a:lumMod val="50000"/>
                  </a:schemeClr>
                </a:solidFill>
              </a:rPr>
              <a:t>Local e data</a:t>
            </a:r>
          </a:p>
          <a:p>
            <a:r>
              <a:rPr lang="pt-PT" sz="2400" dirty="0">
                <a:solidFill>
                  <a:schemeClr val="accent2">
                    <a:lumMod val="50000"/>
                  </a:schemeClr>
                </a:solidFill>
              </a:rPr>
              <a:t>Nome do palestrante</a:t>
            </a:r>
          </a:p>
        </p:txBody>
      </p:sp>
      <p:pic>
        <p:nvPicPr>
          <p:cNvPr id="5" name="Picture 4" descr="Text&#10;&#10;Description automatically generated">
            <a:extLst>
              <a:ext uri="{FF2B5EF4-FFF2-40B4-BE49-F238E27FC236}">
                <a16:creationId xmlns:a16="http://schemas.microsoft.com/office/drawing/2014/main" id="{682BE371-319E-4D32-BBF2-8119A900D0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06584" y="4293096"/>
            <a:ext cx="2221696" cy="1221838"/>
          </a:xfrm>
          <a:prstGeom prst="rect">
            <a:avLst/>
          </a:prstGeom>
        </p:spPr>
      </p:pic>
      <p:pic>
        <p:nvPicPr>
          <p:cNvPr id="8" name="Picture 7" descr="Text, logo&#10;&#10;Description automatically generated">
            <a:extLst>
              <a:ext uri="{FF2B5EF4-FFF2-40B4-BE49-F238E27FC236}">
                <a16:creationId xmlns:a16="http://schemas.microsoft.com/office/drawing/2014/main" id="{33A7E350-04C6-4C5D-9A5D-C59D96A1EC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5399" y="385926"/>
            <a:ext cx="5193201" cy="3672408"/>
          </a:xfrm>
          <a:prstGeom prst="rect">
            <a:avLst/>
          </a:prstGeom>
        </p:spPr>
      </p:pic>
      <p:pic>
        <p:nvPicPr>
          <p:cNvPr id="6" name="Picture 1">
            <a:extLst>
              <a:ext uri="{FF2B5EF4-FFF2-40B4-BE49-F238E27FC236}">
                <a16:creationId xmlns:a16="http://schemas.microsoft.com/office/drawing/2014/main" id="{3CF04476-E4DF-4AFA-A02A-42C17DF17F25}"/>
              </a:ext>
            </a:extLst>
          </p:cNvPr>
          <p:cNvPicPr>
            <a:picLocks noChangeAspect="1" noChangeArrowheads="1"/>
          </p:cNvPicPr>
          <p:nvPr/>
        </p:nvPicPr>
        <p:blipFill>
          <a:blip r:embed="rId5" cstate="print"/>
          <a:srcRect/>
          <a:stretch>
            <a:fillRect/>
          </a:stretch>
        </p:blipFill>
        <p:spPr bwMode="auto">
          <a:xfrm>
            <a:off x="-39757" y="5661248"/>
            <a:ext cx="9183757" cy="1500502"/>
          </a:xfrm>
          <a:prstGeom prst="rect">
            <a:avLst/>
          </a:prstGeom>
          <a:noFill/>
          <a:ln w="9525">
            <a:noFill/>
            <a:miter lim="800000"/>
            <a:headEnd/>
            <a:tailEnd/>
          </a:ln>
        </p:spPr>
      </p:pic>
      <p:sp>
        <p:nvSpPr>
          <p:cNvPr id="7" name="TextBox 6">
            <a:extLst>
              <a:ext uri="{FF2B5EF4-FFF2-40B4-BE49-F238E27FC236}">
                <a16:creationId xmlns:a16="http://schemas.microsoft.com/office/drawing/2014/main" id="{12AB5B33-E85B-4D53-B046-95E161601B5E}"/>
              </a:ext>
            </a:extLst>
          </p:cNvPr>
          <p:cNvSpPr txBox="1"/>
          <p:nvPr/>
        </p:nvSpPr>
        <p:spPr>
          <a:xfrm rot="16200000">
            <a:off x="7716401" y="3068359"/>
            <a:ext cx="2054993" cy="338554"/>
          </a:xfrm>
          <a:prstGeom prst="rect">
            <a:avLst/>
          </a:prstGeom>
          <a:noFill/>
        </p:spPr>
        <p:txBody>
          <a:bodyPr wrap="square">
            <a:spAutoFit/>
          </a:bodyPr>
          <a:lstStyle/>
          <a:p>
            <a:r>
              <a:rPr lang="pt-PT" sz="1600" b="0" i="0" dirty="0">
                <a:solidFill>
                  <a:srgbClr val="00703C"/>
                </a:solidFill>
                <a:effectLst/>
                <a:latin typeface="Segoe UI" panose="020B0502040204020203" pitchFamily="34" charset="0"/>
              </a:rPr>
              <a:t>RI/NOV22/EM/009</a:t>
            </a:r>
            <a:endParaRPr lang="pt-PT" sz="1600" dirty="0">
              <a:solidFill>
                <a:srgbClr val="00703C"/>
              </a:solidFill>
            </a:endParaRPr>
          </a:p>
        </p:txBody>
      </p:sp>
    </p:spTree>
    <p:extLst>
      <p:ext uri="{BB962C8B-B14F-4D97-AF65-F5344CB8AC3E}">
        <p14:creationId xmlns:p14="http://schemas.microsoft.com/office/powerpoint/2010/main" val="577055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ChangeArrowheads="1"/>
          </p:cNvSpPr>
          <p:nvPr/>
        </p:nvSpPr>
        <p:spPr bwMode="auto">
          <a:xfrm>
            <a:off x="198438" y="1908832"/>
            <a:ext cx="8496300" cy="574675"/>
          </a:xfrm>
          <a:prstGeom prst="roundRect">
            <a:avLst>
              <a:gd name="adj" fmla="val 50000"/>
            </a:avLst>
          </a:prstGeom>
          <a:solidFill>
            <a:schemeClr val="accent1">
              <a:lumMod val="60000"/>
              <a:lumOff val="40000"/>
            </a:schemeClr>
          </a:solidFill>
          <a:ln w="9525">
            <a:noFill/>
            <a:round/>
            <a:headEnd/>
            <a:tailEnd/>
          </a:ln>
        </p:spPr>
        <p:txBody>
          <a:bodyPr wrap="none" anchor="ctr"/>
          <a:lstStyle/>
          <a:p>
            <a:pPr eaLnBrk="1" hangingPunct="1">
              <a:buClr>
                <a:srgbClr val="000000"/>
              </a:buClr>
              <a:buSzPct val="100000"/>
              <a:buFont typeface="Calibri" pitchFamily="34" charset="0"/>
              <a:buNone/>
            </a:pPr>
            <a:endParaRPr lang="es-ES_tradnl" altLang="es-ES" dirty="0"/>
          </a:p>
        </p:txBody>
      </p:sp>
      <p:sp>
        <p:nvSpPr>
          <p:cNvPr id="3075" name="Rectangle 3"/>
          <p:cNvSpPr>
            <a:spLocks noGrp="1" noChangeArrowheads="1"/>
          </p:cNvSpPr>
          <p:nvPr>
            <p:ph idx="1"/>
          </p:nvPr>
        </p:nvSpPr>
        <p:spPr>
          <a:xfrm>
            <a:off x="465138" y="1196974"/>
            <a:ext cx="8229600" cy="4366427"/>
          </a:xfrm>
        </p:spPr>
        <p:txBody>
          <a:bodyPr>
            <a:normAutofit fontScale="85000" lnSpcReduction="20000"/>
          </a:bodyPr>
          <a:lstStyle/>
          <a:p>
            <a:pPr eaLnBrk="1" hangingPunct="1">
              <a:lnSpc>
                <a:spcPct val="150000"/>
              </a:lnSpc>
            </a:pPr>
            <a:endParaRPr lang="pt-PT" altLang="es-ES" sz="3000" b="1" dirty="0"/>
          </a:p>
          <a:p>
            <a:pPr eaLnBrk="1" hangingPunct="1">
              <a:lnSpc>
                <a:spcPct val="150000"/>
              </a:lnSpc>
            </a:pPr>
            <a:r>
              <a:rPr lang="pt-PT" altLang="es-ES" sz="3000" b="1" dirty="0"/>
              <a:t>RINIALER em Pediatria (&lt; 12 anos) </a:t>
            </a:r>
          </a:p>
          <a:p>
            <a:pPr lvl="1">
              <a:lnSpc>
                <a:spcPct val="150000"/>
              </a:lnSpc>
            </a:pPr>
            <a:r>
              <a:rPr lang="pt-PT" altLang="es-ES" sz="2800" b="1" dirty="0"/>
              <a:t>Rinite alérgica: Eficácia clínica</a:t>
            </a:r>
          </a:p>
          <a:p>
            <a:pPr lvl="1">
              <a:lnSpc>
                <a:spcPct val="150000"/>
              </a:lnSpc>
            </a:pPr>
            <a:r>
              <a:rPr lang="pt-PT" altLang="es-ES" sz="2800" b="1" dirty="0"/>
              <a:t>Urticária: Eficácia clínica</a:t>
            </a:r>
          </a:p>
          <a:p>
            <a:pPr lvl="1">
              <a:lnSpc>
                <a:spcPct val="150000"/>
              </a:lnSpc>
            </a:pPr>
            <a:r>
              <a:rPr lang="pt-PT" altLang="es-ES" sz="2800" b="1" dirty="0"/>
              <a:t>Segurança e Tolerabilidade</a:t>
            </a:r>
          </a:p>
          <a:p>
            <a:pPr eaLnBrk="1" hangingPunct="1">
              <a:lnSpc>
                <a:spcPct val="150000"/>
              </a:lnSpc>
            </a:pPr>
            <a:r>
              <a:rPr lang="pt-PT" altLang="es-ES" sz="3000" b="1" dirty="0"/>
              <a:t>Conclusões</a:t>
            </a:r>
          </a:p>
          <a:p>
            <a:pPr eaLnBrk="1" hangingPunct="1">
              <a:lnSpc>
                <a:spcPct val="150000"/>
              </a:lnSpc>
            </a:pPr>
            <a:r>
              <a:rPr lang="pt-PT" altLang="es-ES" sz="3000" b="1" dirty="0"/>
              <a:t>Indicações terapêuticas</a:t>
            </a:r>
          </a:p>
        </p:txBody>
      </p:sp>
      <p:sp>
        <p:nvSpPr>
          <p:cNvPr id="6" name="Text Box 3"/>
          <p:cNvSpPr txBox="1">
            <a:spLocks noChangeArrowheads="1"/>
          </p:cNvSpPr>
          <p:nvPr/>
        </p:nvSpPr>
        <p:spPr bwMode="auto">
          <a:xfrm>
            <a:off x="1442161" y="629574"/>
            <a:ext cx="8291512" cy="615553"/>
          </a:xfrm>
          <a:prstGeom prst="rect">
            <a:avLst/>
          </a:prstGeom>
          <a:noFill/>
          <a:ln w="9525">
            <a:noFill/>
            <a:miter lim="800000"/>
            <a:headEnd/>
            <a:tailEnd/>
          </a:ln>
        </p:spPr>
        <p:txBody>
          <a:bodyPr lIns="180000" tIns="0" rIns="180000" bIns="0">
            <a:spAutoFit/>
          </a:bodyPr>
          <a:lstStyle/>
          <a:p>
            <a:pPr eaLnBrk="1" hangingPunct="1">
              <a:spcBef>
                <a:spcPts val="550"/>
              </a:spcBef>
              <a:buClr>
                <a:srgbClr val="000000"/>
              </a:buClr>
              <a:buSzPct val="100000"/>
              <a:buFont typeface="Calibri" pitchFamily="34" charset="0"/>
              <a:buNone/>
            </a:pPr>
            <a:r>
              <a:rPr lang="pt-PT" altLang="es-ES" sz="4000">
                <a:solidFill>
                  <a:schemeClr val="accent2">
                    <a:lumMod val="50000"/>
                  </a:schemeClr>
                </a:solidFill>
              </a:rPr>
              <a:t>ÍNDICE</a:t>
            </a:r>
            <a:endParaRPr lang="pt-PT" altLang="es-ES" sz="4000" dirty="0">
              <a:solidFill>
                <a:schemeClr val="accent2">
                  <a:lumMod val="50000"/>
                </a:schemeClr>
              </a:solidFill>
            </a:endParaRPr>
          </a:p>
        </p:txBody>
      </p:sp>
      <p:pic>
        <p:nvPicPr>
          <p:cNvPr id="3" name="Picture 2" descr="Text, logo&#10;&#10;Description automatically generated">
            <a:extLst>
              <a:ext uri="{FF2B5EF4-FFF2-40B4-BE49-F238E27FC236}">
                <a16:creationId xmlns:a16="http://schemas.microsoft.com/office/drawing/2014/main" id="{0A68C56D-5DCA-4C87-93E9-A9A726187A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7701" y="-386794"/>
            <a:ext cx="2566299" cy="1814776"/>
          </a:xfrm>
          <a:prstGeom prst="rect">
            <a:avLst/>
          </a:prstGeom>
        </p:spPr>
      </p:pic>
      <p:pic>
        <p:nvPicPr>
          <p:cNvPr id="4" name="Picture 3" descr="A person holding a child&#10;&#10;Description automatically generated with low confidence">
            <a:extLst>
              <a:ext uri="{FF2B5EF4-FFF2-40B4-BE49-F238E27FC236}">
                <a16:creationId xmlns:a16="http://schemas.microsoft.com/office/drawing/2014/main" id="{5B4E8430-8CB0-4466-B20F-0DB182D33C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26535" y="3927106"/>
            <a:ext cx="4427089" cy="2950143"/>
          </a:xfrm>
          <a:prstGeom prst="rect">
            <a:avLst/>
          </a:prstGeom>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ChangeArrowheads="1"/>
          </p:cNvSpPr>
          <p:nvPr/>
        </p:nvSpPr>
        <p:spPr bwMode="auto">
          <a:xfrm>
            <a:off x="198438" y="2399723"/>
            <a:ext cx="8496300" cy="574675"/>
          </a:xfrm>
          <a:prstGeom prst="roundRect">
            <a:avLst>
              <a:gd name="adj" fmla="val 50000"/>
            </a:avLst>
          </a:prstGeom>
          <a:solidFill>
            <a:schemeClr val="accent1">
              <a:lumMod val="60000"/>
              <a:lumOff val="40000"/>
            </a:schemeClr>
          </a:solidFill>
          <a:ln w="9525">
            <a:noFill/>
            <a:round/>
            <a:headEnd/>
            <a:tailEnd/>
          </a:ln>
        </p:spPr>
        <p:txBody>
          <a:bodyPr wrap="none" anchor="ctr"/>
          <a:lstStyle/>
          <a:p>
            <a:pPr eaLnBrk="1" hangingPunct="1">
              <a:buClr>
                <a:srgbClr val="000000"/>
              </a:buClr>
              <a:buSzPct val="100000"/>
              <a:buFont typeface="Calibri" pitchFamily="34" charset="0"/>
              <a:buNone/>
            </a:pPr>
            <a:endParaRPr lang="es-ES_tradnl" altLang="es-ES" dirty="0"/>
          </a:p>
        </p:txBody>
      </p:sp>
      <p:sp>
        <p:nvSpPr>
          <p:cNvPr id="3075" name="Rectangle 3"/>
          <p:cNvSpPr>
            <a:spLocks noGrp="1" noChangeArrowheads="1"/>
          </p:cNvSpPr>
          <p:nvPr>
            <p:ph idx="1"/>
          </p:nvPr>
        </p:nvSpPr>
        <p:spPr>
          <a:xfrm>
            <a:off x="465138" y="1196974"/>
            <a:ext cx="8229600" cy="4279801"/>
          </a:xfrm>
        </p:spPr>
        <p:txBody>
          <a:bodyPr>
            <a:normAutofit fontScale="77500" lnSpcReduction="20000"/>
          </a:bodyPr>
          <a:lstStyle/>
          <a:p>
            <a:pPr eaLnBrk="1" hangingPunct="1">
              <a:lnSpc>
                <a:spcPct val="150000"/>
              </a:lnSpc>
            </a:pPr>
            <a:endParaRPr lang="pt-PT" altLang="es-ES" sz="3000" b="1" dirty="0"/>
          </a:p>
          <a:p>
            <a:pPr eaLnBrk="1" hangingPunct="1">
              <a:lnSpc>
                <a:spcPct val="150000"/>
              </a:lnSpc>
            </a:pPr>
            <a:r>
              <a:rPr lang="pt-PT" altLang="es-ES" sz="3000" b="1" dirty="0"/>
              <a:t>RINIALER em Pediatria (&lt; 12 anos) </a:t>
            </a:r>
          </a:p>
          <a:p>
            <a:pPr lvl="1">
              <a:lnSpc>
                <a:spcPct val="150000"/>
              </a:lnSpc>
            </a:pPr>
            <a:r>
              <a:rPr lang="pt-PT" altLang="es-ES" sz="2800" b="1" dirty="0"/>
              <a:t>Rinite alérgica: Eficácia clínica</a:t>
            </a:r>
          </a:p>
          <a:p>
            <a:pPr lvl="1">
              <a:lnSpc>
                <a:spcPct val="150000"/>
              </a:lnSpc>
            </a:pPr>
            <a:r>
              <a:rPr lang="pt-PT" altLang="es-ES" sz="2800" b="1" dirty="0"/>
              <a:t>Urticária: Eficácia clínica</a:t>
            </a:r>
          </a:p>
          <a:p>
            <a:pPr lvl="1">
              <a:lnSpc>
                <a:spcPct val="150000"/>
              </a:lnSpc>
            </a:pPr>
            <a:r>
              <a:rPr lang="pt-PT" altLang="es-ES" sz="2800" b="1" dirty="0"/>
              <a:t>Segurança e Tolerabilidade</a:t>
            </a:r>
          </a:p>
          <a:p>
            <a:pPr eaLnBrk="1" hangingPunct="1">
              <a:lnSpc>
                <a:spcPct val="150000"/>
              </a:lnSpc>
            </a:pPr>
            <a:r>
              <a:rPr lang="pt-PT" altLang="es-ES" sz="3000" b="1" dirty="0"/>
              <a:t>Conclusões</a:t>
            </a:r>
          </a:p>
          <a:p>
            <a:pPr eaLnBrk="1" hangingPunct="1">
              <a:lnSpc>
                <a:spcPct val="150000"/>
              </a:lnSpc>
            </a:pPr>
            <a:r>
              <a:rPr lang="pt-PT" altLang="es-ES" sz="3000" b="1" dirty="0"/>
              <a:t>Indicações terapêuticas</a:t>
            </a:r>
          </a:p>
        </p:txBody>
      </p:sp>
      <p:pic>
        <p:nvPicPr>
          <p:cNvPr id="3" name="Picture 2" descr="Text, logo&#10;&#10;Description automatically generated">
            <a:extLst>
              <a:ext uri="{FF2B5EF4-FFF2-40B4-BE49-F238E27FC236}">
                <a16:creationId xmlns:a16="http://schemas.microsoft.com/office/drawing/2014/main" id="{0A68C56D-5DCA-4C87-93E9-A9A726187A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7701" y="-386794"/>
            <a:ext cx="2566299" cy="1814776"/>
          </a:xfrm>
          <a:prstGeom prst="rect">
            <a:avLst/>
          </a:prstGeom>
        </p:spPr>
      </p:pic>
      <p:pic>
        <p:nvPicPr>
          <p:cNvPr id="2" name="Picture 1">
            <a:extLst>
              <a:ext uri="{FF2B5EF4-FFF2-40B4-BE49-F238E27FC236}">
                <a16:creationId xmlns:a16="http://schemas.microsoft.com/office/drawing/2014/main" id="{BD468F8C-DA98-44DF-86B1-70FC28D99B35}"/>
              </a:ext>
            </a:extLst>
          </p:cNvPr>
          <p:cNvPicPr>
            <a:picLocks noChangeAspect="1"/>
          </p:cNvPicPr>
          <p:nvPr/>
        </p:nvPicPr>
        <p:blipFill>
          <a:blip r:embed="rId4"/>
          <a:stretch>
            <a:fillRect/>
          </a:stretch>
        </p:blipFill>
        <p:spPr>
          <a:xfrm>
            <a:off x="5358376" y="4339011"/>
            <a:ext cx="3786886" cy="2520000"/>
          </a:xfrm>
          <a:prstGeom prst="rect">
            <a:avLst/>
          </a:prstGeom>
        </p:spPr>
      </p:pic>
    </p:spTree>
    <p:extLst>
      <p:ext uri="{BB962C8B-B14F-4D97-AF65-F5344CB8AC3E}">
        <p14:creationId xmlns:p14="http://schemas.microsoft.com/office/powerpoint/2010/main" val="92464713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Box 48">
            <a:extLst>
              <a:ext uri="{FF2B5EF4-FFF2-40B4-BE49-F238E27FC236}">
                <a16:creationId xmlns:a16="http://schemas.microsoft.com/office/drawing/2014/main" id="{C556E726-B7C8-4499-A277-8F42392B44A1}"/>
              </a:ext>
            </a:extLst>
          </p:cNvPr>
          <p:cNvSpPr txBox="1">
            <a:spLocks noChangeArrowheads="1"/>
          </p:cNvSpPr>
          <p:nvPr/>
        </p:nvSpPr>
        <p:spPr bwMode="auto">
          <a:xfrm>
            <a:off x="1328285" y="407320"/>
            <a:ext cx="7600375" cy="1107996"/>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pPr>
            <a:r>
              <a:rPr lang="pt-PT" sz="3200" kern="0" dirty="0">
                <a:solidFill>
                  <a:schemeClr val="accent2">
                    <a:lumMod val="50000"/>
                  </a:schemeClr>
                </a:solidFill>
              </a:rPr>
              <a:t>Eficácia</a:t>
            </a:r>
            <a:r>
              <a:rPr lang="pt-PT" dirty="0">
                <a:solidFill>
                  <a:schemeClr val="accent2">
                    <a:lumMod val="50000"/>
                  </a:schemeClr>
                </a:solidFill>
              </a:rPr>
              <a:t> </a:t>
            </a:r>
            <a:r>
              <a:rPr lang="pt-PT" sz="3200" kern="0" dirty="0">
                <a:solidFill>
                  <a:schemeClr val="accent2">
                    <a:lumMod val="50000"/>
                  </a:schemeClr>
                </a:solidFill>
              </a:rPr>
              <a:t>clínica da </a:t>
            </a:r>
            <a:r>
              <a:rPr lang="pt-PT" sz="3200" kern="0" dirty="0" err="1">
                <a:solidFill>
                  <a:schemeClr val="accent2">
                    <a:lumMod val="50000"/>
                  </a:schemeClr>
                </a:solidFill>
              </a:rPr>
              <a:t>Rinialer</a:t>
            </a:r>
            <a:r>
              <a:rPr lang="pt-PT" sz="3200" kern="0" dirty="0">
                <a:solidFill>
                  <a:schemeClr val="accent2">
                    <a:lumMod val="50000"/>
                  </a:schemeClr>
                </a:solidFill>
              </a:rPr>
              <a:t> em crianças</a:t>
            </a:r>
            <a:r>
              <a:rPr lang="pt-PT" dirty="0">
                <a:solidFill>
                  <a:schemeClr val="accent2">
                    <a:lumMod val="50000"/>
                  </a:schemeClr>
                </a:solidFill>
              </a:rPr>
              <a:t> </a:t>
            </a:r>
            <a:r>
              <a:rPr lang="pt-PT" sz="3200" kern="0" dirty="0">
                <a:solidFill>
                  <a:schemeClr val="accent2">
                    <a:lumMod val="50000"/>
                  </a:schemeClr>
                </a:solidFill>
              </a:rPr>
              <a:t>com</a:t>
            </a:r>
            <a:r>
              <a:rPr lang="pt-PT" dirty="0">
                <a:solidFill>
                  <a:schemeClr val="accent2">
                    <a:lumMod val="50000"/>
                  </a:schemeClr>
                </a:solidFill>
              </a:rPr>
              <a:t> </a:t>
            </a:r>
            <a:r>
              <a:rPr lang="pt-PT" sz="3200" kern="0" dirty="0">
                <a:solidFill>
                  <a:schemeClr val="accent2">
                    <a:lumMod val="50000"/>
                  </a:schemeClr>
                </a:solidFill>
              </a:rPr>
              <a:t>rinite</a:t>
            </a:r>
            <a:r>
              <a:rPr lang="pt-PT" dirty="0">
                <a:solidFill>
                  <a:schemeClr val="accent2">
                    <a:lumMod val="50000"/>
                  </a:schemeClr>
                </a:solidFill>
              </a:rPr>
              <a:t> </a:t>
            </a:r>
            <a:r>
              <a:rPr lang="pt-PT" sz="3200" kern="0" dirty="0">
                <a:solidFill>
                  <a:schemeClr val="accent2">
                    <a:lumMod val="50000"/>
                  </a:schemeClr>
                </a:solidFill>
              </a:rPr>
              <a:t>alérgica: estudo de fase</a:t>
            </a:r>
            <a:r>
              <a:rPr lang="pt-PT" dirty="0">
                <a:solidFill>
                  <a:schemeClr val="accent2">
                    <a:lumMod val="50000"/>
                  </a:schemeClr>
                </a:solidFill>
              </a:rPr>
              <a:t> </a:t>
            </a:r>
            <a:r>
              <a:rPr lang="pt-PT" sz="3200" kern="0" dirty="0">
                <a:solidFill>
                  <a:schemeClr val="accent2">
                    <a:lumMod val="50000"/>
                  </a:schemeClr>
                </a:solidFill>
              </a:rPr>
              <a:t>II</a:t>
            </a:r>
            <a:r>
              <a:rPr lang="pt-PT" dirty="0">
                <a:solidFill>
                  <a:schemeClr val="accent2">
                    <a:lumMod val="50000"/>
                  </a:schemeClr>
                </a:solidFill>
              </a:rPr>
              <a:t> </a:t>
            </a:r>
            <a:endParaRPr lang="pt-PT" sz="3200" kern="0" dirty="0">
              <a:solidFill>
                <a:schemeClr val="accent2">
                  <a:lumMod val="50000"/>
                </a:schemeClr>
              </a:solidFill>
            </a:endParaRPr>
          </a:p>
        </p:txBody>
      </p:sp>
      <p:graphicFrame>
        <p:nvGraphicFramePr>
          <p:cNvPr id="63" name="Group 95">
            <a:extLst>
              <a:ext uri="{FF2B5EF4-FFF2-40B4-BE49-F238E27FC236}">
                <a16:creationId xmlns:a16="http://schemas.microsoft.com/office/drawing/2014/main" id="{C8D7FA81-4812-4457-8A67-14BBD56BD5A8}"/>
              </a:ext>
            </a:extLst>
          </p:cNvPr>
          <p:cNvGraphicFramePr>
            <a:graphicFrameLocks noGrp="1"/>
          </p:cNvGraphicFramePr>
          <p:nvPr>
            <p:extLst>
              <p:ext uri="{D42A27DB-BD31-4B8C-83A1-F6EECF244321}">
                <p14:modId xmlns:p14="http://schemas.microsoft.com/office/powerpoint/2010/main" val="4107999746"/>
              </p:ext>
            </p:extLst>
          </p:nvPr>
        </p:nvGraphicFramePr>
        <p:xfrm>
          <a:off x="856603" y="2049718"/>
          <a:ext cx="7935132" cy="3498277"/>
        </p:xfrm>
        <a:graphic>
          <a:graphicData uri="http://schemas.openxmlformats.org/drawingml/2006/table">
            <a:tbl>
              <a:tblPr firstRow="1">
                <a:tableStyleId>{21E4AEA4-8DFA-4A89-87EB-49C32662AFE0}</a:tableStyleId>
              </a:tblPr>
              <a:tblGrid>
                <a:gridCol w="2056953">
                  <a:extLst>
                    <a:ext uri="{9D8B030D-6E8A-4147-A177-3AD203B41FA5}">
                      <a16:colId xmlns:a16="http://schemas.microsoft.com/office/drawing/2014/main" val="20000"/>
                    </a:ext>
                  </a:extLst>
                </a:gridCol>
                <a:gridCol w="5878179">
                  <a:extLst>
                    <a:ext uri="{9D8B030D-6E8A-4147-A177-3AD203B41FA5}">
                      <a16:colId xmlns:a16="http://schemas.microsoft.com/office/drawing/2014/main" val="20001"/>
                    </a:ext>
                  </a:extLst>
                </a:gridCol>
              </a:tblGrid>
              <a:tr h="766957">
                <a:tc gridSpan="2">
                  <a:txBody>
                    <a:bodyPr/>
                    <a:lstStyle/>
                    <a:p>
                      <a:pPr algn="ctr" eaLnBrk="1" hangingPunct="1">
                        <a:buClr>
                          <a:srgbClr val="000000"/>
                        </a:buClr>
                        <a:buSzPct val="100000"/>
                        <a:buFont typeface="Times New Roman" pitchFamily="18" charset="0"/>
                        <a:buNone/>
                        <a:defRPr/>
                      </a:pPr>
                      <a:r>
                        <a:rPr lang="en-GB" sz="1800" u="none" dirty="0" err="1"/>
                        <a:t>Rinialer</a:t>
                      </a:r>
                      <a:r>
                        <a:rPr lang="en-GB" sz="1800" u="none" dirty="0"/>
                        <a:t> em crianças </a:t>
                      </a:r>
                      <a:r>
                        <a:rPr lang="en-GB" sz="1800" b="1" u="none" dirty="0"/>
                        <a:t>dos 6 aos 11 </a:t>
                      </a:r>
                      <a:r>
                        <a:rPr lang="en-GB" sz="1800" u="none" dirty="0"/>
                        <a:t>anos de idade</a:t>
                      </a:r>
                      <a:r>
                        <a:rPr dirty="0"/>
                        <a:t> </a:t>
                      </a:r>
                      <a:r>
                        <a:rPr lang="en-GB" sz="1800" b="1" u="none" baseline="0" dirty="0"/>
                        <a:t>com rinite alérgica</a:t>
                      </a:r>
                      <a:endParaRPr lang="pt-PT" sz="1800" u="none" dirty="0"/>
                    </a:p>
                  </a:txBody>
                  <a:tcPr marL="143986" marR="143986" marT="46793" marB="46793" anchor="ctr" horzOverflow="overflow"/>
                </a:tc>
                <a:tc hMerge="1">
                  <a:txBody>
                    <a:bodyPr/>
                    <a:lstStyle/>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endParaRPr kumimoji="0" lang="en-GB" sz="1600" b="0" i="0" u="none" strike="noStrike" cap="none" normalizeH="0" baseline="0" dirty="0">
                        <a:ln>
                          <a:noFill/>
                        </a:ln>
                        <a:solidFill>
                          <a:srgbClr val="333399"/>
                        </a:solidFill>
                        <a:effectLst/>
                        <a:latin typeface="Calibri" charset="0"/>
                        <a:ea typeface="ＭＳ Ｐゴシック" charset="-128"/>
                      </a:endParaRPr>
                    </a:p>
                  </a:txBody>
                  <a:tcPr marL="144000" marR="144000" marT="46800" marB="46800" anchor="ctr" horzOverflow="overflow">
                    <a:lnL w="38100" cap="flat" cmpd="sng" algn="ctr">
                      <a:solidFill>
                        <a:schemeClr val="bg1"/>
                      </a:solidFill>
                      <a:prstDash val="solid"/>
                      <a:round/>
                      <a:headEnd type="none" w="med" len="med"/>
                      <a:tailEnd type="none" w="med" len="med"/>
                    </a:lnL>
                    <a:lnR>
                      <a:noFill/>
                    </a:lnR>
                    <a:lnT>
                      <a:noFill/>
                    </a:lnT>
                    <a:lnB w="381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82390">
                <a:tc>
                  <a:txBody>
                    <a:bodyPr/>
                    <a:lstStyle/>
                    <a:p>
                      <a:pPr marL="0" marR="0" lvl="0" indent="0" algn="l" defTabSz="449263" rtl="0" eaLnBrk="1" fontAlgn="base" latinLnBrk="0" hangingPunct="1">
                        <a:lnSpc>
                          <a:spcPct val="90000"/>
                        </a:lnSpc>
                        <a:spcBef>
                          <a:spcPts val="60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Desenho/duração</a:t>
                      </a:r>
                      <a:endParaRPr kumimoji="0" lang="pt-PT" sz="1400" b="1" i="0" u="none" strike="noStrike" cap="none" normalizeH="0" baseline="0" dirty="0">
                        <a:ln>
                          <a:noFill/>
                        </a:ln>
                        <a:solidFill>
                          <a:schemeClr val="accent2">
                            <a:lumMod val="50000"/>
                          </a:schemeClr>
                        </a:solidFill>
                        <a:effectLst/>
                        <a:latin typeface="Calibri" charset="0"/>
                        <a:ea typeface="ＭＳ Ｐゴシック" charset="-128"/>
                      </a:endParaRPr>
                    </a:p>
                  </a:txBody>
                  <a:tcPr marL="143986" marR="143986" marT="46793" marB="46793" anchor="ctr" horzOverflow="overflow"/>
                </a:tc>
                <a:tc>
                  <a:txBody>
                    <a:bodyPr/>
                    <a:lstStyle/>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r>
                        <a:rPr kumimoji="0" lang="es-ES" sz="1400" u="none" strike="noStrike" cap="none" normalizeH="0" baseline="0" dirty="0">
                          <a:ln>
                            <a:noFill/>
                          </a:ln>
                          <a:solidFill>
                            <a:schemeClr val="accent2">
                              <a:lumMod val="50000"/>
                            </a:schemeClr>
                          </a:solidFill>
                          <a:effectLst/>
                        </a:rPr>
                        <a:t>Ensaio aberto de</a:t>
                      </a:r>
                      <a:r>
                        <a:rPr dirty="0">
                          <a:solidFill>
                            <a:schemeClr val="accent2">
                              <a:lumMod val="50000"/>
                            </a:schemeClr>
                          </a:solidFill>
                        </a:rPr>
                        <a:t> </a:t>
                      </a:r>
                      <a:r>
                        <a:rPr kumimoji="0" lang="es-ES" sz="1400" u="none" strike="noStrike" cap="none" normalizeH="0" baseline="0" dirty="0">
                          <a:ln>
                            <a:noFill/>
                          </a:ln>
                          <a:solidFill>
                            <a:schemeClr val="accent2">
                              <a:lumMod val="50000"/>
                            </a:schemeClr>
                          </a:solidFill>
                          <a:effectLst/>
                        </a:rPr>
                        <a:t>fase II </a:t>
                      </a:r>
                    </a:p>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r>
                        <a:rPr kumimoji="0" lang="es-ES" sz="1400" u="none" strike="noStrike" cap="none" normalizeH="0" baseline="0" dirty="0">
                          <a:ln>
                            <a:noFill/>
                          </a:ln>
                          <a:solidFill>
                            <a:schemeClr val="accent2">
                              <a:lumMod val="50000"/>
                            </a:schemeClr>
                          </a:solidFill>
                          <a:effectLst/>
                        </a:rPr>
                        <a:t>Desenho em duas partes</a:t>
                      </a:r>
                      <a:endParaRPr kumimoji="0" lang="pt-PT" sz="1400" u="none" strike="noStrike" cap="none" normalizeH="0" baseline="0" dirty="0">
                        <a:ln>
                          <a:noFill/>
                        </a:ln>
                        <a:solidFill>
                          <a:schemeClr val="accent2">
                            <a:lumMod val="50000"/>
                          </a:schemeClr>
                        </a:solidFill>
                        <a:effectLst/>
                      </a:endParaRPr>
                    </a:p>
                    <a:p>
                      <a:pPr marL="365125" marR="0" lvl="0" indent="-182563" algn="l" defTabSz="449263" rtl="0" eaLnBrk="0" fontAlgn="base" latinLnBrk="0" hangingPunct="0">
                        <a:lnSpc>
                          <a:spcPct val="90000"/>
                        </a:lnSpc>
                        <a:spcBef>
                          <a:spcPts val="350"/>
                        </a:spcBef>
                        <a:spcAft>
                          <a:spcPct val="0"/>
                        </a:spcAft>
                        <a:buClr>
                          <a:srgbClr val="990033"/>
                        </a:buClr>
                        <a:buSzPct val="85000"/>
                        <a:buFont typeface="Arial" pitchFamily="34" charset="0"/>
                        <a:buChar char="•"/>
                        <a:tabLst/>
                        <a:defRPr/>
                      </a:pPr>
                      <a:r>
                        <a:rPr kumimoji="0" lang="es-ES" sz="1400" u="none" strike="noStrike" cap="none" normalizeH="0" baseline="0" dirty="0">
                          <a:ln>
                            <a:noFill/>
                          </a:ln>
                          <a:solidFill>
                            <a:schemeClr val="accent2">
                              <a:lumMod val="50000"/>
                            </a:schemeClr>
                          </a:solidFill>
                          <a:effectLst/>
                        </a:rPr>
                        <a:t>Parte I: </a:t>
                      </a:r>
                      <a:r>
                        <a:rPr lang="en-NZ" sz="1400" kern="0" dirty="0">
                          <a:solidFill>
                            <a:schemeClr val="accent2">
                              <a:lumMod val="50000"/>
                            </a:schemeClr>
                          </a:solidFill>
                        </a:rPr>
                        <a:t>estudo farmacocinético de dose única ao longo de 24 horas</a:t>
                      </a:r>
                    </a:p>
                    <a:p>
                      <a:pPr marL="365125" marR="0" lvl="0" indent="-182563" algn="l" defTabSz="449263" rtl="0" eaLnBrk="0" fontAlgn="base" latinLnBrk="0" hangingPunct="0">
                        <a:lnSpc>
                          <a:spcPct val="90000"/>
                        </a:lnSpc>
                        <a:spcBef>
                          <a:spcPts val="350"/>
                        </a:spcBef>
                        <a:spcAft>
                          <a:spcPct val="0"/>
                        </a:spcAft>
                        <a:buClr>
                          <a:srgbClr val="990033"/>
                        </a:buClr>
                        <a:buSzPct val="85000"/>
                        <a:buFont typeface="Arial" pitchFamily="34" charset="0"/>
                        <a:buChar char="•"/>
                        <a:tabLst/>
                        <a:defRPr/>
                      </a:pPr>
                      <a:r>
                        <a:rPr kumimoji="0" lang="en-NZ" sz="1400" u="none" strike="noStrike" kern="0" cap="none" normalizeH="0" baseline="0" dirty="0">
                          <a:ln>
                            <a:noFill/>
                          </a:ln>
                          <a:solidFill>
                            <a:schemeClr val="accent2">
                              <a:lumMod val="50000"/>
                            </a:schemeClr>
                          </a:solidFill>
                          <a:effectLst/>
                        </a:rPr>
                        <a:t>P</a:t>
                      </a:r>
                      <a:r>
                        <a:rPr kumimoji="0" lang="es-ES" sz="1400" u="none" strike="noStrike" cap="none" normalizeH="0" baseline="0" dirty="0">
                          <a:ln>
                            <a:noFill/>
                          </a:ln>
                          <a:solidFill>
                            <a:schemeClr val="accent2">
                              <a:lumMod val="50000"/>
                            </a:schemeClr>
                          </a:solidFill>
                          <a:effectLst/>
                        </a:rPr>
                        <a:t>arte 2: período</a:t>
                      </a:r>
                      <a:r>
                        <a:rPr dirty="0">
                          <a:solidFill>
                            <a:schemeClr val="accent2">
                              <a:lumMod val="50000"/>
                            </a:schemeClr>
                          </a:solidFill>
                        </a:rPr>
                        <a:t> </a:t>
                      </a:r>
                      <a:r>
                        <a:rPr kumimoji="0" lang="es-ES" sz="1400" u="none" strike="noStrike" cap="none" normalizeH="0" baseline="0" dirty="0">
                          <a:ln>
                            <a:noFill/>
                          </a:ln>
                          <a:solidFill>
                            <a:schemeClr val="accent2">
                              <a:lumMod val="50000"/>
                            </a:schemeClr>
                          </a:solidFill>
                          <a:effectLst/>
                        </a:rPr>
                        <a:t>de tratamento</a:t>
                      </a:r>
                      <a:r>
                        <a:rPr dirty="0">
                          <a:solidFill>
                            <a:schemeClr val="accent2">
                              <a:lumMod val="50000"/>
                            </a:schemeClr>
                          </a:solidFill>
                        </a:rPr>
                        <a:t> </a:t>
                      </a:r>
                      <a:r>
                        <a:rPr kumimoji="0" lang="es-ES" sz="1400" u="none" strike="noStrike" cap="none" normalizeH="0" baseline="0" dirty="0">
                          <a:ln>
                            <a:noFill/>
                          </a:ln>
                          <a:solidFill>
                            <a:schemeClr val="accent2">
                              <a:lumMod val="50000"/>
                            </a:schemeClr>
                          </a:solidFill>
                          <a:effectLst/>
                        </a:rPr>
                        <a:t>de 28 dias</a:t>
                      </a:r>
                      <a:endParaRPr kumimoji="0" lang="pt-PT" sz="1400" b="0" i="0" u="none" strike="noStrike" cap="none" normalizeH="0" baseline="0" dirty="0">
                        <a:ln>
                          <a:noFill/>
                        </a:ln>
                        <a:solidFill>
                          <a:schemeClr val="accent2">
                            <a:lumMod val="50000"/>
                          </a:schemeClr>
                        </a:solidFill>
                        <a:effectLst/>
                        <a:latin typeface="Calibri" charset="0"/>
                        <a:ea typeface="ＭＳ Ｐゴシック" charset="-128"/>
                      </a:endParaRPr>
                    </a:p>
                  </a:txBody>
                  <a:tcPr marL="143986" marR="143986" marT="46793" marB="46793" anchor="ctr" horzOverflow="overflow"/>
                </a:tc>
                <a:extLst>
                  <a:ext uri="{0D108BD9-81ED-4DB2-BD59-A6C34878D82A}">
                    <a16:rowId xmlns:a16="http://schemas.microsoft.com/office/drawing/2014/main" val="10001"/>
                  </a:ext>
                </a:extLst>
              </a:tr>
              <a:tr h="1013547">
                <a:tc>
                  <a:txBody>
                    <a:bodyPr/>
                    <a:lstStyle/>
                    <a:p>
                      <a:pPr marL="0" marR="0" lvl="0" indent="0" algn="l" defTabSz="449263" rtl="0" eaLnBrk="1" fontAlgn="base" latinLnBrk="0" hangingPunct="0">
                        <a:lnSpc>
                          <a:spcPct val="90000"/>
                        </a:lnSpc>
                        <a:spcBef>
                          <a:spcPct val="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Tratamentos/</a:t>
                      </a:r>
                    </a:p>
                    <a:p>
                      <a:pPr marL="0" marR="0" lvl="0" indent="0" algn="l" defTabSz="449263" rtl="0" eaLnBrk="1" fontAlgn="base" latinLnBrk="0" hangingPunct="0">
                        <a:lnSpc>
                          <a:spcPct val="90000"/>
                        </a:lnSpc>
                        <a:spcBef>
                          <a:spcPct val="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Doentes (n)</a:t>
                      </a:r>
                      <a:endParaRPr kumimoji="0" lang="pt-PT" sz="1400" b="1" i="0" u="none" strike="noStrike" cap="none" normalizeH="0" baseline="0" dirty="0">
                        <a:ln>
                          <a:noFill/>
                        </a:ln>
                        <a:solidFill>
                          <a:schemeClr val="accent2">
                            <a:lumMod val="50000"/>
                          </a:schemeClr>
                        </a:solidFill>
                        <a:effectLst/>
                        <a:latin typeface="Calibri" charset="0"/>
                        <a:ea typeface="ＭＳ Ｐゴシック" charset="-128"/>
                      </a:endParaRPr>
                    </a:p>
                  </a:txBody>
                  <a:tcPr marL="143986" marR="143986" marT="46793" marB="46793" anchor="ctr" horzOverflow="overflow"/>
                </a:tc>
                <a:tc>
                  <a:txBody>
                    <a:bodyPr/>
                    <a:lstStyle/>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11 crianças (5 do sexo masculino, 6 do sexo feminino) com idades compreendidas entre os 6 e os 11 anos sofrendo de rinite alérgica sazonal</a:t>
                      </a:r>
                    </a:p>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RUP solução oral:</a:t>
                      </a:r>
                    </a:p>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r>
                        <a:rPr kumimoji="0" lang="pt-PT" sz="1400" b="0" u="none" strike="noStrike" cap="none" normalizeH="0" baseline="0" dirty="0">
                          <a:ln>
                            <a:noFill/>
                          </a:ln>
                          <a:solidFill>
                            <a:schemeClr val="accent2">
                              <a:lumMod val="50000"/>
                            </a:schemeClr>
                          </a:solidFill>
                          <a:effectLst/>
                        </a:rPr>
                        <a:t>&lt; 25 kg: 2,5 ml (2,5 mg)</a:t>
                      </a:r>
                    </a:p>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r>
                        <a:rPr kumimoji="0" lang="pt-PT" sz="1400" b="0" u="none" strike="noStrike" cap="none" normalizeH="0" baseline="0" dirty="0">
                          <a:ln>
                            <a:noFill/>
                          </a:ln>
                          <a:solidFill>
                            <a:schemeClr val="accent2">
                              <a:lumMod val="50000"/>
                            </a:schemeClr>
                          </a:solidFill>
                          <a:effectLst/>
                        </a:rPr>
                        <a:t>≥ 25 kg: 5 ml (5 mg)</a:t>
                      </a:r>
                    </a:p>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endParaRPr kumimoji="0" lang="pt-PT" sz="1400" b="0" i="0" u="none" strike="noStrike" cap="none" normalizeH="0" baseline="0" dirty="0">
                        <a:ln>
                          <a:noFill/>
                        </a:ln>
                        <a:solidFill>
                          <a:schemeClr val="accent2">
                            <a:lumMod val="50000"/>
                          </a:schemeClr>
                        </a:solidFill>
                        <a:effectLst/>
                        <a:latin typeface="Calibri" charset="0"/>
                        <a:ea typeface="ＭＳ Ｐゴシック" charset="-128"/>
                      </a:endParaRPr>
                    </a:p>
                  </a:txBody>
                  <a:tcPr marL="143986" marR="143986" marT="46793" marB="46793" anchor="ctr" horzOverflow="overflow"/>
                </a:tc>
                <a:extLst>
                  <a:ext uri="{0D108BD9-81ED-4DB2-BD59-A6C34878D82A}">
                    <a16:rowId xmlns:a16="http://schemas.microsoft.com/office/drawing/2014/main" val="10002"/>
                  </a:ext>
                </a:extLst>
              </a:tr>
            </a:tbl>
          </a:graphicData>
        </a:graphic>
      </p:graphicFrame>
      <p:sp>
        <p:nvSpPr>
          <p:cNvPr id="64" name="6 Rectángulo">
            <a:extLst>
              <a:ext uri="{FF2B5EF4-FFF2-40B4-BE49-F238E27FC236}">
                <a16:creationId xmlns:a16="http://schemas.microsoft.com/office/drawing/2014/main" id="{14B84B95-AE8A-4689-804F-DF5D62DA51B9}"/>
              </a:ext>
            </a:extLst>
          </p:cNvPr>
          <p:cNvSpPr/>
          <p:nvPr/>
        </p:nvSpPr>
        <p:spPr>
          <a:xfrm>
            <a:off x="1052672" y="6082397"/>
            <a:ext cx="7739063" cy="646331"/>
          </a:xfrm>
          <a:prstGeom prst="rect">
            <a:avLst/>
          </a:prstGeom>
        </p:spPr>
        <p:txBody>
          <a:bodyPr>
            <a:spAutoFit/>
          </a:bodyPr>
          <a:lstStyle/>
          <a:p>
            <a:pPr eaLnBrk="1" hangingPunct="1">
              <a:buClr>
                <a:srgbClr val="000000"/>
              </a:buClr>
              <a:buSzPct val="100000"/>
              <a:buFont typeface="Times New Roman" pitchFamily="18" charset="0"/>
              <a:buNone/>
              <a:defRPr/>
            </a:pPr>
            <a:r>
              <a:rPr lang="pt-PT" sz="1000" b="0" dirty="0">
                <a:solidFill>
                  <a:schemeClr val="accent2">
                    <a:lumMod val="50000"/>
                  </a:schemeClr>
                </a:solidFill>
              </a:rPr>
              <a:t>Izquierdo I. Pediatr</a:t>
            </a:r>
            <a:r>
              <a:rPr lang="pt-PT" dirty="0">
                <a:solidFill>
                  <a:schemeClr val="accent2">
                    <a:lumMod val="50000"/>
                  </a:schemeClr>
                </a:solidFill>
              </a:rPr>
              <a:t> </a:t>
            </a:r>
            <a:r>
              <a:rPr lang="pt-PT" sz="1000" b="0" dirty="0">
                <a:solidFill>
                  <a:schemeClr val="accent2">
                    <a:lumMod val="50000"/>
                  </a:schemeClr>
                </a:solidFill>
              </a:rPr>
              <a:t>Allergy</a:t>
            </a:r>
            <a:r>
              <a:rPr lang="pt-PT" dirty="0">
                <a:solidFill>
                  <a:schemeClr val="accent2">
                    <a:lumMod val="50000"/>
                  </a:schemeClr>
                </a:solidFill>
              </a:rPr>
              <a:t> </a:t>
            </a:r>
            <a:r>
              <a:rPr lang="pt-PT" sz="1000" b="0" dirty="0">
                <a:solidFill>
                  <a:schemeClr val="accent2">
                    <a:lumMod val="50000"/>
                  </a:schemeClr>
                </a:solidFill>
              </a:rPr>
              <a:t>Immunol. 2009; 20(2).</a:t>
            </a:r>
          </a:p>
        </p:txBody>
      </p:sp>
      <p:sp>
        <p:nvSpPr>
          <p:cNvPr id="88" name="Text Box 4">
            <a:extLst>
              <a:ext uri="{FF2B5EF4-FFF2-40B4-BE49-F238E27FC236}">
                <a16:creationId xmlns:a16="http://schemas.microsoft.com/office/drawing/2014/main" id="{A8D6AC7A-4BF9-4D1F-A3AB-94FB106B3B81}"/>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400619258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TextBox 4"/>
          <p:cNvSpPr txBox="1">
            <a:spLocks noChangeArrowheads="1"/>
          </p:cNvSpPr>
          <p:nvPr/>
        </p:nvSpPr>
        <p:spPr bwMode="auto">
          <a:xfrm>
            <a:off x="1037613" y="6387481"/>
            <a:ext cx="4886325" cy="246062"/>
          </a:xfrm>
          <a:prstGeom prst="rect">
            <a:avLst/>
          </a:prstGeom>
          <a:noFill/>
          <a:ln w="9525">
            <a:noFill/>
            <a:miter lim="800000"/>
            <a:headEnd/>
            <a:tailEnd/>
          </a:ln>
        </p:spPr>
        <p:txBody>
          <a:bodyPr>
            <a:spAutoFit/>
          </a:bodyPr>
          <a:lstStyle/>
          <a:p>
            <a:pPr eaLnBrk="1" hangingPunct="1">
              <a:buClr>
                <a:srgbClr val="000000"/>
              </a:buClr>
              <a:buSzPct val="100000"/>
              <a:buFont typeface="Calibri" pitchFamily="34" charset="0"/>
              <a:buNone/>
            </a:pPr>
            <a:r>
              <a:rPr lang="en-NZ" altLang="es-ES" sz="1000" b="0" dirty="0">
                <a:solidFill>
                  <a:schemeClr val="accent2">
                    <a:lumMod val="50000"/>
                  </a:schemeClr>
                </a:solidFill>
              </a:rPr>
              <a:t>Izquierdo I, et al. Pediatr Allergy Immunol. 2009; 20(Suppl 20):2.</a:t>
            </a:r>
          </a:p>
        </p:txBody>
      </p:sp>
      <p:sp>
        <p:nvSpPr>
          <p:cNvPr id="7173" name="7 CuadroTexto"/>
          <p:cNvSpPr txBox="1">
            <a:spLocks noChangeArrowheads="1"/>
          </p:cNvSpPr>
          <p:nvPr/>
        </p:nvSpPr>
        <p:spPr bwMode="auto">
          <a:xfrm>
            <a:off x="1416619" y="642977"/>
            <a:ext cx="7035800" cy="584775"/>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es-ES" altLang="es-ES" sz="3200" dirty="0" err="1">
                <a:solidFill>
                  <a:schemeClr val="accent2">
                    <a:lumMod val="50000"/>
                  </a:schemeClr>
                </a:solidFill>
              </a:rPr>
              <a:t>Phase</a:t>
            </a:r>
            <a:r>
              <a:rPr lang="es-ES" altLang="es-ES" sz="3200" dirty="0">
                <a:solidFill>
                  <a:schemeClr val="accent2">
                    <a:lumMod val="50000"/>
                  </a:schemeClr>
                </a:solidFill>
              </a:rPr>
              <a:t> II study: Efficacy assessment</a:t>
            </a:r>
          </a:p>
        </p:txBody>
      </p:sp>
      <p:sp>
        <p:nvSpPr>
          <p:cNvPr id="7174" name="CuadroTexto 1"/>
          <p:cNvSpPr txBox="1">
            <a:spLocks noChangeArrowheads="1"/>
          </p:cNvSpPr>
          <p:nvPr/>
        </p:nvSpPr>
        <p:spPr bwMode="auto">
          <a:xfrm>
            <a:off x="1037613" y="5164051"/>
            <a:ext cx="4322763"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s-ES" altLang="es-ES" sz="1400" dirty="0">
                <a:solidFill>
                  <a:schemeClr val="accent2">
                    <a:lumMod val="50000"/>
                  </a:schemeClr>
                </a:solidFill>
              </a:rPr>
              <a:t>PK = pharmacokinetic; PD = pharmacodynamic; V = visit</a:t>
            </a:r>
          </a:p>
        </p:txBody>
      </p:sp>
      <p:sp>
        <p:nvSpPr>
          <p:cNvPr id="8" name="7 Rectángulo redondeado"/>
          <p:cNvSpPr/>
          <p:nvPr/>
        </p:nvSpPr>
        <p:spPr bwMode="auto">
          <a:xfrm>
            <a:off x="720576" y="1647716"/>
            <a:ext cx="8126361"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eaLnBrk="1" hangingPunct="1">
              <a:buClr>
                <a:srgbClr val="000000"/>
              </a:buClr>
              <a:buSzPct val="100000"/>
              <a:buFont typeface="Calibri" pitchFamily="34" charset="0"/>
              <a:buNone/>
            </a:pPr>
            <a:r>
              <a:rPr lang="en-NZ" altLang="es-ES" sz="2000" dirty="0">
                <a:solidFill>
                  <a:schemeClr val="accent2">
                    <a:lumMod val="50000"/>
                  </a:schemeClr>
                </a:solidFill>
              </a:rPr>
              <a:t>Design of a phase II study of </a:t>
            </a:r>
            <a:r>
              <a:rPr lang="en-NZ" altLang="es-ES" sz="2000" dirty="0" err="1">
                <a:solidFill>
                  <a:schemeClr val="accent2">
                    <a:lumMod val="50000"/>
                  </a:schemeClr>
                </a:solidFill>
              </a:rPr>
              <a:t>Rinialer</a:t>
            </a:r>
            <a:r>
              <a:rPr lang="en-NZ" altLang="es-ES" sz="2000" dirty="0">
                <a:solidFill>
                  <a:schemeClr val="accent2">
                    <a:lumMod val="50000"/>
                  </a:schemeClr>
                </a:solidFill>
              </a:rPr>
              <a:t> paediatric oral solution 1 mg/mL </a:t>
            </a:r>
          </a:p>
          <a:p>
            <a:pPr eaLnBrk="1" hangingPunct="1">
              <a:buClr>
                <a:srgbClr val="000000"/>
              </a:buClr>
              <a:buSzPct val="100000"/>
              <a:buFont typeface="Calibri" pitchFamily="34" charset="0"/>
              <a:buNone/>
            </a:pPr>
            <a:r>
              <a:rPr lang="en-NZ" altLang="es-ES" sz="2000" dirty="0">
                <a:solidFill>
                  <a:schemeClr val="accent2">
                    <a:lumMod val="50000"/>
                  </a:schemeClr>
                </a:solidFill>
              </a:rPr>
              <a:t>in children aged 6-11 years with seasonal allergic rhinitis</a:t>
            </a:r>
          </a:p>
        </p:txBody>
      </p:sp>
      <p:grpSp>
        <p:nvGrpSpPr>
          <p:cNvPr id="2" name="87 Grupo"/>
          <p:cNvGrpSpPr/>
          <p:nvPr/>
        </p:nvGrpSpPr>
        <p:grpSpPr>
          <a:xfrm>
            <a:off x="1665131" y="2421458"/>
            <a:ext cx="6237251" cy="2640423"/>
            <a:chOff x="1390116" y="2490689"/>
            <a:chExt cx="6237251" cy="2640423"/>
          </a:xfrm>
        </p:grpSpPr>
        <p:sp>
          <p:nvSpPr>
            <p:cNvPr id="11" name="CuadroTexto 1"/>
            <p:cNvSpPr txBox="1">
              <a:spLocks noChangeArrowheads="1"/>
            </p:cNvSpPr>
            <p:nvPr/>
          </p:nvSpPr>
          <p:spPr bwMode="auto">
            <a:xfrm>
              <a:off x="2444440" y="2490689"/>
              <a:ext cx="2288512" cy="553998"/>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600" dirty="0">
                  <a:solidFill>
                    <a:schemeClr val="accent2">
                      <a:lumMod val="50000"/>
                    </a:schemeClr>
                  </a:solidFill>
                </a:rPr>
                <a:t>Part one</a:t>
              </a:r>
            </a:p>
            <a:p>
              <a:pPr algn="ctr" eaLnBrk="1" hangingPunct="1">
                <a:buClr>
                  <a:srgbClr val="000000"/>
                </a:buClr>
                <a:buSzPct val="100000"/>
                <a:buFont typeface="Calibri" pitchFamily="34" charset="0"/>
                <a:buNone/>
              </a:pPr>
              <a:r>
                <a:rPr lang="es-ES" altLang="es-ES" sz="1400" b="0" dirty="0">
                  <a:solidFill>
                    <a:schemeClr val="accent2">
                      <a:lumMod val="50000"/>
                    </a:schemeClr>
                  </a:solidFill>
                </a:rPr>
                <a:t>Pharmacokinetic assessment</a:t>
              </a:r>
            </a:p>
          </p:txBody>
        </p:sp>
        <p:sp>
          <p:nvSpPr>
            <p:cNvPr id="12" name="CuadroTexto 1"/>
            <p:cNvSpPr txBox="1">
              <a:spLocks noChangeArrowheads="1"/>
            </p:cNvSpPr>
            <p:nvPr/>
          </p:nvSpPr>
          <p:spPr bwMode="auto">
            <a:xfrm>
              <a:off x="4933257" y="2490689"/>
              <a:ext cx="2177905" cy="553998"/>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600" dirty="0">
                  <a:solidFill>
                    <a:schemeClr val="accent2">
                      <a:lumMod val="50000"/>
                    </a:schemeClr>
                  </a:solidFill>
                </a:rPr>
                <a:t>Part two</a:t>
              </a:r>
            </a:p>
            <a:p>
              <a:pPr algn="ctr" eaLnBrk="1" hangingPunct="1">
                <a:buClr>
                  <a:srgbClr val="000000"/>
                </a:buClr>
                <a:buSzPct val="100000"/>
                <a:buFont typeface="Calibri" pitchFamily="34" charset="0"/>
                <a:buNone/>
              </a:pPr>
              <a:r>
                <a:rPr lang="es-ES" altLang="es-ES" sz="1400" b="0" dirty="0">
                  <a:solidFill>
                    <a:schemeClr val="accent2">
                      <a:lumMod val="50000"/>
                    </a:schemeClr>
                  </a:solidFill>
                </a:rPr>
                <a:t>PD and Efficacy assessment</a:t>
              </a:r>
            </a:p>
          </p:txBody>
        </p:sp>
        <p:grpSp>
          <p:nvGrpSpPr>
            <p:cNvPr id="3" name="61 Grupo"/>
            <p:cNvGrpSpPr/>
            <p:nvPr/>
          </p:nvGrpSpPr>
          <p:grpSpPr>
            <a:xfrm>
              <a:off x="1637071" y="3290477"/>
              <a:ext cx="5780157" cy="1623367"/>
              <a:chOff x="1637071" y="3290477"/>
              <a:chExt cx="5780157" cy="1623367"/>
            </a:xfrm>
          </p:grpSpPr>
          <p:cxnSp>
            <p:nvCxnSpPr>
              <p:cNvPr id="17" name="16 Conector recto de flecha"/>
              <p:cNvCxnSpPr/>
              <p:nvPr/>
            </p:nvCxnSpPr>
            <p:spPr bwMode="auto">
              <a:xfrm rot="5400000">
                <a:off x="2079126" y="3495764"/>
                <a:ext cx="412161" cy="1588"/>
              </a:xfrm>
              <a:prstGeom prst="straightConnector1">
                <a:avLst/>
              </a:prstGeom>
              <a:noFill/>
              <a:ln w="12700" cap="flat" cmpd="sng" algn="ctr">
                <a:solidFill>
                  <a:schemeClr val="accent1"/>
                </a:solidFill>
                <a:prstDash val="solid"/>
                <a:round/>
                <a:headEnd type="none" w="med" len="med"/>
                <a:tailEnd type="arrow"/>
              </a:ln>
              <a:effectLst/>
            </p:spPr>
          </p:cxnSp>
          <p:cxnSp>
            <p:nvCxnSpPr>
              <p:cNvPr id="21" name="20 Conector recto de flecha"/>
              <p:cNvCxnSpPr/>
              <p:nvPr/>
            </p:nvCxnSpPr>
            <p:spPr bwMode="auto">
              <a:xfrm rot="5400000">
                <a:off x="4615848" y="3495764"/>
                <a:ext cx="412161" cy="1588"/>
              </a:xfrm>
              <a:prstGeom prst="straightConnector1">
                <a:avLst/>
              </a:prstGeom>
              <a:noFill/>
              <a:ln w="12700" cap="flat" cmpd="sng" algn="ctr">
                <a:solidFill>
                  <a:schemeClr val="accent1"/>
                </a:solidFill>
                <a:prstDash val="solid"/>
                <a:round/>
                <a:headEnd type="none" w="med" len="med"/>
                <a:tailEnd type="arrow"/>
              </a:ln>
              <a:effectLst/>
            </p:spPr>
          </p:cxnSp>
          <p:cxnSp>
            <p:nvCxnSpPr>
              <p:cNvPr id="22" name="21 Conector recto de flecha"/>
              <p:cNvCxnSpPr/>
              <p:nvPr/>
            </p:nvCxnSpPr>
            <p:spPr bwMode="auto">
              <a:xfrm rot="5400000">
                <a:off x="4807577" y="3495764"/>
                <a:ext cx="412161" cy="1588"/>
              </a:xfrm>
              <a:prstGeom prst="straightConnector1">
                <a:avLst/>
              </a:prstGeom>
              <a:noFill/>
              <a:ln w="12700" cap="flat" cmpd="sng" algn="ctr">
                <a:solidFill>
                  <a:schemeClr val="accent1"/>
                </a:solidFill>
                <a:prstDash val="solid"/>
                <a:round/>
                <a:headEnd type="none" w="med" len="med"/>
                <a:tailEnd type="arrow"/>
              </a:ln>
              <a:effectLst/>
            </p:spPr>
          </p:cxnSp>
          <p:cxnSp>
            <p:nvCxnSpPr>
              <p:cNvPr id="23" name="22 Conector recto de flecha"/>
              <p:cNvCxnSpPr/>
              <p:nvPr/>
            </p:nvCxnSpPr>
            <p:spPr bwMode="auto">
              <a:xfrm rot="5400000">
                <a:off x="5766222" y="3495764"/>
                <a:ext cx="412161" cy="1588"/>
              </a:xfrm>
              <a:prstGeom prst="straightConnector1">
                <a:avLst/>
              </a:prstGeom>
              <a:noFill/>
              <a:ln w="12700" cap="flat" cmpd="sng" algn="ctr">
                <a:solidFill>
                  <a:schemeClr val="accent1"/>
                </a:solidFill>
                <a:prstDash val="solid"/>
                <a:round/>
                <a:headEnd type="none" w="med" len="med"/>
                <a:tailEnd type="arrow"/>
              </a:ln>
              <a:effectLst/>
            </p:spPr>
          </p:cxnSp>
          <p:cxnSp>
            <p:nvCxnSpPr>
              <p:cNvPr id="24" name="23 Conector recto de flecha"/>
              <p:cNvCxnSpPr/>
              <p:nvPr/>
            </p:nvCxnSpPr>
            <p:spPr bwMode="auto">
              <a:xfrm rot="5400000">
                <a:off x="6370906" y="3495764"/>
                <a:ext cx="412161" cy="1588"/>
              </a:xfrm>
              <a:prstGeom prst="straightConnector1">
                <a:avLst/>
              </a:prstGeom>
              <a:noFill/>
              <a:ln w="12700" cap="flat" cmpd="sng" algn="ctr">
                <a:solidFill>
                  <a:schemeClr val="accent1"/>
                </a:solidFill>
                <a:prstDash val="solid"/>
                <a:round/>
                <a:headEnd type="none" w="med" len="med"/>
                <a:tailEnd type="arrow"/>
              </a:ln>
              <a:effectLst/>
            </p:spPr>
          </p:cxnSp>
          <p:cxnSp>
            <p:nvCxnSpPr>
              <p:cNvPr id="25" name="24 Conector recto de flecha"/>
              <p:cNvCxnSpPr/>
              <p:nvPr/>
            </p:nvCxnSpPr>
            <p:spPr bwMode="auto">
              <a:xfrm rot="5400000">
                <a:off x="6783861" y="3495764"/>
                <a:ext cx="412161" cy="1588"/>
              </a:xfrm>
              <a:prstGeom prst="straightConnector1">
                <a:avLst/>
              </a:prstGeom>
              <a:noFill/>
              <a:ln w="12700" cap="flat" cmpd="sng" algn="ctr">
                <a:solidFill>
                  <a:schemeClr val="accent1"/>
                </a:solidFill>
                <a:prstDash val="solid"/>
                <a:round/>
                <a:headEnd type="none" w="med" len="med"/>
                <a:tailEnd type="arrow"/>
              </a:ln>
              <a:effectLst/>
            </p:spPr>
          </p:cxnSp>
          <p:cxnSp>
            <p:nvCxnSpPr>
              <p:cNvPr id="27" name="26 Conector recto"/>
              <p:cNvCxnSpPr/>
              <p:nvPr/>
            </p:nvCxnSpPr>
            <p:spPr bwMode="auto">
              <a:xfrm>
                <a:off x="1637071" y="4014628"/>
                <a:ext cx="5766619" cy="0"/>
              </a:xfrm>
              <a:prstGeom prst="line">
                <a:avLst/>
              </a:prstGeom>
              <a:noFill/>
              <a:ln w="12700" cap="flat" cmpd="sng" algn="ctr">
                <a:solidFill>
                  <a:schemeClr val="accent1"/>
                </a:solidFill>
                <a:prstDash val="solid"/>
                <a:round/>
                <a:headEnd type="none" w="med" len="med"/>
                <a:tailEnd type="none" w="med" len="med"/>
              </a:ln>
              <a:effectLst/>
            </p:spPr>
          </p:cxnSp>
          <p:cxnSp>
            <p:nvCxnSpPr>
              <p:cNvPr id="28" name="27 Conector recto"/>
              <p:cNvCxnSpPr/>
              <p:nvPr/>
            </p:nvCxnSpPr>
            <p:spPr bwMode="auto">
              <a:xfrm>
                <a:off x="5014452" y="3290477"/>
                <a:ext cx="1991032" cy="0"/>
              </a:xfrm>
              <a:prstGeom prst="line">
                <a:avLst/>
              </a:prstGeom>
              <a:noFill/>
              <a:ln w="12700" cap="flat" cmpd="sng" algn="ctr">
                <a:solidFill>
                  <a:schemeClr val="accent1"/>
                </a:solidFill>
                <a:prstDash val="solid"/>
                <a:round/>
                <a:headEnd type="none" w="med" len="med"/>
                <a:tailEnd type="none" w="med" len="med"/>
              </a:ln>
              <a:effectLst/>
            </p:spPr>
          </p:cxnSp>
          <p:cxnSp>
            <p:nvCxnSpPr>
              <p:cNvPr id="32" name="31 Conector recto"/>
              <p:cNvCxnSpPr/>
              <p:nvPr/>
            </p:nvCxnSpPr>
            <p:spPr bwMode="auto">
              <a:xfrm>
                <a:off x="2277189" y="3290477"/>
                <a:ext cx="2544193" cy="0"/>
              </a:xfrm>
              <a:prstGeom prst="line">
                <a:avLst/>
              </a:prstGeom>
              <a:noFill/>
              <a:ln w="12700" cap="flat" cmpd="sng" algn="ctr">
                <a:solidFill>
                  <a:schemeClr val="accent1"/>
                </a:solidFill>
                <a:prstDash val="solid"/>
                <a:round/>
                <a:headEnd type="none" w="med" len="med"/>
                <a:tailEnd type="none" w="med" len="med"/>
              </a:ln>
              <a:effectLst/>
            </p:spPr>
          </p:cxnSp>
          <p:cxnSp>
            <p:nvCxnSpPr>
              <p:cNvPr id="34" name="33 Conector recto"/>
              <p:cNvCxnSpPr/>
              <p:nvPr/>
            </p:nvCxnSpPr>
            <p:spPr bwMode="auto">
              <a:xfrm rot="5400000">
                <a:off x="1574727" y="4014021"/>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38" name="37 Conector recto"/>
              <p:cNvCxnSpPr/>
              <p:nvPr/>
            </p:nvCxnSpPr>
            <p:spPr bwMode="auto">
              <a:xfrm rot="5400000">
                <a:off x="2192244" y="4014022"/>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39" name="38 Conector recto"/>
              <p:cNvCxnSpPr/>
              <p:nvPr/>
            </p:nvCxnSpPr>
            <p:spPr bwMode="auto">
              <a:xfrm rot="5400000">
                <a:off x="2394124" y="4014023"/>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40" name="39 Conector recto"/>
              <p:cNvCxnSpPr/>
              <p:nvPr/>
            </p:nvCxnSpPr>
            <p:spPr bwMode="auto">
              <a:xfrm rot="5400000">
                <a:off x="2596004" y="4014024"/>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41" name="40 Conector recto"/>
              <p:cNvCxnSpPr/>
              <p:nvPr/>
            </p:nvCxnSpPr>
            <p:spPr bwMode="auto">
              <a:xfrm rot="5400000">
                <a:off x="2940388" y="4014025"/>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42" name="41 Conector recto"/>
              <p:cNvCxnSpPr/>
              <p:nvPr/>
            </p:nvCxnSpPr>
            <p:spPr bwMode="auto">
              <a:xfrm rot="5400000">
                <a:off x="3356025" y="4014026"/>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43" name="42 Conector recto"/>
              <p:cNvCxnSpPr/>
              <p:nvPr/>
            </p:nvCxnSpPr>
            <p:spPr bwMode="auto">
              <a:xfrm rot="5400000">
                <a:off x="3759786" y="4014027"/>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44" name="43 Conector recto"/>
              <p:cNvCxnSpPr/>
              <p:nvPr/>
            </p:nvCxnSpPr>
            <p:spPr bwMode="auto">
              <a:xfrm rot="5400000">
                <a:off x="4216986" y="4014028"/>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45" name="44 Conector recto"/>
              <p:cNvCxnSpPr/>
              <p:nvPr/>
            </p:nvCxnSpPr>
            <p:spPr bwMode="auto">
              <a:xfrm rot="5400000">
                <a:off x="4763250" y="4014029"/>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46" name="45 Conector recto"/>
              <p:cNvCxnSpPr/>
              <p:nvPr/>
            </p:nvCxnSpPr>
            <p:spPr bwMode="auto">
              <a:xfrm rot="5400000">
                <a:off x="4947318" y="4014030"/>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53" name="52 Conector recto"/>
              <p:cNvCxnSpPr/>
              <p:nvPr/>
            </p:nvCxnSpPr>
            <p:spPr bwMode="auto">
              <a:xfrm rot="5400000">
                <a:off x="5909219" y="4014030"/>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54" name="53 Conector recto"/>
              <p:cNvCxnSpPr/>
              <p:nvPr/>
            </p:nvCxnSpPr>
            <p:spPr bwMode="auto">
              <a:xfrm rot="5400000">
                <a:off x="6520799" y="4014032"/>
                <a:ext cx="142187" cy="0"/>
              </a:xfrm>
              <a:prstGeom prst="line">
                <a:avLst/>
              </a:prstGeom>
              <a:noFill/>
              <a:ln w="12700" cap="flat" cmpd="sng" algn="ctr">
                <a:solidFill>
                  <a:schemeClr val="accent1"/>
                </a:solidFill>
                <a:prstDash val="solid"/>
                <a:round/>
                <a:headEnd type="none" w="med" len="med"/>
                <a:tailEnd type="none" w="med" len="med"/>
              </a:ln>
              <a:effectLst/>
            </p:spPr>
          </p:cxnSp>
          <p:cxnSp>
            <p:nvCxnSpPr>
              <p:cNvPr id="55" name="54 Conector recto"/>
              <p:cNvCxnSpPr/>
              <p:nvPr/>
            </p:nvCxnSpPr>
            <p:spPr bwMode="auto">
              <a:xfrm rot="5400000">
                <a:off x="6927535" y="4011058"/>
                <a:ext cx="136238" cy="0"/>
              </a:xfrm>
              <a:prstGeom prst="line">
                <a:avLst/>
              </a:prstGeom>
              <a:noFill/>
              <a:ln w="12700" cap="flat" cmpd="sng" algn="ctr">
                <a:solidFill>
                  <a:schemeClr val="accent1"/>
                </a:solidFill>
                <a:prstDash val="solid"/>
                <a:round/>
                <a:headEnd type="none" w="med" len="med"/>
                <a:tailEnd type="none" w="med" len="med"/>
              </a:ln>
              <a:effectLst/>
            </p:spPr>
          </p:cxnSp>
          <p:cxnSp>
            <p:nvCxnSpPr>
              <p:cNvPr id="57" name="56 Conector recto"/>
              <p:cNvCxnSpPr/>
              <p:nvPr/>
            </p:nvCxnSpPr>
            <p:spPr bwMode="auto">
              <a:xfrm rot="5400000">
                <a:off x="7349109" y="4011058"/>
                <a:ext cx="136238" cy="0"/>
              </a:xfrm>
              <a:prstGeom prst="line">
                <a:avLst/>
              </a:prstGeom>
              <a:noFill/>
              <a:ln w="12700" cap="flat" cmpd="sng" algn="ctr">
                <a:solidFill>
                  <a:schemeClr val="accent1"/>
                </a:solidFill>
                <a:prstDash val="solid"/>
                <a:round/>
                <a:headEnd type="none" w="med" len="med"/>
                <a:tailEnd type="none" w="med" len="med"/>
              </a:ln>
              <a:effectLst/>
            </p:spPr>
          </p:cxnSp>
          <p:cxnSp>
            <p:nvCxnSpPr>
              <p:cNvPr id="59" name="58 Conector recto de flecha"/>
              <p:cNvCxnSpPr/>
              <p:nvPr/>
            </p:nvCxnSpPr>
            <p:spPr bwMode="auto">
              <a:xfrm>
                <a:off x="2291644" y="4910668"/>
                <a:ext cx="2460978" cy="1588"/>
              </a:xfrm>
              <a:prstGeom prst="straightConnector1">
                <a:avLst/>
              </a:prstGeom>
              <a:noFill/>
              <a:ln w="12700" cap="flat" cmpd="sng" algn="ctr">
                <a:solidFill>
                  <a:schemeClr val="accent1"/>
                </a:solidFill>
                <a:prstDash val="solid"/>
                <a:round/>
                <a:headEnd type="arrow"/>
                <a:tailEnd type="arrow"/>
              </a:ln>
              <a:effectLst/>
            </p:spPr>
          </p:cxnSp>
          <p:cxnSp>
            <p:nvCxnSpPr>
              <p:cNvPr id="60" name="59 Conector recto de flecha"/>
              <p:cNvCxnSpPr/>
              <p:nvPr/>
            </p:nvCxnSpPr>
            <p:spPr bwMode="auto">
              <a:xfrm>
                <a:off x="4944533" y="4912256"/>
                <a:ext cx="2099733" cy="1588"/>
              </a:xfrm>
              <a:prstGeom prst="straightConnector1">
                <a:avLst/>
              </a:prstGeom>
              <a:noFill/>
              <a:ln w="12700" cap="flat" cmpd="sng" algn="ctr">
                <a:solidFill>
                  <a:schemeClr val="accent1"/>
                </a:solidFill>
                <a:prstDash val="solid"/>
                <a:round/>
                <a:headEnd type="arrow"/>
                <a:tailEnd type="arrow"/>
              </a:ln>
              <a:effectLst/>
            </p:spPr>
          </p:cxnSp>
        </p:grpSp>
        <p:sp>
          <p:nvSpPr>
            <p:cNvPr id="65" name="CuadroTexto 1"/>
            <p:cNvSpPr txBox="1">
              <a:spLocks noChangeArrowheads="1"/>
            </p:cNvSpPr>
            <p:nvPr/>
          </p:nvSpPr>
          <p:spPr bwMode="auto">
            <a:xfrm>
              <a:off x="4688562" y="3009979"/>
              <a:ext cx="657872" cy="276999"/>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200" b="0" dirty="0">
                  <a:solidFill>
                    <a:schemeClr val="accent2">
                      <a:lumMod val="50000"/>
                    </a:schemeClr>
                  </a:solidFill>
                </a:rPr>
                <a:t>Day 1-2</a:t>
              </a:r>
            </a:p>
          </p:txBody>
        </p:sp>
        <p:sp>
          <p:nvSpPr>
            <p:cNvPr id="66" name="CuadroTexto 1"/>
            <p:cNvSpPr txBox="1">
              <a:spLocks noChangeArrowheads="1"/>
            </p:cNvSpPr>
            <p:nvPr/>
          </p:nvSpPr>
          <p:spPr bwMode="auto">
            <a:xfrm>
              <a:off x="5615256" y="3009979"/>
              <a:ext cx="723596" cy="276999"/>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200" b="0" dirty="0">
                  <a:solidFill>
                    <a:schemeClr val="accent2">
                      <a:lumMod val="50000"/>
                    </a:schemeClr>
                  </a:solidFill>
                </a:rPr>
                <a:t>+ Day 14</a:t>
              </a:r>
            </a:p>
          </p:txBody>
        </p:sp>
        <p:sp>
          <p:nvSpPr>
            <p:cNvPr id="67" name="CuadroTexto 1"/>
            <p:cNvSpPr txBox="1">
              <a:spLocks noChangeArrowheads="1"/>
            </p:cNvSpPr>
            <p:nvPr/>
          </p:nvSpPr>
          <p:spPr bwMode="auto">
            <a:xfrm>
              <a:off x="6358750" y="3009979"/>
              <a:ext cx="1268617" cy="276999"/>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200" b="0" dirty="0">
                  <a:solidFill>
                    <a:schemeClr val="accent2">
                      <a:lumMod val="50000"/>
                    </a:schemeClr>
                  </a:solidFill>
                </a:rPr>
                <a:t>+ Day 28___+24h</a:t>
              </a:r>
            </a:p>
          </p:txBody>
        </p:sp>
        <p:sp>
          <p:nvSpPr>
            <p:cNvPr id="68" name="CuadroTexto 1"/>
            <p:cNvSpPr txBox="1">
              <a:spLocks noChangeArrowheads="1"/>
            </p:cNvSpPr>
            <p:nvPr/>
          </p:nvSpPr>
          <p:spPr bwMode="auto">
            <a:xfrm>
              <a:off x="7081806" y="3326067"/>
              <a:ext cx="359394"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s-ES" altLang="es-ES" sz="1200" b="0" dirty="0">
                  <a:solidFill>
                    <a:schemeClr val="accent2">
                      <a:lumMod val="50000"/>
                    </a:schemeClr>
                  </a:solidFill>
                </a:rPr>
                <a:t>PD</a:t>
              </a:r>
            </a:p>
          </p:txBody>
        </p:sp>
        <p:sp>
          <p:nvSpPr>
            <p:cNvPr id="69" name="CuadroTexto 1"/>
            <p:cNvSpPr txBox="1">
              <a:spLocks noChangeArrowheads="1"/>
            </p:cNvSpPr>
            <p:nvPr/>
          </p:nvSpPr>
          <p:spPr bwMode="auto">
            <a:xfrm>
              <a:off x="1390116" y="3326067"/>
              <a:ext cx="824328" cy="461665"/>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PK and PD</a:t>
              </a:r>
            </a:p>
            <a:p>
              <a:pPr algn="r" eaLnBrk="1" hangingPunct="1">
                <a:buClr>
                  <a:srgbClr val="000000"/>
                </a:buClr>
                <a:buSzPct val="100000"/>
                <a:buFont typeface="Calibri" pitchFamily="34" charset="0"/>
                <a:buNone/>
              </a:pPr>
              <a:r>
                <a:rPr lang="es-ES" altLang="es-ES" sz="1200" b="0" dirty="0">
                  <a:solidFill>
                    <a:schemeClr val="accent2">
                      <a:lumMod val="50000"/>
                    </a:schemeClr>
                  </a:solidFill>
                </a:rPr>
                <a:t>-21 days</a:t>
              </a:r>
            </a:p>
          </p:txBody>
        </p:sp>
        <p:sp>
          <p:nvSpPr>
            <p:cNvPr id="70" name="CuadroTexto 1"/>
            <p:cNvSpPr txBox="1">
              <a:spLocks noChangeArrowheads="1"/>
            </p:cNvSpPr>
            <p:nvPr/>
          </p:nvSpPr>
          <p:spPr bwMode="auto">
            <a:xfrm>
              <a:off x="1551364" y="4093712"/>
              <a:ext cx="809837"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i="1" dirty="0">
                  <a:solidFill>
                    <a:schemeClr val="accent2">
                      <a:lumMod val="50000"/>
                    </a:schemeClr>
                  </a:solidFill>
                </a:rPr>
                <a:t>Screening</a:t>
              </a:r>
            </a:p>
          </p:txBody>
        </p:sp>
        <p:sp>
          <p:nvSpPr>
            <p:cNvPr id="71" name="CuadroTexto 1"/>
            <p:cNvSpPr txBox="1">
              <a:spLocks noChangeArrowheads="1"/>
            </p:cNvSpPr>
            <p:nvPr/>
          </p:nvSpPr>
          <p:spPr bwMode="auto">
            <a:xfrm>
              <a:off x="2131855" y="4342067"/>
              <a:ext cx="263213"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0</a:t>
              </a:r>
            </a:p>
          </p:txBody>
        </p:sp>
        <p:sp>
          <p:nvSpPr>
            <p:cNvPr id="72" name="CuadroTexto 1"/>
            <p:cNvSpPr txBox="1">
              <a:spLocks noChangeArrowheads="1"/>
            </p:cNvSpPr>
            <p:nvPr/>
          </p:nvSpPr>
          <p:spPr bwMode="auto">
            <a:xfrm>
              <a:off x="2274480" y="4342067"/>
              <a:ext cx="380232"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30’</a:t>
              </a:r>
            </a:p>
          </p:txBody>
        </p:sp>
        <p:sp>
          <p:nvSpPr>
            <p:cNvPr id="73" name="CuadroTexto 1"/>
            <p:cNvSpPr txBox="1">
              <a:spLocks noChangeArrowheads="1"/>
            </p:cNvSpPr>
            <p:nvPr/>
          </p:nvSpPr>
          <p:spPr bwMode="auto">
            <a:xfrm>
              <a:off x="2503260" y="4342067"/>
              <a:ext cx="343364"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1h</a:t>
              </a:r>
            </a:p>
          </p:txBody>
        </p:sp>
        <p:sp>
          <p:nvSpPr>
            <p:cNvPr id="74" name="CuadroTexto 1"/>
            <p:cNvSpPr txBox="1">
              <a:spLocks noChangeArrowheads="1"/>
            </p:cNvSpPr>
            <p:nvPr/>
          </p:nvSpPr>
          <p:spPr bwMode="auto">
            <a:xfrm>
              <a:off x="2841927" y="4342067"/>
              <a:ext cx="343364"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2h</a:t>
              </a:r>
            </a:p>
          </p:txBody>
        </p:sp>
        <p:sp>
          <p:nvSpPr>
            <p:cNvPr id="75" name="CuadroTexto 1"/>
            <p:cNvSpPr txBox="1">
              <a:spLocks noChangeArrowheads="1"/>
            </p:cNvSpPr>
            <p:nvPr/>
          </p:nvSpPr>
          <p:spPr bwMode="auto">
            <a:xfrm>
              <a:off x="3270905" y="4342067"/>
              <a:ext cx="343364"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4h</a:t>
              </a:r>
            </a:p>
          </p:txBody>
        </p:sp>
        <p:sp>
          <p:nvSpPr>
            <p:cNvPr id="76" name="CuadroTexto 1"/>
            <p:cNvSpPr txBox="1">
              <a:spLocks noChangeArrowheads="1"/>
            </p:cNvSpPr>
            <p:nvPr/>
          </p:nvSpPr>
          <p:spPr bwMode="auto">
            <a:xfrm>
              <a:off x="3666017" y="4342067"/>
              <a:ext cx="343364"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8h</a:t>
              </a:r>
            </a:p>
          </p:txBody>
        </p:sp>
        <p:sp>
          <p:nvSpPr>
            <p:cNvPr id="77" name="CuadroTexto 1"/>
            <p:cNvSpPr txBox="1">
              <a:spLocks noChangeArrowheads="1"/>
            </p:cNvSpPr>
            <p:nvPr/>
          </p:nvSpPr>
          <p:spPr bwMode="auto">
            <a:xfrm>
              <a:off x="4039027" y="4342067"/>
              <a:ext cx="421910"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12h</a:t>
              </a:r>
            </a:p>
          </p:txBody>
        </p:sp>
        <p:sp>
          <p:nvSpPr>
            <p:cNvPr id="78" name="CuadroTexto 1"/>
            <p:cNvSpPr txBox="1">
              <a:spLocks noChangeArrowheads="1"/>
            </p:cNvSpPr>
            <p:nvPr/>
          </p:nvSpPr>
          <p:spPr bwMode="auto">
            <a:xfrm>
              <a:off x="4569605" y="4342067"/>
              <a:ext cx="421910"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24h</a:t>
              </a:r>
            </a:p>
          </p:txBody>
        </p:sp>
        <p:sp>
          <p:nvSpPr>
            <p:cNvPr id="79" name="CuadroTexto 1"/>
            <p:cNvSpPr txBox="1">
              <a:spLocks noChangeArrowheads="1"/>
            </p:cNvSpPr>
            <p:nvPr/>
          </p:nvSpPr>
          <p:spPr bwMode="auto">
            <a:xfrm>
              <a:off x="4874406" y="4342067"/>
              <a:ext cx="421910"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48h</a:t>
              </a:r>
            </a:p>
          </p:txBody>
        </p:sp>
        <p:sp>
          <p:nvSpPr>
            <p:cNvPr id="80" name="CuadroTexto 1"/>
            <p:cNvSpPr txBox="1">
              <a:spLocks noChangeArrowheads="1"/>
            </p:cNvSpPr>
            <p:nvPr/>
          </p:nvSpPr>
          <p:spPr bwMode="auto">
            <a:xfrm>
              <a:off x="4659504" y="4093712"/>
              <a:ext cx="354584"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V1</a:t>
              </a:r>
            </a:p>
          </p:txBody>
        </p:sp>
        <p:sp>
          <p:nvSpPr>
            <p:cNvPr id="81" name="CuadroTexto 1"/>
            <p:cNvSpPr txBox="1">
              <a:spLocks noChangeArrowheads="1"/>
            </p:cNvSpPr>
            <p:nvPr/>
          </p:nvSpPr>
          <p:spPr bwMode="auto">
            <a:xfrm>
              <a:off x="4941726" y="4093712"/>
              <a:ext cx="534890"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s-ES" altLang="es-ES" sz="1200" b="0" dirty="0">
                  <a:solidFill>
                    <a:schemeClr val="accent2">
                      <a:lumMod val="50000"/>
                    </a:schemeClr>
                  </a:solidFill>
                </a:rPr>
                <a:t>onset</a:t>
              </a:r>
            </a:p>
          </p:txBody>
        </p:sp>
        <p:sp>
          <p:nvSpPr>
            <p:cNvPr id="82" name="CuadroTexto 1"/>
            <p:cNvSpPr txBox="1">
              <a:spLocks noChangeArrowheads="1"/>
            </p:cNvSpPr>
            <p:nvPr/>
          </p:nvSpPr>
          <p:spPr bwMode="auto">
            <a:xfrm>
              <a:off x="5985112" y="4093712"/>
              <a:ext cx="349776"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V2</a:t>
              </a:r>
            </a:p>
          </p:txBody>
        </p:sp>
        <p:sp>
          <p:nvSpPr>
            <p:cNvPr id="83" name="CuadroTexto 1"/>
            <p:cNvSpPr txBox="1">
              <a:spLocks noChangeArrowheads="1"/>
            </p:cNvSpPr>
            <p:nvPr/>
          </p:nvSpPr>
          <p:spPr bwMode="auto">
            <a:xfrm>
              <a:off x="6623774" y="4093712"/>
              <a:ext cx="756938"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s-ES" altLang="es-ES" sz="1200" b="0" dirty="0">
                  <a:solidFill>
                    <a:schemeClr val="accent2">
                      <a:lumMod val="50000"/>
                    </a:schemeClr>
                  </a:solidFill>
                </a:rPr>
                <a:t>end dose</a:t>
              </a:r>
            </a:p>
          </p:txBody>
        </p:sp>
        <p:sp>
          <p:nvSpPr>
            <p:cNvPr id="84" name="CuadroTexto 1"/>
            <p:cNvSpPr txBox="1">
              <a:spLocks noChangeArrowheads="1"/>
            </p:cNvSpPr>
            <p:nvPr/>
          </p:nvSpPr>
          <p:spPr bwMode="auto">
            <a:xfrm>
              <a:off x="7242440" y="4093712"/>
              <a:ext cx="349776"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V3</a:t>
              </a:r>
            </a:p>
          </p:txBody>
        </p:sp>
        <p:sp>
          <p:nvSpPr>
            <p:cNvPr id="85" name="CuadroTexto 1"/>
            <p:cNvSpPr txBox="1">
              <a:spLocks noChangeArrowheads="1"/>
            </p:cNvSpPr>
            <p:nvPr/>
          </p:nvSpPr>
          <p:spPr bwMode="auto">
            <a:xfrm>
              <a:off x="2493607" y="4658155"/>
              <a:ext cx="2058577" cy="276999"/>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200" b="0" dirty="0">
                  <a:solidFill>
                    <a:schemeClr val="accent2">
                      <a:lumMod val="50000"/>
                    </a:schemeClr>
                  </a:solidFill>
                </a:rPr>
                <a:t>Single Oral Dosing Rupatadine</a:t>
              </a:r>
            </a:p>
          </p:txBody>
        </p:sp>
        <p:sp>
          <p:nvSpPr>
            <p:cNvPr id="86" name="CuadroTexto 1"/>
            <p:cNvSpPr txBox="1">
              <a:spLocks noChangeArrowheads="1"/>
            </p:cNvSpPr>
            <p:nvPr/>
          </p:nvSpPr>
          <p:spPr bwMode="auto">
            <a:xfrm>
              <a:off x="4890311" y="4658155"/>
              <a:ext cx="2209708" cy="276999"/>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200" b="0" dirty="0">
                  <a:solidFill>
                    <a:schemeClr val="accent2">
                      <a:lumMod val="50000"/>
                    </a:schemeClr>
                  </a:solidFill>
                </a:rPr>
                <a:t>Once Daily x 28 days Rupatadine</a:t>
              </a:r>
            </a:p>
          </p:txBody>
        </p:sp>
        <p:sp>
          <p:nvSpPr>
            <p:cNvPr id="87" name="CuadroTexto 1"/>
            <p:cNvSpPr txBox="1">
              <a:spLocks noChangeArrowheads="1"/>
            </p:cNvSpPr>
            <p:nvPr/>
          </p:nvSpPr>
          <p:spPr bwMode="auto">
            <a:xfrm>
              <a:off x="7062289" y="4669447"/>
              <a:ext cx="524374" cy="461665"/>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end</a:t>
              </a:r>
            </a:p>
            <a:p>
              <a:pPr algn="r" eaLnBrk="1" hangingPunct="1">
                <a:buClr>
                  <a:srgbClr val="000000"/>
                </a:buClr>
                <a:buSzPct val="100000"/>
                <a:buFont typeface="Calibri" pitchFamily="34" charset="0"/>
                <a:buNone/>
              </a:pPr>
              <a:r>
                <a:rPr lang="es-ES" altLang="es-ES" sz="1200" b="0" dirty="0">
                  <a:solidFill>
                    <a:schemeClr val="accent2">
                      <a:lumMod val="50000"/>
                    </a:schemeClr>
                  </a:solidFill>
                </a:rPr>
                <a:t>study</a:t>
              </a:r>
            </a:p>
          </p:txBody>
        </p:sp>
      </p:grpSp>
      <p:sp>
        <p:nvSpPr>
          <p:cNvPr id="61" name="Text Box 4">
            <a:extLst>
              <a:ext uri="{FF2B5EF4-FFF2-40B4-BE49-F238E27FC236}">
                <a16:creationId xmlns:a16="http://schemas.microsoft.com/office/drawing/2014/main" id="{1D0E9DCE-E2F0-4960-ADF5-ABD50F575571}"/>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3" name="Gráfico 1"/>
          <p:cNvGraphicFramePr>
            <a:graphicFrameLocks noChangeAspect="1"/>
          </p:cNvGraphicFramePr>
          <p:nvPr>
            <p:extLst>
              <p:ext uri="{D42A27DB-BD31-4B8C-83A1-F6EECF244321}">
                <p14:modId xmlns:p14="http://schemas.microsoft.com/office/powerpoint/2010/main" val="2837091065"/>
              </p:ext>
            </p:extLst>
          </p:nvPr>
        </p:nvGraphicFramePr>
        <p:xfrm>
          <a:off x="389192" y="2439681"/>
          <a:ext cx="8582025" cy="3219450"/>
        </p:xfrm>
        <a:graphic>
          <a:graphicData uri="http://schemas.openxmlformats.org/presentationml/2006/ole">
            <mc:AlternateContent xmlns:mc="http://schemas.openxmlformats.org/markup-compatibility/2006">
              <mc:Choice xmlns:v="urn:schemas-microsoft-com:vml" Requires="v">
                <p:oleObj spid="_x0000_s1050" name="Worksheet" r:id="rId4" imgW="11798361" imgH="4426112" progId="Excel.Sheet.8">
                  <p:embed/>
                </p:oleObj>
              </mc:Choice>
              <mc:Fallback>
                <p:oleObj name="Worksheet" r:id="rId4" imgW="11798361" imgH="4426112" progId="Excel.Sheet.8">
                  <p:embed/>
                  <p:pic>
                    <p:nvPicPr>
                      <p:cNvPr id="0" name=""/>
                      <p:cNvPicPr>
                        <a:picLocks noChangeArrowheads="1"/>
                      </p:cNvPicPr>
                      <p:nvPr/>
                    </p:nvPicPr>
                    <p:blipFill>
                      <a:blip r:embed="rId5"/>
                      <a:srcRect/>
                      <a:stretch>
                        <a:fillRect/>
                      </a:stretch>
                    </p:blipFill>
                    <p:spPr bwMode="auto">
                      <a:xfrm>
                        <a:off x="389192" y="2439681"/>
                        <a:ext cx="8582025" cy="3219450"/>
                      </a:xfrm>
                      <a:prstGeom prst="rect">
                        <a:avLst/>
                      </a:prstGeom>
                      <a:noFill/>
                    </p:spPr>
                  </p:pic>
                </p:oleObj>
              </mc:Fallback>
            </mc:AlternateContent>
          </a:graphicData>
        </a:graphic>
      </p:graphicFrame>
      <p:sp>
        <p:nvSpPr>
          <p:cNvPr id="9218" name="TextBox 3"/>
          <p:cNvSpPr txBox="1">
            <a:spLocks noChangeArrowheads="1"/>
          </p:cNvSpPr>
          <p:nvPr/>
        </p:nvSpPr>
        <p:spPr bwMode="auto">
          <a:xfrm>
            <a:off x="941512" y="5668688"/>
            <a:ext cx="3923382" cy="461665"/>
          </a:xfrm>
          <a:prstGeom prst="rect">
            <a:avLst/>
          </a:prstGeom>
          <a:noFill/>
          <a:ln w="9525">
            <a:noFill/>
            <a:miter lim="800000"/>
            <a:headEnd/>
            <a:tailEnd/>
          </a:ln>
        </p:spPr>
        <p:txBody>
          <a:bodyPr wrap="none">
            <a:spAutoFit/>
          </a:bodyPr>
          <a:lstStyle/>
          <a:p>
            <a:pPr>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 0,041; **</a:t>
            </a:r>
            <a:r>
              <a:rPr lang="pt-PT" altLang="es-ES" sz="1200" i="1" dirty="0">
                <a:solidFill>
                  <a:schemeClr val="accent2">
                    <a:lumMod val="50000"/>
                  </a:schemeClr>
                </a:solidFill>
              </a:rPr>
              <a:t>p </a:t>
            </a:r>
            <a:r>
              <a:rPr lang="pt-PT" altLang="es-ES" sz="1200" dirty="0">
                <a:solidFill>
                  <a:schemeClr val="accent2">
                    <a:lumMod val="50000"/>
                  </a:schemeClr>
                </a:solidFill>
              </a:rPr>
              <a:t>= 0,021, </a:t>
            </a:r>
            <a:r>
              <a:rPr lang="pt-PT" altLang="es-ES" sz="1200" dirty="0" err="1">
                <a:solidFill>
                  <a:schemeClr val="accent2">
                    <a:lumMod val="50000"/>
                  </a:schemeClr>
                </a:solidFill>
              </a:rPr>
              <a:t>Rinialer</a:t>
            </a:r>
            <a:r>
              <a:rPr lang="pt-PT" altLang="es-ES" sz="1200" dirty="0">
                <a:solidFill>
                  <a:schemeClr val="accent2">
                    <a:lumMod val="50000"/>
                  </a:schemeClr>
                </a:solidFill>
              </a:rPr>
              <a:t> (4 semanas) vs valor basal</a:t>
            </a:r>
          </a:p>
          <a:p>
            <a:pPr>
              <a:buClr>
                <a:srgbClr val="000000"/>
              </a:buClr>
              <a:buSzPct val="100000"/>
            </a:pPr>
            <a:r>
              <a:rPr lang="pt-PT" altLang="es-ES" sz="1200" dirty="0">
                <a:solidFill>
                  <a:schemeClr val="accent2">
                    <a:lumMod val="50000"/>
                  </a:schemeClr>
                </a:solidFill>
              </a:rPr>
              <a:t>TSS = total symptom score (pontuação total dos sintomas)</a:t>
            </a:r>
          </a:p>
        </p:txBody>
      </p:sp>
      <p:sp>
        <p:nvSpPr>
          <p:cNvPr id="9220" name="TextBox 4"/>
          <p:cNvSpPr txBox="1">
            <a:spLocks noChangeArrowheads="1"/>
          </p:cNvSpPr>
          <p:nvPr/>
        </p:nvSpPr>
        <p:spPr bwMode="auto">
          <a:xfrm>
            <a:off x="277813" y="6270053"/>
            <a:ext cx="4886325" cy="246063"/>
          </a:xfrm>
          <a:prstGeom prst="rect">
            <a:avLst/>
          </a:prstGeom>
          <a:noFill/>
          <a:ln w="9525">
            <a:noFill/>
            <a:miter lim="800000"/>
            <a:headEnd/>
            <a:tailEnd/>
          </a:ln>
        </p:spPr>
        <p:txBody>
          <a:bodyPr>
            <a:spAutoFit/>
          </a:bodyPr>
          <a:lstStyle/>
          <a:p>
            <a:pPr>
              <a:buClr>
                <a:srgbClr val="000000"/>
              </a:buClr>
              <a:buSzPct val="100000"/>
              <a:buFont typeface="Calibri" pitchFamily="34" charset="0"/>
              <a:buNone/>
            </a:pPr>
            <a:r>
              <a:rPr lang="pt-PT" altLang="es-ES" sz="1000" b="0" dirty="0">
                <a:solidFill>
                  <a:schemeClr val="accent2">
                    <a:lumMod val="50000"/>
                  </a:schemeClr>
                </a:solidFill>
              </a:rPr>
              <a:t>Izquierdo I, et al. Pediatr Allergy Immunol. 2009; 20(Suppl 20):2.</a:t>
            </a:r>
          </a:p>
        </p:txBody>
      </p:sp>
      <p:sp>
        <p:nvSpPr>
          <p:cNvPr id="9221" name="7 CuadroTexto"/>
          <p:cNvSpPr txBox="1">
            <a:spLocks noChangeArrowheads="1"/>
          </p:cNvSpPr>
          <p:nvPr/>
        </p:nvSpPr>
        <p:spPr bwMode="auto">
          <a:xfrm>
            <a:off x="1460500" y="646989"/>
            <a:ext cx="6808787" cy="585787"/>
          </a:xfrm>
          <a:prstGeom prst="rect">
            <a:avLst/>
          </a:prstGeom>
          <a:noFill/>
          <a:ln w="9525">
            <a:noFill/>
            <a:miter lim="800000"/>
            <a:headEnd/>
            <a:tailEnd/>
          </a:ln>
        </p:spPr>
        <p:txBody>
          <a:bodyPr wrap="square">
            <a:spAutoFit/>
          </a:bodyPr>
          <a:lstStyle/>
          <a:p>
            <a:pPr>
              <a:buClr>
                <a:srgbClr val="000000"/>
              </a:buClr>
              <a:buSzPct val="100000"/>
              <a:buFont typeface="Calibri" pitchFamily="34" charset="0"/>
              <a:buNone/>
            </a:pPr>
            <a:r>
              <a:rPr lang="pt-PT" altLang="es-ES" sz="3200" dirty="0">
                <a:solidFill>
                  <a:schemeClr val="accent2">
                    <a:lumMod val="50000"/>
                  </a:schemeClr>
                </a:solidFill>
              </a:rPr>
              <a:t>Estudo de Fase II: Resultados</a:t>
            </a:r>
          </a:p>
        </p:txBody>
      </p:sp>
      <p:sp>
        <p:nvSpPr>
          <p:cNvPr id="12" name="11 Rectángulo redondeado"/>
          <p:cNvSpPr/>
          <p:nvPr/>
        </p:nvSpPr>
        <p:spPr bwMode="auto">
          <a:xfrm>
            <a:off x="617791" y="1552125"/>
            <a:ext cx="8124825"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Clr>
                <a:srgbClr val="000000"/>
              </a:buClr>
              <a:buSzPct val="100000"/>
              <a:buFont typeface="Calibri" pitchFamily="34" charset="0"/>
              <a:buNone/>
              <a:defRPr/>
            </a:pPr>
            <a:r>
              <a:rPr lang="pt-PT" altLang="es-ES" sz="2000" dirty="0" err="1">
                <a:solidFill>
                  <a:schemeClr val="accent2">
                    <a:lumMod val="50000"/>
                  </a:schemeClr>
                </a:solidFill>
              </a:rPr>
              <a:t>Rinialer</a:t>
            </a:r>
            <a:r>
              <a:rPr lang="pt-PT" altLang="es-ES" sz="2000" dirty="0">
                <a:solidFill>
                  <a:schemeClr val="accent2">
                    <a:lumMod val="50000"/>
                  </a:schemeClr>
                </a:solidFill>
              </a:rPr>
              <a:t> resulta numa melhoria dos sintomas de rinite alérgica </a:t>
            </a:r>
            <a:br>
              <a:rPr lang="pt-PT" altLang="es-ES" sz="2000" dirty="0">
                <a:solidFill>
                  <a:schemeClr val="accent2">
                    <a:lumMod val="50000"/>
                  </a:schemeClr>
                </a:solidFill>
              </a:rPr>
            </a:br>
            <a:r>
              <a:rPr lang="pt-PT" altLang="es-ES" sz="2000" dirty="0">
                <a:solidFill>
                  <a:schemeClr val="accent2">
                    <a:lumMod val="50000"/>
                  </a:schemeClr>
                </a:solidFill>
              </a:rPr>
              <a:t>em crianças (fase IIa) após 4 semanas de administração</a:t>
            </a:r>
          </a:p>
        </p:txBody>
      </p:sp>
      <p:sp>
        <p:nvSpPr>
          <p:cNvPr id="2" name="1 Rectángulo"/>
          <p:cNvSpPr/>
          <p:nvPr/>
        </p:nvSpPr>
        <p:spPr>
          <a:xfrm>
            <a:off x="6397184" y="2463320"/>
            <a:ext cx="261610" cy="276999"/>
          </a:xfrm>
          <a:prstGeom prst="rect">
            <a:avLst/>
          </a:prstGeom>
        </p:spPr>
        <p:txBody>
          <a:bodyPr wrap="none">
            <a:spAutoFit/>
          </a:bodyPr>
          <a:lstStyle/>
          <a:p>
            <a:r>
              <a:rPr lang="pt-PT" altLang="es-ES" sz="1200" dirty="0">
                <a:solidFill>
                  <a:schemeClr val="accent2">
                    <a:lumMod val="50000"/>
                  </a:schemeClr>
                </a:solidFill>
              </a:rPr>
              <a:t>*</a:t>
            </a:r>
            <a:endParaRPr lang="pt-PT" sz="1200" dirty="0">
              <a:solidFill>
                <a:schemeClr val="accent2">
                  <a:lumMod val="50000"/>
                </a:schemeClr>
              </a:solidFill>
            </a:endParaRPr>
          </a:p>
        </p:txBody>
      </p:sp>
      <p:sp>
        <p:nvSpPr>
          <p:cNvPr id="9" name="8 Rectángulo"/>
          <p:cNvSpPr/>
          <p:nvPr/>
        </p:nvSpPr>
        <p:spPr>
          <a:xfrm>
            <a:off x="7536647" y="2998795"/>
            <a:ext cx="338554" cy="276999"/>
          </a:xfrm>
          <a:prstGeom prst="rect">
            <a:avLst/>
          </a:prstGeom>
        </p:spPr>
        <p:txBody>
          <a:bodyPr wrap="none">
            <a:spAutoFit/>
          </a:bodyPr>
          <a:lstStyle/>
          <a:p>
            <a:r>
              <a:rPr lang="pt-PT" altLang="es-ES" sz="1200" dirty="0">
                <a:solidFill>
                  <a:schemeClr val="accent2">
                    <a:lumMod val="50000"/>
                  </a:schemeClr>
                </a:solidFill>
              </a:rPr>
              <a:t>**</a:t>
            </a:r>
            <a:endParaRPr lang="pt-PT" sz="1200" dirty="0">
              <a:solidFill>
                <a:schemeClr val="accent2">
                  <a:lumMod val="50000"/>
                </a:schemeClr>
              </a:solidFill>
            </a:endParaRPr>
          </a:p>
        </p:txBody>
      </p:sp>
      <p:cxnSp>
        <p:nvCxnSpPr>
          <p:cNvPr id="4" name="3 Conector recto"/>
          <p:cNvCxnSpPr/>
          <p:nvPr/>
        </p:nvCxnSpPr>
        <p:spPr bwMode="auto">
          <a:xfrm flipV="1">
            <a:off x="6370926" y="2648467"/>
            <a:ext cx="0" cy="146936"/>
          </a:xfrm>
          <a:prstGeom prst="line">
            <a:avLst/>
          </a:prstGeom>
          <a:noFill/>
          <a:ln w="9525" cap="flat" cmpd="sng" algn="ctr">
            <a:solidFill>
              <a:schemeClr val="accent1"/>
            </a:solidFill>
            <a:prstDash val="solid"/>
            <a:round/>
            <a:headEnd type="none" w="med" len="med"/>
            <a:tailEnd type="none" w="med" len="med"/>
          </a:ln>
          <a:effectLst/>
        </p:spPr>
      </p:cxnSp>
      <p:cxnSp>
        <p:nvCxnSpPr>
          <p:cNvPr id="16" name="15 Conector recto"/>
          <p:cNvCxnSpPr>
            <a:cxnSpLocks/>
          </p:cNvCxnSpPr>
          <p:nvPr/>
        </p:nvCxnSpPr>
        <p:spPr bwMode="auto">
          <a:xfrm flipV="1">
            <a:off x="6709421" y="2648468"/>
            <a:ext cx="12192" cy="1317140"/>
          </a:xfrm>
          <a:prstGeom prst="line">
            <a:avLst/>
          </a:prstGeom>
          <a:noFill/>
          <a:ln w="9525" cap="flat" cmpd="sng" algn="ctr">
            <a:solidFill>
              <a:schemeClr val="accent1"/>
            </a:solidFill>
            <a:prstDash val="solid"/>
            <a:round/>
            <a:headEnd type="none" w="med" len="med"/>
            <a:tailEnd type="none" w="med" len="med"/>
          </a:ln>
          <a:effectLst/>
        </p:spPr>
      </p:cxnSp>
      <p:cxnSp>
        <p:nvCxnSpPr>
          <p:cNvPr id="19" name="18 Conector recto"/>
          <p:cNvCxnSpPr>
            <a:cxnSpLocks/>
          </p:cNvCxnSpPr>
          <p:nvPr/>
        </p:nvCxnSpPr>
        <p:spPr bwMode="auto">
          <a:xfrm>
            <a:off x="6383187" y="2648467"/>
            <a:ext cx="326234" cy="0"/>
          </a:xfrm>
          <a:prstGeom prst="line">
            <a:avLst/>
          </a:prstGeom>
          <a:noFill/>
          <a:ln w="9525" cap="flat" cmpd="sng" algn="ctr">
            <a:solidFill>
              <a:schemeClr val="accent1"/>
            </a:solidFill>
            <a:prstDash val="solid"/>
            <a:round/>
            <a:headEnd type="none" w="med" len="med"/>
            <a:tailEnd type="none" w="med" len="med"/>
          </a:ln>
          <a:effectLst/>
        </p:spPr>
      </p:cxnSp>
      <p:cxnSp>
        <p:nvCxnSpPr>
          <p:cNvPr id="33" name="32 Conector recto"/>
          <p:cNvCxnSpPr/>
          <p:nvPr/>
        </p:nvCxnSpPr>
        <p:spPr bwMode="auto">
          <a:xfrm flipV="1">
            <a:off x="7486853" y="3199332"/>
            <a:ext cx="0" cy="146936"/>
          </a:xfrm>
          <a:prstGeom prst="line">
            <a:avLst/>
          </a:prstGeom>
          <a:noFill/>
          <a:ln w="9525" cap="flat" cmpd="sng" algn="ctr">
            <a:solidFill>
              <a:schemeClr val="accent1"/>
            </a:solidFill>
            <a:prstDash val="solid"/>
            <a:round/>
            <a:headEnd type="none" w="med" len="med"/>
            <a:tailEnd type="none" w="med" len="med"/>
          </a:ln>
          <a:effectLst/>
        </p:spPr>
      </p:cxnSp>
      <p:cxnSp>
        <p:nvCxnSpPr>
          <p:cNvPr id="34" name="33 Conector recto"/>
          <p:cNvCxnSpPr>
            <a:cxnSpLocks/>
          </p:cNvCxnSpPr>
          <p:nvPr/>
        </p:nvCxnSpPr>
        <p:spPr bwMode="auto">
          <a:xfrm flipV="1">
            <a:off x="7828124" y="3199334"/>
            <a:ext cx="0" cy="987655"/>
          </a:xfrm>
          <a:prstGeom prst="line">
            <a:avLst/>
          </a:prstGeom>
          <a:noFill/>
          <a:ln w="9525" cap="flat" cmpd="sng" algn="ctr">
            <a:solidFill>
              <a:schemeClr val="accent1"/>
            </a:solidFill>
            <a:prstDash val="solid"/>
            <a:round/>
            <a:headEnd type="none" w="med" len="med"/>
            <a:tailEnd type="none" w="med" len="med"/>
          </a:ln>
          <a:effectLst/>
        </p:spPr>
      </p:cxnSp>
      <p:cxnSp>
        <p:nvCxnSpPr>
          <p:cNvPr id="35" name="34 Conector recto"/>
          <p:cNvCxnSpPr>
            <a:cxnSpLocks/>
          </p:cNvCxnSpPr>
          <p:nvPr/>
        </p:nvCxnSpPr>
        <p:spPr bwMode="auto">
          <a:xfrm>
            <a:off x="7475072" y="3199332"/>
            <a:ext cx="353052" cy="0"/>
          </a:xfrm>
          <a:prstGeom prst="line">
            <a:avLst/>
          </a:prstGeom>
          <a:noFill/>
          <a:ln w="9525" cap="flat" cmpd="sng" algn="ctr">
            <a:solidFill>
              <a:schemeClr val="accent1"/>
            </a:solidFill>
            <a:prstDash val="solid"/>
            <a:round/>
            <a:headEnd type="none" w="med" len="med"/>
            <a:tailEnd type="none" w="med" len="med"/>
          </a:ln>
          <a:effectLst/>
        </p:spPr>
      </p:cxnSp>
      <p:sp>
        <p:nvSpPr>
          <p:cNvPr id="17" name="Text Box 4">
            <a:extLst>
              <a:ext uri="{FF2B5EF4-FFF2-40B4-BE49-F238E27FC236}">
                <a16:creationId xmlns:a16="http://schemas.microsoft.com/office/drawing/2014/main" id="{1C5C8059-F6CE-41C3-887D-5A6EAB1F1C28}"/>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38620152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386939" y="679930"/>
            <a:ext cx="8008183" cy="539884"/>
          </a:xfrm>
        </p:spPr>
        <p:txBody>
          <a:bodyPr>
            <a:normAutofit fontScale="90000"/>
          </a:bodyPr>
          <a:lstStyle/>
          <a:p>
            <a:pPr marL="0" eaLnBrk="1" hangingPunct="1"/>
            <a:r>
              <a:rPr lang="pt-PT" altLang="es-ES" sz="3200" dirty="0"/>
              <a:t>Estudo de Fase II: Principais conclusões</a:t>
            </a:r>
          </a:p>
        </p:txBody>
      </p:sp>
      <p:sp>
        <p:nvSpPr>
          <p:cNvPr id="9219" name="Content Placeholder 3"/>
          <p:cNvSpPr>
            <a:spLocks noGrp="1"/>
          </p:cNvSpPr>
          <p:nvPr>
            <p:ph idx="1"/>
          </p:nvPr>
        </p:nvSpPr>
        <p:spPr>
          <a:xfrm>
            <a:off x="487363" y="1773238"/>
            <a:ext cx="8229600" cy="2644758"/>
          </a:xfrm>
        </p:spPr>
        <p:txBody>
          <a:bodyPr>
            <a:normAutofit fontScale="92500" lnSpcReduction="10000"/>
          </a:bodyPr>
          <a:lstStyle/>
          <a:p>
            <a:pPr eaLnBrk="1" hangingPunct="1"/>
            <a:r>
              <a:rPr lang="pt-PT" altLang="es-ES" sz="2400" b="1" dirty="0" err="1"/>
              <a:t>Rinialer</a:t>
            </a:r>
            <a:r>
              <a:rPr lang="pt-PT" altLang="es-ES" sz="2400" dirty="0"/>
              <a:t> proporcionou um efeito anti-histamínico periférico significativo em crianças com rinite alérgica após 28 dias de tratamento.</a:t>
            </a:r>
          </a:p>
          <a:p>
            <a:pPr eaLnBrk="1" hangingPunct="1"/>
            <a:endParaRPr lang="pt-PT" altLang="es-ES" sz="2400" dirty="0"/>
          </a:p>
          <a:p>
            <a:pPr eaLnBrk="1" hangingPunct="1"/>
            <a:r>
              <a:rPr lang="pt-PT" altLang="es-ES" sz="2400" dirty="0"/>
              <a:t>Foi obtida uma </a:t>
            </a:r>
            <a:r>
              <a:rPr lang="pt-PT" altLang="es-ES" sz="2400" b="1" dirty="0"/>
              <a:t>melhoria nas pontuações dos sintomas </a:t>
            </a:r>
            <a:r>
              <a:rPr lang="pt-PT" altLang="es-ES" sz="2400" dirty="0"/>
              <a:t>individuais e do total dos sintomas (TSS), revelando um efeito protector significativo da </a:t>
            </a:r>
            <a:r>
              <a:rPr lang="pt-PT" altLang="es-ES" sz="2400" b="1" dirty="0" err="1"/>
              <a:t>Rinialer</a:t>
            </a:r>
            <a:r>
              <a:rPr lang="pt-PT" altLang="es-ES" sz="2400" dirty="0"/>
              <a:t> ao longo dos 28 dias.</a:t>
            </a:r>
          </a:p>
        </p:txBody>
      </p:sp>
      <p:sp>
        <p:nvSpPr>
          <p:cNvPr id="6" name="TextBox 4"/>
          <p:cNvSpPr txBox="1">
            <a:spLocks noChangeArrowheads="1"/>
          </p:cNvSpPr>
          <p:nvPr/>
        </p:nvSpPr>
        <p:spPr bwMode="auto">
          <a:xfrm>
            <a:off x="1134462" y="6405563"/>
            <a:ext cx="4886325" cy="246062"/>
          </a:xfrm>
          <a:prstGeom prst="rect">
            <a:avLst/>
          </a:prstGeom>
          <a:noFill/>
          <a:ln w="9525">
            <a:noFill/>
            <a:miter lim="800000"/>
            <a:headEnd/>
            <a:tailEnd/>
          </a:ln>
        </p:spPr>
        <p:txBody>
          <a:bodyPr>
            <a:spAutoFit/>
          </a:bodyPr>
          <a:lstStyle/>
          <a:p>
            <a:pPr eaLnBrk="1" hangingPunct="1">
              <a:buClr>
                <a:srgbClr val="000000"/>
              </a:buClr>
              <a:buSzPct val="100000"/>
              <a:buFont typeface="Calibri" pitchFamily="34" charset="0"/>
              <a:buNone/>
            </a:pPr>
            <a:r>
              <a:rPr lang="pt-PT" altLang="es-ES" sz="1000" b="0" dirty="0">
                <a:solidFill>
                  <a:schemeClr val="accent2">
                    <a:lumMod val="50000"/>
                  </a:schemeClr>
                </a:solidFill>
              </a:rPr>
              <a:t>Izquierdo I, et al. Pediatr Allergy Immunol. 2009; 20(Suppl 20):2.</a:t>
            </a:r>
          </a:p>
        </p:txBody>
      </p:sp>
      <p:sp>
        <p:nvSpPr>
          <p:cNvPr id="7" name="Text Box 4">
            <a:extLst>
              <a:ext uri="{FF2B5EF4-FFF2-40B4-BE49-F238E27FC236}">
                <a16:creationId xmlns:a16="http://schemas.microsoft.com/office/drawing/2014/main" id="{5DA37F0A-04FB-4455-A4D8-C0CD7DFC7CBA}"/>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57"/>
          <p:cNvGraphicFramePr>
            <a:graphicFrameLocks noGrp="1"/>
          </p:cNvGraphicFramePr>
          <p:nvPr>
            <p:extLst>
              <p:ext uri="{D42A27DB-BD31-4B8C-83A1-F6EECF244321}">
                <p14:modId xmlns:p14="http://schemas.microsoft.com/office/powerpoint/2010/main" val="4114607528"/>
              </p:ext>
            </p:extLst>
          </p:nvPr>
        </p:nvGraphicFramePr>
        <p:xfrm>
          <a:off x="538668" y="1605751"/>
          <a:ext cx="8297606" cy="4739487"/>
        </p:xfrm>
        <a:graphic>
          <a:graphicData uri="http://schemas.openxmlformats.org/drawingml/2006/table">
            <a:tbl>
              <a:tblPr firstRow="1">
                <a:tableStyleId>{21E4AEA4-8DFA-4A89-87EB-49C32662AFE0}</a:tableStyleId>
              </a:tblPr>
              <a:tblGrid>
                <a:gridCol w="1950928">
                  <a:extLst>
                    <a:ext uri="{9D8B030D-6E8A-4147-A177-3AD203B41FA5}">
                      <a16:colId xmlns:a16="http://schemas.microsoft.com/office/drawing/2014/main" val="20000"/>
                    </a:ext>
                  </a:extLst>
                </a:gridCol>
                <a:gridCol w="6346678">
                  <a:extLst>
                    <a:ext uri="{9D8B030D-6E8A-4147-A177-3AD203B41FA5}">
                      <a16:colId xmlns:a16="http://schemas.microsoft.com/office/drawing/2014/main" val="20001"/>
                    </a:ext>
                  </a:extLst>
                </a:gridCol>
              </a:tblGrid>
              <a:tr h="711335">
                <a:tc gridSpan="2">
                  <a:txBody>
                    <a:bodyPr/>
                    <a:lstStyle/>
                    <a:p>
                      <a:pPr marL="0" marR="0" lvl="0" indent="0" algn="ctr" defTabSz="914400" rtl="0" eaLnBrk="1" fontAlgn="base" latinLnBrk="0" hangingPunct="1">
                        <a:lnSpc>
                          <a:spcPct val="110000"/>
                        </a:lnSpc>
                        <a:spcBef>
                          <a:spcPts val="600"/>
                        </a:spcBef>
                        <a:spcAft>
                          <a:spcPct val="0"/>
                        </a:spcAft>
                        <a:buClr>
                          <a:srgbClr val="000000"/>
                        </a:buClr>
                        <a:buSzPct val="100000"/>
                        <a:buFont typeface="Times New Roman" pitchFamily="18" charset="0"/>
                        <a:buNone/>
                        <a:tabLst/>
                      </a:pPr>
                      <a:r>
                        <a:rPr kumimoji="0" lang="en-GB" sz="1800" u="none" strike="noStrike" cap="none" normalizeH="0" baseline="0" dirty="0" err="1">
                          <a:ln>
                            <a:noFill/>
                          </a:ln>
                          <a:effectLst/>
                        </a:rPr>
                        <a:t>Rinialer</a:t>
                      </a:r>
                      <a:r>
                        <a:rPr kumimoji="0" lang="en-GB" sz="1800" u="none" strike="noStrike" cap="none" normalizeH="0" baseline="0" dirty="0">
                          <a:ln>
                            <a:noFill/>
                          </a:ln>
                          <a:effectLst/>
                        </a:rPr>
                        <a:t> solução oral em crianças com rinite </a:t>
                      </a:r>
                      <a:r>
                        <a:rPr kumimoji="0" lang="en-GB" sz="1800" u="none" strike="noStrike" cap="none" normalizeH="0" baseline="0" dirty="0" err="1">
                          <a:ln>
                            <a:noFill/>
                          </a:ln>
                          <a:effectLst/>
                        </a:rPr>
                        <a:t>alérgica</a:t>
                      </a:r>
                      <a:r>
                        <a:rPr kumimoji="0" lang="en-GB" sz="1800" u="none" strike="noStrike" cap="none" normalizeH="0" baseline="0" dirty="0">
                          <a:ln>
                            <a:noFill/>
                          </a:ln>
                          <a:effectLst/>
                        </a:rPr>
                        <a:t> </a:t>
                      </a:r>
                      <a:r>
                        <a:rPr kumimoji="0" lang="en-GB" sz="1800" u="none" strike="noStrike" cap="none" normalizeH="0" baseline="0" dirty="0" err="1">
                          <a:ln>
                            <a:noFill/>
                          </a:ln>
                          <a:effectLst/>
                        </a:rPr>
                        <a:t>perene</a:t>
                      </a:r>
                      <a:endParaRPr kumimoji="0" lang="en-GB" sz="1800" u="none" strike="noStrike" cap="none" normalizeH="0" baseline="0" dirty="0">
                        <a:ln>
                          <a:noFill/>
                        </a:ln>
                        <a:effectLst/>
                      </a:endParaRPr>
                    </a:p>
                  </a:txBody>
                  <a:tcPr marL="144000" marR="144000" marT="46787" marB="46787" anchor="ctr" horzOverflow="overflow"/>
                </a:tc>
                <a:tc hMerge="1">
                  <a:txBody>
                    <a:bodyPr/>
                    <a:lstStyle/>
                    <a:p>
                      <a:endParaRPr lang="es-ES"/>
                    </a:p>
                  </a:txBody>
                  <a:tcPr/>
                </a:tc>
                <a:extLst>
                  <a:ext uri="{0D108BD9-81ED-4DB2-BD59-A6C34878D82A}">
                    <a16:rowId xmlns:a16="http://schemas.microsoft.com/office/drawing/2014/main" val="10000"/>
                  </a:ext>
                </a:extLst>
              </a:tr>
              <a:tr h="687433">
                <a:tc>
                  <a:txBody>
                    <a:bodyPr/>
                    <a:lstStyle/>
                    <a:p>
                      <a:pPr marL="0" marR="0" lvl="0" indent="0" algn="l" defTabSz="449263" rtl="0" eaLnBrk="1" fontAlgn="base" latinLnBrk="0" hangingPunct="1">
                        <a:lnSpc>
                          <a:spcPct val="90000"/>
                        </a:lnSpc>
                        <a:spcBef>
                          <a:spcPts val="60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Desenho/duração</a:t>
                      </a:r>
                      <a:endParaRPr kumimoji="0" lang="pt-PT" sz="1400" b="1"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87" marB="46787" anchor="ctr" horzOverflow="overflow"/>
                </a:tc>
                <a:tc>
                  <a:txBody>
                    <a:bodyPr/>
                    <a:lstStyle/>
                    <a:p>
                      <a:pPr marL="0" marR="0" lvl="0" indent="0" algn="l" defTabSz="449263" rtl="0" eaLnBrk="0" fontAlgn="base" latinLnBrk="0" hangingPunct="0">
                        <a:lnSpc>
                          <a:spcPct val="101000"/>
                        </a:lnSpc>
                        <a:spcBef>
                          <a:spcPts val="350"/>
                        </a:spcBef>
                        <a:spcAft>
                          <a:spcPct val="0"/>
                        </a:spcAft>
                        <a:buClr>
                          <a:srgbClr val="000000"/>
                        </a:buClr>
                        <a:buSzPct val="85000"/>
                        <a:buFont typeface="Times New Roman" pitchFamily="18" charset="0"/>
                        <a:buNone/>
                        <a:tabLst/>
                      </a:pPr>
                      <a:r>
                        <a:rPr kumimoji="0" lang="en-US" sz="1400" u="none" strike="noStrike" cap="none" normalizeH="0" baseline="0" dirty="0">
                          <a:ln>
                            <a:noFill/>
                          </a:ln>
                          <a:solidFill>
                            <a:schemeClr val="accent2">
                              <a:lumMod val="50000"/>
                            </a:schemeClr>
                          </a:solidFill>
                          <a:effectLst/>
                        </a:rPr>
                        <a:t>Estudo de grupos paralelos aleatorizado com dois braços, em dupla ocultação, controlado por placebo</a:t>
                      </a:r>
                      <a:endParaRPr kumimoji="0" lang="pt-PT" sz="1400" u="none" strike="noStrike" cap="none" normalizeH="0" baseline="0" dirty="0">
                        <a:ln>
                          <a:noFill/>
                        </a:ln>
                        <a:solidFill>
                          <a:schemeClr val="accent2">
                            <a:lumMod val="50000"/>
                          </a:schemeClr>
                        </a:solidFill>
                        <a:effectLst/>
                      </a:endParaRPr>
                    </a:p>
                    <a:p>
                      <a:pPr marL="0" marR="0" lvl="0" indent="0" algn="l" defTabSz="449263" rtl="0" eaLnBrk="0" fontAlgn="base" latinLnBrk="0" hangingPunct="0">
                        <a:lnSpc>
                          <a:spcPct val="101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6 semanas (2 semanas de selecção prévia)</a:t>
                      </a:r>
                      <a:endParaRPr kumimoji="0" lang="pt-PT" sz="14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87" marB="46787" anchor="ctr" horzOverflow="overflow"/>
                </a:tc>
                <a:extLst>
                  <a:ext uri="{0D108BD9-81ED-4DB2-BD59-A6C34878D82A}">
                    <a16:rowId xmlns:a16="http://schemas.microsoft.com/office/drawing/2014/main" val="10001"/>
                  </a:ext>
                </a:extLst>
              </a:tr>
              <a:tr h="1534683">
                <a:tc>
                  <a:txBody>
                    <a:bodyPr/>
                    <a:lstStyle/>
                    <a:p>
                      <a:pPr marL="0" marR="0" lvl="0" indent="0" algn="l" defTabSz="449263" rtl="0" eaLnBrk="1" fontAlgn="base" latinLnBrk="0" hangingPunct="0">
                        <a:lnSpc>
                          <a:spcPct val="90000"/>
                        </a:lnSpc>
                        <a:spcBef>
                          <a:spcPct val="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Tratamentos/</a:t>
                      </a:r>
                    </a:p>
                    <a:p>
                      <a:pPr marL="0" marR="0" lvl="0" indent="0" algn="l" defTabSz="449263" rtl="0" eaLnBrk="1" fontAlgn="base" latinLnBrk="0" hangingPunct="0">
                        <a:lnSpc>
                          <a:spcPct val="90000"/>
                        </a:lnSpc>
                        <a:spcBef>
                          <a:spcPct val="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Doentes (n)</a:t>
                      </a:r>
                      <a:endParaRPr kumimoji="0" lang="pt-PT" sz="1400" b="1"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87" marB="46787" anchor="ctr" horzOverflow="overflow"/>
                </a:tc>
                <a:tc>
                  <a:txBody>
                    <a:bodyPr/>
                    <a:lstStyle/>
                    <a:p>
                      <a:pPr marL="0" marR="0" lvl="0" indent="0" algn="l" defTabSz="449263" rtl="0" eaLnBrk="0" fontAlgn="base" latinLnBrk="0" hangingPunct="0">
                        <a:lnSpc>
                          <a:spcPct val="91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Número de doentes: 360 crianças com idades compreendidas entre os 6 e os 11 anos sofrendo de rinite alérgica perene</a:t>
                      </a:r>
                    </a:p>
                    <a:p>
                      <a:pPr marL="0" marR="0" lvl="0" indent="0" algn="l" defTabSz="449263" rtl="0" eaLnBrk="0" fontAlgn="base" latinLnBrk="0" hangingPunct="0">
                        <a:lnSpc>
                          <a:spcPct val="91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err="1">
                          <a:ln>
                            <a:noFill/>
                          </a:ln>
                          <a:solidFill>
                            <a:schemeClr val="accent2">
                              <a:lumMod val="50000"/>
                            </a:schemeClr>
                          </a:solidFill>
                          <a:effectLst/>
                        </a:rPr>
                        <a:t>Rinialer</a:t>
                      </a:r>
                      <a:r>
                        <a:rPr kumimoji="0" lang="en-GB" sz="1400" u="none" strike="noStrike" cap="none" normalizeH="0" baseline="0" dirty="0">
                          <a:ln>
                            <a:noFill/>
                          </a:ln>
                          <a:solidFill>
                            <a:schemeClr val="accent2">
                              <a:lumMod val="50000"/>
                            </a:schemeClr>
                          </a:solidFill>
                          <a:effectLst/>
                        </a:rPr>
                        <a:t> solução 1 mg/ml </a:t>
                      </a:r>
                    </a:p>
                    <a:p>
                      <a:pPr marL="0" marR="0" lvl="0" indent="0" algn="l" defTabSz="449263" rtl="0" eaLnBrk="0" fontAlgn="base" latinLnBrk="0" hangingPunct="0">
                        <a:lnSpc>
                          <a:spcPct val="91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Dose ajustada ao peso corporal: </a:t>
                      </a:r>
                    </a:p>
                    <a:p>
                      <a:pPr marL="457200" marR="0" lvl="1" indent="0" algn="l" defTabSz="449263" rtl="0" eaLnBrk="1" fontAlgn="base" latinLnBrk="0" hangingPunct="1">
                        <a:lnSpc>
                          <a:spcPts val="1675"/>
                        </a:lnSpc>
                        <a:spcBef>
                          <a:spcPts val="350"/>
                        </a:spcBef>
                        <a:spcAft>
                          <a:spcPct val="0"/>
                        </a:spcAft>
                        <a:buClrTx/>
                        <a:buSzTx/>
                        <a:buFontTx/>
                        <a:buNone/>
                        <a:tabLst/>
                      </a:pPr>
                      <a:r>
                        <a:rPr kumimoji="0" lang="en-GB" sz="1400" u="none" strike="noStrike" cap="none" normalizeH="0" baseline="0" dirty="0">
                          <a:ln>
                            <a:noFill/>
                          </a:ln>
                          <a:solidFill>
                            <a:schemeClr val="accent2">
                              <a:lumMod val="50000"/>
                            </a:schemeClr>
                          </a:solidFill>
                          <a:effectLst/>
                        </a:rPr>
                        <a:t>2,5 mg (equivalente a 2,5 ml) uma vez ao dia em crianças com peso &lt; 25 kg</a:t>
                      </a:r>
                    </a:p>
                    <a:p>
                      <a:pPr marL="457200" marR="0" lvl="1" indent="0" algn="l" defTabSz="449263" rtl="0" eaLnBrk="1" fontAlgn="base" latinLnBrk="0" hangingPunct="1">
                        <a:lnSpc>
                          <a:spcPts val="1675"/>
                        </a:lnSpc>
                        <a:spcBef>
                          <a:spcPts val="350"/>
                        </a:spcBef>
                        <a:spcAft>
                          <a:spcPct val="0"/>
                        </a:spcAft>
                        <a:buClrTx/>
                        <a:buSzTx/>
                        <a:buFontTx/>
                        <a:buNone/>
                        <a:tabLst/>
                      </a:pPr>
                      <a:r>
                        <a:rPr kumimoji="0" lang="en-GB" sz="1400" u="none" strike="noStrike" cap="none" normalizeH="0" baseline="0" dirty="0">
                          <a:ln>
                            <a:noFill/>
                          </a:ln>
                          <a:solidFill>
                            <a:schemeClr val="accent2">
                              <a:lumMod val="50000"/>
                            </a:schemeClr>
                          </a:solidFill>
                          <a:effectLst/>
                        </a:rPr>
                        <a:t>5 mg (equivalente a 5 ml) uma vez ao dia em crianças com peso ≥ 25 kg</a:t>
                      </a:r>
                      <a:endParaRPr kumimoji="0" lang="pt-PT" sz="14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87" marB="46787" anchor="ctr" horzOverflow="overflow"/>
                </a:tc>
                <a:extLst>
                  <a:ext uri="{0D108BD9-81ED-4DB2-BD59-A6C34878D82A}">
                    <a16:rowId xmlns:a16="http://schemas.microsoft.com/office/drawing/2014/main" val="10002"/>
                  </a:ext>
                </a:extLst>
              </a:tr>
              <a:tr h="1300464">
                <a:tc>
                  <a:txBody>
                    <a:bodyPr/>
                    <a:lstStyle/>
                    <a:p>
                      <a:pPr marL="0" marR="0" lvl="0" indent="0" algn="l" defTabSz="449263" rtl="0" eaLnBrk="1" fontAlgn="base" latinLnBrk="0" hangingPunct="1">
                        <a:lnSpc>
                          <a:spcPct val="90000"/>
                        </a:lnSpc>
                        <a:spcBef>
                          <a:spcPts val="60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Parâmetros de avaliação</a:t>
                      </a:r>
                      <a:endParaRPr kumimoji="0" lang="pt-PT" sz="1400" b="1"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87" marB="46787" anchor="ctr" horzOverflow="overflow"/>
                </a:tc>
                <a:tc>
                  <a:txBody>
                    <a:bodyPr/>
                    <a:lstStyle/>
                    <a:p>
                      <a:pPr marL="0" marR="0" lvl="2" indent="0" algn="l" defTabSz="914400" rtl="0" eaLnBrk="1" fontAlgn="base" latinLnBrk="0" hangingPunct="1">
                        <a:lnSpc>
                          <a:spcPct val="110000"/>
                        </a:lnSpc>
                        <a:spcBef>
                          <a:spcPts val="600"/>
                        </a:spcBef>
                        <a:spcAft>
                          <a:spcPct val="0"/>
                        </a:spcAft>
                        <a:buClrTx/>
                        <a:buSzTx/>
                        <a:buFontTx/>
                        <a:buNone/>
                        <a:tabLst/>
                      </a:pPr>
                      <a:r>
                        <a:rPr kumimoji="0" lang="en-GB" sz="1400" u="none" strike="noStrike" cap="none" normalizeH="0" baseline="0" dirty="0">
                          <a:ln>
                            <a:noFill/>
                          </a:ln>
                          <a:solidFill>
                            <a:schemeClr val="accent2">
                              <a:lumMod val="50000"/>
                            </a:schemeClr>
                          </a:solidFill>
                          <a:effectLst/>
                        </a:rPr>
                        <a:t>Alteração da pontuação 4TSS (Four Total Symptom Score – pontuação total de 4 sintomas)</a:t>
                      </a:r>
                    </a:p>
                    <a:p>
                      <a:pPr marL="0" marR="0" lvl="2" indent="0" algn="l" defTabSz="914400" rtl="0" eaLnBrk="1" fontAlgn="base" latinLnBrk="0" hangingPunct="1">
                        <a:lnSpc>
                          <a:spcPct val="110000"/>
                        </a:lnSpc>
                        <a:spcBef>
                          <a:spcPts val="600"/>
                        </a:spcBef>
                        <a:spcAft>
                          <a:spcPct val="0"/>
                        </a:spcAft>
                        <a:buClrTx/>
                        <a:buSzTx/>
                        <a:buFontTx/>
                        <a:buNone/>
                        <a:tabLst/>
                      </a:pPr>
                      <a:r>
                        <a:rPr kumimoji="0" lang="en-GB" sz="1400" u="none" strike="noStrike" cap="none" normalizeH="0" baseline="0" dirty="0">
                          <a:ln>
                            <a:noFill/>
                          </a:ln>
                          <a:solidFill>
                            <a:schemeClr val="accent2">
                              <a:lumMod val="50000"/>
                            </a:schemeClr>
                          </a:solidFill>
                          <a:effectLst/>
                        </a:rPr>
                        <a:t>Melhoria da qualidade de vida (Pediatric</a:t>
                      </a:r>
                      <a:r>
                        <a:rPr sz="1800" dirty="0">
                          <a:solidFill>
                            <a:schemeClr val="accent2">
                              <a:lumMod val="50000"/>
                            </a:schemeClr>
                          </a:solidFill>
                        </a:rPr>
                        <a:t> </a:t>
                      </a:r>
                      <a:r>
                        <a:rPr kumimoji="0" lang="en-GB" sz="1400" u="none" strike="noStrike" cap="none" normalizeH="0" baseline="0" dirty="0">
                          <a:ln>
                            <a:noFill/>
                          </a:ln>
                          <a:solidFill>
                            <a:schemeClr val="accent2">
                              <a:lumMod val="50000"/>
                            </a:schemeClr>
                          </a:solidFill>
                          <a:effectLst/>
                        </a:rPr>
                        <a:t>Rhinoconjunctivitis Quality of Life Questionnaire, PRQLQ – avaliação da qualidade de vida num quadro de rinoconjuntivite)</a:t>
                      </a:r>
                    </a:p>
                    <a:p>
                      <a:pPr marL="0" marR="0" lvl="2" indent="0" algn="l" defTabSz="914400" rtl="0" eaLnBrk="1" fontAlgn="base" latinLnBrk="0" hangingPunct="1">
                        <a:lnSpc>
                          <a:spcPct val="110000"/>
                        </a:lnSpc>
                        <a:spcBef>
                          <a:spcPts val="600"/>
                        </a:spcBef>
                        <a:spcAft>
                          <a:spcPct val="0"/>
                        </a:spcAft>
                        <a:buClrTx/>
                        <a:buSzTx/>
                        <a:buFontTx/>
                        <a:buNone/>
                        <a:tabLst/>
                      </a:pPr>
                      <a:r>
                        <a:rPr kumimoji="0" lang="en-GB" sz="1400" u="none" strike="noStrike" cap="none" normalizeH="0" baseline="0" dirty="0">
                          <a:ln>
                            <a:noFill/>
                          </a:ln>
                          <a:solidFill>
                            <a:schemeClr val="accent2">
                              <a:lumMod val="50000"/>
                            </a:schemeClr>
                          </a:solidFill>
                          <a:effectLst/>
                        </a:rPr>
                        <a:t>Avaliação da segurança: ECG e análises ao sangue; registo de eventos adversos</a:t>
                      </a:r>
                      <a:endParaRPr kumimoji="0" lang="pt-PT" sz="14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87" marB="46787" anchor="ctr" horzOverflow="overflow"/>
                </a:tc>
                <a:extLst>
                  <a:ext uri="{0D108BD9-81ED-4DB2-BD59-A6C34878D82A}">
                    <a16:rowId xmlns:a16="http://schemas.microsoft.com/office/drawing/2014/main" val="10003"/>
                  </a:ext>
                </a:extLst>
              </a:tr>
            </a:tbl>
          </a:graphicData>
        </a:graphic>
      </p:graphicFrame>
      <p:sp>
        <p:nvSpPr>
          <p:cNvPr id="60420" name="Text Box 48"/>
          <p:cNvSpPr txBox="1">
            <a:spLocks noChangeArrowheads="1"/>
          </p:cNvSpPr>
          <p:nvPr/>
        </p:nvSpPr>
        <p:spPr bwMode="auto">
          <a:xfrm>
            <a:off x="1269550" y="512762"/>
            <a:ext cx="7874450"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(I)</a:t>
            </a:r>
          </a:p>
        </p:txBody>
      </p:sp>
      <p:sp>
        <p:nvSpPr>
          <p:cNvPr id="6" name="Rectangle 45"/>
          <p:cNvSpPr>
            <a:spLocks noChangeArrowheads="1"/>
          </p:cNvSpPr>
          <p:nvPr/>
        </p:nvSpPr>
        <p:spPr bwMode="auto">
          <a:xfrm>
            <a:off x="1073494" y="6405563"/>
            <a:ext cx="4572000" cy="244475"/>
          </a:xfrm>
          <a:prstGeom prst="rect">
            <a:avLst/>
          </a:prstGeom>
          <a:noFill/>
          <a:ln w="9525">
            <a:noFill/>
            <a:miter lim="800000"/>
            <a:headEnd/>
            <a:tailEnd/>
          </a:ln>
        </p:spPr>
        <p:txBody>
          <a:bodyPr>
            <a:spAutoFit/>
          </a:bodyPr>
          <a:lstStyle/>
          <a:p>
            <a:pPr eaLnBrk="1" hangingPunct="1">
              <a:spcBef>
                <a:spcPts val="550"/>
              </a:spcBef>
              <a:buClr>
                <a:srgbClr val="000000"/>
              </a:buClr>
              <a:buSzPct val="100000"/>
              <a:buFont typeface="Times New Roman" pitchFamily="18" charset="0"/>
              <a:buNone/>
            </a:pPr>
            <a:r>
              <a:rPr lang="pt-PT" altLang="es-ES" sz="1000" b="0" dirty="0">
                <a:solidFill>
                  <a:schemeClr val="accent2">
                    <a:lumMod val="50000"/>
                  </a:schemeClr>
                </a:solidFill>
              </a:rPr>
              <a:t>Potter P, et al. Pediatr Allergy Immunol. 2013; 24(2):144-50.</a:t>
            </a:r>
          </a:p>
        </p:txBody>
      </p:sp>
      <p:sp>
        <p:nvSpPr>
          <p:cNvPr id="8" name="Text Box 4">
            <a:extLst>
              <a:ext uri="{FF2B5EF4-FFF2-40B4-BE49-F238E27FC236}">
                <a16:creationId xmlns:a16="http://schemas.microsoft.com/office/drawing/2014/main" id="{82387A2C-D454-445B-93BA-CAA302CCD6FD}"/>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Rectangle 7"/>
          <p:cNvSpPr>
            <a:spLocks noChangeArrowheads="1"/>
          </p:cNvSpPr>
          <p:nvPr/>
        </p:nvSpPr>
        <p:spPr bwMode="auto">
          <a:xfrm>
            <a:off x="1292225" y="6442834"/>
            <a:ext cx="3279775" cy="246063"/>
          </a:xfrm>
          <a:prstGeom prst="rect">
            <a:avLst/>
          </a:prstGeom>
          <a:noFill/>
          <a:ln>
            <a:noFill/>
          </a:ln>
          <a:effectLst>
            <a:prstShdw prst="shdw17" dist="17961" dir="2700000">
              <a:schemeClr val="accent1">
                <a:gamma/>
                <a:shade val="60000"/>
                <a:invGamma/>
              </a:schemeClr>
            </a:prstShdw>
          </a:effectLst>
        </p:spPr>
        <p:txBody>
          <a:bodyPr wrap="none">
            <a:spAutoFit/>
          </a:bodyPr>
          <a:lstStyle/>
          <a:p>
            <a:pPr eaLnBrk="1" hangingPunct="1">
              <a:buClr>
                <a:srgbClr val="000000"/>
              </a:buClr>
              <a:buSzPct val="100000"/>
              <a:buFont typeface="Calibri" panose="020F0502020204030204" pitchFamily="34" charset="0"/>
              <a:buNone/>
              <a:defRPr/>
            </a:pPr>
            <a:r>
              <a:rPr lang="en-GB" sz="1000" b="0" dirty="0">
                <a:solidFill>
                  <a:schemeClr val="accent2">
                    <a:lumMod val="50000"/>
                  </a:schemeClr>
                </a:solidFill>
                <a:latin typeface="+mn-lt"/>
              </a:rPr>
              <a:t>Potter P, et al. </a:t>
            </a:r>
            <a:r>
              <a:rPr lang="en-GB" sz="1000" b="0" dirty="0" err="1">
                <a:solidFill>
                  <a:schemeClr val="accent2">
                    <a:lumMod val="50000"/>
                  </a:schemeClr>
                </a:solidFill>
                <a:latin typeface="+mn-lt"/>
              </a:rPr>
              <a:t>Pediatr</a:t>
            </a:r>
            <a:r>
              <a:rPr lang="en-GB" sz="1000" b="0" dirty="0">
                <a:solidFill>
                  <a:schemeClr val="accent2">
                    <a:lumMod val="50000"/>
                  </a:schemeClr>
                </a:solidFill>
                <a:latin typeface="+mn-lt"/>
              </a:rPr>
              <a:t> Allergy </a:t>
            </a:r>
            <a:r>
              <a:rPr lang="en-GB" sz="1000" b="0" dirty="0" err="1">
                <a:solidFill>
                  <a:schemeClr val="accent2">
                    <a:lumMod val="50000"/>
                  </a:schemeClr>
                </a:solidFill>
                <a:latin typeface="+mn-lt"/>
              </a:rPr>
              <a:t>Immunol</a:t>
            </a:r>
            <a:r>
              <a:rPr lang="en-GB" sz="1000" b="0" dirty="0">
                <a:solidFill>
                  <a:schemeClr val="accent2">
                    <a:lumMod val="50000"/>
                  </a:schemeClr>
                </a:solidFill>
                <a:latin typeface="+mn-lt"/>
              </a:rPr>
              <a:t>. 2013;24(2):144-50.</a:t>
            </a:r>
          </a:p>
        </p:txBody>
      </p:sp>
      <p:sp>
        <p:nvSpPr>
          <p:cNvPr id="8" name="7 Rectángulo redondeado"/>
          <p:cNvSpPr/>
          <p:nvPr/>
        </p:nvSpPr>
        <p:spPr bwMode="auto">
          <a:xfrm>
            <a:off x="2328863" y="1569732"/>
            <a:ext cx="452120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US" sz="2400">
                <a:solidFill>
                  <a:schemeClr val="accent2">
                    <a:lumMod val="50000"/>
                  </a:schemeClr>
                </a:solidFill>
                <a:cs typeface="ＭＳ Ｐゴシック" pitchFamily="34" charset="-128"/>
              </a:rPr>
              <a:t>Study design</a:t>
            </a:r>
          </a:p>
        </p:txBody>
      </p:sp>
      <p:sp>
        <p:nvSpPr>
          <p:cNvPr id="10" name="TextBox 4"/>
          <p:cNvSpPr txBox="1">
            <a:spLocks noChangeArrowheads="1"/>
          </p:cNvSpPr>
          <p:nvPr/>
        </p:nvSpPr>
        <p:spPr bwMode="auto">
          <a:xfrm>
            <a:off x="1510460" y="5384406"/>
            <a:ext cx="5931738" cy="246221"/>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en-NZ" altLang="es-ES" sz="1000" dirty="0">
                <a:solidFill>
                  <a:schemeClr val="accent2">
                    <a:lumMod val="50000"/>
                  </a:schemeClr>
                </a:solidFill>
              </a:rPr>
              <a:t>o.d. = once daily</a:t>
            </a:r>
          </a:p>
        </p:txBody>
      </p:sp>
      <p:grpSp>
        <p:nvGrpSpPr>
          <p:cNvPr id="13" name="Agrupar 83"/>
          <p:cNvGrpSpPr/>
          <p:nvPr/>
        </p:nvGrpSpPr>
        <p:grpSpPr>
          <a:xfrm>
            <a:off x="1667218" y="2570433"/>
            <a:ext cx="5809564" cy="2711382"/>
            <a:chOff x="1699477" y="2868667"/>
            <a:chExt cx="5809564" cy="2711382"/>
          </a:xfrm>
        </p:grpSpPr>
        <p:cxnSp>
          <p:nvCxnSpPr>
            <p:cNvPr id="14" name="16 Conector recto de flecha"/>
            <p:cNvCxnSpPr/>
            <p:nvPr/>
          </p:nvCxnSpPr>
          <p:spPr bwMode="auto">
            <a:xfrm>
              <a:off x="3126527" y="4393363"/>
              <a:ext cx="393187" cy="477994"/>
            </a:xfrm>
            <a:prstGeom prst="straightConnector1">
              <a:avLst/>
            </a:prstGeom>
            <a:noFill/>
            <a:ln w="12700" cap="flat" cmpd="sng" algn="ctr">
              <a:solidFill>
                <a:schemeClr val="accent1"/>
              </a:solidFill>
              <a:prstDash val="solid"/>
              <a:round/>
              <a:headEnd type="none" w="med" len="med"/>
              <a:tailEnd type="arrow"/>
            </a:ln>
            <a:effectLst/>
          </p:spPr>
        </p:cxnSp>
        <p:cxnSp>
          <p:nvCxnSpPr>
            <p:cNvPr id="15" name="20 Conector recto de flecha"/>
            <p:cNvCxnSpPr/>
            <p:nvPr/>
          </p:nvCxnSpPr>
          <p:spPr bwMode="auto">
            <a:xfrm flipV="1">
              <a:off x="3120571" y="3891643"/>
              <a:ext cx="408215" cy="489860"/>
            </a:xfrm>
            <a:prstGeom prst="straightConnector1">
              <a:avLst/>
            </a:prstGeom>
            <a:noFill/>
            <a:ln w="12700" cap="flat" cmpd="sng" algn="ctr">
              <a:solidFill>
                <a:schemeClr val="accent1"/>
              </a:solidFill>
              <a:prstDash val="solid"/>
              <a:round/>
              <a:headEnd type="none" w="med" len="med"/>
              <a:tailEnd type="arrow"/>
            </a:ln>
            <a:effectLst/>
          </p:spPr>
        </p:cxnSp>
        <p:cxnSp>
          <p:nvCxnSpPr>
            <p:cNvPr id="16" name="26 Conector recto"/>
            <p:cNvCxnSpPr/>
            <p:nvPr/>
          </p:nvCxnSpPr>
          <p:spPr bwMode="auto">
            <a:xfrm>
              <a:off x="2232668" y="3249669"/>
              <a:ext cx="4988189" cy="0"/>
            </a:xfrm>
            <a:prstGeom prst="line">
              <a:avLst/>
            </a:prstGeom>
            <a:noFill/>
            <a:ln w="12700" cap="flat" cmpd="sng" algn="ctr">
              <a:solidFill>
                <a:schemeClr val="accent1"/>
              </a:solidFill>
              <a:prstDash val="solid"/>
              <a:round/>
              <a:headEnd type="none" w="med" len="med"/>
              <a:tailEnd type="none" w="med" len="med"/>
            </a:ln>
            <a:effectLst/>
          </p:spPr>
        </p:cxnSp>
        <p:cxnSp>
          <p:nvCxnSpPr>
            <p:cNvPr id="17" name="31 Conector recto"/>
            <p:cNvCxnSpPr/>
            <p:nvPr/>
          </p:nvCxnSpPr>
          <p:spPr bwMode="auto">
            <a:xfrm>
              <a:off x="2246858" y="4402433"/>
              <a:ext cx="882785" cy="0"/>
            </a:xfrm>
            <a:prstGeom prst="line">
              <a:avLst/>
            </a:prstGeom>
            <a:noFill/>
            <a:ln w="12700" cap="flat" cmpd="sng" algn="ctr">
              <a:solidFill>
                <a:schemeClr val="accent1"/>
              </a:solidFill>
              <a:prstDash val="solid"/>
              <a:round/>
              <a:headEnd type="none" w="med" len="med"/>
              <a:tailEnd type="none" w="med" len="med"/>
            </a:ln>
            <a:effectLst/>
          </p:spPr>
        </p:cxnSp>
        <p:cxnSp>
          <p:nvCxnSpPr>
            <p:cNvPr id="18" name="33 Conector recto"/>
            <p:cNvCxnSpPr/>
            <p:nvPr/>
          </p:nvCxnSpPr>
          <p:spPr bwMode="auto">
            <a:xfrm>
              <a:off x="2241418" y="3249669"/>
              <a:ext cx="0" cy="179331"/>
            </a:xfrm>
            <a:prstGeom prst="line">
              <a:avLst/>
            </a:prstGeom>
            <a:noFill/>
            <a:ln w="12700" cap="flat" cmpd="sng" algn="ctr">
              <a:solidFill>
                <a:schemeClr val="accent1"/>
              </a:solidFill>
              <a:prstDash val="solid"/>
              <a:round/>
              <a:headEnd type="none" w="med" len="med"/>
              <a:tailEnd type="none" w="med" len="med"/>
            </a:ln>
            <a:effectLst/>
          </p:spPr>
        </p:cxnSp>
        <p:cxnSp>
          <p:nvCxnSpPr>
            <p:cNvPr id="19" name="37 Conector recto"/>
            <p:cNvCxnSpPr/>
            <p:nvPr/>
          </p:nvCxnSpPr>
          <p:spPr bwMode="auto">
            <a:xfrm rot="5400000">
              <a:off x="2161912" y="4400265"/>
              <a:ext cx="142187" cy="0"/>
            </a:xfrm>
            <a:prstGeom prst="line">
              <a:avLst/>
            </a:prstGeom>
            <a:noFill/>
            <a:ln w="12700" cap="flat" cmpd="sng" algn="ctr">
              <a:solidFill>
                <a:srgbClr val="C00000"/>
              </a:solidFill>
              <a:prstDash val="solid"/>
              <a:round/>
              <a:headEnd type="none" w="med" len="med"/>
              <a:tailEnd type="none" w="med" len="med"/>
            </a:ln>
            <a:effectLst/>
          </p:spPr>
        </p:cxnSp>
        <p:sp>
          <p:nvSpPr>
            <p:cNvPr id="20" name="CuadroTexto 1"/>
            <p:cNvSpPr txBox="1">
              <a:spLocks noChangeArrowheads="1"/>
            </p:cNvSpPr>
            <p:nvPr/>
          </p:nvSpPr>
          <p:spPr bwMode="auto">
            <a:xfrm>
              <a:off x="1699477" y="2868667"/>
              <a:ext cx="1083349"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Screening visit</a:t>
              </a:r>
            </a:p>
          </p:txBody>
        </p:sp>
        <p:cxnSp>
          <p:nvCxnSpPr>
            <p:cNvPr id="21" name="33 Conector recto"/>
            <p:cNvCxnSpPr/>
            <p:nvPr/>
          </p:nvCxnSpPr>
          <p:spPr bwMode="auto">
            <a:xfrm>
              <a:off x="3602132" y="3249669"/>
              <a:ext cx="0" cy="179331"/>
            </a:xfrm>
            <a:prstGeom prst="line">
              <a:avLst/>
            </a:prstGeom>
            <a:noFill/>
            <a:ln w="12700" cap="flat" cmpd="sng" algn="ctr">
              <a:solidFill>
                <a:schemeClr val="accent1"/>
              </a:solidFill>
              <a:prstDash val="solid"/>
              <a:round/>
              <a:headEnd type="none" w="med" len="med"/>
              <a:tailEnd type="none" w="med" len="med"/>
            </a:ln>
            <a:effectLst/>
          </p:spPr>
        </p:cxnSp>
        <p:cxnSp>
          <p:nvCxnSpPr>
            <p:cNvPr id="22" name="33 Conector recto"/>
            <p:cNvCxnSpPr/>
            <p:nvPr/>
          </p:nvCxnSpPr>
          <p:spPr bwMode="auto">
            <a:xfrm>
              <a:off x="6033274" y="3249669"/>
              <a:ext cx="0" cy="179331"/>
            </a:xfrm>
            <a:prstGeom prst="line">
              <a:avLst/>
            </a:prstGeom>
            <a:noFill/>
            <a:ln w="12700" cap="flat" cmpd="sng" algn="ctr">
              <a:solidFill>
                <a:schemeClr val="accent1"/>
              </a:solidFill>
              <a:prstDash val="solid"/>
              <a:round/>
              <a:headEnd type="none" w="med" len="med"/>
              <a:tailEnd type="none" w="med" len="med"/>
            </a:ln>
            <a:effectLst/>
          </p:spPr>
        </p:cxnSp>
        <p:cxnSp>
          <p:nvCxnSpPr>
            <p:cNvPr id="23" name="33 Conector recto"/>
            <p:cNvCxnSpPr/>
            <p:nvPr/>
          </p:nvCxnSpPr>
          <p:spPr bwMode="auto">
            <a:xfrm>
              <a:off x="7221631" y="3249669"/>
              <a:ext cx="0" cy="179331"/>
            </a:xfrm>
            <a:prstGeom prst="line">
              <a:avLst/>
            </a:prstGeom>
            <a:noFill/>
            <a:ln w="12700" cap="flat" cmpd="sng" algn="ctr">
              <a:solidFill>
                <a:schemeClr val="accent1"/>
              </a:solidFill>
              <a:prstDash val="solid"/>
              <a:round/>
              <a:headEnd type="none" w="med" len="med"/>
              <a:tailEnd type="none" w="med" len="med"/>
            </a:ln>
            <a:effectLst/>
          </p:spPr>
        </p:cxnSp>
        <p:sp>
          <p:nvSpPr>
            <p:cNvPr id="24" name="CuadroTexto 1"/>
            <p:cNvSpPr txBox="1">
              <a:spLocks noChangeArrowheads="1"/>
            </p:cNvSpPr>
            <p:nvPr/>
          </p:nvSpPr>
          <p:spPr bwMode="auto">
            <a:xfrm>
              <a:off x="3322408" y="2868667"/>
              <a:ext cx="567132"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err="1">
                  <a:solidFill>
                    <a:schemeClr val="accent2">
                      <a:lumMod val="50000"/>
                    </a:schemeClr>
                  </a:solidFill>
                </a:rPr>
                <a:t>Visit</a:t>
              </a:r>
              <a:r>
                <a:rPr lang="es-ES" altLang="es-ES" sz="1200" b="0" dirty="0">
                  <a:solidFill>
                    <a:schemeClr val="accent2">
                      <a:lumMod val="50000"/>
                    </a:schemeClr>
                  </a:solidFill>
                </a:rPr>
                <a:t> 0</a:t>
              </a:r>
            </a:p>
          </p:txBody>
        </p:sp>
        <p:sp>
          <p:nvSpPr>
            <p:cNvPr id="25" name="CuadroTexto 1"/>
            <p:cNvSpPr txBox="1">
              <a:spLocks noChangeArrowheads="1"/>
            </p:cNvSpPr>
            <p:nvPr/>
          </p:nvSpPr>
          <p:spPr bwMode="auto">
            <a:xfrm>
              <a:off x="5753551" y="2868667"/>
              <a:ext cx="567132"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err="1">
                  <a:solidFill>
                    <a:schemeClr val="accent2">
                      <a:lumMod val="50000"/>
                    </a:schemeClr>
                  </a:solidFill>
                </a:rPr>
                <a:t>Visit</a:t>
              </a:r>
              <a:r>
                <a:rPr lang="es-ES" altLang="es-ES" sz="1200" b="0" dirty="0">
                  <a:solidFill>
                    <a:schemeClr val="accent2">
                      <a:lumMod val="50000"/>
                    </a:schemeClr>
                  </a:solidFill>
                </a:rPr>
                <a:t> 1</a:t>
              </a:r>
            </a:p>
          </p:txBody>
        </p:sp>
        <p:sp>
          <p:nvSpPr>
            <p:cNvPr id="26" name="CuadroTexto 1"/>
            <p:cNvSpPr txBox="1">
              <a:spLocks noChangeArrowheads="1"/>
            </p:cNvSpPr>
            <p:nvPr/>
          </p:nvSpPr>
          <p:spPr bwMode="auto">
            <a:xfrm>
              <a:off x="6941909" y="2868667"/>
              <a:ext cx="567132"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err="1">
                  <a:solidFill>
                    <a:schemeClr val="accent2">
                      <a:lumMod val="50000"/>
                    </a:schemeClr>
                  </a:solidFill>
                </a:rPr>
                <a:t>Visit</a:t>
              </a:r>
              <a:r>
                <a:rPr lang="es-ES" altLang="es-ES" sz="1200" b="0" dirty="0">
                  <a:solidFill>
                    <a:schemeClr val="accent2">
                      <a:lumMod val="50000"/>
                    </a:schemeClr>
                  </a:solidFill>
                </a:rPr>
                <a:t> 2</a:t>
              </a:r>
            </a:p>
          </p:txBody>
        </p:sp>
        <p:sp>
          <p:nvSpPr>
            <p:cNvPr id="27" name="CuadroTexto 1"/>
            <p:cNvSpPr txBox="1">
              <a:spLocks noChangeArrowheads="1"/>
            </p:cNvSpPr>
            <p:nvPr/>
          </p:nvSpPr>
          <p:spPr bwMode="auto">
            <a:xfrm>
              <a:off x="1913575" y="3376671"/>
              <a:ext cx="660608"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Day -14</a:t>
              </a:r>
            </a:p>
          </p:txBody>
        </p:sp>
        <p:sp>
          <p:nvSpPr>
            <p:cNvPr id="28" name="CuadroTexto 1"/>
            <p:cNvSpPr txBox="1">
              <a:spLocks noChangeArrowheads="1"/>
            </p:cNvSpPr>
            <p:nvPr/>
          </p:nvSpPr>
          <p:spPr bwMode="auto">
            <a:xfrm>
              <a:off x="3338226" y="3376671"/>
              <a:ext cx="535498" cy="276999"/>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200" b="0" dirty="0">
                  <a:solidFill>
                    <a:schemeClr val="accent2">
                      <a:lumMod val="50000"/>
                    </a:schemeClr>
                  </a:solidFill>
                </a:rPr>
                <a:t>Day 0</a:t>
              </a:r>
            </a:p>
          </p:txBody>
        </p:sp>
        <p:sp>
          <p:nvSpPr>
            <p:cNvPr id="29" name="CuadroTexto 1"/>
            <p:cNvSpPr txBox="1">
              <a:spLocks noChangeArrowheads="1"/>
            </p:cNvSpPr>
            <p:nvPr/>
          </p:nvSpPr>
          <p:spPr bwMode="auto">
            <a:xfrm>
              <a:off x="5730370" y="3376671"/>
              <a:ext cx="613494" cy="276999"/>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s-ES" altLang="es-ES" sz="1200" b="0" dirty="0">
                  <a:solidFill>
                    <a:schemeClr val="accent2">
                      <a:lumMod val="50000"/>
                    </a:schemeClr>
                  </a:solidFill>
                </a:rPr>
                <a:t>Day 28</a:t>
              </a:r>
            </a:p>
          </p:txBody>
        </p:sp>
        <p:sp>
          <p:nvSpPr>
            <p:cNvPr id="30" name="CuadroTexto 1"/>
            <p:cNvSpPr txBox="1">
              <a:spLocks noChangeArrowheads="1"/>
            </p:cNvSpPr>
            <p:nvPr/>
          </p:nvSpPr>
          <p:spPr bwMode="auto">
            <a:xfrm>
              <a:off x="6895547" y="3376671"/>
              <a:ext cx="613494" cy="276999"/>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dirty="0">
                  <a:solidFill>
                    <a:schemeClr val="accent2">
                      <a:lumMod val="50000"/>
                    </a:schemeClr>
                  </a:solidFill>
                </a:rPr>
                <a:t>Day 42</a:t>
              </a:r>
            </a:p>
          </p:txBody>
        </p:sp>
        <p:sp>
          <p:nvSpPr>
            <p:cNvPr id="31" name="7 Rectángulo redondeado"/>
            <p:cNvSpPr/>
            <p:nvPr/>
          </p:nvSpPr>
          <p:spPr bwMode="auto">
            <a:xfrm>
              <a:off x="3580719" y="3771321"/>
              <a:ext cx="3667352" cy="295968"/>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US" sz="1400" dirty="0" err="1">
                  <a:solidFill>
                    <a:schemeClr val="accent2">
                      <a:lumMod val="50000"/>
                    </a:schemeClr>
                  </a:solidFill>
                  <a:cs typeface="ＭＳ Ｐゴシック" pitchFamily="34" charset="-128"/>
                </a:rPr>
                <a:t>Rinialer</a:t>
              </a:r>
              <a:r>
                <a:rPr lang="en-US" sz="1400" dirty="0">
                  <a:solidFill>
                    <a:schemeClr val="accent2">
                      <a:lumMod val="50000"/>
                    </a:schemeClr>
                  </a:solidFill>
                  <a:cs typeface="ＭＳ Ｐゴシック" pitchFamily="34" charset="-128"/>
                </a:rPr>
                <a:t> oral solution 1 mg/mL</a:t>
              </a:r>
            </a:p>
          </p:txBody>
        </p:sp>
        <p:sp>
          <p:nvSpPr>
            <p:cNvPr id="32" name="7 Rectángulo redondeado"/>
            <p:cNvSpPr/>
            <p:nvPr/>
          </p:nvSpPr>
          <p:spPr bwMode="auto">
            <a:xfrm>
              <a:off x="3580719" y="4760107"/>
              <a:ext cx="3667352" cy="284042"/>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US" sz="1400" dirty="0">
                  <a:solidFill>
                    <a:schemeClr val="accent2">
                      <a:lumMod val="50000"/>
                    </a:schemeClr>
                  </a:solidFill>
                  <a:cs typeface="ＭＳ Ｐゴシック" pitchFamily="34" charset="-128"/>
                </a:rPr>
                <a:t>Placebo o.d.</a:t>
              </a:r>
            </a:p>
          </p:txBody>
        </p:sp>
        <p:sp>
          <p:nvSpPr>
            <p:cNvPr id="33" name="Rectangle 8"/>
            <p:cNvSpPr>
              <a:spLocks noChangeArrowheads="1"/>
            </p:cNvSpPr>
            <p:nvPr/>
          </p:nvSpPr>
          <p:spPr bwMode="auto">
            <a:xfrm>
              <a:off x="3588431" y="4104591"/>
              <a:ext cx="3650569" cy="584776"/>
            </a:xfrm>
            <a:prstGeom prst="rect">
              <a:avLst/>
            </a:prstGeom>
            <a:noFill/>
            <a:ln w="9525">
              <a:solidFill>
                <a:schemeClr val="accent1"/>
              </a:solidFill>
              <a:round/>
              <a:headEnd/>
              <a:tailEnd/>
            </a:ln>
          </p:spPr>
          <p:txBody>
            <a:bodyPr wrap="square" lIns="90000" tIns="46800" rIns="90000" bIns="46800">
              <a:spAutoFit/>
            </a:bodyPr>
            <a:lstStyle/>
            <a:p>
              <a:pPr>
                <a:lnSpc>
                  <a:spcPct val="90000"/>
                </a:lnSpc>
                <a:spcBef>
                  <a:spcPts val="200"/>
                </a:spcBef>
                <a:buClr>
                  <a:srgbClr val="DC0000"/>
                </a:buClr>
                <a:buSzPct val="85000"/>
                <a:tabLst>
                  <a:tab pos="334963" algn="l"/>
                  <a:tab pos="439738" algn="l"/>
                  <a:tab pos="889000" algn="l"/>
                  <a:tab pos="1338263" algn="l"/>
                  <a:tab pos="1787525" algn="l"/>
                  <a:tab pos="2236788" algn="l"/>
                  <a:tab pos="2686050" algn="l"/>
                  <a:tab pos="3135313" algn="l"/>
                  <a:tab pos="3584575" algn="l"/>
                  <a:tab pos="4033838" algn="l"/>
                  <a:tab pos="4483100" algn="l"/>
                  <a:tab pos="4932363" algn="l"/>
                  <a:tab pos="5381625" algn="l"/>
                  <a:tab pos="5830888" algn="l"/>
                  <a:tab pos="6280150" algn="l"/>
                  <a:tab pos="6729413" algn="l"/>
                  <a:tab pos="7178675" algn="l"/>
                  <a:tab pos="7627938" algn="l"/>
                  <a:tab pos="8077200" algn="l"/>
                  <a:tab pos="8526463" algn="l"/>
                  <a:tab pos="8975725" algn="l"/>
                </a:tabLst>
              </a:pPr>
              <a:r>
                <a:rPr lang="en-GB" sz="1050" b="0" u="none" dirty="0">
                  <a:solidFill>
                    <a:schemeClr val="accent2">
                      <a:lumMod val="50000"/>
                    </a:schemeClr>
                  </a:solidFill>
                </a:rPr>
                <a:t>Treatment dosage:</a:t>
              </a:r>
            </a:p>
            <a:p>
              <a:pPr marL="334963" indent="-334963">
                <a:lnSpc>
                  <a:spcPct val="90000"/>
                </a:lnSpc>
                <a:spcBef>
                  <a:spcPts val="200"/>
                </a:spcBef>
                <a:buClr>
                  <a:srgbClr val="00703C"/>
                </a:buClr>
                <a:buSzPct val="100000"/>
                <a:buFont typeface="Wingdings" panose="05000000000000000000" pitchFamily="2" charset="2"/>
                <a:buChar char="§"/>
                <a:tabLst>
                  <a:tab pos="334963" algn="l"/>
                  <a:tab pos="439738" algn="l"/>
                  <a:tab pos="889000" algn="l"/>
                  <a:tab pos="1338263" algn="l"/>
                  <a:tab pos="1787525" algn="l"/>
                  <a:tab pos="2236788" algn="l"/>
                  <a:tab pos="2686050" algn="l"/>
                  <a:tab pos="3135313" algn="l"/>
                  <a:tab pos="3584575" algn="l"/>
                  <a:tab pos="4033838" algn="l"/>
                  <a:tab pos="4483100" algn="l"/>
                  <a:tab pos="4932363" algn="l"/>
                  <a:tab pos="5381625" algn="l"/>
                  <a:tab pos="5830888" algn="l"/>
                  <a:tab pos="6280150" algn="l"/>
                  <a:tab pos="6729413" algn="l"/>
                  <a:tab pos="7178675" algn="l"/>
                  <a:tab pos="7627938" algn="l"/>
                  <a:tab pos="8077200" algn="l"/>
                  <a:tab pos="8526463" algn="l"/>
                  <a:tab pos="8975725" algn="l"/>
                </a:tabLst>
              </a:pPr>
              <a:r>
                <a:rPr lang="en-GB" sz="1050" b="0" u="none" dirty="0">
                  <a:solidFill>
                    <a:schemeClr val="accent2">
                      <a:lumMod val="50000"/>
                    </a:schemeClr>
                  </a:solidFill>
                </a:rPr>
                <a:t>2,5 mg equivalent to 2.5 mL o.d., </a:t>
              </a:r>
              <a:r>
                <a:rPr lang="en-GB" sz="1050" b="0" dirty="0">
                  <a:solidFill>
                    <a:schemeClr val="accent2">
                      <a:lumMod val="50000"/>
                    </a:schemeClr>
                  </a:solidFill>
                </a:rPr>
                <a:t>b</a:t>
              </a:r>
              <a:r>
                <a:rPr lang="en-GB" sz="1050" b="0" u="none" dirty="0">
                  <a:solidFill>
                    <a:schemeClr val="accent2">
                      <a:lumMod val="50000"/>
                    </a:schemeClr>
                  </a:solidFill>
                </a:rPr>
                <a:t>odyweight &lt; 25kg</a:t>
              </a:r>
            </a:p>
            <a:p>
              <a:pPr marL="334963" indent="-334963">
                <a:lnSpc>
                  <a:spcPct val="90000"/>
                </a:lnSpc>
                <a:spcBef>
                  <a:spcPts val="200"/>
                </a:spcBef>
                <a:buClr>
                  <a:srgbClr val="00703C"/>
                </a:buClr>
                <a:buSzPct val="100000"/>
                <a:buFont typeface="Wingdings" panose="05000000000000000000" pitchFamily="2" charset="2"/>
                <a:buChar char="§"/>
                <a:tabLst>
                  <a:tab pos="334963" algn="l"/>
                  <a:tab pos="439738" algn="l"/>
                  <a:tab pos="889000" algn="l"/>
                  <a:tab pos="1338263" algn="l"/>
                  <a:tab pos="1787525" algn="l"/>
                  <a:tab pos="2236788" algn="l"/>
                  <a:tab pos="2686050" algn="l"/>
                  <a:tab pos="3135313" algn="l"/>
                  <a:tab pos="3584575" algn="l"/>
                  <a:tab pos="4033838" algn="l"/>
                  <a:tab pos="4483100" algn="l"/>
                  <a:tab pos="4932363" algn="l"/>
                  <a:tab pos="5381625" algn="l"/>
                  <a:tab pos="5830888" algn="l"/>
                  <a:tab pos="6280150" algn="l"/>
                  <a:tab pos="6729413" algn="l"/>
                  <a:tab pos="7178675" algn="l"/>
                  <a:tab pos="7627938" algn="l"/>
                  <a:tab pos="8077200" algn="l"/>
                  <a:tab pos="8526463" algn="l"/>
                  <a:tab pos="8975725" algn="l"/>
                </a:tabLst>
              </a:pPr>
              <a:r>
                <a:rPr lang="en-GB" sz="1050" b="0" dirty="0">
                  <a:solidFill>
                    <a:schemeClr val="accent2">
                      <a:lumMod val="50000"/>
                    </a:schemeClr>
                  </a:solidFill>
                </a:rPr>
                <a:t>5 mg equivalent to 5 mL o.d., bodyweight ≥ 25 kg</a:t>
              </a:r>
              <a:endParaRPr lang="en-GB" sz="1050" u="none" dirty="0">
                <a:solidFill>
                  <a:schemeClr val="accent2">
                    <a:lumMod val="50000"/>
                  </a:schemeClr>
                </a:solidFill>
              </a:endParaRPr>
            </a:p>
          </p:txBody>
        </p:sp>
        <p:sp>
          <p:nvSpPr>
            <p:cNvPr id="34" name="CuadroTexto 1"/>
            <p:cNvSpPr txBox="1">
              <a:spLocks noChangeArrowheads="1"/>
            </p:cNvSpPr>
            <p:nvPr/>
          </p:nvSpPr>
          <p:spPr bwMode="auto">
            <a:xfrm>
              <a:off x="2303197" y="5118384"/>
              <a:ext cx="1232554" cy="461665"/>
            </a:xfrm>
            <a:prstGeom prst="rect">
              <a:avLst/>
            </a:prstGeom>
            <a:noFill/>
            <a:ln w="9525">
              <a:noFill/>
              <a:miter lim="800000"/>
              <a:headEnd/>
              <a:tailEnd/>
            </a:ln>
          </p:spPr>
          <p:txBody>
            <a:bodyPr wrap="none">
              <a:spAutoFit/>
            </a:bodyPr>
            <a:lstStyle/>
            <a:p>
              <a:pPr algn="r" eaLnBrk="1" hangingPunct="1">
                <a:buClr>
                  <a:srgbClr val="000000"/>
                </a:buClr>
                <a:buSzPct val="100000"/>
                <a:buFont typeface="Calibri" pitchFamily="34" charset="0"/>
                <a:buNone/>
              </a:pPr>
              <a:r>
                <a:rPr lang="es-ES" altLang="es-ES" sz="1200" b="0" i="1" dirty="0">
                  <a:solidFill>
                    <a:schemeClr val="accent2">
                      <a:lumMod val="50000"/>
                    </a:schemeClr>
                  </a:solidFill>
                </a:rPr>
                <a:t>Screening </a:t>
              </a:r>
              <a:r>
                <a:rPr lang="es-ES" altLang="es-ES" sz="1200" b="0" i="1" dirty="0" err="1">
                  <a:solidFill>
                    <a:schemeClr val="accent2">
                      <a:lumMod val="50000"/>
                    </a:schemeClr>
                  </a:solidFill>
                </a:rPr>
                <a:t>phase</a:t>
              </a:r>
              <a:endParaRPr lang="es-ES" altLang="es-ES" sz="1200" b="0" i="1" dirty="0">
                <a:solidFill>
                  <a:schemeClr val="accent2">
                    <a:lumMod val="50000"/>
                  </a:schemeClr>
                </a:solidFill>
              </a:endParaRPr>
            </a:p>
            <a:p>
              <a:pPr algn="r" eaLnBrk="1" hangingPunct="1">
                <a:buClr>
                  <a:srgbClr val="000000"/>
                </a:buClr>
                <a:buSzPct val="100000"/>
                <a:buFont typeface="Calibri" pitchFamily="34" charset="0"/>
                <a:buNone/>
              </a:pPr>
              <a:r>
                <a:rPr lang="es-ES" altLang="es-ES" sz="1200" b="0" i="1" dirty="0">
                  <a:solidFill>
                    <a:schemeClr val="accent2">
                      <a:lumMod val="50000"/>
                    </a:schemeClr>
                  </a:solidFill>
                </a:rPr>
                <a:t>- no </a:t>
              </a:r>
              <a:r>
                <a:rPr lang="es-ES" altLang="es-ES" sz="1200" b="0" i="1" dirty="0" err="1">
                  <a:solidFill>
                    <a:schemeClr val="accent2">
                      <a:lumMod val="50000"/>
                    </a:schemeClr>
                  </a:solidFill>
                </a:rPr>
                <a:t>treatment</a:t>
              </a:r>
              <a:endParaRPr lang="es-ES" altLang="es-ES" sz="1200" b="0" i="1" dirty="0">
                <a:solidFill>
                  <a:schemeClr val="accent2">
                    <a:lumMod val="50000"/>
                  </a:schemeClr>
                </a:solidFill>
              </a:endParaRPr>
            </a:p>
          </p:txBody>
        </p:sp>
        <p:sp>
          <p:nvSpPr>
            <p:cNvPr id="35" name="CuadroTexto 1"/>
            <p:cNvSpPr txBox="1">
              <a:spLocks noChangeArrowheads="1"/>
            </p:cNvSpPr>
            <p:nvPr/>
          </p:nvSpPr>
          <p:spPr bwMode="auto">
            <a:xfrm>
              <a:off x="3936059" y="5109315"/>
              <a:ext cx="2876589" cy="276999"/>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es-ES" altLang="es-ES" sz="1200" b="0" i="1" dirty="0" err="1">
                  <a:solidFill>
                    <a:schemeClr val="accent2">
                      <a:lumMod val="50000"/>
                    </a:schemeClr>
                  </a:solidFill>
                </a:rPr>
                <a:t>Treatment</a:t>
              </a:r>
              <a:r>
                <a:rPr lang="es-ES" altLang="es-ES" sz="1200" b="0" i="1" dirty="0">
                  <a:solidFill>
                    <a:schemeClr val="accent2">
                      <a:lumMod val="50000"/>
                    </a:schemeClr>
                  </a:solidFill>
                </a:rPr>
                <a:t> </a:t>
              </a:r>
              <a:r>
                <a:rPr lang="es-ES" altLang="es-ES" sz="1200" b="0" i="1" dirty="0" err="1">
                  <a:solidFill>
                    <a:schemeClr val="accent2">
                      <a:lumMod val="50000"/>
                    </a:schemeClr>
                  </a:solidFill>
                </a:rPr>
                <a:t>phase</a:t>
              </a:r>
              <a:r>
                <a:rPr lang="es-ES" altLang="es-ES" sz="1200" b="0" i="1" dirty="0">
                  <a:solidFill>
                    <a:schemeClr val="accent2">
                      <a:lumMod val="50000"/>
                    </a:schemeClr>
                  </a:solidFill>
                </a:rPr>
                <a:t> – </a:t>
              </a:r>
              <a:r>
                <a:rPr lang="es-ES" altLang="es-ES" sz="1200" b="0" i="1" dirty="0" err="1">
                  <a:solidFill>
                    <a:schemeClr val="accent2">
                      <a:lumMod val="50000"/>
                    </a:schemeClr>
                  </a:solidFill>
                </a:rPr>
                <a:t>double</a:t>
              </a:r>
              <a:r>
                <a:rPr lang="es-ES" altLang="es-ES" sz="1200" b="0" i="1" dirty="0">
                  <a:solidFill>
                    <a:schemeClr val="accent2">
                      <a:lumMod val="50000"/>
                    </a:schemeClr>
                  </a:solidFill>
                </a:rPr>
                <a:t> </a:t>
              </a:r>
              <a:r>
                <a:rPr lang="es-ES" altLang="es-ES" sz="1200" b="0" i="1" dirty="0" err="1">
                  <a:solidFill>
                    <a:schemeClr val="accent2">
                      <a:lumMod val="50000"/>
                    </a:schemeClr>
                  </a:solidFill>
                </a:rPr>
                <a:t>blind</a:t>
              </a:r>
              <a:endParaRPr lang="es-ES" altLang="es-ES" sz="1200" b="0" i="1" dirty="0">
                <a:solidFill>
                  <a:schemeClr val="accent2">
                    <a:lumMod val="50000"/>
                  </a:schemeClr>
                </a:solidFill>
              </a:endParaRPr>
            </a:p>
          </p:txBody>
        </p:sp>
      </p:grpSp>
      <p:sp>
        <p:nvSpPr>
          <p:cNvPr id="36" name="Text Box 4">
            <a:extLst>
              <a:ext uri="{FF2B5EF4-FFF2-40B4-BE49-F238E27FC236}">
                <a16:creationId xmlns:a16="http://schemas.microsoft.com/office/drawing/2014/main" id="{3AFFA458-3D83-4329-AD56-E20938D2436D}"/>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37" name="Text Box 48">
            <a:extLst>
              <a:ext uri="{FF2B5EF4-FFF2-40B4-BE49-F238E27FC236}">
                <a16:creationId xmlns:a16="http://schemas.microsoft.com/office/drawing/2014/main" id="{771D7056-2674-4436-AC75-7547CF9DA2FB}"/>
              </a:ext>
            </a:extLst>
          </p:cNvPr>
          <p:cNvSpPr txBox="1">
            <a:spLocks noChangeArrowheads="1"/>
          </p:cNvSpPr>
          <p:nvPr/>
        </p:nvSpPr>
        <p:spPr bwMode="auto">
          <a:xfrm>
            <a:off x="1269549" y="512762"/>
            <a:ext cx="7961077"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(II)</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106500" name="_s106500"/>
          <p:cNvCxnSpPr>
            <a:cxnSpLocks noChangeShapeType="1"/>
            <a:stCxn id="28" idx="1"/>
          </p:cNvCxnSpPr>
          <p:nvPr/>
        </p:nvCxnSpPr>
        <p:spPr bwMode="auto">
          <a:xfrm rot="10800000" flipV="1">
            <a:off x="4593267" y="3146783"/>
            <a:ext cx="1254000" cy="1568"/>
          </a:xfrm>
          <a:prstGeom prst="bentConnector3">
            <a:avLst>
              <a:gd name="adj1" fmla="val 50000"/>
            </a:avLst>
          </a:prstGeom>
          <a:noFill/>
          <a:ln w="19050">
            <a:solidFill>
              <a:schemeClr val="accent1"/>
            </a:solidFill>
            <a:miter lim="800000"/>
            <a:headEnd/>
            <a:tailEnd/>
          </a:ln>
        </p:spPr>
      </p:cxnSp>
      <p:cxnSp>
        <p:nvCxnSpPr>
          <p:cNvPr id="106501" name="_s106501"/>
          <p:cNvCxnSpPr>
            <a:cxnSpLocks noChangeShapeType="1"/>
            <a:stCxn id="27" idx="1"/>
            <a:endCxn id="23" idx="2"/>
          </p:cNvCxnSpPr>
          <p:nvPr/>
        </p:nvCxnSpPr>
        <p:spPr bwMode="auto">
          <a:xfrm rot="10800000">
            <a:off x="6444178" y="4864514"/>
            <a:ext cx="199086" cy="388475"/>
          </a:xfrm>
          <a:prstGeom prst="bentConnector2">
            <a:avLst/>
          </a:prstGeom>
          <a:noFill/>
          <a:ln w="19050">
            <a:solidFill>
              <a:schemeClr val="accent1"/>
            </a:solidFill>
            <a:miter lim="800000"/>
            <a:headEnd/>
            <a:tailEnd/>
          </a:ln>
        </p:spPr>
      </p:cxnSp>
      <p:cxnSp>
        <p:nvCxnSpPr>
          <p:cNvPr id="106502" name="_s106502"/>
          <p:cNvCxnSpPr>
            <a:cxnSpLocks noChangeShapeType="1"/>
            <a:stCxn id="26" idx="3"/>
            <a:endCxn id="23" idx="2"/>
          </p:cNvCxnSpPr>
          <p:nvPr/>
        </p:nvCxnSpPr>
        <p:spPr bwMode="auto">
          <a:xfrm flipV="1">
            <a:off x="6274058" y="4864513"/>
            <a:ext cx="170120" cy="388475"/>
          </a:xfrm>
          <a:prstGeom prst="bentConnector2">
            <a:avLst/>
          </a:prstGeom>
          <a:noFill/>
          <a:ln w="19050">
            <a:solidFill>
              <a:schemeClr val="accent1"/>
            </a:solidFill>
            <a:miter lim="800000"/>
            <a:headEnd/>
            <a:tailEnd/>
          </a:ln>
        </p:spPr>
      </p:cxnSp>
      <p:cxnSp>
        <p:nvCxnSpPr>
          <p:cNvPr id="106503" name="_s106503"/>
          <p:cNvCxnSpPr>
            <a:cxnSpLocks noChangeShapeType="1"/>
            <a:stCxn id="25" idx="1"/>
            <a:endCxn id="22" idx="2"/>
          </p:cNvCxnSpPr>
          <p:nvPr/>
        </p:nvCxnSpPr>
        <p:spPr bwMode="auto">
          <a:xfrm rot="10800000">
            <a:off x="2756516" y="4864514"/>
            <a:ext cx="210709" cy="388475"/>
          </a:xfrm>
          <a:prstGeom prst="bentConnector2">
            <a:avLst/>
          </a:prstGeom>
          <a:noFill/>
          <a:ln w="19050">
            <a:solidFill>
              <a:schemeClr val="accent1"/>
            </a:solidFill>
            <a:miter lim="800000"/>
            <a:headEnd/>
            <a:tailEnd/>
          </a:ln>
        </p:spPr>
      </p:cxnSp>
      <p:cxnSp>
        <p:nvCxnSpPr>
          <p:cNvPr id="106504" name="_s106504"/>
          <p:cNvCxnSpPr>
            <a:cxnSpLocks noChangeShapeType="1"/>
            <a:stCxn id="24" idx="3"/>
            <a:endCxn id="22" idx="2"/>
          </p:cNvCxnSpPr>
          <p:nvPr/>
        </p:nvCxnSpPr>
        <p:spPr bwMode="auto">
          <a:xfrm flipV="1">
            <a:off x="2568127" y="4864513"/>
            <a:ext cx="188388" cy="388475"/>
          </a:xfrm>
          <a:prstGeom prst="bentConnector2">
            <a:avLst/>
          </a:prstGeom>
          <a:noFill/>
          <a:ln w="19050">
            <a:solidFill>
              <a:schemeClr val="accent1"/>
            </a:solidFill>
            <a:miter lim="800000"/>
            <a:headEnd/>
            <a:tailEnd/>
          </a:ln>
        </p:spPr>
      </p:cxnSp>
      <p:cxnSp>
        <p:nvCxnSpPr>
          <p:cNvPr id="106505" name="_s106505"/>
          <p:cNvCxnSpPr>
            <a:cxnSpLocks noChangeShapeType="1"/>
            <a:stCxn id="23" idx="1"/>
            <a:endCxn id="21" idx="2"/>
          </p:cNvCxnSpPr>
          <p:nvPr/>
        </p:nvCxnSpPr>
        <p:spPr bwMode="auto">
          <a:xfrm rot="10800000">
            <a:off x="4589465" y="4478311"/>
            <a:ext cx="1139505" cy="158936"/>
          </a:xfrm>
          <a:prstGeom prst="bentConnector2">
            <a:avLst/>
          </a:prstGeom>
          <a:noFill/>
          <a:ln w="19050">
            <a:solidFill>
              <a:schemeClr val="accent1"/>
            </a:solidFill>
            <a:miter lim="800000"/>
            <a:headEnd/>
            <a:tailEnd/>
          </a:ln>
        </p:spPr>
      </p:cxnSp>
      <p:cxnSp>
        <p:nvCxnSpPr>
          <p:cNvPr id="106506" name="_s106506"/>
          <p:cNvCxnSpPr>
            <a:cxnSpLocks noChangeShapeType="1"/>
            <a:stCxn id="22" idx="3"/>
            <a:endCxn id="21" idx="2"/>
          </p:cNvCxnSpPr>
          <p:nvPr/>
        </p:nvCxnSpPr>
        <p:spPr bwMode="auto">
          <a:xfrm flipV="1">
            <a:off x="3483810" y="4478311"/>
            <a:ext cx="1105654" cy="158936"/>
          </a:xfrm>
          <a:prstGeom prst="bentConnector2">
            <a:avLst/>
          </a:prstGeom>
          <a:noFill/>
          <a:ln w="19050">
            <a:solidFill>
              <a:schemeClr val="accent1"/>
            </a:solidFill>
            <a:miter lim="800000"/>
            <a:headEnd/>
            <a:tailEnd/>
          </a:ln>
        </p:spPr>
      </p:cxnSp>
      <p:cxnSp>
        <p:nvCxnSpPr>
          <p:cNvPr id="106507" name="_s106507"/>
          <p:cNvCxnSpPr>
            <a:cxnSpLocks noChangeShapeType="1"/>
            <a:stCxn id="21" idx="0"/>
            <a:endCxn id="20" idx="2"/>
          </p:cNvCxnSpPr>
          <p:nvPr/>
        </p:nvCxnSpPr>
        <p:spPr bwMode="auto">
          <a:xfrm rot="5400000" flipH="1" flipV="1">
            <a:off x="4453181" y="3877936"/>
            <a:ext cx="272567" cy="1588"/>
          </a:xfrm>
          <a:prstGeom prst="straightConnector1">
            <a:avLst/>
          </a:prstGeom>
          <a:noFill/>
          <a:ln w="19050">
            <a:solidFill>
              <a:schemeClr val="accent1"/>
            </a:solidFill>
            <a:round/>
            <a:headEnd/>
            <a:tailEnd/>
          </a:ln>
        </p:spPr>
      </p:cxnSp>
      <p:cxnSp>
        <p:nvCxnSpPr>
          <p:cNvPr id="106508" name="_s106508"/>
          <p:cNvCxnSpPr>
            <a:cxnSpLocks noChangeShapeType="1"/>
            <a:stCxn id="20" idx="0"/>
            <a:endCxn id="19" idx="2"/>
          </p:cNvCxnSpPr>
          <p:nvPr/>
        </p:nvCxnSpPr>
        <p:spPr bwMode="auto">
          <a:xfrm rot="16200000" flipV="1">
            <a:off x="4431403" y="3153180"/>
            <a:ext cx="316122" cy="1"/>
          </a:xfrm>
          <a:prstGeom prst="bentConnector3">
            <a:avLst>
              <a:gd name="adj1" fmla="val 50000"/>
            </a:avLst>
          </a:prstGeom>
          <a:noFill/>
          <a:ln w="19050">
            <a:solidFill>
              <a:schemeClr val="accent1"/>
            </a:solidFill>
            <a:miter lim="800000"/>
            <a:headEnd/>
            <a:tailEnd/>
          </a:ln>
        </p:spPr>
      </p:cxnSp>
      <p:sp>
        <p:nvSpPr>
          <p:cNvPr id="19" name="_s106509"/>
          <p:cNvSpPr>
            <a:spLocks noChangeArrowheads="1"/>
          </p:cNvSpPr>
          <p:nvPr/>
        </p:nvSpPr>
        <p:spPr bwMode="auto">
          <a:xfrm>
            <a:off x="3786188" y="2594738"/>
            <a:ext cx="1606550" cy="400382"/>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445</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PATIENTS </a:t>
            </a:r>
            <a:r>
              <a:rPr kumimoji="0" lang="es-ES" sz="1200" b="0" i="0" u="none" strike="noStrike" cap="none" normalizeH="0" baseline="0" dirty="0">
                <a:ln>
                  <a:noFill/>
                </a:ln>
                <a:solidFill>
                  <a:schemeClr val="accent2">
                    <a:lumMod val="50000"/>
                  </a:schemeClr>
                </a:solidFill>
                <a:effectLst/>
                <a:latin typeface="Calibri" pitchFamily="34" charset="0"/>
                <a:ea typeface="ＭＳ Ｐゴシック" pitchFamily="34" charset="-128"/>
              </a:rPr>
              <a:t>SCREENED</a:t>
            </a:r>
          </a:p>
        </p:txBody>
      </p:sp>
      <p:sp>
        <p:nvSpPr>
          <p:cNvPr id="20" name="_s106510"/>
          <p:cNvSpPr>
            <a:spLocks noChangeArrowheads="1"/>
          </p:cNvSpPr>
          <p:nvPr/>
        </p:nvSpPr>
        <p:spPr bwMode="auto">
          <a:xfrm>
            <a:off x="3695222" y="3311242"/>
            <a:ext cx="1788484" cy="430410"/>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360</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strike="noStrike" cap="none" normalizeH="0" baseline="0" dirty="0">
                <a:ln>
                  <a:noFill/>
                </a:ln>
                <a:solidFill>
                  <a:schemeClr val="accent2">
                    <a:lumMod val="50000"/>
                  </a:schemeClr>
                </a:solidFill>
                <a:effectLst/>
                <a:latin typeface="Calibri" pitchFamily="34" charset="0"/>
                <a:ea typeface="ＭＳ Ｐゴシック" pitchFamily="34" charset="-128"/>
              </a:rPr>
              <a:t>PATIENTS </a:t>
            </a:r>
            <a:r>
              <a:rPr kumimoji="0" lang="es-ES" sz="1200" b="0" i="0" strike="noStrike" cap="none" normalizeH="0" baseline="0" dirty="0">
                <a:ln>
                  <a:noFill/>
                </a:ln>
                <a:solidFill>
                  <a:schemeClr val="accent2">
                    <a:lumMod val="50000"/>
                  </a:schemeClr>
                </a:solidFill>
                <a:effectLst/>
                <a:latin typeface="Calibri" pitchFamily="34" charset="0"/>
                <a:ea typeface="ＭＳ Ｐゴシック" pitchFamily="34" charset="-128"/>
              </a:rPr>
              <a:t>RANDOMIZED</a:t>
            </a:r>
          </a:p>
        </p:txBody>
      </p:sp>
      <p:sp>
        <p:nvSpPr>
          <p:cNvPr id="21" name="_s106511"/>
          <p:cNvSpPr>
            <a:spLocks noChangeArrowheads="1"/>
          </p:cNvSpPr>
          <p:nvPr/>
        </p:nvSpPr>
        <p:spPr bwMode="auto">
          <a:xfrm>
            <a:off x="3695222" y="4014219"/>
            <a:ext cx="1788484" cy="464092"/>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a:ln>
                  <a:noFill/>
                </a:ln>
                <a:solidFill>
                  <a:schemeClr val="accent2">
                    <a:lumMod val="50000"/>
                  </a:schemeClr>
                </a:solidFill>
                <a:effectLst/>
                <a:latin typeface="Calibri" pitchFamily="34" charset="0"/>
                <a:ea typeface="ＭＳ Ｐゴシック" pitchFamily="34" charset="-128"/>
              </a:rPr>
              <a:t>N= 360</a:t>
            </a:r>
          </a:p>
          <a:p>
            <a:pPr marL="0" marR="0" lvl="0" indent="0" algn="ctr" defTabSz="449263" rtl="0" eaLnBrk="1" fontAlgn="base" latinLnBrk="0" hangingPunct="1">
              <a:lnSpc>
                <a:spcPct val="75000"/>
              </a:lnSpc>
              <a:spcBef>
                <a:spcPct val="0"/>
              </a:spcBef>
              <a:spcAft>
                <a:spcPct val="0"/>
              </a:spcAft>
              <a:buClr>
                <a:schemeClr val="bg1"/>
              </a:buClr>
              <a:buSzPct val="100000"/>
              <a:buFont typeface="Calibri" pitchFamily="34" charset="0"/>
              <a:buNone/>
              <a:tabLst/>
            </a:pPr>
            <a:r>
              <a:rPr kumimoji="0" lang="es-ES" sz="1100" b="0" i="0" u="none" strike="noStrike" cap="none" normalizeH="0" baseline="0">
                <a:ln>
                  <a:noFill/>
                </a:ln>
                <a:solidFill>
                  <a:schemeClr val="accent2">
                    <a:lumMod val="50000"/>
                  </a:schemeClr>
                </a:solidFill>
                <a:effectLst/>
                <a:latin typeface="Calibri" pitchFamily="34" charset="0"/>
                <a:ea typeface="ＭＳ Ｐゴシック" pitchFamily="34" charset="-128"/>
              </a:rPr>
              <a:t>Patients receiving </a:t>
            </a:r>
          </a:p>
          <a:p>
            <a:pPr marL="0" marR="0" lvl="0" indent="0" algn="ctr" defTabSz="449263" rtl="0" eaLnBrk="1" fontAlgn="base" latinLnBrk="0" hangingPunct="1">
              <a:lnSpc>
                <a:spcPct val="75000"/>
              </a:lnSpc>
              <a:spcBef>
                <a:spcPct val="0"/>
              </a:spcBef>
              <a:spcAft>
                <a:spcPct val="0"/>
              </a:spcAft>
              <a:buClr>
                <a:schemeClr val="bg1"/>
              </a:buClr>
              <a:buSzPct val="100000"/>
              <a:buFont typeface="Calibri" pitchFamily="34" charset="0"/>
              <a:buNone/>
              <a:tabLst/>
            </a:pPr>
            <a:r>
              <a:rPr kumimoji="0" lang="es-ES" sz="1100" b="0" i="0" u="none" strike="noStrike" cap="none" normalizeH="0" baseline="0">
                <a:ln>
                  <a:noFill/>
                </a:ln>
                <a:solidFill>
                  <a:schemeClr val="accent2">
                    <a:lumMod val="50000"/>
                  </a:schemeClr>
                </a:solidFill>
                <a:effectLst/>
                <a:latin typeface="Calibri" pitchFamily="34" charset="0"/>
                <a:ea typeface="ＭＳ Ｐゴシック" pitchFamily="34" charset="-128"/>
              </a:rPr>
              <a:t>double-blind medication</a:t>
            </a:r>
          </a:p>
        </p:txBody>
      </p:sp>
      <p:sp>
        <p:nvSpPr>
          <p:cNvPr id="22" name="_s106512"/>
          <p:cNvSpPr>
            <a:spLocks noChangeArrowheads="1"/>
          </p:cNvSpPr>
          <p:nvPr/>
        </p:nvSpPr>
        <p:spPr bwMode="auto">
          <a:xfrm>
            <a:off x="2029220" y="4409981"/>
            <a:ext cx="1454590" cy="454532"/>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180</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400" b="0" i="0" u="none" strike="noStrike" cap="none" normalizeH="0" baseline="0" dirty="0">
                <a:ln>
                  <a:noFill/>
                </a:ln>
                <a:solidFill>
                  <a:schemeClr val="accent2">
                    <a:lumMod val="50000"/>
                  </a:schemeClr>
                </a:solidFill>
                <a:effectLst/>
                <a:latin typeface="Calibri" pitchFamily="34" charset="0"/>
                <a:ea typeface="ＭＳ Ｐゴシック" pitchFamily="34" charset="-128"/>
              </a:rPr>
              <a:t>PLACEBO</a:t>
            </a:r>
          </a:p>
        </p:txBody>
      </p:sp>
      <p:sp>
        <p:nvSpPr>
          <p:cNvPr id="23" name="_s106513"/>
          <p:cNvSpPr>
            <a:spLocks noChangeArrowheads="1"/>
          </p:cNvSpPr>
          <p:nvPr/>
        </p:nvSpPr>
        <p:spPr bwMode="auto">
          <a:xfrm>
            <a:off x="5728969" y="4409981"/>
            <a:ext cx="1430418" cy="454532"/>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180</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40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RUPATADINE</a:t>
            </a:r>
            <a:endParaRPr kumimoji="0" lang="es-ES" sz="14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p:txBody>
      </p:sp>
      <p:sp>
        <p:nvSpPr>
          <p:cNvPr id="25" name="_s106515"/>
          <p:cNvSpPr>
            <a:spLocks noChangeArrowheads="1"/>
          </p:cNvSpPr>
          <p:nvPr/>
        </p:nvSpPr>
        <p:spPr bwMode="auto">
          <a:xfrm>
            <a:off x="2967224" y="5021675"/>
            <a:ext cx="1222822" cy="462625"/>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19</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WITHDRAWN</a:t>
            </a:r>
          </a:p>
        </p:txBody>
      </p:sp>
      <p:sp>
        <p:nvSpPr>
          <p:cNvPr id="26" name="_s106516"/>
          <p:cNvSpPr>
            <a:spLocks noChangeArrowheads="1"/>
          </p:cNvSpPr>
          <p:nvPr/>
        </p:nvSpPr>
        <p:spPr bwMode="auto">
          <a:xfrm>
            <a:off x="5008579" y="5021675"/>
            <a:ext cx="1265479" cy="462625"/>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164</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COMPLETED </a:t>
            </a:r>
            <a:r>
              <a:rPr kumimoji="0" lang="es-ES" sz="110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Study</a:t>
            </a:r>
            <a:endPar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p:txBody>
      </p:sp>
      <p:sp>
        <p:nvSpPr>
          <p:cNvPr id="27" name="_s106517"/>
          <p:cNvSpPr>
            <a:spLocks noChangeArrowheads="1"/>
          </p:cNvSpPr>
          <p:nvPr/>
        </p:nvSpPr>
        <p:spPr bwMode="auto">
          <a:xfrm>
            <a:off x="6643264" y="5021675"/>
            <a:ext cx="1228510" cy="462625"/>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16</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WITHDRAWN</a:t>
            </a:r>
            <a:endParaRPr kumimoji="0" lang="es-ES" sz="9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p:txBody>
      </p:sp>
      <p:sp>
        <p:nvSpPr>
          <p:cNvPr id="28" name="_s106518"/>
          <p:cNvSpPr>
            <a:spLocks noChangeArrowheads="1"/>
          </p:cNvSpPr>
          <p:nvPr/>
        </p:nvSpPr>
        <p:spPr bwMode="auto">
          <a:xfrm>
            <a:off x="5847267" y="2757791"/>
            <a:ext cx="1750507" cy="777984"/>
          </a:xfrm>
          <a:prstGeom prst="roundRect">
            <a:avLst>
              <a:gd name="adj" fmla="val 16667"/>
            </a:avLst>
          </a:prstGeom>
          <a:solidFill>
            <a:schemeClr val="accent1">
              <a:lumMod val="60000"/>
              <a:lumOff val="40000"/>
            </a:schemeClr>
          </a:solidFill>
          <a:ln w="9525"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85 Screening </a:t>
            </a:r>
            <a:r>
              <a:rPr kumimoji="0" lang="es-ES" sz="105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failures</a:t>
            </a:r>
            <a:endPar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05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Incl</a:t>
            </a:r>
            <a:r>
              <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rPr>
              <a:t>/Excl. </a:t>
            </a:r>
            <a:r>
              <a:rPr kumimoji="0" lang="es-ES" sz="105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Criteria</a:t>
            </a:r>
            <a:r>
              <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rPr>
              <a:t> (78)</a:t>
            </a:r>
          </a:p>
          <a:p>
            <a:pPr marL="0" marR="0" lvl="0" indent="0" algn="ctr" defTabSz="449263" rtl="0" eaLnBrk="1" fontAlgn="base" latinLnBrk="0" hangingPunct="1">
              <a:lnSpc>
                <a:spcPct val="75000"/>
              </a:lnSpc>
              <a:spcBef>
                <a:spcPct val="0"/>
              </a:spcBef>
              <a:spcAft>
                <a:spcPct val="0"/>
              </a:spcAft>
              <a:buClr>
                <a:schemeClr val="bg1"/>
              </a:buClr>
              <a:buSzPct val="100000"/>
              <a:buFont typeface="Calibri" pitchFamily="34" charset="0"/>
              <a:buNone/>
              <a:tabLst/>
            </a:pPr>
            <a:r>
              <a:rPr kumimoji="0" lang="es-ES" sz="105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Patient</a:t>
            </a:r>
            <a:r>
              <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rPr>
              <a:t> </a:t>
            </a:r>
            <a:r>
              <a:rPr kumimoji="0" lang="es-ES" sz="105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decision</a:t>
            </a:r>
            <a:r>
              <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rPr>
              <a:t> (5)</a:t>
            </a:r>
          </a:p>
          <a:p>
            <a:pPr marL="0" marR="0" lvl="0" indent="0" algn="ctr" defTabSz="449263" rtl="0" eaLnBrk="1" fontAlgn="base" latinLnBrk="0" hangingPunct="1">
              <a:lnSpc>
                <a:spcPct val="75000"/>
              </a:lnSpc>
              <a:spcBef>
                <a:spcPct val="0"/>
              </a:spcBef>
              <a:spcAft>
                <a:spcPct val="0"/>
              </a:spcAft>
              <a:buClr>
                <a:schemeClr val="bg1"/>
              </a:buClr>
              <a:buSzPct val="100000"/>
              <a:buFont typeface="Calibri" pitchFamily="34" charset="0"/>
              <a:buNone/>
              <a:tabLst/>
            </a:pPr>
            <a:r>
              <a:rPr kumimoji="0" lang="es-ES" sz="105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Other</a:t>
            </a:r>
            <a:r>
              <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rPr>
              <a:t> </a:t>
            </a:r>
            <a:r>
              <a:rPr kumimoji="0" lang="es-ES" sz="105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reasons</a:t>
            </a:r>
            <a:r>
              <a:rPr kumimoji="0" lang="es-ES" sz="1050" b="0" i="0" u="none" strike="noStrike" cap="none" normalizeH="0" baseline="0" dirty="0">
                <a:ln>
                  <a:noFill/>
                </a:ln>
                <a:solidFill>
                  <a:schemeClr val="accent2">
                    <a:lumMod val="50000"/>
                  </a:schemeClr>
                </a:solidFill>
                <a:effectLst/>
                <a:latin typeface="Calibri" pitchFamily="34" charset="0"/>
                <a:ea typeface="ＭＳ Ｐゴシック" pitchFamily="34" charset="-128"/>
              </a:rPr>
              <a:t> (2)</a:t>
            </a:r>
          </a:p>
        </p:txBody>
      </p:sp>
      <p:sp>
        <p:nvSpPr>
          <p:cNvPr id="24" name="_s106514"/>
          <p:cNvSpPr>
            <a:spLocks noChangeArrowheads="1"/>
          </p:cNvSpPr>
          <p:nvPr/>
        </p:nvSpPr>
        <p:spPr bwMode="auto">
          <a:xfrm>
            <a:off x="1325398" y="5021675"/>
            <a:ext cx="1242729" cy="462625"/>
          </a:xfrm>
          <a:prstGeom prst="roundRect">
            <a:avLst>
              <a:gd name="adj" fmla="val 16667"/>
            </a:avLst>
          </a:prstGeom>
          <a:solidFill>
            <a:schemeClr val="accent1">
              <a:lumMod val="60000"/>
              <a:lumOff val="40000"/>
            </a:schemeClr>
          </a:solidFill>
          <a:ln w="19050" algn="ctr">
            <a:noFill/>
            <a:round/>
            <a:headEnd/>
            <a:tailEnd/>
          </a:ln>
          <a:effectLst/>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N = 161</a:t>
            </a:r>
          </a:p>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r>
              <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rPr>
              <a:t>COMPLETED </a:t>
            </a:r>
            <a:r>
              <a:rPr kumimoji="0" lang="es-ES" sz="1100" b="0" i="0" u="none" strike="noStrike" cap="none" normalizeH="0" baseline="0" dirty="0" err="1">
                <a:ln>
                  <a:noFill/>
                </a:ln>
                <a:solidFill>
                  <a:schemeClr val="accent2">
                    <a:lumMod val="50000"/>
                  </a:schemeClr>
                </a:solidFill>
                <a:effectLst/>
                <a:latin typeface="Calibri" pitchFamily="34" charset="0"/>
                <a:ea typeface="ＭＳ Ｐゴシック" pitchFamily="34" charset="-128"/>
              </a:rPr>
              <a:t>Study</a:t>
            </a:r>
            <a:endParaRPr kumimoji="0" lang="es-ES" sz="11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p:txBody>
      </p:sp>
      <p:sp>
        <p:nvSpPr>
          <p:cNvPr id="6" name="Rectangle 7"/>
          <p:cNvSpPr>
            <a:spLocks noChangeArrowheads="1"/>
          </p:cNvSpPr>
          <p:nvPr/>
        </p:nvSpPr>
        <p:spPr bwMode="auto">
          <a:xfrm>
            <a:off x="1116627" y="6405561"/>
            <a:ext cx="3279775" cy="246062"/>
          </a:xfrm>
          <a:prstGeom prst="rect">
            <a:avLst/>
          </a:prstGeom>
          <a:noFill/>
          <a:ln>
            <a:noFill/>
          </a:ln>
          <a:effectLst>
            <a:prstShdw prst="shdw17" dist="17961" dir="2700000">
              <a:schemeClr val="accent1">
                <a:gamma/>
                <a:shade val="60000"/>
                <a:invGamma/>
              </a:schemeClr>
            </a:prstShdw>
          </a:effectLst>
        </p:spPr>
        <p:txBody>
          <a:bodyPr wrap="none">
            <a:spAutoFit/>
          </a:bodyPr>
          <a:lstStyle/>
          <a:p>
            <a:pPr eaLnBrk="1" hangingPunct="1">
              <a:buClr>
                <a:srgbClr val="000000"/>
              </a:buClr>
              <a:buSzPct val="100000"/>
              <a:buFont typeface="Calibri" panose="020F0502020204030204" pitchFamily="34" charset="0"/>
              <a:buNone/>
              <a:defRPr/>
            </a:pPr>
            <a:r>
              <a:rPr lang="en-GB" sz="1000" b="0" dirty="0">
                <a:solidFill>
                  <a:schemeClr val="accent2">
                    <a:lumMod val="50000"/>
                  </a:schemeClr>
                </a:solidFill>
                <a:latin typeface="+mn-lt"/>
              </a:rPr>
              <a:t>Potter P, et al. </a:t>
            </a:r>
            <a:r>
              <a:rPr lang="en-GB" sz="1000" b="0" dirty="0" err="1">
                <a:solidFill>
                  <a:schemeClr val="accent2">
                    <a:lumMod val="50000"/>
                  </a:schemeClr>
                </a:solidFill>
                <a:latin typeface="+mn-lt"/>
              </a:rPr>
              <a:t>Pediatr</a:t>
            </a:r>
            <a:r>
              <a:rPr lang="en-GB" sz="1000" b="0" dirty="0">
                <a:solidFill>
                  <a:schemeClr val="accent2">
                    <a:lumMod val="50000"/>
                  </a:schemeClr>
                </a:solidFill>
                <a:latin typeface="+mn-lt"/>
              </a:rPr>
              <a:t> Allergy </a:t>
            </a:r>
            <a:r>
              <a:rPr lang="en-GB" sz="1000" b="0" dirty="0" err="1">
                <a:solidFill>
                  <a:schemeClr val="accent2">
                    <a:lumMod val="50000"/>
                  </a:schemeClr>
                </a:solidFill>
                <a:latin typeface="+mn-lt"/>
              </a:rPr>
              <a:t>Immunol</a:t>
            </a:r>
            <a:r>
              <a:rPr lang="en-GB" sz="1000" b="0" dirty="0">
                <a:solidFill>
                  <a:schemeClr val="accent2">
                    <a:lumMod val="50000"/>
                  </a:schemeClr>
                </a:solidFill>
                <a:latin typeface="+mn-lt"/>
              </a:rPr>
              <a:t>. 2013;24(2):144-50.</a:t>
            </a:r>
          </a:p>
        </p:txBody>
      </p:sp>
      <p:sp>
        <p:nvSpPr>
          <p:cNvPr id="7" name="6 Rectángulo redondeado"/>
          <p:cNvSpPr/>
          <p:nvPr/>
        </p:nvSpPr>
        <p:spPr bwMode="auto">
          <a:xfrm>
            <a:off x="2328863" y="1713702"/>
            <a:ext cx="452120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NZ" altLang="es-ES" sz="2400">
                <a:solidFill>
                  <a:schemeClr val="accent2">
                    <a:lumMod val="50000"/>
                  </a:schemeClr>
                </a:solidFill>
              </a:rPr>
              <a:t>Patient randomisation </a:t>
            </a:r>
            <a:endParaRPr lang="en-US" sz="2400">
              <a:solidFill>
                <a:schemeClr val="accent2">
                  <a:lumMod val="50000"/>
                </a:schemeClr>
              </a:solidFill>
              <a:cs typeface="ＭＳ Ｐゴシック" pitchFamily="34" charset="-128"/>
            </a:endParaRPr>
          </a:p>
        </p:txBody>
      </p:sp>
      <p:sp>
        <p:nvSpPr>
          <p:cNvPr id="29" name="Text Box 4">
            <a:extLst>
              <a:ext uri="{FF2B5EF4-FFF2-40B4-BE49-F238E27FC236}">
                <a16:creationId xmlns:a16="http://schemas.microsoft.com/office/drawing/2014/main" id="{95EF12A0-738F-45CA-BAB9-189A4E67EE56}"/>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30" name="Text Box 48">
            <a:extLst>
              <a:ext uri="{FF2B5EF4-FFF2-40B4-BE49-F238E27FC236}">
                <a16:creationId xmlns:a16="http://schemas.microsoft.com/office/drawing/2014/main" id="{29BE0178-8E61-4B6E-88B2-D590974C3E84}"/>
              </a:ext>
            </a:extLst>
          </p:cNvPr>
          <p:cNvSpPr txBox="1">
            <a:spLocks noChangeArrowheads="1"/>
          </p:cNvSpPr>
          <p:nvPr/>
        </p:nvSpPr>
        <p:spPr bwMode="auto">
          <a:xfrm>
            <a:off x="1269549" y="512762"/>
            <a:ext cx="8047705"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(III)</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3" name="Group 127"/>
          <p:cNvGraphicFramePr>
            <a:graphicFrameLocks/>
          </p:cNvGraphicFramePr>
          <p:nvPr>
            <p:extLst>
              <p:ext uri="{D42A27DB-BD31-4B8C-83A1-F6EECF244321}">
                <p14:modId xmlns:p14="http://schemas.microsoft.com/office/powerpoint/2010/main" val="2940948618"/>
              </p:ext>
            </p:extLst>
          </p:nvPr>
        </p:nvGraphicFramePr>
        <p:xfrm>
          <a:off x="1173662" y="2292457"/>
          <a:ext cx="6796676" cy="3829288"/>
        </p:xfrm>
        <a:graphic>
          <a:graphicData uri="http://schemas.openxmlformats.org/drawingml/2006/table">
            <a:tbl>
              <a:tblPr firstRow="1">
                <a:tableStyleId>{21E4AEA4-8DFA-4A89-87EB-49C32662AFE0}</a:tableStyleId>
              </a:tblPr>
              <a:tblGrid>
                <a:gridCol w="2564311">
                  <a:extLst>
                    <a:ext uri="{9D8B030D-6E8A-4147-A177-3AD203B41FA5}">
                      <a16:colId xmlns:a16="http://schemas.microsoft.com/office/drawing/2014/main" val="20000"/>
                    </a:ext>
                  </a:extLst>
                </a:gridCol>
                <a:gridCol w="2207623">
                  <a:extLst>
                    <a:ext uri="{9D8B030D-6E8A-4147-A177-3AD203B41FA5}">
                      <a16:colId xmlns:a16="http://schemas.microsoft.com/office/drawing/2014/main" val="20001"/>
                    </a:ext>
                  </a:extLst>
                </a:gridCol>
                <a:gridCol w="2024742">
                  <a:extLst>
                    <a:ext uri="{9D8B030D-6E8A-4147-A177-3AD203B41FA5}">
                      <a16:colId xmlns:a16="http://schemas.microsoft.com/office/drawing/2014/main" val="20002"/>
                    </a:ext>
                  </a:extLst>
                </a:gridCol>
              </a:tblGrid>
              <a:tr h="457391">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1600" u="none" strike="noStrike" cap="none" normalizeH="0" baseline="0" dirty="0">
                          <a:ln>
                            <a:noFill/>
                          </a:ln>
                          <a:effectLst/>
                          <a:latin typeface="+mj-lt"/>
                          <a:cs typeface="Arial" pitchFamily="34" charset="0"/>
                        </a:rPr>
                        <a:t>Characteristics</a:t>
                      </a:r>
                      <a:endParaRPr kumimoji="0" lang="en-GB" sz="1600" b="1" i="0" u="none" strike="noStrike" cap="none" normalizeH="0" baseline="0" dirty="0">
                        <a:ln>
                          <a:noFill/>
                        </a:ln>
                        <a:solidFill>
                          <a:schemeClr val="bg1"/>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600" u="none" strike="noStrike" cap="none" normalizeH="0" baseline="0" dirty="0" err="1">
                          <a:ln>
                            <a:noFill/>
                          </a:ln>
                          <a:effectLst/>
                          <a:latin typeface="+mj-lt"/>
                          <a:cs typeface="Arial" pitchFamily="34" charset="0"/>
                        </a:rPr>
                        <a:t>Rinialer</a:t>
                      </a:r>
                      <a:r>
                        <a:rPr kumimoji="0" lang="en-GB" sz="1600" u="none" strike="noStrike" cap="none" normalizeH="0" baseline="0" dirty="0">
                          <a:ln>
                            <a:noFill/>
                          </a:ln>
                          <a:effectLst/>
                          <a:latin typeface="+mj-lt"/>
                          <a:cs typeface="Arial" pitchFamily="34" charset="0"/>
                        </a:rPr>
                        <a:t> (n = 180)</a:t>
                      </a:r>
                      <a:endParaRPr kumimoji="0" lang="en-GB" sz="1600" b="1" i="0" u="none" strike="noStrike" cap="none" normalizeH="0" baseline="0" dirty="0">
                        <a:ln>
                          <a:noFill/>
                        </a:ln>
                        <a:solidFill>
                          <a:schemeClr val="bg1"/>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600" u="none" strike="noStrike" cap="none" normalizeH="0" baseline="0" dirty="0">
                          <a:ln>
                            <a:noFill/>
                          </a:ln>
                          <a:effectLst/>
                          <a:latin typeface="+mj-lt"/>
                          <a:cs typeface="Arial" pitchFamily="34" charset="0"/>
                        </a:rPr>
                        <a:t>Placebo (n = 180)</a:t>
                      </a:r>
                      <a:endParaRPr kumimoji="0" lang="en-GB" sz="1600" b="1" i="0" u="none" strike="noStrike" cap="none" normalizeH="0" baseline="0" dirty="0">
                        <a:ln>
                          <a:noFill/>
                        </a:ln>
                        <a:solidFill>
                          <a:schemeClr val="bg1"/>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0"/>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1400" u="none" strike="noStrike" cap="none" normalizeH="0" baseline="0" dirty="0">
                          <a:ln>
                            <a:noFill/>
                          </a:ln>
                          <a:solidFill>
                            <a:schemeClr val="accent2">
                              <a:lumMod val="50000"/>
                            </a:schemeClr>
                          </a:solidFill>
                          <a:effectLst/>
                          <a:latin typeface="+mj-lt"/>
                          <a:cs typeface="Arial" pitchFamily="34" charset="0"/>
                        </a:rPr>
                        <a:t>Age in </a:t>
                      </a:r>
                      <a:r>
                        <a:rPr kumimoji="0" lang="en-GB" sz="1400" u="none" strike="noStrike" cap="none" normalizeH="0" baseline="0" dirty="0" err="1">
                          <a:ln>
                            <a:noFill/>
                          </a:ln>
                          <a:solidFill>
                            <a:schemeClr val="accent2">
                              <a:lumMod val="50000"/>
                            </a:schemeClr>
                          </a:solidFill>
                          <a:effectLst/>
                          <a:latin typeface="+mj-lt"/>
                          <a:cs typeface="Arial" pitchFamily="34" charset="0"/>
                        </a:rPr>
                        <a:t>years</a:t>
                      </a:r>
                      <a:r>
                        <a:rPr kumimoji="0" lang="en-GB" sz="1400" u="none" strike="noStrike" cap="none" normalizeH="0" baseline="30000" dirty="0" err="1">
                          <a:ln>
                            <a:noFill/>
                          </a:ln>
                          <a:solidFill>
                            <a:schemeClr val="accent2">
                              <a:lumMod val="50000"/>
                            </a:schemeClr>
                          </a:solidFill>
                          <a:effectLst/>
                          <a:latin typeface="+mj-lt"/>
                          <a:cs typeface="Arial" pitchFamily="34" charset="0"/>
                        </a:rPr>
                        <a:t>a</a:t>
                      </a:r>
                      <a:endParaRPr kumimoji="0" lang="en-GB" sz="1400" b="0" i="0" u="none" strike="noStrike" cap="none" normalizeH="0" baseline="3000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cap="none" normalizeH="0" baseline="0">
                          <a:ln>
                            <a:noFill/>
                          </a:ln>
                          <a:solidFill>
                            <a:schemeClr val="accent2">
                              <a:lumMod val="50000"/>
                            </a:schemeClr>
                          </a:solidFill>
                          <a:effectLst/>
                          <a:latin typeface="+mj-lt"/>
                          <a:cs typeface="Arial" pitchFamily="34" charset="0"/>
                        </a:rPr>
                        <a:t>8.7 (1.7)</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cap="none" normalizeH="0" baseline="0" dirty="0">
                          <a:ln>
                            <a:noFill/>
                          </a:ln>
                          <a:solidFill>
                            <a:schemeClr val="accent2">
                              <a:lumMod val="50000"/>
                            </a:schemeClr>
                          </a:solidFill>
                          <a:effectLst/>
                          <a:latin typeface="+mj-lt"/>
                          <a:cs typeface="Arial" pitchFamily="34" charset="0"/>
                        </a:rPr>
                        <a:t>8.8 (1.7)</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1"/>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1400" u="none" strike="noStrike" cap="none" normalizeH="0" baseline="0">
                          <a:ln>
                            <a:noFill/>
                          </a:ln>
                          <a:solidFill>
                            <a:schemeClr val="accent2">
                              <a:lumMod val="50000"/>
                            </a:schemeClr>
                          </a:solidFill>
                          <a:effectLst/>
                          <a:latin typeface="+mj-lt"/>
                          <a:cs typeface="Arial" pitchFamily="34" charset="0"/>
                        </a:rPr>
                        <a:t>Sex; number of males (%)</a:t>
                      </a:r>
                      <a:endParaRPr kumimoji="0" lang="en-GB" sz="14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cap="none" normalizeH="0" baseline="0">
                          <a:ln>
                            <a:noFill/>
                          </a:ln>
                          <a:solidFill>
                            <a:schemeClr val="accent2">
                              <a:lumMod val="50000"/>
                            </a:schemeClr>
                          </a:solidFill>
                          <a:effectLst/>
                          <a:latin typeface="+mj-lt"/>
                          <a:cs typeface="Arial" pitchFamily="34" charset="0"/>
                        </a:rPr>
                        <a:t>106 (58.9)</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cap="none" normalizeH="0" baseline="0">
                          <a:ln>
                            <a:noFill/>
                          </a:ln>
                          <a:solidFill>
                            <a:schemeClr val="accent2">
                              <a:lumMod val="50000"/>
                            </a:schemeClr>
                          </a:solidFill>
                          <a:effectLst/>
                          <a:latin typeface="+mj-lt"/>
                          <a:cs typeface="Arial" pitchFamily="34" charset="0"/>
                        </a:rPr>
                        <a:t>111 (61.7)</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2"/>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cap="none" normalizeH="0" baseline="0">
                          <a:ln>
                            <a:noFill/>
                          </a:ln>
                          <a:solidFill>
                            <a:schemeClr val="accent2">
                              <a:lumMod val="50000"/>
                            </a:schemeClr>
                          </a:solidFill>
                          <a:effectLst/>
                          <a:latin typeface="+mj-lt"/>
                          <a:cs typeface="Arial" pitchFamily="34" charset="0"/>
                        </a:rPr>
                        <a:t>Race; number of individuals (%)</a:t>
                      </a:r>
                      <a:endParaRPr kumimoji="0" lang="en-GB" sz="1400" b="0" i="0" u="none" strike="noStrike" cap="none" normalizeH="0" baseline="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3"/>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cap="none" normalizeH="0" baseline="0">
                          <a:ln>
                            <a:noFill/>
                          </a:ln>
                          <a:solidFill>
                            <a:schemeClr val="accent2">
                              <a:lumMod val="50000"/>
                            </a:schemeClr>
                          </a:solidFill>
                          <a:effectLst/>
                          <a:latin typeface="+mj-lt"/>
                          <a:cs typeface="Arial" pitchFamily="34" charset="0"/>
                        </a:rPr>
                        <a:t>   Asian</a:t>
                      </a:r>
                      <a:endParaRPr kumimoji="0" lang="en-GB" sz="1400" b="0" i="0" u="none" strike="noStrike" cap="none" normalizeH="0" baseline="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defRPr/>
                      </a:pPr>
                      <a:r>
                        <a:rPr kumimoji="0" lang="en-GB" sz="1200" u="none" strike="noStrike" kern="1200" cap="none" normalizeH="0" baseline="0">
                          <a:ln>
                            <a:noFill/>
                          </a:ln>
                          <a:solidFill>
                            <a:schemeClr val="accent2">
                              <a:lumMod val="50000"/>
                            </a:schemeClr>
                          </a:solidFill>
                          <a:effectLst/>
                          <a:latin typeface="+mj-lt"/>
                          <a:cs typeface="Arial" pitchFamily="34" charset="0"/>
                        </a:rPr>
                        <a:t>20 (11.1)</a:t>
                      </a:r>
                      <a:endParaRPr kumimoji="0" lang="en-GB" sz="1200" b="0" i="0" u="none" strike="noStrike" kern="1200" cap="none" normalizeH="0" baseline="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defRPr/>
                      </a:pPr>
                      <a:r>
                        <a:rPr kumimoji="0" lang="en-GB" sz="1200" u="none" strike="noStrike" kern="1200" cap="none" normalizeH="0" baseline="0">
                          <a:ln>
                            <a:noFill/>
                          </a:ln>
                          <a:solidFill>
                            <a:schemeClr val="accent2">
                              <a:lumMod val="50000"/>
                            </a:schemeClr>
                          </a:solidFill>
                          <a:effectLst/>
                          <a:latin typeface="+mj-lt"/>
                          <a:cs typeface="Arial" pitchFamily="34" charset="0"/>
                        </a:rPr>
                        <a:t>19 (10.6)</a:t>
                      </a:r>
                      <a:endParaRPr kumimoji="0" lang="en-GB" sz="1200" b="0" i="0" u="none" strike="noStrike" kern="1200" cap="none" normalizeH="0" baseline="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4"/>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cap="none" normalizeH="0" baseline="0">
                          <a:ln>
                            <a:noFill/>
                          </a:ln>
                          <a:solidFill>
                            <a:schemeClr val="accent2">
                              <a:lumMod val="50000"/>
                            </a:schemeClr>
                          </a:solidFill>
                          <a:effectLst/>
                          <a:latin typeface="+mj-lt"/>
                          <a:cs typeface="Arial" pitchFamily="34" charset="0"/>
                        </a:rPr>
                        <a:t>   Black</a:t>
                      </a:r>
                      <a:endParaRPr kumimoji="0" lang="en-GB" sz="1400" b="0" i="0" u="none" strike="noStrike" cap="none" normalizeH="0" baseline="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dirty="0">
                          <a:ln>
                            <a:noFill/>
                          </a:ln>
                          <a:solidFill>
                            <a:schemeClr val="accent2">
                              <a:lumMod val="50000"/>
                            </a:schemeClr>
                          </a:solidFill>
                          <a:effectLst/>
                          <a:latin typeface="+mj-lt"/>
                          <a:cs typeface="Arial" pitchFamily="34" charset="0"/>
                        </a:rPr>
                        <a:t>31 (17.2)</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a:ln>
                            <a:noFill/>
                          </a:ln>
                          <a:solidFill>
                            <a:schemeClr val="accent2">
                              <a:lumMod val="50000"/>
                            </a:schemeClr>
                          </a:solidFill>
                          <a:effectLst/>
                          <a:latin typeface="+mj-lt"/>
                          <a:cs typeface="Arial" pitchFamily="34" charset="0"/>
                        </a:rPr>
                        <a:t>32 (17.8)</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5"/>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cap="none" normalizeH="0" baseline="0">
                          <a:ln>
                            <a:noFill/>
                          </a:ln>
                          <a:solidFill>
                            <a:schemeClr val="accent2">
                              <a:lumMod val="50000"/>
                            </a:schemeClr>
                          </a:solidFill>
                          <a:effectLst/>
                          <a:latin typeface="+mj-lt"/>
                          <a:cs typeface="Arial" pitchFamily="34" charset="0"/>
                        </a:rPr>
                        <a:t>   Caucasian</a:t>
                      </a:r>
                      <a:endParaRPr kumimoji="0" lang="en-GB" sz="1400" b="0" i="0" u="none" strike="noStrike" cap="none" normalizeH="0" baseline="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a:ln>
                            <a:noFill/>
                          </a:ln>
                          <a:solidFill>
                            <a:schemeClr val="accent2">
                              <a:lumMod val="50000"/>
                            </a:schemeClr>
                          </a:solidFill>
                          <a:effectLst/>
                          <a:latin typeface="+mj-lt"/>
                          <a:cs typeface="Arial" pitchFamily="34" charset="0"/>
                        </a:rPr>
                        <a:t>84 (46.7)</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a:ln>
                            <a:noFill/>
                          </a:ln>
                          <a:solidFill>
                            <a:schemeClr val="accent2">
                              <a:lumMod val="50000"/>
                            </a:schemeClr>
                          </a:solidFill>
                          <a:effectLst/>
                          <a:latin typeface="+mj-lt"/>
                          <a:cs typeface="Arial" pitchFamily="34" charset="0"/>
                        </a:rPr>
                        <a:t>88 (48.9)</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6"/>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cap="none" normalizeH="0" baseline="0">
                          <a:ln>
                            <a:noFill/>
                          </a:ln>
                          <a:solidFill>
                            <a:schemeClr val="accent2">
                              <a:lumMod val="50000"/>
                            </a:schemeClr>
                          </a:solidFill>
                          <a:effectLst/>
                          <a:latin typeface="+mj-lt"/>
                          <a:cs typeface="Arial" pitchFamily="34" charset="0"/>
                        </a:rPr>
                        <a:t>   Other</a:t>
                      </a:r>
                      <a:endParaRPr kumimoji="0" lang="en-GB" sz="1400" b="0" i="0" u="none" strike="noStrike" cap="none" normalizeH="0" baseline="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dirty="0">
                          <a:ln>
                            <a:noFill/>
                          </a:ln>
                          <a:solidFill>
                            <a:schemeClr val="accent2">
                              <a:lumMod val="50000"/>
                            </a:schemeClr>
                          </a:solidFill>
                          <a:effectLst/>
                          <a:latin typeface="+mj-lt"/>
                          <a:cs typeface="Arial" pitchFamily="34" charset="0"/>
                        </a:rPr>
                        <a:t>45 (25.0)</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a:ln>
                            <a:noFill/>
                          </a:ln>
                          <a:solidFill>
                            <a:schemeClr val="accent2">
                              <a:lumMod val="50000"/>
                            </a:schemeClr>
                          </a:solidFill>
                          <a:effectLst/>
                          <a:latin typeface="+mj-lt"/>
                          <a:cs typeface="Arial" pitchFamily="34" charset="0"/>
                        </a:rPr>
                        <a:t>41 (22.8)</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7"/>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kern="1200" cap="none" normalizeH="0" baseline="0">
                          <a:ln>
                            <a:noFill/>
                          </a:ln>
                          <a:solidFill>
                            <a:schemeClr val="accent2">
                              <a:lumMod val="50000"/>
                            </a:schemeClr>
                          </a:solidFill>
                          <a:effectLst/>
                          <a:latin typeface="+mj-lt"/>
                          <a:cs typeface="Arial" pitchFamily="34" charset="0"/>
                        </a:rPr>
                        <a:t>Height in metres</a:t>
                      </a:r>
                      <a:r>
                        <a:rPr kumimoji="0" lang="en-GB" sz="1400" u="none" strike="noStrike" kern="1200" cap="none" normalizeH="0" baseline="30000">
                          <a:ln>
                            <a:noFill/>
                          </a:ln>
                          <a:solidFill>
                            <a:schemeClr val="accent2">
                              <a:lumMod val="50000"/>
                            </a:schemeClr>
                          </a:solidFill>
                          <a:effectLst/>
                          <a:latin typeface="+mj-lt"/>
                          <a:cs typeface="Arial" pitchFamily="34" charset="0"/>
                        </a:rPr>
                        <a:t>a</a:t>
                      </a:r>
                      <a:endParaRPr kumimoji="0" lang="en-GB" sz="1400" b="0" i="0" u="none" strike="noStrike" kern="1200" cap="none" normalizeH="0" baseline="3000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dirty="0">
                          <a:ln>
                            <a:noFill/>
                          </a:ln>
                          <a:solidFill>
                            <a:schemeClr val="accent2">
                              <a:lumMod val="50000"/>
                            </a:schemeClr>
                          </a:solidFill>
                          <a:effectLst/>
                          <a:latin typeface="+mj-lt"/>
                          <a:cs typeface="Arial" pitchFamily="34" charset="0"/>
                        </a:rPr>
                        <a:t>1.33 (0.1)</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dirty="0">
                          <a:ln>
                            <a:noFill/>
                          </a:ln>
                          <a:solidFill>
                            <a:schemeClr val="accent2">
                              <a:lumMod val="50000"/>
                            </a:schemeClr>
                          </a:solidFill>
                          <a:effectLst/>
                          <a:latin typeface="+mj-lt"/>
                          <a:cs typeface="Arial" pitchFamily="34" charset="0"/>
                        </a:rPr>
                        <a:t>1.34 (0.1)</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8"/>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kern="1200" cap="none" normalizeH="0" baseline="0">
                          <a:ln>
                            <a:noFill/>
                          </a:ln>
                          <a:solidFill>
                            <a:schemeClr val="accent2">
                              <a:lumMod val="50000"/>
                            </a:schemeClr>
                          </a:solidFill>
                          <a:effectLst/>
                          <a:latin typeface="+mj-lt"/>
                          <a:cs typeface="Arial" pitchFamily="34" charset="0"/>
                        </a:rPr>
                        <a:t>Bodyweight in kilograms</a:t>
                      </a:r>
                      <a:r>
                        <a:rPr kumimoji="0" lang="en-GB" sz="1400" u="none" strike="noStrike" kern="1200" cap="none" normalizeH="0" baseline="30000">
                          <a:ln>
                            <a:noFill/>
                          </a:ln>
                          <a:solidFill>
                            <a:schemeClr val="accent2">
                              <a:lumMod val="50000"/>
                            </a:schemeClr>
                          </a:solidFill>
                          <a:effectLst/>
                          <a:latin typeface="+mj-lt"/>
                          <a:cs typeface="Arial" pitchFamily="34" charset="0"/>
                        </a:rPr>
                        <a:t>a</a:t>
                      </a:r>
                      <a:endParaRPr kumimoji="0" lang="en-GB" sz="1400" b="0" i="0" u="none" strike="noStrike" kern="1200" cap="none" normalizeH="0" baseline="3000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a:ln>
                            <a:noFill/>
                          </a:ln>
                          <a:solidFill>
                            <a:schemeClr val="accent2">
                              <a:lumMod val="50000"/>
                            </a:schemeClr>
                          </a:solidFill>
                          <a:effectLst/>
                          <a:latin typeface="+mj-lt"/>
                          <a:cs typeface="Arial" pitchFamily="34" charset="0"/>
                        </a:rPr>
                        <a:t>31.0 (9.3)</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dirty="0">
                          <a:ln>
                            <a:noFill/>
                          </a:ln>
                          <a:solidFill>
                            <a:schemeClr val="accent2">
                              <a:lumMod val="50000"/>
                            </a:schemeClr>
                          </a:solidFill>
                          <a:effectLst/>
                          <a:latin typeface="+mj-lt"/>
                          <a:cs typeface="Arial" pitchFamily="34" charset="0"/>
                        </a:rPr>
                        <a:t>31.8 (9.8)</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09"/>
                  </a:ext>
                </a:extLst>
              </a:tr>
              <a:tr h="255204">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defRPr/>
                      </a:pPr>
                      <a:r>
                        <a:rPr kumimoji="0" lang="en-GB" sz="1400" u="none" strike="noStrike" kern="1200" cap="none" normalizeH="0" baseline="0">
                          <a:ln>
                            <a:noFill/>
                          </a:ln>
                          <a:solidFill>
                            <a:schemeClr val="accent2">
                              <a:lumMod val="50000"/>
                            </a:schemeClr>
                          </a:solidFill>
                          <a:effectLst/>
                          <a:latin typeface="+mj-lt"/>
                          <a:cs typeface="Arial" pitchFamily="34" charset="0"/>
                        </a:rPr>
                        <a:t>Body mass index (kg/m</a:t>
                      </a:r>
                      <a:r>
                        <a:rPr kumimoji="0" lang="en-GB" sz="1400" u="none" strike="noStrike" kern="1200" cap="none" normalizeH="0" baseline="30000">
                          <a:ln>
                            <a:noFill/>
                          </a:ln>
                          <a:solidFill>
                            <a:schemeClr val="accent2">
                              <a:lumMod val="50000"/>
                            </a:schemeClr>
                          </a:solidFill>
                          <a:effectLst/>
                          <a:latin typeface="+mj-lt"/>
                          <a:cs typeface="Arial" pitchFamily="34" charset="0"/>
                        </a:rPr>
                        <a:t>2</a:t>
                      </a:r>
                      <a:r>
                        <a:rPr kumimoji="0" lang="en-GB" sz="1400" u="none" strike="noStrike" kern="1200" cap="none" normalizeH="0" baseline="0">
                          <a:ln>
                            <a:noFill/>
                          </a:ln>
                          <a:solidFill>
                            <a:schemeClr val="accent2">
                              <a:lumMod val="50000"/>
                            </a:schemeClr>
                          </a:solidFill>
                          <a:effectLst/>
                          <a:latin typeface="+mj-lt"/>
                          <a:cs typeface="Arial" pitchFamily="34" charset="0"/>
                        </a:rPr>
                        <a:t>)</a:t>
                      </a:r>
                      <a:r>
                        <a:rPr kumimoji="0" lang="en-GB" sz="1400" u="none" strike="noStrike" kern="1200" cap="none" normalizeH="0" baseline="30000">
                          <a:ln>
                            <a:noFill/>
                          </a:ln>
                          <a:solidFill>
                            <a:schemeClr val="accent2">
                              <a:lumMod val="50000"/>
                            </a:schemeClr>
                          </a:solidFill>
                          <a:effectLst/>
                          <a:latin typeface="+mj-lt"/>
                          <a:cs typeface="Arial" pitchFamily="34" charset="0"/>
                        </a:rPr>
                        <a:t>a</a:t>
                      </a:r>
                      <a:endParaRPr kumimoji="0" lang="en-GB" sz="1400" b="0" i="0" u="none" strike="noStrike" kern="1200" cap="none" normalizeH="0" baseline="3000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a:ln>
                            <a:noFill/>
                          </a:ln>
                          <a:solidFill>
                            <a:schemeClr val="accent2">
                              <a:lumMod val="50000"/>
                            </a:schemeClr>
                          </a:solidFill>
                          <a:effectLst/>
                          <a:latin typeface="+mj-lt"/>
                          <a:cs typeface="Arial" pitchFamily="34" charset="0"/>
                        </a:rPr>
                        <a:t>17.1 (2.8)</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200" u="none" strike="noStrike" kern="1200" cap="none" normalizeH="0" baseline="0" dirty="0">
                          <a:ln>
                            <a:noFill/>
                          </a:ln>
                          <a:solidFill>
                            <a:schemeClr val="accent2">
                              <a:lumMod val="50000"/>
                            </a:schemeClr>
                          </a:solidFill>
                          <a:effectLst/>
                          <a:latin typeface="+mj-lt"/>
                          <a:cs typeface="Arial" pitchFamily="34" charset="0"/>
                        </a:rPr>
                        <a:t>17.4 (3.0)</a:t>
                      </a:r>
                      <a:endParaRPr kumimoji="0" lang="en-GB" sz="1200" b="0"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anchor="ctr" horzOverflow="overflow"/>
                </a:tc>
                <a:extLst>
                  <a:ext uri="{0D108BD9-81ED-4DB2-BD59-A6C34878D82A}">
                    <a16:rowId xmlns:a16="http://schemas.microsoft.com/office/drawing/2014/main" val="10010"/>
                  </a:ext>
                </a:extLst>
              </a:tr>
              <a:tr h="323897">
                <a:tc gridSpan="3">
                  <a:txBody>
                    <a:bodyPr/>
                    <a:lstStyle/>
                    <a:p>
                      <a:pPr marL="342900" marR="0" lvl="0" indent="-342900" algn="l" defTabSz="457200" rtl="0" eaLnBrk="0" fontAlgn="base" latinLnBrk="0" hangingPunct="0">
                        <a:lnSpc>
                          <a:spcPct val="100000"/>
                        </a:lnSpc>
                        <a:spcBef>
                          <a:spcPct val="0"/>
                        </a:spcBef>
                        <a:spcAft>
                          <a:spcPct val="0"/>
                        </a:spcAft>
                        <a:buClrTx/>
                        <a:buSzTx/>
                        <a:buFontTx/>
                        <a:buNone/>
                        <a:tabLst>
                          <a:tab pos="11113" algn="r"/>
                          <a:tab pos="450850" algn="r"/>
                        </a:tabLst>
                      </a:pPr>
                      <a:r>
                        <a:rPr kumimoji="0" lang="en-US" sz="1100" b="1" u="none" strike="noStrike" cap="none" normalizeH="0" baseline="30000" dirty="0" err="1">
                          <a:ln>
                            <a:noFill/>
                          </a:ln>
                          <a:solidFill>
                            <a:schemeClr val="accent2">
                              <a:lumMod val="50000"/>
                            </a:schemeClr>
                          </a:solidFill>
                          <a:effectLst/>
                          <a:latin typeface="+mj-lt"/>
                          <a:cs typeface="Arial" pitchFamily="34" charset="0"/>
                        </a:rPr>
                        <a:t>a</a:t>
                      </a:r>
                      <a:r>
                        <a:rPr kumimoji="0" lang="en-US" sz="1100" b="1" u="none" strike="noStrike" cap="none" normalizeH="0" baseline="0" dirty="0" err="1">
                          <a:ln>
                            <a:noFill/>
                          </a:ln>
                          <a:solidFill>
                            <a:schemeClr val="accent2">
                              <a:lumMod val="50000"/>
                            </a:schemeClr>
                          </a:solidFill>
                          <a:effectLst/>
                          <a:latin typeface="+mj-lt"/>
                          <a:cs typeface="Arial" pitchFamily="34" charset="0"/>
                        </a:rPr>
                        <a:t>Mean</a:t>
                      </a:r>
                      <a:r>
                        <a:rPr kumimoji="0" lang="en-US" sz="1100" b="1" u="none" strike="noStrike" cap="none" normalizeH="0" baseline="0" dirty="0">
                          <a:ln>
                            <a:noFill/>
                          </a:ln>
                          <a:solidFill>
                            <a:schemeClr val="accent2">
                              <a:lumMod val="50000"/>
                            </a:schemeClr>
                          </a:solidFill>
                          <a:effectLst/>
                          <a:latin typeface="+mj-lt"/>
                          <a:cs typeface="Arial" pitchFamily="34" charset="0"/>
                        </a:rPr>
                        <a:t> (±SD)</a:t>
                      </a:r>
                      <a:endParaRPr kumimoji="0" lang="es-ES" sz="1400" b="1" i="0" u="none" strike="noStrike" cap="none" normalizeH="0" baseline="0" dirty="0">
                        <a:ln>
                          <a:noFill/>
                        </a:ln>
                        <a:solidFill>
                          <a:schemeClr val="accent2">
                            <a:lumMod val="50000"/>
                          </a:schemeClr>
                        </a:solidFill>
                        <a:effectLst/>
                        <a:latin typeface="+mj-lt"/>
                        <a:ea typeface="ＭＳ Ｐゴシック" pitchFamily="34" charset="-128"/>
                        <a:cs typeface="Arial" pitchFamily="34" charset="0"/>
                      </a:endParaRPr>
                    </a:p>
                  </a:txBody>
                  <a:tcPr marL="91445" marR="91445" horzOverflow="overflow">
                    <a:solidFill>
                      <a:schemeClr val="bg1"/>
                    </a:solidFill>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11"/>
                  </a:ext>
                </a:extLst>
              </a:tr>
            </a:tbl>
          </a:graphicData>
        </a:graphic>
      </p:graphicFrame>
      <p:sp>
        <p:nvSpPr>
          <p:cNvPr id="6" name="Rectangle 7"/>
          <p:cNvSpPr>
            <a:spLocks noChangeArrowheads="1"/>
          </p:cNvSpPr>
          <p:nvPr/>
        </p:nvSpPr>
        <p:spPr bwMode="auto">
          <a:xfrm>
            <a:off x="1292225" y="6456590"/>
            <a:ext cx="3279775" cy="246063"/>
          </a:xfrm>
          <a:prstGeom prst="rect">
            <a:avLst/>
          </a:prstGeom>
          <a:noFill/>
          <a:ln>
            <a:noFill/>
          </a:ln>
          <a:effectLst>
            <a:prstShdw prst="shdw17" dist="17961" dir="2700000">
              <a:schemeClr val="accent1">
                <a:gamma/>
                <a:shade val="60000"/>
                <a:invGamma/>
              </a:schemeClr>
            </a:prstShdw>
          </a:effectLst>
        </p:spPr>
        <p:txBody>
          <a:bodyPr wrap="none">
            <a:spAutoFit/>
          </a:bodyPr>
          <a:lstStyle/>
          <a:p>
            <a:pPr eaLnBrk="1" hangingPunct="1">
              <a:buClr>
                <a:srgbClr val="000000"/>
              </a:buClr>
              <a:buSzPct val="100000"/>
              <a:buFont typeface="Calibri" panose="020F0502020204030204" pitchFamily="34" charset="0"/>
              <a:buNone/>
              <a:defRPr/>
            </a:pPr>
            <a:r>
              <a:rPr lang="en-GB" sz="1000" b="0" dirty="0">
                <a:solidFill>
                  <a:schemeClr val="accent2">
                    <a:lumMod val="50000"/>
                  </a:schemeClr>
                </a:solidFill>
                <a:latin typeface="+mn-lt"/>
              </a:rPr>
              <a:t>Potter P, et al. </a:t>
            </a:r>
            <a:r>
              <a:rPr lang="en-GB" sz="1000" b="0" dirty="0" err="1">
                <a:solidFill>
                  <a:schemeClr val="accent2">
                    <a:lumMod val="50000"/>
                  </a:schemeClr>
                </a:solidFill>
                <a:latin typeface="+mn-lt"/>
              </a:rPr>
              <a:t>Pediatr</a:t>
            </a:r>
            <a:r>
              <a:rPr lang="en-GB" sz="1000" b="0" dirty="0">
                <a:solidFill>
                  <a:schemeClr val="accent2">
                    <a:lumMod val="50000"/>
                  </a:schemeClr>
                </a:solidFill>
                <a:latin typeface="+mn-lt"/>
              </a:rPr>
              <a:t> Allergy </a:t>
            </a:r>
            <a:r>
              <a:rPr lang="en-GB" sz="1000" b="0" dirty="0" err="1">
                <a:solidFill>
                  <a:schemeClr val="accent2">
                    <a:lumMod val="50000"/>
                  </a:schemeClr>
                </a:solidFill>
                <a:latin typeface="+mn-lt"/>
              </a:rPr>
              <a:t>Immunol</a:t>
            </a:r>
            <a:r>
              <a:rPr lang="en-GB" sz="1000" b="0" dirty="0">
                <a:solidFill>
                  <a:schemeClr val="accent2">
                    <a:lumMod val="50000"/>
                  </a:schemeClr>
                </a:solidFill>
                <a:latin typeface="+mn-lt"/>
              </a:rPr>
              <a:t>. 2013;24(2):144-50.</a:t>
            </a:r>
          </a:p>
        </p:txBody>
      </p:sp>
      <p:sp>
        <p:nvSpPr>
          <p:cNvPr id="7" name="6 Rectángulo redondeado"/>
          <p:cNvSpPr/>
          <p:nvPr/>
        </p:nvSpPr>
        <p:spPr bwMode="auto">
          <a:xfrm>
            <a:off x="2430962" y="1547442"/>
            <a:ext cx="452120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NZ" altLang="es-ES" sz="2400">
                <a:solidFill>
                  <a:schemeClr val="accent2">
                    <a:lumMod val="50000"/>
                  </a:schemeClr>
                </a:solidFill>
              </a:rPr>
              <a:t>Patient characteristics</a:t>
            </a:r>
            <a:endParaRPr lang="en-US" sz="2400">
              <a:solidFill>
                <a:schemeClr val="accent2">
                  <a:lumMod val="50000"/>
                </a:schemeClr>
              </a:solidFill>
              <a:cs typeface="ＭＳ Ｐゴシック" pitchFamily="34" charset="-128"/>
            </a:endParaRPr>
          </a:p>
        </p:txBody>
      </p:sp>
      <p:sp>
        <p:nvSpPr>
          <p:cNvPr id="8" name="Text Box 48">
            <a:extLst>
              <a:ext uri="{FF2B5EF4-FFF2-40B4-BE49-F238E27FC236}">
                <a16:creationId xmlns:a16="http://schemas.microsoft.com/office/drawing/2014/main" id="{43BC7DCA-F06D-429F-B5AA-316422189C75}"/>
              </a:ext>
            </a:extLst>
          </p:cNvPr>
          <p:cNvSpPr txBox="1">
            <a:spLocks noChangeArrowheads="1"/>
          </p:cNvSpPr>
          <p:nvPr/>
        </p:nvSpPr>
        <p:spPr bwMode="auto">
          <a:xfrm>
            <a:off x="1269550" y="512762"/>
            <a:ext cx="8028454"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(IV)</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7 Rectángulo redondeado"/>
          <p:cNvSpPr/>
          <p:nvPr/>
        </p:nvSpPr>
        <p:spPr bwMode="auto">
          <a:xfrm>
            <a:off x="311150" y="1520825"/>
            <a:ext cx="8421369"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pt-PT" altLang="es-ES" sz="1700" dirty="0">
                <a:solidFill>
                  <a:schemeClr val="accent2">
                    <a:lumMod val="50000"/>
                  </a:schemeClr>
                </a:solidFill>
              </a:rPr>
              <a:t>Resultados: </a:t>
            </a:r>
            <a:r>
              <a:rPr lang="pt-PT" altLang="es-ES" sz="1700" dirty="0" err="1">
                <a:solidFill>
                  <a:schemeClr val="accent2">
                    <a:lumMod val="50000"/>
                  </a:schemeClr>
                </a:solidFill>
              </a:rPr>
              <a:t>Rinialer</a:t>
            </a:r>
            <a:r>
              <a:rPr lang="pt-PT" altLang="es-ES" sz="1700" dirty="0">
                <a:solidFill>
                  <a:schemeClr val="accent2">
                    <a:lumMod val="50000"/>
                  </a:schemeClr>
                </a:solidFill>
              </a:rPr>
              <a:t> melhora significativamente os sintomas nasais (T4SS) em crianças</a:t>
            </a:r>
            <a:endParaRPr lang="pt-PT" sz="1700" dirty="0">
              <a:solidFill>
                <a:schemeClr val="accent2">
                  <a:lumMod val="50000"/>
                </a:schemeClr>
              </a:solidFill>
              <a:cs typeface="ＭＳ Ｐゴシック" pitchFamily="34" charset="-128"/>
            </a:endParaRPr>
          </a:p>
        </p:txBody>
      </p:sp>
      <p:grpSp>
        <p:nvGrpSpPr>
          <p:cNvPr id="2" name="Group 9"/>
          <p:cNvGrpSpPr>
            <a:grpSpLocks/>
          </p:cNvGrpSpPr>
          <p:nvPr/>
        </p:nvGrpSpPr>
        <p:grpSpPr bwMode="auto">
          <a:xfrm>
            <a:off x="989013" y="2501900"/>
            <a:ext cx="412750" cy="2592388"/>
            <a:chOff x="578" y="1570"/>
            <a:chExt cx="260" cy="1633"/>
          </a:xfrm>
        </p:grpSpPr>
        <p:sp>
          <p:nvSpPr>
            <p:cNvPr id="15382"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dirty="0">
                <a:solidFill>
                  <a:schemeClr val="accent2">
                    <a:lumMod val="50000"/>
                  </a:schemeClr>
                </a:solidFill>
                <a:ea typeface="ＭＳ Ｐゴシック" charset="-128"/>
              </a:endParaRPr>
            </a:p>
          </p:txBody>
        </p:sp>
        <p:sp>
          <p:nvSpPr>
            <p:cNvPr id="9"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grpSp>
      <p:sp>
        <p:nvSpPr>
          <p:cNvPr id="15367" name="TextBox 3"/>
          <p:cNvSpPr txBox="1">
            <a:spLocks noChangeArrowheads="1"/>
          </p:cNvSpPr>
          <p:nvPr/>
        </p:nvSpPr>
        <p:spPr bwMode="auto">
          <a:xfrm>
            <a:off x="822325" y="5603875"/>
            <a:ext cx="2934971"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 0,048; **</a:t>
            </a:r>
            <a:r>
              <a:rPr lang="pt-PT" altLang="es-ES" sz="1200" i="1" dirty="0">
                <a:solidFill>
                  <a:schemeClr val="accent2">
                    <a:lumMod val="50000"/>
                  </a:schemeClr>
                </a:solidFill>
              </a:rPr>
              <a:t>p </a:t>
            </a:r>
            <a:r>
              <a:rPr lang="pt-PT" altLang="es-ES" sz="1200" dirty="0">
                <a:solidFill>
                  <a:schemeClr val="accent2">
                    <a:lumMod val="50000"/>
                  </a:schemeClr>
                </a:solidFill>
              </a:rPr>
              <a:t>= 0,018, </a:t>
            </a:r>
            <a:r>
              <a:rPr lang="pt-PT" altLang="es-ES" sz="1200" dirty="0" err="1">
                <a:solidFill>
                  <a:schemeClr val="accent2">
                    <a:lumMod val="50000"/>
                  </a:schemeClr>
                </a:solidFill>
              </a:rPr>
              <a:t>Rinialer</a:t>
            </a:r>
            <a:r>
              <a:rPr lang="pt-PT" altLang="es-ES" sz="1200" dirty="0">
                <a:solidFill>
                  <a:schemeClr val="accent2">
                    <a:lumMod val="50000"/>
                  </a:schemeClr>
                </a:solidFill>
              </a:rPr>
              <a:t> vs placebo</a:t>
            </a:r>
          </a:p>
        </p:txBody>
      </p:sp>
      <p:sp>
        <p:nvSpPr>
          <p:cNvPr id="12" name="Rectangle 7"/>
          <p:cNvSpPr>
            <a:spLocks noChangeArrowheads="1"/>
          </p:cNvSpPr>
          <p:nvPr/>
        </p:nvSpPr>
        <p:spPr bwMode="auto">
          <a:xfrm>
            <a:off x="1158081" y="6410079"/>
            <a:ext cx="3279775" cy="246063"/>
          </a:xfrm>
          <a:prstGeom prst="rect">
            <a:avLst/>
          </a:prstGeom>
          <a:noFill/>
          <a:ln w="9525">
            <a:noFill/>
            <a:miter lim="800000"/>
            <a:headEnd/>
            <a:tailEnd/>
          </a:ln>
          <a:effectLst>
            <a:prstShdw prst="shdw17" dist="17961" dir="2700000">
              <a:srgbClr val="007A5C"/>
            </a:prstShdw>
          </a:effectLst>
        </p:spPr>
        <p:txBody>
          <a:bodyPr wrap="none">
            <a:spAutoFit/>
          </a:bodyPr>
          <a:lstStyle/>
          <a:p>
            <a:pPr eaLnBrk="1" hangingPunct="1">
              <a:buClr>
                <a:srgbClr val="000000"/>
              </a:buClr>
              <a:buSzPct val="100000"/>
              <a:buFont typeface="Calibri" panose="020F0502020204030204" pitchFamily="34" charset="0"/>
              <a:buNone/>
              <a:defRPr/>
            </a:pPr>
            <a:r>
              <a:rPr lang="pt-PT" sz="1000" b="0" dirty="0">
                <a:solidFill>
                  <a:schemeClr val="accent2">
                    <a:lumMod val="50000"/>
                  </a:schemeClr>
                </a:solidFill>
                <a:latin typeface="Calibri"/>
              </a:rPr>
              <a:t>Potter P, et al. Pediatr Allergy Immunol. 2013;24(2):144-50.</a:t>
            </a:r>
          </a:p>
        </p:txBody>
      </p:sp>
      <p:sp>
        <p:nvSpPr>
          <p:cNvPr id="14" name="Text Box 8"/>
          <p:cNvSpPr txBox="1">
            <a:spLocks noChangeArrowheads="1"/>
          </p:cNvSpPr>
          <p:nvPr/>
        </p:nvSpPr>
        <p:spPr bwMode="auto">
          <a:xfrm rot="-5400000">
            <a:off x="389731" y="3548857"/>
            <a:ext cx="2803525" cy="585788"/>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b="0" dirty="0">
                <a:solidFill>
                  <a:schemeClr val="accent2">
                    <a:lumMod val="50000"/>
                  </a:schemeClr>
                </a:solidFill>
              </a:rPr>
              <a:t>Variação média no valor de 4TSS em relação ao valor basal</a:t>
            </a:r>
          </a:p>
        </p:txBody>
      </p:sp>
      <p:sp>
        <p:nvSpPr>
          <p:cNvPr id="15371" name="Rectángulo 4"/>
          <p:cNvSpPr>
            <a:spLocks noChangeArrowheads="1"/>
          </p:cNvSpPr>
          <p:nvPr/>
        </p:nvSpPr>
        <p:spPr bwMode="auto">
          <a:xfrm>
            <a:off x="3388598" y="3967430"/>
            <a:ext cx="615950" cy="804863"/>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dirty="0">
              <a:solidFill>
                <a:schemeClr val="accent2">
                  <a:lumMod val="50000"/>
                </a:schemeClr>
              </a:solidFill>
              <a:ea typeface="ＭＳ Ｐゴシック" charset="-128"/>
            </a:endParaRPr>
          </a:p>
        </p:txBody>
      </p:sp>
      <p:sp>
        <p:nvSpPr>
          <p:cNvPr id="15372" name="Rectángulo 23"/>
          <p:cNvSpPr>
            <a:spLocks noChangeArrowheads="1"/>
          </p:cNvSpPr>
          <p:nvPr/>
        </p:nvSpPr>
        <p:spPr bwMode="auto">
          <a:xfrm>
            <a:off x="5472986" y="4047244"/>
            <a:ext cx="615950" cy="920750"/>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dirty="0">
              <a:solidFill>
                <a:schemeClr val="accent2">
                  <a:lumMod val="50000"/>
                </a:schemeClr>
              </a:solidFill>
              <a:ea typeface="ＭＳ Ｐゴシック" charset="-128"/>
            </a:endParaRPr>
          </a:p>
        </p:txBody>
      </p:sp>
      <p:sp>
        <p:nvSpPr>
          <p:cNvPr id="15380" name="TextBox 3"/>
          <p:cNvSpPr txBox="1">
            <a:spLocks noChangeArrowheads="1"/>
          </p:cNvSpPr>
          <p:nvPr/>
        </p:nvSpPr>
        <p:spPr bwMode="auto">
          <a:xfrm>
            <a:off x="3512423" y="4732605"/>
            <a:ext cx="363538"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dirty="0">
                <a:solidFill>
                  <a:schemeClr val="accent2">
                    <a:lumMod val="50000"/>
                  </a:schemeClr>
                </a:solidFill>
              </a:rPr>
              <a:t>**</a:t>
            </a:r>
          </a:p>
        </p:txBody>
      </p:sp>
      <p:sp>
        <p:nvSpPr>
          <p:cNvPr id="15381" name="TextBox 3"/>
          <p:cNvSpPr txBox="1">
            <a:spLocks noChangeArrowheads="1"/>
          </p:cNvSpPr>
          <p:nvPr/>
        </p:nvSpPr>
        <p:spPr bwMode="auto">
          <a:xfrm>
            <a:off x="5642156" y="4904933"/>
            <a:ext cx="274434"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dirty="0">
                <a:solidFill>
                  <a:schemeClr val="accent2">
                    <a:lumMod val="50000"/>
                  </a:schemeClr>
                </a:solidFill>
              </a:rPr>
              <a:t>*</a:t>
            </a:r>
          </a:p>
        </p:txBody>
      </p:sp>
      <p:graphicFrame>
        <p:nvGraphicFramePr>
          <p:cNvPr id="25" name="24 Gráfico"/>
          <p:cNvGraphicFramePr/>
          <p:nvPr>
            <p:extLst>
              <p:ext uri="{D42A27DB-BD31-4B8C-83A1-F6EECF244321}">
                <p14:modId xmlns:p14="http://schemas.microsoft.com/office/powerpoint/2010/main" val="1420293865"/>
              </p:ext>
            </p:extLst>
          </p:nvPr>
        </p:nvGraphicFramePr>
        <p:xfrm>
          <a:off x="2100775" y="2405576"/>
          <a:ext cx="6096000"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Box 3"/>
          <p:cNvSpPr txBox="1">
            <a:spLocks noChangeArrowheads="1"/>
          </p:cNvSpPr>
          <p:nvPr/>
        </p:nvSpPr>
        <p:spPr bwMode="auto">
          <a:xfrm>
            <a:off x="3145107" y="3649076"/>
            <a:ext cx="46679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dirty="0">
                <a:solidFill>
                  <a:schemeClr val="accent2">
                    <a:lumMod val="50000"/>
                  </a:schemeClr>
                </a:solidFill>
              </a:rPr>
              <a:t>-2,5</a:t>
            </a:r>
          </a:p>
        </p:txBody>
      </p:sp>
      <p:sp>
        <p:nvSpPr>
          <p:cNvPr id="27" name="TextBox 3"/>
          <p:cNvSpPr txBox="1">
            <a:spLocks noChangeArrowheads="1"/>
          </p:cNvSpPr>
          <p:nvPr/>
        </p:nvSpPr>
        <p:spPr bwMode="auto">
          <a:xfrm>
            <a:off x="5263726" y="3649076"/>
            <a:ext cx="466795"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dirty="0">
                <a:solidFill>
                  <a:schemeClr val="accent2">
                    <a:lumMod val="50000"/>
                  </a:schemeClr>
                </a:solidFill>
              </a:rPr>
              <a:t>-2,7</a:t>
            </a:r>
          </a:p>
        </p:txBody>
      </p:sp>
      <p:sp>
        <p:nvSpPr>
          <p:cNvPr id="28" name="TextBox 3"/>
          <p:cNvSpPr txBox="1">
            <a:spLocks noChangeArrowheads="1"/>
          </p:cNvSpPr>
          <p:nvPr/>
        </p:nvSpPr>
        <p:spPr bwMode="auto">
          <a:xfrm>
            <a:off x="3744743" y="3663144"/>
            <a:ext cx="466725"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dirty="0">
                <a:solidFill>
                  <a:schemeClr val="accent2">
                    <a:lumMod val="50000"/>
                  </a:schemeClr>
                </a:solidFill>
              </a:rPr>
              <a:t>-3,1</a:t>
            </a:r>
          </a:p>
        </p:txBody>
      </p:sp>
      <p:sp>
        <p:nvSpPr>
          <p:cNvPr id="29" name="TextBox 3"/>
          <p:cNvSpPr txBox="1">
            <a:spLocks noChangeArrowheads="1"/>
          </p:cNvSpPr>
          <p:nvPr/>
        </p:nvSpPr>
        <p:spPr bwMode="auto">
          <a:xfrm>
            <a:off x="5876281" y="3663144"/>
            <a:ext cx="466795"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dirty="0">
                <a:solidFill>
                  <a:schemeClr val="accent2">
                    <a:lumMod val="50000"/>
                  </a:schemeClr>
                </a:solidFill>
              </a:rPr>
              <a:t>-3,3</a:t>
            </a:r>
          </a:p>
        </p:txBody>
      </p:sp>
      <p:sp>
        <p:nvSpPr>
          <p:cNvPr id="20" name="Text Box 4">
            <a:extLst>
              <a:ext uri="{FF2B5EF4-FFF2-40B4-BE49-F238E27FC236}">
                <a16:creationId xmlns:a16="http://schemas.microsoft.com/office/drawing/2014/main" id="{A5BDDE9C-678D-44A3-945C-EFEFB5F40501}"/>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23" name="Text Box 48">
            <a:extLst>
              <a:ext uri="{FF2B5EF4-FFF2-40B4-BE49-F238E27FC236}">
                <a16:creationId xmlns:a16="http://schemas.microsoft.com/office/drawing/2014/main" id="{338E4726-E69D-4133-8C54-748D6757B7F6}"/>
              </a:ext>
            </a:extLst>
          </p:cNvPr>
          <p:cNvSpPr txBox="1">
            <a:spLocks noChangeArrowheads="1"/>
          </p:cNvSpPr>
          <p:nvPr/>
        </p:nvSpPr>
        <p:spPr bwMode="auto">
          <a:xfrm>
            <a:off x="1240674" y="512762"/>
            <a:ext cx="7980328"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(V)</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7 Rectángulo redondeado"/>
          <p:cNvSpPr/>
          <p:nvPr/>
        </p:nvSpPr>
        <p:spPr bwMode="auto">
          <a:xfrm>
            <a:off x="514785" y="1548840"/>
            <a:ext cx="8114429" cy="579754"/>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defRPr/>
            </a:pPr>
            <a:r>
              <a:rPr lang="pt-PT" altLang="es-ES" sz="1500" dirty="0">
                <a:solidFill>
                  <a:schemeClr val="accent2">
                    <a:lumMod val="50000"/>
                  </a:schemeClr>
                </a:solidFill>
              </a:rPr>
              <a:t>Resultados: </a:t>
            </a:r>
            <a:r>
              <a:rPr lang="pt-PT" altLang="es-ES" sz="1500" dirty="0" err="1">
                <a:solidFill>
                  <a:schemeClr val="accent2">
                    <a:lumMod val="50000"/>
                  </a:schemeClr>
                </a:solidFill>
              </a:rPr>
              <a:t>Rinialer</a:t>
            </a:r>
            <a:r>
              <a:rPr lang="pt-PT" altLang="es-ES" sz="1500" dirty="0">
                <a:solidFill>
                  <a:schemeClr val="accent2">
                    <a:lumMod val="50000"/>
                  </a:schemeClr>
                </a:solidFill>
              </a:rPr>
              <a:t> melhora significativamente os sintomas nasais e não nasais (T5SS) em crianças</a:t>
            </a:r>
            <a:endParaRPr lang="pt-PT" sz="1500" dirty="0">
              <a:solidFill>
                <a:schemeClr val="accent2">
                  <a:lumMod val="50000"/>
                </a:schemeClr>
              </a:solidFill>
              <a:cs typeface="ＭＳ Ｐゴシック" pitchFamily="34" charset="-128"/>
            </a:endParaRPr>
          </a:p>
        </p:txBody>
      </p:sp>
      <p:sp>
        <p:nvSpPr>
          <p:cNvPr id="12" name="Rectangle 7"/>
          <p:cNvSpPr>
            <a:spLocks noChangeArrowheads="1"/>
          </p:cNvSpPr>
          <p:nvPr/>
        </p:nvSpPr>
        <p:spPr bwMode="auto">
          <a:xfrm>
            <a:off x="1158081" y="6388099"/>
            <a:ext cx="3279775" cy="246063"/>
          </a:xfrm>
          <a:prstGeom prst="rect">
            <a:avLst/>
          </a:prstGeom>
          <a:noFill/>
          <a:ln w="9525">
            <a:noFill/>
            <a:miter lim="800000"/>
            <a:headEnd/>
            <a:tailEnd/>
          </a:ln>
          <a:effectLst>
            <a:prstShdw prst="shdw17" dist="17961" dir="2700000">
              <a:srgbClr val="007A5C"/>
            </a:prstShdw>
          </a:effectLst>
        </p:spPr>
        <p:txBody>
          <a:bodyPr wrap="none">
            <a:spAutoFit/>
          </a:bodyPr>
          <a:lstStyle/>
          <a:p>
            <a:pPr eaLnBrk="1" hangingPunct="1">
              <a:buClr>
                <a:srgbClr val="000000"/>
              </a:buClr>
              <a:buSzPct val="100000"/>
              <a:buFont typeface="Calibri" panose="020F0502020204030204" pitchFamily="34" charset="0"/>
              <a:buNone/>
              <a:defRPr/>
            </a:pPr>
            <a:r>
              <a:rPr lang="pt-PT" sz="1000" b="0" dirty="0">
                <a:solidFill>
                  <a:schemeClr val="accent2">
                    <a:lumMod val="50000"/>
                  </a:schemeClr>
                </a:solidFill>
                <a:latin typeface="Calibri"/>
              </a:rPr>
              <a:t>Potter P, et al. Pediatr Allergy Immunol. 2013;24(2):144-50.</a:t>
            </a:r>
          </a:p>
        </p:txBody>
      </p:sp>
      <p:sp>
        <p:nvSpPr>
          <p:cNvPr id="16391" name="TextBox 3"/>
          <p:cNvSpPr txBox="1">
            <a:spLocks noChangeArrowheads="1"/>
          </p:cNvSpPr>
          <p:nvPr/>
        </p:nvSpPr>
        <p:spPr bwMode="auto">
          <a:xfrm>
            <a:off x="822325" y="5603875"/>
            <a:ext cx="2042097"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 0,03, </a:t>
            </a:r>
            <a:r>
              <a:rPr lang="pt-PT" altLang="es-ES" sz="1200" dirty="0" err="1">
                <a:solidFill>
                  <a:schemeClr val="accent2">
                    <a:lumMod val="50000"/>
                  </a:schemeClr>
                </a:solidFill>
              </a:rPr>
              <a:t>Rinialer</a:t>
            </a:r>
            <a:r>
              <a:rPr lang="pt-PT" altLang="es-ES" sz="1200" dirty="0">
                <a:solidFill>
                  <a:schemeClr val="accent2">
                    <a:lumMod val="50000"/>
                  </a:schemeClr>
                </a:solidFill>
              </a:rPr>
              <a:t> vs placebo</a:t>
            </a:r>
          </a:p>
        </p:txBody>
      </p:sp>
      <p:grpSp>
        <p:nvGrpSpPr>
          <p:cNvPr id="2" name="Group 9"/>
          <p:cNvGrpSpPr>
            <a:grpSpLocks/>
          </p:cNvGrpSpPr>
          <p:nvPr/>
        </p:nvGrpSpPr>
        <p:grpSpPr bwMode="auto">
          <a:xfrm>
            <a:off x="989013" y="2501900"/>
            <a:ext cx="412750" cy="2592388"/>
            <a:chOff x="578" y="1570"/>
            <a:chExt cx="260" cy="1633"/>
          </a:xfrm>
        </p:grpSpPr>
        <p:sp>
          <p:nvSpPr>
            <p:cNvPr id="16404"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dirty="0">
                <a:solidFill>
                  <a:schemeClr val="accent2">
                    <a:lumMod val="50000"/>
                  </a:schemeClr>
                </a:solidFill>
                <a:ea typeface="ＭＳ Ｐゴシック" charset="-128"/>
              </a:endParaRPr>
            </a:p>
          </p:txBody>
        </p:sp>
        <p:sp>
          <p:nvSpPr>
            <p:cNvPr id="24"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grpSp>
      <p:sp>
        <p:nvSpPr>
          <p:cNvPr id="25" name="Text Box 8"/>
          <p:cNvSpPr txBox="1">
            <a:spLocks noChangeArrowheads="1"/>
          </p:cNvSpPr>
          <p:nvPr/>
        </p:nvSpPr>
        <p:spPr bwMode="auto">
          <a:xfrm rot="-5400000">
            <a:off x="389731" y="3548857"/>
            <a:ext cx="2803525" cy="585788"/>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b="0" dirty="0">
                <a:solidFill>
                  <a:schemeClr val="accent2">
                    <a:lumMod val="50000"/>
                  </a:schemeClr>
                </a:solidFill>
              </a:rPr>
              <a:t>Variação média no valor de T5SS em relação ao valor basal</a:t>
            </a:r>
          </a:p>
        </p:txBody>
      </p:sp>
      <p:sp>
        <p:nvSpPr>
          <p:cNvPr id="27" name="Rectángulo 4"/>
          <p:cNvSpPr>
            <a:spLocks noChangeArrowheads="1"/>
          </p:cNvSpPr>
          <p:nvPr/>
        </p:nvSpPr>
        <p:spPr bwMode="auto">
          <a:xfrm>
            <a:off x="3388598" y="3967430"/>
            <a:ext cx="615950" cy="804863"/>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dirty="0">
              <a:solidFill>
                <a:schemeClr val="accent2">
                  <a:lumMod val="50000"/>
                </a:schemeClr>
              </a:solidFill>
              <a:ea typeface="ＭＳ Ｐゴシック" charset="-128"/>
            </a:endParaRPr>
          </a:p>
        </p:txBody>
      </p:sp>
      <p:graphicFrame>
        <p:nvGraphicFramePr>
          <p:cNvPr id="31" name="30 Gráfico"/>
          <p:cNvGraphicFramePr/>
          <p:nvPr>
            <p:extLst>
              <p:ext uri="{D42A27DB-BD31-4B8C-83A1-F6EECF244321}">
                <p14:modId xmlns:p14="http://schemas.microsoft.com/office/powerpoint/2010/main" val="4179627654"/>
              </p:ext>
            </p:extLst>
          </p:nvPr>
        </p:nvGraphicFramePr>
        <p:xfrm>
          <a:off x="2100775" y="2405576"/>
          <a:ext cx="6096000"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32" name="TextBox 3"/>
          <p:cNvSpPr txBox="1">
            <a:spLocks noChangeArrowheads="1"/>
          </p:cNvSpPr>
          <p:nvPr/>
        </p:nvSpPr>
        <p:spPr bwMode="auto">
          <a:xfrm>
            <a:off x="3145107" y="3649076"/>
            <a:ext cx="46679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dirty="0">
                <a:solidFill>
                  <a:schemeClr val="accent2">
                    <a:lumMod val="50000"/>
                  </a:schemeClr>
                </a:solidFill>
              </a:rPr>
              <a:t>-2,8</a:t>
            </a:r>
          </a:p>
        </p:txBody>
      </p:sp>
      <p:sp>
        <p:nvSpPr>
          <p:cNvPr id="33" name="TextBox 3"/>
          <p:cNvSpPr txBox="1">
            <a:spLocks noChangeArrowheads="1"/>
          </p:cNvSpPr>
          <p:nvPr/>
        </p:nvSpPr>
        <p:spPr bwMode="auto">
          <a:xfrm>
            <a:off x="5263727" y="3649076"/>
            <a:ext cx="466795"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dirty="0">
                <a:solidFill>
                  <a:schemeClr val="accent2">
                    <a:lumMod val="50000"/>
                  </a:schemeClr>
                </a:solidFill>
              </a:rPr>
              <a:t>-3,1</a:t>
            </a:r>
          </a:p>
        </p:txBody>
      </p:sp>
      <p:sp>
        <p:nvSpPr>
          <p:cNvPr id="34" name="TextBox 3"/>
          <p:cNvSpPr txBox="1">
            <a:spLocks noChangeArrowheads="1"/>
          </p:cNvSpPr>
          <p:nvPr/>
        </p:nvSpPr>
        <p:spPr bwMode="auto">
          <a:xfrm>
            <a:off x="3744743" y="3663144"/>
            <a:ext cx="46679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dirty="0">
                <a:solidFill>
                  <a:schemeClr val="accent2">
                    <a:lumMod val="50000"/>
                  </a:schemeClr>
                </a:solidFill>
              </a:rPr>
              <a:t>-3,5</a:t>
            </a:r>
          </a:p>
        </p:txBody>
      </p:sp>
      <p:sp>
        <p:nvSpPr>
          <p:cNvPr id="35" name="TextBox 3"/>
          <p:cNvSpPr txBox="1">
            <a:spLocks noChangeArrowheads="1"/>
          </p:cNvSpPr>
          <p:nvPr/>
        </p:nvSpPr>
        <p:spPr bwMode="auto">
          <a:xfrm>
            <a:off x="5876281" y="3663144"/>
            <a:ext cx="466795"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dirty="0">
                <a:solidFill>
                  <a:schemeClr val="accent2">
                    <a:lumMod val="50000"/>
                  </a:schemeClr>
                </a:solidFill>
              </a:rPr>
              <a:t>-3,8</a:t>
            </a:r>
          </a:p>
        </p:txBody>
      </p:sp>
      <p:sp>
        <p:nvSpPr>
          <p:cNvPr id="29" name="TextBox 3"/>
          <p:cNvSpPr txBox="1">
            <a:spLocks noChangeArrowheads="1"/>
          </p:cNvSpPr>
          <p:nvPr/>
        </p:nvSpPr>
        <p:spPr bwMode="auto">
          <a:xfrm>
            <a:off x="3554627" y="4732605"/>
            <a:ext cx="274434" cy="307777"/>
          </a:xfrm>
          <a:prstGeom prst="rect">
            <a:avLst/>
          </a:prstGeom>
          <a:noFill/>
          <a:ln w="9525">
            <a:solidFill>
              <a:schemeClr val="accent1"/>
            </a:solid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dirty="0">
                <a:solidFill>
                  <a:schemeClr val="accent2">
                    <a:lumMod val="50000"/>
                  </a:schemeClr>
                </a:solidFill>
              </a:rPr>
              <a:t>*</a:t>
            </a:r>
          </a:p>
        </p:txBody>
      </p:sp>
      <p:sp>
        <p:nvSpPr>
          <p:cNvPr id="18" name="Text Box 4">
            <a:extLst>
              <a:ext uri="{FF2B5EF4-FFF2-40B4-BE49-F238E27FC236}">
                <a16:creationId xmlns:a16="http://schemas.microsoft.com/office/drawing/2014/main" id="{BC1C4CA0-7A92-4F1C-BACD-FD7FBA32DDE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19" name="Text Box 48">
            <a:extLst>
              <a:ext uri="{FF2B5EF4-FFF2-40B4-BE49-F238E27FC236}">
                <a16:creationId xmlns:a16="http://schemas.microsoft.com/office/drawing/2014/main" id="{BA4DBAA7-5A3E-4D53-87B3-FDD55B35A359}"/>
              </a:ext>
            </a:extLst>
          </p:cNvPr>
          <p:cNvSpPr txBox="1">
            <a:spLocks noChangeArrowheads="1"/>
          </p:cNvSpPr>
          <p:nvPr/>
        </p:nvSpPr>
        <p:spPr bwMode="auto">
          <a:xfrm>
            <a:off x="1269550" y="512762"/>
            <a:ext cx="7951452"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(VI)</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9"/>
          <p:cNvGrpSpPr>
            <a:grpSpLocks/>
          </p:cNvGrpSpPr>
          <p:nvPr/>
        </p:nvGrpSpPr>
        <p:grpSpPr bwMode="auto">
          <a:xfrm>
            <a:off x="678619" y="2679344"/>
            <a:ext cx="442913" cy="2592387"/>
            <a:chOff x="559" y="1570"/>
            <a:chExt cx="279" cy="1633"/>
          </a:xfrm>
        </p:grpSpPr>
        <p:sp>
          <p:nvSpPr>
            <p:cNvPr id="7"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endParaRPr lang="es-ES">
                <a:solidFill>
                  <a:schemeClr val="accent2">
                    <a:lumMod val="50000"/>
                  </a:schemeClr>
                </a:solidFill>
              </a:endParaRPr>
            </a:p>
          </p:txBody>
        </p:sp>
        <p:sp>
          <p:nvSpPr>
            <p:cNvPr id="8" name="Text Box 8"/>
            <p:cNvSpPr txBox="1">
              <a:spLocks noChangeArrowheads="1"/>
            </p:cNvSpPr>
            <p:nvPr/>
          </p:nvSpPr>
          <p:spPr bwMode="auto">
            <a:xfrm rot="16200000">
              <a:off x="128" y="2227"/>
              <a:ext cx="1113" cy="252"/>
            </a:xfrm>
            <a:prstGeom prst="rect">
              <a:avLst/>
            </a:prstGeom>
            <a:noFill/>
            <a:ln>
              <a:noFill/>
            </a:ln>
            <a:effectLst>
              <a:prstShdw prst="shdw17" dist="17961" dir="2700000">
                <a:srgbClr val="2F4D71"/>
              </a:prstShdw>
            </a:effectLst>
          </p:spPr>
          <p:txBody>
            <a:bodyPr>
              <a:spAutoFit/>
            </a:bodyPr>
            <a:lstStyle/>
            <a:p>
              <a:pPr eaLnBrk="1" hangingPunct="1">
                <a:spcBef>
                  <a:spcPct val="50000"/>
                </a:spcBef>
                <a:buClr>
                  <a:srgbClr val="000000"/>
                </a:buClr>
                <a:buSzPct val="100000"/>
                <a:buFont typeface="Calibri" panose="020F0502020204030204" pitchFamily="34" charset="0"/>
                <a:buNone/>
                <a:defRPr/>
              </a:pPr>
              <a:r>
                <a:rPr lang="pt-PT" sz="2000" dirty="0">
                  <a:solidFill>
                    <a:schemeClr val="accent2">
                      <a:lumMod val="50000"/>
                    </a:schemeClr>
                  </a:solidFill>
                </a:rPr>
                <a:t>Melhoria</a:t>
              </a:r>
            </a:p>
          </p:txBody>
        </p:sp>
      </p:grpSp>
      <p:sp>
        <p:nvSpPr>
          <p:cNvPr id="9" name="Rectangle 7"/>
          <p:cNvSpPr>
            <a:spLocks noChangeArrowheads="1"/>
          </p:cNvSpPr>
          <p:nvPr/>
        </p:nvSpPr>
        <p:spPr bwMode="auto">
          <a:xfrm>
            <a:off x="1077876" y="6396414"/>
            <a:ext cx="3279775" cy="246063"/>
          </a:xfrm>
          <a:prstGeom prst="rect">
            <a:avLst/>
          </a:prstGeom>
          <a:noFill/>
          <a:ln>
            <a:noFill/>
          </a:ln>
          <a:effectLst>
            <a:prstShdw prst="shdw17" dist="17961" dir="2700000">
              <a:schemeClr val="accent1">
                <a:gamma/>
                <a:shade val="60000"/>
                <a:invGamma/>
              </a:schemeClr>
            </a:prstShdw>
          </a:effectLst>
        </p:spPr>
        <p:txBody>
          <a:bodyPr wrap="none">
            <a:spAutoFit/>
          </a:bodyPr>
          <a:lstStyle/>
          <a:p>
            <a:pPr eaLnBrk="1" hangingPunct="1">
              <a:buClr>
                <a:srgbClr val="000000"/>
              </a:buClr>
              <a:buSzPct val="100000"/>
              <a:buFont typeface="Calibri" panose="020F0502020204030204" pitchFamily="34" charset="0"/>
              <a:buNone/>
              <a:defRPr/>
            </a:pPr>
            <a:r>
              <a:rPr lang="pt-PT" sz="1000" b="0" dirty="0">
                <a:solidFill>
                  <a:schemeClr val="accent2">
                    <a:lumMod val="50000"/>
                  </a:schemeClr>
                </a:solidFill>
                <a:latin typeface="+mn-lt"/>
              </a:rPr>
              <a:t>Potter P, et al. Pediatr Allergy Immunol. 2013;24(2):144-50.</a:t>
            </a:r>
          </a:p>
        </p:txBody>
      </p:sp>
      <p:sp>
        <p:nvSpPr>
          <p:cNvPr id="12" name="7 Rectángulo redondeado"/>
          <p:cNvSpPr/>
          <p:nvPr/>
        </p:nvSpPr>
        <p:spPr bwMode="auto">
          <a:xfrm>
            <a:off x="455801" y="1519735"/>
            <a:ext cx="8232398"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r>
              <a:rPr lang="pt-PT" altLang="es-ES" sz="1600" dirty="0" err="1">
                <a:solidFill>
                  <a:schemeClr val="accent2">
                    <a:lumMod val="50000"/>
                  </a:schemeClr>
                </a:solidFill>
              </a:rPr>
              <a:t>Rinialer</a:t>
            </a:r>
            <a:r>
              <a:rPr lang="pt-PT" altLang="es-ES" sz="1600" dirty="0">
                <a:solidFill>
                  <a:schemeClr val="accent2">
                    <a:lumMod val="50000"/>
                  </a:schemeClr>
                </a:solidFill>
              </a:rPr>
              <a:t> apresenta um rápido</a:t>
            </a:r>
            <a:r>
              <a:rPr lang="pt-PT" sz="2800" dirty="0">
                <a:solidFill>
                  <a:schemeClr val="accent2">
                    <a:lumMod val="50000"/>
                  </a:schemeClr>
                </a:solidFill>
              </a:rPr>
              <a:t> </a:t>
            </a:r>
            <a:r>
              <a:rPr lang="pt-PT" altLang="es-ES" sz="1600" dirty="0">
                <a:solidFill>
                  <a:schemeClr val="accent2">
                    <a:lumMod val="50000"/>
                  </a:schemeClr>
                </a:solidFill>
              </a:rPr>
              <a:t>início de ação e</a:t>
            </a:r>
            <a:r>
              <a:rPr lang="pt-PT" sz="2800" dirty="0">
                <a:solidFill>
                  <a:schemeClr val="accent2">
                    <a:lumMod val="50000"/>
                  </a:schemeClr>
                </a:solidFill>
              </a:rPr>
              <a:t> </a:t>
            </a:r>
            <a:r>
              <a:rPr lang="pt-PT" altLang="es-ES" sz="1600" dirty="0">
                <a:solidFill>
                  <a:schemeClr val="accent2">
                    <a:lumMod val="50000"/>
                  </a:schemeClr>
                </a:solidFill>
              </a:rPr>
              <a:t>efeito sustentado de redução dos sintomas</a:t>
            </a:r>
            <a:r>
              <a:rPr lang="pt-PT" sz="2800" dirty="0">
                <a:solidFill>
                  <a:schemeClr val="accent2">
                    <a:lumMod val="50000"/>
                  </a:schemeClr>
                </a:solidFill>
              </a:rPr>
              <a:t> </a:t>
            </a:r>
          </a:p>
        </p:txBody>
      </p:sp>
      <p:pic>
        <p:nvPicPr>
          <p:cNvPr id="5" name="Imagen 4"/>
          <p:cNvPicPr>
            <a:picLocks noChangeAspect="1"/>
          </p:cNvPicPr>
          <p:nvPr/>
        </p:nvPicPr>
        <p:blipFill>
          <a:blip r:embed="rId3"/>
          <a:stretch>
            <a:fillRect/>
          </a:stretch>
        </p:blipFill>
        <p:spPr>
          <a:xfrm>
            <a:off x="1495168" y="2309265"/>
            <a:ext cx="7002720" cy="3631725"/>
          </a:xfrm>
          <a:prstGeom prst="rect">
            <a:avLst/>
          </a:prstGeom>
        </p:spPr>
      </p:pic>
      <p:sp>
        <p:nvSpPr>
          <p:cNvPr id="2" name="TextBox 1">
            <a:extLst>
              <a:ext uri="{FF2B5EF4-FFF2-40B4-BE49-F238E27FC236}">
                <a16:creationId xmlns:a16="http://schemas.microsoft.com/office/drawing/2014/main" id="{BC71A7DC-2EC8-CF62-65AD-E4D393F839A8}"/>
              </a:ext>
            </a:extLst>
          </p:cNvPr>
          <p:cNvSpPr txBox="1"/>
          <p:nvPr/>
        </p:nvSpPr>
        <p:spPr>
          <a:xfrm rot="16200000">
            <a:off x="464662" y="3605185"/>
            <a:ext cx="2573653" cy="307777"/>
          </a:xfrm>
          <a:prstGeom prst="rect">
            <a:avLst/>
          </a:prstGeom>
          <a:solidFill>
            <a:schemeClr val="bg1"/>
          </a:solidFill>
          <a:ln>
            <a:noFill/>
          </a:ln>
        </p:spPr>
        <p:txBody>
          <a:bodyPr wrap="none" rtlCol="0">
            <a:spAutoFit/>
          </a:bodyPr>
          <a:lstStyle/>
          <a:p>
            <a:r>
              <a:rPr lang="en-GB" sz="1400" dirty="0" err="1">
                <a:solidFill>
                  <a:schemeClr val="accent2">
                    <a:lumMod val="50000"/>
                  </a:schemeClr>
                </a:solidFill>
              </a:rPr>
              <a:t>Média</a:t>
            </a:r>
            <a:r>
              <a:rPr lang="en-GB" sz="1400" dirty="0">
                <a:solidFill>
                  <a:schemeClr val="accent2">
                    <a:lumMod val="50000"/>
                  </a:schemeClr>
                </a:solidFill>
              </a:rPr>
              <a:t> da </a:t>
            </a:r>
            <a:r>
              <a:rPr lang="en-GB" sz="1400" dirty="0" err="1">
                <a:solidFill>
                  <a:schemeClr val="accent2">
                    <a:lumMod val="50000"/>
                  </a:schemeClr>
                </a:solidFill>
              </a:rPr>
              <a:t>pontuação</a:t>
            </a:r>
            <a:r>
              <a:rPr lang="en-GB" sz="1400" dirty="0">
                <a:solidFill>
                  <a:schemeClr val="accent2">
                    <a:lumMod val="50000"/>
                  </a:schemeClr>
                </a:solidFill>
              </a:rPr>
              <a:t> </a:t>
            </a:r>
            <a:r>
              <a:rPr lang="en-GB" sz="1400" dirty="0" err="1">
                <a:solidFill>
                  <a:schemeClr val="accent2">
                    <a:lumMod val="50000"/>
                  </a:schemeClr>
                </a:solidFill>
              </a:rPr>
              <a:t>T5SS</a:t>
            </a:r>
            <a:r>
              <a:rPr lang="en-GB" sz="1400" dirty="0">
                <a:solidFill>
                  <a:schemeClr val="accent2">
                    <a:lumMod val="50000"/>
                  </a:schemeClr>
                </a:solidFill>
              </a:rPr>
              <a:t> </a:t>
            </a:r>
            <a:r>
              <a:rPr lang="en-GB" sz="1400" dirty="0" err="1">
                <a:solidFill>
                  <a:schemeClr val="accent2">
                    <a:lumMod val="50000"/>
                  </a:schemeClr>
                </a:solidFill>
              </a:rPr>
              <a:t>diária</a:t>
            </a:r>
            <a:endParaRPr lang="en-GB" sz="1400" dirty="0">
              <a:solidFill>
                <a:schemeClr val="accent2">
                  <a:lumMod val="50000"/>
                </a:schemeClr>
              </a:solidFill>
            </a:endParaRPr>
          </a:p>
        </p:txBody>
      </p:sp>
      <p:sp>
        <p:nvSpPr>
          <p:cNvPr id="3" name="TextBox 2">
            <a:extLst>
              <a:ext uri="{FF2B5EF4-FFF2-40B4-BE49-F238E27FC236}">
                <a16:creationId xmlns:a16="http://schemas.microsoft.com/office/drawing/2014/main" id="{1AFD0771-E7A3-716B-FEF6-AFFE55A293BC}"/>
              </a:ext>
            </a:extLst>
          </p:cNvPr>
          <p:cNvSpPr txBox="1"/>
          <p:nvPr/>
        </p:nvSpPr>
        <p:spPr>
          <a:xfrm>
            <a:off x="4687471" y="5271731"/>
            <a:ext cx="1138966" cy="307777"/>
          </a:xfrm>
          <a:prstGeom prst="rect">
            <a:avLst/>
          </a:prstGeom>
          <a:solidFill>
            <a:schemeClr val="bg1"/>
          </a:solidFill>
          <a:ln>
            <a:noFill/>
          </a:ln>
        </p:spPr>
        <p:txBody>
          <a:bodyPr wrap="none" rtlCol="0">
            <a:spAutoFit/>
          </a:bodyPr>
          <a:lstStyle/>
          <a:p>
            <a:r>
              <a:rPr lang="en-GB" sz="1400" dirty="0">
                <a:solidFill>
                  <a:schemeClr val="accent2">
                    <a:lumMod val="50000"/>
                  </a:schemeClr>
                </a:solidFill>
              </a:rPr>
              <a:t>Tempo (</a:t>
            </a:r>
            <a:r>
              <a:rPr lang="en-GB" sz="1400" dirty="0" err="1">
                <a:solidFill>
                  <a:schemeClr val="accent2">
                    <a:lumMod val="50000"/>
                  </a:schemeClr>
                </a:solidFill>
              </a:rPr>
              <a:t>dias</a:t>
            </a:r>
            <a:r>
              <a:rPr lang="en-GB" sz="1400" dirty="0">
                <a:solidFill>
                  <a:schemeClr val="accent2">
                    <a:lumMod val="50000"/>
                  </a:schemeClr>
                </a:solidFill>
              </a:rPr>
              <a:t>)</a:t>
            </a:r>
          </a:p>
        </p:txBody>
      </p:sp>
      <p:sp>
        <p:nvSpPr>
          <p:cNvPr id="10" name="TextBox 9">
            <a:extLst>
              <a:ext uri="{FF2B5EF4-FFF2-40B4-BE49-F238E27FC236}">
                <a16:creationId xmlns:a16="http://schemas.microsoft.com/office/drawing/2014/main" id="{1B2D8330-11F2-DA39-741C-169305A86948}"/>
              </a:ext>
            </a:extLst>
          </p:cNvPr>
          <p:cNvSpPr txBox="1"/>
          <p:nvPr/>
        </p:nvSpPr>
        <p:spPr>
          <a:xfrm>
            <a:off x="5687067" y="5633213"/>
            <a:ext cx="771365" cy="307777"/>
          </a:xfrm>
          <a:prstGeom prst="rect">
            <a:avLst/>
          </a:prstGeom>
          <a:solidFill>
            <a:schemeClr val="bg1"/>
          </a:solidFill>
          <a:ln>
            <a:noFill/>
          </a:ln>
        </p:spPr>
        <p:txBody>
          <a:bodyPr wrap="none" rtlCol="0">
            <a:spAutoFit/>
          </a:bodyPr>
          <a:lstStyle/>
          <a:p>
            <a:r>
              <a:rPr lang="en-GB" sz="1400" dirty="0">
                <a:solidFill>
                  <a:schemeClr val="accent2">
                    <a:lumMod val="50000"/>
                  </a:schemeClr>
                </a:solidFill>
              </a:rPr>
              <a:t>Placebo</a:t>
            </a:r>
          </a:p>
        </p:txBody>
      </p:sp>
      <p:sp>
        <p:nvSpPr>
          <p:cNvPr id="13" name="TextBox 12">
            <a:extLst>
              <a:ext uri="{FF2B5EF4-FFF2-40B4-BE49-F238E27FC236}">
                <a16:creationId xmlns:a16="http://schemas.microsoft.com/office/drawing/2014/main" id="{2878F2C9-9157-2E4B-BD6E-1278BAB4C3F6}"/>
              </a:ext>
            </a:extLst>
          </p:cNvPr>
          <p:cNvSpPr txBox="1"/>
          <p:nvPr/>
        </p:nvSpPr>
        <p:spPr>
          <a:xfrm>
            <a:off x="6958723" y="5633213"/>
            <a:ext cx="1097622" cy="307777"/>
          </a:xfrm>
          <a:prstGeom prst="rect">
            <a:avLst/>
          </a:prstGeom>
          <a:solidFill>
            <a:schemeClr val="bg1"/>
          </a:solidFill>
          <a:ln>
            <a:noFill/>
          </a:ln>
        </p:spPr>
        <p:txBody>
          <a:bodyPr wrap="square" rtlCol="0">
            <a:spAutoFit/>
          </a:bodyPr>
          <a:lstStyle/>
          <a:p>
            <a:r>
              <a:rPr lang="en-GB" sz="1400" dirty="0" err="1">
                <a:solidFill>
                  <a:schemeClr val="accent2">
                    <a:lumMod val="50000"/>
                  </a:schemeClr>
                </a:solidFill>
              </a:rPr>
              <a:t>Rinialer</a:t>
            </a:r>
            <a:endParaRPr lang="en-GB" sz="1400" dirty="0">
              <a:solidFill>
                <a:schemeClr val="accent2">
                  <a:lumMod val="50000"/>
                </a:schemeClr>
              </a:solidFill>
            </a:endParaRPr>
          </a:p>
        </p:txBody>
      </p:sp>
      <p:sp>
        <p:nvSpPr>
          <p:cNvPr id="14" name="TextBox 13">
            <a:extLst>
              <a:ext uri="{FF2B5EF4-FFF2-40B4-BE49-F238E27FC236}">
                <a16:creationId xmlns:a16="http://schemas.microsoft.com/office/drawing/2014/main" id="{922F7786-7D93-AE98-CF72-9444C8E05B81}"/>
              </a:ext>
            </a:extLst>
          </p:cNvPr>
          <p:cNvSpPr txBox="1"/>
          <p:nvPr/>
        </p:nvSpPr>
        <p:spPr>
          <a:xfrm>
            <a:off x="3011992" y="3048537"/>
            <a:ext cx="4283958" cy="200055"/>
          </a:xfrm>
          <a:prstGeom prst="rect">
            <a:avLst/>
          </a:prstGeom>
          <a:solidFill>
            <a:schemeClr val="accent1">
              <a:lumMod val="60000"/>
              <a:lumOff val="40000"/>
            </a:schemeClr>
          </a:solidFill>
          <a:ln>
            <a:noFill/>
          </a:ln>
        </p:spPr>
        <p:txBody>
          <a:bodyPr wrap="square" lIns="0" tIns="0" rIns="0" bIns="0" rtlCol="0">
            <a:spAutoFit/>
          </a:bodyPr>
          <a:lstStyle/>
          <a:p>
            <a:r>
              <a:rPr lang="en-GB" sz="1300" b="0" dirty="0">
                <a:solidFill>
                  <a:schemeClr val="accent2">
                    <a:lumMod val="50000"/>
                  </a:schemeClr>
                </a:solidFill>
              </a:rPr>
              <a:t>12 horas </a:t>
            </a:r>
            <a:r>
              <a:rPr lang="en-GB" sz="1300" b="0" dirty="0" err="1">
                <a:solidFill>
                  <a:schemeClr val="accent2">
                    <a:lumMod val="50000"/>
                  </a:schemeClr>
                </a:solidFill>
              </a:rPr>
              <a:t>após</a:t>
            </a:r>
            <a:r>
              <a:rPr lang="en-GB" sz="1300" b="0" dirty="0">
                <a:solidFill>
                  <a:schemeClr val="accent2">
                    <a:lumMod val="50000"/>
                  </a:schemeClr>
                </a:solidFill>
              </a:rPr>
              <a:t> a </a:t>
            </a:r>
            <a:r>
              <a:rPr lang="en-GB" sz="1300" b="0" dirty="0" err="1">
                <a:solidFill>
                  <a:schemeClr val="accent2">
                    <a:lumMod val="50000"/>
                  </a:schemeClr>
                </a:solidFill>
              </a:rPr>
              <a:t>primeira</a:t>
            </a:r>
            <a:r>
              <a:rPr lang="en-GB" sz="1300" b="0" dirty="0">
                <a:solidFill>
                  <a:schemeClr val="accent2">
                    <a:lumMod val="50000"/>
                  </a:schemeClr>
                </a:solidFill>
              </a:rPr>
              <a:t> dose p&lt;0,05 rupatadine vs placebo  </a:t>
            </a:r>
          </a:p>
        </p:txBody>
      </p:sp>
      <p:sp>
        <p:nvSpPr>
          <p:cNvPr id="15" name="Text Box 4">
            <a:extLst>
              <a:ext uri="{FF2B5EF4-FFF2-40B4-BE49-F238E27FC236}">
                <a16:creationId xmlns:a16="http://schemas.microsoft.com/office/drawing/2014/main" id="{54244CCA-BC54-4653-A487-A348426008EA}"/>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16" name="Text Box 48">
            <a:extLst>
              <a:ext uri="{FF2B5EF4-FFF2-40B4-BE49-F238E27FC236}">
                <a16:creationId xmlns:a16="http://schemas.microsoft.com/office/drawing/2014/main" id="{18C3E05E-7740-4CC3-A43D-D4A909988065}"/>
              </a:ext>
            </a:extLst>
          </p:cNvPr>
          <p:cNvSpPr txBox="1">
            <a:spLocks noChangeArrowheads="1"/>
          </p:cNvSpPr>
          <p:nvPr/>
        </p:nvSpPr>
        <p:spPr bwMode="auto">
          <a:xfrm>
            <a:off x="1269549" y="512762"/>
            <a:ext cx="7970703"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(VII)</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47" name="Rectángulo 37"/>
          <p:cNvSpPr>
            <a:spLocks noChangeArrowheads="1"/>
          </p:cNvSpPr>
          <p:nvPr/>
        </p:nvSpPr>
        <p:spPr bwMode="auto">
          <a:xfrm>
            <a:off x="5063584" y="3990350"/>
            <a:ext cx="295275" cy="806450"/>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18448" name="TextBox 3"/>
          <p:cNvSpPr txBox="1">
            <a:spLocks noChangeArrowheads="1"/>
          </p:cNvSpPr>
          <p:nvPr/>
        </p:nvSpPr>
        <p:spPr bwMode="auto">
          <a:xfrm>
            <a:off x="5027072" y="4826962"/>
            <a:ext cx="363537"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a:t>
            </a:r>
          </a:p>
        </p:txBody>
      </p:sp>
      <p:sp>
        <p:nvSpPr>
          <p:cNvPr id="18449" name="Rectángulo 40"/>
          <p:cNvSpPr>
            <a:spLocks noChangeArrowheads="1"/>
          </p:cNvSpPr>
          <p:nvPr/>
        </p:nvSpPr>
        <p:spPr bwMode="auto">
          <a:xfrm>
            <a:off x="6222291" y="3990350"/>
            <a:ext cx="295275" cy="806450"/>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18450" name="TextBox 3"/>
          <p:cNvSpPr txBox="1">
            <a:spLocks noChangeArrowheads="1"/>
          </p:cNvSpPr>
          <p:nvPr/>
        </p:nvSpPr>
        <p:spPr bwMode="auto">
          <a:xfrm>
            <a:off x="6231816" y="4826962"/>
            <a:ext cx="273050"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a:t>
            </a:r>
          </a:p>
        </p:txBody>
      </p:sp>
      <p:sp>
        <p:nvSpPr>
          <p:cNvPr id="24" name="7 Rectángulo redondeado"/>
          <p:cNvSpPr/>
          <p:nvPr/>
        </p:nvSpPr>
        <p:spPr bwMode="auto">
          <a:xfrm>
            <a:off x="848585" y="1771252"/>
            <a:ext cx="782955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NZ" altLang="es-ES" sz="2000" dirty="0">
                <a:solidFill>
                  <a:schemeClr val="accent2">
                    <a:lumMod val="50000"/>
                  </a:schemeClr>
                </a:solidFill>
              </a:rPr>
              <a:t>Results: Rupatadine improves individual symptoms in children </a:t>
            </a:r>
          </a:p>
          <a:p>
            <a:pPr algn="ctr">
              <a:buFont typeface="Arial" charset="0"/>
              <a:buNone/>
              <a:defRPr/>
            </a:pPr>
            <a:r>
              <a:rPr lang="en-NZ" altLang="es-ES" sz="2000" dirty="0">
                <a:solidFill>
                  <a:schemeClr val="accent2">
                    <a:lumMod val="50000"/>
                  </a:schemeClr>
                </a:solidFill>
              </a:rPr>
              <a:t>with persistent allergic rhinitis (6 weeks)</a:t>
            </a:r>
            <a:endParaRPr lang="en-US" sz="2000" dirty="0">
              <a:solidFill>
                <a:schemeClr val="accent2">
                  <a:lumMod val="50000"/>
                </a:schemeClr>
              </a:solidFill>
              <a:cs typeface="ＭＳ Ｐゴシック" pitchFamily="34" charset="-128"/>
            </a:endParaRPr>
          </a:p>
        </p:txBody>
      </p:sp>
      <p:sp>
        <p:nvSpPr>
          <p:cNvPr id="18436" name="TextBox 3"/>
          <p:cNvSpPr txBox="1">
            <a:spLocks noChangeArrowheads="1"/>
          </p:cNvSpPr>
          <p:nvPr/>
        </p:nvSpPr>
        <p:spPr bwMode="auto">
          <a:xfrm>
            <a:off x="711200" y="5493350"/>
            <a:ext cx="3062288" cy="461963"/>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200" dirty="0">
                <a:solidFill>
                  <a:schemeClr val="accent2">
                    <a:lumMod val="50000"/>
                  </a:schemeClr>
                </a:solidFill>
                <a:ea typeface="ＭＳ Ｐゴシック" charset="-128"/>
              </a:rPr>
              <a:t>*</a:t>
            </a:r>
            <a:r>
              <a:rPr lang="en-NZ" altLang="es-ES" sz="1200" i="1" dirty="0">
                <a:solidFill>
                  <a:schemeClr val="accent2">
                    <a:lumMod val="50000"/>
                  </a:schemeClr>
                </a:solidFill>
                <a:ea typeface="ＭＳ Ｐゴシック" charset="-128"/>
              </a:rPr>
              <a:t>p </a:t>
            </a:r>
            <a:r>
              <a:rPr lang="en-NZ" altLang="es-ES" sz="1200" dirty="0">
                <a:solidFill>
                  <a:schemeClr val="accent2">
                    <a:lumMod val="50000"/>
                  </a:schemeClr>
                </a:solidFill>
                <a:ea typeface="ＭＳ Ｐゴシック" charset="-128"/>
              </a:rPr>
              <a:t>= 0.04; **</a:t>
            </a:r>
            <a:r>
              <a:rPr lang="en-NZ" altLang="es-ES" sz="1200" i="1" dirty="0">
                <a:solidFill>
                  <a:schemeClr val="accent2">
                    <a:lumMod val="50000"/>
                  </a:schemeClr>
                </a:solidFill>
                <a:ea typeface="ＭＳ Ｐゴシック" charset="-128"/>
              </a:rPr>
              <a:t>p </a:t>
            </a:r>
            <a:r>
              <a:rPr lang="en-NZ" altLang="es-ES" sz="1200" dirty="0">
                <a:solidFill>
                  <a:schemeClr val="accent2">
                    <a:lumMod val="50000"/>
                  </a:schemeClr>
                </a:solidFill>
                <a:ea typeface="ＭＳ Ｐゴシック" charset="-128"/>
              </a:rPr>
              <a:t>= 0.023, rupatadine vs placebo</a:t>
            </a:r>
          </a:p>
          <a:p>
            <a:pPr eaLnBrk="1" hangingPunct="1">
              <a:buClr>
                <a:srgbClr val="000000"/>
              </a:buClr>
              <a:buSzPct val="100000"/>
              <a:buFont typeface="Calibri" pitchFamily="34" charset="0"/>
              <a:buNone/>
            </a:pPr>
            <a:r>
              <a:rPr lang="es-ES" altLang="es-ES" sz="1200" dirty="0" err="1">
                <a:solidFill>
                  <a:schemeClr val="accent2">
                    <a:lumMod val="50000"/>
                  </a:schemeClr>
                </a:solidFill>
                <a:ea typeface="ＭＳ Ｐゴシック" charset="-128"/>
              </a:rPr>
              <a:t>DSS</a:t>
            </a:r>
            <a:r>
              <a:rPr lang="es-ES" altLang="es-ES" sz="1200" dirty="0">
                <a:solidFill>
                  <a:schemeClr val="accent2">
                    <a:lumMod val="50000"/>
                  </a:schemeClr>
                </a:solidFill>
                <a:ea typeface="ＭＳ Ｐゴシック" charset="-128"/>
              </a:rPr>
              <a:t> = </a:t>
            </a:r>
            <a:r>
              <a:rPr lang="es-ES" altLang="es-ES" sz="1200" dirty="0" err="1">
                <a:solidFill>
                  <a:schemeClr val="accent2">
                    <a:lumMod val="50000"/>
                  </a:schemeClr>
                </a:solidFill>
                <a:ea typeface="ＭＳ Ｐゴシック" charset="-128"/>
              </a:rPr>
              <a:t>daily</a:t>
            </a:r>
            <a:r>
              <a:rPr lang="es-ES" altLang="es-ES" sz="1200" dirty="0">
                <a:solidFill>
                  <a:schemeClr val="accent2">
                    <a:lumMod val="50000"/>
                  </a:schemeClr>
                </a:solidFill>
                <a:ea typeface="ＭＳ Ｐゴシック" charset="-128"/>
              </a:rPr>
              <a:t> </a:t>
            </a:r>
            <a:r>
              <a:rPr lang="es-ES" altLang="es-ES" sz="1200" dirty="0" err="1">
                <a:solidFill>
                  <a:schemeClr val="accent2">
                    <a:lumMod val="50000"/>
                  </a:schemeClr>
                </a:solidFill>
                <a:ea typeface="ＭＳ Ｐゴシック" charset="-128"/>
              </a:rPr>
              <a:t>symptom</a:t>
            </a:r>
            <a:r>
              <a:rPr lang="es-ES" altLang="es-ES" sz="1200" dirty="0">
                <a:solidFill>
                  <a:schemeClr val="accent2">
                    <a:lumMod val="50000"/>
                  </a:schemeClr>
                </a:solidFill>
                <a:ea typeface="ＭＳ Ｐゴシック" charset="-128"/>
              </a:rPr>
              <a:t> score</a:t>
            </a:r>
          </a:p>
        </p:txBody>
      </p:sp>
      <p:sp>
        <p:nvSpPr>
          <p:cNvPr id="21" name="Rectangle 7"/>
          <p:cNvSpPr>
            <a:spLocks noChangeArrowheads="1"/>
          </p:cNvSpPr>
          <p:nvPr/>
        </p:nvSpPr>
        <p:spPr bwMode="auto">
          <a:xfrm>
            <a:off x="1020847" y="6432841"/>
            <a:ext cx="4006225" cy="246221"/>
          </a:xfrm>
          <a:prstGeom prst="rect">
            <a:avLst/>
          </a:prstGeom>
          <a:noFill/>
          <a:ln w="9525">
            <a:noFill/>
            <a:miter lim="800000"/>
            <a:headEnd/>
            <a:tailEnd/>
          </a:ln>
          <a:effectLst>
            <a:prstShdw prst="shdw17" dist="17961" dir="2700000">
              <a:srgbClr val="007A5C"/>
            </a:prstShdw>
          </a:effectLst>
        </p:spPr>
        <p:txBody>
          <a:bodyPr wrap="none">
            <a:spAutoFit/>
          </a:bodyPr>
          <a:lstStyle/>
          <a:p>
            <a:pPr eaLnBrk="1" hangingPunct="1">
              <a:buClr>
                <a:srgbClr val="000000"/>
              </a:buClr>
              <a:buSzPct val="100000"/>
              <a:buFont typeface="Calibri" panose="020F0502020204030204" pitchFamily="34" charset="0"/>
              <a:buNone/>
              <a:defRPr/>
            </a:pPr>
            <a:r>
              <a:rPr lang="en-GB" sz="1000" b="0" dirty="0">
                <a:solidFill>
                  <a:schemeClr val="accent2">
                    <a:lumMod val="50000"/>
                  </a:schemeClr>
                </a:solidFill>
                <a:latin typeface="Calibri"/>
              </a:rPr>
              <a:t>Adapted from Potter P, et al. </a:t>
            </a:r>
            <a:r>
              <a:rPr lang="en-GB" sz="1000" b="0" dirty="0" err="1">
                <a:solidFill>
                  <a:schemeClr val="accent2">
                    <a:lumMod val="50000"/>
                  </a:schemeClr>
                </a:solidFill>
                <a:latin typeface="Calibri"/>
              </a:rPr>
              <a:t>Pediatr</a:t>
            </a:r>
            <a:r>
              <a:rPr lang="en-GB" sz="1000" b="0" dirty="0">
                <a:solidFill>
                  <a:schemeClr val="accent2">
                    <a:lumMod val="50000"/>
                  </a:schemeClr>
                </a:solidFill>
                <a:latin typeface="Calibri"/>
              </a:rPr>
              <a:t> Allergy </a:t>
            </a:r>
            <a:r>
              <a:rPr lang="en-GB" sz="1000" b="0" dirty="0" err="1">
                <a:solidFill>
                  <a:schemeClr val="accent2">
                    <a:lumMod val="50000"/>
                  </a:schemeClr>
                </a:solidFill>
                <a:latin typeface="Calibri"/>
              </a:rPr>
              <a:t>Immunol</a:t>
            </a:r>
            <a:r>
              <a:rPr lang="en-GB" sz="1000" b="0" dirty="0">
                <a:solidFill>
                  <a:schemeClr val="accent2">
                    <a:lumMod val="50000"/>
                  </a:schemeClr>
                </a:solidFill>
                <a:latin typeface="Calibri"/>
              </a:rPr>
              <a:t>. 2013;24(2):144-50.</a:t>
            </a:r>
          </a:p>
        </p:txBody>
      </p:sp>
      <p:grpSp>
        <p:nvGrpSpPr>
          <p:cNvPr id="2" name="Group 9"/>
          <p:cNvGrpSpPr>
            <a:grpSpLocks/>
          </p:cNvGrpSpPr>
          <p:nvPr/>
        </p:nvGrpSpPr>
        <p:grpSpPr bwMode="auto">
          <a:xfrm>
            <a:off x="679517" y="2636651"/>
            <a:ext cx="412750" cy="2592388"/>
            <a:chOff x="578" y="1570"/>
            <a:chExt cx="260" cy="1633"/>
          </a:xfrm>
        </p:grpSpPr>
        <p:sp>
          <p:nvSpPr>
            <p:cNvPr id="18453"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8"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dirty="0" err="1">
                  <a:solidFill>
                    <a:schemeClr val="accent2">
                      <a:lumMod val="50000"/>
                    </a:schemeClr>
                  </a:solidFill>
                  <a:ea typeface="ＭＳ Ｐゴシック" charset="-128"/>
                </a:rPr>
                <a:t>Melhoria</a:t>
              </a:r>
              <a:endParaRPr lang="en-GB" sz="1600" dirty="0">
                <a:solidFill>
                  <a:schemeClr val="accent2">
                    <a:lumMod val="50000"/>
                  </a:schemeClr>
                </a:solidFill>
                <a:ea typeface="ＭＳ Ｐゴシック" charset="-128"/>
              </a:endParaRPr>
            </a:p>
          </p:txBody>
        </p:sp>
      </p:grpSp>
      <p:sp>
        <p:nvSpPr>
          <p:cNvPr id="43" name="Text Box 8"/>
          <p:cNvSpPr txBox="1">
            <a:spLocks noChangeArrowheads="1"/>
          </p:cNvSpPr>
          <p:nvPr/>
        </p:nvSpPr>
        <p:spPr bwMode="auto">
          <a:xfrm rot="-5400000">
            <a:off x="80235" y="3683608"/>
            <a:ext cx="2803525" cy="585788"/>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b="0" dirty="0">
                <a:solidFill>
                  <a:schemeClr val="accent2">
                    <a:lumMod val="50000"/>
                  </a:schemeClr>
                </a:solidFill>
                <a:ea typeface="ＭＳ Ｐゴシック" charset="-128"/>
              </a:rPr>
              <a:t>Mean decrease from </a:t>
            </a:r>
            <a:br>
              <a:rPr lang="en-GB" sz="1600" b="0" dirty="0">
                <a:solidFill>
                  <a:schemeClr val="accent2">
                    <a:lumMod val="50000"/>
                  </a:schemeClr>
                </a:solidFill>
                <a:ea typeface="ＭＳ Ｐゴシック" charset="-128"/>
              </a:rPr>
            </a:br>
            <a:r>
              <a:rPr lang="en-GB" sz="1600" b="0" dirty="0">
                <a:solidFill>
                  <a:schemeClr val="accent2">
                    <a:lumMod val="50000"/>
                  </a:schemeClr>
                </a:solidFill>
                <a:ea typeface="ＭＳ Ｐゴシック" charset="-128"/>
              </a:rPr>
              <a:t>baseline in DSS</a:t>
            </a:r>
          </a:p>
        </p:txBody>
      </p:sp>
      <p:graphicFrame>
        <p:nvGraphicFramePr>
          <p:cNvPr id="22" name="21 Gráfico"/>
          <p:cNvGraphicFramePr/>
          <p:nvPr>
            <p:extLst>
              <p:ext uri="{D42A27DB-BD31-4B8C-83A1-F6EECF244321}">
                <p14:modId xmlns:p14="http://schemas.microsoft.com/office/powerpoint/2010/main" val="1591042375"/>
              </p:ext>
            </p:extLst>
          </p:nvPr>
        </p:nvGraphicFramePr>
        <p:xfrm>
          <a:off x="1791288" y="2540327"/>
          <a:ext cx="6480516"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Box 4">
            <a:extLst>
              <a:ext uri="{FF2B5EF4-FFF2-40B4-BE49-F238E27FC236}">
                <a16:creationId xmlns:a16="http://schemas.microsoft.com/office/drawing/2014/main" id="{B2722E98-820F-4E6C-91F7-FEE02B7F02E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17" name="Text Box 48">
            <a:extLst>
              <a:ext uri="{FF2B5EF4-FFF2-40B4-BE49-F238E27FC236}">
                <a16:creationId xmlns:a16="http://schemas.microsoft.com/office/drawing/2014/main" id="{D779BCA5-6D51-4C2F-B17B-E70E75DB2CB4}"/>
              </a:ext>
            </a:extLst>
          </p:cNvPr>
          <p:cNvSpPr txBox="1">
            <a:spLocks noChangeArrowheads="1"/>
          </p:cNvSpPr>
          <p:nvPr/>
        </p:nvSpPr>
        <p:spPr bwMode="auto">
          <a:xfrm>
            <a:off x="1269549" y="512762"/>
            <a:ext cx="8018829"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(VIII)</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6" name="TextBox 4"/>
          <p:cNvSpPr txBox="1">
            <a:spLocks noChangeArrowheads="1"/>
          </p:cNvSpPr>
          <p:nvPr/>
        </p:nvSpPr>
        <p:spPr bwMode="auto">
          <a:xfrm>
            <a:off x="1147925" y="6454913"/>
            <a:ext cx="3873176" cy="246221"/>
          </a:xfrm>
          <a:prstGeom prst="rect">
            <a:avLst/>
          </a:prstGeom>
          <a:noFill/>
          <a:ln w="9525">
            <a:noFill/>
            <a:miter lim="800000"/>
            <a:headEnd/>
            <a:tailEnd/>
          </a:ln>
        </p:spPr>
        <p:txBody>
          <a:bodyPr wrap="none">
            <a:spAutoFit/>
          </a:bodyPr>
          <a:lstStyle/>
          <a:p>
            <a:r>
              <a:rPr lang="en-NZ" altLang="es-ES" sz="1000" b="0" dirty="0">
                <a:solidFill>
                  <a:schemeClr val="accent2">
                    <a:lumMod val="50000"/>
                  </a:schemeClr>
                </a:solidFill>
                <a:ea typeface="ＭＳ Ｐゴシック" charset="-128"/>
              </a:rPr>
              <a:t>Adapted from Izquierdo I, et al. Clin Trans Allergy 2013; 3(</a:t>
            </a:r>
            <a:r>
              <a:rPr lang="en-NZ" altLang="es-ES" sz="1000" b="0" dirty="0" err="1">
                <a:solidFill>
                  <a:schemeClr val="accent2">
                    <a:lumMod val="50000"/>
                  </a:schemeClr>
                </a:solidFill>
                <a:ea typeface="ＭＳ Ｐゴシック" charset="-128"/>
              </a:rPr>
              <a:t>suppl.2</a:t>
            </a:r>
            <a:r>
              <a:rPr lang="en-NZ" altLang="es-ES" sz="1000" b="0" dirty="0">
                <a:solidFill>
                  <a:schemeClr val="accent2">
                    <a:lumMod val="50000"/>
                  </a:schemeClr>
                </a:solidFill>
                <a:ea typeface="ＭＳ Ｐゴシック" charset="-128"/>
              </a:rPr>
              <a:t>): P33.</a:t>
            </a:r>
          </a:p>
        </p:txBody>
      </p:sp>
      <p:sp>
        <p:nvSpPr>
          <p:cNvPr id="19" name="7 Rectángulo redondeado"/>
          <p:cNvSpPr/>
          <p:nvPr/>
        </p:nvSpPr>
        <p:spPr bwMode="auto">
          <a:xfrm>
            <a:off x="849731" y="1991802"/>
            <a:ext cx="7829550" cy="979277"/>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spcBef>
                <a:spcPts val="1000"/>
              </a:spcBef>
            </a:pPr>
            <a:r>
              <a:rPr lang="en-NZ" altLang="es-ES" sz="2000" dirty="0">
                <a:solidFill>
                  <a:schemeClr val="accent2">
                    <a:lumMod val="50000"/>
                  </a:schemeClr>
                </a:solidFill>
                <a:ea typeface="ＭＳ Ｐゴシック" charset="-128"/>
              </a:rPr>
              <a:t>After 6 weeks of treatment Rupatadine improves individual symptoms </a:t>
            </a:r>
            <a:br>
              <a:rPr lang="en-NZ" altLang="es-ES" sz="2000" dirty="0">
                <a:solidFill>
                  <a:schemeClr val="accent2">
                    <a:lumMod val="50000"/>
                  </a:schemeClr>
                </a:solidFill>
                <a:ea typeface="ＭＳ Ｐゴシック" charset="-128"/>
              </a:rPr>
            </a:br>
            <a:r>
              <a:rPr lang="en-NZ" altLang="es-ES" sz="2000" dirty="0">
                <a:solidFill>
                  <a:schemeClr val="accent2">
                    <a:lumMod val="50000"/>
                  </a:schemeClr>
                </a:solidFill>
                <a:ea typeface="ＭＳ Ｐゴシック" charset="-128"/>
              </a:rPr>
              <a:t>in children ≥ 25 kg, including nasal congestion</a:t>
            </a:r>
            <a:endParaRPr lang="es-ES" sz="2000" dirty="0">
              <a:solidFill>
                <a:schemeClr val="accent2">
                  <a:lumMod val="50000"/>
                </a:schemeClr>
              </a:solidFill>
            </a:endParaRPr>
          </a:p>
        </p:txBody>
      </p:sp>
      <p:sp>
        <p:nvSpPr>
          <p:cNvPr id="23559" name="TextBox 3"/>
          <p:cNvSpPr txBox="1">
            <a:spLocks noChangeArrowheads="1"/>
          </p:cNvSpPr>
          <p:nvPr/>
        </p:nvSpPr>
        <p:spPr bwMode="auto">
          <a:xfrm>
            <a:off x="903706" y="5873439"/>
            <a:ext cx="2984500" cy="461963"/>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200" dirty="0">
                <a:solidFill>
                  <a:schemeClr val="accent2">
                    <a:lumMod val="50000"/>
                  </a:schemeClr>
                </a:solidFill>
                <a:ea typeface="ＭＳ Ｐゴシック" charset="-128"/>
              </a:rPr>
              <a:t>*</a:t>
            </a:r>
            <a:r>
              <a:rPr lang="en-NZ" altLang="es-ES" sz="1200" i="1" dirty="0">
                <a:solidFill>
                  <a:schemeClr val="accent2">
                    <a:lumMod val="50000"/>
                  </a:schemeClr>
                </a:solidFill>
                <a:ea typeface="ＭＳ Ｐゴシック" charset="-128"/>
              </a:rPr>
              <a:t>p </a:t>
            </a:r>
            <a:r>
              <a:rPr lang="en-NZ" altLang="es-ES" sz="1200" dirty="0">
                <a:solidFill>
                  <a:schemeClr val="accent2">
                    <a:lumMod val="50000"/>
                  </a:schemeClr>
                </a:solidFill>
                <a:ea typeface="ＭＳ Ｐゴシック" charset="-128"/>
              </a:rPr>
              <a:t>&lt; 0.05; **</a:t>
            </a:r>
            <a:r>
              <a:rPr lang="en-NZ" altLang="es-ES" sz="1200" i="1" dirty="0">
                <a:solidFill>
                  <a:schemeClr val="accent2">
                    <a:lumMod val="50000"/>
                  </a:schemeClr>
                </a:solidFill>
                <a:ea typeface="ＭＳ Ｐゴシック" charset="-128"/>
              </a:rPr>
              <a:t>p </a:t>
            </a:r>
            <a:r>
              <a:rPr lang="en-NZ" altLang="es-ES" sz="1200" dirty="0">
                <a:solidFill>
                  <a:schemeClr val="accent2">
                    <a:lumMod val="50000"/>
                  </a:schemeClr>
                </a:solidFill>
                <a:ea typeface="ＭＳ Ｐゴシック" charset="-128"/>
              </a:rPr>
              <a:t>&lt; 0.01, rupatadine vs placebo</a:t>
            </a:r>
          </a:p>
          <a:p>
            <a:pPr eaLnBrk="1" hangingPunct="1">
              <a:buClr>
                <a:srgbClr val="000000"/>
              </a:buClr>
              <a:buSzPct val="100000"/>
              <a:buFont typeface="Calibri" pitchFamily="34" charset="0"/>
              <a:buNone/>
            </a:pPr>
            <a:r>
              <a:rPr lang="es-ES" altLang="es-ES" sz="1200" dirty="0">
                <a:solidFill>
                  <a:schemeClr val="accent2">
                    <a:lumMod val="50000"/>
                  </a:schemeClr>
                </a:solidFill>
                <a:ea typeface="ＭＳ Ｐゴシック" charset="-128"/>
              </a:rPr>
              <a:t>DSS = </a:t>
            </a:r>
            <a:r>
              <a:rPr lang="es-ES" altLang="es-ES" sz="1200" dirty="0" err="1">
                <a:solidFill>
                  <a:schemeClr val="accent2">
                    <a:lumMod val="50000"/>
                  </a:schemeClr>
                </a:solidFill>
                <a:ea typeface="ＭＳ Ｐゴシック" charset="-128"/>
              </a:rPr>
              <a:t>daily</a:t>
            </a:r>
            <a:r>
              <a:rPr lang="es-ES" altLang="es-ES" sz="1200" dirty="0">
                <a:solidFill>
                  <a:schemeClr val="accent2">
                    <a:lumMod val="50000"/>
                  </a:schemeClr>
                </a:solidFill>
                <a:ea typeface="ＭＳ Ｐゴシック" charset="-128"/>
              </a:rPr>
              <a:t> </a:t>
            </a:r>
            <a:r>
              <a:rPr lang="es-ES" altLang="es-ES" sz="1200" dirty="0" err="1">
                <a:solidFill>
                  <a:schemeClr val="accent2">
                    <a:lumMod val="50000"/>
                  </a:schemeClr>
                </a:solidFill>
                <a:ea typeface="ＭＳ Ｐゴシック" charset="-128"/>
              </a:rPr>
              <a:t>symptom</a:t>
            </a:r>
            <a:r>
              <a:rPr lang="es-ES" altLang="es-ES" sz="1200" dirty="0">
                <a:solidFill>
                  <a:schemeClr val="accent2">
                    <a:lumMod val="50000"/>
                  </a:schemeClr>
                </a:solidFill>
                <a:ea typeface="ＭＳ Ｐゴシック" charset="-128"/>
              </a:rPr>
              <a:t> score</a:t>
            </a:r>
          </a:p>
        </p:txBody>
      </p:sp>
      <p:grpSp>
        <p:nvGrpSpPr>
          <p:cNvPr id="2" name="Group 9"/>
          <p:cNvGrpSpPr>
            <a:grpSpLocks/>
          </p:cNvGrpSpPr>
          <p:nvPr/>
        </p:nvGrpSpPr>
        <p:grpSpPr bwMode="auto">
          <a:xfrm>
            <a:off x="862211" y="3128922"/>
            <a:ext cx="412750" cy="2592388"/>
            <a:chOff x="578" y="1570"/>
            <a:chExt cx="260" cy="1633"/>
          </a:xfrm>
        </p:grpSpPr>
        <p:sp>
          <p:nvSpPr>
            <p:cNvPr id="23581"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7"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dirty="0" err="1">
                  <a:solidFill>
                    <a:schemeClr val="accent2">
                      <a:lumMod val="50000"/>
                    </a:schemeClr>
                  </a:solidFill>
                  <a:ea typeface="ＭＳ Ｐゴシック" charset="-128"/>
                </a:rPr>
                <a:t>Melhroia</a:t>
              </a:r>
              <a:endParaRPr lang="en-GB" sz="1600" dirty="0">
                <a:solidFill>
                  <a:schemeClr val="accent2">
                    <a:lumMod val="50000"/>
                  </a:schemeClr>
                </a:solidFill>
                <a:ea typeface="ＭＳ Ｐゴシック" charset="-128"/>
              </a:endParaRPr>
            </a:p>
          </p:txBody>
        </p:sp>
      </p:grpSp>
      <p:sp>
        <p:nvSpPr>
          <p:cNvPr id="28" name="Text Box 8"/>
          <p:cNvSpPr txBox="1">
            <a:spLocks noChangeArrowheads="1"/>
          </p:cNvSpPr>
          <p:nvPr/>
        </p:nvSpPr>
        <p:spPr bwMode="auto">
          <a:xfrm rot="-5400000">
            <a:off x="262929" y="4175879"/>
            <a:ext cx="2803525" cy="585788"/>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b="0" dirty="0">
                <a:solidFill>
                  <a:schemeClr val="accent2">
                    <a:lumMod val="50000"/>
                  </a:schemeClr>
                </a:solidFill>
                <a:ea typeface="ＭＳ Ｐゴシック" charset="-128"/>
              </a:rPr>
              <a:t>Mean decrease from </a:t>
            </a:r>
            <a:br>
              <a:rPr lang="en-GB" sz="1600" b="0" dirty="0">
                <a:solidFill>
                  <a:schemeClr val="accent2">
                    <a:lumMod val="50000"/>
                  </a:schemeClr>
                </a:solidFill>
                <a:ea typeface="ＭＳ Ｐゴシック" charset="-128"/>
              </a:rPr>
            </a:br>
            <a:r>
              <a:rPr lang="en-GB" sz="1600" b="0" dirty="0">
                <a:solidFill>
                  <a:schemeClr val="accent2">
                    <a:lumMod val="50000"/>
                  </a:schemeClr>
                </a:solidFill>
                <a:ea typeface="ＭＳ Ｐゴシック" charset="-128"/>
              </a:rPr>
              <a:t>baseline in DSS</a:t>
            </a:r>
          </a:p>
        </p:txBody>
      </p:sp>
      <p:graphicFrame>
        <p:nvGraphicFramePr>
          <p:cNvPr id="34" name="33 Gráfico"/>
          <p:cNvGraphicFramePr/>
          <p:nvPr>
            <p:extLst>
              <p:ext uri="{D42A27DB-BD31-4B8C-83A1-F6EECF244321}">
                <p14:modId xmlns:p14="http://schemas.microsoft.com/office/powerpoint/2010/main" val="1154391277"/>
              </p:ext>
            </p:extLst>
          </p:nvPr>
        </p:nvGraphicFramePr>
        <p:xfrm>
          <a:off x="1983794" y="3032598"/>
          <a:ext cx="6480516"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23568" name="TextBox 3"/>
          <p:cNvSpPr txBox="1">
            <a:spLocks noChangeArrowheads="1"/>
          </p:cNvSpPr>
          <p:nvPr/>
        </p:nvSpPr>
        <p:spPr bwMode="auto">
          <a:xfrm>
            <a:off x="4203752" y="5354597"/>
            <a:ext cx="363537" cy="306388"/>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a:t>
            </a:r>
          </a:p>
        </p:txBody>
      </p:sp>
      <p:sp>
        <p:nvSpPr>
          <p:cNvPr id="23569" name="TextBox 3"/>
          <p:cNvSpPr txBox="1">
            <a:spLocks noChangeArrowheads="1"/>
          </p:cNvSpPr>
          <p:nvPr/>
        </p:nvSpPr>
        <p:spPr bwMode="auto">
          <a:xfrm>
            <a:off x="3095626" y="4154447"/>
            <a:ext cx="273050"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a:t>
            </a:r>
          </a:p>
        </p:txBody>
      </p:sp>
      <p:sp>
        <p:nvSpPr>
          <p:cNvPr id="23570" name="TextBox 3"/>
          <p:cNvSpPr txBox="1">
            <a:spLocks noChangeArrowheads="1"/>
          </p:cNvSpPr>
          <p:nvPr/>
        </p:nvSpPr>
        <p:spPr bwMode="auto">
          <a:xfrm>
            <a:off x="2705101" y="3679785"/>
            <a:ext cx="379412" cy="27622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0.0</a:t>
            </a:r>
          </a:p>
        </p:txBody>
      </p:sp>
      <p:sp>
        <p:nvSpPr>
          <p:cNvPr id="23571" name="TextBox 3"/>
          <p:cNvSpPr txBox="1">
            <a:spLocks noChangeArrowheads="1"/>
          </p:cNvSpPr>
          <p:nvPr/>
        </p:nvSpPr>
        <p:spPr bwMode="auto">
          <a:xfrm>
            <a:off x="3014663" y="3914735"/>
            <a:ext cx="428625"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-0,2</a:t>
            </a:r>
          </a:p>
        </p:txBody>
      </p:sp>
      <p:sp>
        <p:nvSpPr>
          <p:cNvPr id="23572" name="TextBox 3"/>
          <p:cNvSpPr txBox="1">
            <a:spLocks noChangeArrowheads="1"/>
          </p:cNvSpPr>
          <p:nvPr/>
        </p:nvSpPr>
        <p:spPr bwMode="auto">
          <a:xfrm>
            <a:off x="3850178" y="3914735"/>
            <a:ext cx="427038"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-0.7</a:t>
            </a:r>
          </a:p>
        </p:txBody>
      </p:sp>
      <p:sp>
        <p:nvSpPr>
          <p:cNvPr id="23573" name="TextBox 3"/>
          <p:cNvSpPr txBox="1">
            <a:spLocks noChangeArrowheads="1"/>
          </p:cNvSpPr>
          <p:nvPr/>
        </p:nvSpPr>
        <p:spPr bwMode="auto">
          <a:xfrm>
            <a:off x="4168827" y="3914735"/>
            <a:ext cx="428625"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-1.1</a:t>
            </a:r>
          </a:p>
        </p:txBody>
      </p:sp>
      <p:sp>
        <p:nvSpPr>
          <p:cNvPr id="23574" name="TextBox 3"/>
          <p:cNvSpPr txBox="1">
            <a:spLocks noChangeArrowheads="1"/>
          </p:cNvSpPr>
          <p:nvPr/>
        </p:nvSpPr>
        <p:spPr bwMode="auto">
          <a:xfrm>
            <a:off x="5027496" y="3914735"/>
            <a:ext cx="427037"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-0.9</a:t>
            </a:r>
          </a:p>
        </p:txBody>
      </p:sp>
      <p:sp>
        <p:nvSpPr>
          <p:cNvPr id="23575" name="TextBox 3"/>
          <p:cNvSpPr txBox="1">
            <a:spLocks noChangeArrowheads="1"/>
          </p:cNvSpPr>
          <p:nvPr/>
        </p:nvSpPr>
        <p:spPr bwMode="auto">
          <a:xfrm>
            <a:off x="5346144" y="3914735"/>
            <a:ext cx="427038"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-1.0</a:t>
            </a:r>
          </a:p>
        </p:txBody>
      </p:sp>
      <p:sp>
        <p:nvSpPr>
          <p:cNvPr id="23576" name="TextBox 3"/>
          <p:cNvSpPr txBox="1">
            <a:spLocks noChangeArrowheads="1"/>
          </p:cNvSpPr>
          <p:nvPr/>
        </p:nvSpPr>
        <p:spPr bwMode="auto">
          <a:xfrm>
            <a:off x="6191184" y="3914735"/>
            <a:ext cx="425450"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-0.9</a:t>
            </a:r>
          </a:p>
        </p:txBody>
      </p:sp>
      <p:sp>
        <p:nvSpPr>
          <p:cNvPr id="23577" name="TextBox 3"/>
          <p:cNvSpPr txBox="1">
            <a:spLocks noChangeArrowheads="1"/>
          </p:cNvSpPr>
          <p:nvPr/>
        </p:nvSpPr>
        <p:spPr bwMode="auto">
          <a:xfrm>
            <a:off x="6523901" y="3914735"/>
            <a:ext cx="427037"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-1.0</a:t>
            </a:r>
          </a:p>
        </p:txBody>
      </p:sp>
      <p:sp>
        <p:nvSpPr>
          <p:cNvPr id="23578" name="TextBox 3"/>
          <p:cNvSpPr txBox="1">
            <a:spLocks noChangeArrowheads="1"/>
          </p:cNvSpPr>
          <p:nvPr/>
        </p:nvSpPr>
        <p:spPr bwMode="auto">
          <a:xfrm>
            <a:off x="7376439" y="3914735"/>
            <a:ext cx="428625"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-0.4</a:t>
            </a:r>
          </a:p>
        </p:txBody>
      </p:sp>
      <p:sp>
        <p:nvSpPr>
          <p:cNvPr id="23579" name="TextBox 3"/>
          <p:cNvSpPr txBox="1">
            <a:spLocks noChangeArrowheads="1"/>
          </p:cNvSpPr>
          <p:nvPr/>
        </p:nvSpPr>
        <p:spPr bwMode="auto">
          <a:xfrm>
            <a:off x="7682607" y="3914735"/>
            <a:ext cx="427038" cy="27622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200" b="0">
                <a:solidFill>
                  <a:schemeClr val="accent2">
                    <a:lumMod val="50000"/>
                  </a:schemeClr>
                </a:solidFill>
                <a:ea typeface="ＭＳ Ｐゴシック" charset="-128"/>
              </a:rPr>
              <a:t>-0.6</a:t>
            </a:r>
          </a:p>
        </p:txBody>
      </p:sp>
      <p:sp>
        <p:nvSpPr>
          <p:cNvPr id="23580" name="TextBox 3"/>
          <p:cNvSpPr txBox="1">
            <a:spLocks noChangeArrowheads="1"/>
          </p:cNvSpPr>
          <p:nvPr/>
        </p:nvSpPr>
        <p:spPr bwMode="auto">
          <a:xfrm>
            <a:off x="7771507" y="4564022"/>
            <a:ext cx="273050" cy="306388"/>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a:t>
            </a:r>
          </a:p>
        </p:txBody>
      </p:sp>
      <p:sp>
        <p:nvSpPr>
          <p:cNvPr id="26" name="25 CuadroTexto"/>
          <p:cNvSpPr txBox="1"/>
          <p:nvPr/>
        </p:nvSpPr>
        <p:spPr>
          <a:xfrm>
            <a:off x="1673661" y="1435181"/>
            <a:ext cx="5824763" cy="369332"/>
          </a:xfrm>
          <a:prstGeom prst="rect">
            <a:avLst/>
          </a:prstGeom>
          <a:noFill/>
        </p:spPr>
        <p:txBody>
          <a:bodyPr wrap="square" rtlCol="0">
            <a:spAutoFit/>
          </a:bodyPr>
          <a:lstStyle/>
          <a:p>
            <a:pPr algn="ctr"/>
            <a:r>
              <a:rPr lang="en-GB" sz="1800" dirty="0">
                <a:solidFill>
                  <a:schemeClr val="accent2">
                    <a:lumMod val="50000"/>
                  </a:schemeClr>
                </a:solidFill>
              </a:rPr>
              <a:t> </a:t>
            </a:r>
            <a:r>
              <a:rPr lang="en-GB" sz="1800" dirty="0" err="1">
                <a:solidFill>
                  <a:schemeClr val="accent2">
                    <a:lumMod val="50000"/>
                  </a:schemeClr>
                </a:solidFill>
              </a:rPr>
              <a:t>Subanalysis</a:t>
            </a:r>
            <a:r>
              <a:rPr lang="en-GB" sz="1800" dirty="0">
                <a:solidFill>
                  <a:schemeClr val="accent2">
                    <a:lumMod val="50000"/>
                  </a:schemeClr>
                </a:solidFill>
              </a:rPr>
              <a:t> on efficacy (I)</a:t>
            </a:r>
          </a:p>
        </p:txBody>
      </p:sp>
      <p:sp>
        <p:nvSpPr>
          <p:cNvPr id="29" name="Text Box 4">
            <a:extLst>
              <a:ext uri="{FF2B5EF4-FFF2-40B4-BE49-F238E27FC236}">
                <a16:creationId xmlns:a16="http://schemas.microsoft.com/office/drawing/2014/main" id="{F38BB402-696A-4E59-8F81-E31C00535D3E}"/>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30" name="Text Box 48">
            <a:extLst>
              <a:ext uri="{FF2B5EF4-FFF2-40B4-BE49-F238E27FC236}">
                <a16:creationId xmlns:a16="http://schemas.microsoft.com/office/drawing/2014/main" id="{BF4A2B55-C850-40D1-A83D-A6E312F9C956}"/>
              </a:ext>
            </a:extLst>
          </p:cNvPr>
          <p:cNvSpPr txBox="1">
            <a:spLocks noChangeArrowheads="1"/>
          </p:cNvSpPr>
          <p:nvPr/>
        </p:nvSpPr>
        <p:spPr bwMode="auto">
          <a:xfrm>
            <a:off x="1269549" y="512762"/>
            <a:ext cx="7970703"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(IX)</a:t>
            </a:r>
          </a:p>
        </p:txBody>
      </p:sp>
    </p:spTree>
    <p:extLst>
      <p:ext uri="{BB962C8B-B14F-4D97-AF65-F5344CB8AC3E}">
        <p14:creationId xmlns:p14="http://schemas.microsoft.com/office/powerpoint/2010/main" val="310832287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1" name="TextBox 4"/>
          <p:cNvSpPr txBox="1">
            <a:spLocks noChangeArrowheads="1"/>
          </p:cNvSpPr>
          <p:nvPr/>
        </p:nvSpPr>
        <p:spPr bwMode="auto">
          <a:xfrm>
            <a:off x="1215831" y="6457485"/>
            <a:ext cx="3179762" cy="246063"/>
          </a:xfrm>
          <a:prstGeom prst="rect">
            <a:avLst/>
          </a:prstGeom>
          <a:noFill/>
          <a:ln w="9525">
            <a:noFill/>
            <a:miter lim="800000"/>
            <a:headEnd/>
            <a:tailEnd/>
          </a:ln>
        </p:spPr>
        <p:txBody>
          <a:bodyPr wrap="none">
            <a:spAutoFit/>
          </a:bodyPr>
          <a:lstStyle/>
          <a:p>
            <a:r>
              <a:rPr lang="en-NZ" altLang="es-ES" sz="1000" b="0" dirty="0">
                <a:solidFill>
                  <a:schemeClr val="accent2">
                    <a:lumMod val="50000"/>
                  </a:schemeClr>
                </a:solidFill>
                <a:ea typeface="ＭＳ Ｐゴシック" charset="-128"/>
              </a:rPr>
              <a:t>Izquierdo I, et al. Clin Trans Allergy. 2013; 3(</a:t>
            </a:r>
            <a:r>
              <a:rPr lang="en-NZ" altLang="es-ES" sz="1000" b="0" dirty="0" err="1">
                <a:solidFill>
                  <a:schemeClr val="accent2">
                    <a:lumMod val="50000"/>
                  </a:schemeClr>
                </a:solidFill>
                <a:ea typeface="ＭＳ Ｐゴシック" charset="-128"/>
              </a:rPr>
              <a:t>suppl.2</a:t>
            </a:r>
            <a:r>
              <a:rPr lang="en-NZ" altLang="es-ES" sz="1000" b="0" dirty="0">
                <a:solidFill>
                  <a:schemeClr val="accent2">
                    <a:lumMod val="50000"/>
                  </a:schemeClr>
                </a:solidFill>
                <a:ea typeface="ＭＳ Ｐゴシック" charset="-128"/>
              </a:rPr>
              <a:t>): </a:t>
            </a:r>
            <a:r>
              <a:rPr lang="en-NZ" altLang="es-ES" sz="1000" b="0" dirty="0" err="1">
                <a:solidFill>
                  <a:schemeClr val="accent2">
                    <a:lumMod val="50000"/>
                  </a:schemeClr>
                </a:solidFill>
                <a:ea typeface="ＭＳ Ｐゴシック" charset="-128"/>
              </a:rPr>
              <a:t>P33</a:t>
            </a:r>
            <a:r>
              <a:rPr lang="en-NZ" altLang="es-ES" sz="1000" b="0" dirty="0">
                <a:solidFill>
                  <a:schemeClr val="accent2">
                    <a:lumMod val="50000"/>
                  </a:schemeClr>
                </a:solidFill>
                <a:ea typeface="ＭＳ Ｐゴシック" charset="-128"/>
              </a:rPr>
              <a:t>.</a:t>
            </a:r>
          </a:p>
        </p:txBody>
      </p:sp>
      <p:sp>
        <p:nvSpPr>
          <p:cNvPr id="18" name="7 Rectángulo redondeado"/>
          <p:cNvSpPr/>
          <p:nvPr/>
        </p:nvSpPr>
        <p:spPr bwMode="auto">
          <a:xfrm>
            <a:off x="774214" y="1944335"/>
            <a:ext cx="782955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r>
              <a:rPr lang="en-NZ" altLang="es-ES" sz="2000" dirty="0">
                <a:solidFill>
                  <a:schemeClr val="accent2">
                    <a:lumMod val="50000"/>
                  </a:schemeClr>
                </a:solidFill>
                <a:ea typeface="ＭＳ Ｐゴシック" charset="-128"/>
              </a:rPr>
              <a:t>Rupatadine significantly improves nasal symptoms (T4SS) </a:t>
            </a:r>
            <a:br>
              <a:rPr lang="en-NZ" altLang="es-ES" sz="2000" dirty="0">
                <a:solidFill>
                  <a:schemeClr val="accent2">
                    <a:lumMod val="50000"/>
                  </a:schemeClr>
                </a:solidFill>
                <a:ea typeface="ＭＳ Ｐゴシック" charset="-128"/>
              </a:rPr>
            </a:br>
            <a:r>
              <a:rPr lang="en-NZ" altLang="es-ES" sz="2000" dirty="0">
                <a:solidFill>
                  <a:schemeClr val="accent2">
                    <a:lumMod val="50000"/>
                  </a:schemeClr>
                </a:solidFill>
                <a:ea typeface="ＭＳ Ｐゴシック" charset="-128"/>
              </a:rPr>
              <a:t>in children ≥ 25 kg at 4 and 6 weeks</a:t>
            </a:r>
            <a:endParaRPr lang="es-ES" altLang="es-ES" sz="2000" dirty="0">
              <a:solidFill>
                <a:schemeClr val="accent2">
                  <a:lumMod val="50000"/>
                </a:schemeClr>
              </a:solidFill>
              <a:ea typeface="ＭＳ Ｐゴシック" charset="-128"/>
            </a:endParaRPr>
          </a:p>
        </p:txBody>
      </p:sp>
      <p:sp>
        <p:nvSpPr>
          <p:cNvPr id="20486" name="TextBox 3"/>
          <p:cNvSpPr txBox="1">
            <a:spLocks noChangeArrowheads="1"/>
          </p:cNvSpPr>
          <p:nvPr/>
        </p:nvSpPr>
        <p:spPr bwMode="auto">
          <a:xfrm>
            <a:off x="880075" y="5969635"/>
            <a:ext cx="2327275" cy="277813"/>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200">
                <a:solidFill>
                  <a:schemeClr val="accent2">
                    <a:lumMod val="50000"/>
                  </a:schemeClr>
                </a:solidFill>
                <a:ea typeface="ＭＳ Ｐゴシック" charset="-128"/>
              </a:rPr>
              <a:t>*</a:t>
            </a:r>
            <a:r>
              <a:rPr lang="en-NZ" altLang="es-ES" sz="1200" i="1">
                <a:solidFill>
                  <a:schemeClr val="accent2">
                    <a:lumMod val="50000"/>
                  </a:schemeClr>
                </a:solidFill>
                <a:ea typeface="ＭＳ Ｐゴシック" charset="-128"/>
              </a:rPr>
              <a:t>p </a:t>
            </a:r>
            <a:r>
              <a:rPr lang="en-NZ" altLang="es-ES" sz="1200">
                <a:solidFill>
                  <a:schemeClr val="accent2">
                    <a:lumMod val="50000"/>
                  </a:schemeClr>
                </a:solidFill>
                <a:ea typeface="ＭＳ Ｐゴシック" charset="-128"/>
              </a:rPr>
              <a:t>&lt; 0.01, rupatadine vs placebo</a:t>
            </a:r>
          </a:p>
        </p:txBody>
      </p:sp>
      <p:grpSp>
        <p:nvGrpSpPr>
          <p:cNvPr id="2" name="Group 9"/>
          <p:cNvGrpSpPr>
            <a:grpSpLocks/>
          </p:cNvGrpSpPr>
          <p:nvPr/>
        </p:nvGrpSpPr>
        <p:grpSpPr bwMode="auto">
          <a:xfrm>
            <a:off x="1046763" y="2867660"/>
            <a:ext cx="412750" cy="2592388"/>
            <a:chOff x="578" y="1570"/>
            <a:chExt cx="260" cy="1633"/>
          </a:xfrm>
        </p:grpSpPr>
        <p:sp>
          <p:nvSpPr>
            <p:cNvPr id="20499"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5"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dirty="0" err="1">
                  <a:solidFill>
                    <a:schemeClr val="accent2">
                      <a:lumMod val="50000"/>
                    </a:schemeClr>
                  </a:solidFill>
                  <a:ea typeface="ＭＳ Ｐゴシック" charset="-128"/>
                </a:rPr>
                <a:t>Melhoria</a:t>
              </a:r>
              <a:endParaRPr lang="en-GB" sz="1600" dirty="0">
                <a:solidFill>
                  <a:schemeClr val="accent2">
                    <a:lumMod val="50000"/>
                  </a:schemeClr>
                </a:solidFill>
                <a:ea typeface="ＭＳ Ｐゴシック" charset="-128"/>
              </a:endParaRPr>
            </a:p>
          </p:txBody>
        </p:sp>
      </p:grpSp>
      <p:sp>
        <p:nvSpPr>
          <p:cNvPr id="26" name="Text Box 8"/>
          <p:cNvSpPr txBox="1">
            <a:spLocks noChangeArrowheads="1"/>
          </p:cNvSpPr>
          <p:nvPr/>
        </p:nvSpPr>
        <p:spPr bwMode="auto">
          <a:xfrm rot="-5400000">
            <a:off x="447481" y="3914617"/>
            <a:ext cx="2803525" cy="585788"/>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b="0" dirty="0">
                <a:solidFill>
                  <a:schemeClr val="accent2">
                    <a:lumMod val="50000"/>
                  </a:schemeClr>
                </a:solidFill>
                <a:ea typeface="ＭＳ Ｐゴシック" charset="-128"/>
              </a:rPr>
              <a:t>Mean change in T4SS value from baseline</a:t>
            </a:r>
          </a:p>
        </p:txBody>
      </p:sp>
      <p:graphicFrame>
        <p:nvGraphicFramePr>
          <p:cNvPr id="23" name="22 Gráfico"/>
          <p:cNvGraphicFramePr/>
          <p:nvPr>
            <p:extLst>
              <p:ext uri="{D42A27DB-BD31-4B8C-83A1-F6EECF244321}">
                <p14:modId xmlns:p14="http://schemas.microsoft.com/office/powerpoint/2010/main" val="1552647532"/>
              </p:ext>
            </p:extLst>
          </p:nvPr>
        </p:nvGraphicFramePr>
        <p:xfrm>
          <a:off x="2158525" y="2771336"/>
          <a:ext cx="6096000"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3"/>
          <p:cNvSpPr txBox="1">
            <a:spLocks noChangeArrowheads="1"/>
          </p:cNvSpPr>
          <p:nvPr/>
        </p:nvSpPr>
        <p:spPr bwMode="auto">
          <a:xfrm>
            <a:off x="3216925" y="4014836"/>
            <a:ext cx="466725"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-2.4</a:t>
            </a:r>
          </a:p>
        </p:txBody>
      </p:sp>
      <p:sp>
        <p:nvSpPr>
          <p:cNvPr id="27" name="TextBox 3"/>
          <p:cNvSpPr txBox="1">
            <a:spLocks noChangeArrowheads="1"/>
          </p:cNvSpPr>
          <p:nvPr/>
        </p:nvSpPr>
        <p:spPr bwMode="auto">
          <a:xfrm>
            <a:off x="5321511" y="4014836"/>
            <a:ext cx="466725" cy="30797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-2.6</a:t>
            </a:r>
          </a:p>
        </p:txBody>
      </p:sp>
      <p:sp>
        <p:nvSpPr>
          <p:cNvPr id="28" name="TextBox 3"/>
          <p:cNvSpPr txBox="1">
            <a:spLocks noChangeArrowheads="1"/>
          </p:cNvSpPr>
          <p:nvPr/>
        </p:nvSpPr>
        <p:spPr bwMode="auto">
          <a:xfrm>
            <a:off x="3802493" y="4028904"/>
            <a:ext cx="466725" cy="30797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-3.1</a:t>
            </a:r>
          </a:p>
        </p:txBody>
      </p:sp>
      <p:sp>
        <p:nvSpPr>
          <p:cNvPr id="29" name="TextBox 3"/>
          <p:cNvSpPr txBox="1">
            <a:spLocks noChangeArrowheads="1"/>
          </p:cNvSpPr>
          <p:nvPr/>
        </p:nvSpPr>
        <p:spPr bwMode="auto">
          <a:xfrm>
            <a:off x="5934066" y="4028904"/>
            <a:ext cx="466725" cy="307975"/>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-3.4</a:t>
            </a:r>
          </a:p>
        </p:txBody>
      </p:sp>
      <p:sp>
        <p:nvSpPr>
          <p:cNvPr id="30" name="TextBox 3"/>
          <p:cNvSpPr txBox="1">
            <a:spLocks noChangeArrowheads="1"/>
          </p:cNvSpPr>
          <p:nvPr/>
        </p:nvSpPr>
        <p:spPr bwMode="auto">
          <a:xfrm>
            <a:off x="3875759" y="4918079"/>
            <a:ext cx="27443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dirty="0">
                <a:solidFill>
                  <a:schemeClr val="accent2">
                    <a:lumMod val="50000"/>
                  </a:schemeClr>
                </a:solidFill>
                <a:ea typeface="ＭＳ Ｐゴシック" charset="-128"/>
              </a:rPr>
              <a:t>*</a:t>
            </a:r>
          </a:p>
        </p:txBody>
      </p:sp>
      <p:sp>
        <p:nvSpPr>
          <p:cNvPr id="31" name="TextBox 3"/>
          <p:cNvSpPr txBox="1">
            <a:spLocks noChangeArrowheads="1"/>
          </p:cNvSpPr>
          <p:nvPr/>
        </p:nvSpPr>
        <p:spPr bwMode="auto">
          <a:xfrm>
            <a:off x="6033476" y="5071320"/>
            <a:ext cx="27443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dirty="0">
                <a:solidFill>
                  <a:schemeClr val="accent2">
                    <a:lumMod val="50000"/>
                  </a:schemeClr>
                </a:solidFill>
                <a:ea typeface="ＭＳ Ｐゴシック" charset="-128"/>
              </a:rPr>
              <a:t>*</a:t>
            </a:r>
          </a:p>
        </p:txBody>
      </p:sp>
      <p:sp>
        <p:nvSpPr>
          <p:cNvPr id="3" name="2 CuadroTexto"/>
          <p:cNvSpPr txBox="1"/>
          <p:nvPr/>
        </p:nvSpPr>
        <p:spPr>
          <a:xfrm>
            <a:off x="1659618" y="1521739"/>
            <a:ext cx="5824763" cy="369332"/>
          </a:xfrm>
          <a:prstGeom prst="rect">
            <a:avLst/>
          </a:prstGeom>
          <a:noFill/>
        </p:spPr>
        <p:txBody>
          <a:bodyPr wrap="square" rtlCol="0">
            <a:spAutoFit/>
          </a:bodyPr>
          <a:lstStyle/>
          <a:p>
            <a:pPr algn="ctr"/>
            <a:r>
              <a:rPr lang="en-GB" sz="1800" dirty="0">
                <a:solidFill>
                  <a:schemeClr val="accent2">
                    <a:lumMod val="50000"/>
                  </a:schemeClr>
                </a:solidFill>
              </a:rPr>
              <a:t> </a:t>
            </a:r>
            <a:r>
              <a:rPr lang="en-GB" sz="1800" dirty="0" err="1">
                <a:solidFill>
                  <a:schemeClr val="accent2">
                    <a:lumMod val="50000"/>
                  </a:schemeClr>
                </a:solidFill>
              </a:rPr>
              <a:t>Subanalysis</a:t>
            </a:r>
            <a:r>
              <a:rPr lang="en-GB" sz="1800" dirty="0">
                <a:solidFill>
                  <a:schemeClr val="accent2">
                    <a:lumMod val="50000"/>
                  </a:schemeClr>
                </a:solidFill>
              </a:rPr>
              <a:t> on efficacy (II)</a:t>
            </a:r>
          </a:p>
        </p:txBody>
      </p:sp>
      <p:sp>
        <p:nvSpPr>
          <p:cNvPr id="19" name="Text Box 4">
            <a:extLst>
              <a:ext uri="{FF2B5EF4-FFF2-40B4-BE49-F238E27FC236}">
                <a16:creationId xmlns:a16="http://schemas.microsoft.com/office/drawing/2014/main" id="{85B61405-98FB-4766-8586-B60F4D2E9CC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20" name="Text Box 48">
            <a:extLst>
              <a:ext uri="{FF2B5EF4-FFF2-40B4-BE49-F238E27FC236}">
                <a16:creationId xmlns:a16="http://schemas.microsoft.com/office/drawing/2014/main" id="{15B1AEC0-05FD-4AD4-9CC6-81F5FD7310BA}"/>
              </a:ext>
            </a:extLst>
          </p:cNvPr>
          <p:cNvSpPr txBox="1">
            <a:spLocks noChangeArrowheads="1"/>
          </p:cNvSpPr>
          <p:nvPr/>
        </p:nvSpPr>
        <p:spPr bwMode="auto">
          <a:xfrm>
            <a:off x="1269549" y="512762"/>
            <a:ext cx="7961077"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(X)</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TextBox 4"/>
          <p:cNvSpPr txBox="1">
            <a:spLocks noChangeArrowheads="1"/>
          </p:cNvSpPr>
          <p:nvPr/>
        </p:nvSpPr>
        <p:spPr bwMode="auto">
          <a:xfrm>
            <a:off x="1158081" y="6405563"/>
            <a:ext cx="3179762" cy="246063"/>
          </a:xfrm>
          <a:prstGeom prst="rect">
            <a:avLst/>
          </a:prstGeom>
          <a:noFill/>
          <a:ln w="9525">
            <a:noFill/>
            <a:miter lim="800000"/>
            <a:headEnd/>
            <a:tailEnd/>
          </a:ln>
        </p:spPr>
        <p:txBody>
          <a:bodyPr wrap="none">
            <a:spAutoFit/>
          </a:bodyPr>
          <a:lstStyle/>
          <a:p>
            <a:r>
              <a:rPr lang="en-NZ" altLang="es-ES" sz="1000" b="0" dirty="0">
                <a:solidFill>
                  <a:schemeClr val="accent2">
                    <a:lumMod val="50000"/>
                  </a:schemeClr>
                </a:solidFill>
                <a:ea typeface="ＭＳ Ｐゴシック" charset="-128"/>
              </a:rPr>
              <a:t>Izquierdo I, et al. Clin Trans Allergy. 2013; 3(</a:t>
            </a:r>
            <a:r>
              <a:rPr lang="en-NZ" altLang="es-ES" sz="1000" b="0" dirty="0" err="1">
                <a:solidFill>
                  <a:schemeClr val="accent2">
                    <a:lumMod val="50000"/>
                  </a:schemeClr>
                </a:solidFill>
                <a:ea typeface="ＭＳ Ｐゴシック" charset="-128"/>
              </a:rPr>
              <a:t>suppl.2</a:t>
            </a:r>
            <a:r>
              <a:rPr lang="en-NZ" altLang="es-ES" sz="1000" b="0" dirty="0">
                <a:solidFill>
                  <a:schemeClr val="accent2">
                    <a:lumMod val="50000"/>
                  </a:schemeClr>
                </a:solidFill>
                <a:ea typeface="ＭＳ Ｐゴシック" charset="-128"/>
              </a:rPr>
              <a:t>): </a:t>
            </a:r>
            <a:r>
              <a:rPr lang="en-NZ" altLang="es-ES" sz="1000" b="0" dirty="0" err="1">
                <a:solidFill>
                  <a:schemeClr val="accent2">
                    <a:lumMod val="50000"/>
                  </a:schemeClr>
                </a:solidFill>
                <a:ea typeface="ＭＳ Ｐゴシック" charset="-128"/>
              </a:rPr>
              <a:t>P33</a:t>
            </a:r>
            <a:r>
              <a:rPr lang="en-NZ" altLang="es-ES" sz="1000" b="0" dirty="0">
                <a:solidFill>
                  <a:schemeClr val="accent2">
                    <a:lumMod val="50000"/>
                  </a:schemeClr>
                </a:solidFill>
                <a:ea typeface="ＭＳ Ｐゴシック" charset="-128"/>
              </a:rPr>
              <a:t>.</a:t>
            </a:r>
          </a:p>
        </p:txBody>
      </p:sp>
      <p:sp>
        <p:nvSpPr>
          <p:cNvPr id="17" name="7 Rectángulo redondeado"/>
          <p:cNvSpPr/>
          <p:nvPr/>
        </p:nvSpPr>
        <p:spPr bwMode="auto">
          <a:xfrm>
            <a:off x="822342" y="1982838"/>
            <a:ext cx="782955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r>
              <a:rPr lang="en-NZ" altLang="es-ES" sz="2000" dirty="0">
                <a:solidFill>
                  <a:schemeClr val="accent2">
                    <a:lumMod val="50000"/>
                  </a:schemeClr>
                </a:solidFill>
                <a:ea typeface="ＭＳ Ｐゴシック" charset="-128"/>
              </a:rPr>
              <a:t>Rupatadine significantly improves nasal and non-nasal symptoms (T5SS) </a:t>
            </a:r>
            <a:br>
              <a:rPr lang="en-NZ" altLang="es-ES" sz="2000" dirty="0">
                <a:solidFill>
                  <a:schemeClr val="accent2">
                    <a:lumMod val="50000"/>
                  </a:schemeClr>
                </a:solidFill>
                <a:ea typeface="ＭＳ Ｐゴシック" charset="-128"/>
              </a:rPr>
            </a:br>
            <a:r>
              <a:rPr lang="en-NZ" altLang="es-ES" sz="2000" dirty="0">
                <a:solidFill>
                  <a:schemeClr val="accent2">
                    <a:lumMod val="50000"/>
                  </a:schemeClr>
                </a:solidFill>
                <a:ea typeface="ＭＳ Ｐゴシック" charset="-128"/>
              </a:rPr>
              <a:t>in children ≥ 25 kg at 4 and 6 weeks</a:t>
            </a:r>
            <a:endParaRPr lang="es-ES" altLang="es-ES" sz="2000" dirty="0">
              <a:solidFill>
                <a:schemeClr val="accent2">
                  <a:lumMod val="50000"/>
                </a:schemeClr>
              </a:solidFill>
              <a:ea typeface="ＭＳ Ｐゴシック" charset="-128"/>
            </a:endParaRPr>
          </a:p>
        </p:txBody>
      </p:sp>
      <p:sp>
        <p:nvSpPr>
          <p:cNvPr id="21510" name="TextBox 3"/>
          <p:cNvSpPr txBox="1">
            <a:spLocks noChangeArrowheads="1"/>
          </p:cNvSpPr>
          <p:nvPr/>
        </p:nvSpPr>
        <p:spPr bwMode="auto">
          <a:xfrm>
            <a:off x="822325" y="5940759"/>
            <a:ext cx="2327275" cy="277813"/>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200">
                <a:solidFill>
                  <a:schemeClr val="accent2">
                    <a:lumMod val="50000"/>
                  </a:schemeClr>
                </a:solidFill>
                <a:ea typeface="ＭＳ Ｐゴシック" charset="-128"/>
              </a:rPr>
              <a:t>**</a:t>
            </a:r>
            <a:r>
              <a:rPr lang="en-NZ" altLang="es-ES" sz="1200" i="1">
                <a:solidFill>
                  <a:schemeClr val="accent2">
                    <a:lumMod val="50000"/>
                  </a:schemeClr>
                </a:solidFill>
                <a:ea typeface="ＭＳ Ｐゴシック" charset="-128"/>
              </a:rPr>
              <a:t>p </a:t>
            </a:r>
            <a:r>
              <a:rPr lang="en-NZ" altLang="es-ES" sz="1200">
                <a:solidFill>
                  <a:schemeClr val="accent2">
                    <a:lumMod val="50000"/>
                  </a:schemeClr>
                </a:solidFill>
                <a:ea typeface="ＭＳ Ｐゴシック" charset="-128"/>
              </a:rPr>
              <a:t>&lt; 0.01, rupatadine vs placebo</a:t>
            </a:r>
          </a:p>
        </p:txBody>
      </p:sp>
      <p:grpSp>
        <p:nvGrpSpPr>
          <p:cNvPr id="2" name="Group 9"/>
          <p:cNvGrpSpPr>
            <a:grpSpLocks/>
          </p:cNvGrpSpPr>
          <p:nvPr/>
        </p:nvGrpSpPr>
        <p:grpSpPr bwMode="auto">
          <a:xfrm>
            <a:off x="989013" y="2838784"/>
            <a:ext cx="412750" cy="2592388"/>
            <a:chOff x="578" y="1570"/>
            <a:chExt cx="260" cy="1633"/>
          </a:xfrm>
        </p:grpSpPr>
        <p:sp>
          <p:nvSpPr>
            <p:cNvPr id="21523"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dirty="0">
                <a:solidFill>
                  <a:schemeClr val="accent2">
                    <a:lumMod val="50000"/>
                  </a:schemeClr>
                </a:solidFill>
                <a:ea typeface="ＭＳ Ｐゴシック" charset="-128"/>
              </a:endParaRPr>
            </a:p>
          </p:txBody>
        </p:sp>
        <p:sp>
          <p:nvSpPr>
            <p:cNvPr id="25"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dirty="0" err="1">
                  <a:solidFill>
                    <a:schemeClr val="accent2">
                      <a:lumMod val="50000"/>
                    </a:schemeClr>
                  </a:solidFill>
                  <a:ea typeface="ＭＳ Ｐゴシック" charset="-128"/>
                </a:rPr>
                <a:t>Melhoria</a:t>
              </a:r>
              <a:endParaRPr lang="en-GB" sz="1600" dirty="0">
                <a:solidFill>
                  <a:schemeClr val="accent2">
                    <a:lumMod val="50000"/>
                  </a:schemeClr>
                </a:solidFill>
                <a:ea typeface="ＭＳ Ｐゴシック" charset="-128"/>
              </a:endParaRPr>
            </a:p>
          </p:txBody>
        </p:sp>
      </p:grpSp>
      <p:sp>
        <p:nvSpPr>
          <p:cNvPr id="26" name="Text Box 8"/>
          <p:cNvSpPr txBox="1">
            <a:spLocks noChangeArrowheads="1"/>
          </p:cNvSpPr>
          <p:nvPr/>
        </p:nvSpPr>
        <p:spPr bwMode="auto">
          <a:xfrm rot="-5400000">
            <a:off x="389731" y="3885741"/>
            <a:ext cx="2803525" cy="585788"/>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en-GB" sz="1600" b="0" dirty="0">
                <a:solidFill>
                  <a:schemeClr val="accent2">
                    <a:lumMod val="50000"/>
                  </a:schemeClr>
                </a:solidFill>
                <a:ea typeface="ＭＳ Ｐゴシック" charset="-128"/>
              </a:rPr>
              <a:t>Mean change in 5TSS value from baseline</a:t>
            </a:r>
          </a:p>
        </p:txBody>
      </p:sp>
      <p:graphicFrame>
        <p:nvGraphicFramePr>
          <p:cNvPr id="23" name="22 Gráfico"/>
          <p:cNvGraphicFramePr/>
          <p:nvPr>
            <p:extLst>
              <p:ext uri="{D42A27DB-BD31-4B8C-83A1-F6EECF244321}">
                <p14:modId xmlns:p14="http://schemas.microsoft.com/office/powerpoint/2010/main" val="2553971084"/>
              </p:ext>
            </p:extLst>
          </p:nvPr>
        </p:nvGraphicFramePr>
        <p:xfrm>
          <a:off x="2100775" y="2742460"/>
          <a:ext cx="6096000"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Box 3"/>
          <p:cNvSpPr txBox="1">
            <a:spLocks noChangeArrowheads="1"/>
          </p:cNvSpPr>
          <p:nvPr/>
        </p:nvSpPr>
        <p:spPr bwMode="auto">
          <a:xfrm>
            <a:off x="3159175" y="3985960"/>
            <a:ext cx="46679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-2.7</a:t>
            </a:r>
          </a:p>
        </p:txBody>
      </p:sp>
      <p:sp>
        <p:nvSpPr>
          <p:cNvPr id="27" name="TextBox 3"/>
          <p:cNvSpPr txBox="1">
            <a:spLocks noChangeArrowheads="1"/>
          </p:cNvSpPr>
          <p:nvPr/>
        </p:nvSpPr>
        <p:spPr bwMode="auto">
          <a:xfrm>
            <a:off x="5263726" y="3985960"/>
            <a:ext cx="466795"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-2.9</a:t>
            </a:r>
          </a:p>
        </p:txBody>
      </p:sp>
      <p:sp>
        <p:nvSpPr>
          <p:cNvPr id="28" name="TextBox 3"/>
          <p:cNvSpPr txBox="1">
            <a:spLocks noChangeArrowheads="1"/>
          </p:cNvSpPr>
          <p:nvPr/>
        </p:nvSpPr>
        <p:spPr bwMode="auto">
          <a:xfrm>
            <a:off x="3744743" y="4000028"/>
            <a:ext cx="46679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-3.7</a:t>
            </a:r>
          </a:p>
        </p:txBody>
      </p:sp>
      <p:sp>
        <p:nvSpPr>
          <p:cNvPr id="29" name="TextBox 3"/>
          <p:cNvSpPr txBox="1">
            <a:spLocks noChangeArrowheads="1"/>
          </p:cNvSpPr>
          <p:nvPr/>
        </p:nvSpPr>
        <p:spPr bwMode="auto">
          <a:xfrm>
            <a:off x="5876282" y="4000028"/>
            <a:ext cx="466795"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en-NZ" altLang="es-ES" sz="1400" b="0">
                <a:solidFill>
                  <a:schemeClr val="accent2">
                    <a:lumMod val="50000"/>
                  </a:schemeClr>
                </a:solidFill>
                <a:ea typeface="ＭＳ Ｐゴシック" charset="-128"/>
              </a:rPr>
              <a:t>-4.0</a:t>
            </a:r>
          </a:p>
        </p:txBody>
      </p:sp>
      <p:sp>
        <p:nvSpPr>
          <p:cNvPr id="30" name="TextBox 3"/>
          <p:cNvSpPr txBox="1">
            <a:spLocks noChangeArrowheads="1"/>
          </p:cNvSpPr>
          <p:nvPr/>
        </p:nvSpPr>
        <p:spPr bwMode="auto">
          <a:xfrm>
            <a:off x="3809407" y="5033739"/>
            <a:ext cx="27443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dirty="0">
                <a:solidFill>
                  <a:schemeClr val="accent2">
                    <a:lumMod val="50000"/>
                  </a:schemeClr>
                </a:solidFill>
                <a:ea typeface="ＭＳ Ｐゴシック" charset="-128"/>
              </a:rPr>
              <a:t>*</a:t>
            </a:r>
          </a:p>
        </p:txBody>
      </p:sp>
      <p:sp>
        <p:nvSpPr>
          <p:cNvPr id="31" name="TextBox 3"/>
          <p:cNvSpPr txBox="1">
            <a:spLocks noChangeArrowheads="1"/>
          </p:cNvSpPr>
          <p:nvPr/>
        </p:nvSpPr>
        <p:spPr bwMode="auto">
          <a:xfrm>
            <a:off x="5954234" y="5139222"/>
            <a:ext cx="274434"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en-NZ" altLang="es-ES" sz="1400" b="0" dirty="0">
                <a:solidFill>
                  <a:schemeClr val="accent2">
                    <a:lumMod val="50000"/>
                  </a:schemeClr>
                </a:solidFill>
                <a:ea typeface="ＭＳ Ｐゴシック" charset="-128"/>
              </a:rPr>
              <a:t>*</a:t>
            </a:r>
          </a:p>
        </p:txBody>
      </p:sp>
      <p:sp>
        <p:nvSpPr>
          <p:cNvPr id="18" name="17 CuadroTexto"/>
          <p:cNvSpPr txBox="1"/>
          <p:nvPr/>
        </p:nvSpPr>
        <p:spPr>
          <a:xfrm>
            <a:off x="1659618" y="1583932"/>
            <a:ext cx="5824763" cy="369332"/>
          </a:xfrm>
          <a:prstGeom prst="rect">
            <a:avLst/>
          </a:prstGeom>
          <a:noFill/>
        </p:spPr>
        <p:txBody>
          <a:bodyPr wrap="square" rtlCol="0">
            <a:spAutoFit/>
          </a:bodyPr>
          <a:lstStyle/>
          <a:p>
            <a:pPr algn="ctr"/>
            <a:r>
              <a:rPr lang="en-GB" sz="1800" dirty="0">
                <a:solidFill>
                  <a:schemeClr val="accent2">
                    <a:lumMod val="50000"/>
                  </a:schemeClr>
                </a:solidFill>
              </a:rPr>
              <a:t> </a:t>
            </a:r>
            <a:r>
              <a:rPr lang="en-GB" sz="1800" dirty="0" err="1">
                <a:solidFill>
                  <a:schemeClr val="accent2">
                    <a:lumMod val="50000"/>
                  </a:schemeClr>
                </a:solidFill>
              </a:rPr>
              <a:t>Subanalysis</a:t>
            </a:r>
            <a:r>
              <a:rPr lang="en-GB" sz="1800" dirty="0">
                <a:solidFill>
                  <a:schemeClr val="accent2">
                    <a:lumMod val="50000"/>
                  </a:schemeClr>
                </a:solidFill>
              </a:rPr>
              <a:t> on efficacy (III)</a:t>
            </a:r>
          </a:p>
        </p:txBody>
      </p:sp>
      <p:sp>
        <p:nvSpPr>
          <p:cNvPr id="19" name="Text Box 4">
            <a:extLst>
              <a:ext uri="{FF2B5EF4-FFF2-40B4-BE49-F238E27FC236}">
                <a16:creationId xmlns:a16="http://schemas.microsoft.com/office/drawing/2014/main" id="{ACDA6228-AF15-4472-9CEE-5FFD6EE58770}"/>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20" name="Text Box 48">
            <a:extLst>
              <a:ext uri="{FF2B5EF4-FFF2-40B4-BE49-F238E27FC236}">
                <a16:creationId xmlns:a16="http://schemas.microsoft.com/office/drawing/2014/main" id="{DA84A3D4-FBE1-4A53-891A-101B20F4BDDC}"/>
              </a:ext>
            </a:extLst>
          </p:cNvPr>
          <p:cNvSpPr txBox="1">
            <a:spLocks noChangeArrowheads="1"/>
          </p:cNvSpPr>
          <p:nvPr/>
        </p:nvSpPr>
        <p:spPr bwMode="auto">
          <a:xfrm>
            <a:off x="1269549" y="512762"/>
            <a:ext cx="7989953" cy="861774"/>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2800" dirty="0">
                <a:solidFill>
                  <a:schemeClr val="accent2">
                    <a:lumMod val="50000"/>
                  </a:schemeClr>
                </a:solidFill>
              </a:rPr>
              <a:t>Estudo fundamental de fase III em crianças entre 6-11 anos de idade que sofrem de rinite alérgica (XI)</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Box 4"/>
          <p:cNvSpPr txBox="1">
            <a:spLocks noChangeArrowheads="1"/>
          </p:cNvSpPr>
          <p:nvPr/>
        </p:nvSpPr>
        <p:spPr bwMode="auto">
          <a:xfrm>
            <a:off x="1144960" y="6429996"/>
            <a:ext cx="3177473" cy="246221"/>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sz="1000" b="0" dirty="0">
                <a:solidFill>
                  <a:schemeClr val="accent2">
                    <a:lumMod val="50000"/>
                  </a:schemeClr>
                </a:solidFill>
              </a:rPr>
              <a:t>Potter et al. Pediatr Allergy Immunol. 2013; 24(3) 144-50.</a:t>
            </a:r>
          </a:p>
        </p:txBody>
      </p:sp>
      <p:sp>
        <p:nvSpPr>
          <p:cNvPr id="25604" name="7 CuadroTexto"/>
          <p:cNvSpPr txBox="1">
            <a:spLocks noChangeArrowheads="1"/>
          </p:cNvSpPr>
          <p:nvPr/>
        </p:nvSpPr>
        <p:spPr bwMode="auto">
          <a:xfrm>
            <a:off x="1398713" y="505249"/>
            <a:ext cx="7437279" cy="95410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2800" dirty="0">
                <a:solidFill>
                  <a:schemeClr val="accent2">
                    <a:lumMod val="50000"/>
                  </a:schemeClr>
                </a:solidFill>
              </a:rPr>
              <a:t>Estudo de Fase III: Resultados globais em relação à QoL (I)</a:t>
            </a:r>
            <a:endParaRPr lang="pt-PT" altLang="es-ES" sz="2800" dirty="0">
              <a:solidFill>
                <a:schemeClr val="accent2">
                  <a:lumMod val="50000"/>
                </a:schemeClr>
              </a:solidFill>
              <a:ea typeface="ＭＳ Ｐゴシック" charset="-128"/>
            </a:endParaRPr>
          </a:p>
        </p:txBody>
      </p:sp>
      <p:sp>
        <p:nvSpPr>
          <p:cNvPr id="19" name="7 Rectángulo redondeado"/>
          <p:cNvSpPr/>
          <p:nvPr/>
        </p:nvSpPr>
        <p:spPr bwMode="auto">
          <a:xfrm>
            <a:off x="911856" y="1735209"/>
            <a:ext cx="7927616" cy="70485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eaLnBrk="1" hangingPunct="1">
              <a:buClr>
                <a:srgbClr val="000000"/>
              </a:buClr>
              <a:buSzPct val="100000"/>
              <a:buFont typeface="Calibri" pitchFamily="34" charset="0"/>
              <a:buNone/>
              <a:defRPr/>
            </a:pPr>
            <a:r>
              <a:rPr lang="pt-PT" altLang="es-ES" sz="2000" dirty="0">
                <a:solidFill>
                  <a:schemeClr val="accent2">
                    <a:lumMod val="50000"/>
                  </a:schemeClr>
                </a:solidFill>
              </a:rPr>
              <a:t>Resultados: </a:t>
            </a:r>
            <a:r>
              <a:rPr lang="pt-PT" altLang="es-ES" sz="2000" dirty="0" err="1">
                <a:solidFill>
                  <a:schemeClr val="accent2">
                    <a:lumMod val="50000"/>
                  </a:schemeClr>
                </a:solidFill>
              </a:rPr>
              <a:t>Rinialer</a:t>
            </a:r>
            <a:r>
              <a:rPr lang="pt-PT" altLang="es-ES" sz="2000" dirty="0">
                <a:solidFill>
                  <a:schemeClr val="accent2">
                    <a:lumMod val="50000"/>
                  </a:schemeClr>
                </a:solidFill>
              </a:rPr>
              <a:t> melhora a qualidade de vida (QoL) às 4 semanas</a:t>
            </a:r>
            <a:br>
              <a:rPr dirty="0">
                <a:solidFill>
                  <a:schemeClr val="accent2">
                    <a:lumMod val="50000"/>
                  </a:schemeClr>
                </a:solidFill>
              </a:rPr>
            </a:br>
            <a:r>
              <a:rPr lang="pt-PT" altLang="es-ES" sz="2000" dirty="0">
                <a:solidFill>
                  <a:schemeClr val="accent2">
                    <a:lumMod val="50000"/>
                  </a:schemeClr>
                </a:solidFill>
              </a:rPr>
              <a:t>em crianças com rinite alérgica perene (RAP)</a:t>
            </a:r>
          </a:p>
        </p:txBody>
      </p:sp>
      <p:sp>
        <p:nvSpPr>
          <p:cNvPr id="25606" name="TextBox 3"/>
          <p:cNvSpPr txBox="1">
            <a:spLocks noChangeArrowheads="1"/>
          </p:cNvSpPr>
          <p:nvPr/>
        </p:nvSpPr>
        <p:spPr bwMode="auto">
          <a:xfrm>
            <a:off x="951832" y="5696685"/>
            <a:ext cx="2777876"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&lt; 0,05; **</a:t>
            </a:r>
            <a:r>
              <a:rPr lang="pt-PT" altLang="es-ES" sz="1200" i="1" dirty="0">
                <a:solidFill>
                  <a:schemeClr val="accent2">
                    <a:lumMod val="50000"/>
                  </a:schemeClr>
                </a:solidFill>
              </a:rPr>
              <a:t>p </a:t>
            </a:r>
            <a:r>
              <a:rPr lang="pt-PT" altLang="es-ES" sz="1200" dirty="0">
                <a:solidFill>
                  <a:schemeClr val="accent2">
                    <a:lumMod val="50000"/>
                  </a:schemeClr>
                </a:solidFill>
              </a:rPr>
              <a:t>&lt; 0,01, </a:t>
            </a:r>
            <a:r>
              <a:rPr lang="pt-PT" altLang="es-ES" sz="1200" dirty="0" err="1">
                <a:solidFill>
                  <a:schemeClr val="accent2">
                    <a:lumMod val="50000"/>
                  </a:schemeClr>
                </a:solidFill>
              </a:rPr>
              <a:t>Rinialer</a:t>
            </a:r>
            <a:r>
              <a:rPr lang="pt-PT" altLang="es-ES" sz="1200" dirty="0">
                <a:solidFill>
                  <a:schemeClr val="accent2">
                    <a:lumMod val="50000"/>
                  </a:schemeClr>
                </a:solidFill>
              </a:rPr>
              <a:t> vs placebo</a:t>
            </a:r>
          </a:p>
        </p:txBody>
      </p:sp>
      <p:grpSp>
        <p:nvGrpSpPr>
          <p:cNvPr id="2" name="Group 9"/>
          <p:cNvGrpSpPr>
            <a:grpSpLocks/>
          </p:cNvGrpSpPr>
          <p:nvPr/>
        </p:nvGrpSpPr>
        <p:grpSpPr bwMode="auto">
          <a:xfrm>
            <a:off x="1229645" y="2653448"/>
            <a:ext cx="412750" cy="2592387"/>
            <a:chOff x="578" y="1570"/>
            <a:chExt cx="260" cy="1633"/>
          </a:xfrm>
        </p:grpSpPr>
        <p:sp>
          <p:nvSpPr>
            <p:cNvPr id="25626"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7"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grpSp>
      <p:grpSp>
        <p:nvGrpSpPr>
          <p:cNvPr id="3" name="Agrupar 1"/>
          <p:cNvGrpSpPr>
            <a:grpSpLocks/>
          </p:cNvGrpSpPr>
          <p:nvPr/>
        </p:nvGrpSpPr>
        <p:grpSpPr bwMode="auto">
          <a:xfrm>
            <a:off x="3083941" y="3265776"/>
            <a:ext cx="363537" cy="1017130"/>
            <a:chOff x="9776619" y="3277672"/>
            <a:chExt cx="393377" cy="1017394"/>
          </a:xfrm>
        </p:grpSpPr>
        <p:sp>
          <p:nvSpPr>
            <p:cNvPr id="25624" name="Rectángulo 34"/>
            <p:cNvSpPr>
              <a:spLocks noChangeArrowheads="1"/>
            </p:cNvSpPr>
            <p:nvPr/>
          </p:nvSpPr>
          <p:spPr bwMode="auto">
            <a:xfrm>
              <a:off x="9805543" y="3490085"/>
              <a:ext cx="295148" cy="804981"/>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5625" name="TextBox 3"/>
            <p:cNvSpPr txBox="1">
              <a:spLocks noChangeArrowheads="1"/>
            </p:cNvSpPr>
            <p:nvPr/>
          </p:nvSpPr>
          <p:spPr bwMode="auto">
            <a:xfrm>
              <a:off x="9776619" y="3277672"/>
              <a:ext cx="393377"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4" name="Agrupar 50"/>
          <p:cNvGrpSpPr>
            <a:grpSpLocks/>
          </p:cNvGrpSpPr>
          <p:nvPr/>
        </p:nvGrpSpPr>
        <p:grpSpPr bwMode="auto">
          <a:xfrm>
            <a:off x="4050970" y="2733506"/>
            <a:ext cx="282610" cy="1046160"/>
            <a:chOff x="9805536" y="3248637"/>
            <a:chExt cx="307268" cy="1046432"/>
          </a:xfrm>
        </p:grpSpPr>
        <p:sp>
          <p:nvSpPr>
            <p:cNvPr id="25622" name="Rectángulo 51"/>
            <p:cNvSpPr>
              <a:spLocks noChangeArrowheads="1"/>
            </p:cNvSpPr>
            <p:nvPr/>
          </p:nvSpPr>
          <p:spPr bwMode="auto">
            <a:xfrm>
              <a:off x="9805536" y="3490088"/>
              <a:ext cx="295148" cy="804981"/>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5623" name="TextBox 3"/>
            <p:cNvSpPr txBox="1">
              <a:spLocks noChangeArrowheads="1"/>
            </p:cNvSpPr>
            <p:nvPr/>
          </p:nvSpPr>
          <p:spPr bwMode="auto">
            <a:xfrm>
              <a:off x="9814425" y="3248637"/>
              <a:ext cx="298379" cy="30785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5" name="Agrupar 53"/>
          <p:cNvGrpSpPr>
            <a:grpSpLocks/>
          </p:cNvGrpSpPr>
          <p:nvPr/>
        </p:nvGrpSpPr>
        <p:grpSpPr bwMode="auto">
          <a:xfrm>
            <a:off x="4972840" y="3496866"/>
            <a:ext cx="282651" cy="1046160"/>
            <a:chOff x="9805543" y="3248637"/>
            <a:chExt cx="305526" cy="1046432"/>
          </a:xfrm>
        </p:grpSpPr>
        <p:sp>
          <p:nvSpPr>
            <p:cNvPr id="25620" name="Rectángulo 54"/>
            <p:cNvSpPr>
              <a:spLocks noChangeArrowheads="1"/>
            </p:cNvSpPr>
            <p:nvPr/>
          </p:nvSpPr>
          <p:spPr bwMode="auto">
            <a:xfrm>
              <a:off x="9805543" y="3490088"/>
              <a:ext cx="295148" cy="804981"/>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5621" name="TextBox 3"/>
            <p:cNvSpPr txBox="1">
              <a:spLocks noChangeArrowheads="1"/>
            </p:cNvSpPr>
            <p:nvPr/>
          </p:nvSpPr>
          <p:spPr bwMode="auto">
            <a:xfrm>
              <a:off x="9814425" y="3248637"/>
              <a:ext cx="296644" cy="30785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6" name="Agrupar 56"/>
          <p:cNvGrpSpPr>
            <a:grpSpLocks/>
          </p:cNvGrpSpPr>
          <p:nvPr/>
        </p:nvGrpSpPr>
        <p:grpSpPr bwMode="auto">
          <a:xfrm>
            <a:off x="5921711" y="3137634"/>
            <a:ext cx="282651" cy="1557339"/>
            <a:chOff x="9805543" y="3248637"/>
            <a:chExt cx="305526" cy="1557091"/>
          </a:xfrm>
        </p:grpSpPr>
        <p:sp>
          <p:nvSpPr>
            <p:cNvPr id="25618" name="Rectángulo 57"/>
            <p:cNvSpPr>
              <a:spLocks noChangeArrowheads="1"/>
            </p:cNvSpPr>
            <p:nvPr/>
          </p:nvSpPr>
          <p:spPr bwMode="auto">
            <a:xfrm>
              <a:off x="9805543" y="3490090"/>
              <a:ext cx="295148" cy="1315638"/>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5619" name="TextBox 3"/>
            <p:cNvSpPr txBox="1">
              <a:spLocks noChangeArrowheads="1"/>
            </p:cNvSpPr>
            <p:nvPr/>
          </p:nvSpPr>
          <p:spPr bwMode="auto">
            <a:xfrm>
              <a:off x="9814425" y="3248637"/>
              <a:ext cx="296644" cy="307728"/>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7" name="Agrupar 59"/>
          <p:cNvGrpSpPr>
            <a:grpSpLocks/>
          </p:cNvGrpSpPr>
          <p:nvPr/>
        </p:nvGrpSpPr>
        <p:grpSpPr bwMode="auto">
          <a:xfrm>
            <a:off x="7806074" y="3344496"/>
            <a:ext cx="282651" cy="1046160"/>
            <a:chOff x="9805543" y="3248637"/>
            <a:chExt cx="305526" cy="1046432"/>
          </a:xfrm>
        </p:grpSpPr>
        <p:sp>
          <p:nvSpPr>
            <p:cNvPr id="25616" name="Rectángulo 60"/>
            <p:cNvSpPr>
              <a:spLocks noChangeArrowheads="1"/>
            </p:cNvSpPr>
            <p:nvPr/>
          </p:nvSpPr>
          <p:spPr bwMode="auto">
            <a:xfrm>
              <a:off x="9805543" y="3490088"/>
              <a:ext cx="295148" cy="804981"/>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5617" name="TextBox 3"/>
            <p:cNvSpPr txBox="1">
              <a:spLocks noChangeArrowheads="1"/>
            </p:cNvSpPr>
            <p:nvPr/>
          </p:nvSpPr>
          <p:spPr bwMode="auto">
            <a:xfrm>
              <a:off x="9814425" y="3248637"/>
              <a:ext cx="296644" cy="30785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aphicFrame>
        <p:nvGraphicFramePr>
          <p:cNvPr id="29" name="28 Gráfico"/>
          <p:cNvGraphicFramePr/>
          <p:nvPr>
            <p:extLst>
              <p:ext uri="{D42A27DB-BD31-4B8C-83A1-F6EECF244321}">
                <p14:modId xmlns:p14="http://schemas.microsoft.com/office/powerpoint/2010/main" val="1896689422"/>
              </p:ext>
            </p:extLst>
          </p:nvPr>
        </p:nvGraphicFramePr>
        <p:xfrm>
          <a:off x="2031920" y="2780961"/>
          <a:ext cx="6480516"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26" name="Text Box 4">
            <a:extLst>
              <a:ext uri="{FF2B5EF4-FFF2-40B4-BE49-F238E27FC236}">
                <a16:creationId xmlns:a16="http://schemas.microsoft.com/office/drawing/2014/main" id="{2037A16C-43CC-4904-8642-5026834883FB}"/>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Box 4"/>
          <p:cNvSpPr txBox="1">
            <a:spLocks noChangeArrowheads="1"/>
          </p:cNvSpPr>
          <p:nvPr/>
        </p:nvSpPr>
        <p:spPr bwMode="auto">
          <a:xfrm>
            <a:off x="1181518" y="6404449"/>
            <a:ext cx="3177473" cy="246221"/>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sz="1000" b="0" dirty="0">
                <a:solidFill>
                  <a:schemeClr val="accent2">
                    <a:lumMod val="50000"/>
                  </a:schemeClr>
                </a:solidFill>
              </a:rPr>
              <a:t>Potter et al. Pediatr Allergy Immunol. 2013; 24(3) 144-50.</a:t>
            </a:r>
          </a:p>
        </p:txBody>
      </p:sp>
      <p:sp>
        <p:nvSpPr>
          <p:cNvPr id="26628" name="7 CuadroTexto"/>
          <p:cNvSpPr txBox="1">
            <a:spLocks noChangeArrowheads="1"/>
          </p:cNvSpPr>
          <p:nvPr/>
        </p:nvSpPr>
        <p:spPr bwMode="auto">
          <a:xfrm>
            <a:off x="1350587" y="536324"/>
            <a:ext cx="7456529" cy="95410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2800" dirty="0">
                <a:solidFill>
                  <a:schemeClr val="accent2">
                    <a:lumMod val="50000"/>
                  </a:schemeClr>
                </a:solidFill>
              </a:rPr>
              <a:t>Estudo de Fase III: Resultados globais em relação à QoL (II)</a:t>
            </a:r>
            <a:endParaRPr lang="pt-PT" altLang="es-ES" sz="2800" dirty="0">
              <a:solidFill>
                <a:schemeClr val="accent2">
                  <a:lumMod val="50000"/>
                </a:schemeClr>
              </a:solidFill>
              <a:ea typeface="ＭＳ Ｐゴシック" charset="-128"/>
            </a:endParaRPr>
          </a:p>
        </p:txBody>
      </p:sp>
      <p:sp>
        <p:nvSpPr>
          <p:cNvPr id="19" name="7 Rectángulo redondeado"/>
          <p:cNvSpPr/>
          <p:nvPr/>
        </p:nvSpPr>
        <p:spPr bwMode="auto">
          <a:xfrm>
            <a:off x="903706" y="1648131"/>
            <a:ext cx="7829550" cy="70485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eaLnBrk="1" hangingPunct="1">
              <a:buClr>
                <a:srgbClr val="000000"/>
              </a:buClr>
              <a:buSzPct val="100000"/>
              <a:buFont typeface="Calibri" pitchFamily="34" charset="0"/>
              <a:buNone/>
              <a:defRPr/>
            </a:pPr>
            <a:r>
              <a:rPr lang="pt-PT" altLang="es-ES" sz="2000" dirty="0">
                <a:solidFill>
                  <a:schemeClr val="accent2">
                    <a:lumMod val="50000"/>
                  </a:schemeClr>
                </a:solidFill>
              </a:rPr>
              <a:t>Resultados: </a:t>
            </a:r>
            <a:r>
              <a:rPr lang="pt-PT" altLang="es-ES" sz="2000" dirty="0" err="1">
                <a:solidFill>
                  <a:schemeClr val="accent2">
                    <a:lumMod val="50000"/>
                  </a:schemeClr>
                </a:solidFill>
              </a:rPr>
              <a:t>Rinialer</a:t>
            </a:r>
            <a:r>
              <a:rPr lang="pt-PT" altLang="es-ES" sz="2000" dirty="0">
                <a:solidFill>
                  <a:schemeClr val="accent2">
                    <a:lumMod val="50000"/>
                  </a:schemeClr>
                </a:solidFill>
              </a:rPr>
              <a:t> melhora a qualidade de vida</a:t>
            </a:r>
          </a:p>
          <a:p>
            <a:pPr algn="ctr" eaLnBrk="1" hangingPunct="1">
              <a:buClr>
                <a:srgbClr val="000000"/>
              </a:buClr>
              <a:buSzPct val="100000"/>
              <a:buFont typeface="Calibri" pitchFamily="34" charset="0"/>
              <a:buNone/>
              <a:defRPr/>
            </a:pPr>
            <a:r>
              <a:rPr lang="pt-PT" altLang="es-ES" sz="2000" dirty="0">
                <a:solidFill>
                  <a:schemeClr val="accent2">
                    <a:lumMod val="50000"/>
                  </a:schemeClr>
                </a:solidFill>
              </a:rPr>
              <a:t>às 6 semanas em crianças com RAP</a:t>
            </a:r>
          </a:p>
        </p:txBody>
      </p:sp>
      <p:sp>
        <p:nvSpPr>
          <p:cNvPr id="26630" name="TextBox 3"/>
          <p:cNvSpPr txBox="1">
            <a:spLocks noChangeArrowheads="1"/>
          </p:cNvSpPr>
          <p:nvPr/>
        </p:nvSpPr>
        <p:spPr bwMode="auto">
          <a:xfrm>
            <a:off x="903706" y="5619684"/>
            <a:ext cx="2777876"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&lt; 0,05; **</a:t>
            </a:r>
            <a:r>
              <a:rPr lang="pt-PT" altLang="es-ES" sz="1200" i="1" dirty="0">
                <a:solidFill>
                  <a:schemeClr val="accent2">
                    <a:lumMod val="50000"/>
                  </a:schemeClr>
                </a:solidFill>
              </a:rPr>
              <a:t>p </a:t>
            </a:r>
            <a:r>
              <a:rPr lang="pt-PT" altLang="es-ES" sz="1200" dirty="0">
                <a:solidFill>
                  <a:schemeClr val="accent2">
                    <a:lumMod val="50000"/>
                  </a:schemeClr>
                </a:solidFill>
              </a:rPr>
              <a:t>&lt; 0,01, </a:t>
            </a:r>
            <a:r>
              <a:rPr lang="pt-PT" altLang="es-ES" sz="1200" dirty="0" err="1">
                <a:solidFill>
                  <a:schemeClr val="accent2">
                    <a:lumMod val="50000"/>
                  </a:schemeClr>
                </a:solidFill>
              </a:rPr>
              <a:t>Rinialer</a:t>
            </a:r>
            <a:r>
              <a:rPr lang="pt-PT" altLang="es-ES" sz="1200" dirty="0">
                <a:solidFill>
                  <a:schemeClr val="accent2">
                    <a:lumMod val="50000"/>
                  </a:schemeClr>
                </a:solidFill>
              </a:rPr>
              <a:t> vs placebo</a:t>
            </a:r>
          </a:p>
        </p:txBody>
      </p:sp>
      <p:grpSp>
        <p:nvGrpSpPr>
          <p:cNvPr id="2" name="Group 9"/>
          <p:cNvGrpSpPr>
            <a:grpSpLocks/>
          </p:cNvGrpSpPr>
          <p:nvPr/>
        </p:nvGrpSpPr>
        <p:grpSpPr bwMode="auto">
          <a:xfrm>
            <a:off x="1181519" y="2576447"/>
            <a:ext cx="412750" cy="2592387"/>
            <a:chOff x="578" y="1570"/>
            <a:chExt cx="260" cy="1633"/>
          </a:xfrm>
        </p:grpSpPr>
        <p:sp>
          <p:nvSpPr>
            <p:cNvPr id="26641"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7"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grpSp>
      <p:grpSp>
        <p:nvGrpSpPr>
          <p:cNvPr id="3" name="Agrupar 15"/>
          <p:cNvGrpSpPr>
            <a:grpSpLocks/>
          </p:cNvGrpSpPr>
          <p:nvPr/>
        </p:nvGrpSpPr>
        <p:grpSpPr bwMode="auto">
          <a:xfrm>
            <a:off x="3078753" y="3304059"/>
            <a:ext cx="282651" cy="1047750"/>
            <a:chOff x="9805543" y="3248637"/>
            <a:chExt cx="305526" cy="1046436"/>
          </a:xfrm>
        </p:grpSpPr>
        <p:sp>
          <p:nvSpPr>
            <p:cNvPr id="26639" name="Rectángulo 16"/>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6640" name="TextBox 3"/>
            <p:cNvSpPr txBox="1">
              <a:spLocks noChangeArrowheads="1"/>
            </p:cNvSpPr>
            <p:nvPr/>
          </p:nvSpPr>
          <p:spPr bwMode="auto">
            <a:xfrm>
              <a:off x="9814425" y="3248637"/>
              <a:ext cx="296644" cy="307391"/>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4" name="Agrupar 20"/>
          <p:cNvGrpSpPr>
            <a:grpSpLocks/>
          </p:cNvGrpSpPr>
          <p:nvPr/>
        </p:nvGrpSpPr>
        <p:grpSpPr bwMode="auto">
          <a:xfrm>
            <a:off x="3954613" y="2826001"/>
            <a:ext cx="363537" cy="1046162"/>
            <a:chOff x="9755097" y="3248637"/>
            <a:chExt cx="393377" cy="1046436"/>
          </a:xfrm>
        </p:grpSpPr>
        <p:sp>
          <p:nvSpPr>
            <p:cNvPr id="26637" name="Rectángulo 22"/>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6638" name="TextBox 3"/>
            <p:cNvSpPr txBox="1">
              <a:spLocks noChangeArrowheads="1"/>
            </p:cNvSpPr>
            <p:nvPr/>
          </p:nvSpPr>
          <p:spPr bwMode="auto">
            <a:xfrm>
              <a:off x="9755097" y="3248637"/>
              <a:ext cx="393377"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aphicFrame>
        <p:nvGraphicFramePr>
          <p:cNvPr id="20" name="19 Gráfico"/>
          <p:cNvGraphicFramePr/>
          <p:nvPr>
            <p:extLst>
              <p:ext uri="{D42A27DB-BD31-4B8C-83A1-F6EECF244321}">
                <p14:modId xmlns:p14="http://schemas.microsoft.com/office/powerpoint/2010/main" val="1375207662"/>
              </p:ext>
            </p:extLst>
          </p:nvPr>
        </p:nvGraphicFramePr>
        <p:xfrm>
          <a:off x="1983794" y="2703960"/>
          <a:ext cx="6480516"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Box 4">
            <a:extLst>
              <a:ext uri="{FF2B5EF4-FFF2-40B4-BE49-F238E27FC236}">
                <a16:creationId xmlns:a16="http://schemas.microsoft.com/office/drawing/2014/main" id="{74A26E5E-A517-4B91-B6E3-75B45AD16C2B}"/>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TextBox 4"/>
          <p:cNvSpPr txBox="1">
            <a:spLocks noChangeArrowheads="1"/>
          </p:cNvSpPr>
          <p:nvPr/>
        </p:nvSpPr>
        <p:spPr bwMode="auto">
          <a:xfrm>
            <a:off x="1072948" y="6434852"/>
            <a:ext cx="2587568"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Potter P. et al. Allergy 2013; 68 (Suppl 97):275</a:t>
            </a:r>
          </a:p>
        </p:txBody>
      </p:sp>
      <p:sp>
        <p:nvSpPr>
          <p:cNvPr id="27652" name="7 CuadroTexto"/>
          <p:cNvSpPr txBox="1">
            <a:spLocks noChangeArrowheads="1"/>
          </p:cNvSpPr>
          <p:nvPr/>
        </p:nvSpPr>
        <p:spPr bwMode="auto">
          <a:xfrm>
            <a:off x="1442827" y="479425"/>
            <a:ext cx="6950403" cy="95410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2800" dirty="0">
                <a:solidFill>
                  <a:schemeClr val="accent2">
                    <a:lumMod val="50000"/>
                  </a:schemeClr>
                </a:solidFill>
              </a:rPr>
              <a:t>Estudo de Fase III: Sub-análise dos resultados de QoL (I)</a:t>
            </a:r>
            <a:endParaRPr lang="pt-PT" altLang="es-ES" sz="2800" dirty="0">
              <a:solidFill>
                <a:schemeClr val="accent2">
                  <a:lumMod val="50000"/>
                </a:schemeClr>
              </a:solidFill>
              <a:ea typeface="ＭＳ Ｐゴシック" charset="-128"/>
            </a:endParaRPr>
          </a:p>
        </p:txBody>
      </p:sp>
      <p:sp>
        <p:nvSpPr>
          <p:cNvPr id="19" name="7 Rectángulo redondeado"/>
          <p:cNvSpPr/>
          <p:nvPr/>
        </p:nvSpPr>
        <p:spPr bwMode="auto">
          <a:xfrm>
            <a:off x="1260908" y="1629589"/>
            <a:ext cx="7598727" cy="70485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eaLnBrk="1" hangingPunct="1">
              <a:buClr>
                <a:srgbClr val="000000"/>
              </a:buClr>
              <a:buSzPct val="100000"/>
            </a:pPr>
            <a:r>
              <a:rPr lang="pt-PT" altLang="es-ES" sz="2000" dirty="0" err="1">
                <a:solidFill>
                  <a:schemeClr val="accent2">
                    <a:lumMod val="50000"/>
                  </a:schemeClr>
                </a:solidFill>
              </a:rPr>
              <a:t>Rinialer</a:t>
            </a:r>
            <a:r>
              <a:rPr lang="pt-PT" altLang="es-ES" sz="2000" dirty="0">
                <a:solidFill>
                  <a:schemeClr val="accent2">
                    <a:lumMod val="50000"/>
                  </a:schemeClr>
                </a:solidFill>
              </a:rPr>
              <a:t> melhora a QoL em todos os</a:t>
            </a:r>
            <a:r>
              <a:rPr lang="pt-PT" sz="2000" dirty="0">
                <a:solidFill>
                  <a:schemeClr val="accent2">
                    <a:lumMod val="50000"/>
                  </a:schemeClr>
                </a:solidFill>
              </a:rPr>
              <a:t> </a:t>
            </a:r>
            <a:r>
              <a:rPr lang="pt-PT" altLang="es-ES" sz="2000" dirty="0">
                <a:solidFill>
                  <a:schemeClr val="accent2">
                    <a:lumMod val="50000"/>
                  </a:schemeClr>
                </a:solidFill>
              </a:rPr>
              <a:t>domínios</a:t>
            </a:r>
            <a:r>
              <a:rPr lang="pt-PT" sz="2000" dirty="0">
                <a:solidFill>
                  <a:schemeClr val="accent2">
                    <a:lumMod val="50000"/>
                  </a:schemeClr>
                </a:solidFill>
              </a:rPr>
              <a:t> </a:t>
            </a:r>
            <a:r>
              <a:rPr lang="pt-PT" altLang="es-ES" sz="2000" dirty="0">
                <a:solidFill>
                  <a:schemeClr val="accent2">
                    <a:lumMod val="50000"/>
                  </a:schemeClr>
                </a:solidFill>
              </a:rPr>
              <a:t>às 4 semanas</a:t>
            </a:r>
            <a:br>
              <a:rPr lang="pt-PT" altLang="es-ES" sz="2000" dirty="0">
                <a:solidFill>
                  <a:schemeClr val="accent2">
                    <a:lumMod val="50000"/>
                  </a:schemeClr>
                </a:solidFill>
              </a:rPr>
            </a:br>
            <a:r>
              <a:rPr lang="pt-PT" altLang="es-ES" sz="2000" dirty="0">
                <a:solidFill>
                  <a:schemeClr val="accent2">
                    <a:lumMod val="50000"/>
                  </a:schemeClr>
                </a:solidFill>
              </a:rPr>
              <a:t>em crianças com peso  ≥ 25 kg</a:t>
            </a:r>
          </a:p>
        </p:txBody>
      </p:sp>
      <p:sp>
        <p:nvSpPr>
          <p:cNvPr id="27654" name="TextBox 3"/>
          <p:cNvSpPr txBox="1">
            <a:spLocks noChangeArrowheads="1"/>
          </p:cNvSpPr>
          <p:nvPr/>
        </p:nvSpPr>
        <p:spPr bwMode="auto">
          <a:xfrm>
            <a:off x="1072948" y="5736451"/>
            <a:ext cx="2777876"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&lt; 0,05; **</a:t>
            </a:r>
            <a:r>
              <a:rPr lang="pt-PT" altLang="es-ES" sz="1200" i="1" dirty="0">
                <a:solidFill>
                  <a:schemeClr val="accent2">
                    <a:lumMod val="50000"/>
                  </a:schemeClr>
                </a:solidFill>
              </a:rPr>
              <a:t>p </a:t>
            </a:r>
            <a:r>
              <a:rPr lang="pt-PT" altLang="es-ES" sz="1200" dirty="0">
                <a:solidFill>
                  <a:schemeClr val="accent2">
                    <a:lumMod val="50000"/>
                  </a:schemeClr>
                </a:solidFill>
              </a:rPr>
              <a:t>&lt; 0,01, </a:t>
            </a:r>
            <a:r>
              <a:rPr lang="pt-PT" altLang="es-ES" sz="1200" dirty="0" err="1">
                <a:solidFill>
                  <a:schemeClr val="accent2">
                    <a:lumMod val="50000"/>
                  </a:schemeClr>
                </a:solidFill>
              </a:rPr>
              <a:t>Rinialer</a:t>
            </a:r>
            <a:r>
              <a:rPr lang="pt-PT" altLang="es-ES" sz="1200" dirty="0">
                <a:solidFill>
                  <a:schemeClr val="accent2">
                    <a:lumMod val="50000"/>
                  </a:schemeClr>
                </a:solidFill>
              </a:rPr>
              <a:t> vs placebo</a:t>
            </a:r>
          </a:p>
        </p:txBody>
      </p:sp>
      <p:grpSp>
        <p:nvGrpSpPr>
          <p:cNvPr id="2" name="Group 9"/>
          <p:cNvGrpSpPr>
            <a:grpSpLocks/>
          </p:cNvGrpSpPr>
          <p:nvPr/>
        </p:nvGrpSpPr>
        <p:grpSpPr bwMode="auto">
          <a:xfrm>
            <a:off x="1569836" y="2693214"/>
            <a:ext cx="412750" cy="2592387"/>
            <a:chOff x="716" y="1570"/>
            <a:chExt cx="260" cy="1633"/>
          </a:xfrm>
        </p:grpSpPr>
        <p:sp>
          <p:nvSpPr>
            <p:cNvPr id="27677" name="Line 7"/>
            <p:cNvSpPr>
              <a:spLocks noChangeShapeType="1"/>
            </p:cNvSpPr>
            <p:nvPr/>
          </p:nvSpPr>
          <p:spPr bwMode="auto">
            <a:xfrm>
              <a:off x="976"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7" name="Text Box 8"/>
            <p:cNvSpPr txBox="1">
              <a:spLocks noChangeArrowheads="1"/>
            </p:cNvSpPr>
            <p:nvPr/>
          </p:nvSpPr>
          <p:spPr bwMode="auto">
            <a:xfrm rot="16200000">
              <a:off x="266"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grpSp>
      <p:grpSp>
        <p:nvGrpSpPr>
          <p:cNvPr id="3" name="Agrupar 53"/>
          <p:cNvGrpSpPr>
            <a:grpSpLocks/>
          </p:cNvGrpSpPr>
          <p:nvPr/>
        </p:nvGrpSpPr>
        <p:grpSpPr bwMode="auto">
          <a:xfrm>
            <a:off x="4171294" y="2793000"/>
            <a:ext cx="282651" cy="1046162"/>
            <a:chOff x="9805543" y="3248637"/>
            <a:chExt cx="305526" cy="1046436"/>
          </a:xfrm>
        </p:grpSpPr>
        <p:sp>
          <p:nvSpPr>
            <p:cNvPr id="27675" name="Rectángulo 54"/>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7676" name="TextBox 3"/>
            <p:cNvSpPr txBox="1">
              <a:spLocks noChangeArrowheads="1"/>
            </p:cNvSpPr>
            <p:nvPr/>
          </p:nvSpPr>
          <p:spPr bwMode="auto">
            <a:xfrm>
              <a:off x="9814425" y="3248637"/>
              <a:ext cx="296644" cy="307858"/>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4" name="Agrupar 1"/>
          <p:cNvGrpSpPr>
            <a:grpSpLocks/>
          </p:cNvGrpSpPr>
          <p:nvPr/>
        </p:nvGrpSpPr>
        <p:grpSpPr bwMode="auto">
          <a:xfrm>
            <a:off x="3182283" y="3289205"/>
            <a:ext cx="363537" cy="988110"/>
            <a:chOff x="9760914" y="3306705"/>
            <a:chExt cx="393377" cy="988368"/>
          </a:xfrm>
        </p:grpSpPr>
        <p:sp>
          <p:nvSpPr>
            <p:cNvPr id="27673" name="Rectángulo 34"/>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7674" name="TextBox 3"/>
            <p:cNvSpPr txBox="1">
              <a:spLocks noChangeArrowheads="1"/>
            </p:cNvSpPr>
            <p:nvPr/>
          </p:nvSpPr>
          <p:spPr bwMode="auto">
            <a:xfrm>
              <a:off x="9760914" y="3306705"/>
              <a:ext cx="393377" cy="307776"/>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5" name="Agrupar 50"/>
          <p:cNvGrpSpPr>
            <a:grpSpLocks/>
          </p:cNvGrpSpPr>
          <p:nvPr/>
        </p:nvGrpSpPr>
        <p:grpSpPr bwMode="auto">
          <a:xfrm>
            <a:off x="5107242" y="3579266"/>
            <a:ext cx="282603" cy="1046163"/>
            <a:chOff x="9805543" y="3248637"/>
            <a:chExt cx="307261" cy="1046436"/>
          </a:xfrm>
        </p:grpSpPr>
        <p:sp>
          <p:nvSpPr>
            <p:cNvPr id="27671" name="Rectángulo 51"/>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7672" name="TextBox 3"/>
            <p:cNvSpPr txBox="1">
              <a:spLocks noChangeArrowheads="1"/>
            </p:cNvSpPr>
            <p:nvPr/>
          </p:nvSpPr>
          <p:spPr bwMode="auto">
            <a:xfrm>
              <a:off x="9814425" y="3248637"/>
              <a:ext cx="298379" cy="30785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6" name="Agrupar 56"/>
          <p:cNvGrpSpPr>
            <a:grpSpLocks/>
          </p:cNvGrpSpPr>
          <p:nvPr/>
        </p:nvGrpSpPr>
        <p:grpSpPr bwMode="auto">
          <a:xfrm>
            <a:off x="6034566" y="3204615"/>
            <a:ext cx="282651" cy="1557338"/>
            <a:chOff x="9805543" y="3248637"/>
            <a:chExt cx="305526" cy="1557090"/>
          </a:xfrm>
        </p:grpSpPr>
        <p:sp>
          <p:nvSpPr>
            <p:cNvPr id="27669" name="Rectángulo 57"/>
            <p:cNvSpPr>
              <a:spLocks noChangeArrowheads="1"/>
            </p:cNvSpPr>
            <p:nvPr/>
          </p:nvSpPr>
          <p:spPr bwMode="auto">
            <a:xfrm>
              <a:off x="9805543" y="3490090"/>
              <a:ext cx="295148" cy="1315637"/>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7670" name="TextBox 3"/>
            <p:cNvSpPr txBox="1">
              <a:spLocks noChangeArrowheads="1"/>
            </p:cNvSpPr>
            <p:nvPr/>
          </p:nvSpPr>
          <p:spPr bwMode="auto">
            <a:xfrm>
              <a:off x="9814425" y="3248637"/>
              <a:ext cx="296644" cy="307728"/>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7" name="Agrupar 59"/>
          <p:cNvGrpSpPr>
            <a:grpSpLocks/>
          </p:cNvGrpSpPr>
          <p:nvPr/>
        </p:nvGrpSpPr>
        <p:grpSpPr bwMode="auto">
          <a:xfrm>
            <a:off x="7842276" y="3257683"/>
            <a:ext cx="363537" cy="1046163"/>
            <a:chOff x="9754777" y="3248637"/>
            <a:chExt cx="393377" cy="1046436"/>
          </a:xfrm>
        </p:grpSpPr>
        <p:sp>
          <p:nvSpPr>
            <p:cNvPr id="27667" name="Rectángulo 60"/>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7668" name="TextBox 3"/>
            <p:cNvSpPr txBox="1">
              <a:spLocks noChangeArrowheads="1"/>
            </p:cNvSpPr>
            <p:nvPr/>
          </p:nvSpPr>
          <p:spPr bwMode="auto">
            <a:xfrm>
              <a:off x="9754777" y="3248637"/>
              <a:ext cx="393377"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8" name="Agrupar 29"/>
          <p:cNvGrpSpPr>
            <a:grpSpLocks/>
          </p:cNvGrpSpPr>
          <p:nvPr/>
        </p:nvGrpSpPr>
        <p:grpSpPr bwMode="auto">
          <a:xfrm>
            <a:off x="6951011" y="3324132"/>
            <a:ext cx="282603" cy="1557337"/>
            <a:chOff x="9805543" y="3248637"/>
            <a:chExt cx="307261" cy="1557090"/>
          </a:xfrm>
        </p:grpSpPr>
        <p:sp>
          <p:nvSpPr>
            <p:cNvPr id="27665" name="Rectángulo 30"/>
            <p:cNvSpPr>
              <a:spLocks noChangeArrowheads="1"/>
            </p:cNvSpPr>
            <p:nvPr/>
          </p:nvSpPr>
          <p:spPr bwMode="auto">
            <a:xfrm>
              <a:off x="9805543" y="3490090"/>
              <a:ext cx="295148" cy="1315637"/>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7666" name="TextBox 3"/>
            <p:cNvSpPr txBox="1">
              <a:spLocks noChangeArrowheads="1"/>
            </p:cNvSpPr>
            <p:nvPr/>
          </p:nvSpPr>
          <p:spPr bwMode="auto">
            <a:xfrm>
              <a:off x="9814425" y="3248637"/>
              <a:ext cx="298379" cy="307728"/>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aphicFrame>
        <p:nvGraphicFramePr>
          <p:cNvPr id="32" name="31 Gráfico"/>
          <p:cNvGraphicFramePr/>
          <p:nvPr>
            <p:extLst>
              <p:ext uri="{D42A27DB-BD31-4B8C-83A1-F6EECF244321}">
                <p14:modId xmlns:p14="http://schemas.microsoft.com/office/powerpoint/2010/main" val="3638930086"/>
              </p:ext>
            </p:extLst>
          </p:nvPr>
        </p:nvGraphicFramePr>
        <p:xfrm>
          <a:off x="2153036" y="2820727"/>
          <a:ext cx="6480516"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 Box 4">
            <a:extLst>
              <a:ext uri="{FF2B5EF4-FFF2-40B4-BE49-F238E27FC236}">
                <a16:creationId xmlns:a16="http://schemas.microsoft.com/office/drawing/2014/main" id="{07DA6CB9-8086-4AA1-8283-CFCD3FC07C9E}"/>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7 CuadroTexto"/>
          <p:cNvSpPr txBox="1">
            <a:spLocks noChangeArrowheads="1"/>
          </p:cNvSpPr>
          <p:nvPr/>
        </p:nvSpPr>
        <p:spPr bwMode="auto">
          <a:xfrm>
            <a:off x="1392473" y="442011"/>
            <a:ext cx="7288295" cy="95410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2800" dirty="0">
                <a:solidFill>
                  <a:schemeClr val="accent2">
                    <a:lumMod val="50000"/>
                  </a:schemeClr>
                </a:solidFill>
              </a:rPr>
              <a:t>Estudo de Fase III: Sub-análise dos resultados de QoL (II)</a:t>
            </a:r>
            <a:endParaRPr lang="pt-PT" altLang="es-ES" sz="2800" dirty="0">
              <a:solidFill>
                <a:schemeClr val="accent2">
                  <a:lumMod val="50000"/>
                </a:schemeClr>
              </a:solidFill>
              <a:ea typeface="ＭＳ Ｐゴシック" charset="-128"/>
            </a:endParaRPr>
          </a:p>
        </p:txBody>
      </p:sp>
      <p:sp>
        <p:nvSpPr>
          <p:cNvPr id="19" name="7 Rectángulo redondeado"/>
          <p:cNvSpPr/>
          <p:nvPr/>
        </p:nvSpPr>
        <p:spPr bwMode="auto">
          <a:xfrm>
            <a:off x="851218" y="1664853"/>
            <a:ext cx="7829550" cy="70485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eaLnBrk="1" hangingPunct="1">
              <a:lnSpc>
                <a:spcPct val="80000"/>
              </a:lnSpc>
              <a:buClr>
                <a:srgbClr val="000000"/>
              </a:buClr>
              <a:buSzPct val="100000"/>
              <a:buFont typeface="Calibri" pitchFamily="34"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pt-PT" sz="2000" dirty="0" err="1">
                <a:solidFill>
                  <a:schemeClr val="accent2">
                    <a:lumMod val="50000"/>
                  </a:schemeClr>
                </a:solidFill>
              </a:rPr>
              <a:t>Rinialer</a:t>
            </a:r>
            <a:r>
              <a:rPr lang="pt-PT" sz="2000" dirty="0">
                <a:solidFill>
                  <a:schemeClr val="accent2">
                    <a:lumMod val="50000"/>
                  </a:schemeClr>
                </a:solidFill>
              </a:rPr>
              <a:t> melhora a </a:t>
            </a:r>
            <a:r>
              <a:rPr lang="pt-PT" sz="2000" dirty="0" err="1">
                <a:solidFill>
                  <a:schemeClr val="accent2">
                    <a:lumMod val="50000"/>
                  </a:schemeClr>
                </a:solidFill>
              </a:rPr>
              <a:t>QoL</a:t>
            </a:r>
            <a:r>
              <a:rPr lang="pt-PT" sz="2000" dirty="0">
                <a:solidFill>
                  <a:schemeClr val="accent2">
                    <a:lumMod val="50000"/>
                  </a:schemeClr>
                </a:solidFill>
              </a:rPr>
              <a:t> às 6 semanas em crianças com peso ≥ 25 kg</a:t>
            </a:r>
          </a:p>
        </p:txBody>
      </p:sp>
      <p:sp>
        <p:nvSpPr>
          <p:cNvPr id="28678" name="TextBox 3"/>
          <p:cNvSpPr txBox="1">
            <a:spLocks noChangeArrowheads="1"/>
          </p:cNvSpPr>
          <p:nvPr/>
        </p:nvSpPr>
        <p:spPr bwMode="auto">
          <a:xfrm>
            <a:off x="937284" y="5556738"/>
            <a:ext cx="2777876" cy="276999"/>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&lt; 0,05; **</a:t>
            </a:r>
            <a:r>
              <a:rPr lang="pt-PT" altLang="es-ES" sz="1200" i="1" dirty="0">
                <a:solidFill>
                  <a:schemeClr val="accent2">
                    <a:lumMod val="50000"/>
                  </a:schemeClr>
                </a:solidFill>
              </a:rPr>
              <a:t>p </a:t>
            </a:r>
            <a:r>
              <a:rPr lang="pt-PT" altLang="es-ES" sz="1200" dirty="0">
                <a:solidFill>
                  <a:schemeClr val="accent2">
                    <a:lumMod val="50000"/>
                  </a:schemeClr>
                </a:solidFill>
              </a:rPr>
              <a:t>&lt; 0,01, </a:t>
            </a:r>
            <a:r>
              <a:rPr lang="pt-PT" altLang="es-ES" sz="1200" dirty="0" err="1">
                <a:solidFill>
                  <a:schemeClr val="accent2">
                    <a:lumMod val="50000"/>
                  </a:schemeClr>
                </a:solidFill>
              </a:rPr>
              <a:t>Rinialer</a:t>
            </a:r>
            <a:r>
              <a:rPr lang="pt-PT" altLang="es-ES" sz="1200" dirty="0">
                <a:solidFill>
                  <a:schemeClr val="accent2">
                    <a:lumMod val="50000"/>
                  </a:schemeClr>
                </a:solidFill>
              </a:rPr>
              <a:t> vs placebo</a:t>
            </a:r>
          </a:p>
        </p:txBody>
      </p:sp>
      <p:grpSp>
        <p:nvGrpSpPr>
          <p:cNvPr id="2" name="Group 9"/>
          <p:cNvGrpSpPr>
            <a:grpSpLocks/>
          </p:cNvGrpSpPr>
          <p:nvPr/>
        </p:nvGrpSpPr>
        <p:grpSpPr bwMode="auto">
          <a:xfrm>
            <a:off x="1510372" y="2542076"/>
            <a:ext cx="412750" cy="2592387"/>
            <a:chOff x="764" y="1588"/>
            <a:chExt cx="260" cy="1633"/>
          </a:xfrm>
        </p:grpSpPr>
        <p:sp>
          <p:nvSpPr>
            <p:cNvPr id="28693" name="Line 7"/>
            <p:cNvSpPr>
              <a:spLocks noChangeShapeType="1"/>
            </p:cNvSpPr>
            <p:nvPr/>
          </p:nvSpPr>
          <p:spPr bwMode="auto">
            <a:xfrm>
              <a:off x="1024" y="1588"/>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7" name="Text Box 8"/>
            <p:cNvSpPr txBox="1">
              <a:spLocks noChangeArrowheads="1"/>
            </p:cNvSpPr>
            <p:nvPr/>
          </p:nvSpPr>
          <p:spPr bwMode="auto">
            <a:xfrm rot="16200000">
              <a:off x="314" y="2265"/>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grpSp>
      <p:grpSp>
        <p:nvGrpSpPr>
          <p:cNvPr id="3" name="Agrupar 1"/>
          <p:cNvGrpSpPr>
            <a:grpSpLocks/>
          </p:cNvGrpSpPr>
          <p:nvPr/>
        </p:nvGrpSpPr>
        <p:grpSpPr bwMode="auto">
          <a:xfrm>
            <a:off x="3095150" y="3231958"/>
            <a:ext cx="274638" cy="1047750"/>
            <a:chOff x="9804537" y="3248637"/>
            <a:chExt cx="296610" cy="1046436"/>
          </a:xfrm>
        </p:grpSpPr>
        <p:sp>
          <p:nvSpPr>
            <p:cNvPr id="28691" name="Rectángulo 34"/>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8692" name="TextBox 3"/>
            <p:cNvSpPr txBox="1">
              <a:spLocks noChangeArrowheads="1"/>
            </p:cNvSpPr>
            <p:nvPr/>
          </p:nvSpPr>
          <p:spPr bwMode="auto">
            <a:xfrm>
              <a:off x="9804537" y="3248637"/>
              <a:ext cx="296610"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pSp>
        <p:nvGrpSpPr>
          <p:cNvPr id="4" name="Agrupar 50"/>
          <p:cNvGrpSpPr>
            <a:grpSpLocks/>
          </p:cNvGrpSpPr>
          <p:nvPr/>
        </p:nvGrpSpPr>
        <p:grpSpPr bwMode="auto">
          <a:xfrm>
            <a:off x="3988005" y="2716497"/>
            <a:ext cx="363537" cy="1003961"/>
            <a:chOff x="9754777" y="3290851"/>
            <a:chExt cx="393377" cy="1004222"/>
          </a:xfrm>
        </p:grpSpPr>
        <p:sp>
          <p:nvSpPr>
            <p:cNvPr id="28689" name="Rectángulo 51"/>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8690" name="TextBox 3"/>
            <p:cNvSpPr txBox="1">
              <a:spLocks noChangeArrowheads="1"/>
            </p:cNvSpPr>
            <p:nvPr/>
          </p:nvSpPr>
          <p:spPr bwMode="auto">
            <a:xfrm>
              <a:off x="9754777" y="3290851"/>
              <a:ext cx="393377"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sp>
        <p:nvSpPr>
          <p:cNvPr id="28684" name="Rectángulo 57"/>
          <p:cNvSpPr>
            <a:spLocks noChangeArrowheads="1"/>
          </p:cNvSpPr>
          <p:nvPr/>
        </p:nvSpPr>
        <p:spPr bwMode="auto">
          <a:xfrm>
            <a:off x="5891872" y="3377781"/>
            <a:ext cx="273050" cy="1314450"/>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grpSp>
        <p:nvGrpSpPr>
          <p:cNvPr id="5" name="Agrupar 59"/>
          <p:cNvGrpSpPr>
            <a:grpSpLocks/>
          </p:cNvGrpSpPr>
          <p:nvPr/>
        </p:nvGrpSpPr>
        <p:grpSpPr bwMode="auto">
          <a:xfrm>
            <a:off x="7758545" y="3392069"/>
            <a:ext cx="276225" cy="1046162"/>
            <a:chOff x="9803161" y="3248637"/>
            <a:chExt cx="297530" cy="1046436"/>
          </a:xfrm>
        </p:grpSpPr>
        <p:sp>
          <p:nvSpPr>
            <p:cNvPr id="28687" name="Rectángulo 60"/>
            <p:cNvSpPr>
              <a:spLocks noChangeArrowheads="1"/>
            </p:cNvSpPr>
            <p:nvPr/>
          </p:nvSpPr>
          <p:spPr bwMode="auto">
            <a:xfrm>
              <a:off x="9805543" y="3490091"/>
              <a:ext cx="295148" cy="804982"/>
            </a:xfrm>
            <a:prstGeom prst="rect">
              <a:avLst/>
            </a:prstGeom>
            <a:noFill/>
            <a:ln w="9525">
              <a:solidFill>
                <a:srgbClr val="333399"/>
              </a:solidFill>
              <a:round/>
              <a:headEnd/>
              <a:tailEnd/>
            </a:ln>
          </p:spPr>
          <p:txBody>
            <a:bodyPr/>
            <a:lstStyle/>
            <a:p>
              <a:pPr algn="ctr" eaLnBrk="1" hangingPunct="1">
                <a:spcBef>
                  <a:spcPts val="550"/>
                </a:spcBef>
                <a:buClr>
                  <a:srgbClr val="000000"/>
                </a:buClr>
                <a:buSzPct val="100000"/>
                <a:buFont typeface="Times New Roman" pitchFamily="18" charset="0"/>
                <a:buNone/>
              </a:pPr>
              <a:endParaRPr lang="es-ES" sz="2600" u="sng">
                <a:solidFill>
                  <a:schemeClr val="accent2">
                    <a:lumMod val="50000"/>
                  </a:schemeClr>
                </a:solidFill>
                <a:ea typeface="ＭＳ Ｐゴシック" charset="-128"/>
              </a:endParaRPr>
            </a:p>
          </p:txBody>
        </p:sp>
        <p:sp>
          <p:nvSpPr>
            <p:cNvPr id="28688" name="TextBox 3"/>
            <p:cNvSpPr txBox="1">
              <a:spLocks noChangeArrowheads="1"/>
            </p:cNvSpPr>
            <p:nvPr/>
          </p:nvSpPr>
          <p:spPr bwMode="auto">
            <a:xfrm>
              <a:off x="9803161" y="3248637"/>
              <a:ext cx="296610" cy="307777"/>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400" b="0">
                  <a:solidFill>
                    <a:schemeClr val="accent2">
                      <a:lumMod val="50000"/>
                    </a:schemeClr>
                  </a:solidFill>
                </a:rPr>
                <a:t>*</a:t>
              </a:r>
            </a:p>
          </p:txBody>
        </p:sp>
      </p:grpSp>
      <p:graphicFrame>
        <p:nvGraphicFramePr>
          <p:cNvPr id="24" name="23 Gráfico"/>
          <p:cNvGraphicFramePr/>
          <p:nvPr>
            <p:extLst>
              <p:ext uri="{D42A27DB-BD31-4B8C-83A1-F6EECF244321}">
                <p14:modId xmlns:p14="http://schemas.microsoft.com/office/powerpoint/2010/main" val="804229592"/>
              </p:ext>
            </p:extLst>
          </p:nvPr>
        </p:nvGraphicFramePr>
        <p:xfrm>
          <a:off x="2017372" y="2641014"/>
          <a:ext cx="6480516" cy="2985086"/>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4"/>
          <p:cNvSpPr txBox="1">
            <a:spLocks noChangeArrowheads="1"/>
          </p:cNvSpPr>
          <p:nvPr/>
        </p:nvSpPr>
        <p:spPr bwMode="auto">
          <a:xfrm>
            <a:off x="1215096" y="6405563"/>
            <a:ext cx="2587568"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Potter P. et al. Allergy 2013; 68 (Suppl 97):275</a:t>
            </a:r>
          </a:p>
        </p:txBody>
      </p:sp>
      <p:sp>
        <p:nvSpPr>
          <p:cNvPr id="22" name="Text Box 4">
            <a:extLst>
              <a:ext uri="{FF2B5EF4-FFF2-40B4-BE49-F238E27FC236}">
                <a16:creationId xmlns:a16="http://schemas.microsoft.com/office/drawing/2014/main" id="{1CD1CD3C-6FEF-492C-AFAA-405E852FBC70}"/>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629968" y="1801269"/>
            <a:ext cx="8345607" cy="4832092"/>
          </a:xfrm>
        </p:spPr>
        <p:txBody>
          <a:bodyPr/>
          <a:lstStyle/>
          <a:p>
            <a:pPr>
              <a:spcAft>
                <a:spcPct val="50000"/>
              </a:spcAft>
            </a:pPr>
            <a:r>
              <a:rPr lang="pt-PT" altLang="es-ES" sz="2400" b="1" dirty="0"/>
              <a:t>Primeira evidência clínica</a:t>
            </a:r>
            <a:r>
              <a:rPr lang="pt-PT" dirty="0"/>
              <a:t> </a:t>
            </a:r>
            <a:r>
              <a:rPr lang="pt-PT" altLang="es-ES" sz="2400" dirty="0"/>
              <a:t>a partir de um estudo de grande escala de um antagonista do receptor H</a:t>
            </a:r>
            <a:r>
              <a:rPr lang="pt-PT" altLang="es-ES" sz="2400" baseline="-25000" dirty="0"/>
              <a:t>1</a:t>
            </a:r>
            <a:r>
              <a:rPr lang="pt-PT" altLang="es-ES" sz="2400" dirty="0"/>
              <a:t> em crianças (entre os 6 e os 11 anos de idade) sofrendo de </a:t>
            </a:r>
            <a:r>
              <a:rPr lang="pt-PT" altLang="es-ES" sz="2400" b="1" dirty="0"/>
              <a:t>rinite alérgica perene.</a:t>
            </a:r>
            <a:endParaRPr lang="pt-PT" altLang="es-ES" sz="2400" dirty="0"/>
          </a:p>
          <a:p>
            <a:pPr>
              <a:spcAft>
                <a:spcPct val="50000"/>
              </a:spcAft>
            </a:pPr>
            <a:r>
              <a:rPr lang="pt-PT" altLang="es-ES" sz="2400" b="1" dirty="0" err="1"/>
              <a:t>Rinialer</a:t>
            </a:r>
            <a:r>
              <a:rPr lang="pt-PT" altLang="es-ES" sz="2400" b="1" dirty="0"/>
              <a:t> solução oral </a:t>
            </a:r>
            <a:r>
              <a:rPr lang="pt-PT" altLang="es-ES" sz="2400" dirty="0"/>
              <a:t>(1 mg/ml) é </a:t>
            </a:r>
            <a:r>
              <a:rPr lang="pt-PT" altLang="es-ES" sz="2400" b="1" dirty="0"/>
              <a:t>eficaz</a:t>
            </a:r>
            <a:r>
              <a:rPr lang="pt-PT" altLang="es-ES" sz="2400" dirty="0"/>
              <a:t> na melhoria significativa dos sintomas nasais e não nasais às 4 e 6 semanas (globalmente e em crianças com peso ≥ 25 kg).</a:t>
            </a:r>
          </a:p>
          <a:p>
            <a:pPr>
              <a:spcAft>
                <a:spcPct val="50000"/>
              </a:spcAft>
            </a:pPr>
            <a:r>
              <a:rPr lang="pt-PT" altLang="es-ES" sz="2400" b="1" dirty="0" err="1"/>
              <a:t>Rinialer</a:t>
            </a:r>
            <a:r>
              <a:rPr lang="pt-PT" altLang="es-ES" sz="2400" b="1" dirty="0"/>
              <a:t> solução oral </a:t>
            </a:r>
            <a:r>
              <a:rPr lang="pt-PT" altLang="es-ES" sz="2400" dirty="0"/>
              <a:t>(1 mg/ml) tem um </a:t>
            </a:r>
            <a:r>
              <a:rPr lang="pt-PT" altLang="es-ES" sz="2400" b="1" dirty="0"/>
              <a:t>rápido início</a:t>
            </a:r>
            <a:r>
              <a:rPr lang="pt-PT" dirty="0"/>
              <a:t> </a:t>
            </a:r>
            <a:r>
              <a:rPr lang="pt-PT" altLang="es-ES" sz="2400" dirty="0"/>
              <a:t>de acção às 12 horas após a primeira dose.</a:t>
            </a:r>
            <a:endParaRPr lang="pt-PT" altLang="es-ES" sz="2400" b="1" dirty="0"/>
          </a:p>
          <a:p>
            <a:pPr marL="0" indent="0">
              <a:spcAft>
                <a:spcPct val="50000"/>
              </a:spcAft>
              <a:buClr>
                <a:srgbClr val="FF9900"/>
              </a:buClr>
              <a:buNone/>
            </a:pPr>
            <a:endParaRPr lang="pt-PT" altLang="es-ES" sz="2400" dirty="0"/>
          </a:p>
          <a:p>
            <a:pPr eaLnBrk="1" hangingPunct="1"/>
            <a:endParaRPr lang="pt-PT" altLang="es-ES" sz="2400" dirty="0"/>
          </a:p>
        </p:txBody>
      </p:sp>
      <p:sp>
        <p:nvSpPr>
          <p:cNvPr id="5" name="7 CuadroTexto"/>
          <p:cNvSpPr txBox="1">
            <a:spLocks noChangeArrowheads="1"/>
          </p:cNvSpPr>
          <p:nvPr/>
        </p:nvSpPr>
        <p:spPr bwMode="auto">
          <a:xfrm>
            <a:off x="1472665" y="406936"/>
            <a:ext cx="6963619" cy="1077218"/>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sz="3200" dirty="0">
                <a:solidFill>
                  <a:schemeClr val="accent2">
                    <a:lumMod val="50000"/>
                  </a:schemeClr>
                </a:solidFill>
              </a:rPr>
              <a:t>Estudo fundamental de fase III: Conclusões</a:t>
            </a:r>
            <a:endParaRPr lang="pt-PT" altLang="es-ES" sz="3200" dirty="0">
              <a:solidFill>
                <a:schemeClr val="accent2">
                  <a:lumMod val="50000"/>
                </a:schemeClr>
              </a:solidFill>
              <a:ea typeface="ＭＳ Ｐゴシック" charset="-128"/>
            </a:endParaRPr>
          </a:p>
        </p:txBody>
      </p:sp>
      <p:sp>
        <p:nvSpPr>
          <p:cNvPr id="6" name="Text Box 4">
            <a:extLst>
              <a:ext uri="{FF2B5EF4-FFF2-40B4-BE49-F238E27FC236}">
                <a16:creationId xmlns:a16="http://schemas.microsoft.com/office/drawing/2014/main" id="{75DC3D6F-1EF3-49EC-8CC6-6368DDA97830}"/>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457200" y="1888742"/>
            <a:ext cx="8229600" cy="3462486"/>
          </a:xfrm>
        </p:spPr>
        <p:txBody>
          <a:bodyPr/>
          <a:lstStyle/>
          <a:p>
            <a:pPr>
              <a:spcAft>
                <a:spcPct val="50000"/>
              </a:spcAft>
            </a:pPr>
            <a:r>
              <a:rPr lang="pt-PT" altLang="es-ES" sz="2400" b="1" dirty="0" err="1"/>
              <a:t>Rinialer</a:t>
            </a:r>
            <a:r>
              <a:rPr lang="pt-PT" altLang="es-ES" sz="2400" b="1" dirty="0"/>
              <a:t> melhorou significativamente a QoL</a:t>
            </a:r>
            <a:r>
              <a:rPr lang="pt-PT" dirty="0"/>
              <a:t> </a:t>
            </a:r>
            <a:r>
              <a:rPr lang="pt-PT" altLang="es-ES" sz="2400" dirty="0"/>
              <a:t>(benefício PRQLQ), em comparação com o placebo, às 4 e 6 semanas </a:t>
            </a:r>
          </a:p>
          <a:p>
            <a:pPr>
              <a:spcAft>
                <a:spcPct val="50000"/>
              </a:spcAft>
            </a:pPr>
            <a:r>
              <a:rPr lang="pt-PT" altLang="es-ES" sz="2400" b="1" dirty="0" err="1"/>
              <a:t>Rinialer</a:t>
            </a:r>
            <a:r>
              <a:rPr lang="pt-PT" altLang="es-ES" sz="2400" dirty="0"/>
              <a:t> obtém pontuações significativamente superiores em </a:t>
            </a:r>
            <a:r>
              <a:rPr lang="pt-PT" altLang="es-ES" sz="2400" b="1" dirty="0"/>
              <a:t>todos os domínios da QoL,</a:t>
            </a:r>
            <a:r>
              <a:rPr lang="pt-PT" altLang="es-ES" sz="2400" dirty="0"/>
              <a:t> em comparação com o placebo, após 4 semanas de tratamento em crianças com peso ≥ 25 kg</a:t>
            </a:r>
          </a:p>
          <a:p>
            <a:pPr>
              <a:spcAft>
                <a:spcPct val="50000"/>
              </a:spcAft>
            </a:pPr>
            <a:endParaRPr lang="pt-PT" altLang="es-ES" sz="2400" dirty="0"/>
          </a:p>
          <a:p>
            <a:pPr eaLnBrk="1" hangingPunct="1"/>
            <a:endParaRPr lang="pt-PT" altLang="es-ES" sz="2400" dirty="0"/>
          </a:p>
        </p:txBody>
      </p:sp>
      <p:sp>
        <p:nvSpPr>
          <p:cNvPr id="5" name="Text Box 4">
            <a:extLst>
              <a:ext uri="{FF2B5EF4-FFF2-40B4-BE49-F238E27FC236}">
                <a16:creationId xmlns:a16="http://schemas.microsoft.com/office/drawing/2014/main" id="{C880C1A7-59CB-4B23-95F4-1EA2A365B4A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7" name="7 CuadroTexto">
            <a:extLst>
              <a:ext uri="{FF2B5EF4-FFF2-40B4-BE49-F238E27FC236}">
                <a16:creationId xmlns:a16="http://schemas.microsoft.com/office/drawing/2014/main" id="{66C8AA4E-68F3-4A15-A543-C1535DDF9BBA}"/>
              </a:ext>
            </a:extLst>
          </p:cNvPr>
          <p:cNvSpPr txBox="1">
            <a:spLocks noChangeArrowheads="1"/>
          </p:cNvSpPr>
          <p:nvPr/>
        </p:nvSpPr>
        <p:spPr bwMode="auto">
          <a:xfrm>
            <a:off x="1472665" y="406936"/>
            <a:ext cx="6963619" cy="1077218"/>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sz="3200" dirty="0">
                <a:solidFill>
                  <a:schemeClr val="accent2">
                    <a:lumMod val="50000"/>
                  </a:schemeClr>
                </a:solidFill>
              </a:rPr>
              <a:t>Estudo fundamental de fase III: Conclusões</a:t>
            </a:r>
            <a:endParaRPr lang="pt-PT" altLang="es-ES" sz="3200" dirty="0">
              <a:solidFill>
                <a:schemeClr val="accent2">
                  <a:lumMod val="50000"/>
                </a:schemeClr>
              </a:solidFill>
              <a:ea typeface="ＭＳ Ｐゴシック" charset="-128"/>
            </a:endParaRPr>
          </a:p>
        </p:txBody>
      </p:sp>
    </p:spTree>
    <p:extLst>
      <p:ext uri="{BB962C8B-B14F-4D97-AF65-F5344CB8AC3E}">
        <p14:creationId xmlns:p14="http://schemas.microsoft.com/office/powerpoint/2010/main" val="364772987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Text Box 48"/>
          <p:cNvSpPr txBox="1">
            <a:spLocks noChangeArrowheads="1"/>
          </p:cNvSpPr>
          <p:nvPr/>
        </p:nvSpPr>
        <p:spPr bwMode="auto">
          <a:xfrm>
            <a:off x="1287261" y="523708"/>
            <a:ext cx="7935132" cy="800219"/>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pPr>
            <a:r>
              <a:rPr lang="pt-PT" sz="2400" kern="0" dirty="0">
                <a:solidFill>
                  <a:schemeClr val="accent2">
                    <a:lumMod val="50000"/>
                  </a:schemeClr>
                </a:solidFill>
              </a:rPr>
              <a:t>Farmacocinética de </a:t>
            </a:r>
            <a:r>
              <a:rPr lang="pt-PT" sz="2400" kern="0" dirty="0" err="1">
                <a:solidFill>
                  <a:schemeClr val="accent2">
                    <a:lumMod val="50000"/>
                  </a:schemeClr>
                </a:solidFill>
              </a:rPr>
              <a:t>Rinialer</a:t>
            </a:r>
            <a:r>
              <a:rPr lang="pt-PT" sz="2400" kern="0" dirty="0">
                <a:solidFill>
                  <a:schemeClr val="accent2">
                    <a:lumMod val="50000"/>
                  </a:schemeClr>
                </a:solidFill>
              </a:rPr>
              <a:t> em crianças entre os </a:t>
            </a:r>
            <a:r>
              <a:rPr lang="pt-PT" sz="2400" u="sng" kern="0" dirty="0">
                <a:solidFill>
                  <a:schemeClr val="accent2">
                    <a:lumMod val="50000"/>
                  </a:schemeClr>
                </a:solidFill>
              </a:rPr>
              <a:t>2 e os 5 anos</a:t>
            </a:r>
            <a:r>
              <a:rPr lang="pt-PT" sz="2800" dirty="0">
                <a:solidFill>
                  <a:schemeClr val="accent2">
                    <a:lumMod val="50000"/>
                  </a:schemeClr>
                </a:solidFill>
              </a:rPr>
              <a:t> </a:t>
            </a:r>
            <a:r>
              <a:rPr lang="pt-PT" sz="2400" kern="0" dirty="0">
                <a:solidFill>
                  <a:schemeClr val="accent2">
                    <a:lumMod val="50000"/>
                  </a:schemeClr>
                </a:solidFill>
              </a:rPr>
              <a:t>de</a:t>
            </a:r>
            <a:r>
              <a:rPr lang="pt-PT" sz="2800" dirty="0">
                <a:solidFill>
                  <a:schemeClr val="accent2">
                    <a:lumMod val="50000"/>
                  </a:schemeClr>
                </a:solidFill>
              </a:rPr>
              <a:t> </a:t>
            </a:r>
            <a:r>
              <a:rPr lang="pt-PT" sz="2400" kern="0" dirty="0">
                <a:solidFill>
                  <a:schemeClr val="accent2">
                    <a:lumMod val="50000"/>
                  </a:schemeClr>
                </a:solidFill>
              </a:rPr>
              <a:t>idade</a:t>
            </a:r>
            <a:r>
              <a:rPr lang="pt-PT" sz="2800" dirty="0">
                <a:solidFill>
                  <a:schemeClr val="accent2">
                    <a:lumMod val="50000"/>
                  </a:schemeClr>
                </a:solidFill>
              </a:rPr>
              <a:t> </a:t>
            </a:r>
            <a:r>
              <a:rPr lang="pt-PT" sz="2400" kern="0" dirty="0">
                <a:solidFill>
                  <a:schemeClr val="accent2">
                    <a:lumMod val="50000"/>
                  </a:schemeClr>
                </a:solidFill>
              </a:rPr>
              <a:t>sofrendo de</a:t>
            </a:r>
            <a:r>
              <a:rPr lang="pt-PT" sz="2800" dirty="0">
                <a:solidFill>
                  <a:schemeClr val="accent2">
                    <a:lumMod val="50000"/>
                  </a:schemeClr>
                </a:solidFill>
              </a:rPr>
              <a:t> </a:t>
            </a:r>
            <a:r>
              <a:rPr lang="pt-PT" sz="2400" kern="0" dirty="0">
                <a:solidFill>
                  <a:schemeClr val="accent2">
                    <a:lumMod val="50000"/>
                  </a:schemeClr>
                </a:solidFill>
              </a:rPr>
              <a:t>rinite</a:t>
            </a:r>
            <a:r>
              <a:rPr lang="pt-PT" sz="2800" dirty="0">
                <a:solidFill>
                  <a:schemeClr val="accent2">
                    <a:lumMod val="50000"/>
                  </a:schemeClr>
                </a:solidFill>
              </a:rPr>
              <a:t> </a:t>
            </a:r>
            <a:r>
              <a:rPr lang="pt-PT" sz="2400" kern="0" dirty="0">
                <a:solidFill>
                  <a:schemeClr val="accent2">
                    <a:lumMod val="50000"/>
                  </a:schemeClr>
                </a:solidFill>
              </a:rPr>
              <a:t>alérgica: estudo de fase II</a:t>
            </a:r>
          </a:p>
        </p:txBody>
      </p:sp>
      <p:graphicFrame>
        <p:nvGraphicFramePr>
          <p:cNvPr id="6" name="Group 95"/>
          <p:cNvGraphicFramePr>
            <a:graphicFrameLocks noGrp="1"/>
          </p:cNvGraphicFramePr>
          <p:nvPr>
            <p:extLst>
              <p:ext uri="{D42A27DB-BD31-4B8C-83A1-F6EECF244321}">
                <p14:modId xmlns:p14="http://schemas.microsoft.com/office/powerpoint/2010/main" val="1885670694"/>
              </p:ext>
            </p:extLst>
          </p:nvPr>
        </p:nvGraphicFramePr>
        <p:xfrm>
          <a:off x="1040443" y="1614934"/>
          <a:ext cx="7935132" cy="4719358"/>
        </p:xfrm>
        <a:graphic>
          <a:graphicData uri="http://schemas.openxmlformats.org/drawingml/2006/table">
            <a:tbl>
              <a:tblPr firstRow="1">
                <a:tableStyleId>{21E4AEA4-8DFA-4A89-87EB-49C32662AFE0}</a:tableStyleId>
              </a:tblPr>
              <a:tblGrid>
                <a:gridCol w="2056953">
                  <a:extLst>
                    <a:ext uri="{9D8B030D-6E8A-4147-A177-3AD203B41FA5}">
                      <a16:colId xmlns:a16="http://schemas.microsoft.com/office/drawing/2014/main" val="20000"/>
                    </a:ext>
                  </a:extLst>
                </a:gridCol>
                <a:gridCol w="5878179">
                  <a:extLst>
                    <a:ext uri="{9D8B030D-6E8A-4147-A177-3AD203B41FA5}">
                      <a16:colId xmlns:a16="http://schemas.microsoft.com/office/drawing/2014/main" val="20001"/>
                    </a:ext>
                  </a:extLst>
                </a:gridCol>
              </a:tblGrid>
              <a:tr h="880490">
                <a:tc gridSpan="2">
                  <a:txBody>
                    <a:bodyPr/>
                    <a:lstStyle/>
                    <a:p>
                      <a:pPr marL="0" marR="0" lvl="0" indent="0" algn="l" defTabSz="449263" rtl="0" eaLnBrk="1" fontAlgn="base" latinLnBrk="0" hangingPunct="0">
                        <a:lnSpc>
                          <a:spcPct val="90000"/>
                        </a:lnSpc>
                        <a:spcBef>
                          <a:spcPct val="0"/>
                        </a:spcBef>
                        <a:spcAft>
                          <a:spcPct val="0"/>
                        </a:spcAft>
                        <a:buClr>
                          <a:srgbClr val="000000"/>
                        </a:buClr>
                        <a:buSzPct val="85000"/>
                        <a:buFont typeface="Times New Roman" pitchFamily="18" charset="0"/>
                        <a:buNone/>
                        <a:tabLst/>
                        <a:defRPr/>
                      </a:pPr>
                      <a:r>
                        <a:rPr kumimoji="0" lang="en-US" sz="2000" u="none" strike="noStrike" cap="none" normalizeH="0" baseline="0" dirty="0">
                          <a:ln>
                            <a:noFill/>
                          </a:ln>
                          <a:effectLst/>
                        </a:rPr>
                        <a:t>Estudo farmacocinético em crianças entre os 2 e os 5 anos de </a:t>
                      </a:r>
                      <a:r>
                        <a:rPr kumimoji="0" lang="en-US" sz="2000" u="none" strike="noStrike" cap="none" normalizeH="0" baseline="0" dirty="0" err="1">
                          <a:ln>
                            <a:noFill/>
                          </a:ln>
                          <a:effectLst/>
                        </a:rPr>
                        <a:t>idade</a:t>
                      </a:r>
                      <a:r>
                        <a:rPr kumimoji="0" lang="en-US" sz="2000" u="none" strike="noStrike" cap="none" normalizeH="0" baseline="0" dirty="0">
                          <a:ln>
                            <a:noFill/>
                          </a:ln>
                          <a:effectLst/>
                        </a:rPr>
                        <a:t> que </a:t>
                      </a:r>
                      <a:r>
                        <a:rPr kumimoji="0" lang="en-US" sz="2000" u="none" strike="noStrike" cap="none" normalizeH="0" baseline="0" dirty="0" err="1">
                          <a:ln>
                            <a:noFill/>
                          </a:ln>
                          <a:effectLst/>
                        </a:rPr>
                        <a:t>sofrem</a:t>
                      </a:r>
                      <a:r>
                        <a:rPr kumimoji="0" lang="en-US" sz="2000" u="none" strike="noStrike" cap="none" normalizeH="0" baseline="0" dirty="0">
                          <a:ln>
                            <a:noFill/>
                          </a:ln>
                          <a:effectLst/>
                        </a:rPr>
                        <a:t> de rinite alérgica</a:t>
                      </a:r>
                      <a:endParaRPr kumimoji="0" lang="pt-PT" sz="1600" b="0" i="0" u="none" strike="noStrike" cap="none" normalizeH="0" baseline="0" dirty="0">
                        <a:ln>
                          <a:noFill/>
                        </a:ln>
                        <a:solidFill>
                          <a:srgbClr val="333399"/>
                        </a:solidFill>
                        <a:effectLst/>
                        <a:latin typeface="Calibri" charset="0"/>
                        <a:ea typeface="ＭＳ Ｐゴシック" charset="-128"/>
                      </a:endParaRPr>
                    </a:p>
                  </a:txBody>
                  <a:tcPr marL="143986" marR="143986" marT="46793" marB="46793" anchor="ctr" horzOverflow="overflow"/>
                </a:tc>
                <a:tc hMerge="1">
                  <a:txBody>
                    <a:bodyPr/>
                    <a:lstStyle/>
                    <a:p>
                      <a:pPr marL="0" marR="0" lvl="0" indent="0" algn="l" defTabSz="449263" rtl="0" eaLnBrk="0" fontAlgn="base" latinLnBrk="0" hangingPunct="0">
                        <a:lnSpc>
                          <a:spcPct val="90000"/>
                        </a:lnSpc>
                        <a:spcBef>
                          <a:spcPts val="350"/>
                        </a:spcBef>
                        <a:spcAft>
                          <a:spcPct val="0"/>
                        </a:spcAft>
                        <a:buClr>
                          <a:srgbClr val="000000"/>
                        </a:buClr>
                        <a:buSzPct val="85000"/>
                        <a:buFont typeface="Times New Roman" pitchFamily="18" charset="0"/>
                        <a:buNone/>
                        <a:tabLst/>
                      </a:pPr>
                      <a:endParaRPr kumimoji="0" lang="en-GB" sz="1400" b="0" i="0" u="none" strike="noStrike" cap="none" normalizeH="0" baseline="0" dirty="0">
                        <a:ln>
                          <a:noFill/>
                        </a:ln>
                        <a:solidFill>
                          <a:srgbClr val="333399"/>
                        </a:solidFill>
                        <a:effectLst/>
                        <a:latin typeface="Calibri" charset="0"/>
                        <a:ea typeface="ＭＳ Ｐゴシック" charset="-128"/>
                      </a:endParaRPr>
                    </a:p>
                  </a:txBody>
                  <a:tcPr marL="143986" marR="143986" marT="46793" marB="46793" anchor="ctr" horzOverflow="overflow"/>
                </a:tc>
                <a:extLst>
                  <a:ext uri="{0D108BD9-81ED-4DB2-BD59-A6C34878D82A}">
                    <a16:rowId xmlns:a16="http://schemas.microsoft.com/office/drawing/2014/main" val="10000"/>
                  </a:ext>
                </a:extLst>
              </a:tr>
              <a:tr h="1117867">
                <a:tc>
                  <a:txBody>
                    <a:bodyPr/>
                    <a:lstStyle/>
                    <a:p>
                      <a:pPr marL="0" marR="0" lvl="0" indent="0" algn="l" defTabSz="449263" rtl="0" eaLnBrk="1" fontAlgn="base" latinLnBrk="0" hangingPunct="0">
                        <a:lnSpc>
                          <a:spcPct val="100000"/>
                        </a:lnSpc>
                        <a:spcBef>
                          <a:spcPct val="0"/>
                        </a:spcBef>
                        <a:spcAft>
                          <a:spcPct val="0"/>
                        </a:spcAft>
                        <a:buClr>
                          <a:srgbClr val="000000"/>
                        </a:buClr>
                        <a:buSzPct val="85000"/>
                        <a:buFont typeface="Times New Roman" pitchFamily="18" charset="0"/>
                        <a:buNone/>
                        <a:tabLst/>
                      </a:pPr>
                      <a:r>
                        <a:rPr kumimoji="0" lang="pt-PT" sz="1600" b="0" i="0" u="none" strike="noStrike" cap="none" normalizeH="0" baseline="0" dirty="0">
                          <a:ln>
                            <a:noFill/>
                          </a:ln>
                          <a:solidFill>
                            <a:schemeClr val="accent2">
                              <a:lumMod val="50000"/>
                            </a:schemeClr>
                          </a:solidFill>
                          <a:effectLst/>
                          <a:latin typeface="Calibri" charset="0"/>
                        </a:rPr>
                        <a:t>Desenho/duração</a:t>
                      </a:r>
                    </a:p>
                  </a:txBody>
                  <a:tcPr marL="143986" marR="143986" marT="46793" marB="46793" anchor="ctr" horzOverflow="overflow"/>
                </a:tc>
                <a:tc>
                  <a:txBody>
                    <a:bodyPr/>
                    <a:lstStyle/>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pt-PT" sz="1600" b="0" u="none" strike="noStrike" kern="1200" cap="none" normalizeH="0" baseline="0" dirty="0">
                          <a:ln>
                            <a:noFill/>
                          </a:ln>
                          <a:solidFill>
                            <a:schemeClr val="accent2">
                              <a:lumMod val="50000"/>
                            </a:schemeClr>
                          </a:solidFill>
                          <a:effectLst/>
                          <a:latin typeface="+mn-lt"/>
                        </a:rPr>
                        <a:t>Ensaio aberto de fase II </a:t>
                      </a:r>
                    </a:p>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pt-PT" sz="1600" b="0" u="none" strike="noStrike" kern="1200" cap="none" normalizeH="0" baseline="0" dirty="0">
                          <a:ln>
                            <a:noFill/>
                          </a:ln>
                          <a:solidFill>
                            <a:schemeClr val="accent2">
                              <a:lumMod val="50000"/>
                            </a:schemeClr>
                          </a:solidFill>
                          <a:effectLst/>
                          <a:latin typeface="+mn-lt"/>
                        </a:rPr>
                        <a:t>período</a:t>
                      </a:r>
                      <a:r>
                        <a:rPr dirty="0">
                          <a:solidFill>
                            <a:schemeClr val="accent2">
                              <a:lumMod val="50000"/>
                            </a:schemeClr>
                          </a:solidFill>
                        </a:rPr>
                        <a:t> </a:t>
                      </a:r>
                      <a:r>
                        <a:rPr kumimoji="0" lang="pt-PT" sz="1600" b="0" u="none" strike="noStrike" kern="1200" cap="none" normalizeH="0" baseline="0" dirty="0">
                          <a:ln>
                            <a:noFill/>
                          </a:ln>
                          <a:solidFill>
                            <a:schemeClr val="accent2">
                              <a:lumMod val="50000"/>
                            </a:schemeClr>
                          </a:solidFill>
                          <a:effectLst/>
                          <a:latin typeface="+mn-lt"/>
                        </a:rPr>
                        <a:t>de tratamento</a:t>
                      </a:r>
                      <a:r>
                        <a:rPr dirty="0">
                          <a:solidFill>
                            <a:schemeClr val="accent2">
                              <a:lumMod val="50000"/>
                            </a:schemeClr>
                          </a:solidFill>
                        </a:rPr>
                        <a:t> </a:t>
                      </a:r>
                      <a:r>
                        <a:rPr kumimoji="0" lang="pt-PT" sz="1600" b="0" u="none" strike="noStrike" kern="1200" cap="none" normalizeH="0" baseline="0" dirty="0">
                          <a:ln>
                            <a:noFill/>
                          </a:ln>
                          <a:solidFill>
                            <a:schemeClr val="accent2">
                              <a:lumMod val="50000"/>
                            </a:schemeClr>
                          </a:solidFill>
                          <a:effectLst/>
                          <a:latin typeface="+mn-lt"/>
                        </a:rPr>
                        <a:t>de 28 dias</a:t>
                      </a:r>
                      <a:endParaRPr kumimoji="0" lang="pt-PT" sz="1600" b="0" i="0" u="none" strike="noStrike" cap="none" normalizeH="0" baseline="0" dirty="0">
                        <a:ln>
                          <a:noFill/>
                        </a:ln>
                        <a:solidFill>
                          <a:schemeClr val="accent2">
                            <a:lumMod val="50000"/>
                          </a:schemeClr>
                        </a:solidFill>
                        <a:effectLst/>
                        <a:latin typeface="Calibri" charset="0"/>
                        <a:ea typeface="ＭＳ Ｐゴシック" charset="-128"/>
                      </a:endParaRPr>
                    </a:p>
                  </a:txBody>
                  <a:tcPr marL="143986" marR="143986" marT="46793" marB="46793" anchor="ctr" horzOverflow="overflow"/>
                </a:tc>
                <a:extLst>
                  <a:ext uri="{0D108BD9-81ED-4DB2-BD59-A6C34878D82A}">
                    <a16:rowId xmlns:a16="http://schemas.microsoft.com/office/drawing/2014/main" val="10001"/>
                  </a:ext>
                </a:extLst>
              </a:tr>
              <a:tr h="1183450">
                <a:tc>
                  <a:txBody>
                    <a:bodyPr/>
                    <a:lstStyle/>
                    <a:p>
                      <a:pPr marL="0" marR="0" lvl="0" indent="0" algn="l" defTabSz="449263" rtl="0" eaLnBrk="1" fontAlgn="base" latinLnBrk="0" hangingPunct="0">
                        <a:lnSpc>
                          <a:spcPct val="100000"/>
                        </a:lnSpc>
                        <a:spcBef>
                          <a:spcPct val="0"/>
                        </a:spcBef>
                        <a:spcAft>
                          <a:spcPct val="0"/>
                        </a:spcAft>
                        <a:buClr>
                          <a:srgbClr val="000000"/>
                        </a:buClr>
                        <a:buSzPct val="85000"/>
                        <a:buFont typeface="Times New Roman" pitchFamily="18" charset="0"/>
                        <a:buNone/>
                        <a:tabLst/>
                      </a:pPr>
                      <a:r>
                        <a:rPr kumimoji="0" lang="pt-PT" sz="1600" b="0" i="0" u="none" strike="noStrike" cap="none" normalizeH="0" baseline="0" dirty="0">
                          <a:ln>
                            <a:noFill/>
                          </a:ln>
                          <a:solidFill>
                            <a:schemeClr val="accent2">
                              <a:lumMod val="50000"/>
                            </a:schemeClr>
                          </a:solidFill>
                          <a:effectLst/>
                          <a:latin typeface="Calibri" charset="0"/>
                        </a:rPr>
                        <a:t>Parâmetro de Avaliação</a:t>
                      </a:r>
                    </a:p>
                  </a:txBody>
                  <a:tcPr marL="143986" marR="143986" marT="46793" marB="46793" anchor="ctr" horzOverflow="overflow"/>
                </a:tc>
                <a:tc>
                  <a:txBody>
                    <a:bodyPr/>
                    <a:lstStyle/>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pt-PT" sz="1600" b="0" i="0" u="none" strike="noStrike" cap="none" normalizeH="0" baseline="0" dirty="0">
                          <a:ln>
                            <a:noFill/>
                          </a:ln>
                          <a:solidFill>
                            <a:schemeClr val="accent2">
                              <a:lumMod val="50000"/>
                            </a:schemeClr>
                          </a:solidFill>
                          <a:effectLst/>
                          <a:latin typeface="Calibri" charset="0"/>
                        </a:rPr>
                        <a:t>Primário: Farmacocinética</a:t>
                      </a:r>
                    </a:p>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pt-PT" sz="1600" b="0" i="0" u="none" strike="noStrike" cap="none" normalizeH="0" baseline="0" dirty="0">
                          <a:ln>
                            <a:noFill/>
                          </a:ln>
                          <a:solidFill>
                            <a:schemeClr val="accent2">
                              <a:lumMod val="50000"/>
                            </a:schemeClr>
                          </a:solidFill>
                          <a:effectLst/>
                          <a:latin typeface="Calibri" charset="0"/>
                        </a:rPr>
                        <a:t>Secundário:  Alteração em relação ao valor basal na pontuação dos sintomas dos doentes no dia 28.</a:t>
                      </a:r>
                      <a:endParaRPr kumimoji="0" lang="pt-PT" sz="1600" b="0" i="0" u="none" strike="noStrike" cap="none" normalizeH="0" baseline="0" dirty="0">
                        <a:ln>
                          <a:noFill/>
                        </a:ln>
                        <a:solidFill>
                          <a:schemeClr val="accent2">
                            <a:lumMod val="50000"/>
                          </a:schemeClr>
                        </a:solidFill>
                        <a:effectLst/>
                        <a:latin typeface="Calibri" charset="0"/>
                        <a:ea typeface="ＭＳ Ｐゴシック" charset="-128"/>
                      </a:endParaRPr>
                    </a:p>
                  </a:txBody>
                  <a:tcPr marL="143986" marR="143986" marT="46793" marB="46793" anchor="ctr" horzOverflow="overflow"/>
                </a:tc>
                <a:extLst>
                  <a:ext uri="{0D108BD9-81ED-4DB2-BD59-A6C34878D82A}">
                    <a16:rowId xmlns:a16="http://schemas.microsoft.com/office/drawing/2014/main" val="10002"/>
                  </a:ext>
                </a:extLst>
              </a:tr>
              <a:tr h="1537551">
                <a:tc>
                  <a:txBody>
                    <a:bodyPr/>
                    <a:lstStyle/>
                    <a:p>
                      <a:pPr marL="0" marR="0" lvl="0" indent="0" algn="l" defTabSz="449263" rtl="0" eaLnBrk="1" fontAlgn="base" latinLnBrk="0" hangingPunct="0">
                        <a:lnSpc>
                          <a:spcPct val="100000"/>
                        </a:lnSpc>
                        <a:spcBef>
                          <a:spcPct val="0"/>
                        </a:spcBef>
                        <a:spcAft>
                          <a:spcPct val="0"/>
                        </a:spcAft>
                        <a:buClr>
                          <a:srgbClr val="000000"/>
                        </a:buClr>
                        <a:buSzPct val="85000"/>
                        <a:buFont typeface="Times New Roman" pitchFamily="18" charset="0"/>
                        <a:buNone/>
                        <a:tabLst/>
                      </a:pPr>
                      <a:r>
                        <a:rPr kumimoji="0" lang="en-GB" sz="1600" u="none" strike="noStrike" cap="none" normalizeH="0" baseline="0" dirty="0">
                          <a:ln>
                            <a:noFill/>
                          </a:ln>
                          <a:solidFill>
                            <a:schemeClr val="accent2">
                              <a:lumMod val="50000"/>
                            </a:schemeClr>
                          </a:solidFill>
                          <a:effectLst/>
                        </a:rPr>
                        <a:t>Tratamentos/</a:t>
                      </a:r>
                    </a:p>
                    <a:p>
                      <a:pPr marL="0" marR="0" lvl="0" indent="0" algn="l" defTabSz="449263" rtl="0" eaLnBrk="1" fontAlgn="base" latinLnBrk="0" hangingPunct="0">
                        <a:lnSpc>
                          <a:spcPct val="100000"/>
                        </a:lnSpc>
                        <a:spcBef>
                          <a:spcPct val="0"/>
                        </a:spcBef>
                        <a:spcAft>
                          <a:spcPct val="0"/>
                        </a:spcAft>
                        <a:buClr>
                          <a:srgbClr val="000000"/>
                        </a:buClr>
                        <a:buSzPct val="85000"/>
                        <a:buFont typeface="Times New Roman" pitchFamily="18" charset="0"/>
                        <a:buNone/>
                        <a:tabLst/>
                      </a:pPr>
                      <a:r>
                        <a:rPr kumimoji="0" lang="en-GB" sz="1600" u="none" strike="noStrike" cap="none" normalizeH="0" baseline="0" dirty="0">
                          <a:ln>
                            <a:noFill/>
                          </a:ln>
                          <a:solidFill>
                            <a:schemeClr val="accent2">
                              <a:lumMod val="50000"/>
                            </a:schemeClr>
                          </a:solidFill>
                          <a:effectLst/>
                        </a:rPr>
                        <a:t>Doentes (n)</a:t>
                      </a:r>
                      <a:endParaRPr kumimoji="0" lang="pt-PT" sz="1600" b="1" i="0" u="none" strike="noStrike" cap="none" normalizeH="0" baseline="0" dirty="0">
                        <a:ln>
                          <a:noFill/>
                        </a:ln>
                        <a:solidFill>
                          <a:schemeClr val="accent2">
                            <a:lumMod val="50000"/>
                          </a:schemeClr>
                        </a:solidFill>
                        <a:effectLst/>
                        <a:latin typeface="Calibri" charset="0"/>
                        <a:ea typeface="ＭＳ Ｐゴシック" charset="-128"/>
                      </a:endParaRPr>
                    </a:p>
                  </a:txBody>
                  <a:tcPr marL="143986" marR="143986" marT="46793" marB="46793" anchor="ctr" horzOverflow="overflow"/>
                </a:tc>
                <a:tc>
                  <a:txBody>
                    <a:bodyPr/>
                    <a:lstStyle/>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en-GB" sz="1600" u="none" strike="noStrike" cap="none" normalizeH="0" baseline="0" dirty="0">
                          <a:ln>
                            <a:noFill/>
                          </a:ln>
                          <a:solidFill>
                            <a:schemeClr val="accent2">
                              <a:lumMod val="50000"/>
                            </a:schemeClr>
                          </a:solidFill>
                          <a:effectLst/>
                        </a:rPr>
                        <a:t>44 crianças com idades compreendidas entre os 2 e os 5 anos sofrendo de rinite alérgica</a:t>
                      </a:r>
                    </a:p>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en-GB" sz="1600" u="none" strike="noStrike" cap="none" normalizeH="0" baseline="0" dirty="0">
                          <a:ln>
                            <a:noFill/>
                          </a:ln>
                          <a:solidFill>
                            <a:schemeClr val="accent2">
                              <a:lumMod val="50000"/>
                            </a:schemeClr>
                          </a:solidFill>
                          <a:effectLst/>
                        </a:rPr>
                        <a:t>RUP solução oral:</a:t>
                      </a:r>
                    </a:p>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pt-PT" sz="1600" b="0" i="0" u="none" strike="noStrike" cap="none" normalizeH="0" baseline="0" dirty="0">
                          <a:ln>
                            <a:noFill/>
                          </a:ln>
                          <a:solidFill>
                            <a:schemeClr val="accent2">
                              <a:lumMod val="50000"/>
                            </a:schemeClr>
                          </a:solidFill>
                          <a:effectLst/>
                          <a:latin typeface="Calibri" charset="0"/>
                        </a:rPr>
                        <a:t>&lt; 25 kg: 2,5 ml (2,5 mg)</a:t>
                      </a:r>
                    </a:p>
                    <a:p>
                      <a:pPr marL="0" marR="0" lvl="0" indent="0" algn="l" defTabSz="449263" rtl="0" eaLnBrk="0" fontAlgn="base" latinLnBrk="0" hangingPunct="0">
                        <a:lnSpc>
                          <a:spcPct val="100000"/>
                        </a:lnSpc>
                        <a:spcBef>
                          <a:spcPts val="350"/>
                        </a:spcBef>
                        <a:spcAft>
                          <a:spcPct val="0"/>
                        </a:spcAft>
                        <a:buClr>
                          <a:srgbClr val="000000"/>
                        </a:buClr>
                        <a:buSzPct val="85000"/>
                        <a:buFont typeface="Times New Roman" pitchFamily="18" charset="0"/>
                        <a:buNone/>
                        <a:tabLst/>
                      </a:pPr>
                      <a:r>
                        <a:rPr kumimoji="0" lang="pt-PT" sz="1600" b="0" i="0" u="none" strike="noStrike" cap="none" normalizeH="0" baseline="0" dirty="0">
                          <a:ln>
                            <a:noFill/>
                          </a:ln>
                          <a:solidFill>
                            <a:schemeClr val="accent2">
                              <a:lumMod val="50000"/>
                            </a:schemeClr>
                          </a:solidFill>
                          <a:effectLst/>
                          <a:latin typeface="Calibri" charset="0"/>
                        </a:rPr>
                        <a:t>≥ 25 kg: 5 ml (5 mg)</a:t>
                      </a:r>
                    </a:p>
                  </a:txBody>
                  <a:tcPr marL="143986" marR="143986" marT="46793" marB="46793" anchor="ctr" horzOverflow="overflow"/>
                </a:tc>
                <a:extLst>
                  <a:ext uri="{0D108BD9-81ED-4DB2-BD59-A6C34878D82A}">
                    <a16:rowId xmlns:a16="http://schemas.microsoft.com/office/drawing/2014/main" val="10003"/>
                  </a:ext>
                </a:extLst>
              </a:tr>
            </a:tbl>
          </a:graphicData>
        </a:graphic>
      </p:graphicFrame>
      <p:sp>
        <p:nvSpPr>
          <p:cNvPr id="5" name="TextBox 4"/>
          <p:cNvSpPr txBox="1">
            <a:spLocks noChangeArrowheads="1"/>
          </p:cNvSpPr>
          <p:nvPr/>
        </p:nvSpPr>
        <p:spPr bwMode="auto">
          <a:xfrm>
            <a:off x="1193951" y="6405563"/>
            <a:ext cx="1494320"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Dados Uriach em arquivo</a:t>
            </a:r>
          </a:p>
        </p:txBody>
      </p:sp>
      <p:sp>
        <p:nvSpPr>
          <p:cNvPr id="7" name="Text Box 4">
            <a:extLst>
              <a:ext uri="{FF2B5EF4-FFF2-40B4-BE49-F238E27FC236}">
                <a16:creationId xmlns:a16="http://schemas.microsoft.com/office/drawing/2014/main" id="{ED1FC4EB-08B8-4570-9380-2E9286D52827}"/>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3290689843"/>
      </p:ext>
    </p:extLst>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3" name="Gráfico 1"/>
          <p:cNvGraphicFramePr>
            <a:graphicFrameLocks/>
          </p:cNvGraphicFramePr>
          <p:nvPr>
            <p:extLst>
              <p:ext uri="{D42A27DB-BD31-4B8C-83A1-F6EECF244321}">
                <p14:modId xmlns:p14="http://schemas.microsoft.com/office/powerpoint/2010/main" val="3231139299"/>
              </p:ext>
            </p:extLst>
          </p:nvPr>
        </p:nvGraphicFramePr>
        <p:xfrm>
          <a:off x="1527851" y="2873603"/>
          <a:ext cx="7447724" cy="2831578"/>
        </p:xfrm>
        <a:graphic>
          <a:graphicData uri="http://schemas.openxmlformats.org/presentationml/2006/ole">
            <mc:AlternateContent xmlns:mc="http://schemas.openxmlformats.org/markup-compatibility/2006">
              <mc:Choice xmlns:v="urn:schemas-microsoft-com:vml" Requires="v">
                <p:oleObj spid="_x0000_s2074" name="Worksheet" r:id="rId4" imgW="11798361" imgH="3219519" progId="Excel.Sheet.8">
                  <p:embed/>
                </p:oleObj>
              </mc:Choice>
              <mc:Fallback>
                <p:oleObj name="Worksheet" r:id="rId4" imgW="11798361" imgH="3219519" progId="Excel.Sheet.8">
                  <p:embed/>
                  <p:pic>
                    <p:nvPicPr>
                      <p:cNvPr id="0" name=""/>
                      <p:cNvPicPr>
                        <a:picLocks noChangeArrowheads="1"/>
                      </p:cNvPicPr>
                      <p:nvPr/>
                    </p:nvPicPr>
                    <p:blipFill>
                      <a:blip r:embed="rId5"/>
                      <a:srcRect/>
                      <a:stretch>
                        <a:fillRect/>
                      </a:stretch>
                    </p:blipFill>
                    <p:spPr bwMode="auto">
                      <a:xfrm>
                        <a:off x="1527851" y="2873603"/>
                        <a:ext cx="7447724" cy="2831578"/>
                      </a:xfrm>
                      <a:prstGeom prst="rect">
                        <a:avLst/>
                      </a:prstGeom>
                      <a:noFill/>
                    </p:spPr>
                  </p:pic>
                </p:oleObj>
              </mc:Fallback>
            </mc:AlternateContent>
          </a:graphicData>
        </a:graphic>
      </p:graphicFrame>
      <p:sp>
        <p:nvSpPr>
          <p:cNvPr id="9221" name="7 CuadroTexto"/>
          <p:cNvSpPr txBox="1">
            <a:spLocks noChangeArrowheads="1"/>
          </p:cNvSpPr>
          <p:nvPr/>
        </p:nvSpPr>
        <p:spPr bwMode="auto">
          <a:xfrm>
            <a:off x="1468859" y="462383"/>
            <a:ext cx="7603507" cy="954107"/>
          </a:xfrm>
          <a:prstGeom prst="rect">
            <a:avLst/>
          </a:prstGeom>
          <a:noFill/>
          <a:ln w="9525">
            <a:noFill/>
            <a:miter lim="800000"/>
            <a:headEnd/>
            <a:tailEnd/>
          </a:ln>
        </p:spPr>
        <p:txBody>
          <a:bodyPr wrap="square">
            <a:spAutoFit/>
          </a:bodyPr>
          <a:lstStyle/>
          <a:p>
            <a:pPr>
              <a:buClr>
                <a:srgbClr val="000000"/>
              </a:buClr>
              <a:buSzPct val="100000"/>
              <a:buFont typeface="Calibri" pitchFamily="34" charset="0"/>
              <a:buNone/>
            </a:pPr>
            <a:r>
              <a:rPr lang="pt-PT" sz="2800" dirty="0">
                <a:solidFill>
                  <a:schemeClr val="accent2">
                    <a:lumMod val="50000"/>
                  </a:schemeClr>
                </a:solidFill>
              </a:rPr>
              <a:t>Estudo de farmacocinética de f</a:t>
            </a:r>
            <a:r>
              <a:rPr lang="pt-PT" altLang="es-ES" sz="2400" dirty="0">
                <a:solidFill>
                  <a:schemeClr val="accent2">
                    <a:lumMod val="50000"/>
                  </a:schemeClr>
                </a:solidFill>
              </a:rPr>
              <a:t>ase II em crianças entre os </a:t>
            </a:r>
            <a:r>
              <a:rPr lang="pt-PT" altLang="es-ES" sz="2400" u="sng" dirty="0">
                <a:solidFill>
                  <a:schemeClr val="accent2">
                    <a:lumMod val="50000"/>
                  </a:schemeClr>
                </a:solidFill>
              </a:rPr>
              <a:t>2 e os 5 anos</a:t>
            </a:r>
            <a:r>
              <a:rPr lang="pt-PT" sz="2800" u="sng" dirty="0">
                <a:solidFill>
                  <a:schemeClr val="accent2">
                    <a:lumMod val="50000"/>
                  </a:schemeClr>
                </a:solidFill>
              </a:rPr>
              <a:t> </a:t>
            </a:r>
            <a:r>
              <a:rPr lang="pt-PT" altLang="es-ES" sz="2400" dirty="0">
                <a:solidFill>
                  <a:schemeClr val="accent2">
                    <a:lumMod val="50000"/>
                  </a:schemeClr>
                </a:solidFill>
              </a:rPr>
              <a:t>de idade: </a:t>
            </a:r>
            <a:r>
              <a:rPr lang="pt-PT" sz="2800" dirty="0">
                <a:solidFill>
                  <a:schemeClr val="accent2">
                    <a:lumMod val="50000"/>
                  </a:schemeClr>
                </a:solidFill>
              </a:rPr>
              <a:t>Resultados de Eficácia</a:t>
            </a:r>
            <a:endParaRPr lang="pt-PT" altLang="es-ES" sz="2400" dirty="0">
              <a:solidFill>
                <a:schemeClr val="accent2">
                  <a:lumMod val="50000"/>
                </a:schemeClr>
              </a:solidFill>
            </a:endParaRPr>
          </a:p>
        </p:txBody>
      </p:sp>
      <p:sp>
        <p:nvSpPr>
          <p:cNvPr id="12" name="11 Rectángulo redondeado"/>
          <p:cNvSpPr/>
          <p:nvPr/>
        </p:nvSpPr>
        <p:spPr bwMode="auto">
          <a:xfrm>
            <a:off x="800396" y="1783263"/>
            <a:ext cx="8124825"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Clr>
                <a:srgbClr val="000000"/>
              </a:buClr>
              <a:buSzPct val="100000"/>
              <a:buFont typeface="Calibri" pitchFamily="34" charset="0"/>
              <a:buNone/>
              <a:defRPr/>
            </a:pPr>
            <a:r>
              <a:rPr lang="pt-PT" altLang="es-ES" sz="1800" dirty="0" err="1">
                <a:solidFill>
                  <a:schemeClr val="accent2">
                    <a:lumMod val="50000"/>
                  </a:schemeClr>
                </a:solidFill>
              </a:rPr>
              <a:t>Rinialer</a:t>
            </a:r>
            <a:r>
              <a:rPr lang="pt-PT" altLang="es-ES" sz="1800" dirty="0">
                <a:solidFill>
                  <a:schemeClr val="accent2">
                    <a:lumMod val="50000"/>
                  </a:schemeClr>
                </a:solidFill>
              </a:rPr>
              <a:t> resulta numa melhoria dos sintomas de rinite alérgica</a:t>
            </a:r>
            <a:br>
              <a:rPr sz="3200" dirty="0">
                <a:solidFill>
                  <a:schemeClr val="accent2">
                    <a:lumMod val="50000"/>
                  </a:schemeClr>
                </a:solidFill>
              </a:rPr>
            </a:br>
            <a:r>
              <a:rPr lang="pt-PT" altLang="es-ES" sz="1800" dirty="0">
                <a:solidFill>
                  <a:schemeClr val="accent2">
                    <a:lumMod val="50000"/>
                  </a:schemeClr>
                </a:solidFill>
              </a:rPr>
              <a:t>em crianças entre os 2 e os 5 anos de idade após 2 e 4 semanas de administração</a:t>
            </a:r>
          </a:p>
        </p:txBody>
      </p:sp>
      <p:grpSp>
        <p:nvGrpSpPr>
          <p:cNvPr id="7" name="Group 9"/>
          <p:cNvGrpSpPr>
            <a:grpSpLocks/>
          </p:cNvGrpSpPr>
          <p:nvPr/>
        </p:nvGrpSpPr>
        <p:grpSpPr bwMode="auto">
          <a:xfrm>
            <a:off x="661916" y="2942427"/>
            <a:ext cx="412750" cy="2592388"/>
            <a:chOff x="578" y="1570"/>
            <a:chExt cx="260" cy="1633"/>
          </a:xfrm>
        </p:grpSpPr>
        <p:sp>
          <p:nvSpPr>
            <p:cNvPr id="8" name="Line 7"/>
            <p:cNvSpPr>
              <a:spLocks noChangeShapeType="1"/>
            </p:cNvSpPr>
            <p:nvPr/>
          </p:nvSpPr>
          <p:spPr bwMode="auto">
            <a:xfrm>
              <a:off x="838" y="1570"/>
              <a:ext cx="0" cy="1633"/>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9" name="Text Box 8"/>
            <p:cNvSpPr txBox="1">
              <a:spLocks noChangeArrowheads="1"/>
            </p:cNvSpPr>
            <p:nvPr/>
          </p:nvSpPr>
          <p:spPr bwMode="auto">
            <a:xfrm rot="-5400000">
              <a:off x="128" y="2247"/>
              <a:ext cx="1113" cy="213"/>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grpSp>
      <p:sp>
        <p:nvSpPr>
          <p:cNvPr id="10" name="Text Box 8"/>
          <p:cNvSpPr txBox="1">
            <a:spLocks noChangeArrowheads="1"/>
          </p:cNvSpPr>
          <p:nvPr/>
        </p:nvSpPr>
        <p:spPr bwMode="auto">
          <a:xfrm rot="16200000">
            <a:off x="-102181" y="4135484"/>
            <a:ext cx="2803525" cy="338554"/>
          </a:xfrm>
          <a:prstGeom prst="rect">
            <a:avLst/>
          </a:prstGeom>
          <a:noFill/>
          <a:ln w="9525">
            <a:noFill/>
            <a:miter lim="800000"/>
            <a:headEnd/>
            <a:tailEnd/>
          </a:ln>
          <a:effectLst>
            <a:prstShdw prst="shdw17" dist="17961" dir="2700000">
              <a:srgbClr val="2F4D71"/>
            </a:prstShdw>
          </a:effectLst>
        </p:spPr>
        <p:txBody>
          <a:bodyPr>
            <a:spAutoFit/>
          </a:bodyPr>
          <a:lstStyle/>
          <a:p>
            <a:pPr algn="ctr" eaLnBrk="1" hangingPunct="1">
              <a:spcBef>
                <a:spcPct val="50000"/>
              </a:spcBef>
              <a:buClr>
                <a:srgbClr val="000000"/>
              </a:buClr>
              <a:buSzPct val="100000"/>
              <a:buFont typeface="Calibri" panose="020F0502020204030204" pitchFamily="34" charset="0"/>
              <a:buNone/>
              <a:defRPr/>
            </a:pPr>
            <a:r>
              <a:rPr lang="pt-PT" sz="1600" b="0" dirty="0">
                <a:solidFill>
                  <a:schemeClr val="accent2">
                    <a:lumMod val="50000"/>
                  </a:schemeClr>
                </a:solidFill>
              </a:rPr>
              <a:t>Valor médio T5SS</a:t>
            </a:r>
          </a:p>
        </p:txBody>
      </p:sp>
      <p:sp>
        <p:nvSpPr>
          <p:cNvPr id="2" name="1 CuadroTexto"/>
          <p:cNvSpPr txBox="1"/>
          <p:nvPr/>
        </p:nvSpPr>
        <p:spPr>
          <a:xfrm>
            <a:off x="1665513" y="5705181"/>
            <a:ext cx="6422572" cy="261610"/>
          </a:xfrm>
          <a:prstGeom prst="rect">
            <a:avLst/>
          </a:prstGeom>
          <a:noFill/>
        </p:spPr>
        <p:txBody>
          <a:bodyPr wrap="square" rtlCol="0">
            <a:spAutoFit/>
          </a:bodyPr>
          <a:lstStyle/>
          <a:p>
            <a:r>
              <a:rPr lang="pt-PT" sz="1100" dirty="0">
                <a:solidFill>
                  <a:schemeClr val="accent2">
                    <a:lumMod val="50000"/>
                  </a:schemeClr>
                </a:solidFill>
              </a:rPr>
              <a:t>Não foi realizada uma comparação estatística</a:t>
            </a:r>
          </a:p>
        </p:txBody>
      </p:sp>
      <p:sp>
        <p:nvSpPr>
          <p:cNvPr id="11" name="TextBox 4"/>
          <p:cNvSpPr txBox="1">
            <a:spLocks noChangeArrowheads="1"/>
          </p:cNvSpPr>
          <p:nvPr/>
        </p:nvSpPr>
        <p:spPr bwMode="auto">
          <a:xfrm>
            <a:off x="1178773" y="6384130"/>
            <a:ext cx="1494320"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Dados Uriach em arquivo</a:t>
            </a:r>
          </a:p>
        </p:txBody>
      </p:sp>
      <p:sp>
        <p:nvSpPr>
          <p:cNvPr id="3" name="TextBox 2">
            <a:extLst>
              <a:ext uri="{FF2B5EF4-FFF2-40B4-BE49-F238E27FC236}">
                <a16:creationId xmlns:a16="http://schemas.microsoft.com/office/drawing/2014/main" id="{7412D40D-B511-356F-D740-23EEB94A8FF4}"/>
              </a:ext>
            </a:extLst>
          </p:cNvPr>
          <p:cNvSpPr txBox="1"/>
          <p:nvPr/>
        </p:nvSpPr>
        <p:spPr>
          <a:xfrm>
            <a:off x="7350318" y="3081995"/>
            <a:ext cx="338555" cy="338554"/>
          </a:xfrm>
          <a:prstGeom prst="rect">
            <a:avLst/>
          </a:prstGeom>
          <a:solidFill>
            <a:schemeClr val="bg1"/>
          </a:solidFill>
        </p:spPr>
        <p:txBody>
          <a:bodyPr wrap="square" lIns="0" tIns="0" rIns="0" bIns="0" rtlCol="0">
            <a:spAutoFit/>
          </a:bodyPr>
          <a:lstStyle/>
          <a:p>
            <a:r>
              <a:rPr lang="en-GB" sz="1100" b="0" dirty="0" err="1">
                <a:solidFill>
                  <a:schemeClr val="accent2">
                    <a:lumMod val="50000"/>
                  </a:schemeClr>
                </a:solidFill>
              </a:rPr>
              <a:t>Valor</a:t>
            </a:r>
            <a:r>
              <a:rPr lang="en-GB" sz="1100" b="0" dirty="0">
                <a:solidFill>
                  <a:schemeClr val="accent2">
                    <a:lumMod val="50000"/>
                  </a:schemeClr>
                </a:solidFill>
              </a:rPr>
              <a:t> basal</a:t>
            </a:r>
          </a:p>
        </p:txBody>
      </p:sp>
      <p:sp>
        <p:nvSpPr>
          <p:cNvPr id="4" name="TextBox 3">
            <a:extLst>
              <a:ext uri="{FF2B5EF4-FFF2-40B4-BE49-F238E27FC236}">
                <a16:creationId xmlns:a16="http://schemas.microsoft.com/office/drawing/2014/main" id="{FA0539B4-1EA2-90E5-EF17-2AA7B1B9B161}"/>
              </a:ext>
            </a:extLst>
          </p:cNvPr>
          <p:cNvSpPr txBox="1"/>
          <p:nvPr/>
        </p:nvSpPr>
        <p:spPr>
          <a:xfrm>
            <a:off x="7946156" y="3064689"/>
            <a:ext cx="688257" cy="338554"/>
          </a:xfrm>
          <a:prstGeom prst="rect">
            <a:avLst/>
          </a:prstGeom>
          <a:solidFill>
            <a:schemeClr val="bg1"/>
          </a:solidFill>
        </p:spPr>
        <p:txBody>
          <a:bodyPr wrap="square" lIns="0" tIns="0" rIns="0" bIns="0" rtlCol="0">
            <a:spAutoFit/>
          </a:bodyPr>
          <a:lstStyle/>
          <a:p>
            <a:r>
              <a:rPr lang="en-GB" sz="1100" b="0" dirty="0" err="1">
                <a:solidFill>
                  <a:schemeClr val="accent2">
                    <a:lumMod val="50000"/>
                  </a:schemeClr>
                </a:solidFill>
              </a:rPr>
              <a:t>Após</a:t>
            </a:r>
            <a:r>
              <a:rPr lang="en-GB" sz="1100" b="0" dirty="0">
                <a:solidFill>
                  <a:schemeClr val="accent2">
                    <a:lumMod val="50000"/>
                  </a:schemeClr>
                </a:solidFill>
              </a:rPr>
              <a:t> o </a:t>
            </a:r>
            <a:r>
              <a:rPr lang="en-GB" sz="1100" b="0" dirty="0" err="1">
                <a:solidFill>
                  <a:schemeClr val="accent2">
                    <a:lumMod val="50000"/>
                  </a:schemeClr>
                </a:solidFill>
              </a:rPr>
              <a:t>Tratamento</a:t>
            </a:r>
            <a:endParaRPr lang="en-GB" sz="1100" b="0" dirty="0">
              <a:solidFill>
                <a:schemeClr val="accent2">
                  <a:lumMod val="50000"/>
                </a:schemeClr>
              </a:solidFill>
            </a:endParaRPr>
          </a:p>
        </p:txBody>
      </p:sp>
      <p:sp>
        <p:nvSpPr>
          <p:cNvPr id="5" name="TextBox 4">
            <a:extLst>
              <a:ext uri="{FF2B5EF4-FFF2-40B4-BE49-F238E27FC236}">
                <a16:creationId xmlns:a16="http://schemas.microsoft.com/office/drawing/2014/main" id="{EAF3F268-68EB-0ADA-1A2F-F99155376FEE}"/>
              </a:ext>
            </a:extLst>
          </p:cNvPr>
          <p:cNvSpPr txBox="1"/>
          <p:nvPr/>
        </p:nvSpPr>
        <p:spPr>
          <a:xfrm>
            <a:off x="3140670" y="5380179"/>
            <a:ext cx="468077" cy="169277"/>
          </a:xfrm>
          <a:prstGeom prst="rect">
            <a:avLst/>
          </a:prstGeom>
          <a:solidFill>
            <a:schemeClr val="bg1"/>
          </a:solidFill>
        </p:spPr>
        <p:txBody>
          <a:bodyPr wrap="none" lIns="0" tIns="0" rIns="0" bIns="0" rtlCol="0">
            <a:spAutoFit/>
          </a:bodyPr>
          <a:lstStyle/>
          <a:p>
            <a:r>
              <a:rPr lang="en-GB" sz="1100" b="0" dirty="0">
                <a:solidFill>
                  <a:schemeClr val="accent2">
                    <a:lumMod val="50000"/>
                  </a:schemeClr>
                </a:solidFill>
              </a:rPr>
              <a:t>14 </a:t>
            </a:r>
            <a:r>
              <a:rPr lang="en-GB" sz="1100" b="0" dirty="0" err="1">
                <a:solidFill>
                  <a:schemeClr val="accent2">
                    <a:lumMod val="50000"/>
                  </a:schemeClr>
                </a:solidFill>
              </a:rPr>
              <a:t>dias</a:t>
            </a:r>
            <a:r>
              <a:rPr lang="en-GB" sz="1100" b="0" dirty="0">
                <a:solidFill>
                  <a:schemeClr val="accent2">
                    <a:lumMod val="50000"/>
                  </a:schemeClr>
                </a:solidFill>
              </a:rPr>
              <a:t>  </a:t>
            </a:r>
          </a:p>
        </p:txBody>
      </p:sp>
      <p:sp>
        <p:nvSpPr>
          <p:cNvPr id="6" name="TextBox 5">
            <a:extLst>
              <a:ext uri="{FF2B5EF4-FFF2-40B4-BE49-F238E27FC236}">
                <a16:creationId xmlns:a16="http://schemas.microsoft.com/office/drawing/2014/main" id="{D58E0F96-B810-48F7-D8D8-491759BE5471}"/>
              </a:ext>
            </a:extLst>
          </p:cNvPr>
          <p:cNvSpPr txBox="1"/>
          <p:nvPr/>
        </p:nvSpPr>
        <p:spPr>
          <a:xfrm>
            <a:off x="6115663" y="5387389"/>
            <a:ext cx="500137" cy="169277"/>
          </a:xfrm>
          <a:prstGeom prst="rect">
            <a:avLst/>
          </a:prstGeom>
          <a:solidFill>
            <a:schemeClr val="bg1"/>
          </a:solidFill>
        </p:spPr>
        <p:txBody>
          <a:bodyPr wrap="none" lIns="0" tIns="0" rIns="0" bIns="0" rtlCol="0">
            <a:spAutoFit/>
          </a:bodyPr>
          <a:lstStyle/>
          <a:p>
            <a:r>
              <a:rPr lang="en-GB" sz="1100" b="0" dirty="0">
                <a:solidFill>
                  <a:schemeClr val="accent2">
                    <a:lumMod val="50000"/>
                  </a:schemeClr>
                </a:solidFill>
              </a:rPr>
              <a:t>28 </a:t>
            </a:r>
            <a:r>
              <a:rPr lang="en-GB" sz="1100" b="0" dirty="0" err="1">
                <a:solidFill>
                  <a:schemeClr val="accent2">
                    <a:lumMod val="50000"/>
                  </a:schemeClr>
                </a:solidFill>
              </a:rPr>
              <a:t>dias</a:t>
            </a:r>
            <a:r>
              <a:rPr lang="en-GB" sz="1100" b="0" dirty="0">
                <a:solidFill>
                  <a:schemeClr val="accent2">
                    <a:lumMod val="50000"/>
                  </a:schemeClr>
                </a:solidFill>
              </a:rPr>
              <a:t>   </a:t>
            </a:r>
          </a:p>
        </p:txBody>
      </p:sp>
      <p:sp>
        <p:nvSpPr>
          <p:cNvPr id="16" name="Text Box 4">
            <a:extLst>
              <a:ext uri="{FF2B5EF4-FFF2-40B4-BE49-F238E27FC236}">
                <a16:creationId xmlns:a16="http://schemas.microsoft.com/office/drawing/2014/main" id="{B6A07063-4045-4F8C-A41C-315EF5D76503}"/>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332224628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ChangeArrowheads="1"/>
          </p:cNvSpPr>
          <p:nvPr/>
        </p:nvSpPr>
        <p:spPr bwMode="auto">
          <a:xfrm>
            <a:off x="198438" y="3102363"/>
            <a:ext cx="8496300" cy="574675"/>
          </a:xfrm>
          <a:prstGeom prst="roundRect">
            <a:avLst>
              <a:gd name="adj" fmla="val 50000"/>
            </a:avLst>
          </a:prstGeom>
          <a:solidFill>
            <a:schemeClr val="accent1">
              <a:lumMod val="60000"/>
              <a:lumOff val="40000"/>
            </a:schemeClr>
          </a:solidFill>
          <a:ln w="9525">
            <a:noFill/>
            <a:round/>
            <a:headEnd/>
            <a:tailEnd/>
          </a:ln>
        </p:spPr>
        <p:txBody>
          <a:bodyPr wrap="none" anchor="ctr"/>
          <a:lstStyle/>
          <a:p>
            <a:pPr eaLnBrk="1" hangingPunct="1">
              <a:buClr>
                <a:srgbClr val="000000"/>
              </a:buClr>
              <a:buSzPct val="100000"/>
              <a:buFont typeface="Calibri" pitchFamily="34" charset="0"/>
              <a:buNone/>
            </a:pPr>
            <a:endParaRPr lang="es-ES_tradnl" altLang="es-ES" dirty="0"/>
          </a:p>
        </p:txBody>
      </p:sp>
      <p:sp>
        <p:nvSpPr>
          <p:cNvPr id="3075" name="Rectangle 3"/>
          <p:cNvSpPr>
            <a:spLocks noGrp="1" noChangeArrowheads="1"/>
          </p:cNvSpPr>
          <p:nvPr>
            <p:ph idx="1"/>
          </p:nvPr>
        </p:nvSpPr>
        <p:spPr>
          <a:xfrm>
            <a:off x="465138" y="1196974"/>
            <a:ext cx="8229600" cy="4366427"/>
          </a:xfrm>
        </p:spPr>
        <p:txBody>
          <a:bodyPr>
            <a:normAutofit fontScale="85000" lnSpcReduction="20000"/>
          </a:bodyPr>
          <a:lstStyle/>
          <a:p>
            <a:pPr eaLnBrk="1" hangingPunct="1">
              <a:lnSpc>
                <a:spcPct val="150000"/>
              </a:lnSpc>
            </a:pPr>
            <a:endParaRPr lang="pt-PT" altLang="es-ES" sz="3000" b="1" dirty="0"/>
          </a:p>
          <a:p>
            <a:pPr eaLnBrk="1" hangingPunct="1">
              <a:lnSpc>
                <a:spcPct val="150000"/>
              </a:lnSpc>
            </a:pPr>
            <a:r>
              <a:rPr lang="pt-PT" altLang="es-ES" sz="3000" b="1" dirty="0"/>
              <a:t>RINIALER em Pediatria (&lt; 12 anos) </a:t>
            </a:r>
          </a:p>
          <a:p>
            <a:pPr lvl="1">
              <a:lnSpc>
                <a:spcPct val="150000"/>
              </a:lnSpc>
            </a:pPr>
            <a:r>
              <a:rPr lang="pt-PT" altLang="es-ES" sz="2800" b="1" dirty="0"/>
              <a:t>Rinite alérgica: Eficácia clínica</a:t>
            </a:r>
          </a:p>
          <a:p>
            <a:pPr lvl="1">
              <a:lnSpc>
                <a:spcPct val="150000"/>
              </a:lnSpc>
            </a:pPr>
            <a:r>
              <a:rPr lang="pt-PT" altLang="es-ES" sz="2800" b="1" dirty="0"/>
              <a:t>Urticária: Eficácia clínica</a:t>
            </a:r>
          </a:p>
          <a:p>
            <a:pPr lvl="1">
              <a:lnSpc>
                <a:spcPct val="150000"/>
              </a:lnSpc>
            </a:pPr>
            <a:r>
              <a:rPr lang="pt-PT" altLang="es-ES" sz="2800" b="1" dirty="0"/>
              <a:t>Segurança e Tolerabilidade</a:t>
            </a:r>
          </a:p>
          <a:p>
            <a:pPr eaLnBrk="1" hangingPunct="1">
              <a:lnSpc>
                <a:spcPct val="150000"/>
              </a:lnSpc>
            </a:pPr>
            <a:r>
              <a:rPr lang="pt-PT" altLang="es-ES" sz="3000" b="1" dirty="0"/>
              <a:t>Conclusões</a:t>
            </a:r>
          </a:p>
          <a:p>
            <a:pPr eaLnBrk="1" hangingPunct="1">
              <a:lnSpc>
                <a:spcPct val="150000"/>
              </a:lnSpc>
            </a:pPr>
            <a:r>
              <a:rPr lang="pt-PT" altLang="es-ES" sz="3000" b="1" dirty="0"/>
              <a:t>Indicações Terapêuticas</a:t>
            </a:r>
          </a:p>
        </p:txBody>
      </p:sp>
      <p:pic>
        <p:nvPicPr>
          <p:cNvPr id="3" name="Picture 2" descr="Text, logo&#10;&#10;Description automatically generated">
            <a:extLst>
              <a:ext uri="{FF2B5EF4-FFF2-40B4-BE49-F238E27FC236}">
                <a16:creationId xmlns:a16="http://schemas.microsoft.com/office/drawing/2014/main" id="{0A68C56D-5DCA-4C87-93E9-A9A726187A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7701" y="-386794"/>
            <a:ext cx="2566299" cy="1814776"/>
          </a:xfrm>
          <a:prstGeom prst="rect">
            <a:avLst/>
          </a:prstGeom>
        </p:spPr>
      </p:pic>
      <p:pic>
        <p:nvPicPr>
          <p:cNvPr id="5122" name="Picture 2" descr="Criança e natureza: entenda a importância da relação - O Poder das Cores">
            <a:extLst>
              <a:ext uri="{FF2B5EF4-FFF2-40B4-BE49-F238E27FC236}">
                <a16:creationId xmlns:a16="http://schemas.microsoft.com/office/drawing/2014/main" id="{3AE20798-FDEE-4627-B665-1928604B8A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9279" y="4341109"/>
            <a:ext cx="3274721" cy="25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2762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oup 57"/>
          <p:cNvGraphicFramePr>
            <a:graphicFrameLocks noGrp="1"/>
          </p:cNvGraphicFramePr>
          <p:nvPr>
            <p:extLst>
              <p:ext uri="{D42A27DB-BD31-4B8C-83A1-F6EECF244321}">
                <p14:modId xmlns:p14="http://schemas.microsoft.com/office/powerpoint/2010/main" val="993973584"/>
              </p:ext>
            </p:extLst>
          </p:nvPr>
        </p:nvGraphicFramePr>
        <p:xfrm>
          <a:off x="742482" y="1900337"/>
          <a:ext cx="7963976" cy="4029081"/>
        </p:xfrm>
        <a:graphic>
          <a:graphicData uri="http://schemas.openxmlformats.org/drawingml/2006/table">
            <a:tbl>
              <a:tblPr firstRow="1">
                <a:tableStyleId>{21E4AEA4-8DFA-4A89-87EB-49C32662AFE0}</a:tableStyleId>
              </a:tblPr>
              <a:tblGrid>
                <a:gridCol w="2063841">
                  <a:extLst>
                    <a:ext uri="{9D8B030D-6E8A-4147-A177-3AD203B41FA5}">
                      <a16:colId xmlns:a16="http://schemas.microsoft.com/office/drawing/2014/main" val="20000"/>
                    </a:ext>
                  </a:extLst>
                </a:gridCol>
                <a:gridCol w="5900135">
                  <a:extLst>
                    <a:ext uri="{9D8B030D-6E8A-4147-A177-3AD203B41FA5}">
                      <a16:colId xmlns:a16="http://schemas.microsoft.com/office/drawing/2014/main" val="20001"/>
                    </a:ext>
                  </a:extLst>
                </a:gridCol>
              </a:tblGrid>
              <a:tr h="710852">
                <a:tc gridSpan="2">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Calibri" pitchFamily="34" charset="0"/>
                        <a:buNone/>
                        <a:tabLst/>
                      </a:pPr>
                      <a:r>
                        <a:rPr kumimoji="0" lang="en-US" sz="1800" u="none" strike="noStrike" cap="none" normalizeH="0" baseline="0" dirty="0">
                          <a:ln>
                            <a:noFill/>
                          </a:ln>
                          <a:effectLst/>
                        </a:rPr>
                        <a:t>Eficácia e segurança de </a:t>
                      </a:r>
                      <a:r>
                        <a:rPr kumimoji="0" lang="en-US" sz="1800" u="none" strike="noStrike" cap="none" normalizeH="0" baseline="0" dirty="0" err="1">
                          <a:ln>
                            <a:noFill/>
                          </a:ln>
                          <a:effectLst/>
                        </a:rPr>
                        <a:t>Rinialer</a:t>
                      </a:r>
                      <a:r>
                        <a:rPr kumimoji="0" lang="en-US" sz="1800" u="none" strike="noStrike" cap="none" normalizeH="0" baseline="0" dirty="0">
                          <a:ln>
                            <a:noFill/>
                          </a:ln>
                          <a:effectLst/>
                        </a:rPr>
                        <a:t> solução no tratamento de urticária crónica espontânea (UCE) em doentes entre os 2 e os 11 anos de idade</a:t>
                      </a:r>
                      <a:endParaRPr kumimoji="0" lang="pt-PT" sz="1600" b="1" i="0" u="none" strike="noStrike" cap="none" normalizeH="0" baseline="0" dirty="0">
                        <a:ln>
                          <a:noFill/>
                        </a:ln>
                        <a:solidFill>
                          <a:schemeClr val="bg1"/>
                        </a:solidFill>
                        <a:effectLst/>
                        <a:latin typeface="Calibri" pitchFamily="34" charset="0"/>
                        <a:ea typeface="ＭＳ Ｐゴシック" pitchFamily="34" charset="-128"/>
                      </a:endParaRPr>
                    </a:p>
                  </a:txBody>
                  <a:tcPr marL="144000" marR="144000" marT="46799" marB="46799" anchor="ctr" horzOverflow="overflow"/>
                </a:tc>
                <a:tc hMerge="1">
                  <a:txBody>
                    <a:bodyPr/>
                    <a:lstStyle/>
                    <a:p>
                      <a:endParaRPr lang="es-ES"/>
                    </a:p>
                  </a:txBody>
                  <a:tcPr/>
                </a:tc>
                <a:extLst>
                  <a:ext uri="{0D108BD9-81ED-4DB2-BD59-A6C34878D82A}">
                    <a16:rowId xmlns:a16="http://schemas.microsoft.com/office/drawing/2014/main" val="10000"/>
                  </a:ext>
                </a:extLst>
              </a:tr>
              <a:tr h="791005">
                <a:tc>
                  <a:txBody>
                    <a:bodyPr/>
                    <a:lstStyle/>
                    <a:p>
                      <a:pPr marL="0" marR="0" lvl="0" indent="0" algn="l" defTabSz="449263" rtl="0" eaLnBrk="1" fontAlgn="base" latinLnBrk="0" hangingPunct="1">
                        <a:lnSpc>
                          <a:spcPct val="90000"/>
                        </a:lnSpc>
                        <a:spcBef>
                          <a:spcPts val="60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Desenho/duração</a:t>
                      </a:r>
                      <a:endParaRPr kumimoji="0" lang="pt-PT" sz="1400" b="1"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99" marB="46799" anchor="ctr" horzOverflow="overflow"/>
                </a:tc>
                <a:tc>
                  <a:txBody>
                    <a:bodyPr/>
                    <a:lstStyle/>
                    <a:p>
                      <a:pPr marL="0" marR="0" lvl="0" indent="0" algn="l" defTabSz="449263" rtl="0" eaLnBrk="0" fontAlgn="base" latinLnBrk="0" hangingPunct="0">
                        <a:lnSpc>
                          <a:spcPct val="101000"/>
                        </a:lnSpc>
                        <a:spcBef>
                          <a:spcPts val="350"/>
                        </a:spcBef>
                        <a:spcAft>
                          <a:spcPct val="0"/>
                        </a:spcAft>
                        <a:buClr>
                          <a:srgbClr val="000000"/>
                        </a:buClr>
                        <a:buSzPct val="85000"/>
                        <a:buFont typeface="Times New Roman" pitchFamily="18" charset="0"/>
                        <a:buNone/>
                        <a:tabLst/>
                      </a:pPr>
                      <a:r>
                        <a:rPr kumimoji="0" lang="en-US" sz="1400" u="none" strike="noStrike" cap="none" normalizeH="0" baseline="0" dirty="0" err="1">
                          <a:ln>
                            <a:noFill/>
                          </a:ln>
                          <a:solidFill>
                            <a:schemeClr val="accent2">
                              <a:lumMod val="50000"/>
                            </a:schemeClr>
                          </a:solidFill>
                          <a:effectLst/>
                        </a:rPr>
                        <a:t>Estudo</a:t>
                      </a:r>
                      <a:r>
                        <a:rPr kumimoji="0" lang="en-US" sz="1400" u="none" strike="noStrike" cap="none" normalizeH="0" baseline="0" dirty="0">
                          <a:ln>
                            <a:noFill/>
                          </a:ln>
                          <a:solidFill>
                            <a:schemeClr val="accent2">
                              <a:lumMod val="50000"/>
                            </a:schemeClr>
                          </a:solidFill>
                          <a:effectLst/>
                        </a:rPr>
                        <a:t> de </a:t>
                      </a:r>
                      <a:r>
                        <a:rPr kumimoji="0" lang="en-US" sz="1400" u="none" strike="noStrike" cap="none" normalizeH="0" baseline="0" dirty="0" err="1">
                          <a:ln>
                            <a:noFill/>
                          </a:ln>
                          <a:solidFill>
                            <a:schemeClr val="accent2">
                              <a:lumMod val="50000"/>
                            </a:schemeClr>
                          </a:solidFill>
                          <a:effectLst/>
                        </a:rPr>
                        <a:t>Fase</a:t>
                      </a:r>
                      <a:r>
                        <a:rPr kumimoji="0" lang="en-US" sz="1400" u="none" strike="noStrike" cap="none" normalizeH="0" baseline="0" dirty="0">
                          <a:ln>
                            <a:noFill/>
                          </a:ln>
                          <a:solidFill>
                            <a:schemeClr val="accent2">
                              <a:lumMod val="50000"/>
                            </a:schemeClr>
                          </a:solidFill>
                          <a:effectLst/>
                        </a:rPr>
                        <a:t> III, </a:t>
                      </a:r>
                      <a:r>
                        <a:rPr kumimoji="0" lang="en-US" sz="1400" u="none" strike="noStrike" cap="none" normalizeH="0" baseline="0" dirty="0" err="1">
                          <a:ln>
                            <a:noFill/>
                          </a:ln>
                          <a:solidFill>
                            <a:schemeClr val="accent2">
                              <a:lumMod val="50000"/>
                            </a:schemeClr>
                          </a:solidFill>
                          <a:effectLst/>
                        </a:rPr>
                        <a:t>paralelo</a:t>
                      </a:r>
                      <a:r>
                        <a:rPr kumimoji="0" lang="en-US" sz="1400" u="none" strike="noStrike" cap="none" normalizeH="0" baseline="0" dirty="0">
                          <a:ln>
                            <a:noFill/>
                          </a:ln>
                          <a:solidFill>
                            <a:schemeClr val="accent2">
                              <a:lumMod val="50000"/>
                            </a:schemeClr>
                          </a:solidFill>
                          <a:effectLst/>
                        </a:rPr>
                        <a:t>, </a:t>
                      </a:r>
                      <a:r>
                        <a:rPr kumimoji="0" lang="en-US" sz="1400" u="none" strike="noStrike" cap="none" normalizeH="0" baseline="0" dirty="0" err="1">
                          <a:ln>
                            <a:noFill/>
                          </a:ln>
                          <a:solidFill>
                            <a:schemeClr val="accent2">
                              <a:lumMod val="50000"/>
                            </a:schemeClr>
                          </a:solidFill>
                          <a:effectLst/>
                        </a:rPr>
                        <a:t>multicêntrico</a:t>
                      </a:r>
                      <a:r>
                        <a:rPr kumimoji="0" lang="en-US" sz="1400" u="none" strike="noStrike" cap="none" normalizeH="0" baseline="0" dirty="0">
                          <a:ln>
                            <a:noFill/>
                          </a:ln>
                          <a:solidFill>
                            <a:schemeClr val="accent2">
                              <a:lumMod val="50000"/>
                            </a:schemeClr>
                          </a:solidFill>
                          <a:effectLst/>
                        </a:rPr>
                        <a:t>, </a:t>
                      </a:r>
                      <a:r>
                        <a:rPr kumimoji="0" lang="en-US" sz="1400" u="none" strike="noStrike" cap="none" normalizeH="0" baseline="0" dirty="0" err="1">
                          <a:ln>
                            <a:noFill/>
                          </a:ln>
                          <a:solidFill>
                            <a:schemeClr val="accent2">
                              <a:lumMod val="50000"/>
                            </a:schemeClr>
                          </a:solidFill>
                          <a:effectLst/>
                        </a:rPr>
                        <a:t>aleatorizado</a:t>
                      </a:r>
                      <a:r>
                        <a:rPr kumimoji="0" lang="en-US" sz="1400" u="none" strike="noStrike" cap="none" normalizeH="0" baseline="0" dirty="0">
                          <a:ln>
                            <a:noFill/>
                          </a:ln>
                          <a:solidFill>
                            <a:schemeClr val="accent2">
                              <a:lumMod val="50000"/>
                            </a:schemeClr>
                          </a:solidFill>
                          <a:effectLst/>
                        </a:rPr>
                        <a:t>, </a:t>
                      </a:r>
                      <a:r>
                        <a:rPr kumimoji="0" lang="en-US" sz="1400" u="none" strike="noStrike" cap="none" normalizeH="0" baseline="0" dirty="0" err="1">
                          <a:ln>
                            <a:noFill/>
                          </a:ln>
                          <a:solidFill>
                            <a:schemeClr val="accent2">
                              <a:lumMod val="50000"/>
                            </a:schemeClr>
                          </a:solidFill>
                          <a:effectLst/>
                        </a:rPr>
                        <a:t>em</a:t>
                      </a:r>
                      <a:r>
                        <a:rPr kumimoji="0" lang="en-US" sz="1400" u="none" strike="noStrike" cap="none" normalizeH="0" baseline="0" dirty="0">
                          <a:ln>
                            <a:noFill/>
                          </a:ln>
                          <a:solidFill>
                            <a:schemeClr val="accent2">
                              <a:lumMod val="50000"/>
                            </a:schemeClr>
                          </a:solidFill>
                          <a:effectLst/>
                        </a:rPr>
                        <a:t> </a:t>
                      </a:r>
                      <a:r>
                        <a:rPr kumimoji="0" lang="en-US" sz="1400" u="none" strike="noStrike" cap="none" normalizeH="0" baseline="0" dirty="0" err="1">
                          <a:ln>
                            <a:noFill/>
                          </a:ln>
                          <a:solidFill>
                            <a:schemeClr val="accent2">
                              <a:lumMod val="50000"/>
                            </a:schemeClr>
                          </a:solidFill>
                          <a:effectLst/>
                        </a:rPr>
                        <a:t>dupla</a:t>
                      </a:r>
                      <a:r>
                        <a:rPr kumimoji="0" lang="en-US" sz="1400" u="none" strike="noStrike" cap="none" normalizeH="0" baseline="0" dirty="0">
                          <a:ln>
                            <a:noFill/>
                          </a:ln>
                          <a:solidFill>
                            <a:schemeClr val="accent2">
                              <a:lumMod val="50000"/>
                            </a:schemeClr>
                          </a:solidFill>
                          <a:effectLst/>
                        </a:rPr>
                        <a:t> </a:t>
                      </a:r>
                      <a:r>
                        <a:rPr kumimoji="0" lang="en-US" sz="1400" u="none" strike="noStrike" cap="none" normalizeH="0" baseline="0" dirty="0" err="1">
                          <a:ln>
                            <a:noFill/>
                          </a:ln>
                          <a:solidFill>
                            <a:schemeClr val="accent2">
                              <a:lumMod val="50000"/>
                            </a:schemeClr>
                          </a:solidFill>
                          <a:effectLst/>
                        </a:rPr>
                        <a:t>ocultação</a:t>
                      </a:r>
                      <a:r>
                        <a:rPr kumimoji="0" lang="en-US" sz="1400" u="none" strike="noStrike" cap="none" normalizeH="0" baseline="0" dirty="0">
                          <a:ln>
                            <a:noFill/>
                          </a:ln>
                          <a:solidFill>
                            <a:schemeClr val="accent2">
                              <a:lumMod val="50000"/>
                            </a:schemeClr>
                          </a:solidFill>
                          <a:effectLst/>
                        </a:rPr>
                        <a:t>, com 3 </a:t>
                      </a:r>
                      <a:r>
                        <a:rPr kumimoji="0" lang="en-US" sz="1400" u="none" strike="noStrike" cap="none" normalizeH="0" baseline="0" dirty="0" err="1">
                          <a:ln>
                            <a:noFill/>
                          </a:ln>
                          <a:solidFill>
                            <a:schemeClr val="accent2">
                              <a:lumMod val="50000"/>
                            </a:schemeClr>
                          </a:solidFill>
                          <a:effectLst/>
                        </a:rPr>
                        <a:t>braços</a:t>
                      </a:r>
                      <a:r>
                        <a:rPr kumimoji="0" lang="en-US" sz="1400" u="none" strike="noStrike" cap="none" normalizeH="0" baseline="0" dirty="0">
                          <a:ln>
                            <a:noFill/>
                          </a:ln>
                          <a:solidFill>
                            <a:schemeClr val="accent2">
                              <a:lumMod val="50000"/>
                            </a:schemeClr>
                          </a:solidFill>
                          <a:effectLst/>
                        </a:rPr>
                        <a:t> de </a:t>
                      </a:r>
                      <a:r>
                        <a:rPr kumimoji="0" lang="en-US" sz="1400" u="none" strike="noStrike" cap="none" normalizeH="0" baseline="0" dirty="0" err="1">
                          <a:ln>
                            <a:noFill/>
                          </a:ln>
                          <a:solidFill>
                            <a:schemeClr val="accent2">
                              <a:lumMod val="50000"/>
                            </a:schemeClr>
                          </a:solidFill>
                          <a:effectLst/>
                        </a:rPr>
                        <a:t>tratamento</a:t>
                      </a:r>
                      <a:r>
                        <a:rPr kumimoji="0" lang="en-US" sz="1400" u="none" strike="noStrike" cap="none" normalizeH="0" baseline="0" dirty="0">
                          <a:ln>
                            <a:noFill/>
                          </a:ln>
                          <a:solidFill>
                            <a:schemeClr val="accent2">
                              <a:lumMod val="50000"/>
                            </a:schemeClr>
                          </a:solidFill>
                          <a:effectLst/>
                        </a:rPr>
                        <a:t>, </a:t>
                      </a:r>
                      <a:r>
                        <a:rPr kumimoji="0" lang="en-US" sz="1400" u="none" strike="noStrike" cap="none" normalizeH="0" baseline="0" dirty="0" err="1">
                          <a:ln>
                            <a:noFill/>
                          </a:ln>
                          <a:solidFill>
                            <a:schemeClr val="accent2">
                              <a:lumMod val="50000"/>
                            </a:schemeClr>
                          </a:solidFill>
                          <a:effectLst/>
                        </a:rPr>
                        <a:t>controlado</a:t>
                      </a:r>
                      <a:r>
                        <a:rPr kumimoji="0" lang="en-US" sz="1400" u="none" strike="noStrike" cap="none" normalizeH="0" baseline="0" dirty="0">
                          <a:ln>
                            <a:noFill/>
                          </a:ln>
                          <a:solidFill>
                            <a:schemeClr val="accent2">
                              <a:lumMod val="50000"/>
                            </a:schemeClr>
                          </a:solidFill>
                          <a:effectLst/>
                        </a:rPr>
                        <a:t> por placebo e </a:t>
                      </a:r>
                      <a:r>
                        <a:rPr kumimoji="0" lang="en-US" sz="1400" u="none" strike="noStrike" cap="none" normalizeH="0" baseline="0" dirty="0" err="1">
                          <a:ln>
                            <a:noFill/>
                          </a:ln>
                          <a:solidFill>
                            <a:schemeClr val="accent2">
                              <a:lumMod val="50000"/>
                            </a:schemeClr>
                          </a:solidFill>
                          <a:effectLst/>
                        </a:rPr>
                        <a:t>substância</a:t>
                      </a:r>
                      <a:r>
                        <a:rPr kumimoji="0" lang="en-US" sz="1400" u="none" strike="noStrike" cap="none" normalizeH="0" baseline="0" dirty="0">
                          <a:ln>
                            <a:noFill/>
                          </a:ln>
                          <a:solidFill>
                            <a:schemeClr val="accent2">
                              <a:lumMod val="50000"/>
                            </a:schemeClr>
                          </a:solidFill>
                          <a:effectLst/>
                        </a:rPr>
                        <a:t> </a:t>
                      </a:r>
                      <a:r>
                        <a:rPr kumimoji="0" lang="en-US" sz="1400" u="none" strike="noStrike" cap="none" normalizeH="0" baseline="0" dirty="0" err="1">
                          <a:ln>
                            <a:noFill/>
                          </a:ln>
                          <a:solidFill>
                            <a:schemeClr val="accent2">
                              <a:lumMod val="50000"/>
                            </a:schemeClr>
                          </a:solidFill>
                          <a:effectLst/>
                        </a:rPr>
                        <a:t>activa</a:t>
                      </a:r>
                      <a:endParaRPr kumimoji="0" lang="en-US" sz="1400" u="none" strike="noStrike" cap="none" normalizeH="0" baseline="0" dirty="0">
                        <a:ln>
                          <a:noFill/>
                        </a:ln>
                        <a:solidFill>
                          <a:schemeClr val="accent2">
                            <a:lumMod val="50000"/>
                          </a:schemeClr>
                        </a:solidFill>
                        <a:effectLst/>
                      </a:endParaRPr>
                    </a:p>
                    <a:p>
                      <a:pPr marL="0" marR="0" lvl="0" indent="0" algn="l" defTabSz="449263" rtl="0" eaLnBrk="0" fontAlgn="base" latinLnBrk="0" hangingPunct="0">
                        <a:lnSpc>
                          <a:spcPct val="101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6 </a:t>
                      </a:r>
                      <a:r>
                        <a:rPr kumimoji="0" lang="en-GB" sz="1400" u="none" strike="noStrike" cap="none" normalizeH="0" baseline="0" dirty="0" err="1">
                          <a:ln>
                            <a:noFill/>
                          </a:ln>
                          <a:solidFill>
                            <a:schemeClr val="accent2">
                              <a:lumMod val="50000"/>
                            </a:schemeClr>
                          </a:solidFill>
                          <a:effectLst/>
                        </a:rPr>
                        <a:t>semanas</a:t>
                      </a:r>
                      <a:r>
                        <a:rPr kumimoji="0" lang="en-GB" sz="1400" u="none" strike="noStrike" cap="none" normalizeH="0" baseline="0" dirty="0">
                          <a:ln>
                            <a:noFill/>
                          </a:ln>
                          <a:solidFill>
                            <a:schemeClr val="accent2">
                              <a:lumMod val="50000"/>
                            </a:schemeClr>
                          </a:solidFill>
                          <a:effectLst/>
                        </a:rPr>
                        <a:t> </a:t>
                      </a:r>
                      <a:endParaRPr kumimoji="0" lang="pt-PT" sz="14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99" marB="46799" anchor="ctr" horzOverflow="overflow"/>
                </a:tc>
                <a:extLst>
                  <a:ext uri="{0D108BD9-81ED-4DB2-BD59-A6C34878D82A}">
                    <a16:rowId xmlns:a16="http://schemas.microsoft.com/office/drawing/2014/main" val="10001"/>
                  </a:ext>
                </a:extLst>
              </a:tr>
              <a:tr h="1599672">
                <a:tc>
                  <a:txBody>
                    <a:bodyPr/>
                    <a:lstStyle/>
                    <a:p>
                      <a:pPr marL="0" marR="0" lvl="0" indent="0" algn="l" defTabSz="449263" rtl="0" eaLnBrk="1" fontAlgn="base" latinLnBrk="0" hangingPunct="0">
                        <a:lnSpc>
                          <a:spcPct val="90000"/>
                        </a:lnSpc>
                        <a:spcBef>
                          <a:spcPct val="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Tratamentos/</a:t>
                      </a:r>
                    </a:p>
                    <a:p>
                      <a:pPr marL="0" marR="0" lvl="0" indent="0" algn="l" defTabSz="449263" rtl="0" eaLnBrk="1" fontAlgn="base" latinLnBrk="0" hangingPunct="0">
                        <a:lnSpc>
                          <a:spcPct val="90000"/>
                        </a:lnSpc>
                        <a:spcBef>
                          <a:spcPct val="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Doentes (n)</a:t>
                      </a:r>
                      <a:endParaRPr kumimoji="0" lang="pt-PT" sz="1400" b="1"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99" marB="46799" anchor="ctr" horzOverflow="overflow"/>
                </a:tc>
                <a:tc>
                  <a:txBody>
                    <a:bodyPr/>
                    <a:lstStyle/>
                    <a:p>
                      <a:pPr marL="0" marR="0" lvl="0" indent="0" algn="l" defTabSz="449263" rtl="0" eaLnBrk="0" fontAlgn="base" latinLnBrk="0" hangingPunct="0">
                        <a:lnSpc>
                          <a:spcPct val="91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Crianças com idades compreendidas entre os 2 e os 11 anos de </a:t>
                      </a:r>
                      <a:r>
                        <a:rPr kumimoji="0" lang="en-GB" sz="1400" u="none" strike="noStrike" cap="none" normalizeH="0" baseline="0" dirty="0" err="1">
                          <a:ln>
                            <a:noFill/>
                          </a:ln>
                          <a:solidFill>
                            <a:schemeClr val="accent2">
                              <a:lumMod val="50000"/>
                            </a:schemeClr>
                          </a:solidFill>
                          <a:effectLst/>
                        </a:rPr>
                        <a:t>idade</a:t>
                      </a:r>
                      <a:r>
                        <a:rPr kumimoji="0" lang="en-GB" sz="1400" u="none" strike="noStrike" cap="none" normalizeH="0" baseline="0" dirty="0">
                          <a:ln>
                            <a:noFill/>
                          </a:ln>
                          <a:solidFill>
                            <a:schemeClr val="accent2">
                              <a:lumMod val="50000"/>
                            </a:schemeClr>
                          </a:solidFill>
                          <a:effectLst/>
                        </a:rPr>
                        <a:t> que </a:t>
                      </a:r>
                      <a:r>
                        <a:rPr kumimoji="0" lang="en-GB" sz="1400" u="none" strike="noStrike" cap="none" normalizeH="0" baseline="0" dirty="0" err="1">
                          <a:ln>
                            <a:noFill/>
                          </a:ln>
                          <a:solidFill>
                            <a:schemeClr val="accent2">
                              <a:lumMod val="50000"/>
                            </a:schemeClr>
                          </a:solidFill>
                          <a:effectLst/>
                        </a:rPr>
                        <a:t>sofrem</a:t>
                      </a:r>
                      <a:r>
                        <a:rPr kumimoji="0" lang="en-GB" sz="1400" u="none" strike="noStrike" cap="none" normalizeH="0" baseline="0" dirty="0">
                          <a:ln>
                            <a:noFill/>
                          </a:ln>
                          <a:solidFill>
                            <a:schemeClr val="accent2">
                              <a:lumMod val="50000"/>
                            </a:schemeClr>
                          </a:solidFill>
                          <a:effectLst/>
                        </a:rPr>
                        <a:t> de urticária crónica espontânea </a:t>
                      </a:r>
                      <a:endParaRPr kumimoji="0" lang="pt-PT" sz="1400" u="none" strike="noStrike" cap="none" normalizeH="0" baseline="0" dirty="0">
                        <a:ln>
                          <a:noFill/>
                        </a:ln>
                        <a:solidFill>
                          <a:schemeClr val="accent2">
                            <a:lumMod val="50000"/>
                          </a:schemeClr>
                        </a:solidFill>
                        <a:effectLst/>
                      </a:endParaRPr>
                    </a:p>
                    <a:p>
                      <a:pPr marL="0" marR="0" lvl="0" indent="0" algn="l" defTabSz="449263" rtl="0" eaLnBrk="0" fontAlgn="base" latinLnBrk="0" hangingPunct="0">
                        <a:lnSpc>
                          <a:spcPct val="91000"/>
                        </a:lnSpc>
                        <a:spcBef>
                          <a:spcPts val="350"/>
                        </a:spcBef>
                        <a:spcAft>
                          <a:spcPct val="0"/>
                        </a:spcAft>
                        <a:buClr>
                          <a:srgbClr val="000000"/>
                        </a:buClr>
                        <a:buSzPct val="85000"/>
                        <a:buFont typeface="Times New Roman" pitchFamily="18" charset="0"/>
                        <a:buNone/>
                        <a:tabLst/>
                      </a:pPr>
                      <a:r>
                        <a:rPr kumimoji="0" lang="en-GB" sz="1400" u="none" strike="noStrike" cap="none" normalizeH="0" baseline="0" dirty="0" err="1">
                          <a:ln>
                            <a:noFill/>
                          </a:ln>
                          <a:solidFill>
                            <a:schemeClr val="accent2">
                              <a:lumMod val="50000"/>
                            </a:schemeClr>
                          </a:solidFill>
                          <a:effectLst/>
                        </a:rPr>
                        <a:t>Rinialer</a:t>
                      </a:r>
                      <a:r>
                        <a:rPr kumimoji="0" lang="en-GB" sz="1400" u="none" strike="noStrike" cap="none" normalizeH="0" baseline="0" dirty="0">
                          <a:ln>
                            <a:noFill/>
                          </a:ln>
                          <a:solidFill>
                            <a:schemeClr val="accent2">
                              <a:lumMod val="50000"/>
                            </a:schemeClr>
                          </a:solidFill>
                          <a:effectLst/>
                        </a:rPr>
                        <a:t> 1 mg/ml solução </a:t>
                      </a:r>
                    </a:p>
                    <a:p>
                      <a:pPr marL="285750" marR="0" lvl="1" indent="-285750" algn="l" defTabSz="449263" rtl="0" eaLnBrk="1" fontAlgn="base" latinLnBrk="0" hangingPunct="1">
                        <a:lnSpc>
                          <a:spcPct val="100000"/>
                        </a:lnSpc>
                        <a:spcBef>
                          <a:spcPct val="0"/>
                        </a:spcBef>
                        <a:spcAft>
                          <a:spcPct val="0"/>
                        </a:spcAft>
                        <a:buClr>
                          <a:schemeClr val="accent2">
                            <a:lumMod val="50000"/>
                          </a:schemeClr>
                        </a:buClr>
                        <a:buSzTx/>
                        <a:buFont typeface="Wingdings" panose="05000000000000000000" pitchFamily="2" charset="2"/>
                        <a:buChar char="§"/>
                        <a:tabLst/>
                      </a:pPr>
                      <a:r>
                        <a:rPr kumimoji="0" lang="en-US" sz="1400" u="none" strike="noStrike" cap="none" normalizeH="0" baseline="0" dirty="0" err="1">
                          <a:ln>
                            <a:noFill/>
                          </a:ln>
                          <a:solidFill>
                            <a:schemeClr val="accent2">
                              <a:lumMod val="50000"/>
                            </a:schemeClr>
                          </a:solidFill>
                          <a:effectLst/>
                        </a:rPr>
                        <a:t>Rinialer</a:t>
                      </a:r>
                      <a:r>
                        <a:rPr kumimoji="0" lang="en-US" sz="1400" u="none" strike="noStrike" cap="none" normalizeH="0" baseline="0" dirty="0">
                          <a:ln>
                            <a:noFill/>
                          </a:ln>
                          <a:solidFill>
                            <a:schemeClr val="accent2">
                              <a:lumMod val="50000"/>
                            </a:schemeClr>
                          </a:solidFill>
                          <a:effectLst/>
                        </a:rPr>
                        <a:t> solução 1 mg/ml: 2,5 ml uma vez ao dia (peso corporal ≥ 10 kg a &lt; 25 kg) ou 5,0 ml uma vez ao dia (peso corporal ≥ 25 kg)</a:t>
                      </a:r>
                    </a:p>
                    <a:p>
                      <a:pPr marL="285750" marR="0" lvl="1" indent="-285750" algn="l" defTabSz="449263" rtl="0" eaLnBrk="1" fontAlgn="base" latinLnBrk="0" hangingPunct="1">
                        <a:lnSpc>
                          <a:spcPct val="100000"/>
                        </a:lnSpc>
                        <a:spcBef>
                          <a:spcPct val="0"/>
                        </a:spcBef>
                        <a:spcAft>
                          <a:spcPct val="0"/>
                        </a:spcAft>
                        <a:buClr>
                          <a:schemeClr val="accent2">
                            <a:lumMod val="50000"/>
                          </a:schemeClr>
                        </a:buClr>
                        <a:buSzTx/>
                        <a:buFont typeface="Wingdings" panose="05000000000000000000" pitchFamily="2" charset="2"/>
                        <a:buChar char="§"/>
                        <a:tabLst/>
                      </a:pPr>
                      <a:r>
                        <a:rPr kumimoji="0" lang="en-US" sz="1400" u="none" strike="noStrike" cap="none" normalizeH="0" baseline="0" dirty="0">
                          <a:ln>
                            <a:noFill/>
                          </a:ln>
                          <a:solidFill>
                            <a:schemeClr val="accent2">
                              <a:lumMod val="50000"/>
                            </a:schemeClr>
                          </a:solidFill>
                          <a:effectLst/>
                        </a:rPr>
                        <a:t>Desloratadina solução 0,5 mg/ml: 2,5 ml uma vez ao dia (peso corporal ≥ 10 kg a &lt; 25 kg) ou 5,0 ml uma vez ao dia (peso corporal ≥ 25 kg)</a:t>
                      </a:r>
                    </a:p>
                    <a:p>
                      <a:pPr marL="285750" marR="0" lvl="1" indent="-285750" algn="l" defTabSz="449263" rtl="0" eaLnBrk="1" fontAlgn="base" latinLnBrk="0" hangingPunct="1">
                        <a:lnSpc>
                          <a:spcPct val="100000"/>
                        </a:lnSpc>
                        <a:spcBef>
                          <a:spcPct val="0"/>
                        </a:spcBef>
                        <a:spcAft>
                          <a:spcPct val="0"/>
                        </a:spcAft>
                        <a:buClr>
                          <a:schemeClr val="accent2">
                            <a:lumMod val="50000"/>
                          </a:schemeClr>
                        </a:buClr>
                        <a:buSzTx/>
                        <a:buFont typeface="Wingdings" panose="05000000000000000000" pitchFamily="2" charset="2"/>
                        <a:buChar char="§"/>
                        <a:tabLst/>
                      </a:pPr>
                      <a:r>
                        <a:rPr kumimoji="0" lang="en-US" sz="1400" u="none" strike="noStrike" cap="none" normalizeH="0" baseline="0" dirty="0">
                          <a:ln>
                            <a:noFill/>
                          </a:ln>
                          <a:solidFill>
                            <a:schemeClr val="accent2">
                              <a:lumMod val="50000"/>
                            </a:schemeClr>
                          </a:solidFill>
                          <a:effectLst/>
                        </a:rPr>
                        <a:t>Solução de placebo</a:t>
                      </a:r>
                      <a:endParaRPr kumimoji="0" lang="pt-PT" sz="14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99" marB="46799" anchor="ctr" horzOverflow="overflow"/>
                </a:tc>
                <a:extLst>
                  <a:ext uri="{0D108BD9-81ED-4DB2-BD59-A6C34878D82A}">
                    <a16:rowId xmlns:a16="http://schemas.microsoft.com/office/drawing/2014/main" val="10002"/>
                  </a:ext>
                </a:extLst>
              </a:tr>
              <a:tr h="733477">
                <a:tc>
                  <a:txBody>
                    <a:bodyPr/>
                    <a:lstStyle/>
                    <a:p>
                      <a:pPr marL="0" marR="0" lvl="0" indent="0" algn="l" defTabSz="449263" rtl="0" eaLnBrk="1" fontAlgn="base" latinLnBrk="0" hangingPunct="1">
                        <a:lnSpc>
                          <a:spcPct val="90000"/>
                        </a:lnSpc>
                        <a:spcBef>
                          <a:spcPts val="600"/>
                        </a:spcBef>
                        <a:spcAft>
                          <a:spcPct val="0"/>
                        </a:spcAft>
                        <a:buClr>
                          <a:srgbClr val="000000"/>
                        </a:buClr>
                        <a:buSzPct val="85000"/>
                        <a:buFont typeface="Times New Roman" pitchFamily="18" charset="0"/>
                        <a:buNone/>
                        <a:tabLst/>
                      </a:pPr>
                      <a:r>
                        <a:rPr kumimoji="0" lang="en-GB" sz="1400" u="none" strike="noStrike" cap="none" normalizeH="0" baseline="0" dirty="0">
                          <a:ln>
                            <a:noFill/>
                          </a:ln>
                          <a:solidFill>
                            <a:schemeClr val="accent2">
                              <a:lumMod val="50000"/>
                            </a:schemeClr>
                          </a:solidFill>
                          <a:effectLst/>
                        </a:rPr>
                        <a:t>Parâmetros de avaliação</a:t>
                      </a:r>
                      <a:endParaRPr kumimoji="0" lang="pt-PT" sz="1400" b="1"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99" marB="46799" anchor="ctr" horzOverflow="overflow"/>
                </a:tc>
                <a:tc>
                  <a:txBody>
                    <a:bodyPr/>
                    <a:lstStyle/>
                    <a:p>
                      <a:pPr marL="0" marR="0" lvl="2" indent="0" algn="l" defTabSz="914400" rtl="0" eaLnBrk="1" fontAlgn="base" latinLnBrk="0" hangingPunct="1">
                        <a:lnSpc>
                          <a:spcPct val="110000"/>
                        </a:lnSpc>
                        <a:spcBef>
                          <a:spcPct val="75000"/>
                        </a:spcBef>
                        <a:spcAft>
                          <a:spcPct val="0"/>
                        </a:spcAft>
                        <a:buClrTx/>
                        <a:buSzTx/>
                        <a:buFontTx/>
                        <a:buNone/>
                        <a:tabLst/>
                      </a:pPr>
                      <a:r>
                        <a:rPr kumimoji="0" lang="en-US" sz="1400" u="none" strike="noStrike" cap="none" normalizeH="0" baseline="0" dirty="0">
                          <a:ln>
                            <a:noFill/>
                          </a:ln>
                          <a:solidFill>
                            <a:schemeClr val="accent2">
                              <a:lumMod val="50000"/>
                            </a:schemeClr>
                          </a:solidFill>
                          <a:effectLst/>
                        </a:rPr>
                        <a:t>Eficácia e segurança da </a:t>
                      </a:r>
                      <a:r>
                        <a:rPr kumimoji="0" lang="en-US" sz="1400" u="none" strike="noStrike" cap="none" normalizeH="0" baseline="0" dirty="0" err="1">
                          <a:ln>
                            <a:noFill/>
                          </a:ln>
                          <a:solidFill>
                            <a:schemeClr val="accent2">
                              <a:lumMod val="50000"/>
                            </a:schemeClr>
                          </a:solidFill>
                          <a:effectLst/>
                        </a:rPr>
                        <a:t>Rinialer</a:t>
                      </a:r>
                      <a:r>
                        <a:rPr kumimoji="0" lang="en-US" sz="1400" u="none" strike="noStrike" cap="none" normalizeH="0" baseline="0" dirty="0">
                          <a:ln>
                            <a:noFill/>
                          </a:ln>
                          <a:solidFill>
                            <a:schemeClr val="accent2">
                              <a:lumMod val="50000"/>
                            </a:schemeClr>
                          </a:solidFill>
                          <a:effectLst/>
                        </a:rPr>
                        <a:t> no tratamento de sintomas de UCE </a:t>
                      </a:r>
                      <a:endParaRPr kumimoji="0" lang="pt-PT" sz="1400" b="0" i="0" u="none" strike="noStrike" cap="none" normalizeH="0" baseline="0" dirty="0">
                        <a:ln>
                          <a:noFill/>
                        </a:ln>
                        <a:solidFill>
                          <a:schemeClr val="accent2">
                            <a:lumMod val="50000"/>
                          </a:schemeClr>
                        </a:solidFill>
                        <a:effectLst/>
                        <a:latin typeface="Calibri" pitchFamily="34" charset="0"/>
                        <a:ea typeface="ＭＳ Ｐゴシック" pitchFamily="34" charset="-128"/>
                      </a:endParaRPr>
                    </a:p>
                  </a:txBody>
                  <a:tcPr marL="144000" marR="144000" marT="46799" marB="46799" anchor="ctr" horzOverflow="overflow"/>
                </a:tc>
                <a:extLst>
                  <a:ext uri="{0D108BD9-81ED-4DB2-BD59-A6C34878D82A}">
                    <a16:rowId xmlns:a16="http://schemas.microsoft.com/office/drawing/2014/main" val="10003"/>
                  </a:ext>
                </a:extLst>
              </a:tr>
            </a:tbl>
          </a:graphicData>
        </a:graphic>
      </p:graphicFrame>
      <p:sp>
        <p:nvSpPr>
          <p:cNvPr id="60420" name="Text Box 48"/>
          <p:cNvSpPr txBox="1">
            <a:spLocks noChangeArrowheads="1"/>
          </p:cNvSpPr>
          <p:nvPr/>
        </p:nvSpPr>
        <p:spPr bwMode="auto">
          <a:xfrm>
            <a:off x="1368943" y="438355"/>
            <a:ext cx="8826500" cy="985837"/>
          </a:xfrm>
          <a:prstGeom prst="rect">
            <a:avLst/>
          </a:prstGeom>
          <a:noFill/>
          <a:ln w="9525">
            <a:noFill/>
            <a:miter lim="800000"/>
            <a:headEnd/>
            <a:tailEnd/>
          </a:ln>
        </p:spPr>
        <p:txBody>
          <a:bodyPr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de Fase III em urticária crónica espontânea: Materiais e métodos</a:t>
            </a:r>
          </a:p>
        </p:txBody>
      </p:sp>
      <p:sp>
        <p:nvSpPr>
          <p:cNvPr id="13" name="TextBox 4"/>
          <p:cNvSpPr txBox="1">
            <a:spLocks noChangeArrowheads="1"/>
          </p:cNvSpPr>
          <p:nvPr/>
        </p:nvSpPr>
        <p:spPr bwMode="auto">
          <a:xfrm>
            <a:off x="1158659" y="6310253"/>
            <a:ext cx="3103735" cy="400110"/>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Dados Uriach em arquivo</a:t>
            </a:r>
          </a:p>
          <a:p>
            <a:r>
              <a:rPr lang="pt-PT" altLang="es-ES" sz="1000" b="0" dirty="0">
                <a:solidFill>
                  <a:schemeClr val="accent2">
                    <a:lumMod val="50000"/>
                  </a:schemeClr>
                </a:solidFill>
              </a:rPr>
              <a:t>Potter P. et al. Pediatr Allergy Immunol 2016:27:55-61</a:t>
            </a:r>
          </a:p>
        </p:txBody>
      </p:sp>
      <p:sp>
        <p:nvSpPr>
          <p:cNvPr id="6" name="Text Box 4">
            <a:extLst>
              <a:ext uri="{FF2B5EF4-FFF2-40B4-BE49-F238E27FC236}">
                <a16:creationId xmlns:a16="http://schemas.microsoft.com/office/drawing/2014/main" id="{4F8FFCB6-018E-412D-8F62-A1781B88159A}"/>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7 Rectángulo redondeado"/>
          <p:cNvSpPr/>
          <p:nvPr/>
        </p:nvSpPr>
        <p:spPr bwMode="auto">
          <a:xfrm>
            <a:off x="962903" y="1658221"/>
            <a:ext cx="7830098" cy="704632"/>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defTabSz="914400" eaLnBrk="1" hangingPunct="1">
              <a:buClr>
                <a:srgbClr val="000000"/>
              </a:buClr>
              <a:buSzPct val="100000"/>
              <a:buFont typeface="Calibri" pitchFamily="34" charset="0"/>
              <a:buNone/>
            </a:pPr>
            <a:r>
              <a:rPr lang="en-US" altLang="es-ES" sz="2000" dirty="0">
                <a:solidFill>
                  <a:schemeClr val="accent2">
                    <a:lumMod val="50000"/>
                  </a:schemeClr>
                </a:solidFill>
              </a:rPr>
              <a:t>Efficacy and safety of </a:t>
            </a:r>
            <a:r>
              <a:rPr lang="en-US" altLang="es-ES" sz="2000" dirty="0" err="1">
                <a:solidFill>
                  <a:schemeClr val="accent2">
                    <a:lumMod val="50000"/>
                  </a:schemeClr>
                </a:solidFill>
              </a:rPr>
              <a:t>Rinialer</a:t>
            </a:r>
            <a:r>
              <a:rPr lang="en-US" altLang="es-ES" sz="2000" dirty="0">
                <a:solidFill>
                  <a:schemeClr val="accent2">
                    <a:lumMod val="50000"/>
                  </a:schemeClr>
                </a:solidFill>
              </a:rPr>
              <a:t> solution in the treatment </a:t>
            </a:r>
          </a:p>
          <a:p>
            <a:pPr algn="ctr" defTabSz="914400" eaLnBrk="1" hangingPunct="1">
              <a:buClr>
                <a:srgbClr val="000000"/>
              </a:buClr>
              <a:buSzPct val="100000"/>
              <a:buFont typeface="Calibri" pitchFamily="34" charset="0"/>
              <a:buNone/>
            </a:pPr>
            <a:r>
              <a:rPr lang="en-US" altLang="es-ES" sz="2000" dirty="0">
                <a:solidFill>
                  <a:schemeClr val="accent2">
                    <a:lumMod val="50000"/>
                  </a:schemeClr>
                </a:solidFill>
              </a:rPr>
              <a:t>of CSU in patients aged 2-11 years</a:t>
            </a:r>
            <a:endParaRPr lang="es-ES" altLang="es-ES" sz="2000" dirty="0">
              <a:solidFill>
                <a:schemeClr val="accent2">
                  <a:lumMod val="50000"/>
                </a:schemeClr>
              </a:solidFill>
            </a:endParaRPr>
          </a:p>
        </p:txBody>
      </p:sp>
      <p:sp>
        <p:nvSpPr>
          <p:cNvPr id="60420" name="Text Box 48"/>
          <p:cNvSpPr txBox="1">
            <a:spLocks noChangeArrowheads="1"/>
          </p:cNvSpPr>
          <p:nvPr/>
        </p:nvSpPr>
        <p:spPr bwMode="auto">
          <a:xfrm>
            <a:off x="1304539" y="466637"/>
            <a:ext cx="7175317"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en-GB" altLang="es-ES" sz="3200" dirty="0">
                <a:solidFill>
                  <a:schemeClr val="accent2">
                    <a:lumMod val="50000"/>
                  </a:schemeClr>
                </a:solidFill>
              </a:rPr>
              <a:t>Phase III study in chronic spontaneous urticaria: Study design </a:t>
            </a:r>
          </a:p>
        </p:txBody>
      </p:sp>
      <p:sp>
        <p:nvSpPr>
          <p:cNvPr id="4" name="Text Box 290"/>
          <p:cNvSpPr txBox="1">
            <a:spLocks noChangeArrowheads="1"/>
          </p:cNvSpPr>
          <p:nvPr/>
        </p:nvSpPr>
        <p:spPr bwMode="auto">
          <a:xfrm>
            <a:off x="1081692" y="2907104"/>
            <a:ext cx="1603375" cy="418576"/>
          </a:xfrm>
          <a:prstGeom prst="rect">
            <a:avLst/>
          </a:prstGeom>
          <a:noFill/>
          <a:ln w="9525">
            <a:noFill/>
            <a:miter lim="800000"/>
            <a:headEnd/>
            <a:tailEnd/>
          </a:ln>
        </p:spPr>
        <p:txBody>
          <a:bodyPr anchor="b">
            <a:spAutoFit/>
          </a:bodyPr>
          <a:lstStyle/>
          <a:p>
            <a:pPr algn="ctr" eaLnBrk="1" hangingPunct="1">
              <a:lnSpc>
                <a:spcPct val="60000"/>
              </a:lnSpc>
              <a:spcBef>
                <a:spcPct val="50000"/>
              </a:spcBef>
              <a:buClr>
                <a:srgbClr val="000000"/>
              </a:buClr>
              <a:buSzPct val="100000"/>
              <a:buFont typeface="Calibri" pitchFamily="34" charset="0"/>
              <a:buNone/>
            </a:pPr>
            <a:r>
              <a:rPr lang="es-ES" altLang="es-ES" sz="1200" b="0" dirty="0">
                <a:solidFill>
                  <a:schemeClr val="accent2">
                    <a:lumMod val="50000"/>
                  </a:schemeClr>
                </a:solidFill>
                <a:latin typeface="Calibri"/>
              </a:rPr>
              <a:t>Day -14</a:t>
            </a:r>
          </a:p>
          <a:p>
            <a:pPr algn="ctr" eaLnBrk="1" hangingPunct="1">
              <a:lnSpc>
                <a:spcPct val="60000"/>
              </a:lnSpc>
              <a:spcBef>
                <a:spcPct val="50000"/>
              </a:spcBef>
              <a:buClr>
                <a:srgbClr val="000000"/>
              </a:buClr>
              <a:buSzPct val="100000"/>
              <a:buFont typeface="Calibri" pitchFamily="34" charset="0"/>
              <a:buNone/>
            </a:pPr>
            <a:r>
              <a:rPr lang="es-ES" altLang="es-ES" sz="1200" b="0" dirty="0">
                <a:solidFill>
                  <a:schemeClr val="accent2">
                    <a:lumMod val="50000"/>
                  </a:schemeClr>
                </a:solidFill>
                <a:latin typeface="Calibri"/>
              </a:rPr>
              <a:t>Screening visit</a:t>
            </a:r>
          </a:p>
        </p:txBody>
      </p:sp>
      <p:sp>
        <p:nvSpPr>
          <p:cNvPr id="6" name="Line 5"/>
          <p:cNvSpPr>
            <a:spLocks noChangeShapeType="1"/>
          </p:cNvSpPr>
          <p:nvPr/>
        </p:nvSpPr>
        <p:spPr bwMode="auto">
          <a:xfrm>
            <a:off x="2963177" y="2754379"/>
            <a:ext cx="2376487" cy="0"/>
          </a:xfrm>
          <a:prstGeom prst="line">
            <a:avLst/>
          </a:prstGeom>
          <a:noFill/>
          <a:ln w="28575">
            <a:solidFill>
              <a:srgbClr val="333399"/>
            </a:solidFill>
            <a:round/>
            <a:headEnd/>
            <a:tailEnd/>
          </a:ln>
        </p:spPr>
        <p:txBody>
          <a:bodyPr wrap="none" anchor="ctr"/>
          <a:lstStyle/>
          <a:p>
            <a:endParaRPr lang="es-ES" sz="3200">
              <a:latin typeface="Calibri"/>
            </a:endParaRPr>
          </a:p>
        </p:txBody>
      </p:sp>
      <p:sp>
        <p:nvSpPr>
          <p:cNvPr id="7" name="Line 6"/>
          <p:cNvSpPr>
            <a:spLocks noChangeShapeType="1"/>
          </p:cNvSpPr>
          <p:nvPr/>
        </p:nvSpPr>
        <p:spPr bwMode="auto">
          <a:xfrm>
            <a:off x="5700027" y="2754379"/>
            <a:ext cx="2376487" cy="0"/>
          </a:xfrm>
          <a:prstGeom prst="line">
            <a:avLst/>
          </a:prstGeom>
          <a:noFill/>
          <a:ln w="28575">
            <a:solidFill>
              <a:srgbClr val="333399"/>
            </a:solidFill>
            <a:round/>
            <a:headEnd/>
            <a:tailEnd/>
          </a:ln>
        </p:spPr>
        <p:txBody>
          <a:bodyPr wrap="none" anchor="ctr"/>
          <a:lstStyle/>
          <a:p>
            <a:endParaRPr lang="es-ES" sz="3200">
              <a:latin typeface="Calibri"/>
            </a:endParaRPr>
          </a:p>
        </p:txBody>
      </p:sp>
      <p:sp>
        <p:nvSpPr>
          <p:cNvPr id="8" name="Text Box 7"/>
          <p:cNvSpPr txBox="1">
            <a:spLocks noChangeArrowheads="1"/>
          </p:cNvSpPr>
          <p:nvPr/>
        </p:nvSpPr>
        <p:spPr bwMode="auto">
          <a:xfrm>
            <a:off x="2880627" y="2458965"/>
            <a:ext cx="2459037" cy="307777"/>
          </a:xfrm>
          <a:prstGeom prst="rect">
            <a:avLst/>
          </a:prstGeom>
          <a:noFill/>
          <a:ln w="9525">
            <a:noFill/>
            <a:miter lim="800000"/>
            <a:headEnd/>
            <a:tailEnd/>
          </a:ln>
        </p:spPr>
        <p:txBody>
          <a:bodyPr>
            <a:spAutoFit/>
          </a:bodyPr>
          <a:lstStyle/>
          <a:p>
            <a:pPr algn="ctr" eaLnBrk="1" hangingPunct="1">
              <a:spcBef>
                <a:spcPct val="50000"/>
              </a:spcBef>
              <a:buClr>
                <a:srgbClr val="000000"/>
              </a:buClr>
              <a:buSzPct val="100000"/>
              <a:buFont typeface="Calibri" pitchFamily="34" charset="0"/>
              <a:buNone/>
            </a:pPr>
            <a:r>
              <a:rPr lang="es-ES" altLang="es-ES" sz="1400" dirty="0" err="1">
                <a:solidFill>
                  <a:schemeClr val="accent2">
                    <a:lumMod val="50000"/>
                  </a:schemeClr>
                </a:solidFill>
                <a:latin typeface="Calibri"/>
              </a:rPr>
              <a:t>Treatment</a:t>
            </a:r>
            <a:r>
              <a:rPr lang="es-ES" altLang="es-ES" sz="1400" dirty="0">
                <a:solidFill>
                  <a:schemeClr val="accent2">
                    <a:lumMod val="50000"/>
                  </a:schemeClr>
                </a:solidFill>
                <a:latin typeface="Calibri"/>
              </a:rPr>
              <a:t> (</a:t>
            </a:r>
            <a:r>
              <a:rPr lang="es-ES" altLang="es-ES" sz="1400" dirty="0" err="1">
                <a:solidFill>
                  <a:schemeClr val="accent2">
                    <a:lumMod val="50000"/>
                  </a:schemeClr>
                </a:solidFill>
                <a:latin typeface="Calibri"/>
              </a:rPr>
              <a:t>double-blind</a:t>
            </a:r>
            <a:r>
              <a:rPr lang="es-ES" altLang="es-ES" sz="1400" dirty="0">
                <a:solidFill>
                  <a:schemeClr val="accent2">
                    <a:lumMod val="50000"/>
                  </a:schemeClr>
                </a:solidFill>
                <a:latin typeface="Calibri"/>
              </a:rPr>
              <a:t>)</a:t>
            </a:r>
          </a:p>
        </p:txBody>
      </p:sp>
      <p:sp>
        <p:nvSpPr>
          <p:cNvPr id="9" name="Text Box 8"/>
          <p:cNvSpPr txBox="1">
            <a:spLocks noChangeArrowheads="1"/>
          </p:cNvSpPr>
          <p:nvPr/>
        </p:nvSpPr>
        <p:spPr bwMode="auto">
          <a:xfrm>
            <a:off x="5688914" y="2482539"/>
            <a:ext cx="2459038" cy="307777"/>
          </a:xfrm>
          <a:prstGeom prst="rect">
            <a:avLst/>
          </a:prstGeom>
          <a:noFill/>
          <a:ln w="9525">
            <a:noFill/>
            <a:miter lim="800000"/>
            <a:headEnd/>
            <a:tailEnd/>
          </a:ln>
        </p:spPr>
        <p:txBody>
          <a:bodyPr>
            <a:spAutoFit/>
          </a:bodyPr>
          <a:lstStyle/>
          <a:p>
            <a:pPr algn="ctr" eaLnBrk="1" hangingPunct="1">
              <a:spcBef>
                <a:spcPct val="50000"/>
              </a:spcBef>
              <a:buClr>
                <a:srgbClr val="000000"/>
              </a:buClr>
              <a:buSzPct val="100000"/>
              <a:buFont typeface="Calibri" pitchFamily="34" charset="0"/>
              <a:buNone/>
            </a:pPr>
            <a:r>
              <a:rPr lang="es-ES" altLang="es-ES" sz="1400">
                <a:solidFill>
                  <a:schemeClr val="accent2">
                    <a:lumMod val="50000"/>
                  </a:schemeClr>
                </a:solidFill>
                <a:latin typeface="Calibri"/>
              </a:rPr>
              <a:t>Follow-up</a:t>
            </a:r>
          </a:p>
        </p:txBody>
      </p:sp>
      <p:sp>
        <p:nvSpPr>
          <p:cNvPr id="10" name="Text Box 290"/>
          <p:cNvSpPr txBox="1">
            <a:spLocks noChangeArrowheads="1"/>
          </p:cNvSpPr>
          <p:nvPr/>
        </p:nvSpPr>
        <p:spPr bwMode="auto">
          <a:xfrm>
            <a:off x="2458352" y="2907104"/>
            <a:ext cx="854075" cy="418576"/>
          </a:xfrm>
          <a:prstGeom prst="rect">
            <a:avLst/>
          </a:prstGeom>
          <a:noFill/>
          <a:ln w="9525">
            <a:noFill/>
            <a:miter lim="800000"/>
            <a:headEnd/>
            <a:tailEnd/>
          </a:ln>
        </p:spPr>
        <p:txBody>
          <a:bodyPr anchor="b">
            <a:spAutoFit/>
          </a:bodyPr>
          <a:lstStyle/>
          <a:p>
            <a:pPr algn="ctr" eaLnBrk="1" hangingPunct="1">
              <a:lnSpc>
                <a:spcPct val="60000"/>
              </a:lnSpc>
              <a:spcBef>
                <a:spcPct val="50000"/>
              </a:spcBef>
              <a:buClr>
                <a:srgbClr val="000000"/>
              </a:buClr>
              <a:buSzPct val="100000"/>
              <a:buFont typeface="Calibri" pitchFamily="34" charset="0"/>
              <a:buNone/>
            </a:pPr>
            <a:r>
              <a:rPr lang="es-ES" altLang="es-ES" sz="1200" b="0" dirty="0">
                <a:solidFill>
                  <a:srgbClr val="990033"/>
                </a:solidFill>
                <a:latin typeface="Calibri"/>
              </a:rPr>
              <a:t>Day 0</a:t>
            </a:r>
          </a:p>
          <a:p>
            <a:pPr algn="ctr" eaLnBrk="1" hangingPunct="1">
              <a:lnSpc>
                <a:spcPct val="60000"/>
              </a:lnSpc>
              <a:spcBef>
                <a:spcPct val="50000"/>
              </a:spcBef>
              <a:buClr>
                <a:srgbClr val="000000"/>
              </a:buClr>
              <a:buSzPct val="100000"/>
              <a:buFont typeface="Calibri" pitchFamily="34" charset="0"/>
              <a:buNone/>
            </a:pPr>
            <a:r>
              <a:rPr lang="es-ES" altLang="es-ES" sz="1200" b="0" dirty="0" err="1">
                <a:solidFill>
                  <a:srgbClr val="990033"/>
                </a:solidFill>
                <a:latin typeface="Calibri"/>
              </a:rPr>
              <a:t>Visit</a:t>
            </a:r>
            <a:r>
              <a:rPr lang="es-ES" altLang="es-ES" sz="1200" b="0" dirty="0">
                <a:solidFill>
                  <a:srgbClr val="990033"/>
                </a:solidFill>
                <a:latin typeface="Calibri"/>
              </a:rPr>
              <a:t> 0</a:t>
            </a:r>
          </a:p>
        </p:txBody>
      </p:sp>
      <p:sp>
        <p:nvSpPr>
          <p:cNvPr id="13" name="Line 298"/>
          <p:cNvSpPr>
            <a:spLocks noChangeShapeType="1"/>
          </p:cNvSpPr>
          <p:nvPr/>
        </p:nvSpPr>
        <p:spPr bwMode="auto">
          <a:xfrm>
            <a:off x="4258577" y="3341892"/>
            <a:ext cx="0" cy="1998663"/>
          </a:xfrm>
          <a:prstGeom prst="line">
            <a:avLst/>
          </a:prstGeom>
          <a:noFill/>
          <a:ln w="9525">
            <a:solidFill>
              <a:schemeClr val="accent1"/>
            </a:solidFill>
            <a:round/>
            <a:headEnd/>
            <a:tailEnd type="triangle" w="med" len="med"/>
          </a:ln>
        </p:spPr>
        <p:txBody>
          <a:bodyPr wrap="none" anchor="ctr"/>
          <a:lstStyle/>
          <a:p>
            <a:endParaRPr lang="es-ES" sz="3200">
              <a:latin typeface="Calibri"/>
            </a:endParaRPr>
          </a:p>
        </p:txBody>
      </p:sp>
      <p:sp>
        <p:nvSpPr>
          <p:cNvPr id="14" name="Text Box 290"/>
          <p:cNvSpPr txBox="1">
            <a:spLocks noChangeArrowheads="1"/>
          </p:cNvSpPr>
          <p:nvPr/>
        </p:nvSpPr>
        <p:spPr bwMode="auto">
          <a:xfrm>
            <a:off x="3837889" y="2907104"/>
            <a:ext cx="854075" cy="418576"/>
          </a:xfrm>
          <a:prstGeom prst="rect">
            <a:avLst/>
          </a:prstGeom>
          <a:noFill/>
          <a:ln w="9525">
            <a:noFill/>
            <a:miter lim="800000"/>
            <a:headEnd/>
            <a:tailEnd/>
          </a:ln>
        </p:spPr>
        <p:txBody>
          <a:bodyPr anchor="b">
            <a:spAutoFit/>
          </a:bodyPr>
          <a:lstStyle/>
          <a:p>
            <a:pPr algn="ctr" eaLnBrk="1" hangingPunct="1">
              <a:lnSpc>
                <a:spcPct val="60000"/>
              </a:lnSpc>
              <a:spcBef>
                <a:spcPct val="50000"/>
              </a:spcBef>
              <a:buClr>
                <a:srgbClr val="000000"/>
              </a:buClr>
              <a:buSzPct val="100000"/>
              <a:buFont typeface="Calibri" pitchFamily="34" charset="0"/>
              <a:buNone/>
            </a:pPr>
            <a:r>
              <a:rPr lang="es-ES" altLang="es-ES" sz="1200" b="0" dirty="0">
                <a:solidFill>
                  <a:srgbClr val="990033"/>
                </a:solidFill>
                <a:latin typeface="Calibri"/>
              </a:rPr>
              <a:t>Day 21</a:t>
            </a:r>
          </a:p>
          <a:p>
            <a:pPr algn="ctr" eaLnBrk="1" hangingPunct="1">
              <a:lnSpc>
                <a:spcPct val="60000"/>
              </a:lnSpc>
              <a:spcBef>
                <a:spcPct val="50000"/>
              </a:spcBef>
              <a:buClr>
                <a:srgbClr val="000000"/>
              </a:buClr>
              <a:buSzPct val="100000"/>
              <a:buFont typeface="Calibri" pitchFamily="34" charset="0"/>
              <a:buNone/>
            </a:pPr>
            <a:r>
              <a:rPr lang="es-ES" altLang="es-ES" sz="1200" b="0" dirty="0" err="1">
                <a:solidFill>
                  <a:srgbClr val="990033"/>
                </a:solidFill>
                <a:latin typeface="Calibri"/>
              </a:rPr>
              <a:t>Visit</a:t>
            </a:r>
            <a:r>
              <a:rPr lang="es-ES" altLang="es-ES" sz="1200" b="0" dirty="0">
                <a:solidFill>
                  <a:srgbClr val="990033"/>
                </a:solidFill>
                <a:latin typeface="Calibri"/>
              </a:rPr>
              <a:t> 1</a:t>
            </a:r>
          </a:p>
        </p:txBody>
      </p:sp>
      <p:sp>
        <p:nvSpPr>
          <p:cNvPr id="16" name="Text Box 290"/>
          <p:cNvSpPr txBox="1">
            <a:spLocks noChangeArrowheads="1"/>
          </p:cNvSpPr>
          <p:nvPr/>
        </p:nvSpPr>
        <p:spPr bwMode="auto">
          <a:xfrm>
            <a:off x="5133289" y="2907104"/>
            <a:ext cx="854075" cy="418576"/>
          </a:xfrm>
          <a:prstGeom prst="rect">
            <a:avLst/>
          </a:prstGeom>
          <a:noFill/>
          <a:ln w="9525">
            <a:noFill/>
            <a:miter lim="800000"/>
            <a:headEnd/>
            <a:tailEnd/>
          </a:ln>
        </p:spPr>
        <p:txBody>
          <a:bodyPr anchor="b">
            <a:spAutoFit/>
          </a:bodyPr>
          <a:lstStyle/>
          <a:p>
            <a:pPr algn="ctr" eaLnBrk="1" hangingPunct="1">
              <a:lnSpc>
                <a:spcPct val="60000"/>
              </a:lnSpc>
              <a:spcBef>
                <a:spcPct val="50000"/>
              </a:spcBef>
              <a:buClr>
                <a:srgbClr val="000000"/>
              </a:buClr>
              <a:buSzPct val="100000"/>
              <a:buFont typeface="Calibri" pitchFamily="34" charset="0"/>
              <a:buNone/>
            </a:pPr>
            <a:r>
              <a:rPr lang="es-ES" altLang="es-ES" sz="1200" b="0" dirty="0">
                <a:solidFill>
                  <a:srgbClr val="990033"/>
                </a:solidFill>
                <a:latin typeface="Calibri"/>
              </a:rPr>
              <a:t>Day 42</a:t>
            </a:r>
          </a:p>
          <a:p>
            <a:pPr algn="ctr" eaLnBrk="1" hangingPunct="1">
              <a:lnSpc>
                <a:spcPct val="60000"/>
              </a:lnSpc>
              <a:spcBef>
                <a:spcPct val="50000"/>
              </a:spcBef>
              <a:buClr>
                <a:srgbClr val="000000"/>
              </a:buClr>
              <a:buSzPct val="100000"/>
              <a:buFont typeface="Calibri" pitchFamily="34" charset="0"/>
              <a:buNone/>
            </a:pPr>
            <a:r>
              <a:rPr lang="es-ES" altLang="es-ES" sz="1200" b="0" dirty="0" err="1">
                <a:solidFill>
                  <a:srgbClr val="990033"/>
                </a:solidFill>
                <a:latin typeface="Calibri"/>
              </a:rPr>
              <a:t>Visit</a:t>
            </a:r>
            <a:r>
              <a:rPr lang="es-ES" altLang="es-ES" sz="1200" b="0" dirty="0">
                <a:solidFill>
                  <a:srgbClr val="990033"/>
                </a:solidFill>
                <a:latin typeface="Calibri"/>
              </a:rPr>
              <a:t> 2</a:t>
            </a:r>
          </a:p>
        </p:txBody>
      </p:sp>
      <p:sp>
        <p:nvSpPr>
          <p:cNvPr id="18" name="Text Box 290"/>
          <p:cNvSpPr txBox="1">
            <a:spLocks noChangeArrowheads="1"/>
          </p:cNvSpPr>
          <p:nvPr/>
        </p:nvSpPr>
        <p:spPr bwMode="auto">
          <a:xfrm>
            <a:off x="7489219" y="2907104"/>
            <a:ext cx="1439862" cy="418576"/>
          </a:xfrm>
          <a:prstGeom prst="rect">
            <a:avLst/>
          </a:prstGeom>
          <a:noFill/>
          <a:ln w="9525">
            <a:noFill/>
            <a:miter lim="800000"/>
            <a:headEnd/>
            <a:tailEnd/>
          </a:ln>
        </p:spPr>
        <p:txBody>
          <a:bodyPr anchor="b">
            <a:spAutoFit/>
          </a:bodyPr>
          <a:lstStyle/>
          <a:p>
            <a:pPr algn="ctr" eaLnBrk="1" hangingPunct="1">
              <a:lnSpc>
                <a:spcPct val="60000"/>
              </a:lnSpc>
              <a:spcBef>
                <a:spcPct val="50000"/>
              </a:spcBef>
              <a:buClr>
                <a:srgbClr val="000000"/>
              </a:buClr>
              <a:buSzPct val="100000"/>
              <a:buFont typeface="Calibri" pitchFamily="34" charset="0"/>
              <a:buNone/>
            </a:pPr>
            <a:r>
              <a:rPr lang="es-ES" altLang="es-ES" sz="1200" b="0" dirty="0">
                <a:solidFill>
                  <a:schemeClr val="accent2">
                    <a:lumMod val="50000"/>
                  </a:schemeClr>
                </a:solidFill>
                <a:latin typeface="Calibri"/>
              </a:rPr>
              <a:t>Day 84</a:t>
            </a:r>
          </a:p>
          <a:p>
            <a:pPr algn="ctr" eaLnBrk="1" hangingPunct="1">
              <a:lnSpc>
                <a:spcPct val="60000"/>
              </a:lnSpc>
              <a:spcBef>
                <a:spcPct val="50000"/>
              </a:spcBef>
              <a:buClr>
                <a:srgbClr val="000000"/>
              </a:buClr>
              <a:buSzPct val="100000"/>
              <a:buFont typeface="Calibri" pitchFamily="34" charset="0"/>
              <a:buNone/>
            </a:pPr>
            <a:r>
              <a:rPr lang="es-ES" altLang="es-ES" sz="1200" b="0" dirty="0" err="1">
                <a:solidFill>
                  <a:schemeClr val="accent2">
                    <a:lumMod val="50000"/>
                  </a:schemeClr>
                </a:solidFill>
                <a:latin typeface="Calibri"/>
              </a:rPr>
              <a:t>Follow-up</a:t>
            </a:r>
            <a:r>
              <a:rPr lang="es-ES" altLang="es-ES" sz="1200" b="0" dirty="0">
                <a:solidFill>
                  <a:schemeClr val="accent2">
                    <a:lumMod val="50000"/>
                  </a:schemeClr>
                </a:solidFill>
                <a:latin typeface="Calibri"/>
              </a:rPr>
              <a:t> visit</a:t>
            </a:r>
          </a:p>
        </p:txBody>
      </p:sp>
      <p:sp>
        <p:nvSpPr>
          <p:cNvPr id="19" name="Rectangle 231"/>
          <p:cNvSpPr>
            <a:spLocks noChangeArrowheads="1"/>
          </p:cNvSpPr>
          <p:nvPr/>
        </p:nvSpPr>
        <p:spPr bwMode="auto">
          <a:xfrm>
            <a:off x="2891739" y="3578430"/>
            <a:ext cx="2663825" cy="254000"/>
          </a:xfrm>
          <a:prstGeom prst="rect">
            <a:avLst/>
          </a:prstGeom>
          <a:solidFill>
            <a:schemeClr val="accent2">
              <a:lumMod val="50000"/>
            </a:schemeClr>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a:solidFill>
                  <a:srgbClr val="FFFFFF"/>
                </a:solidFill>
                <a:latin typeface="Calibri"/>
              </a:rPr>
              <a:t>Rupatadine solution 1 mg/mL</a:t>
            </a:r>
          </a:p>
        </p:txBody>
      </p:sp>
      <p:sp>
        <p:nvSpPr>
          <p:cNvPr id="20" name="Rectangle 231"/>
          <p:cNvSpPr>
            <a:spLocks noChangeArrowheads="1"/>
          </p:cNvSpPr>
          <p:nvPr/>
        </p:nvSpPr>
        <p:spPr bwMode="auto">
          <a:xfrm>
            <a:off x="1883677" y="3578430"/>
            <a:ext cx="1006475" cy="254000"/>
          </a:xfrm>
          <a:prstGeom prst="rect">
            <a:avLst/>
          </a:prstGeom>
          <a:solidFill>
            <a:srgbClr val="ECF1FB"/>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a:solidFill>
                  <a:schemeClr val="accent2">
                    <a:lumMod val="50000"/>
                  </a:schemeClr>
                </a:solidFill>
                <a:latin typeface="Calibri"/>
              </a:rPr>
              <a:t>Screening</a:t>
            </a:r>
          </a:p>
        </p:txBody>
      </p:sp>
      <p:sp>
        <p:nvSpPr>
          <p:cNvPr id="21" name="Rectangle 231"/>
          <p:cNvSpPr>
            <a:spLocks noChangeArrowheads="1"/>
          </p:cNvSpPr>
          <p:nvPr/>
        </p:nvSpPr>
        <p:spPr bwMode="auto">
          <a:xfrm>
            <a:off x="5555564" y="3578430"/>
            <a:ext cx="2663825" cy="254000"/>
          </a:xfrm>
          <a:prstGeom prst="rect">
            <a:avLst/>
          </a:prstGeom>
          <a:solidFill>
            <a:srgbClr val="ECF1FB"/>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a:solidFill>
                  <a:schemeClr val="accent2">
                    <a:lumMod val="50000"/>
                  </a:schemeClr>
                </a:solidFill>
                <a:latin typeface="Calibri"/>
              </a:rPr>
              <a:t>No study </a:t>
            </a:r>
            <a:r>
              <a:rPr lang="es-ES" altLang="es-ES" sz="1200" b="0" dirty="0" err="1">
                <a:solidFill>
                  <a:schemeClr val="accent2">
                    <a:lumMod val="50000"/>
                  </a:schemeClr>
                </a:solidFill>
                <a:latin typeface="Calibri"/>
              </a:rPr>
              <a:t>treatment</a:t>
            </a:r>
            <a:endParaRPr lang="es-ES" altLang="es-ES" sz="1200" b="0" dirty="0">
              <a:solidFill>
                <a:schemeClr val="accent2">
                  <a:lumMod val="50000"/>
                </a:schemeClr>
              </a:solidFill>
              <a:latin typeface="Calibri"/>
            </a:endParaRPr>
          </a:p>
        </p:txBody>
      </p:sp>
      <p:sp>
        <p:nvSpPr>
          <p:cNvPr id="22" name="Rectangle 231"/>
          <p:cNvSpPr>
            <a:spLocks noChangeArrowheads="1"/>
          </p:cNvSpPr>
          <p:nvPr/>
        </p:nvSpPr>
        <p:spPr bwMode="auto">
          <a:xfrm>
            <a:off x="2891739" y="4095955"/>
            <a:ext cx="2663825" cy="254000"/>
          </a:xfrm>
          <a:prstGeom prst="rect">
            <a:avLst/>
          </a:prstGeom>
          <a:solidFill>
            <a:schemeClr val="bg1">
              <a:lumMod val="65000"/>
            </a:schemeClr>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err="1">
                <a:solidFill>
                  <a:schemeClr val="bg1"/>
                </a:solidFill>
                <a:latin typeface="Calibri"/>
              </a:rPr>
              <a:t>Desloratadine</a:t>
            </a:r>
            <a:r>
              <a:rPr lang="es-ES" altLang="es-ES" sz="1200" b="0" dirty="0">
                <a:solidFill>
                  <a:schemeClr val="bg1"/>
                </a:solidFill>
                <a:latin typeface="Calibri"/>
              </a:rPr>
              <a:t> 0.5mg/</a:t>
            </a:r>
            <a:r>
              <a:rPr lang="es-ES" altLang="es-ES" sz="1200" b="0" dirty="0" err="1">
                <a:solidFill>
                  <a:schemeClr val="bg1"/>
                </a:solidFill>
                <a:latin typeface="Calibri"/>
              </a:rPr>
              <a:t>ml</a:t>
            </a:r>
            <a:endParaRPr lang="es-ES" altLang="es-ES" sz="1200" b="0" dirty="0">
              <a:solidFill>
                <a:schemeClr val="bg1"/>
              </a:solidFill>
              <a:latin typeface="Calibri"/>
            </a:endParaRPr>
          </a:p>
        </p:txBody>
      </p:sp>
      <p:sp>
        <p:nvSpPr>
          <p:cNvPr id="23" name="Rectangle 231"/>
          <p:cNvSpPr>
            <a:spLocks noChangeArrowheads="1"/>
          </p:cNvSpPr>
          <p:nvPr/>
        </p:nvSpPr>
        <p:spPr bwMode="auto">
          <a:xfrm>
            <a:off x="1883677" y="4095955"/>
            <a:ext cx="1006475" cy="254000"/>
          </a:xfrm>
          <a:prstGeom prst="rect">
            <a:avLst/>
          </a:prstGeom>
          <a:solidFill>
            <a:srgbClr val="ECF1FB"/>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a:solidFill>
                  <a:schemeClr val="accent2">
                    <a:lumMod val="50000"/>
                  </a:schemeClr>
                </a:solidFill>
                <a:latin typeface="Calibri"/>
              </a:rPr>
              <a:t>Screening</a:t>
            </a:r>
          </a:p>
        </p:txBody>
      </p:sp>
      <p:sp>
        <p:nvSpPr>
          <p:cNvPr id="24" name="Rectangle 231"/>
          <p:cNvSpPr>
            <a:spLocks noChangeArrowheads="1"/>
          </p:cNvSpPr>
          <p:nvPr/>
        </p:nvSpPr>
        <p:spPr bwMode="auto">
          <a:xfrm>
            <a:off x="5555564" y="4095955"/>
            <a:ext cx="2663825" cy="254000"/>
          </a:xfrm>
          <a:prstGeom prst="rect">
            <a:avLst/>
          </a:prstGeom>
          <a:solidFill>
            <a:srgbClr val="ECF1FB"/>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a:solidFill>
                  <a:schemeClr val="accent2">
                    <a:lumMod val="50000"/>
                  </a:schemeClr>
                </a:solidFill>
                <a:latin typeface="Calibri"/>
              </a:rPr>
              <a:t>No study </a:t>
            </a:r>
            <a:r>
              <a:rPr lang="es-ES" altLang="es-ES" sz="1200" b="0" dirty="0" err="1">
                <a:solidFill>
                  <a:schemeClr val="accent2">
                    <a:lumMod val="50000"/>
                  </a:schemeClr>
                </a:solidFill>
                <a:latin typeface="Calibri"/>
              </a:rPr>
              <a:t>treatment</a:t>
            </a:r>
            <a:endParaRPr lang="es-ES" altLang="es-ES" sz="1200" b="0" dirty="0">
              <a:solidFill>
                <a:schemeClr val="accent2">
                  <a:lumMod val="50000"/>
                </a:schemeClr>
              </a:solidFill>
              <a:latin typeface="Calibri"/>
            </a:endParaRPr>
          </a:p>
        </p:txBody>
      </p:sp>
      <p:sp>
        <p:nvSpPr>
          <p:cNvPr id="25" name="Rectangle 231"/>
          <p:cNvSpPr>
            <a:spLocks noChangeArrowheads="1"/>
          </p:cNvSpPr>
          <p:nvPr/>
        </p:nvSpPr>
        <p:spPr bwMode="auto">
          <a:xfrm>
            <a:off x="2891739" y="4600780"/>
            <a:ext cx="2663825" cy="254000"/>
          </a:xfrm>
          <a:prstGeom prst="rect">
            <a:avLst/>
          </a:prstGeom>
          <a:solidFill>
            <a:srgbClr val="FFCC00"/>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a:solidFill>
                  <a:schemeClr val="accent2">
                    <a:lumMod val="50000"/>
                  </a:schemeClr>
                </a:solidFill>
                <a:latin typeface="Calibri"/>
              </a:rPr>
              <a:t>Placebo</a:t>
            </a:r>
          </a:p>
        </p:txBody>
      </p:sp>
      <p:sp>
        <p:nvSpPr>
          <p:cNvPr id="26" name="Rectangle 231"/>
          <p:cNvSpPr>
            <a:spLocks noChangeArrowheads="1"/>
          </p:cNvSpPr>
          <p:nvPr/>
        </p:nvSpPr>
        <p:spPr bwMode="auto">
          <a:xfrm>
            <a:off x="1883677" y="4600780"/>
            <a:ext cx="1006475" cy="254000"/>
          </a:xfrm>
          <a:prstGeom prst="rect">
            <a:avLst/>
          </a:prstGeom>
          <a:solidFill>
            <a:srgbClr val="ECF1FB"/>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a:solidFill>
                  <a:schemeClr val="accent2">
                    <a:lumMod val="50000"/>
                  </a:schemeClr>
                </a:solidFill>
                <a:latin typeface="Calibri"/>
              </a:rPr>
              <a:t>Screening</a:t>
            </a:r>
          </a:p>
        </p:txBody>
      </p:sp>
      <p:sp>
        <p:nvSpPr>
          <p:cNvPr id="27" name="Rectangle 231"/>
          <p:cNvSpPr>
            <a:spLocks noChangeArrowheads="1"/>
          </p:cNvSpPr>
          <p:nvPr/>
        </p:nvSpPr>
        <p:spPr bwMode="auto">
          <a:xfrm>
            <a:off x="5555564" y="4600780"/>
            <a:ext cx="2663825" cy="254000"/>
          </a:xfrm>
          <a:prstGeom prst="rect">
            <a:avLst/>
          </a:prstGeom>
          <a:solidFill>
            <a:srgbClr val="ECF1FB"/>
          </a:solidFill>
          <a:ln w="9525" algn="ctr">
            <a:noFill/>
            <a:miter lim="800000"/>
            <a:headEnd/>
            <a:tailEnd/>
          </a:ln>
        </p:spPr>
        <p:txBody>
          <a:bodyPr wrap="none" anchor="ctr"/>
          <a:lstStyle/>
          <a:p>
            <a:pPr algn="ctr" defTabSz="914400" eaLnBrk="1" hangingPunct="1">
              <a:buClr>
                <a:srgbClr val="000000"/>
              </a:buClr>
              <a:buSzPct val="100000"/>
              <a:buFont typeface="Calibri" pitchFamily="34" charset="0"/>
              <a:buNone/>
            </a:pPr>
            <a:r>
              <a:rPr lang="es-ES" altLang="es-ES" sz="1200" b="0" dirty="0">
                <a:solidFill>
                  <a:schemeClr val="accent2">
                    <a:lumMod val="50000"/>
                  </a:schemeClr>
                </a:solidFill>
                <a:latin typeface="Calibri"/>
              </a:rPr>
              <a:t>No study </a:t>
            </a:r>
            <a:r>
              <a:rPr lang="es-ES" altLang="es-ES" sz="1200" b="0" dirty="0" err="1">
                <a:solidFill>
                  <a:schemeClr val="accent2">
                    <a:lumMod val="50000"/>
                  </a:schemeClr>
                </a:solidFill>
                <a:latin typeface="Calibri"/>
              </a:rPr>
              <a:t>treatment</a:t>
            </a:r>
            <a:endParaRPr lang="es-ES" altLang="es-ES" sz="1200" b="0" dirty="0">
              <a:solidFill>
                <a:schemeClr val="accent2">
                  <a:lumMod val="50000"/>
                </a:schemeClr>
              </a:solidFill>
              <a:latin typeface="Calibri"/>
            </a:endParaRPr>
          </a:p>
        </p:txBody>
      </p:sp>
      <p:sp>
        <p:nvSpPr>
          <p:cNvPr id="28" name="Text Box 290"/>
          <p:cNvSpPr txBox="1">
            <a:spLocks noChangeArrowheads="1"/>
          </p:cNvSpPr>
          <p:nvPr/>
        </p:nvSpPr>
        <p:spPr bwMode="auto">
          <a:xfrm>
            <a:off x="2151051" y="5359605"/>
            <a:ext cx="1511300" cy="529632"/>
          </a:xfrm>
          <a:prstGeom prst="rect">
            <a:avLst/>
          </a:prstGeom>
          <a:noFill/>
          <a:ln w="9525">
            <a:noFill/>
            <a:miter lim="800000"/>
            <a:headEnd/>
            <a:tailEnd/>
          </a:ln>
        </p:spPr>
        <p:txBody>
          <a:bodyPr>
            <a:spAutoFit/>
          </a:bodyPr>
          <a:lstStyle/>
          <a:p>
            <a:pPr algn="ctr" eaLnBrk="1" hangingPunct="1">
              <a:lnSpc>
                <a:spcPct val="50000"/>
              </a:lnSpc>
              <a:spcBef>
                <a:spcPct val="50000"/>
              </a:spcBef>
              <a:buClr>
                <a:srgbClr val="000000"/>
              </a:buClr>
              <a:buSzPct val="100000"/>
              <a:buFont typeface="Calibri" pitchFamily="34" charset="0"/>
              <a:buNone/>
            </a:pPr>
            <a:r>
              <a:rPr lang="es-ES" altLang="es-ES" sz="1100" b="0" dirty="0" err="1">
                <a:solidFill>
                  <a:schemeClr val="accent2">
                    <a:lumMod val="50000"/>
                  </a:schemeClr>
                </a:solidFill>
                <a:latin typeface="Calibri"/>
              </a:rPr>
              <a:t>Physical</a:t>
            </a:r>
            <a:r>
              <a:rPr lang="es-ES" altLang="es-ES" sz="1100" b="0" dirty="0">
                <a:solidFill>
                  <a:schemeClr val="accent2">
                    <a:lumMod val="50000"/>
                  </a:schemeClr>
                </a:solidFill>
                <a:latin typeface="Calibri"/>
              </a:rPr>
              <a:t> </a:t>
            </a:r>
            <a:r>
              <a:rPr lang="es-ES" altLang="es-ES" sz="1100" b="0" dirty="0" err="1">
                <a:solidFill>
                  <a:schemeClr val="accent2">
                    <a:lumMod val="50000"/>
                  </a:schemeClr>
                </a:solidFill>
                <a:latin typeface="Calibri"/>
              </a:rPr>
              <a:t>exam</a:t>
            </a:r>
            <a:endParaRPr lang="es-ES" altLang="es-ES" sz="1100" b="0" dirty="0">
              <a:solidFill>
                <a:schemeClr val="accent2">
                  <a:lumMod val="50000"/>
                </a:schemeClr>
              </a:solidFill>
              <a:latin typeface="Calibri"/>
            </a:endParaRPr>
          </a:p>
          <a:p>
            <a:pPr algn="ctr" eaLnBrk="1" hangingPunct="1">
              <a:lnSpc>
                <a:spcPct val="50000"/>
              </a:lnSpc>
              <a:spcBef>
                <a:spcPct val="50000"/>
              </a:spcBef>
              <a:buClr>
                <a:srgbClr val="000000"/>
              </a:buClr>
              <a:buSzPct val="100000"/>
              <a:buFont typeface="Calibri" pitchFamily="34" charset="0"/>
              <a:buNone/>
            </a:pPr>
            <a:r>
              <a:rPr lang="es-ES" altLang="es-ES" sz="1100" b="0" dirty="0">
                <a:solidFill>
                  <a:schemeClr val="accent2">
                    <a:lumMod val="50000"/>
                  </a:schemeClr>
                </a:solidFill>
                <a:latin typeface="Calibri"/>
              </a:rPr>
              <a:t>CDLQI</a:t>
            </a:r>
          </a:p>
          <a:p>
            <a:pPr algn="ctr" eaLnBrk="1" hangingPunct="1">
              <a:lnSpc>
                <a:spcPct val="50000"/>
              </a:lnSpc>
              <a:spcBef>
                <a:spcPct val="50000"/>
              </a:spcBef>
              <a:buClr>
                <a:srgbClr val="000000"/>
              </a:buClr>
              <a:buSzPct val="100000"/>
              <a:buFont typeface="Calibri" pitchFamily="34" charset="0"/>
              <a:buNone/>
            </a:pPr>
            <a:r>
              <a:rPr lang="es-ES" altLang="es-ES" sz="1100" b="0" dirty="0">
                <a:solidFill>
                  <a:schemeClr val="accent2">
                    <a:lumMod val="50000"/>
                  </a:schemeClr>
                </a:solidFill>
                <a:latin typeface="Calibri"/>
              </a:rPr>
              <a:t>UAS7</a:t>
            </a:r>
          </a:p>
        </p:txBody>
      </p:sp>
      <p:sp>
        <p:nvSpPr>
          <p:cNvPr id="29" name="Text Box 290"/>
          <p:cNvSpPr txBox="1">
            <a:spLocks noChangeArrowheads="1"/>
          </p:cNvSpPr>
          <p:nvPr/>
        </p:nvSpPr>
        <p:spPr bwMode="auto">
          <a:xfrm>
            <a:off x="3503978" y="5377067"/>
            <a:ext cx="1511300" cy="360355"/>
          </a:xfrm>
          <a:prstGeom prst="rect">
            <a:avLst/>
          </a:prstGeom>
          <a:noFill/>
          <a:ln w="9525">
            <a:noFill/>
            <a:miter lim="800000"/>
            <a:headEnd/>
            <a:tailEnd/>
          </a:ln>
        </p:spPr>
        <p:txBody>
          <a:bodyPr>
            <a:spAutoFit/>
          </a:bodyPr>
          <a:lstStyle/>
          <a:p>
            <a:pPr algn="ctr" eaLnBrk="1" hangingPunct="1">
              <a:lnSpc>
                <a:spcPct val="50000"/>
              </a:lnSpc>
              <a:spcBef>
                <a:spcPct val="50000"/>
              </a:spcBef>
              <a:buClr>
                <a:srgbClr val="000000"/>
              </a:buClr>
              <a:buSzPct val="100000"/>
              <a:buFont typeface="Calibri" pitchFamily="34" charset="0"/>
              <a:buNone/>
            </a:pPr>
            <a:r>
              <a:rPr lang="es-ES" altLang="es-ES" sz="1100" b="0">
                <a:solidFill>
                  <a:schemeClr val="accent2">
                    <a:lumMod val="50000"/>
                  </a:schemeClr>
                </a:solidFill>
                <a:latin typeface="Calibri"/>
              </a:rPr>
              <a:t>Physical exam</a:t>
            </a:r>
          </a:p>
          <a:p>
            <a:pPr algn="ctr" eaLnBrk="1" hangingPunct="1">
              <a:lnSpc>
                <a:spcPct val="50000"/>
              </a:lnSpc>
              <a:spcBef>
                <a:spcPct val="50000"/>
              </a:spcBef>
              <a:buClr>
                <a:srgbClr val="000000"/>
              </a:buClr>
              <a:buSzPct val="100000"/>
              <a:buFont typeface="Calibri" pitchFamily="34" charset="0"/>
              <a:buNone/>
            </a:pPr>
            <a:r>
              <a:rPr lang="es-ES" altLang="es-ES" sz="1100" b="0">
                <a:solidFill>
                  <a:schemeClr val="accent2">
                    <a:lumMod val="50000"/>
                  </a:schemeClr>
                </a:solidFill>
                <a:latin typeface="Calibri"/>
              </a:rPr>
              <a:t>UAS7</a:t>
            </a:r>
          </a:p>
        </p:txBody>
      </p:sp>
      <p:sp>
        <p:nvSpPr>
          <p:cNvPr id="30" name="Text Box 290"/>
          <p:cNvSpPr txBox="1">
            <a:spLocks noChangeArrowheads="1"/>
          </p:cNvSpPr>
          <p:nvPr/>
        </p:nvSpPr>
        <p:spPr bwMode="auto">
          <a:xfrm>
            <a:off x="4799378" y="5359605"/>
            <a:ext cx="1511300" cy="529632"/>
          </a:xfrm>
          <a:prstGeom prst="rect">
            <a:avLst/>
          </a:prstGeom>
          <a:noFill/>
          <a:ln w="9525">
            <a:noFill/>
            <a:miter lim="800000"/>
            <a:headEnd/>
            <a:tailEnd/>
          </a:ln>
        </p:spPr>
        <p:txBody>
          <a:bodyPr>
            <a:spAutoFit/>
          </a:bodyPr>
          <a:lstStyle/>
          <a:p>
            <a:pPr algn="ctr" eaLnBrk="1" hangingPunct="1">
              <a:lnSpc>
                <a:spcPct val="50000"/>
              </a:lnSpc>
              <a:spcBef>
                <a:spcPct val="50000"/>
              </a:spcBef>
              <a:buClr>
                <a:srgbClr val="000000"/>
              </a:buClr>
              <a:buSzPct val="100000"/>
              <a:buFont typeface="Calibri" pitchFamily="34" charset="0"/>
              <a:buNone/>
            </a:pPr>
            <a:r>
              <a:rPr lang="es-ES" altLang="es-ES" sz="1100" b="0" dirty="0" err="1">
                <a:solidFill>
                  <a:schemeClr val="accent2">
                    <a:lumMod val="50000"/>
                  </a:schemeClr>
                </a:solidFill>
                <a:latin typeface="Calibri"/>
              </a:rPr>
              <a:t>Physical</a:t>
            </a:r>
            <a:r>
              <a:rPr lang="es-ES" altLang="es-ES" sz="1100" b="0" dirty="0">
                <a:solidFill>
                  <a:schemeClr val="accent2">
                    <a:lumMod val="50000"/>
                  </a:schemeClr>
                </a:solidFill>
                <a:latin typeface="Calibri"/>
              </a:rPr>
              <a:t> </a:t>
            </a:r>
            <a:r>
              <a:rPr lang="es-ES" altLang="es-ES" sz="1100" b="0" dirty="0" err="1">
                <a:solidFill>
                  <a:schemeClr val="accent2">
                    <a:lumMod val="50000"/>
                  </a:schemeClr>
                </a:solidFill>
                <a:latin typeface="Calibri"/>
              </a:rPr>
              <a:t>exam</a:t>
            </a:r>
            <a:endParaRPr lang="es-ES" altLang="es-ES" sz="1100" b="0" dirty="0">
              <a:solidFill>
                <a:schemeClr val="accent2">
                  <a:lumMod val="50000"/>
                </a:schemeClr>
              </a:solidFill>
              <a:latin typeface="Calibri"/>
            </a:endParaRPr>
          </a:p>
          <a:p>
            <a:pPr algn="ctr" eaLnBrk="1" hangingPunct="1">
              <a:lnSpc>
                <a:spcPct val="50000"/>
              </a:lnSpc>
              <a:spcBef>
                <a:spcPct val="50000"/>
              </a:spcBef>
              <a:buClr>
                <a:srgbClr val="000000"/>
              </a:buClr>
              <a:buSzPct val="100000"/>
              <a:buFont typeface="Calibri" pitchFamily="34" charset="0"/>
              <a:buNone/>
            </a:pPr>
            <a:r>
              <a:rPr lang="es-ES" altLang="es-ES" sz="1100" b="0" dirty="0">
                <a:solidFill>
                  <a:schemeClr val="accent2">
                    <a:lumMod val="50000"/>
                  </a:schemeClr>
                </a:solidFill>
                <a:latin typeface="Calibri"/>
              </a:rPr>
              <a:t>CDLQI</a:t>
            </a:r>
          </a:p>
          <a:p>
            <a:pPr algn="ctr" eaLnBrk="1" hangingPunct="1">
              <a:lnSpc>
                <a:spcPct val="50000"/>
              </a:lnSpc>
              <a:spcBef>
                <a:spcPct val="50000"/>
              </a:spcBef>
              <a:buClr>
                <a:srgbClr val="000000"/>
              </a:buClr>
              <a:buSzPct val="100000"/>
              <a:buFont typeface="Calibri" pitchFamily="34" charset="0"/>
              <a:buNone/>
            </a:pPr>
            <a:r>
              <a:rPr lang="es-ES" altLang="es-ES" sz="1100" b="0" dirty="0">
                <a:solidFill>
                  <a:schemeClr val="accent2">
                    <a:lumMod val="50000"/>
                  </a:schemeClr>
                </a:solidFill>
                <a:latin typeface="Calibri"/>
              </a:rPr>
              <a:t>UAS7</a:t>
            </a:r>
          </a:p>
        </p:txBody>
      </p:sp>
      <p:sp>
        <p:nvSpPr>
          <p:cNvPr id="31" name="Text Box 290"/>
          <p:cNvSpPr txBox="1">
            <a:spLocks noChangeArrowheads="1"/>
          </p:cNvSpPr>
          <p:nvPr/>
        </p:nvSpPr>
        <p:spPr bwMode="auto">
          <a:xfrm>
            <a:off x="7464275" y="5364367"/>
            <a:ext cx="1511300" cy="193066"/>
          </a:xfrm>
          <a:prstGeom prst="rect">
            <a:avLst/>
          </a:prstGeom>
          <a:noFill/>
          <a:ln w="9525">
            <a:noFill/>
            <a:miter lim="800000"/>
            <a:headEnd/>
            <a:tailEnd/>
          </a:ln>
        </p:spPr>
        <p:txBody>
          <a:bodyPr>
            <a:spAutoFit/>
          </a:bodyPr>
          <a:lstStyle/>
          <a:p>
            <a:pPr algn="ctr" eaLnBrk="1" hangingPunct="1">
              <a:lnSpc>
                <a:spcPct val="50000"/>
              </a:lnSpc>
              <a:spcBef>
                <a:spcPct val="50000"/>
              </a:spcBef>
              <a:buClr>
                <a:srgbClr val="000000"/>
              </a:buClr>
              <a:buSzPct val="100000"/>
              <a:buFont typeface="Calibri" pitchFamily="34" charset="0"/>
              <a:buNone/>
            </a:pPr>
            <a:r>
              <a:rPr lang="es-ES" altLang="es-ES" sz="1100" b="0" dirty="0" err="1">
                <a:solidFill>
                  <a:schemeClr val="accent2">
                    <a:lumMod val="50000"/>
                  </a:schemeClr>
                </a:solidFill>
                <a:latin typeface="Calibri"/>
              </a:rPr>
              <a:t>Physical</a:t>
            </a:r>
            <a:r>
              <a:rPr lang="es-ES" altLang="es-ES" sz="1100" b="0" dirty="0">
                <a:solidFill>
                  <a:schemeClr val="accent2">
                    <a:lumMod val="50000"/>
                  </a:schemeClr>
                </a:solidFill>
                <a:latin typeface="Calibri"/>
              </a:rPr>
              <a:t> </a:t>
            </a:r>
            <a:r>
              <a:rPr lang="es-ES" altLang="es-ES" sz="1100" b="0" dirty="0" err="1">
                <a:solidFill>
                  <a:schemeClr val="accent2">
                    <a:lumMod val="50000"/>
                  </a:schemeClr>
                </a:solidFill>
                <a:latin typeface="Calibri"/>
              </a:rPr>
              <a:t>exam</a:t>
            </a:r>
            <a:endParaRPr lang="es-ES" altLang="es-ES" sz="1100" b="0" dirty="0">
              <a:solidFill>
                <a:schemeClr val="accent2">
                  <a:lumMod val="50000"/>
                </a:schemeClr>
              </a:solidFill>
              <a:latin typeface="Calibri"/>
            </a:endParaRPr>
          </a:p>
        </p:txBody>
      </p:sp>
      <p:sp>
        <p:nvSpPr>
          <p:cNvPr id="32" name="Text Box 290"/>
          <p:cNvSpPr txBox="1">
            <a:spLocks noChangeArrowheads="1"/>
          </p:cNvSpPr>
          <p:nvPr/>
        </p:nvSpPr>
        <p:spPr bwMode="auto">
          <a:xfrm>
            <a:off x="1224944" y="5359605"/>
            <a:ext cx="1366837" cy="193066"/>
          </a:xfrm>
          <a:prstGeom prst="rect">
            <a:avLst/>
          </a:prstGeom>
          <a:noFill/>
          <a:ln w="9525">
            <a:noFill/>
            <a:miter lim="800000"/>
            <a:headEnd/>
            <a:tailEnd/>
          </a:ln>
        </p:spPr>
        <p:txBody>
          <a:bodyPr>
            <a:spAutoFit/>
          </a:bodyPr>
          <a:lstStyle/>
          <a:p>
            <a:pPr algn="ctr" eaLnBrk="1" hangingPunct="1">
              <a:lnSpc>
                <a:spcPct val="50000"/>
              </a:lnSpc>
              <a:spcBef>
                <a:spcPct val="50000"/>
              </a:spcBef>
              <a:buClr>
                <a:srgbClr val="000000"/>
              </a:buClr>
              <a:buSzPct val="100000"/>
              <a:buFont typeface="Calibri" pitchFamily="34" charset="0"/>
              <a:buNone/>
            </a:pPr>
            <a:r>
              <a:rPr lang="es-ES" altLang="es-ES" sz="1100" b="0">
                <a:solidFill>
                  <a:schemeClr val="accent2">
                    <a:lumMod val="50000"/>
                  </a:schemeClr>
                </a:solidFill>
                <a:latin typeface="Calibri"/>
              </a:rPr>
              <a:t>Physical exam</a:t>
            </a:r>
          </a:p>
        </p:txBody>
      </p:sp>
      <p:sp>
        <p:nvSpPr>
          <p:cNvPr id="34" name="CuadroTexto 1"/>
          <p:cNvSpPr txBox="1">
            <a:spLocks noChangeArrowheads="1"/>
          </p:cNvSpPr>
          <p:nvPr/>
        </p:nvSpPr>
        <p:spPr bwMode="auto">
          <a:xfrm>
            <a:off x="1077425" y="5876867"/>
            <a:ext cx="4062067" cy="430887"/>
          </a:xfrm>
          <a:prstGeom prst="rect">
            <a:avLst/>
          </a:prstGeom>
          <a:noFill/>
          <a:ln w="9525">
            <a:noFill/>
            <a:miter lim="800000"/>
            <a:headEnd/>
            <a:tailEnd/>
          </a:ln>
        </p:spPr>
        <p:txBody>
          <a:bodyPr wrap="square">
            <a:spAutoFit/>
          </a:bodyPr>
          <a:lstStyle/>
          <a:p>
            <a:r>
              <a:rPr lang="en-US" altLang="es-ES" sz="1100" dirty="0">
                <a:solidFill>
                  <a:schemeClr val="accent2">
                    <a:lumMod val="50000"/>
                  </a:schemeClr>
                </a:solidFill>
              </a:rPr>
              <a:t>CDLQI = Children's Dermatology Life Quality Index</a:t>
            </a:r>
          </a:p>
          <a:p>
            <a:r>
              <a:rPr lang="es-ES" altLang="es-ES" sz="1100" dirty="0">
                <a:solidFill>
                  <a:schemeClr val="accent2">
                    <a:lumMod val="50000"/>
                  </a:schemeClr>
                </a:solidFill>
              </a:rPr>
              <a:t>UAS7 = Urticaria </a:t>
            </a:r>
            <a:r>
              <a:rPr lang="es-ES" altLang="es-ES" sz="1100" dirty="0" err="1">
                <a:solidFill>
                  <a:schemeClr val="accent2">
                    <a:lumMod val="50000"/>
                  </a:schemeClr>
                </a:solidFill>
              </a:rPr>
              <a:t>Activity</a:t>
            </a:r>
            <a:r>
              <a:rPr lang="es-ES" altLang="es-ES" sz="1100" dirty="0">
                <a:solidFill>
                  <a:schemeClr val="accent2">
                    <a:lumMod val="50000"/>
                  </a:schemeClr>
                </a:solidFill>
              </a:rPr>
              <a:t> Score </a:t>
            </a:r>
          </a:p>
        </p:txBody>
      </p:sp>
      <p:sp>
        <p:nvSpPr>
          <p:cNvPr id="5" name="Line 298"/>
          <p:cNvSpPr>
            <a:spLocks noChangeShapeType="1"/>
          </p:cNvSpPr>
          <p:nvPr/>
        </p:nvSpPr>
        <p:spPr bwMode="auto">
          <a:xfrm>
            <a:off x="1883677" y="3359355"/>
            <a:ext cx="0" cy="1998662"/>
          </a:xfrm>
          <a:prstGeom prst="line">
            <a:avLst/>
          </a:prstGeom>
          <a:noFill/>
          <a:ln w="9525">
            <a:solidFill>
              <a:schemeClr val="accent1"/>
            </a:solidFill>
            <a:round/>
            <a:headEnd/>
            <a:tailEnd type="triangle" w="med" len="med"/>
          </a:ln>
        </p:spPr>
        <p:txBody>
          <a:bodyPr wrap="none" anchor="ctr"/>
          <a:lstStyle/>
          <a:p>
            <a:endParaRPr lang="es-ES" sz="3200">
              <a:latin typeface="Calibri"/>
            </a:endParaRPr>
          </a:p>
        </p:txBody>
      </p:sp>
      <p:sp>
        <p:nvSpPr>
          <p:cNvPr id="12" name="Line 298"/>
          <p:cNvSpPr>
            <a:spLocks noChangeShapeType="1"/>
          </p:cNvSpPr>
          <p:nvPr/>
        </p:nvSpPr>
        <p:spPr bwMode="auto">
          <a:xfrm>
            <a:off x="2880627" y="3341892"/>
            <a:ext cx="0" cy="1998663"/>
          </a:xfrm>
          <a:prstGeom prst="line">
            <a:avLst/>
          </a:prstGeom>
          <a:noFill/>
          <a:ln w="9525">
            <a:solidFill>
              <a:schemeClr val="accent1"/>
            </a:solidFill>
            <a:round/>
            <a:headEnd/>
            <a:tailEnd type="triangle" w="med" len="med"/>
          </a:ln>
        </p:spPr>
        <p:txBody>
          <a:bodyPr wrap="none" anchor="ctr"/>
          <a:lstStyle/>
          <a:p>
            <a:endParaRPr lang="es-ES" sz="3200">
              <a:latin typeface="Calibri"/>
            </a:endParaRPr>
          </a:p>
        </p:txBody>
      </p:sp>
      <p:sp>
        <p:nvSpPr>
          <p:cNvPr id="15" name="Line 298"/>
          <p:cNvSpPr>
            <a:spLocks noChangeShapeType="1"/>
          </p:cNvSpPr>
          <p:nvPr/>
        </p:nvSpPr>
        <p:spPr bwMode="auto">
          <a:xfrm>
            <a:off x="5553977" y="3341892"/>
            <a:ext cx="0" cy="1998663"/>
          </a:xfrm>
          <a:prstGeom prst="line">
            <a:avLst/>
          </a:prstGeom>
          <a:noFill/>
          <a:ln w="9525">
            <a:solidFill>
              <a:schemeClr val="accent1"/>
            </a:solidFill>
            <a:round/>
            <a:headEnd/>
            <a:tailEnd type="triangle" w="med" len="med"/>
          </a:ln>
        </p:spPr>
        <p:txBody>
          <a:bodyPr wrap="none" anchor="ctr"/>
          <a:lstStyle/>
          <a:p>
            <a:endParaRPr lang="es-ES" sz="3200">
              <a:latin typeface="Calibri"/>
            </a:endParaRPr>
          </a:p>
        </p:txBody>
      </p:sp>
      <p:sp>
        <p:nvSpPr>
          <p:cNvPr id="17" name="Line 298"/>
          <p:cNvSpPr>
            <a:spLocks noChangeShapeType="1"/>
          </p:cNvSpPr>
          <p:nvPr/>
        </p:nvSpPr>
        <p:spPr bwMode="auto">
          <a:xfrm>
            <a:off x="8217802" y="3341892"/>
            <a:ext cx="0" cy="1998663"/>
          </a:xfrm>
          <a:prstGeom prst="line">
            <a:avLst/>
          </a:prstGeom>
          <a:noFill/>
          <a:ln w="9525">
            <a:solidFill>
              <a:schemeClr val="accent1"/>
            </a:solidFill>
            <a:round/>
            <a:headEnd/>
            <a:tailEnd type="triangle" w="med" len="med"/>
          </a:ln>
        </p:spPr>
        <p:txBody>
          <a:bodyPr wrap="none" anchor="ctr"/>
          <a:lstStyle/>
          <a:p>
            <a:endParaRPr lang="es-ES" sz="3200">
              <a:latin typeface="Calibri"/>
            </a:endParaRPr>
          </a:p>
        </p:txBody>
      </p:sp>
      <p:sp>
        <p:nvSpPr>
          <p:cNvPr id="35" name="TextBox 4"/>
          <p:cNvSpPr txBox="1">
            <a:spLocks noChangeArrowheads="1"/>
          </p:cNvSpPr>
          <p:nvPr/>
        </p:nvSpPr>
        <p:spPr bwMode="auto">
          <a:xfrm>
            <a:off x="1116720" y="6341088"/>
            <a:ext cx="3103735" cy="400110"/>
          </a:xfrm>
          <a:prstGeom prst="rect">
            <a:avLst/>
          </a:prstGeom>
          <a:noFill/>
          <a:ln w="9525">
            <a:noFill/>
            <a:miter lim="800000"/>
            <a:headEnd/>
            <a:tailEnd/>
          </a:ln>
        </p:spPr>
        <p:txBody>
          <a:bodyPr wrap="none">
            <a:spAutoFit/>
          </a:bodyPr>
          <a:lstStyle/>
          <a:p>
            <a:r>
              <a:rPr lang="en-NZ" altLang="es-ES" sz="1000" b="0" dirty="0" err="1">
                <a:solidFill>
                  <a:schemeClr val="accent2">
                    <a:lumMod val="50000"/>
                  </a:schemeClr>
                </a:solidFill>
                <a:ea typeface="ＭＳ Ｐゴシック" charset="-128"/>
              </a:rPr>
              <a:t>Uriach</a:t>
            </a:r>
            <a:r>
              <a:rPr lang="en-NZ" altLang="es-ES" sz="1000" b="0" dirty="0">
                <a:solidFill>
                  <a:schemeClr val="accent2">
                    <a:lumMod val="50000"/>
                  </a:schemeClr>
                </a:solidFill>
                <a:ea typeface="ＭＳ Ｐゴシック" charset="-128"/>
              </a:rPr>
              <a:t> data on file</a:t>
            </a:r>
          </a:p>
          <a:p>
            <a:r>
              <a:rPr lang="en-NZ" altLang="es-ES" sz="1000" b="0" dirty="0">
                <a:solidFill>
                  <a:schemeClr val="accent2">
                    <a:lumMod val="50000"/>
                  </a:schemeClr>
                </a:solidFill>
                <a:ea typeface="ＭＳ Ｐゴシック" charset="-128"/>
              </a:rPr>
              <a:t>Potter P. et al. Pediatr Allergy Immunol 2016:27:55-61</a:t>
            </a:r>
          </a:p>
        </p:txBody>
      </p:sp>
      <p:sp>
        <p:nvSpPr>
          <p:cNvPr id="37" name="Text Box 4">
            <a:extLst>
              <a:ext uri="{FF2B5EF4-FFF2-40B4-BE49-F238E27FC236}">
                <a16:creationId xmlns:a16="http://schemas.microsoft.com/office/drawing/2014/main" id="{11CCCE3D-3709-42D6-BA01-83AB11D648EA}"/>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613" name="Line 69"/>
          <p:cNvSpPr>
            <a:spLocks noChangeShapeType="1"/>
          </p:cNvSpPr>
          <p:nvPr/>
        </p:nvSpPr>
        <p:spPr bwMode="auto">
          <a:xfrm>
            <a:off x="1328738" y="5189096"/>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14" name="Line 70"/>
          <p:cNvSpPr>
            <a:spLocks noChangeShapeType="1"/>
          </p:cNvSpPr>
          <p:nvPr/>
        </p:nvSpPr>
        <p:spPr bwMode="auto">
          <a:xfrm>
            <a:off x="2220913" y="5189096"/>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53" name="Line 109"/>
          <p:cNvSpPr>
            <a:spLocks noChangeShapeType="1"/>
          </p:cNvSpPr>
          <p:nvPr/>
        </p:nvSpPr>
        <p:spPr bwMode="auto">
          <a:xfrm>
            <a:off x="3530601" y="5189096"/>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54" name="Line 110"/>
          <p:cNvSpPr>
            <a:spLocks noChangeShapeType="1"/>
          </p:cNvSpPr>
          <p:nvPr/>
        </p:nvSpPr>
        <p:spPr bwMode="auto">
          <a:xfrm>
            <a:off x="4422776" y="5189096"/>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75" name="Line 131"/>
          <p:cNvSpPr>
            <a:spLocks noChangeShapeType="1"/>
          </p:cNvSpPr>
          <p:nvPr/>
        </p:nvSpPr>
        <p:spPr bwMode="auto">
          <a:xfrm>
            <a:off x="5570538" y="5189096"/>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76" name="Line 132"/>
          <p:cNvSpPr>
            <a:spLocks noChangeShapeType="1"/>
          </p:cNvSpPr>
          <p:nvPr/>
        </p:nvSpPr>
        <p:spPr bwMode="auto">
          <a:xfrm>
            <a:off x="6462713" y="5189096"/>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88" name="Line 44"/>
          <p:cNvSpPr>
            <a:spLocks noChangeShapeType="1"/>
          </p:cNvSpPr>
          <p:nvPr/>
        </p:nvSpPr>
        <p:spPr bwMode="auto">
          <a:xfrm>
            <a:off x="4449763" y="3596834"/>
            <a:ext cx="1588" cy="40640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89" name="Line 45"/>
          <p:cNvSpPr>
            <a:spLocks noChangeShapeType="1"/>
          </p:cNvSpPr>
          <p:nvPr/>
        </p:nvSpPr>
        <p:spPr bwMode="auto">
          <a:xfrm>
            <a:off x="6491289" y="3573189"/>
            <a:ext cx="0" cy="430045"/>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90" name="Line 46"/>
          <p:cNvSpPr>
            <a:spLocks noChangeShapeType="1"/>
          </p:cNvSpPr>
          <p:nvPr/>
        </p:nvSpPr>
        <p:spPr bwMode="auto">
          <a:xfrm>
            <a:off x="2222501" y="3573189"/>
            <a:ext cx="0" cy="430045"/>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94" name="Line 50"/>
          <p:cNvSpPr>
            <a:spLocks noChangeShapeType="1"/>
          </p:cNvSpPr>
          <p:nvPr/>
        </p:nvSpPr>
        <p:spPr bwMode="auto">
          <a:xfrm>
            <a:off x="2220913" y="4303271"/>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06" name="Line 62"/>
          <p:cNvSpPr>
            <a:spLocks noChangeShapeType="1"/>
          </p:cNvSpPr>
          <p:nvPr/>
        </p:nvSpPr>
        <p:spPr bwMode="auto">
          <a:xfrm>
            <a:off x="4445001" y="4303271"/>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11" name="Line 67"/>
          <p:cNvSpPr>
            <a:spLocks noChangeShapeType="1"/>
          </p:cNvSpPr>
          <p:nvPr/>
        </p:nvSpPr>
        <p:spPr bwMode="auto">
          <a:xfrm>
            <a:off x="6484938" y="4303271"/>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63" name="Line 19"/>
          <p:cNvSpPr>
            <a:spLocks noChangeShapeType="1"/>
          </p:cNvSpPr>
          <p:nvPr/>
        </p:nvSpPr>
        <p:spPr bwMode="auto">
          <a:xfrm>
            <a:off x="4449763" y="2779271"/>
            <a:ext cx="1588" cy="346075"/>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64" name="Line 20"/>
          <p:cNvSpPr>
            <a:spLocks noChangeShapeType="1"/>
          </p:cNvSpPr>
          <p:nvPr/>
        </p:nvSpPr>
        <p:spPr bwMode="auto">
          <a:xfrm>
            <a:off x="4449763" y="3438084"/>
            <a:ext cx="1588" cy="15875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74" name="Line 30"/>
          <p:cNvSpPr>
            <a:spLocks noChangeShapeType="1"/>
          </p:cNvSpPr>
          <p:nvPr/>
        </p:nvSpPr>
        <p:spPr bwMode="auto">
          <a:xfrm flipH="1">
            <a:off x="4449763" y="2966596"/>
            <a:ext cx="1912938"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95" name="Line 51"/>
          <p:cNvSpPr>
            <a:spLocks noChangeShapeType="1"/>
          </p:cNvSpPr>
          <p:nvPr/>
        </p:nvSpPr>
        <p:spPr bwMode="auto">
          <a:xfrm flipH="1">
            <a:off x="1793876" y="4462021"/>
            <a:ext cx="892175"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dirty="0">
              <a:solidFill>
                <a:schemeClr val="accent2">
                  <a:lumMod val="50000"/>
                </a:schemeClr>
              </a:solidFill>
              <a:latin typeface="+mj-lt"/>
            </a:endParaRPr>
          </a:p>
        </p:txBody>
      </p:sp>
      <p:sp>
        <p:nvSpPr>
          <p:cNvPr id="108596" name="Line 52"/>
          <p:cNvSpPr>
            <a:spLocks noChangeShapeType="1"/>
          </p:cNvSpPr>
          <p:nvPr/>
        </p:nvSpPr>
        <p:spPr bwMode="auto">
          <a:xfrm>
            <a:off x="1793876" y="4462021"/>
            <a:ext cx="1588" cy="16033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97" name="Line 53"/>
          <p:cNvSpPr>
            <a:spLocks noChangeShapeType="1"/>
          </p:cNvSpPr>
          <p:nvPr/>
        </p:nvSpPr>
        <p:spPr bwMode="auto">
          <a:xfrm>
            <a:off x="2686051" y="4462021"/>
            <a:ext cx="1588" cy="16033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01" name="Line 57"/>
          <p:cNvSpPr>
            <a:spLocks noChangeShapeType="1"/>
          </p:cNvSpPr>
          <p:nvPr/>
        </p:nvSpPr>
        <p:spPr bwMode="auto">
          <a:xfrm flipH="1">
            <a:off x="4005263" y="4462021"/>
            <a:ext cx="892175"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05" name="Line 61"/>
          <p:cNvSpPr>
            <a:spLocks noChangeShapeType="1"/>
          </p:cNvSpPr>
          <p:nvPr/>
        </p:nvSpPr>
        <p:spPr bwMode="auto">
          <a:xfrm flipH="1">
            <a:off x="6043613" y="4462021"/>
            <a:ext cx="892175"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07" name="Line 63"/>
          <p:cNvSpPr>
            <a:spLocks noChangeShapeType="1"/>
          </p:cNvSpPr>
          <p:nvPr/>
        </p:nvSpPr>
        <p:spPr bwMode="auto">
          <a:xfrm>
            <a:off x="3998913" y="4462021"/>
            <a:ext cx="1588" cy="16033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08" name="Line 64"/>
          <p:cNvSpPr>
            <a:spLocks noChangeShapeType="1"/>
          </p:cNvSpPr>
          <p:nvPr/>
        </p:nvSpPr>
        <p:spPr bwMode="auto">
          <a:xfrm flipH="1">
            <a:off x="4887590" y="4462021"/>
            <a:ext cx="9848" cy="163381"/>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09" name="Line 65"/>
          <p:cNvSpPr>
            <a:spLocks noChangeShapeType="1"/>
          </p:cNvSpPr>
          <p:nvPr/>
        </p:nvSpPr>
        <p:spPr bwMode="auto">
          <a:xfrm>
            <a:off x="6037263" y="4462021"/>
            <a:ext cx="1588" cy="16033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10" name="Line 66"/>
          <p:cNvSpPr>
            <a:spLocks noChangeShapeType="1"/>
          </p:cNvSpPr>
          <p:nvPr/>
        </p:nvSpPr>
        <p:spPr bwMode="auto">
          <a:xfrm>
            <a:off x="6929438" y="4462021"/>
            <a:ext cx="1588" cy="16033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12" name="Line 68"/>
          <p:cNvSpPr>
            <a:spLocks noChangeShapeType="1"/>
          </p:cNvSpPr>
          <p:nvPr/>
        </p:nvSpPr>
        <p:spPr bwMode="auto">
          <a:xfrm flipH="1">
            <a:off x="1328738" y="5189096"/>
            <a:ext cx="892175"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15" name="Line 71"/>
          <p:cNvSpPr>
            <a:spLocks noChangeShapeType="1"/>
          </p:cNvSpPr>
          <p:nvPr/>
        </p:nvSpPr>
        <p:spPr bwMode="auto">
          <a:xfrm>
            <a:off x="1776413" y="4922396"/>
            <a:ext cx="1588" cy="26670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52" name="Line 108"/>
          <p:cNvSpPr>
            <a:spLocks noChangeShapeType="1"/>
          </p:cNvSpPr>
          <p:nvPr/>
        </p:nvSpPr>
        <p:spPr bwMode="auto">
          <a:xfrm flipH="1">
            <a:off x="3530601" y="5189096"/>
            <a:ext cx="892175"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55" name="Line 111"/>
          <p:cNvSpPr>
            <a:spLocks noChangeShapeType="1"/>
          </p:cNvSpPr>
          <p:nvPr/>
        </p:nvSpPr>
        <p:spPr bwMode="auto">
          <a:xfrm>
            <a:off x="3978276" y="4922396"/>
            <a:ext cx="1588" cy="26670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74" name="Line 130"/>
          <p:cNvSpPr>
            <a:spLocks noChangeShapeType="1"/>
          </p:cNvSpPr>
          <p:nvPr/>
        </p:nvSpPr>
        <p:spPr bwMode="auto">
          <a:xfrm flipH="1">
            <a:off x="5570538" y="5189096"/>
            <a:ext cx="892175"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77" name="Line 133"/>
          <p:cNvSpPr>
            <a:spLocks noChangeShapeType="1"/>
          </p:cNvSpPr>
          <p:nvPr/>
        </p:nvSpPr>
        <p:spPr bwMode="auto">
          <a:xfrm>
            <a:off x="6018213" y="4922396"/>
            <a:ext cx="1588" cy="266700"/>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696" name="Line 152"/>
          <p:cNvSpPr>
            <a:spLocks noChangeShapeType="1"/>
          </p:cNvSpPr>
          <p:nvPr/>
        </p:nvSpPr>
        <p:spPr bwMode="auto">
          <a:xfrm flipH="1">
            <a:off x="2220913" y="3576196"/>
            <a:ext cx="4268788" cy="1587"/>
          </a:xfrm>
          <a:prstGeom prst="line">
            <a:avLst/>
          </a:prstGeom>
          <a:noFill/>
          <a:ln w="1905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69" name="_s106509"/>
          <p:cNvSpPr>
            <a:spLocks noChangeArrowheads="1"/>
          </p:cNvSpPr>
          <p:nvPr/>
        </p:nvSpPr>
        <p:spPr bwMode="auto">
          <a:xfrm>
            <a:off x="2177779" y="4634307"/>
            <a:ext cx="1240670"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0" name="_s106509"/>
          <p:cNvSpPr>
            <a:spLocks noChangeArrowheads="1"/>
          </p:cNvSpPr>
          <p:nvPr/>
        </p:nvSpPr>
        <p:spPr bwMode="auto">
          <a:xfrm>
            <a:off x="4285588" y="4631962"/>
            <a:ext cx="1240670"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1" name="_s106509"/>
          <p:cNvSpPr>
            <a:spLocks noChangeArrowheads="1"/>
          </p:cNvSpPr>
          <p:nvPr/>
        </p:nvSpPr>
        <p:spPr bwMode="auto">
          <a:xfrm>
            <a:off x="6402265" y="4631963"/>
            <a:ext cx="1240670"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2" name="_s106509"/>
          <p:cNvSpPr>
            <a:spLocks noChangeArrowheads="1"/>
          </p:cNvSpPr>
          <p:nvPr/>
        </p:nvSpPr>
        <p:spPr bwMode="auto">
          <a:xfrm>
            <a:off x="1531917" y="4631962"/>
            <a:ext cx="489293"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3" name="_s106509"/>
          <p:cNvSpPr>
            <a:spLocks noChangeArrowheads="1"/>
          </p:cNvSpPr>
          <p:nvPr/>
        </p:nvSpPr>
        <p:spPr bwMode="auto">
          <a:xfrm>
            <a:off x="3726873" y="4629983"/>
            <a:ext cx="489293"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4" name="_s106509"/>
          <p:cNvSpPr>
            <a:spLocks noChangeArrowheads="1"/>
          </p:cNvSpPr>
          <p:nvPr/>
        </p:nvSpPr>
        <p:spPr bwMode="auto">
          <a:xfrm>
            <a:off x="5769429" y="4629982"/>
            <a:ext cx="489293"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5" name="_s106509"/>
          <p:cNvSpPr>
            <a:spLocks noChangeArrowheads="1"/>
          </p:cNvSpPr>
          <p:nvPr/>
        </p:nvSpPr>
        <p:spPr bwMode="auto">
          <a:xfrm>
            <a:off x="1066801" y="5330627"/>
            <a:ext cx="489293"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6" name="_s106509"/>
          <p:cNvSpPr>
            <a:spLocks noChangeArrowheads="1"/>
          </p:cNvSpPr>
          <p:nvPr/>
        </p:nvSpPr>
        <p:spPr bwMode="auto">
          <a:xfrm>
            <a:off x="3275610" y="5342502"/>
            <a:ext cx="489293"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77" name="_s106509"/>
          <p:cNvSpPr>
            <a:spLocks noChangeArrowheads="1"/>
          </p:cNvSpPr>
          <p:nvPr/>
        </p:nvSpPr>
        <p:spPr bwMode="auto">
          <a:xfrm>
            <a:off x="5306291" y="5342502"/>
            <a:ext cx="489293" cy="317516"/>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68" name="_s106509"/>
          <p:cNvSpPr>
            <a:spLocks noChangeArrowheads="1"/>
          </p:cNvSpPr>
          <p:nvPr/>
        </p:nvSpPr>
        <p:spPr bwMode="auto">
          <a:xfrm>
            <a:off x="5889306" y="5335346"/>
            <a:ext cx="1226601" cy="795817"/>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67" name="_s106509"/>
          <p:cNvSpPr>
            <a:spLocks noChangeArrowheads="1"/>
          </p:cNvSpPr>
          <p:nvPr/>
        </p:nvSpPr>
        <p:spPr bwMode="auto">
          <a:xfrm>
            <a:off x="3821356" y="5339108"/>
            <a:ext cx="1285216" cy="795817"/>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66" name="_s106509"/>
          <p:cNvSpPr>
            <a:spLocks noChangeArrowheads="1"/>
          </p:cNvSpPr>
          <p:nvPr/>
        </p:nvSpPr>
        <p:spPr bwMode="auto">
          <a:xfrm>
            <a:off x="1643208" y="5337691"/>
            <a:ext cx="1226601" cy="795817"/>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63" name="_s106509"/>
          <p:cNvSpPr>
            <a:spLocks noChangeArrowheads="1"/>
          </p:cNvSpPr>
          <p:nvPr/>
        </p:nvSpPr>
        <p:spPr bwMode="auto">
          <a:xfrm>
            <a:off x="1420469" y="3961403"/>
            <a:ext cx="1606550" cy="400382"/>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64" name="_s106509"/>
          <p:cNvSpPr>
            <a:spLocks noChangeArrowheads="1"/>
          </p:cNvSpPr>
          <p:nvPr/>
        </p:nvSpPr>
        <p:spPr bwMode="auto">
          <a:xfrm>
            <a:off x="3640822" y="3973126"/>
            <a:ext cx="1606550" cy="400382"/>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65" name="_s106509"/>
          <p:cNvSpPr>
            <a:spLocks noChangeArrowheads="1"/>
          </p:cNvSpPr>
          <p:nvPr/>
        </p:nvSpPr>
        <p:spPr bwMode="auto">
          <a:xfrm>
            <a:off x="5680636" y="3973126"/>
            <a:ext cx="1606550" cy="400382"/>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61" name="_s106509"/>
          <p:cNvSpPr>
            <a:spLocks noChangeArrowheads="1"/>
          </p:cNvSpPr>
          <p:nvPr/>
        </p:nvSpPr>
        <p:spPr bwMode="auto">
          <a:xfrm>
            <a:off x="3671298" y="3103274"/>
            <a:ext cx="1606550" cy="400382"/>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59" name="_s106509"/>
          <p:cNvSpPr>
            <a:spLocks noChangeArrowheads="1"/>
          </p:cNvSpPr>
          <p:nvPr/>
        </p:nvSpPr>
        <p:spPr bwMode="auto">
          <a:xfrm>
            <a:off x="6360574" y="2641381"/>
            <a:ext cx="1939363" cy="664519"/>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60420" name="Text Box 48"/>
          <p:cNvSpPr txBox="1">
            <a:spLocks noChangeArrowheads="1"/>
          </p:cNvSpPr>
          <p:nvPr/>
        </p:nvSpPr>
        <p:spPr bwMode="auto">
          <a:xfrm>
            <a:off x="1323546" y="495047"/>
            <a:ext cx="7705979"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en-GB" altLang="es-ES" sz="3200" dirty="0">
                <a:solidFill>
                  <a:schemeClr val="accent2">
                    <a:lumMod val="50000"/>
                  </a:schemeClr>
                </a:solidFill>
              </a:rPr>
              <a:t>Phase III study in chronic spontaneous urticaria: Results (I)</a:t>
            </a:r>
          </a:p>
        </p:txBody>
      </p:sp>
      <p:sp>
        <p:nvSpPr>
          <p:cNvPr id="10" name="CuadroTexto 1"/>
          <p:cNvSpPr txBox="1">
            <a:spLocks noChangeArrowheads="1"/>
          </p:cNvSpPr>
          <p:nvPr/>
        </p:nvSpPr>
        <p:spPr bwMode="auto">
          <a:xfrm>
            <a:off x="7713311" y="5444584"/>
            <a:ext cx="1306512" cy="400050"/>
          </a:xfrm>
          <a:prstGeom prst="rect">
            <a:avLst/>
          </a:prstGeom>
          <a:noFill/>
          <a:ln w="9525">
            <a:noFill/>
            <a:miter lim="800000"/>
            <a:headEnd/>
            <a:tailEnd/>
          </a:ln>
        </p:spPr>
        <p:txBody>
          <a:bodyPr wrap="none">
            <a:spAutoFit/>
          </a:bodyPr>
          <a:lstStyle/>
          <a:p>
            <a:r>
              <a:rPr lang="es-ES" altLang="es-ES" sz="1000" b="0" dirty="0">
                <a:solidFill>
                  <a:schemeClr val="accent2">
                    <a:lumMod val="50000"/>
                  </a:schemeClr>
                </a:solidFill>
              </a:rPr>
              <a:t>PP: per </a:t>
            </a:r>
            <a:r>
              <a:rPr lang="es-ES" altLang="es-ES" sz="1000" b="0" dirty="0" err="1">
                <a:solidFill>
                  <a:schemeClr val="accent2">
                    <a:lumMod val="50000"/>
                  </a:schemeClr>
                </a:solidFill>
              </a:rPr>
              <a:t>protocol</a:t>
            </a:r>
            <a:endParaRPr lang="es-ES" altLang="es-ES" sz="1000" b="0" dirty="0">
              <a:solidFill>
                <a:schemeClr val="accent2">
                  <a:lumMod val="50000"/>
                </a:schemeClr>
              </a:solidFill>
            </a:endParaRPr>
          </a:p>
          <a:p>
            <a:r>
              <a:rPr lang="es-ES" altLang="es-ES" sz="1000" b="0" dirty="0">
                <a:solidFill>
                  <a:schemeClr val="accent2">
                    <a:lumMod val="50000"/>
                  </a:schemeClr>
                </a:solidFill>
              </a:rPr>
              <a:t>ITT: </a:t>
            </a:r>
            <a:r>
              <a:rPr lang="es-ES" altLang="es-ES" sz="1000" b="0" dirty="0" err="1">
                <a:solidFill>
                  <a:schemeClr val="accent2">
                    <a:lumMod val="50000"/>
                  </a:schemeClr>
                </a:solidFill>
              </a:rPr>
              <a:t>intention</a:t>
            </a:r>
            <a:r>
              <a:rPr lang="es-ES" altLang="es-ES" sz="1000" b="0" dirty="0">
                <a:solidFill>
                  <a:schemeClr val="accent2">
                    <a:lumMod val="50000"/>
                  </a:schemeClr>
                </a:solidFill>
              </a:rPr>
              <a:t> to </a:t>
            </a:r>
            <a:r>
              <a:rPr lang="es-ES" altLang="es-ES" sz="1000" b="0" dirty="0" err="1">
                <a:solidFill>
                  <a:schemeClr val="accent2">
                    <a:lumMod val="50000"/>
                  </a:schemeClr>
                </a:solidFill>
              </a:rPr>
              <a:t>treat</a:t>
            </a:r>
            <a:endParaRPr lang="es-ES" altLang="es-ES" sz="1000" b="0" dirty="0">
              <a:solidFill>
                <a:schemeClr val="accent2">
                  <a:lumMod val="50000"/>
                </a:schemeClr>
              </a:solidFill>
            </a:endParaRPr>
          </a:p>
        </p:txBody>
      </p:sp>
      <p:sp>
        <p:nvSpPr>
          <p:cNvPr id="12" name="11 Rectángulo redondeado"/>
          <p:cNvSpPr/>
          <p:nvPr/>
        </p:nvSpPr>
        <p:spPr bwMode="auto">
          <a:xfrm>
            <a:off x="2328863" y="1636810"/>
            <a:ext cx="452120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GB" altLang="es-ES" sz="2400" kern="0">
                <a:solidFill>
                  <a:schemeClr val="accent2">
                    <a:lumMod val="50000"/>
                  </a:schemeClr>
                </a:solidFill>
                <a:cs typeface="Arial" charset="0"/>
              </a:rPr>
              <a:t>Patient randomisation</a:t>
            </a:r>
            <a:endParaRPr lang="en-US" sz="2400">
              <a:solidFill>
                <a:schemeClr val="accent2">
                  <a:lumMod val="50000"/>
                </a:schemeClr>
              </a:solidFill>
              <a:cs typeface="ＭＳ Ｐゴシック" pitchFamily="34" charset="-128"/>
            </a:endParaRPr>
          </a:p>
        </p:txBody>
      </p:sp>
      <p:sp>
        <p:nvSpPr>
          <p:cNvPr id="7" name="Rectangle 5"/>
          <p:cNvSpPr>
            <a:spLocks noChangeArrowheads="1"/>
          </p:cNvSpPr>
          <p:nvPr/>
        </p:nvSpPr>
        <p:spPr bwMode="auto">
          <a:xfrm>
            <a:off x="1653025" y="6108852"/>
            <a:ext cx="1188648" cy="253916"/>
          </a:xfrm>
          <a:prstGeom prst="rect">
            <a:avLst/>
          </a:prstGeom>
          <a:noFill/>
          <a:ln w="9525">
            <a:noFill/>
            <a:miter lim="800000"/>
            <a:headEnd/>
            <a:tailEnd/>
          </a:ln>
        </p:spPr>
        <p:txBody>
          <a:bodyPr wrap="square" anchor="ctr">
            <a:spAutoFit/>
          </a:bodyPr>
          <a:lstStyle/>
          <a:p>
            <a:pPr algn="ctr" eaLnBrk="1" hangingPunct="1">
              <a:buClr>
                <a:srgbClr val="000000"/>
              </a:buClr>
              <a:buSzPct val="100000"/>
              <a:buFont typeface="Calibri" pitchFamily="34" charset="0"/>
              <a:buNone/>
            </a:pPr>
            <a:r>
              <a:rPr lang="es-ES" altLang="es-ES" sz="1050">
                <a:solidFill>
                  <a:schemeClr val="accent2">
                    <a:lumMod val="50000"/>
                  </a:schemeClr>
                </a:solidFill>
                <a:latin typeface="+mj-lt"/>
              </a:rPr>
              <a:t>N = 15     “Failures</a:t>
            </a:r>
          </a:p>
        </p:txBody>
      </p:sp>
      <p:sp>
        <p:nvSpPr>
          <p:cNvPr id="8" name="Rectangle 6"/>
          <p:cNvSpPr>
            <a:spLocks noChangeArrowheads="1"/>
          </p:cNvSpPr>
          <p:nvPr/>
        </p:nvSpPr>
        <p:spPr bwMode="auto">
          <a:xfrm>
            <a:off x="3838966" y="6090889"/>
            <a:ext cx="1218809" cy="253916"/>
          </a:xfrm>
          <a:prstGeom prst="rect">
            <a:avLst/>
          </a:prstGeom>
          <a:noFill/>
          <a:ln w="9525">
            <a:noFill/>
            <a:miter lim="800000"/>
            <a:headEnd/>
            <a:tailEnd/>
          </a:ln>
        </p:spPr>
        <p:txBody>
          <a:bodyPr wrap="square" anchor="ctr">
            <a:spAutoFit/>
          </a:bodyPr>
          <a:lstStyle/>
          <a:p>
            <a:pPr algn="ctr" eaLnBrk="1" hangingPunct="1">
              <a:buClr>
                <a:srgbClr val="000000"/>
              </a:buClr>
              <a:buSzPct val="100000"/>
              <a:buFont typeface="Calibri" pitchFamily="34" charset="0"/>
              <a:buNone/>
            </a:pPr>
            <a:r>
              <a:rPr lang="es-ES" altLang="es-ES" sz="1050">
                <a:solidFill>
                  <a:schemeClr val="accent2">
                    <a:lumMod val="50000"/>
                  </a:schemeClr>
                </a:solidFill>
                <a:latin typeface="+mj-lt"/>
              </a:rPr>
              <a:t>N = 22     “Failures</a:t>
            </a:r>
          </a:p>
        </p:txBody>
      </p:sp>
      <p:sp>
        <p:nvSpPr>
          <p:cNvPr id="9" name="Rectangle 7"/>
          <p:cNvSpPr>
            <a:spLocks noChangeArrowheads="1"/>
          </p:cNvSpPr>
          <p:nvPr/>
        </p:nvSpPr>
        <p:spPr bwMode="auto">
          <a:xfrm>
            <a:off x="5833897" y="6079273"/>
            <a:ext cx="1326555" cy="253916"/>
          </a:xfrm>
          <a:prstGeom prst="rect">
            <a:avLst/>
          </a:prstGeom>
          <a:noFill/>
          <a:ln w="9525">
            <a:noFill/>
            <a:miter lim="800000"/>
            <a:headEnd/>
            <a:tailEnd/>
          </a:ln>
        </p:spPr>
        <p:txBody>
          <a:bodyPr wrap="square" anchor="ctr">
            <a:spAutoFit/>
          </a:bodyPr>
          <a:lstStyle/>
          <a:p>
            <a:pPr algn="ctr" eaLnBrk="1" hangingPunct="1">
              <a:buClr>
                <a:srgbClr val="000000"/>
              </a:buClr>
              <a:buSzPct val="100000"/>
              <a:buFont typeface="Calibri" pitchFamily="34" charset="0"/>
              <a:buNone/>
            </a:pPr>
            <a:r>
              <a:rPr lang="es-ES" altLang="es-ES" sz="1050">
                <a:solidFill>
                  <a:schemeClr val="accent2">
                    <a:lumMod val="50000"/>
                  </a:schemeClr>
                </a:solidFill>
                <a:latin typeface="+mj-lt"/>
              </a:rPr>
              <a:t>N = 17     “Failures</a:t>
            </a:r>
          </a:p>
        </p:txBody>
      </p:sp>
      <p:sp>
        <p:nvSpPr>
          <p:cNvPr id="108547" name="AutoShape 3"/>
          <p:cNvSpPr>
            <a:spLocks noChangeAspect="1" noChangeArrowheads="1" noTextEdit="1"/>
          </p:cNvSpPr>
          <p:nvPr/>
        </p:nvSpPr>
        <p:spPr bwMode="auto">
          <a:xfrm>
            <a:off x="1068388" y="2476059"/>
            <a:ext cx="7200900" cy="36210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s-ES" sz="4800">
              <a:solidFill>
                <a:schemeClr val="accent2">
                  <a:lumMod val="50000"/>
                </a:schemeClr>
              </a:solidFill>
              <a:latin typeface="+mj-lt"/>
            </a:endParaRPr>
          </a:p>
        </p:txBody>
      </p:sp>
      <p:sp>
        <p:nvSpPr>
          <p:cNvPr id="108554" name="Rectangle 10"/>
          <p:cNvSpPr>
            <a:spLocks noChangeArrowheads="1"/>
          </p:cNvSpPr>
          <p:nvPr/>
        </p:nvSpPr>
        <p:spPr bwMode="auto">
          <a:xfrm>
            <a:off x="4302126" y="3168054"/>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206</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55" name="Rectangle 11"/>
          <p:cNvSpPr>
            <a:spLocks noChangeArrowheads="1"/>
          </p:cNvSpPr>
          <p:nvPr/>
        </p:nvSpPr>
        <p:spPr bwMode="auto">
          <a:xfrm>
            <a:off x="3916363" y="3280767"/>
            <a:ext cx="437620"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Patients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56" name="Rectangle 12"/>
          <p:cNvSpPr>
            <a:spLocks noChangeArrowheads="1"/>
          </p:cNvSpPr>
          <p:nvPr/>
        </p:nvSpPr>
        <p:spPr bwMode="auto">
          <a:xfrm>
            <a:off x="4399272" y="3280767"/>
            <a:ext cx="66204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Randomized</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58" name="Rectangle 14"/>
          <p:cNvSpPr>
            <a:spLocks noChangeArrowheads="1"/>
          </p:cNvSpPr>
          <p:nvPr/>
        </p:nvSpPr>
        <p:spPr bwMode="auto">
          <a:xfrm>
            <a:off x="2073318" y="4012141"/>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66</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59" name="Rectangle 15"/>
          <p:cNvSpPr>
            <a:spLocks noChangeArrowheads="1"/>
          </p:cNvSpPr>
          <p:nvPr/>
        </p:nvSpPr>
        <p:spPr bwMode="auto">
          <a:xfrm>
            <a:off x="1651043" y="4157221"/>
            <a:ext cx="61395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chemeClr val="accent2">
                    <a:lumMod val="50000"/>
                  </a:schemeClr>
                </a:solidFill>
                <a:effectLst/>
                <a:latin typeface="+mj-lt"/>
                <a:ea typeface="ＭＳ Ｐゴシック" pitchFamily="34" charset="-128"/>
              </a:rPr>
              <a:t>Rupatadine</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560" name="Rectangle 16"/>
          <p:cNvSpPr>
            <a:spLocks noChangeArrowheads="1"/>
          </p:cNvSpPr>
          <p:nvPr/>
        </p:nvSpPr>
        <p:spPr bwMode="auto">
          <a:xfrm>
            <a:off x="2308577" y="4157221"/>
            <a:ext cx="325410"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(1mg/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61" name="Rectangle 17"/>
          <p:cNvSpPr>
            <a:spLocks noChangeArrowheads="1"/>
          </p:cNvSpPr>
          <p:nvPr/>
        </p:nvSpPr>
        <p:spPr bwMode="auto">
          <a:xfrm>
            <a:off x="2640983" y="4157221"/>
            <a:ext cx="15869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chemeClr val="accent2">
                    <a:lumMod val="50000"/>
                  </a:schemeClr>
                </a:solidFill>
                <a:effectLst/>
                <a:latin typeface="+mj-lt"/>
                <a:ea typeface="ＭＳ Ｐゴシック" pitchFamily="34" charset="-128"/>
              </a:rPr>
              <a:t>mL</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562" name="Rectangle 18"/>
          <p:cNvSpPr>
            <a:spLocks noChangeArrowheads="1"/>
          </p:cNvSpPr>
          <p:nvPr/>
        </p:nvSpPr>
        <p:spPr bwMode="auto">
          <a:xfrm>
            <a:off x="2809258" y="4157221"/>
            <a:ext cx="4007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66" name="Rectangle 22"/>
          <p:cNvSpPr>
            <a:spLocks noChangeArrowheads="1"/>
          </p:cNvSpPr>
          <p:nvPr/>
        </p:nvSpPr>
        <p:spPr bwMode="auto">
          <a:xfrm>
            <a:off x="4301311" y="4044509"/>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69</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67" name="Rectangle 23"/>
          <p:cNvSpPr>
            <a:spLocks noChangeArrowheads="1"/>
          </p:cNvSpPr>
          <p:nvPr/>
        </p:nvSpPr>
        <p:spPr bwMode="auto">
          <a:xfrm>
            <a:off x="4253995" y="4165313"/>
            <a:ext cx="41838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Placebo</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69" name="Rectangle 25"/>
          <p:cNvSpPr>
            <a:spLocks noChangeArrowheads="1"/>
          </p:cNvSpPr>
          <p:nvPr/>
        </p:nvSpPr>
        <p:spPr bwMode="auto">
          <a:xfrm>
            <a:off x="6342836" y="4020233"/>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71</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70" name="Rectangle 26"/>
          <p:cNvSpPr>
            <a:spLocks noChangeArrowheads="1"/>
          </p:cNvSpPr>
          <p:nvPr/>
        </p:nvSpPr>
        <p:spPr bwMode="auto">
          <a:xfrm>
            <a:off x="5768976" y="4157221"/>
            <a:ext cx="74539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Desloratadine</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71" name="Rectangle 27"/>
          <p:cNvSpPr>
            <a:spLocks noChangeArrowheads="1"/>
          </p:cNvSpPr>
          <p:nvPr/>
        </p:nvSpPr>
        <p:spPr bwMode="auto">
          <a:xfrm>
            <a:off x="6540501" y="4157221"/>
            <a:ext cx="42479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(0.5mg/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72" name="Rectangle 28"/>
          <p:cNvSpPr>
            <a:spLocks noChangeArrowheads="1"/>
          </p:cNvSpPr>
          <p:nvPr/>
        </p:nvSpPr>
        <p:spPr bwMode="auto">
          <a:xfrm>
            <a:off x="6956889" y="4157221"/>
            <a:ext cx="15869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chemeClr val="accent2">
                    <a:lumMod val="50000"/>
                  </a:schemeClr>
                </a:solidFill>
                <a:effectLst/>
                <a:latin typeface="+mj-lt"/>
                <a:ea typeface="ＭＳ Ｐゴシック" pitchFamily="34" charset="-128"/>
              </a:rPr>
              <a:t>mL</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573" name="Rectangle 29"/>
          <p:cNvSpPr>
            <a:spLocks noChangeArrowheads="1"/>
          </p:cNvSpPr>
          <p:nvPr/>
        </p:nvSpPr>
        <p:spPr bwMode="auto">
          <a:xfrm>
            <a:off x="7125164" y="4157221"/>
            <a:ext cx="4007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76" name="Rectangle 32"/>
          <p:cNvSpPr>
            <a:spLocks noChangeArrowheads="1"/>
          </p:cNvSpPr>
          <p:nvPr/>
        </p:nvSpPr>
        <p:spPr bwMode="auto">
          <a:xfrm>
            <a:off x="7156451" y="2676899"/>
            <a:ext cx="36708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N = 51 </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77" name="Rectangle 33"/>
          <p:cNvSpPr>
            <a:spLocks noChangeArrowheads="1"/>
          </p:cNvSpPr>
          <p:nvPr/>
        </p:nvSpPr>
        <p:spPr bwMode="auto">
          <a:xfrm>
            <a:off x="6916738" y="2789611"/>
            <a:ext cx="3542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Screen</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78" name="Rectangle 34"/>
          <p:cNvSpPr>
            <a:spLocks noChangeArrowheads="1"/>
          </p:cNvSpPr>
          <p:nvPr/>
        </p:nvSpPr>
        <p:spPr bwMode="auto">
          <a:xfrm>
            <a:off x="7302501" y="2789611"/>
            <a:ext cx="41517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Failures</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79" name="Rectangle 35"/>
          <p:cNvSpPr>
            <a:spLocks noChangeArrowheads="1"/>
          </p:cNvSpPr>
          <p:nvPr/>
        </p:nvSpPr>
        <p:spPr bwMode="auto">
          <a:xfrm>
            <a:off x="7072313" y="2972832"/>
            <a:ext cx="439223"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Reasons</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0" name="Rectangle 36"/>
          <p:cNvSpPr>
            <a:spLocks noChangeArrowheads="1"/>
          </p:cNvSpPr>
          <p:nvPr/>
        </p:nvSpPr>
        <p:spPr bwMode="auto">
          <a:xfrm>
            <a:off x="7513638" y="2972832"/>
            <a:ext cx="3526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1" name="Rectangle 37"/>
          <p:cNvSpPr>
            <a:spLocks noChangeArrowheads="1"/>
          </p:cNvSpPr>
          <p:nvPr/>
        </p:nvSpPr>
        <p:spPr bwMode="auto">
          <a:xfrm>
            <a:off x="6448426" y="3085545"/>
            <a:ext cx="15549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Inc</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2" name="Rectangle 38"/>
          <p:cNvSpPr>
            <a:spLocks noChangeArrowheads="1"/>
          </p:cNvSpPr>
          <p:nvPr/>
        </p:nvSpPr>
        <p:spPr bwMode="auto">
          <a:xfrm>
            <a:off x="6597651" y="3085545"/>
            <a:ext cx="5450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3" name="Rectangle 39"/>
          <p:cNvSpPr>
            <a:spLocks noChangeArrowheads="1"/>
          </p:cNvSpPr>
          <p:nvPr/>
        </p:nvSpPr>
        <p:spPr bwMode="auto">
          <a:xfrm>
            <a:off x="6629401" y="3085545"/>
            <a:ext cx="17312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Exc</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4" name="Rectangle 40"/>
          <p:cNvSpPr>
            <a:spLocks noChangeArrowheads="1"/>
          </p:cNvSpPr>
          <p:nvPr/>
        </p:nvSpPr>
        <p:spPr bwMode="auto">
          <a:xfrm>
            <a:off x="6848476" y="3085545"/>
            <a:ext cx="39273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Criteria</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5" name="Rectangle 41"/>
          <p:cNvSpPr>
            <a:spLocks noChangeArrowheads="1"/>
          </p:cNvSpPr>
          <p:nvPr/>
        </p:nvSpPr>
        <p:spPr bwMode="auto">
          <a:xfrm>
            <a:off x="7263277" y="3085545"/>
            <a:ext cx="4007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6" name="Rectangle 42"/>
          <p:cNvSpPr>
            <a:spLocks noChangeArrowheads="1"/>
          </p:cNvSpPr>
          <p:nvPr/>
        </p:nvSpPr>
        <p:spPr bwMode="auto">
          <a:xfrm>
            <a:off x="7301377" y="3085545"/>
            <a:ext cx="44082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adapted</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87" name="Rectangle 43"/>
          <p:cNvSpPr>
            <a:spLocks noChangeArrowheads="1"/>
          </p:cNvSpPr>
          <p:nvPr/>
        </p:nvSpPr>
        <p:spPr bwMode="auto">
          <a:xfrm>
            <a:off x="7767132" y="3085545"/>
            <a:ext cx="45685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i="0" u="none" strike="noStrike" cap="none" normalizeH="0" baseline="0">
                <a:ln>
                  <a:noFill/>
                </a:ln>
                <a:solidFill>
                  <a:schemeClr val="accent2">
                    <a:lumMod val="50000"/>
                  </a:schemeClr>
                </a:solidFill>
                <a:effectLst/>
                <a:latin typeface="+mj-lt"/>
                <a:ea typeface="ＭＳ Ｐゴシック" pitchFamily="34" charset="-128"/>
              </a:rPr>
              <a:t>UAS&gt;12)</a:t>
            </a:r>
            <a:endParaRPr kumimoji="0" lang="es-ES" sz="4800"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92" name="Rectangle 48"/>
          <p:cNvSpPr>
            <a:spLocks noChangeArrowheads="1"/>
          </p:cNvSpPr>
          <p:nvPr/>
        </p:nvSpPr>
        <p:spPr bwMode="auto">
          <a:xfrm>
            <a:off x="1604963" y="4663634"/>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63</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93" name="Rectangle 49"/>
          <p:cNvSpPr>
            <a:spLocks noChangeArrowheads="1"/>
          </p:cNvSpPr>
          <p:nvPr/>
        </p:nvSpPr>
        <p:spPr bwMode="auto">
          <a:xfrm>
            <a:off x="1671638" y="4776346"/>
            <a:ext cx="16190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ITT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99" name="Rectangle 55"/>
          <p:cNvSpPr>
            <a:spLocks noChangeArrowheads="1"/>
          </p:cNvSpPr>
          <p:nvPr/>
        </p:nvSpPr>
        <p:spPr bwMode="auto">
          <a:xfrm>
            <a:off x="3798888" y="4663634"/>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67</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00" name="Rectangle 56"/>
          <p:cNvSpPr>
            <a:spLocks noChangeArrowheads="1"/>
          </p:cNvSpPr>
          <p:nvPr/>
        </p:nvSpPr>
        <p:spPr bwMode="auto">
          <a:xfrm>
            <a:off x="3863976" y="4776346"/>
            <a:ext cx="16190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ITT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03" name="Rectangle 59"/>
          <p:cNvSpPr>
            <a:spLocks noChangeArrowheads="1"/>
          </p:cNvSpPr>
          <p:nvPr/>
        </p:nvSpPr>
        <p:spPr bwMode="auto">
          <a:xfrm>
            <a:off x="5842001" y="4663634"/>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69</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04" name="Rectangle 60"/>
          <p:cNvSpPr>
            <a:spLocks noChangeArrowheads="1"/>
          </p:cNvSpPr>
          <p:nvPr/>
        </p:nvSpPr>
        <p:spPr bwMode="auto">
          <a:xfrm>
            <a:off x="5907088" y="4776346"/>
            <a:ext cx="16190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ITT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17" name="Rectangle 73"/>
          <p:cNvSpPr>
            <a:spLocks noChangeArrowheads="1"/>
          </p:cNvSpPr>
          <p:nvPr/>
        </p:nvSpPr>
        <p:spPr bwMode="auto">
          <a:xfrm>
            <a:off x="2586038" y="4668396"/>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Failures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18" name="Rectangle 74"/>
          <p:cNvSpPr>
            <a:spLocks noChangeArrowheads="1"/>
          </p:cNvSpPr>
          <p:nvPr/>
        </p:nvSpPr>
        <p:spPr bwMode="auto">
          <a:xfrm>
            <a:off x="2982913" y="4668396"/>
            <a:ext cx="336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19" name="Rectangle 75"/>
          <p:cNvSpPr>
            <a:spLocks noChangeArrowheads="1"/>
          </p:cNvSpPr>
          <p:nvPr/>
        </p:nvSpPr>
        <p:spPr bwMode="auto">
          <a:xfrm>
            <a:off x="2224213" y="4781109"/>
            <a:ext cx="39594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chemeClr val="accent2">
                    <a:lumMod val="50000"/>
                  </a:schemeClr>
                </a:solidFill>
                <a:effectLst/>
                <a:latin typeface="+mj-lt"/>
                <a:ea typeface="ＭＳ Ｐゴシック" pitchFamily="34" charset="-128"/>
              </a:rPr>
              <a:t>Efficacy</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20" name="Rectangle 76"/>
          <p:cNvSpPr>
            <a:spLocks noChangeArrowheads="1"/>
          </p:cNvSpPr>
          <p:nvPr/>
        </p:nvSpPr>
        <p:spPr bwMode="auto">
          <a:xfrm>
            <a:off x="2646488" y="4781109"/>
            <a:ext cx="5001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recording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21" name="Rectangle 77"/>
          <p:cNvSpPr>
            <a:spLocks noChangeArrowheads="1"/>
          </p:cNvSpPr>
          <p:nvPr/>
        </p:nvSpPr>
        <p:spPr bwMode="auto">
          <a:xfrm>
            <a:off x="3190876" y="4781109"/>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(3)</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23" name="Rectangle 79"/>
          <p:cNvSpPr>
            <a:spLocks noChangeArrowheads="1"/>
          </p:cNvSpPr>
          <p:nvPr/>
        </p:nvSpPr>
        <p:spPr bwMode="auto">
          <a:xfrm>
            <a:off x="4692651" y="4669984"/>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Failures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24" name="Rectangle 80"/>
          <p:cNvSpPr>
            <a:spLocks noChangeArrowheads="1"/>
          </p:cNvSpPr>
          <p:nvPr/>
        </p:nvSpPr>
        <p:spPr bwMode="auto">
          <a:xfrm>
            <a:off x="5091113" y="4669984"/>
            <a:ext cx="336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25" name="Rectangle 81"/>
          <p:cNvSpPr>
            <a:spLocks noChangeArrowheads="1"/>
          </p:cNvSpPr>
          <p:nvPr/>
        </p:nvSpPr>
        <p:spPr bwMode="auto">
          <a:xfrm>
            <a:off x="4330826" y="4782696"/>
            <a:ext cx="39594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chemeClr val="accent2">
                    <a:lumMod val="50000"/>
                  </a:schemeClr>
                </a:solidFill>
                <a:effectLst/>
                <a:latin typeface="+mj-lt"/>
                <a:ea typeface="ＭＳ Ｐゴシック" pitchFamily="34" charset="-128"/>
              </a:rPr>
              <a:t>Efficacy</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26" name="Rectangle 82"/>
          <p:cNvSpPr>
            <a:spLocks noChangeArrowheads="1"/>
          </p:cNvSpPr>
          <p:nvPr/>
        </p:nvSpPr>
        <p:spPr bwMode="auto">
          <a:xfrm>
            <a:off x="4753101" y="4782696"/>
            <a:ext cx="5001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recording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27" name="Rectangle 83"/>
          <p:cNvSpPr>
            <a:spLocks noChangeArrowheads="1"/>
          </p:cNvSpPr>
          <p:nvPr/>
        </p:nvSpPr>
        <p:spPr bwMode="auto">
          <a:xfrm>
            <a:off x="5289396" y="4782696"/>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(2)</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29" name="Rectangle 85"/>
          <p:cNvSpPr>
            <a:spLocks noChangeArrowheads="1"/>
          </p:cNvSpPr>
          <p:nvPr/>
        </p:nvSpPr>
        <p:spPr bwMode="auto">
          <a:xfrm>
            <a:off x="6823076" y="4666809"/>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Failures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30" name="Rectangle 86"/>
          <p:cNvSpPr>
            <a:spLocks noChangeArrowheads="1"/>
          </p:cNvSpPr>
          <p:nvPr/>
        </p:nvSpPr>
        <p:spPr bwMode="auto">
          <a:xfrm>
            <a:off x="7221538" y="4666809"/>
            <a:ext cx="336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31" name="Rectangle 87"/>
          <p:cNvSpPr>
            <a:spLocks noChangeArrowheads="1"/>
          </p:cNvSpPr>
          <p:nvPr/>
        </p:nvSpPr>
        <p:spPr bwMode="auto">
          <a:xfrm>
            <a:off x="6469878" y="4779521"/>
            <a:ext cx="39594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chemeClr val="accent2">
                    <a:lumMod val="50000"/>
                  </a:schemeClr>
                </a:solidFill>
                <a:effectLst/>
                <a:latin typeface="+mj-lt"/>
                <a:ea typeface="ＭＳ Ｐゴシック" pitchFamily="34" charset="-128"/>
              </a:rPr>
              <a:t>Efficacy</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32" name="Rectangle 88"/>
          <p:cNvSpPr>
            <a:spLocks noChangeArrowheads="1"/>
          </p:cNvSpPr>
          <p:nvPr/>
        </p:nvSpPr>
        <p:spPr bwMode="auto">
          <a:xfrm>
            <a:off x="6892153" y="4779521"/>
            <a:ext cx="5001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recording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33" name="Rectangle 89"/>
          <p:cNvSpPr>
            <a:spLocks noChangeArrowheads="1"/>
          </p:cNvSpPr>
          <p:nvPr/>
        </p:nvSpPr>
        <p:spPr bwMode="auto">
          <a:xfrm>
            <a:off x="7431088" y="4779521"/>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(2)</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35" name="Rectangle 91"/>
          <p:cNvSpPr>
            <a:spLocks noChangeArrowheads="1"/>
          </p:cNvSpPr>
          <p:nvPr/>
        </p:nvSpPr>
        <p:spPr bwMode="auto">
          <a:xfrm>
            <a:off x="1158876" y="5374834"/>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48</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36" name="Rectangle 92"/>
          <p:cNvSpPr>
            <a:spLocks noChangeArrowheads="1"/>
          </p:cNvSpPr>
          <p:nvPr/>
        </p:nvSpPr>
        <p:spPr bwMode="auto">
          <a:xfrm>
            <a:off x="1235076" y="5487546"/>
            <a:ext cx="13785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PP</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38" name="Rectangle 94"/>
          <p:cNvSpPr>
            <a:spLocks noChangeArrowheads="1"/>
          </p:cNvSpPr>
          <p:nvPr/>
        </p:nvSpPr>
        <p:spPr bwMode="auto">
          <a:xfrm>
            <a:off x="2030104" y="5369917"/>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Failures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39" name="Rectangle 95"/>
          <p:cNvSpPr>
            <a:spLocks noChangeArrowheads="1"/>
          </p:cNvSpPr>
          <p:nvPr/>
        </p:nvSpPr>
        <p:spPr bwMode="auto">
          <a:xfrm>
            <a:off x="2444751" y="5369917"/>
            <a:ext cx="336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0" name="Rectangle 96"/>
          <p:cNvSpPr>
            <a:spLocks noChangeArrowheads="1"/>
          </p:cNvSpPr>
          <p:nvPr/>
        </p:nvSpPr>
        <p:spPr bwMode="auto">
          <a:xfrm>
            <a:off x="1882312" y="5490721"/>
            <a:ext cx="5915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Medication</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1" name="Rectangle 97"/>
          <p:cNvSpPr>
            <a:spLocks noChangeArrowheads="1"/>
          </p:cNvSpPr>
          <p:nvPr/>
        </p:nvSpPr>
        <p:spPr bwMode="auto">
          <a:xfrm>
            <a:off x="2492685" y="5490721"/>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(5)</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2" name="Rectangle 98"/>
          <p:cNvSpPr>
            <a:spLocks noChangeArrowheads="1"/>
          </p:cNvSpPr>
          <p:nvPr/>
        </p:nvSpPr>
        <p:spPr bwMode="auto">
          <a:xfrm>
            <a:off x="1863262" y="5603434"/>
            <a:ext cx="61395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Dosification</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3" name="Rectangle 99"/>
          <p:cNvSpPr>
            <a:spLocks noChangeArrowheads="1"/>
          </p:cNvSpPr>
          <p:nvPr/>
        </p:nvSpPr>
        <p:spPr bwMode="auto">
          <a:xfrm>
            <a:off x="2513322" y="5603434"/>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(3)</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4" name="Rectangle 100"/>
          <p:cNvSpPr>
            <a:spLocks noChangeArrowheads="1"/>
          </p:cNvSpPr>
          <p:nvPr/>
        </p:nvSpPr>
        <p:spPr bwMode="auto">
          <a:xfrm>
            <a:off x="1779125" y="5716146"/>
            <a:ext cx="51296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Abnormal</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5" name="Rectangle 101"/>
          <p:cNvSpPr>
            <a:spLocks noChangeArrowheads="1"/>
          </p:cNvSpPr>
          <p:nvPr/>
        </p:nvSpPr>
        <p:spPr bwMode="auto">
          <a:xfrm>
            <a:off x="2288712" y="5716146"/>
            <a:ext cx="3783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EOS (2)</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6" name="Rectangle 102"/>
          <p:cNvSpPr>
            <a:spLocks noChangeArrowheads="1"/>
          </p:cNvSpPr>
          <p:nvPr/>
        </p:nvSpPr>
        <p:spPr bwMode="auto">
          <a:xfrm>
            <a:off x="1707687" y="5828859"/>
            <a:ext cx="39594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chemeClr val="accent2">
                    <a:lumMod val="50000"/>
                  </a:schemeClr>
                </a:solidFill>
                <a:effectLst/>
                <a:latin typeface="+mj-lt"/>
                <a:ea typeface="ＭＳ Ｐゴシック" pitchFamily="34" charset="-128"/>
              </a:rPr>
              <a:t>Efficacy</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47" name="Rectangle 103"/>
          <p:cNvSpPr>
            <a:spLocks noChangeArrowheads="1"/>
          </p:cNvSpPr>
          <p:nvPr/>
        </p:nvSpPr>
        <p:spPr bwMode="auto">
          <a:xfrm>
            <a:off x="2129962" y="5828859"/>
            <a:ext cx="5001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recording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8" name="Rectangle 104"/>
          <p:cNvSpPr>
            <a:spLocks noChangeArrowheads="1"/>
          </p:cNvSpPr>
          <p:nvPr/>
        </p:nvSpPr>
        <p:spPr bwMode="auto">
          <a:xfrm>
            <a:off x="2667310" y="5828859"/>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(2)</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49" name="Rectangle 105"/>
          <p:cNvSpPr>
            <a:spLocks noChangeArrowheads="1"/>
          </p:cNvSpPr>
          <p:nvPr/>
        </p:nvSpPr>
        <p:spPr bwMode="auto">
          <a:xfrm>
            <a:off x="1755312" y="5941571"/>
            <a:ext cx="30457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Other</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50" name="Rectangle 106"/>
          <p:cNvSpPr>
            <a:spLocks noChangeArrowheads="1"/>
          </p:cNvSpPr>
          <p:nvPr/>
        </p:nvSpPr>
        <p:spPr bwMode="auto">
          <a:xfrm>
            <a:off x="2066462" y="5941571"/>
            <a:ext cx="5145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Violations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51" name="Rectangle 107"/>
          <p:cNvSpPr>
            <a:spLocks noChangeArrowheads="1"/>
          </p:cNvSpPr>
          <p:nvPr/>
        </p:nvSpPr>
        <p:spPr bwMode="auto">
          <a:xfrm>
            <a:off x="2621272" y="5941571"/>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(3)</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57" name="Rectangle 113"/>
          <p:cNvSpPr>
            <a:spLocks noChangeArrowheads="1"/>
          </p:cNvSpPr>
          <p:nvPr/>
        </p:nvSpPr>
        <p:spPr bwMode="auto">
          <a:xfrm>
            <a:off x="3360738" y="5374834"/>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chemeClr val="accent2">
                    <a:lumMod val="50000"/>
                  </a:schemeClr>
                </a:solidFill>
                <a:effectLst/>
                <a:latin typeface="+mj-lt"/>
                <a:ea typeface="ＭＳ Ｐゴシック" pitchFamily="34" charset="-128"/>
              </a:rPr>
              <a:t>N = 45</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58" name="Rectangle 114"/>
          <p:cNvSpPr>
            <a:spLocks noChangeArrowheads="1"/>
          </p:cNvSpPr>
          <p:nvPr/>
        </p:nvSpPr>
        <p:spPr bwMode="auto">
          <a:xfrm>
            <a:off x="3435351" y="5487546"/>
            <a:ext cx="13785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dirty="0">
                <a:ln>
                  <a:noFill/>
                </a:ln>
                <a:solidFill>
                  <a:schemeClr val="accent2">
                    <a:lumMod val="50000"/>
                  </a:schemeClr>
                </a:solidFill>
                <a:effectLst/>
                <a:latin typeface="+mj-lt"/>
                <a:ea typeface="ＭＳ Ｐゴシック" pitchFamily="34" charset="-128"/>
              </a:rPr>
              <a:t>PP</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60" name="Rectangle 116"/>
          <p:cNvSpPr>
            <a:spLocks noChangeArrowheads="1"/>
          </p:cNvSpPr>
          <p:nvPr/>
        </p:nvSpPr>
        <p:spPr bwMode="auto">
          <a:xfrm>
            <a:off x="4226895" y="5378009"/>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Failures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1" name="Rectangle 117"/>
          <p:cNvSpPr>
            <a:spLocks noChangeArrowheads="1"/>
          </p:cNvSpPr>
          <p:nvPr/>
        </p:nvSpPr>
        <p:spPr bwMode="auto">
          <a:xfrm>
            <a:off x="4657726" y="5378009"/>
            <a:ext cx="336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2" name="Rectangle 118"/>
          <p:cNvSpPr>
            <a:spLocks noChangeArrowheads="1"/>
          </p:cNvSpPr>
          <p:nvPr/>
        </p:nvSpPr>
        <p:spPr bwMode="auto">
          <a:xfrm>
            <a:off x="4087195" y="5490721"/>
            <a:ext cx="5915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Medication</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3" name="Rectangle 119"/>
          <p:cNvSpPr>
            <a:spLocks noChangeArrowheads="1"/>
          </p:cNvSpPr>
          <p:nvPr/>
        </p:nvSpPr>
        <p:spPr bwMode="auto">
          <a:xfrm>
            <a:off x="4705660" y="5490721"/>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(6)</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4" name="Rectangle 120"/>
          <p:cNvSpPr>
            <a:spLocks noChangeArrowheads="1"/>
          </p:cNvSpPr>
          <p:nvPr/>
        </p:nvSpPr>
        <p:spPr bwMode="auto">
          <a:xfrm>
            <a:off x="4068145" y="5603434"/>
            <a:ext cx="61395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Dosification</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5" name="Rectangle 121"/>
          <p:cNvSpPr>
            <a:spLocks noChangeArrowheads="1"/>
          </p:cNvSpPr>
          <p:nvPr/>
        </p:nvSpPr>
        <p:spPr bwMode="auto">
          <a:xfrm>
            <a:off x="4726297" y="5603434"/>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(4)</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6" name="Rectangle 122"/>
          <p:cNvSpPr>
            <a:spLocks noChangeArrowheads="1"/>
          </p:cNvSpPr>
          <p:nvPr/>
        </p:nvSpPr>
        <p:spPr bwMode="auto">
          <a:xfrm>
            <a:off x="3984008" y="5716146"/>
            <a:ext cx="51296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Abnormal</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7" name="Rectangle 123"/>
          <p:cNvSpPr>
            <a:spLocks noChangeArrowheads="1"/>
          </p:cNvSpPr>
          <p:nvPr/>
        </p:nvSpPr>
        <p:spPr bwMode="auto">
          <a:xfrm>
            <a:off x="4493595" y="5716146"/>
            <a:ext cx="3783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EOS (5)</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68" name="Rectangle 124"/>
          <p:cNvSpPr>
            <a:spLocks noChangeArrowheads="1"/>
          </p:cNvSpPr>
          <p:nvPr/>
        </p:nvSpPr>
        <p:spPr bwMode="auto">
          <a:xfrm>
            <a:off x="3912570" y="5828859"/>
            <a:ext cx="39594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chemeClr val="accent2">
                    <a:lumMod val="50000"/>
                  </a:schemeClr>
                </a:solidFill>
                <a:effectLst/>
                <a:latin typeface="+mj-lt"/>
                <a:ea typeface="ＭＳ Ｐゴシック" pitchFamily="34" charset="-128"/>
              </a:rPr>
              <a:t>Efficacy</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69" name="Rectangle 125"/>
          <p:cNvSpPr>
            <a:spLocks noChangeArrowheads="1"/>
          </p:cNvSpPr>
          <p:nvPr/>
        </p:nvSpPr>
        <p:spPr bwMode="auto">
          <a:xfrm>
            <a:off x="4334845" y="5828859"/>
            <a:ext cx="5001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recording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70" name="Rectangle 126"/>
          <p:cNvSpPr>
            <a:spLocks noChangeArrowheads="1"/>
          </p:cNvSpPr>
          <p:nvPr/>
        </p:nvSpPr>
        <p:spPr bwMode="auto">
          <a:xfrm>
            <a:off x="4881872" y="5828859"/>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(4)</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71" name="Rectangle 127"/>
          <p:cNvSpPr>
            <a:spLocks noChangeArrowheads="1"/>
          </p:cNvSpPr>
          <p:nvPr/>
        </p:nvSpPr>
        <p:spPr bwMode="auto">
          <a:xfrm>
            <a:off x="3960195" y="5941571"/>
            <a:ext cx="30457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Other</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72" name="Rectangle 128"/>
          <p:cNvSpPr>
            <a:spLocks noChangeArrowheads="1"/>
          </p:cNvSpPr>
          <p:nvPr/>
        </p:nvSpPr>
        <p:spPr bwMode="auto">
          <a:xfrm>
            <a:off x="4271345" y="5941571"/>
            <a:ext cx="5145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Violations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73" name="Rectangle 129"/>
          <p:cNvSpPr>
            <a:spLocks noChangeArrowheads="1"/>
          </p:cNvSpPr>
          <p:nvPr/>
        </p:nvSpPr>
        <p:spPr bwMode="auto">
          <a:xfrm>
            <a:off x="4834247" y="5941571"/>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(3)</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79" name="Rectangle 135"/>
          <p:cNvSpPr>
            <a:spLocks noChangeArrowheads="1"/>
          </p:cNvSpPr>
          <p:nvPr/>
        </p:nvSpPr>
        <p:spPr bwMode="auto">
          <a:xfrm>
            <a:off x="5400676" y="5374834"/>
            <a:ext cx="33823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52</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0" name="Rectangle 136"/>
          <p:cNvSpPr>
            <a:spLocks noChangeArrowheads="1"/>
          </p:cNvSpPr>
          <p:nvPr/>
        </p:nvSpPr>
        <p:spPr bwMode="auto">
          <a:xfrm>
            <a:off x="5476876" y="5487546"/>
            <a:ext cx="13785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PP</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2" name="Rectangle 138"/>
          <p:cNvSpPr>
            <a:spLocks noChangeArrowheads="1"/>
          </p:cNvSpPr>
          <p:nvPr/>
        </p:nvSpPr>
        <p:spPr bwMode="auto">
          <a:xfrm>
            <a:off x="6257153" y="5378009"/>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Failures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3" name="Rectangle 139"/>
          <p:cNvSpPr>
            <a:spLocks noChangeArrowheads="1"/>
          </p:cNvSpPr>
          <p:nvPr/>
        </p:nvSpPr>
        <p:spPr bwMode="auto">
          <a:xfrm>
            <a:off x="6686551" y="5378009"/>
            <a:ext cx="336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4" name="Rectangle 140"/>
          <p:cNvSpPr>
            <a:spLocks noChangeArrowheads="1"/>
          </p:cNvSpPr>
          <p:nvPr/>
        </p:nvSpPr>
        <p:spPr bwMode="auto">
          <a:xfrm>
            <a:off x="6117453" y="5490721"/>
            <a:ext cx="5915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Medication</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5" name="Rectangle 141"/>
          <p:cNvSpPr>
            <a:spLocks noChangeArrowheads="1"/>
          </p:cNvSpPr>
          <p:nvPr/>
        </p:nvSpPr>
        <p:spPr bwMode="auto">
          <a:xfrm>
            <a:off x="6735918" y="5490721"/>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(4)</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6" name="Rectangle 142"/>
          <p:cNvSpPr>
            <a:spLocks noChangeArrowheads="1"/>
          </p:cNvSpPr>
          <p:nvPr/>
        </p:nvSpPr>
        <p:spPr bwMode="auto">
          <a:xfrm>
            <a:off x="6098403" y="5603434"/>
            <a:ext cx="61395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Dosification</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7" name="Rectangle 143"/>
          <p:cNvSpPr>
            <a:spLocks noChangeArrowheads="1"/>
          </p:cNvSpPr>
          <p:nvPr/>
        </p:nvSpPr>
        <p:spPr bwMode="auto">
          <a:xfrm>
            <a:off x="6756555" y="5603434"/>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(2)</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8" name="Rectangle 144"/>
          <p:cNvSpPr>
            <a:spLocks noChangeArrowheads="1"/>
          </p:cNvSpPr>
          <p:nvPr/>
        </p:nvSpPr>
        <p:spPr bwMode="auto">
          <a:xfrm>
            <a:off x="6014266" y="5716146"/>
            <a:ext cx="51296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Abnormal</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89" name="Rectangle 145"/>
          <p:cNvSpPr>
            <a:spLocks noChangeArrowheads="1"/>
          </p:cNvSpPr>
          <p:nvPr/>
        </p:nvSpPr>
        <p:spPr bwMode="auto">
          <a:xfrm>
            <a:off x="6523853" y="5716146"/>
            <a:ext cx="378309"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EOS (3)</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90" name="Rectangle 146"/>
          <p:cNvSpPr>
            <a:spLocks noChangeArrowheads="1"/>
          </p:cNvSpPr>
          <p:nvPr/>
        </p:nvSpPr>
        <p:spPr bwMode="auto">
          <a:xfrm>
            <a:off x="5942828" y="5828859"/>
            <a:ext cx="395942"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dirty="0">
                <a:ln>
                  <a:noFill/>
                </a:ln>
                <a:solidFill>
                  <a:schemeClr val="accent2">
                    <a:lumMod val="50000"/>
                  </a:schemeClr>
                </a:solidFill>
                <a:effectLst/>
                <a:latin typeface="+mj-lt"/>
                <a:ea typeface="ＭＳ Ｐゴシック" pitchFamily="34" charset="-128"/>
              </a:rPr>
              <a:t>Efficacy</a:t>
            </a:r>
            <a:endParaRPr kumimoji="0" lang="es-ES" sz="4800" b="1" i="0" u="none" strike="noStrike" cap="none" normalizeH="0" baseline="0" dirty="0">
              <a:ln>
                <a:noFill/>
              </a:ln>
              <a:solidFill>
                <a:schemeClr val="accent2">
                  <a:lumMod val="50000"/>
                </a:schemeClr>
              </a:solidFill>
              <a:effectLst/>
              <a:latin typeface="+mj-lt"/>
              <a:ea typeface="ＭＳ Ｐゴシック" pitchFamily="34" charset="-128"/>
            </a:endParaRPr>
          </a:p>
        </p:txBody>
      </p:sp>
      <p:sp>
        <p:nvSpPr>
          <p:cNvPr id="108691" name="Rectangle 147"/>
          <p:cNvSpPr>
            <a:spLocks noChangeArrowheads="1"/>
          </p:cNvSpPr>
          <p:nvPr/>
        </p:nvSpPr>
        <p:spPr bwMode="auto">
          <a:xfrm>
            <a:off x="6365103" y="5828859"/>
            <a:ext cx="50013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recording</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92" name="Rectangle 148"/>
          <p:cNvSpPr>
            <a:spLocks noChangeArrowheads="1"/>
          </p:cNvSpPr>
          <p:nvPr/>
        </p:nvSpPr>
        <p:spPr bwMode="auto">
          <a:xfrm>
            <a:off x="6910543" y="5828859"/>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(2)</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93" name="Rectangle 149"/>
          <p:cNvSpPr>
            <a:spLocks noChangeArrowheads="1"/>
          </p:cNvSpPr>
          <p:nvPr/>
        </p:nvSpPr>
        <p:spPr bwMode="auto">
          <a:xfrm>
            <a:off x="5990453" y="5941571"/>
            <a:ext cx="304571"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Other</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94" name="Rectangle 150"/>
          <p:cNvSpPr>
            <a:spLocks noChangeArrowheads="1"/>
          </p:cNvSpPr>
          <p:nvPr/>
        </p:nvSpPr>
        <p:spPr bwMode="auto">
          <a:xfrm>
            <a:off x="6301603" y="5941571"/>
            <a:ext cx="514564"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Violations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695" name="Rectangle 151"/>
          <p:cNvSpPr>
            <a:spLocks noChangeArrowheads="1"/>
          </p:cNvSpPr>
          <p:nvPr/>
        </p:nvSpPr>
        <p:spPr bwMode="auto">
          <a:xfrm>
            <a:off x="6864505" y="5941571"/>
            <a:ext cx="142668"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0" i="0" u="none" strike="noStrike" cap="none" normalizeH="0" baseline="0">
                <a:ln>
                  <a:noFill/>
                </a:ln>
                <a:solidFill>
                  <a:schemeClr val="accent2">
                    <a:lumMod val="50000"/>
                  </a:schemeClr>
                </a:solidFill>
                <a:effectLst/>
                <a:latin typeface="+mj-lt"/>
                <a:ea typeface="ＭＳ Ｐゴシック" pitchFamily="34" charset="-128"/>
              </a:rPr>
              <a:t>(6)</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60" name="_s106509"/>
          <p:cNvSpPr>
            <a:spLocks noChangeArrowheads="1"/>
          </p:cNvSpPr>
          <p:nvPr/>
        </p:nvSpPr>
        <p:spPr bwMode="auto">
          <a:xfrm>
            <a:off x="3659578" y="2444437"/>
            <a:ext cx="1606550" cy="400382"/>
          </a:xfrm>
          <a:prstGeom prst="roundRect">
            <a:avLst>
              <a:gd name="adj" fmla="val 16667"/>
            </a:avLst>
          </a:prstGeom>
          <a:solidFill>
            <a:schemeClr val="accent1">
              <a:lumMod val="60000"/>
              <a:lumOff val="40000"/>
            </a:schemeClr>
          </a:solidFill>
          <a:ln w="19050">
            <a:noFill/>
            <a:round/>
            <a:headEnd/>
            <a:tailEnd/>
          </a:ln>
        </p:spPr>
        <p:txBody>
          <a:bodyPr vert="horz" wrap="none" lIns="0" tIns="0" rIns="0" bIns="0" numCol="1" anchor="ctr" anchorCtr="0" compatLnSpc="1">
            <a:prstTxWarp prst="textNoShape">
              <a:avLst/>
            </a:prstTxWarp>
          </a:bodyPr>
          <a:lstStyle/>
          <a:p>
            <a:pPr marL="0" marR="0" lvl="0" indent="0" algn="ctr" defTabSz="449263" rtl="0" eaLnBrk="1" fontAlgn="base" latinLnBrk="0" hangingPunct="1">
              <a:lnSpc>
                <a:spcPct val="100000"/>
              </a:lnSpc>
              <a:spcBef>
                <a:spcPct val="0"/>
              </a:spcBef>
              <a:spcAft>
                <a:spcPct val="0"/>
              </a:spcAft>
              <a:buClr>
                <a:schemeClr val="bg1"/>
              </a:buClr>
              <a:buSzPct val="100000"/>
              <a:buFont typeface="Calibri" pitchFamily="34" charset="0"/>
              <a:buNone/>
              <a:tabLst/>
            </a:pPr>
            <a:endParaRPr kumimoji="0" lang="es-ES" sz="1200" b="0" i="0" u="none" strike="noStrike" cap="none" normalizeH="0" baseline="0">
              <a:ln>
                <a:noFill/>
              </a:ln>
              <a:solidFill>
                <a:schemeClr val="accent2">
                  <a:lumMod val="50000"/>
                </a:schemeClr>
              </a:solidFill>
              <a:effectLst/>
              <a:latin typeface="Calibri" pitchFamily="34" charset="0"/>
              <a:ea typeface="ＭＳ Ｐゴシック" pitchFamily="34" charset="-128"/>
            </a:endParaRPr>
          </a:p>
        </p:txBody>
      </p:sp>
      <p:sp>
        <p:nvSpPr>
          <p:cNvPr id="108550" name="Rectangle 6"/>
          <p:cNvSpPr>
            <a:spLocks noChangeArrowheads="1"/>
          </p:cNvSpPr>
          <p:nvPr/>
        </p:nvSpPr>
        <p:spPr bwMode="auto">
          <a:xfrm>
            <a:off x="4292446" y="2505912"/>
            <a:ext cx="403957"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N = 257</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51" name="Rectangle 7"/>
          <p:cNvSpPr>
            <a:spLocks noChangeArrowheads="1"/>
          </p:cNvSpPr>
          <p:nvPr/>
        </p:nvSpPr>
        <p:spPr bwMode="auto">
          <a:xfrm>
            <a:off x="3989234" y="2632693"/>
            <a:ext cx="437620"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Patients</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08552" name="Rectangle 8"/>
          <p:cNvSpPr>
            <a:spLocks noChangeArrowheads="1"/>
          </p:cNvSpPr>
          <p:nvPr/>
        </p:nvSpPr>
        <p:spPr bwMode="auto">
          <a:xfrm>
            <a:off x="4480235" y="2632693"/>
            <a:ext cx="488916" cy="153888"/>
          </a:xfrm>
          <a:prstGeom prst="rect">
            <a:avLst/>
          </a:prstGeom>
          <a:noFill/>
          <a:ln w="9525">
            <a:noFill/>
            <a:miter lim="800000"/>
            <a:headEnd/>
            <a:tailEnd/>
          </a:ln>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sz="1000" b="1" i="0" u="none" strike="noStrike" cap="none" normalizeH="0" baseline="0">
                <a:ln>
                  <a:noFill/>
                </a:ln>
                <a:solidFill>
                  <a:schemeClr val="accent2">
                    <a:lumMod val="50000"/>
                  </a:schemeClr>
                </a:solidFill>
                <a:effectLst/>
                <a:latin typeface="+mj-lt"/>
                <a:ea typeface="ＭＳ Ｐゴシック" pitchFamily="34" charset="-128"/>
              </a:rPr>
              <a:t>Screened</a:t>
            </a:r>
            <a:endParaRPr kumimoji="0" lang="es-ES" sz="4800" b="1" i="0" u="none" strike="noStrike" cap="none" normalizeH="0" baseline="0">
              <a:ln>
                <a:noFill/>
              </a:ln>
              <a:solidFill>
                <a:schemeClr val="accent2">
                  <a:lumMod val="50000"/>
                </a:schemeClr>
              </a:solidFill>
              <a:effectLst/>
              <a:latin typeface="+mj-lt"/>
              <a:ea typeface="ＭＳ Ｐゴシック" pitchFamily="34" charset="-128"/>
            </a:endParaRPr>
          </a:p>
        </p:txBody>
      </p:sp>
      <p:sp>
        <p:nvSpPr>
          <p:cNvPr id="158" name="TextBox 4"/>
          <p:cNvSpPr txBox="1">
            <a:spLocks noChangeArrowheads="1"/>
          </p:cNvSpPr>
          <p:nvPr/>
        </p:nvSpPr>
        <p:spPr bwMode="auto">
          <a:xfrm>
            <a:off x="1204777" y="6329288"/>
            <a:ext cx="3103735" cy="400110"/>
          </a:xfrm>
          <a:prstGeom prst="rect">
            <a:avLst/>
          </a:prstGeom>
          <a:noFill/>
          <a:ln w="9525">
            <a:noFill/>
            <a:miter lim="800000"/>
            <a:headEnd/>
            <a:tailEnd/>
          </a:ln>
        </p:spPr>
        <p:txBody>
          <a:bodyPr wrap="none">
            <a:spAutoFit/>
          </a:bodyPr>
          <a:lstStyle/>
          <a:p>
            <a:r>
              <a:rPr lang="en-NZ" altLang="es-ES" sz="1000" b="0" dirty="0" err="1">
                <a:solidFill>
                  <a:schemeClr val="accent2">
                    <a:lumMod val="50000"/>
                  </a:schemeClr>
                </a:solidFill>
                <a:ea typeface="ＭＳ Ｐゴシック" charset="-128"/>
              </a:rPr>
              <a:t>Uriach</a:t>
            </a:r>
            <a:r>
              <a:rPr lang="en-NZ" altLang="es-ES" sz="1000" b="0" dirty="0">
                <a:solidFill>
                  <a:schemeClr val="accent2">
                    <a:lumMod val="50000"/>
                  </a:schemeClr>
                </a:solidFill>
                <a:ea typeface="ＭＳ Ｐゴシック" charset="-128"/>
              </a:rPr>
              <a:t> data on file</a:t>
            </a:r>
          </a:p>
          <a:p>
            <a:r>
              <a:rPr lang="en-NZ" altLang="es-ES" sz="1000" b="0" dirty="0">
                <a:solidFill>
                  <a:schemeClr val="accent2">
                    <a:lumMod val="50000"/>
                  </a:schemeClr>
                </a:solidFill>
                <a:ea typeface="ＭＳ Ｐゴシック" charset="-128"/>
              </a:rPr>
              <a:t>Potter P. et al. Pediatr Allergy Immunol 2016:27:55-61</a:t>
            </a:r>
          </a:p>
        </p:txBody>
      </p:sp>
      <p:sp>
        <p:nvSpPr>
          <p:cNvPr id="162" name="Text Box 4">
            <a:extLst>
              <a:ext uri="{FF2B5EF4-FFF2-40B4-BE49-F238E27FC236}">
                <a16:creationId xmlns:a16="http://schemas.microsoft.com/office/drawing/2014/main" id="{CC133F66-2864-40CB-9BE3-A7E7BDBF66DA}"/>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Group 127"/>
          <p:cNvGraphicFramePr>
            <a:graphicFrameLocks/>
          </p:cNvGraphicFramePr>
          <p:nvPr>
            <p:extLst>
              <p:ext uri="{D42A27DB-BD31-4B8C-83A1-F6EECF244321}">
                <p14:modId xmlns:p14="http://schemas.microsoft.com/office/powerpoint/2010/main" val="1619803437"/>
              </p:ext>
            </p:extLst>
          </p:nvPr>
        </p:nvGraphicFramePr>
        <p:xfrm>
          <a:off x="1274078" y="3141454"/>
          <a:ext cx="6769100" cy="2821230"/>
        </p:xfrm>
        <a:graphic>
          <a:graphicData uri="http://schemas.openxmlformats.org/drawingml/2006/table">
            <a:tbl>
              <a:tblPr firstRow="1">
                <a:tableStyleId>{21E4AEA4-8DFA-4A89-87EB-49C32662AFE0}</a:tableStyleId>
              </a:tblPr>
              <a:tblGrid>
                <a:gridCol w="1872303">
                  <a:extLst>
                    <a:ext uri="{9D8B030D-6E8A-4147-A177-3AD203B41FA5}">
                      <a16:colId xmlns:a16="http://schemas.microsoft.com/office/drawing/2014/main" val="20000"/>
                    </a:ext>
                  </a:extLst>
                </a:gridCol>
                <a:gridCol w="1872304">
                  <a:extLst>
                    <a:ext uri="{9D8B030D-6E8A-4147-A177-3AD203B41FA5}">
                      <a16:colId xmlns:a16="http://schemas.microsoft.com/office/drawing/2014/main" val="20001"/>
                    </a:ext>
                  </a:extLst>
                </a:gridCol>
                <a:gridCol w="1648060">
                  <a:extLst>
                    <a:ext uri="{9D8B030D-6E8A-4147-A177-3AD203B41FA5}">
                      <a16:colId xmlns:a16="http://schemas.microsoft.com/office/drawing/2014/main" val="20002"/>
                    </a:ext>
                  </a:extLst>
                </a:gridCol>
                <a:gridCol w="1376433">
                  <a:extLst>
                    <a:ext uri="{9D8B030D-6E8A-4147-A177-3AD203B41FA5}">
                      <a16:colId xmlns:a16="http://schemas.microsoft.com/office/drawing/2014/main" val="20003"/>
                    </a:ext>
                  </a:extLst>
                </a:gridCol>
              </a:tblGrid>
              <a:tr h="585469">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effectLst/>
                        </a:rPr>
                        <a:t>Population</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effectLst/>
                        </a:rPr>
                        <a:t>South Africa</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effectLst/>
                        </a:rPr>
                        <a:t>Hungary</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effectLst/>
                        </a:rPr>
                        <a:t>Total</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extLst>
                  <a:ext uri="{0D108BD9-81ED-4DB2-BD59-A6C34878D82A}">
                    <a16:rowId xmlns:a16="http://schemas.microsoft.com/office/drawing/2014/main" val="10000"/>
                  </a:ext>
                </a:extLst>
              </a:tr>
              <a:tr h="583640">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solidFill>
                            <a:schemeClr val="accent2">
                              <a:lumMod val="50000"/>
                            </a:schemeClr>
                          </a:solidFill>
                          <a:effectLst/>
                        </a:rPr>
                        <a:t>Safety</a:t>
                      </a: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172 (83%)</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34 (17%)</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206</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extLst>
                  <a:ext uri="{0D108BD9-81ED-4DB2-BD59-A6C34878D82A}">
                    <a16:rowId xmlns:a16="http://schemas.microsoft.com/office/drawing/2014/main" val="10001"/>
                  </a:ext>
                </a:extLst>
              </a:tr>
              <a:tr h="585469">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solidFill>
                            <a:schemeClr val="accent2">
                              <a:lumMod val="50000"/>
                            </a:schemeClr>
                          </a:solidFill>
                          <a:effectLst/>
                        </a:rPr>
                        <a:t>ITT</a:t>
                      </a: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165 (83%)</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34 (17%)</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199</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extLst>
                  <a:ext uri="{0D108BD9-81ED-4DB2-BD59-A6C34878D82A}">
                    <a16:rowId xmlns:a16="http://schemas.microsoft.com/office/drawing/2014/main" val="10002"/>
                  </a:ext>
                </a:extLst>
              </a:tr>
              <a:tr h="585469">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solidFill>
                            <a:schemeClr val="accent2">
                              <a:lumMod val="50000"/>
                            </a:schemeClr>
                          </a:solidFill>
                          <a:effectLst/>
                        </a:rPr>
                        <a:t>PP</a:t>
                      </a: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117 (81%)</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28 (19%)</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u="none" strike="noStrike" cap="none" normalizeH="0" baseline="0" dirty="0">
                          <a:ln>
                            <a:noFill/>
                          </a:ln>
                          <a:solidFill>
                            <a:schemeClr val="accent2">
                              <a:lumMod val="50000"/>
                            </a:schemeClr>
                          </a:solidFill>
                          <a:effectLst/>
                        </a:rPr>
                        <a:t>145</a:t>
                      </a: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extLst>
                  <a:ext uri="{0D108BD9-81ED-4DB2-BD59-A6C34878D82A}">
                    <a16:rowId xmlns:a16="http://schemas.microsoft.com/office/drawing/2014/main" val="10003"/>
                  </a:ext>
                </a:extLst>
              </a:tr>
              <a:tr h="481183">
                <a:tc gridSpan="4">
                  <a:txBody>
                    <a:bodyPr/>
                    <a:lstStyle/>
                    <a:p>
                      <a:pPr marL="342900" marR="0" lvl="0" indent="-342900" algn="l" defTabSz="457200" rtl="0" eaLnBrk="0" fontAlgn="base" latinLnBrk="0" hangingPunct="0">
                        <a:lnSpc>
                          <a:spcPct val="100000"/>
                        </a:lnSpc>
                        <a:spcBef>
                          <a:spcPct val="0"/>
                        </a:spcBef>
                        <a:spcAft>
                          <a:spcPct val="0"/>
                        </a:spcAft>
                        <a:buClrTx/>
                        <a:buSzTx/>
                        <a:buFontTx/>
                        <a:buNone/>
                        <a:tabLst>
                          <a:tab pos="11113" algn="r"/>
                          <a:tab pos="450850" algn="r"/>
                        </a:tabLst>
                      </a:pPr>
                      <a:r>
                        <a:rPr kumimoji="0" lang="en-US" sz="1600" u="none" strike="noStrike" cap="none" normalizeH="0" baseline="0" dirty="0">
                          <a:ln>
                            <a:noFill/>
                          </a:ln>
                          <a:solidFill>
                            <a:schemeClr val="accent2">
                              <a:lumMod val="50000"/>
                            </a:schemeClr>
                          </a:solidFill>
                          <a:effectLst/>
                        </a:rPr>
                        <a:t>Percentages of total population</a:t>
                      </a:r>
                      <a:endParaRPr kumimoji="0" lang="es-ES" sz="20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Times New Roman" pitchFamily="18" charset="0"/>
                      </a:endParaRPr>
                    </a:p>
                  </a:txBody>
                  <a:tcPr marL="91445" marR="91445" horzOverflow="overflow">
                    <a:solidFill>
                      <a:schemeClr val="bg1"/>
                    </a:solidFill>
                  </a:tcPr>
                </a:tc>
                <a:tc hMerge="1">
                  <a:txBody>
                    <a:bodyPr/>
                    <a:lstStyle/>
                    <a:p>
                      <a:endParaRPr lang="es-ES"/>
                    </a:p>
                  </a:txBody>
                  <a:tcPr/>
                </a:tc>
                <a:tc hMerge="1">
                  <a:txBody>
                    <a:bodyPr/>
                    <a:lstStyle/>
                    <a:p>
                      <a:endParaRPr lang="es-ES"/>
                    </a:p>
                  </a:txBody>
                  <a:tcPr/>
                </a:tc>
                <a:tc hMerge="1">
                  <a:txBody>
                    <a:bodyPr/>
                    <a:lstStyle/>
                    <a:p>
                      <a:endParaRPr lang="es-ES"/>
                    </a:p>
                  </a:txBody>
                  <a:tcPr/>
                </a:tc>
                <a:extLst>
                  <a:ext uri="{0D108BD9-81ED-4DB2-BD59-A6C34878D82A}">
                    <a16:rowId xmlns:a16="http://schemas.microsoft.com/office/drawing/2014/main" val="10004"/>
                  </a:ext>
                </a:extLst>
              </a:tr>
            </a:tbl>
          </a:graphicData>
        </a:graphic>
      </p:graphicFrame>
      <p:sp>
        <p:nvSpPr>
          <p:cNvPr id="60420" name="Text Box 48"/>
          <p:cNvSpPr txBox="1">
            <a:spLocks noChangeArrowheads="1"/>
          </p:cNvSpPr>
          <p:nvPr/>
        </p:nvSpPr>
        <p:spPr bwMode="auto">
          <a:xfrm>
            <a:off x="1339165" y="477965"/>
            <a:ext cx="7804835"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en-GB" altLang="es-ES" sz="3200" dirty="0">
                <a:solidFill>
                  <a:schemeClr val="accent2">
                    <a:lumMod val="50000"/>
                  </a:schemeClr>
                </a:solidFill>
              </a:rPr>
              <a:t>Phase III study in chronic spontaneous urticaria: Results (II)</a:t>
            </a:r>
          </a:p>
        </p:txBody>
      </p:sp>
      <p:sp>
        <p:nvSpPr>
          <p:cNvPr id="7" name="6 Rectángulo redondeado"/>
          <p:cNvSpPr/>
          <p:nvPr/>
        </p:nvSpPr>
        <p:spPr bwMode="auto">
          <a:xfrm>
            <a:off x="2398028" y="1811371"/>
            <a:ext cx="452120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US" sz="2400">
                <a:solidFill>
                  <a:schemeClr val="accent2">
                    <a:lumMod val="50000"/>
                  </a:schemeClr>
                </a:solidFill>
                <a:cs typeface="ＭＳ Ｐゴシック" pitchFamily="34" charset="-128"/>
              </a:rPr>
              <a:t>Subject distribution</a:t>
            </a:r>
          </a:p>
        </p:txBody>
      </p:sp>
      <p:sp>
        <p:nvSpPr>
          <p:cNvPr id="8" name="TextBox 4"/>
          <p:cNvSpPr txBox="1">
            <a:spLocks noChangeArrowheads="1"/>
          </p:cNvSpPr>
          <p:nvPr/>
        </p:nvSpPr>
        <p:spPr bwMode="auto">
          <a:xfrm>
            <a:off x="1104365" y="6310253"/>
            <a:ext cx="3103735" cy="400110"/>
          </a:xfrm>
          <a:prstGeom prst="rect">
            <a:avLst/>
          </a:prstGeom>
          <a:noFill/>
          <a:ln w="9525">
            <a:noFill/>
            <a:miter lim="800000"/>
            <a:headEnd/>
            <a:tailEnd/>
          </a:ln>
        </p:spPr>
        <p:txBody>
          <a:bodyPr wrap="none">
            <a:spAutoFit/>
          </a:bodyPr>
          <a:lstStyle/>
          <a:p>
            <a:r>
              <a:rPr lang="en-NZ" altLang="es-ES" sz="1000" b="0" dirty="0" err="1">
                <a:solidFill>
                  <a:schemeClr val="accent2">
                    <a:lumMod val="50000"/>
                  </a:schemeClr>
                </a:solidFill>
                <a:ea typeface="ＭＳ Ｐゴシック" charset="-128"/>
              </a:rPr>
              <a:t>Uriach</a:t>
            </a:r>
            <a:r>
              <a:rPr lang="en-NZ" altLang="es-ES" sz="1000" b="0" dirty="0">
                <a:solidFill>
                  <a:schemeClr val="accent2">
                    <a:lumMod val="50000"/>
                  </a:schemeClr>
                </a:solidFill>
                <a:ea typeface="ＭＳ Ｐゴシック" charset="-128"/>
              </a:rPr>
              <a:t> data on file</a:t>
            </a:r>
          </a:p>
          <a:p>
            <a:r>
              <a:rPr lang="en-NZ" altLang="es-ES" sz="1000" b="0" dirty="0">
                <a:solidFill>
                  <a:schemeClr val="accent2">
                    <a:lumMod val="50000"/>
                  </a:schemeClr>
                </a:solidFill>
                <a:ea typeface="ＭＳ Ｐゴシック" charset="-128"/>
              </a:rPr>
              <a:t>Potter P. et al. Pediatr Allergy Immunol 2016:27:55-61</a:t>
            </a:r>
          </a:p>
        </p:txBody>
      </p:sp>
      <p:sp>
        <p:nvSpPr>
          <p:cNvPr id="9" name="Text Box 4">
            <a:extLst>
              <a:ext uri="{FF2B5EF4-FFF2-40B4-BE49-F238E27FC236}">
                <a16:creationId xmlns:a16="http://schemas.microsoft.com/office/drawing/2014/main" id="{6F19F675-CCFE-4F78-9F76-5E9EA8C5D1EB}"/>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7" name="Text Box 48"/>
          <p:cNvSpPr txBox="1">
            <a:spLocks noChangeArrowheads="1"/>
          </p:cNvSpPr>
          <p:nvPr/>
        </p:nvSpPr>
        <p:spPr bwMode="auto">
          <a:xfrm>
            <a:off x="1359702" y="469538"/>
            <a:ext cx="7615873"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en-GB" altLang="es-ES" sz="3200" dirty="0">
                <a:solidFill>
                  <a:schemeClr val="accent2">
                    <a:lumMod val="50000"/>
                  </a:schemeClr>
                </a:solidFill>
                <a:ea typeface="ＭＳ Ｐゴシック" charset="-128"/>
              </a:rPr>
              <a:t>Phase III study in chronic spontaneous urticaria: Results (III)</a:t>
            </a:r>
          </a:p>
        </p:txBody>
      </p:sp>
      <p:sp>
        <p:nvSpPr>
          <p:cNvPr id="5" name="4 Rectángulo redondeado"/>
          <p:cNvSpPr/>
          <p:nvPr/>
        </p:nvSpPr>
        <p:spPr bwMode="auto">
          <a:xfrm>
            <a:off x="2559869" y="1677693"/>
            <a:ext cx="4521200" cy="62230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US" sz="2400" dirty="0">
                <a:solidFill>
                  <a:schemeClr val="accent2">
                    <a:lumMod val="50000"/>
                  </a:schemeClr>
                </a:solidFill>
                <a:cs typeface="ＭＳ Ｐゴシック" pitchFamily="34" charset="-128"/>
              </a:rPr>
              <a:t>Demographic Data: Race</a:t>
            </a:r>
          </a:p>
        </p:txBody>
      </p:sp>
      <p:graphicFrame>
        <p:nvGraphicFramePr>
          <p:cNvPr id="7" name="6 Gráfico"/>
          <p:cNvGraphicFramePr/>
          <p:nvPr>
            <p:extLst>
              <p:ext uri="{D42A27DB-BD31-4B8C-83A1-F6EECF244321}">
                <p14:modId xmlns:p14="http://schemas.microsoft.com/office/powerpoint/2010/main" val="1424978257"/>
              </p:ext>
            </p:extLst>
          </p:nvPr>
        </p:nvGraphicFramePr>
        <p:xfrm>
          <a:off x="884149" y="2460330"/>
          <a:ext cx="7794171" cy="3722914"/>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4"/>
          <p:cNvSpPr txBox="1">
            <a:spLocks noChangeArrowheads="1"/>
          </p:cNvSpPr>
          <p:nvPr/>
        </p:nvSpPr>
        <p:spPr bwMode="auto">
          <a:xfrm>
            <a:off x="1192013" y="6445853"/>
            <a:ext cx="1136850" cy="246221"/>
          </a:xfrm>
          <a:prstGeom prst="rect">
            <a:avLst/>
          </a:prstGeom>
          <a:noFill/>
          <a:ln w="9525">
            <a:noFill/>
            <a:miter lim="800000"/>
            <a:headEnd/>
            <a:tailEnd/>
          </a:ln>
        </p:spPr>
        <p:txBody>
          <a:bodyPr wrap="none">
            <a:spAutoFit/>
          </a:bodyPr>
          <a:lstStyle/>
          <a:p>
            <a:r>
              <a:rPr lang="en-NZ" altLang="es-ES" sz="1000" b="0" dirty="0" err="1">
                <a:solidFill>
                  <a:schemeClr val="accent2">
                    <a:lumMod val="50000"/>
                  </a:schemeClr>
                </a:solidFill>
                <a:ea typeface="ＭＳ Ｐゴシック" charset="-128"/>
              </a:rPr>
              <a:t>Uriach</a:t>
            </a:r>
            <a:r>
              <a:rPr lang="en-NZ" altLang="es-ES" sz="1000" b="0" dirty="0">
                <a:solidFill>
                  <a:schemeClr val="accent2">
                    <a:lumMod val="50000"/>
                  </a:schemeClr>
                </a:solidFill>
                <a:ea typeface="ＭＳ Ｐゴシック" charset="-128"/>
              </a:rPr>
              <a:t> data on file</a:t>
            </a:r>
          </a:p>
        </p:txBody>
      </p:sp>
      <p:sp>
        <p:nvSpPr>
          <p:cNvPr id="8" name="Text Box 4">
            <a:extLst>
              <a:ext uri="{FF2B5EF4-FFF2-40B4-BE49-F238E27FC236}">
                <a16:creationId xmlns:a16="http://schemas.microsoft.com/office/drawing/2014/main" id="{FC880E6C-B27A-4D60-B0EE-B5ADF662DFF5}"/>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20" name="Text Box 48"/>
          <p:cNvSpPr txBox="1">
            <a:spLocks noChangeArrowheads="1"/>
          </p:cNvSpPr>
          <p:nvPr/>
        </p:nvSpPr>
        <p:spPr bwMode="auto">
          <a:xfrm>
            <a:off x="1263065" y="453234"/>
            <a:ext cx="7712509" cy="984885"/>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en-GB" altLang="es-ES" sz="3200" dirty="0">
                <a:solidFill>
                  <a:schemeClr val="accent2">
                    <a:lumMod val="50000"/>
                  </a:schemeClr>
                </a:solidFill>
              </a:rPr>
              <a:t>Phase III study in chronic spontaneous urticaria: </a:t>
            </a:r>
            <a:r>
              <a:rPr lang="es-ES" altLang="es-ES" sz="3200" dirty="0" err="1">
                <a:solidFill>
                  <a:schemeClr val="accent2">
                    <a:lumMod val="50000"/>
                  </a:schemeClr>
                </a:solidFill>
              </a:rPr>
              <a:t>Primary</a:t>
            </a:r>
            <a:r>
              <a:rPr lang="es-ES" altLang="es-ES" sz="3200" dirty="0">
                <a:solidFill>
                  <a:schemeClr val="accent2">
                    <a:lumMod val="50000"/>
                  </a:schemeClr>
                </a:solidFill>
              </a:rPr>
              <a:t> and </a:t>
            </a:r>
            <a:r>
              <a:rPr lang="es-ES" altLang="es-ES" sz="3200" dirty="0" err="1">
                <a:solidFill>
                  <a:schemeClr val="accent2">
                    <a:lumMod val="50000"/>
                  </a:schemeClr>
                </a:solidFill>
              </a:rPr>
              <a:t>secondary</a:t>
            </a:r>
            <a:r>
              <a:rPr lang="es-ES" altLang="es-ES" sz="3200" dirty="0">
                <a:solidFill>
                  <a:schemeClr val="accent2">
                    <a:lumMod val="50000"/>
                  </a:schemeClr>
                </a:solidFill>
              </a:rPr>
              <a:t> </a:t>
            </a:r>
            <a:r>
              <a:rPr lang="es-ES" altLang="es-ES" sz="3200" dirty="0" err="1">
                <a:solidFill>
                  <a:schemeClr val="accent2">
                    <a:lumMod val="50000"/>
                  </a:schemeClr>
                </a:solidFill>
              </a:rPr>
              <a:t>endpoints</a:t>
            </a:r>
            <a:endParaRPr lang="en-GB" altLang="es-ES" sz="3200" dirty="0">
              <a:solidFill>
                <a:schemeClr val="accent2">
                  <a:lumMod val="50000"/>
                </a:schemeClr>
              </a:solidFill>
            </a:endParaRPr>
          </a:p>
        </p:txBody>
      </p:sp>
      <p:sp>
        <p:nvSpPr>
          <p:cNvPr id="5" name="CuadroTexto 1"/>
          <p:cNvSpPr txBox="1">
            <a:spLocks noChangeArrowheads="1"/>
          </p:cNvSpPr>
          <p:nvPr/>
        </p:nvSpPr>
        <p:spPr bwMode="auto">
          <a:xfrm>
            <a:off x="1098024" y="5983426"/>
            <a:ext cx="3219151" cy="707886"/>
          </a:xfrm>
          <a:prstGeom prst="rect">
            <a:avLst/>
          </a:prstGeom>
          <a:noFill/>
          <a:ln w="9525">
            <a:noFill/>
            <a:miter lim="800000"/>
            <a:headEnd/>
            <a:tailEnd/>
          </a:ln>
        </p:spPr>
        <p:txBody>
          <a:bodyPr wrap="none">
            <a:spAutoFit/>
          </a:bodyPr>
          <a:lstStyle/>
          <a:p>
            <a:r>
              <a:rPr lang="en-US" altLang="es-ES" sz="1000" b="0" dirty="0">
                <a:solidFill>
                  <a:schemeClr val="accent2">
                    <a:lumMod val="50000"/>
                  </a:schemeClr>
                </a:solidFill>
              </a:rPr>
              <a:t>UAS7: </a:t>
            </a:r>
            <a:r>
              <a:rPr lang="en-US" altLang="es-ES" sz="1000" b="0" dirty="0" err="1">
                <a:solidFill>
                  <a:schemeClr val="accent2">
                    <a:lumMod val="50000"/>
                  </a:schemeClr>
                </a:solidFill>
              </a:rPr>
              <a:t>urticaria</a:t>
            </a:r>
            <a:r>
              <a:rPr lang="en-US" altLang="es-ES" sz="1000" b="0" dirty="0">
                <a:solidFill>
                  <a:schemeClr val="accent2">
                    <a:lumMod val="50000"/>
                  </a:schemeClr>
                </a:solidFill>
              </a:rPr>
              <a:t> activity score of the 7 days (adapted UAS7)</a:t>
            </a:r>
          </a:p>
          <a:p>
            <a:r>
              <a:rPr lang="en-US" altLang="es-ES" sz="1000" b="0" dirty="0">
                <a:solidFill>
                  <a:schemeClr val="accent2">
                    <a:lumMod val="50000"/>
                  </a:schemeClr>
                </a:solidFill>
              </a:rPr>
              <a:t>MNW: mean number of wheals</a:t>
            </a:r>
          </a:p>
          <a:p>
            <a:r>
              <a:rPr lang="en-US" altLang="es-ES" sz="1000" b="0" dirty="0">
                <a:solidFill>
                  <a:schemeClr val="accent2">
                    <a:lumMod val="50000"/>
                  </a:schemeClr>
                </a:solidFill>
              </a:rPr>
              <a:t>MPS: mean pruritus score</a:t>
            </a:r>
          </a:p>
          <a:p>
            <a:r>
              <a:rPr lang="en-US" altLang="es-ES" sz="1000" b="0" dirty="0" err="1">
                <a:solidFill>
                  <a:schemeClr val="accent2">
                    <a:lumMod val="50000"/>
                  </a:schemeClr>
                </a:solidFill>
              </a:rPr>
              <a:t>QoL</a:t>
            </a:r>
            <a:r>
              <a:rPr lang="en-US" altLang="es-ES" sz="1000" b="0" dirty="0">
                <a:solidFill>
                  <a:schemeClr val="accent2">
                    <a:lumMod val="50000"/>
                  </a:schemeClr>
                </a:solidFill>
              </a:rPr>
              <a:t>: quality of life using the validated CDLQI</a:t>
            </a:r>
          </a:p>
        </p:txBody>
      </p:sp>
      <p:sp>
        <p:nvSpPr>
          <p:cNvPr id="6" name="5 Rectángulo redondeado"/>
          <p:cNvSpPr/>
          <p:nvPr/>
        </p:nvSpPr>
        <p:spPr bwMode="auto">
          <a:xfrm>
            <a:off x="404410" y="2538513"/>
            <a:ext cx="1483482" cy="2896063"/>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US" sz="1600">
                <a:solidFill>
                  <a:schemeClr val="accent2">
                    <a:lumMod val="50000"/>
                  </a:schemeClr>
                </a:solidFill>
                <a:cs typeface="ＭＳ Ｐゴシック" pitchFamily="34" charset="-128"/>
              </a:rPr>
              <a:t>UAS7</a:t>
            </a:r>
          </a:p>
        </p:txBody>
      </p:sp>
      <p:sp>
        <p:nvSpPr>
          <p:cNvPr id="7" name="6 Rectángulo redondeado"/>
          <p:cNvSpPr/>
          <p:nvPr/>
        </p:nvSpPr>
        <p:spPr bwMode="auto">
          <a:xfrm>
            <a:off x="664004" y="2018009"/>
            <a:ext cx="928468" cy="353571"/>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Font typeface="Arial" charset="0"/>
              <a:buNone/>
              <a:defRPr/>
            </a:pPr>
            <a:r>
              <a:rPr lang="en-US" sz="1600">
                <a:solidFill>
                  <a:schemeClr val="accent2">
                    <a:lumMod val="50000"/>
                  </a:schemeClr>
                </a:solidFill>
                <a:cs typeface="ＭＳ Ｐゴシック" pitchFamily="34" charset="-128"/>
              </a:rPr>
              <a:t>Primary</a:t>
            </a:r>
            <a:endParaRPr lang="en-US" sz="2400">
              <a:solidFill>
                <a:schemeClr val="accent2">
                  <a:lumMod val="50000"/>
                </a:schemeClr>
              </a:solidFill>
              <a:cs typeface="ＭＳ Ｐゴシック" pitchFamily="34" charset="-128"/>
            </a:endParaRPr>
          </a:p>
        </p:txBody>
      </p:sp>
      <p:sp>
        <p:nvSpPr>
          <p:cNvPr id="8" name="7 Rectángulo redondeado"/>
          <p:cNvSpPr/>
          <p:nvPr/>
        </p:nvSpPr>
        <p:spPr bwMode="auto">
          <a:xfrm>
            <a:off x="2512220" y="2566650"/>
            <a:ext cx="1781249" cy="2896063"/>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lnSpc>
                <a:spcPct val="300000"/>
              </a:lnSpc>
              <a:buFont typeface="Arial" charset="0"/>
              <a:buNone/>
              <a:defRPr/>
            </a:pPr>
            <a:r>
              <a:rPr lang="en-US" sz="1600" dirty="0">
                <a:solidFill>
                  <a:schemeClr val="accent2">
                    <a:lumMod val="50000"/>
                  </a:schemeClr>
                </a:solidFill>
                <a:cs typeface="ＭＳ Ｐゴシック" pitchFamily="34" charset="-128"/>
              </a:rPr>
              <a:t>Wheals</a:t>
            </a:r>
          </a:p>
          <a:p>
            <a:pPr algn="ctr">
              <a:lnSpc>
                <a:spcPct val="300000"/>
              </a:lnSpc>
              <a:buFont typeface="Arial" charset="0"/>
              <a:buNone/>
              <a:defRPr/>
            </a:pPr>
            <a:r>
              <a:rPr lang="en-US" sz="1600" dirty="0">
                <a:solidFill>
                  <a:schemeClr val="accent2">
                    <a:lumMod val="50000"/>
                  </a:schemeClr>
                </a:solidFill>
                <a:cs typeface="ＭＳ Ｐゴシック" pitchFamily="34" charset="-128"/>
              </a:rPr>
              <a:t>Pruritus</a:t>
            </a:r>
          </a:p>
          <a:p>
            <a:pPr algn="ctr">
              <a:lnSpc>
                <a:spcPct val="300000"/>
              </a:lnSpc>
              <a:buFont typeface="Arial" charset="0"/>
              <a:buNone/>
              <a:defRPr/>
            </a:pPr>
            <a:r>
              <a:rPr lang="en-US" sz="1600" dirty="0" err="1">
                <a:solidFill>
                  <a:schemeClr val="accent2">
                    <a:lumMod val="50000"/>
                  </a:schemeClr>
                </a:solidFill>
                <a:cs typeface="ＭＳ Ｐゴシック" pitchFamily="34" charset="-128"/>
              </a:rPr>
              <a:t>QoL</a:t>
            </a:r>
            <a:endParaRPr lang="en-US" sz="1600" dirty="0">
              <a:solidFill>
                <a:schemeClr val="accent2">
                  <a:lumMod val="50000"/>
                </a:schemeClr>
              </a:solidFill>
              <a:cs typeface="ＭＳ Ｐゴシック" pitchFamily="34" charset="-128"/>
            </a:endParaRPr>
          </a:p>
        </p:txBody>
      </p:sp>
      <p:sp>
        <p:nvSpPr>
          <p:cNvPr id="10" name="9 Rectángulo redondeado"/>
          <p:cNvSpPr/>
          <p:nvPr/>
        </p:nvSpPr>
        <p:spPr bwMode="auto">
          <a:xfrm>
            <a:off x="4870245" y="2538514"/>
            <a:ext cx="4037428" cy="2896063"/>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marL="144000" indent="-144000">
              <a:buFont typeface="Arial" pitchFamily="34" charset="0"/>
              <a:buChar char="•"/>
              <a:defRPr/>
            </a:pPr>
            <a:r>
              <a:rPr lang="en-US" sz="1600" dirty="0">
                <a:solidFill>
                  <a:schemeClr val="accent2">
                    <a:lumMod val="50000"/>
                  </a:schemeClr>
                </a:solidFill>
                <a:cs typeface="ＭＳ Ｐゴシック" pitchFamily="34" charset="-128"/>
              </a:rPr>
              <a:t>Investigator’s, parent’s and patient’s </a:t>
            </a:r>
            <a:br>
              <a:rPr lang="en-US" sz="1600" dirty="0">
                <a:solidFill>
                  <a:schemeClr val="accent2">
                    <a:lumMod val="50000"/>
                  </a:schemeClr>
                </a:solidFill>
                <a:cs typeface="ＭＳ Ｐゴシック" pitchFamily="34" charset="-128"/>
              </a:rPr>
            </a:br>
            <a:r>
              <a:rPr lang="en-US" sz="1600" dirty="0">
                <a:solidFill>
                  <a:schemeClr val="accent2">
                    <a:lumMod val="50000"/>
                  </a:schemeClr>
                </a:solidFill>
                <a:cs typeface="ＭＳ Ｐゴシック" pitchFamily="34" charset="-128"/>
              </a:rPr>
              <a:t>global assessment of efficacy</a:t>
            </a:r>
          </a:p>
          <a:p>
            <a:pPr marL="144000" indent="-144000">
              <a:buFont typeface="Arial" pitchFamily="34" charset="0"/>
              <a:buChar char="•"/>
              <a:defRPr/>
            </a:pPr>
            <a:r>
              <a:rPr lang="en-US" sz="1600" dirty="0">
                <a:solidFill>
                  <a:schemeClr val="accent2">
                    <a:lumMod val="50000"/>
                  </a:schemeClr>
                </a:solidFill>
                <a:cs typeface="ＭＳ Ｐゴシック" pitchFamily="34" charset="-128"/>
              </a:rPr>
              <a:t>Time to discontinuation due to treatment </a:t>
            </a:r>
            <a:br>
              <a:rPr lang="en-US" sz="1600" dirty="0">
                <a:solidFill>
                  <a:schemeClr val="accent2">
                    <a:lumMod val="50000"/>
                  </a:schemeClr>
                </a:solidFill>
                <a:cs typeface="ＭＳ Ｐゴシック" pitchFamily="34" charset="-128"/>
              </a:rPr>
            </a:br>
            <a:r>
              <a:rPr lang="en-US" sz="1600" dirty="0">
                <a:solidFill>
                  <a:schemeClr val="accent2">
                    <a:lumMod val="50000"/>
                  </a:schemeClr>
                </a:solidFill>
                <a:cs typeface="ＭＳ Ｐゴシック" pitchFamily="34" charset="-128"/>
              </a:rPr>
              <a:t>failure</a:t>
            </a:r>
          </a:p>
          <a:p>
            <a:pPr marL="144000" indent="-144000">
              <a:buFont typeface="Arial" pitchFamily="34" charset="0"/>
              <a:buChar char="•"/>
              <a:defRPr/>
            </a:pPr>
            <a:r>
              <a:rPr lang="en-US" sz="1600" dirty="0">
                <a:solidFill>
                  <a:schemeClr val="accent2">
                    <a:lumMod val="50000"/>
                  </a:schemeClr>
                </a:solidFill>
                <a:cs typeface="ＭＳ Ｐゴシック" pitchFamily="34" charset="-128"/>
              </a:rPr>
              <a:t>UAS, MNW &amp; MPS progression </a:t>
            </a:r>
            <a:br>
              <a:rPr lang="en-US" sz="1600" dirty="0">
                <a:solidFill>
                  <a:schemeClr val="accent2">
                    <a:lumMod val="50000"/>
                  </a:schemeClr>
                </a:solidFill>
                <a:cs typeface="ＭＳ Ｐゴシック" pitchFamily="34" charset="-128"/>
              </a:rPr>
            </a:br>
            <a:r>
              <a:rPr lang="en-US" sz="1600" dirty="0">
                <a:solidFill>
                  <a:schemeClr val="accent2">
                    <a:lumMod val="50000"/>
                  </a:schemeClr>
                </a:solidFill>
                <a:cs typeface="ＭＳ Ｐゴシック" pitchFamily="34" charset="-128"/>
              </a:rPr>
              <a:t>(week by week) over the 42 day </a:t>
            </a:r>
            <a:br>
              <a:rPr lang="en-US" sz="1600" dirty="0">
                <a:solidFill>
                  <a:schemeClr val="accent2">
                    <a:lumMod val="50000"/>
                  </a:schemeClr>
                </a:solidFill>
                <a:cs typeface="ＭＳ Ｐゴシック" pitchFamily="34" charset="-128"/>
              </a:rPr>
            </a:br>
            <a:r>
              <a:rPr lang="en-US" sz="1600" dirty="0">
                <a:solidFill>
                  <a:schemeClr val="accent2">
                    <a:lumMod val="50000"/>
                  </a:schemeClr>
                </a:solidFill>
                <a:cs typeface="ＭＳ Ｐゴシック" pitchFamily="34" charset="-128"/>
              </a:rPr>
              <a:t>treatment period</a:t>
            </a:r>
          </a:p>
          <a:p>
            <a:pPr marL="144000" indent="-144000">
              <a:buFont typeface="Arial" pitchFamily="34" charset="0"/>
              <a:buChar char="•"/>
              <a:defRPr/>
            </a:pPr>
            <a:r>
              <a:rPr lang="en-US" sz="1600" dirty="0">
                <a:solidFill>
                  <a:schemeClr val="accent2">
                    <a:lumMod val="50000"/>
                  </a:schemeClr>
                </a:solidFill>
                <a:cs typeface="ＭＳ Ｐゴシック" pitchFamily="34" charset="-128"/>
              </a:rPr>
              <a:t>Patients’ responder profile</a:t>
            </a:r>
          </a:p>
          <a:p>
            <a:pPr marL="144000" indent="-144000">
              <a:buFont typeface="Arial" pitchFamily="34" charset="0"/>
              <a:buChar char="•"/>
              <a:defRPr/>
            </a:pPr>
            <a:r>
              <a:rPr lang="en-US" sz="1600" dirty="0">
                <a:solidFill>
                  <a:schemeClr val="accent2">
                    <a:lumMod val="50000"/>
                  </a:schemeClr>
                </a:solidFill>
                <a:cs typeface="ＭＳ Ｐゴシック" pitchFamily="34" charset="-128"/>
              </a:rPr>
              <a:t>Use of rescue medication</a:t>
            </a:r>
          </a:p>
          <a:p>
            <a:pPr marL="144000" indent="-144000">
              <a:buFont typeface="Arial" pitchFamily="34" charset="0"/>
              <a:buChar char="•"/>
              <a:defRPr/>
            </a:pPr>
            <a:r>
              <a:rPr lang="en-US" sz="1600" dirty="0">
                <a:solidFill>
                  <a:schemeClr val="accent2">
                    <a:lumMod val="50000"/>
                  </a:schemeClr>
                </a:solidFill>
                <a:cs typeface="ＭＳ Ｐゴシック" pitchFamily="34" charset="-128"/>
              </a:rPr>
              <a:t>Onset of action</a:t>
            </a:r>
          </a:p>
        </p:txBody>
      </p:sp>
      <p:sp>
        <p:nvSpPr>
          <p:cNvPr id="12" name="11 Rectángulo redondeado"/>
          <p:cNvSpPr/>
          <p:nvPr/>
        </p:nvSpPr>
        <p:spPr bwMode="auto">
          <a:xfrm>
            <a:off x="6220744" y="2018010"/>
            <a:ext cx="1195754" cy="339503"/>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defRPr/>
            </a:pPr>
            <a:r>
              <a:rPr lang="en-US" sz="1600">
                <a:solidFill>
                  <a:schemeClr val="accent2">
                    <a:lumMod val="50000"/>
                  </a:schemeClr>
                </a:solidFill>
                <a:cs typeface="ＭＳ Ｐゴシック" pitchFamily="34" charset="-128"/>
              </a:rPr>
              <a:t>Secondary 2</a:t>
            </a:r>
            <a:endParaRPr lang="en-US" sz="2400">
              <a:solidFill>
                <a:schemeClr val="accent2">
                  <a:lumMod val="50000"/>
                </a:schemeClr>
              </a:solidFill>
              <a:cs typeface="ＭＳ Ｐゴシック" pitchFamily="34" charset="-128"/>
            </a:endParaRPr>
          </a:p>
        </p:txBody>
      </p:sp>
      <p:sp>
        <p:nvSpPr>
          <p:cNvPr id="13" name="12 Rectángulo redondeado"/>
          <p:cNvSpPr/>
          <p:nvPr/>
        </p:nvSpPr>
        <p:spPr bwMode="auto">
          <a:xfrm>
            <a:off x="2771813" y="2015666"/>
            <a:ext cx="1195754" cy="339503"/>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defRPr/>
            </a:pPr>
            <a:r>
              <a:rPr lang="en-US" sz="1600">
                <a:solidFill>
                  <a:schemeClr val="accent2">
                    <a:lumMod val="50000"/>
                  </a:schemeClr>
                </a:solidFill>
                <a:cs typeface="ＭＳ Ｐゴシック" pitchFamily="34" charset="-128"/>
              </a:rPr>
              <a:t>Secondary 1</a:t>
            </a:r>
            <a:endParaRPr lang="en-US" sz="2400">
              <a:solidFill>
                <a:schemeClr val="accent2">
                  <a:lumMod val="50000"/>
                </a:schemeClr>
              </a:solidFill>
              <a:cs typeface="ＭＳ Ｐゴシック" pitchFamily="34" charset="-128"/>
            </a:endParaRPr>
          </a:p>
        </p:txBody>
      </p:sp>
      <p:sp>
        <p:nvSpPr>
          <p:cNvPr id="14" name="13 Flecha derecha"/>
          <p:cNvSpPr/>
          <p:nvPr/>
        </p:nvSpPr>
        <p:spPr bwMode="auto">
          <a:xfrm>
            <a:off x="2014506" y="3736145"/>
            <a:ext cx="379828" cy="337625"/>
          </a:xfrm>
          <a:prstGeom prst="rightArrow">
            <a:avLst/>
          </a:prstGeom>
          <a:solidFill>
            <a:srgbClr val="990033"/>
          </a:solidFill>
          <a:ln w="9525" cap="flat" cmpd="sng" algn="ctr">
            <a:solidFill>
              <a:schemeClr val="bg1">
                <a:lumMod val="9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s-ES" sz="2600" b="1" i="0" u="sng" strike="noStrike" cap="none" normalizeH="0" baseline="0">
              <a:ln>
                <a:noFill/>
              </a:ln>
              <a:solidFill>
                <a:schemeClr val="accent2">
                  <a:lumMod val="50000"/>
                </a:schemeClr>
              </a:solidFill>
              <a:effectLst/>
              <a:latin typeface="Calibri" pitchFamily="34" charset="0"/>
            </a:endParaRPr>
          </a:p>
        </p:txBody>
      </p:sp>
      <p:sp>
        <p:nvSpPr>
          <p:cNvPr id="15" name="14 Flecha derecha"/>
          <p:cNvSpPr/>
          <p:nvPr/>
        </p:nvSpPr>
        <p:spPr bwMode="auto">
          <a:xfrm>
            <a:off x="2012161" y="3733800"/>
            <a:ext cx="379828" cy="337625"/>
          </a:xfrm>
          <a:prstGeom prst="rightArrow">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s-ES" sz="2600" b="1" i="0" u="sng" strike="noStrike" cap="none" normalizeH="0" baseline="0">
              <a:ln>
                <a:noFill/>
              </a:ln>
              <a:solidFill>
                <a:schemeClr val="accent2">
                  <a:lumMod val="50000"/>
                </a:schemeClr>
              </a:solidFill>
              <a:effectLst/>
              <a:latin typeface="Calibri" pitchFamily="34" charset="0"/>
            </a:endParaRPr>
          </a:p>
        </p:txBody>
      </p:sp>
      <p:sp>
        <p:nvSpPr>
          <p:cNvPr id="16" name="15 Flecha derecha"/>
          <p:cNvSpPr/>
          <p:nvPr/>
        </p:nvSpPr>
        <p:spPr bwMode="auto">
          <a:xfrm>
            <a:off x="4390340" y="3733800"/>
            <a:ext cx="379828" cy="337625"/>
          </a:xfrm>
          <a:prstGeom prst="rightArrow">
            <a:avLst/>
          </a:prstGeom>
          <a:solidFill>
            <a:srgbClr val="92D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s-ES" sz="2600" b="1" i="0" u="sng" strike="noStrike" cap="none" normalizeH="0" baseline="0">
              <a:ln>
                <a:noFill/>
              </a:ln>
              <a:solidFill>
                <a:schemeClr val="accent2">
                  <a:lumMod val="50000"/>
                </a:schemeClr>
              </a:solidFill>
              <a:effectLst/>
              <a:latin typeface="Calibri" pitchFamily="34" charset="0"/>
            </a:endParaRPr>
          </a:p>
        </p:txBody>
      </p:sp>
      <p:sp>
        <p:nvSpPr>
          <p:cNvPr id="17" name="Text Box 4">
            <a:extLst>
              <a:ext uri="{FF2B5EF4-FFF2-40B4-BE49-F238E27FC236}">
                <a16:creationId xmlns:a16="http://schemas.microsoft.com/office/drawing/2014/main" id="{08949871-F7B5-4D62-8213-24F492BBB1D4}"/>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36 Gráfico"/>
          <p:cNvGraphicFramePr/>
          <p:nvPr>
            <p:extLst>
              <p:ext uri="{D42A27DB-BD31-4B8C-83A1-F6EECF244321}">
                <p14:modId xmlns:p14="http://schemas.microsoft.com/office/powerpoint/2010/main" val="79962361"/>
              </p:ext>
            </p:extLst>
          </p:nvPr>
        </p:nvGraphicFramePr>
        <p:xfrm>
          <a:off x="5022158" y="4498559"/>
          <a:ext cx="2879857" cy="182144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8" name="37 Gráfico"/>
          <p:cNvGraphicFramePr/>
          <p:nvPr>
            <p:extLst>
              <p:ext uri="{D42A27DB-BD31-4B8C-83A1-F6EECF244321}">
                <p14:modId xmlns:p14="http://schemas.microsoft.com/office/powerpoint/2010/main" val="2606491868"/>
              </p:ext>
            </p:extLst>
          </p:nvPr>
        </p:nvGraphicFramePr>
        <p:xfrm>
          <a:off x="872197" y="4498559"/>
          <a:ext cx="2879857" cy="182144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6" name="35 Gráfico"/>
          <p:cNvGraphicFramePr/>
          <p:nvPr>
            <p:extLst>
              <p:ext uri="{D42A27DB-BD31-4B8C-83A1-F6EECF244321}">
                <p14:modId xmlns:p14="http://schemas.microsoft.com/office/powerpoint/2010/main" val="3055454767"/>
              </p:ext>
            </p:extLst>
          </p:nvPr>
        </p:nvGraphicFramePr>
        <p:xfrm>
          <a:off x="5022158" y="1948582"/>
          <a:ext cx="2879857" cy="182144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5" name="34 Gráfico"/>
          <p:cNvGraphicFramePr/>
          <p:nvPr>
            <p:extLst>
              <p:ext uri="{D42A27DB-BD31-4B8C-83A1-F6EECF244321}">
                <p14:modId xmlns:p14="http://schemas.microsoft.com/office/powerpoint/2010/main" val="3136375886"/>
              </p:ext>
            </p:extLst>
          </p:nvPr>
        </p:nvGraphicFramePr>
        <p:xfrm>
          <a:off x="872197" y="1948582"/>
          <a:ext cx="2879857" cy="1821449"/>
        </p:xfrm>
        <a:graphic>
          <a:graphicData uri="http://schemas.openxmlformats.org/drawingml/2006/chart">
            <c:chart xmlns:c="http://schemas.openxmlformats.org/drawingml/2006/chart" xmlns:r="http://schemas.openxmlformats.org/officeDocument/2006/relationships" r:id="rId6"/>
          </a:graphicData>
        </a:graphic>
      </p:graphicFrame>
      <p:sp>
        <p:nvSpPr>
          <p:cNvPr id="36867" name="Text Box 48"/>
          <p:cNvSpPr txBox="1">
            <a:spLocks noChangeArrowheads="1"/>
          </p:cNvSpPr>
          <p:nvPr/>
        </p:nvSpPr>
        <p:spPr bwMode="auto">
          <a:xfrm>
            <a:off x="1318661" y="425079"/>
            <a:ext cx="7558121"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da Fase III em urticária crónica espontânea: Resultados</a:t>
            </a:r>
          </a:p>
        </p:txBody>
      </p:sp>
      <p:sp>
        <p:nvSpPr>
          <p:cNvPr id="36869" name="5 Rectángulo"/>
          <p:cNvSpPr>
            <a:spLocks noChangeArrowheads="1"/>
          </p:cNvSpPr>
          <p:nvPr/>
        </p:nvSpPr>
        <p:spPr bwMode="auto">
          <a:xfrm>
            <a:off x="1105018" y="6449920"/>
            <a:ext cx="3636962" cy="247650"/>
          </a:xfrm>
          <a:prstGeom prst="rect">
            <a:avLst/>
          </a:prstGeom>
          <a:noFill/>
          <a:ln w="9525">
            <a:noFill/>
            <a:miter lim="800000"/>
            <a:headEnd/>
            <a:tailEnd/>
          </a:ln>
        </p:spPr>
        <p:txBody>
          <a:bodyPr>
            <a:spAutoFit/>
          </a:bodyPr>
          <a:lstStyle/>
          <a:p>
            <a:pPr eaLnBrk="1" hangingPunct="1">
              <a:buClr>
                <a:srgbClr val="000000"/>
              </a:buClr>
              <a:buSzPct val="100000"/>
              <a:buFont typeface="Calibri" pitchFamily="34" charset="0"/>
              <a:buNone/>
            </a:pPr>
            <a:r>
              <a:rPr lang="pt-PT" altLang="es-ES" sz="1000" b="0" dirty="0">
                <a:solidFill>
                  <a:schemeClr val="accent2">
                    <a:lumMod val="50000"/>
                  </a:schemeClr>
                </a:solidFill>
              </a:rPr>
              <a:t>NS: Estatisticamente não significativo</a:t>
            </a:r>
            <a:endParaRPr lang="pt-PT" altLang="es-ES" sz="1000" b="0" dirty="0">
              <a:solidFill>
                <a:schemeClr val="accent2">
                  <a:lumMod val="50000"/>
                </a:schemeClr>
              </a:solidFill>
              <a:ea typeface="ＭＳ Ｐゴシック" charset="-128"/>
            </a:endParaRPr>
          </a:p>
        </p:txBody>
      </p:sp>
      <p:sp>
        <p:nvSpPr>
          <p:cNvPr id="21" name="7 Rectángulo redondeado"/>
          <p:cNvSpPr/>
          <p:nvPr/>
        </p:nvSpPr>
        <p:spPr bwMode="auto">
          <a:xfrm>
            <a:off x="869950" y="3780558"/>
            <a:ext cx="7404100" cy="390525"/>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eaLnBrk="1" hangingPunct="1">
              <a:buClr>
                <a:srgbClr val="000000"/>
              </a:buClr>
              <a:buSzPct val="100000"/>
              <a:buFont typeface="Calibri" panose="020F0502020204030204" pitchFamily="34" charset="0"/>
              <a:buNone/>
              <a:defRPr/>
            </a:pPr>
            <a:r>
              <a:rPr lang="pt-PT" sz="1600" dirty="0">
                <a:solidFill>
                  <a:schemeClr val="accent2">
                    <a:lumMod val="50000"/>
                  </a:schemeClr>
                </a:solidFill>
                <a:latin typeface="Calibri"/>
              </a:rPr>
              <a:t>Pontuação máxima UAS7 </a:t>
            </a:r>
            <a:r>
              <a:rPr lang="es-ES" sz="1600" dirty="0">
                <a:solidFill>
                  <a:schemeClr val="accent2">
                    <a:lumMod val="50000"/>
                  </a:schemeClr>
                </a:solidFill>
                <a:latin typeface="Calibri"/>
                <a:sym typeface="Wingdings" pitchFamily="2" charset="2"/>
              </a:rPr>
              <a:t></a:t>
            </a:r>
            <a:r>
              <a:rPr lang="pt-PT" sz="1600" dirty="0">
                <a:solidFill>
                  <a:schemeClr val="accent2">
                    <a:lumMod val="50000"/>
                  </a:schemeClr>
                </a:solidFill>
                <a:latin typeface="Calibri"/>
                <a:sym typeface="Wingdings" pitchFamily="2" charset="2"/>
              </a:rPr>
              <a:t> 42; MPS &amp; MNW </a:t>
            </a:r>
            <a:r>
              <a:rPr lang="es-ES" sz="1600" dirty="0">
                <a:solidFill>
                  <a:schemeClr val="accent2">
                    <a:lumMod val="50000"/>
                  </a:schemeClr>
                </a:solidFill>
                <a:latin typeface="Calibri"/>
                <a:sym typeface="Wingdings" pitchFamily="2" charset="2"/>
              </a:rPr>
              <a:t></a:t>
            </a:r>
            <a:r>
              <a:rPr lang="pt-PT" sz="1600" dirty="0">
                <a:solidFill>
                  <a:schemeClr val="accent2">
                    <a:lumMod val="50000"/>
                  </a:schemeClr>
                </a:solidFill>
                <a:latin typeface="Calibri"/>
                <a:sym typeface="Wingdings" pitchFamily="2" charset="2"/>
              </a:rPr>
              <a:t> 21; CDLQI </a:t>
            </a:r>
            <a:r>
              <a:rPr lang="es-ES" sz="1600" dirty="0">
                <a:solidFill>
                  <a:schemeClr val="accent2">
                    <a:lumMod val="50000"/>
                  </a:schemeClr>
                </a:solidFill>
                <a:latin typeface="Calibri"/>
                <a:sym typeface="Wingdings" pitchFamily="2" charset="2"/>
              </a:rPr>
              <a:t></a:t>
            </a:r>
            <a:r>
              <a:rPr lang="pt-PT" sz="1600" dirty="0">
                <a:solidFill>
                  <a:schemeClr val="accent2">
                    <a:lumMod val="50000"/>
                  </a:schemeClr>
                </a:solidFill>
                <a:latin typeface="Calibri"/>
                <a:sym typeface="Wingdings" pitchFamily="2" charset="2"/>
              </a:rPr>
              <a:t> 30 </a:t>
            </a:r>
            <a:endParaRPr lang="pt-PT" sz="1600" dirty="0">
              <a:solidFill>
                <a:schemeClr val="accent2">
                  <a:lumMod val="50000"/>
                </a:schemeClr>
              </a:solidFill>
              <a:latin typeface="Calibri"/>
              <a:cs typeface="Calibri"/>
            </a:endParaRPr>
          </a:p>
        </p:txBody>
      </p:sp>
      <p:sp>
        <p:nvSpPr>
          <p:cNvPr id="36875" name="TextBox 3"/>
          <p:cNvSpPr txBox="1">
            <a:spLocks noChangeArrowheads="1"/>
          </p:cNvSpPr>
          <p:nvPr/>
        </p:nvSpPr>
        <p:spPr bwMode="auto">
          <a:xfrm>
            <a:off x="1982111" y="1761258"/>
            <a:ext cx="941388" cy="276225"/>
          </a:xfrm>
          <a:prstGeom prst="rect">
            <a:avLst/>
          </a:prstGeom>
          <a:noFill/>
          <a:ln w="9525">
            <a:noFill/>
            <a:miter lim="800000"/>
            <a:headEnd/>
            <a:tailEnd/>
          </a:ln>
        </p:spPr>
        <p:txBody>
          <a:bodyPr>
            <a:spAutoFit/>
          </a:bodyPr>
          <a:lstStyle/>
          <a:p>
            <a:pPr eaLnBrk="1" hangingPunct="1">
              <a:buClr>
                <a:srgbClr val="000000"/>
              </a:buClr>
              <a:buSzPct val="100000"/>
              <a:buFont typeface="Calibri" pitchFamily="34" charset="0"/>
              <a:buNone/>
            </a:pPr>
            <a:r>
              <a:rPr lang="pt-PT" altLang="es-ES" sz="1200">
                <a:solidFill>
                  <a:schemeClr val="accent2">
                    <a:lumMod val="50000"/>
                  </a:schemeClr>
                </a:solidFill>
              </a:rPr>
              <a:t>UAS7 Basal</a:t>
            </a:r>
          </a:p>
        </p:txBody>
      </p:sp>
      <p:sp>
        <p:nvSpPr>
          <p:cNvPr id="36876" name="TextBox 3"/>
          <p:cNvSpPr txBox="1">
            <a:spLocks noChangeArrowheads="1"/>
          </p:cNvSpPr>
          <p:nvPr/>
        </p:nvSpPr>
        <p:spPr bwMode="auto">
          <a:xfrm>
            <a:off x="3586871" y="3404321"/>
            <a:ext cx="595313" cy="277812"/>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i="1">
                <a:solidFill>
                  <a:schemeClr val="accent2">
                    <a:lumMod val="50000"/>
                  </a:schemeClr>
                </a:solidFill>
              </a:rPr>
              <a:t>p</a:t>
            </a:r>
            <a:r>
              <a:rPr lang="pt-PT" altLang="es-ES" sz="1200">
                <a:solidFill>
                  <a:schemeClr val="accent2">
                    <a:lumMod val="50000"/>
                  </a:schemeClr>
                </a:solidFill>
              </a:rPr>
              <a:t> = NS</a:t>
            </a:r>
          </a:p>
        </p:txBody>
      </p:sp>
      <p:sp>
        <p:nvSpPr>
          <p:cNvPr id="36877" name="TextBox 3"/>
          <p:cNvSpPr txBox="1">
            <a:spLocks noChangeArrowheads="1"/>
          </p:cNvSpPr>
          <p:nvPr/>
        </p:nvSpPr>
        <p:spPr bwMode="auto">
          <a:xfrm>
            <a:off x="1430995" y="2052649"/>
            <a:ext cx="481013" cy="246062"/>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a:solidFill>
                  <a:schemeClr val="accent2">
                    <a:lumMod val="50000"/>
                  </a:schemeClr>
                </a:solidFill>
              </a:rPr>
              <a:t>22,06</a:t>
            </a:r>
          </a:p>
        </p:txBody>
      </p:sp>
      <p:sp>
        <p:nvSpPr>
          <p:cNvPr id="36878" name="TextBox 3"/>
          <p:cNvSpPr txBox="1">
            <a:spLocks noChangeArrowheads="1"/>
          </p:cNvSpPr>
          <p:nvPr/>
        </p:nvSpPr>
        <p:spPr bwMode="auto">
          <a:xfrm>
            <a:off x="2203449" y="2126955"/>
            <a:ext cx="477838" cy="24606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a:solidFill>
                  <a:schemeClr val="accent2">
                    <a:lumMod val="50000"/>
                  </a:schemeClr>
                </a:solidFill>
              </a:rPr>
              <a:t>20,45</a:t>
            </a:r>
          </a:p>
        </p:txBody>
      </p:sp>
      <p:sp>
        <p:nvSpPr>
          <p:cNvPr id="36879" name="TextBox 3"/>
          <p:cNvSpPr txBox="1">
            <a:spLocks noChangeArrowheads="1"/>
          </p:cNvSpPr>
          <p:nvPr/>
        </p:nvSpPr>
        <p:spPr bwMode="auto">
          <a:xfrm>
            <a:off x="2988384" y="2235584"/>
            <a:ext cx="476250" cy="246062"/>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a:solidFill>
                  <a:schemeClr val="accent2">
                    <a:lumMod val="50000"/>
                  </a:schemeClr>
                </a:solidFill>
              </a:rPr>
              <a:t>22,29</a:t>
            </a:r>
          </a:p>
        </p:txBody>
      </p:sp>
      <p:sp>
        <p:nvSpPr>
          <p:cNvPr id="36881" name="TextBox 3"/>
          <p:cNvSpPr txBox="1">
            <a:spLocks noChangeArrowheads="1"/>
          </p:cNvSpPr>
          <p:nvPr/>
        </p:nvSpPr>
        <p:spPr bwMode="auto">
          <a:xfrm>
            <a:off x="6136835" y="1761258"/>
            <a:ext cx="931863" cy="276225"/>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MNW Basal</a:t>
            </a:r>
          </a:p>
        </p:txBody>
      </p:sp>
      <p:sp>
        <p:nvSpPr>
          <p:cNvPr id="36882" name="TextBox 3"/>
          <p:cNvSpPr txBox="1">
            <a:spLocks noChangeArrowheads="1"/>
          </p:cNvSpPr>
          <p:nvPr/>
        </p:nvSpPr>
        <p:spPr bwMode="auto">
          <a:xfrm>
            <a:off x="7773482" y="3404321"/>
            <a:ext cx="595313" cy="277812"/>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i="1">
                <a:solidFill>
                  <a:schemeClr val="accent2">
                    <a:lumMod val="50000"/>
                  </a:schemeClr>
                </a:solidFill>
              </a:rPr>
              <a:t>p</a:t>
            </a:r>
            <a:r>
              <a:rPr lang="pt-PT" altLang="es-ES" sz="1200">
                <a:solidFill>
                  <a:schemeClr val="accent2">
                    <a:lumMod val="50000"/>
                  </a:schemeClr>
                </a:solidFill>
              </a:rPr>
              <a:t> = NS</a:t>
            </a:r>
          </a:p>
        </p:txBody>
      </p:sp>
      <p:sp>
        <p:nvSpPr>
          <p:cNvPr id="36883" name="TextBox 3"/>
          <p:cNvSpPr txBox="1">
            <a:spLocks noChangeArrowheads="1"/>
          </p:cNvSpPr>
          <p:nvPr/>
        </p:nvSpPr>
        <p:spPr bwMode="auto">
          <a:xfrm>
            <a:off x="5578848" y="1978441"/>
            <a:ext cx="479425" cy="24606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10,86</a:t>
            </a:r>
          </a:p>
        </p:txBody>
      </p:sp>
      <p:sp>
        <p:nvSpPr>
          <p:cNvPr id="36884" name="TextBox 3"/>
          <p:cNvSpPr txBox="1">
            <a:spLocks noChangeArrowheads="1"/>
          </p:cNvSpPr>
          <p:nvPr/>
        </p:nvSpPr>
        <p:spPr bwMode="auto">
          <a:xfrm>
            <a:off x="6402541" y="2081478"/>
            <a:ext cx="411162" cy="24606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9,81</a:t>
            </a:r>
          </a:p>
        </p:txBody>
      </p:sp>
      <p:sp>
        <p:nvSpPr>
          <p:cNvPr id="36885" name="TextBox 3"/>
          <p:cNvSpPr txBox="1">
            <a:spLocks noChangeArrowheads="1"/>
          </p:cNvSpPr>
          <p:nvPr/>
        </p:nvSpPr>
        <p:spPr bwMode="auto">
          <a:xfrm>
            <a:off x="7160927" y="1958447"/>
            <a:ext cx="412750" cy="246062"/>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11,1</a:t>
            </a:r>
          </a:p>
        </p:txBody>
      </p:sp>
      <p:sp>
        <p:nvSpPr>
          <p:cNvPr id="36887" name="TextBox 3"/>
          <p:cNvSpPr txBox="1">
            <a:spLocks noChangeArrowheads="1"/>
          </p:cNvSpPr>
          <p:nvPr/>
        </p:nvSpPr>
        <p:spPr bwMode="auto">
          <a:xfrm>
            <a:off x="2027355" y="4326658"/>
            <a:ext cx="850900" cy="27781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200">
                <a:solidFill>
                  <a:schemeClr val="accent2">
                    <a:lumMod val="50000"/>
                  </a:schemeClr>
                </a:solidFill>
              </a:rPr>
              <a:t>MPS Basal</a:t>
            </a:r>
          </a:p>
        </p:txBody>
      </p:sp>
      <p:sp>
        <p:nvSpPr>
          <p:cNvPr id="36889" name="TextBox 3"/>
          <p:cNvSpPr txBox="1">
            <a:spLocks noChangeArrowheads="1"/>
          </p:cNvSpPr>
          <p:nvPr/>
        </p:nvSpPr>
        <p:spPr bwMode="auto">
          <a:xfrm>
            <a:off x="1426654" y="4460988"/>
            <a:ext cx="477837" cy="246062"/>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11,21</a:t>
            </a:r>
          </a:p>
        </p:txBody>
      </p:sp>
      <p:sp>
        <p:nvSpPr>
          <p:cNvPr id="36890" name="TextBox 3"/>
          <p:cNvSpPr txBox="1">
            <a:spLocks noChangeArrowheads="1"/>
          </p:cNvSpPr>
          <p:nvPr/>
        </p:nvSpPr>
        <p:spPr bwMode="auto">
          <a:xfrm>
            <a:off x="2201862" y="4584019"/>
            <a:ext cx="479425" cy="24606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10,64</a:t>
            </a:r>
          </a:p>
        </p:txBody>
      </p:sp>
      <p:sp>
        <p:nvSpPr>
          <p:cNvPr id="36891" name="TextBox 3"/>
          <p:cNvSpPr txBox="1">
            <a:spLocks noChangeArrowheads="1"/>
          </p:cNvSpPr>
          <p:nvPr/>
        </p:nvSpPr>
        <p:spPr bwMode="auto">
          <a:xfrm>
            <a:off x="3002453" y="4544468"/>
            <a:ext cx="476250" cy="246062"/>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11,19</a:t>
            </a:r>
          </a:p>
        </p:txBody>
      </p:sp>
      <p:sp>
        <p:nvSpPr>
          <p:cNvPr id="36893" name="TextBox 3"/>
          <p:cNvSpPr txBox="1">
            <a:spLocks noChangeArrowheads="1"/>
          </p:cNvSpPr>
          <p:nvPr/>
        </p:nvSpPr>
        <p:spPr bwMode="auto">
          <a:xfrm>
            <a:off x="6128898" y="4326658"/>
            <a:ext cx="947737" cy="27781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200">
                <a:solidFill>
                  <a:schemeClr val="accent2">
                    <a:lumMod val="50000"/>
                  </a:schemeClr>
                </a:solidFill>
              </a:rPr>
              <a:t>CDLQI Basal</a:t>
            </a:r>
          </a:p>
        </p:txBody>
      </p:sp>
      <p:sp>
        <p:nvSpPr>
          <p:cNvPr id="36895" name="TextBox 3"/>
          <p:cNvSpPr txBox="1">
            <a:spLocks noChangeArrowheads="1"/>
          </p:cNvSpPr>
          <p:nvPr/>
        </p:nvSpPr>
        <p:spPr bwMode="auto">
          <a:xfrm>
            <a:off x="5626100" y="4551343"/>
            <a:ext cx="314325" cy="24606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11</a:t>
            </a:r>
          </a:p>
        </p:txBody>
      </p:sp>
      <p:sp>
        <p:nvSpPr>
          <p:cNvPr id="36896" name="TextBox 3"/>
          <p:cNvSpPr txBox="1">
            <a:spLocks noChangeArrowheads="1"/>
          </p:cNvSpPr>
          <p:nvPr/>
        </p:nvSpPr>
        <p:spPr bwMode="auto">
          <a:xfrm>
            <a:off x="6337032" y="4604471"/>
            <a:ext cx="481012" cy="246062"/>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10,32</a:t>
            </a:r>
          </a:p>
        </p:txBody>
      </p:sp>
      <p:sp>
        <p:nvSpPr>
          <p:cNvPr id="36897" name="TextBox 3"/>
          <p:cNvSpPr txBox="1">
            <a:spLocks noChangeArrowheads="1"/>
          </p:cNvSpPr>
          <p:nvPr/>
        </p:nvSpPr>
        <p:spPr bwMode="auto">
          <a:xfrm>
            <a:off x="7140559" y="4604471"/>
            <a:ext cx="476250" cy="246063"/>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b="0" dirty="0">
                <a:solidFill>
                  <a:schemeClr val="accent2">
                    <a:lumMod val="50000"/>
                  </a:schemeClr>
                </a:solidFill>
              </a:rPr>
              <a:t>10,09</a:t>
            </a:r>
          </a:p>
        </p:txBody>
      </p:sp>
      <p:sp>
        <p:nvSpPr>
          <p:cNvPr id="39" name="TextBox 3"/>
          <p:cNvSpPr txBox="1">
            <a:spLocks noChangeArrowheads="1"/>
          </p:cNvSpPr>
          <p:nvPr/>
        </p:nvSpPr>
        <p:spPr bwMode="auto">
          <a:xfrm>
            <a:off x="3586871" y="5954298"/>
            <a:ext cx="595313" cy="277812"/>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i="1">
                <a:solidFill>
                  <a:schemeClr val="accent2">
                    <a:lumMod val="50000"/>
                  </a:schemeClr>
                </a:solidFill>
              </a:rPr>
              <a:t>p</a:t>
            </a:r>
            <a:r>
              <a:rPr lang="pt-PT" altLang="es-ES" sz="1200">
                <a:solidFill>
                  <a:schemeClr val="accent2">
                    <a:lumMod val="50000"/>
                  </a:schemeClr>
                </a:solidFill>
              </a:rPr>
              <a:t> = NS</a:t>
            </a:r>
          </a:p>
        </p:txBody>
      </p:sp>
      <p:sp>
        <p:nvSpPr>
          <p:cNvPr id="40" name="TextBox 3"/>
          <p:cNvSpPr txBox="1">
            <a:spLocks noChangeArrowheads="1"/>
          </p:cNvSpPr>
          <p:nvPr/>
        </p:nvSpPr>
        <p:spPr bwMode="auto">
          <a:xfrm>
            <a:off x="7773482" y="5954298"/>
            <a:ext cx="595313" cy="277812"/>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200" i="1">
                <a:solidFill>
                  <a:schemeClr val="accent2">
                    <a:lumMod val="50000"/>
                  </a:schemeClr>
                </a:solidFill>
              </a:rPr>
              <a:t>p</a:t>
            </a:r>
            <a:r>
              <a:rPr lang="pt-PT" altLang="es-ES" sz="1200">
                <a:solidFill>
                  <a:schemeClr val="accent2">
                    <a:lumMod val="50000"/>
                  </a:schemeClr>
                </a:solidFill>
              </a:rPr>
              <a:t> = NS</a:t>
            </a:r>
          </a:p>
        </p:txBody>
      </p:sp>
      <p:sp>
        <p:nvSpPr>
          <p:cNvPr id="30" name="Text Box 4">
            <a:extLst>
              <a:ext uri="{FF2B5EF4-FFF2-40B4-BE49-F238E27FC236}">
                <a16:creationId xmlns:a16="http://schemas.microsoft.com/office/drawing/2014/main" id="{DC51B7C1-3B0C-4ECB-9DAE-98CFAD26D2B7}"/>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Text Box 48"/>
          <p:cNvSpPr txBox="1">
            <a:spLocks noChangeArrowheads="1"/>
          </p:cNvSpPr>
          <p:nvPr/>
        </p:nvSpPr>
        <p:spPr bwMode="auto">
          <a:xfrm>
            <a:off x="1321201" y="408933"/>
            <a:ext cx="7654374"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da Fase III em urticária crónica espontânea: Análise de subgrupos: </a:t>
            </a:r>
          </a:p>
        </p:txBody>
      </p:sp>
      <p:sp>
        <p:nvSpPr>
          <p:cNvPr id="7" name="AutoShape 3"/>
          <p:cNvSpPr>
            <a:spLocks noChangeArrowheads="1"/>
          </p:cNvSpPr>
          <p:nvPr/>
        </p:nvSpPr>
        <p:spPr bwMode="auto">
          <a:xfrm>
            <a:off x="5066581" y="4783177"/>
            <a:ext cx="2286000" cy="1003920"/>
          </a:xfrm>
          <a:prstGeom prst="roundRect">
            <a:avLst>
              <a:gd name="adj" fmla="val 16667"/>
            </a:avLst>
          </a:prstGeom>
          <a:noFill/>
          <a:ln w="38100">
            <a:solidFill>
              <a:srgbClr val="FFDA3B"/>
            </a:solidFill>
            <a:round/>
            <a:headEnd/>
            <a:tailEnd/>
          </a:ln>
          <a:effectLst/>
          <a:extLst>
            <a:ext uri="{909E8E84-426E-40DD-AFC4-6F175D3DCCD1}">
              <a14:hiddenFill xmlns:a14="http://schemas.microsoft.com/office/drawing/2010/main">
                <a:gradFill rotWithShape="1">
                  <a:gsLst>
                    <a:gs pos="0">
                      <a:srgbClr val="99CCFF"/>
                    </a:gs>
                    <a:gs pos="100000">
                      <a:srgbClr val="99CCFF">
                        <a:gamma/>
                        <a:tint val="27451"/>
                        <a:invGamma/>
                      </a:srgb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s-ES">
              <a:solidFill>
                <a:schemeClr val="accent2">
                  <a:lumMod val="50000"/>
                </a:schemeClr>
              </a:solidFill>
              <a:latin typeface="Verdana" pitchFamily="34" charset="0"/>
            </a:endParaRPr>
          </a:p>
        </p:txBody>
      </p:sp>
      <p:sp>
        <p:nvSpPr>
          <p:cNvPr id="9" name="Text Box 6"/>
          <p:cNvSpPr txBox="1">
            <a:spLocks noChangeArrowheads="1"/>
          </p:cNvSpPr>
          <p:nvPr/>
        </p:nvSpPr>
        <p:spPr bwMode="auto">
          <a:xfrm>
            <a:off x="2140622" y="4944813"/>
            <a:ext cx="20383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pt-PT" sz="1800" b="1" dirty="0">
                <a:solidFill>
                  <a:schemeClr val="accent2">
                    <a:lumMod val="50000"/>
                  </a:schemeClr>
                </a:solidFill>
                <a:latin typeface="+mn-lt"/>
              </a:rPr>
              <a:t>Grupo que recebeu 2,5 ml (&lt; 25 kg) </a:t>
            </a:r>
            <a:endParaRPr lang="pt-PT" sz="1200" dirty="0">
              <a:solidFill>
                <a:schemeClr val="accent2">
                  <a:lumMod val="50000"/>
                </a:schemeClr>
              </a:solidFill>
              <a:latin typeface="+mn-lt"/>
            </a:endParaRPr>
          </a:p>
        </p:txBody>
      </p:sp>
      <p:sp>
        <p:nvSpPr>
          <p:cNvPr id="12" name="Text Box 21"/>
          <p:cNvSpPr txBox="1">
            <a:spLocks noChangeArrowheads="1"/>
          </p:cNvSpPr>
          <p:nvPr/>
        </p:nvSpPr>
        <p:spPr bwMode="auto">
          <a:xfrm>
            <a:off x="5242399" y="4944813"/>
            <a:ext cx="20383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pt-PT" sz="1800" b="1" dirty="0">
                <a:solidFill>
                  <a:schemeClr val="accent2">
                    <a:lumMod val="50000"/>
                  </a:schemeClr>
                </a:solidFill>
                <a:latin typeface="+mn-lt"/>
              </a:rPr>
              <a:t>Grupo que recebeu 5 ml (≥ 25 kg) </a:t>
            </a:r>
            <a:endParaRPr lang="pt-PT" sz="3200" dirty="0">
              <a:solidFill>
                <a:schemeClr val="accent2">
                  <a:lumMod val="50000"/>
                </a:schemeClr>
              </a:solidFill>
              <a:latin typeface="+mn-lt"/>
            </a:endParaRPr>
          </a:p>
        </p:txBody>
      </p:sp>
      <p:sp>
        <p:nvSpPr>
          <p:cNvPr id="13" name="AutoShape 5"/>
          <p:cNvSpPr>
            <a:spLocks noChangeArrowheads="1"/>
          </p:cNvSpPr>
          <p:nvPr/>
        </p:nvSpPr>
        <p:spPr bwMode="auto">
          <a:xfrm>
            <a:off x="1940598" y="4783177"/>
            <a:ext cx="2286000" cy="1003920"/>
          </a:xfrm>
          <a:prstGeom prst="roundRect">
            <a:avLst>
              <a:gd name="adj" fmla="val 16667"/>
            </a:avLst>
          </a:prstGeom>
          <a:noFill/>
          <a:ln w="38100">
            <a:solidFill>
              <a:srgbClr val="FFDA3B"/>
            </a:solidFill>
            <a:round/>
            <a:headEnd/>
            <a:tailEnd/>
          </a:ln>
          <a:effectLst/>
          <a:extLst>
            <a:ext uri="{909E8E84-426E-40DD-AFC4-6F175D3DCCD1}">
              <a14:hiddenFill xmlns:a14="http://schemas.microsoft.com/office/drawing/2010/main">
                <a:gradFill rotWithShape="1">
                  <a:gsLst>
                    <a:gs pos="0">
                      <a:srgbClr val="99CCFF"/>
                    </a:gs>
                    <a:gs pos="100000">
                      <a:srgbClr val="99CCFF">
                        <a:gamma/>
                        <a:tint val="27451"/>
                        <a:invGamma/>
                      </a:srgbClr>
                    </a:gs>
                  </a:gsLst>
                  <a:lin ang="5400000" scaled="1"/>
                </a:gra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s-ES">
              <a:solidFill>
                <a:schemeClr val="accent2">
                  <a:lumMod val="50000"/>
                </a:schemeClr>
              </a:solidFill>
              <a:latin typeface="Verdana" pitchFamily="34" charset="0"/>
            </a:endParaRPr>
          </a:p>
        </p:txBody>
      </p:sp>
      <p:graphicFrame>
        <p:nvGraphicFramePr>
          <p:cNvPr id="19" name="Group 57"/>
          <p:cNvGraphicFramePr>
            <a:graphicFrameLocks noGrp="1"/>
          </p:cNvGraphicFramePr>
          <p:nvPr>
            <p:extLst>
              <p:ext uri="{D42A27DB-BD31-4B8C-83A1-F6EECF244321}">
                <p14:modId xmlns:p14="http://schemas.microsoft.com/office/powerpoint/2010/main" val="2570329949"/>
              </p:ext>
            </p:extLst>
          </p:nvPr>
        </p:nvGraphicFramePr>
        <p:xfrm>
          <a:off x="588554" y="1696970"/>
          <a:ext cx="7963976" cy="805598"/>
        </p:xfrm>
        <a:graphic>
          <a:graphicData uri="http://schemas.openxmlformats.org/drawingml/2006/table">
            <a:tbl>
              <a:tblPr firstRow="1">
                <a:tableStyleId>{21E4AEA4-8DFA-4A89-87EB-49C32662AFE0}</a:tableStyleId>
              </a:tblPr>
              <a:tblGrid>
                <a:gridCol w="7963976">
                  <a:extLst>
                    <a:ext uri="{9D8B030D-6E8A-4147-A177-3AD203B41FA5}">
                      <a16:colId xmlns:a16="http://schemas.microsoft.com/office/drawing/2014/main" val="20000"/>
                    </a:ext>
                  </a:extLst>
                </a:gridCol>
              </a:tblGrid>
              <a:tr h="805598">
                <a:tc>
                  <a:txBody>
                    <a:bodyPr/>
                    <a:lstStyle/>
                    <a:p>
                      <a:pPr marL="0" marR="0" lvl="0" indent="0" algn="ctr" defTabSz="914400" rtl="0" eaLnBrk="1" fontAlgn="base" latinLnBrk="0" hangingPunct="1">
                        <a:lnSpc>
                          <a:spcPct val="100000"/>
                        </a:lnSpc>
                        <a:spcBef>
                          <a:spcPct val="0"/>
                        </a:spcBef>
                        <a:spcAft>
                          <a:spcPct val="0"/>
                        </a:spcAft>
                        <a:buClr>
                          <a:srgbClr val="000000"/>
                        </a:buClr>
                        <a:buSzPct val="100000"/>
                        <a:buFont typeface="Calibri" pitchFamily="34" charset="0"/>
                        <a:buNone/>
                        <a:tabLst/>
                      </a:pPr>
                      <a:r>
                        <a:rPr kumimoji="0" lang="en-US" sz="2400" u="none" strike="noStrike" cap="none" normalizeH="0" baseline="0" dirty="0">
                          <a:ln>
                            <a:noFill/>
                          </a:ln>
                          <a:effectLst/>
                        </a:rPr>
                        <a:t>Análise da eficácia por categorias de dosagem</a:t>
                      </a:r>
                      <a:endParaRPr kumimoji="0" lang="pt-PT" sz="2400" b="1" i="0" u="none" strike="noStrike" cap="none" normalizeH="0" baseline="0" dirty="0">
                        <a:ln>
                          <a:noFill/>
                        </a:ln>
                        <a:solidFill>
                          <a:schemeClr val="bg1"/>
                        </a:solidFill>
                        <a:effectLst/>
                        <a:latin typeface="Calibri" pitchFamily="34" charset="0"/>
                        <a:ea typeface="ＭＳ Ｐゴシック" pitchFamily="34" charset="-128"/>
                      </a:endParaRPr>
                    </a:p>
                  </a:txBody>
                  <a:tcPr marL="144000" marR="144000" marT="46799" marB="46799" anchor="ctr" horzOverflow="overflow">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4" name="Text Box 4">
            <a:extLst>
              <a:ext uri="{FF2B5EF4-FFF2-40B4-BE49-F238E27FC236}">
                <a16:creationId xmlns:a16="http://schemas.microsoft.com/office/drawing/2014/main" id="{B32DB125-E3AD-4528-9605-25197EF2128A}"/>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pic>
        <p:nvPicPr>
          <p:cNvPr id="6146" name="Picture 2" descr="How to Foster Joy in Black Children | POPSUGAR Family">
            <a:extLst>
              <a:ext uri="{FF2B5EF4-FFF2-40B4-BE49-F238E27FC236}">
                <a16:creationId xmlns:a16="http://schemas.microsoft.com/office/drawing/2014/main" id="{DE842777-C3C9-48D3-9E0B-22D21D02EA6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467"/>
          <a:stretch/>
        </p:blipFill>
        <p:spPr bwMode="auto">
          <a:xfrm>
            <a:off x="1800520" y="2784212"/>
            <a:ext cx="2570591" cy="188595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184 Kids Lying Circle On Grass Stock Photos, Pictures &amp; Royalty-Free Images  - iStock">
            <a:extLst>
              <a:ext uri="{FF2B5EF4-FFF2-40B4-BE49-F238E27FC236}">
                <a16:creationId xmlns:a16="http://schemas.microsoft.com/office/drawing/2014/main" id="{E64AC18D-6DFA-4EF7-AE8C-C6AA683090F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132"/>
          <a:stretch/>
        </p:blipFill>
        <p:spPr bwMode="auto">
          <a:xfrm>
            <a:off x="4917137" y="2784212"/>
            <a:ext cx="2570591"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955309"/>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24 Gráfico"/>
          <p:cNvGraphicFramePr/>
          <p:nvPr>
            <p:extLst>
              <p:ext uri="{D42A27DB-BD31-4B8C-83A1-F6EECF244321}">
                <p14:modId xmlns:p14="http://schemas.microsoft.com/office/powerpoint/2010/main" val="2372281617"/>
              </p:ext>
            </p:extLst>
          </p:nvPr>
        </p:nvGraphicFramePr>
        <p:xfrm>
          <a:off x="831969" y="2769095"/>
          <a:ext cx="7724548" cy="3559629"/>
        </p:xfrm>
        <a:graphic>
          <a:graphicData uri="http://schemas.openxmlformats.org/drawingml/2006/chart">
            <c:chart xmlns:c="http://schemas.openxmlformats.org/drawingml/2006/chart" xmlns:r="http://schemas.openxmlformats.org/officeDocument/2006/relationships" r:id="rId3"/>
          </a:graphicData>
        </a:graphic>
      </p:graphicFrame>
      <p:sp>
        <p:nvSpPr>
          <p:cNvPr id="8" name="7 Rectángulo redondeado"/>
          <p:cNvSpPr/>
          <p:nvPr/>
        </p:nvSpPr>
        <p:spPr bwMode="auto">
          <a:xfrm>
            <a:off x="745338" y="1593763"/>
            <a:ext cx="7829550" cy="70485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r>
              <a:rPr lang="pt-PT" altLang="es-ES" sz="2000" dirty="0" err="1">
                <a:solidFill>
                  <a:schemeClr val="accent2">
                    <a:lumMod val="50000"/>
                  </a:schemeClr>
                </a:solidFill>
              </a:rPr>
              <a:t>Rinialer</a:t>
            </a:r>
            <a:r>
              <a:rPr lang="pt-PT" altLang="es-ES" sz="2000" dirty="0">
                <a:solidFill>
                  <a:schemeClr val="accent2">
                    <a:lumMod val="50000"/>
                  </a:schemeClr>
                </a:solidFill>
              </a:rPr>
              <a:t> é</a:t>
            </a:r>
            <a:r>
              <a:rPr lang="pt-PT" sz="2000" dirty="0">
                <a:solidFill>
                  <a:schemeClr val="accent2">
                    <a:lumMod val="50000"/>
                  </a:schemeClr>
                </a:solidFill>
              </a:rPr>
              <a:t> </a:t>
            </a:r>
            <a:r>
              <a:rPr lang="pt-PT" altLang="es-ES" sz="2000" dirty="0">
                <a:solidFill>
                  <a:schemeClr val="accent2">
                    <a:lumMod val="50000"/>
                  </a:schemeClr>
                </a:solidFill>
              </a:rPr>
              <a:t>eficaz no</a:t>
            </a:r>
            <a:r>
              <a:rPr lang="pt-PT" sz="2000" dirty="0">
                <a:solidFill>
                  <a:schemeClr val="accent2">
                    <a:lumMod val="50000"/>
                  </a:schemeClr>
                </a:solidFill>
              </a:rPr>
              <a:t> </a:t>
            </a:r>
            <a:r>
              <a:rPr lang="pt-PT" altLang="es-ES" sz="2000" dirty="0">
                <a:solidFill>
                  <a:schemeClr val="accent2">
                    <a:lumMod val="50000"/>
                  </a:schemeClr>
                </a:solidFill>
              </a:rPr>
              <a:t>alívio dos SINTOMAS DE URTICÁRIA (UAS7) </a:t>
            </a:r>
          </a:p>
          <a:p>
            <a:pPr algn="ctr"/>
            <a:r>
              <a:rPr lang="pt-PT" altLang="es-ES" sz="2000" dirty="0">
                <a:solidFill>
                  <a:schemeClr val="accent2">
                    <a:lumMod val="50000"/>
                  </a:schemeClr>
                </a:solidFill>
              </a:rPr>
              <a:t>após 6 semanas (42 dias) de tratamento</a:t>
            </a:r>
          </a:p>
        </p:txBody>
      </p:sp>
      <p:sp>
        <p:nvSpPr>
          <p:cNvPr id="37892" name="Text Box 48"/>
          <p:cNvSpPr txBox="1">
            <a:spLocks noChangeArrowheads="1"/>
          </p:cNvSpPr>
          <p:nvPr/>
        </p:nvSpPr>
        <p:spPr bwMode="auto">
          <a:xfrm>
            <a:off x="1284090" y="408412"/>
            <a:ext cx="7829550" cy="984885"/>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sz="3200" dirty="0">
                <a:solidFill>
                  <a:schemeClr val="accent2">
                    <a:lumMod val="50000"/>
                  </a:schemeClr>
                </a:solidFill>
              </a:rPr>
              <a:t>Estudo de Fase III em urticária crónica espontânea:</a:t>
            </a:r>
            <a:r>
              <a:rPr lang="pt-PT" altLang="es-ES" sz="2800" dirty="0">
                <a:solidFill>
                  <a:schemeClr val="accent2">
                    <a:lumMod val="50000"/>
                  </a:schemeClr>
                </a:solidFill>
              </a:rPr>
              <a:t> Resultados (I)</a:t>
            </a:r>
            <a:endParaRPr lang="pt-PT" altLang="es-ES" sz="2800" dirty="0">
              <a:solidFill>
                <a:schemeClr val="accent2">
                  <a:lumMod val="50000"/>
                </a:schemeClr>
              </a:solidFill>
              <a:ea typeface="ＭＳ Ｐゴシック" charset="-128"/>
            </a:endParaRPr>
          </a:p>
        </p:txBody>
      </p:sp>
      <p:sp>
        <p:nvSpPr>
          <p:cNvPr id="37895" name="TextBox 3"/>
          <p:cNvSpPr txBox="1">
            <a:spLocks noChangeArrowheads="1"/>
          </p:cNvSpPr>
          <p:nvPr/>
        </p:nvSpPr>
        <p:spPr bwMode="auto">
          <a:xfrm>
            <a:off x="2587722" y="5137455"/>
            <a:ext cx="1029234" cy="369332"/>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800" dirty="0">
                <a:solidFill>
                  <a:schemeClr val="accent2">
                    <a:lumMod val="50000"/>
                  </a:schemeClr>
                </a:solidFill>
              </a:rPr>
              <a:t>-55,8 %</a:t>
            </a:r>
          </a:p>
        </p:txBody>
      </p:sp>
      <p:sp>
        <p:nvSpPr>
          <p:cNvPr id="37896" name="TextBox 3"/>
          <p:cNvSpPr txBox="1">
            <a:spLocks noChangeArrowheads="1"/>
          </p:cNvSpPr>
          <p:nvPr/>
        </p:nvSpPr>
        <p:spPr bwMode="auto">
          <a:xfrm>
            <a:off x="4666061" y="3771945"/>
            <a:ext cx="1029234" cy="338554"/>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600" dirty="0">
                <a:solidFill>
                  <a:schemeClr val="accent2">
                    <a:lumMod val="50000"/>
                  </a:schemeClr>
                </a:solidFill>
              </a:rPr>
              <a:t>-30,3 %</a:t>
            </a:r>
          </a:p>
        </p:txBody>
      </p:sp>
      <p:sp>
        <p:nvSpPr>
          <p:cNvPr id="37897" name="TextBox 3"/>
          <p:cNvSpPr txBox="1">
            <a:spLocks noChangeArrowheads="1"/>
          </p:cNvSpPr>
          <p:nvPr/>
        </p:nvSpPr>
        <p:spPr bwMode="auto">
          <a:xfrm>
            <a:off x="6846982" y="4408092"/>
            <a:ext cx="1026983" cy="338554"/>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600" dirty="0">
                <a:solidFill>
                  <a:schemeClr val="accent2">
                    <a:lumMod val="50000"/>
                  </a:schemeClr>
                </a:solidFill>
              </a:rPr>
              <a:t>-48,4 %</a:t>
            </a:r>
          </a:p>
        </p:txBody>
      </p:sp>
      <p:sp>
        <p:nvSpPr>
          <p:cNvPr id="37898" name="TextBox 3"/>
          <p:cNvSpPr txBox="1">
            <a:spLocks noChangeArrowheads="1"/>
          </p:cNvSpPr>
          <p:nvPr/>
        </p:nvSpPr>
        <p:spPr bwMode="auto">
          <a:xfrm>
            <a:off x="3450096" y="2434757"/>
            <a:ext cx="1074257" cy="276999"/>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200" b="0" dirty="0">
                <a:solidFill>
                  <a:schemeClr val="accent2">
                    <a:lumMod val="50000"/>
                  </a:schemeClr>
                </a:solidFill>
              </a:rPr>
              <a:t>P = 0,001</a:t>
            </a:r>
          </a:p>
        </p:txBody>
      </p:sp>
      <p:sp>
        <p:nvSpPr>
          <p:cNvPr id="37899" name="TextBox 3"/>
          <p:cNvSpPr txBox="1">
            <a:spLocks noChangeArrowheads="1"/>
          </p:cNvSpPr>
          <p:nvPr/>
        </p:nvSpPr>
        <p:spPr bwMode="auto">
          <a:xfrm>
            <a:off x="5526112" y="2445643"/>
            <a:ext cx="1074257" cy="276999"/>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200" b="0" dirty="0">
                <a:solidFill>
                  <a:schemeClr val="accent2">
                    <a:lumMod val="50000"/>
                  </a:schemeClr>
                </a:solidFill>
              </a:rPr>
              <a:t>P = 0,013</a:t>
            </a:r>
          </a:p>
        </p:txBody>
      </p:sp>
      <p:grpSp>
        <p:nvGrpSpPr>
          <p:cNvPr id="2" name="Agrupar 60418"/>
          <p:cNvGrpSpPr>
            <a:grpSpLocks/>
          </p:cNvGrpSpPr>
          <p:nvPr/>
        </p:nvGrpSpPr>
        <p:grpSpPr bwMode="auto">
          <a:xfrm>
            <a:off x="3134444" y="2682173"/>
            <a:ext cx="1908363" cy="113650"/>
            <a:chOff x="3285934" y="3019392"/>
            <a:chExt cx="1358778" cy="91647"/>
          </a:xfrm>
        </p:grpSpPr>
        <p:cxnSp>
          <p:nvCxnSpPr>
            <p:cNvPr id="37910" name="Conector recto 24"/>
            <p:cNvCxnSpPr>
              <a:cxnSpLocks noChangeShapeType="1"/>
            </p:cNvCxnSpPr>
            <p:nvPr/>
          </p:nvCxnSpPr>
          <p:spPr bwMode="auto">
            <a:xfrm>
              <a:off x="3294815" y="3019392"/>
              <a:ext cx="1349897" cy="0"/>
            </a:xfrm>
            <a:prstGeom prst="line">
              <a:avLst/>
            </a:prstGeom>
            <a:noFill/>
            <a:ln w="9525">
              <a:solidFill>
                <a:schemeClr val="accent1"/>
              </a:solidFill>
              <a:round/>
              <a:headEnd/>
              <a:tailEnd/>
            </a:ln>
          </p:spPr>
        </p:cxnSp>
        <p:cxnSp>
          <p:nvCxnSpPr>
            <p:cNvPr id="37911" name="Conector recto 26"/>
            <p:cNvCxnSpPr>
              <a:cxnSpLocks noChangeShapeType="1"/>
            </p:cNvCxnSpPr>
            <p:nvPr/>
          </p:nvCxnSpPr>
          <p:spPr bwMode="auto">
            <a:xfrm flipH="1">
              <a:off x="4644094" y="3019392"/>
              <a:ext cx="618" cy="91647"/>
            </a:xfrm>
            <a:prstGeom prst="line">
              <a:avLst/>
            </a:prstGeom>
            <a:noFill/>
            <a:ln w="9525">
              <a:solidFill>
                <a:schemeClr val="accent1"/>
              </a:solidFill>
              <a:round/>
              <a:headEnd/>
              <a:tailEnd/>
            </a:ln>
          </p:spPr>
        </p:cxnSp>
        <p:cxnSp>
          <p:nvCxnSpPr>
            <p:cNvPr id="37912" name="Conector recto 35"/>
            <p:cNvCxnSpPr>
              <a:cxnSpLocks noChangeShapeType="1"/>
            </p:cNvCxnSpPr>
            <p:nvPr/>
          </p:nvCxnSpPr>
          <p:spPr bwMode="auto">
            <a:xfrm flipH="1">
              <a:off x="3285934" y="3019392"/>
              <a:ext cx="618" cy="91647"/>
            </a:xfrm>
            <a:prstGeom prst="line">
              <a:avLst/>
            </a:prstGeom>
            <a:noFill/>
            <a:ln w="9525">
              <a:solidFill>
                <a:schemeClr val="accent1"/>
              </a:solidFill>
              <a:round/>
              <a:headEnd/>
              <a:tailEnd/>
            </a:ln>
          </p:spPr>
        </p:cxnSp>
      </p:grpSp>
      <p:grpSp>
        <p:nvGrpSpPr>
          <p:cNvPr id="3" name="Agrupar 37"/>
          <p:cNvGrpSpPr>
            <a:grpSpLocks/>
          </p:cNvGrpSpPr>
          <p:nvPr/>
        </p:nvGrpSpPr>
        <p:grpSpPr bwMode="auto">
          <a:xfrm>
            <a:off x="5316827" y="2682173"/>
            <a:ext cx="1906134" cy="113650"/>
            <a:chOff x="3285934" y="3019392"/>
            <a:chExt cx="1358778" cy="91647"/>
          </a:xfrm>
        </p:grpSpPr>
        <p:cxnSp>
          <p:nvCxnSpPr>
            <p:cNvPr id="37907" name="Conector recto 38"/>
            <p:cNvCxnSpPr>
              <a:cxnSpLocks noChangeShapeType="1"/>
            </p:cNvCxnSpPr>
            <p:nvPr/>
          </p:nvCxnSpPr>
          <p:spPr bwMode="auto">
            <a:xfrm>
              <a:off x="3294815" y="3019392"/>
              <a:ext cx="1349897" cy="0"/>
            </a:xfrm>
            <a:prstGeom prst="line">
              <a:avLst/>
            </a:prstGeom>
            <a:noFill/>
            <a:ln w="9525">
              <a:solidFill>
                <a:schemeClr val="accent1"/>
              </a:solidFill>
              <a:round/>
              <a:headEnd/>
              <a:tailEnd/>
            </a:ln>
          </p:spPr>
        </p:cxnSp>
        <p:cxnSp>
          <p:nvCxnSpPr>
            <p:cNvPr id="37908" name="Conector recto 39"/>
            <p:cNvCxnSpPr>
              <a:cxnSpLocks noChangeShapeType="1"/>
            </p:cNvCxnSpPr>
            <p:nvPr/>
          </p:nvCxnSpPr>
          <p:spPr bwMode="auto">
            <a:xfrm flipH="1">
              <a:off x="4644094" y="3019392"/>
              <a:ext cx="618" cy="91647"/>
            </a:xfrm>
            <a:prstGeom prst="line">
              <a:avLst/>
            </a:prstGeom>
            <a:noFill/>
            <a:ln w="9525">
              <a:solidFill>
                <a:schemeClr val="accent1"/>
              </a:solidFill>
              <a:round/>
              <a:headEnd/>
              <a:tailEnd/>
            </a:ln>
          </p:spPr>
        </p:cxnSp>
        <p:cxnSp>
          <p:nvCxnSpPr>
            <p:cNvPr id="37909" name="Conector recto 40"/>
            <p:cNvCxnSpPr>
              <a:cxnSpLocks noChangeShapeType="1"/>
            </p:cNvCxnSpPr>
            <p:nvPr/>
          </p:nvCxnSpPr>
          <p:spPr bwMode="auto">
            <a:xfrm flipH="1">
              <a:off x="3285934" y="3019392"/>
              <a:ext cx="618" cy="91647"/>
            </a:xfrm>
            <a:prstGeom prst="line">
              <a:avLst/>
            </a:prstGeom>
            <a:noFill/>
            <a:ln w="9525">
              <a:solidFill>
                <a:schemeClr val="accent1"/>
              </a:solidFill>
              <a:round/>
              <a:headEnd/>
              <a:tailEnd/>
            </a:ln>
          </p:spPr>
        </p:cxnSp>
      </p:grpSp>
      <p:sp>
        <p:nvSpPr>
          <p:cNvPr id="26" name="Line 7"/>
          <p:cNvSpPr>
            <a:spLocks noChangeShapeType="1"/>
          </p:cNvSpPr>
          <p:nvPr/>
        </p:nvSpPr>
        <p:spPr bwMode="auto">
          <a:xfrm>
            <a:off x="1526363" y="3075423"/>
            <a:ext cx="0" cy="3199839"/>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dirty="0">
              <a:solidFill>
                <a:schemeClr val="accent2">
                  <a:lumMod val="50000"/>
                </a:schemeClr>
              </a:solidFill>
              <a:ea typeface="ＭＳ Ｐゴシック" charset="-128"/>
            </a:endParaRPr>
          </a:p>
        </p:txBody>
      </p:sp>
      <p:sp>
        <p:nvSpPr>
          <p:cNvPr id="27" name="Text Box 8"/>
          <p:cNvSpPr txBox="1">
            <a:spLocks noChangeArrowheads="1"/>
          </p:cNvSpPr>
          <p:nvPr/>
        </p:nvSpPr>
        <p:spPr bwMode="auto">
          <a:xfrm rot="16200000">
            <a:off x="259318" y="4501959"/>
            <a:ext cx="2180908" cy="338554"/>
          </a:xfrm>
          <a:prstGeom prst="rect">
            <a:avLst/>
          </a:prstGeom>
          <a:noFill/>
          <a:ln w="9525">
            <a:noFill/>
            <a:miter lim="800000"/>
            <a:headEnd/>
            <a:tailEnd/>
          </a:ln>
          <a:effectLst>
            <a:prstShdw prst="shdw17" dist="17961" dir="2700000">
              <a:srgbClr val="2F4D71"/>
            </a:prstShdw>
          </a:effectLst>
        </p:spPr>
        <p:txBody>
          <a:bodyPr wrap="square">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sp>
        <p:nvSpPr>
          <p:cNvPr id="5" name="4 Elipse"/>
          <p:cNvSpPr/>
          <p:nvPr/>
        </p:nvSpPr>
        <p:spPr bwMode="auto">
          <a:xfrm>
            <a:off x="2426174" y="4862134"/>
            <a:ext cx="1375856" cy="980863"/>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n-GB" sz="3200" b="1" i="0" u="sng" strike="noStrike" cap="none" normalizeH="0" baseline="0">
              <a:ln>
                <a:noFill/>
              </a:ln>
              <a:solidFill>
                <a:schemeClr val="accent2">
                  <a:lumMod val="50000"/>
                </a:schemeClr>
              </a:solidFill>
              <a:effectLst/>
              <a:latin typeface="Calibri" pitchFamily="34" charset="0"/>
            </a:endParaRPr>
          </a:p>
        </p:txBody>
      </p:sp>
      <p:sp>
        <p:nvSpPr>
          <p:cNvPr id="22" name="TextBox 4"/>
          <p:cNvSpPr txBox="1">
            <a:spLocks noChangeArrowheads="1"/>
          </p:cNvSpPr>
          <p:nvPr/>
        </p:nvSpPr>
        <p:spPr bwMode="auto">
          <a:xfrm>
            <a:off x="1288649" y="6411121"/>
            <a:ext cx="3007555"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Potter P. et al. Pediatr Allergy Immunol 2016:27:55-61</a:t>
            </a:r>
          </a:p>
        </p:txBody>
      </p:sp>
      <p:sp>
        <p:nvSpPr>
          <p:cNvPr id="4" name="TextBox 3">
            <a:extLst>
              <a:ext uri="{FF2B5EF4-FFF2-40B4-BE49-F238E27FC236}">
                <a16:creationId xmlns:a16="http://schemas.microsoft.com/office/drawing/2014/main" id="{B0587EE6-8852-0AF8-6377-381E1C903726}"/>
              </a:ext>
            </a:extLst>
          </p:cNvPr>
          <p:cNvSpPr txBox="1"/>
          <p:nvPr/>
        </p:nvSpPr>
        <p:spPr>
          <a:xfrm>
            <a:off x="2712841" y="2842276"/>
            <a:ext cx="720852" cy="184666"/>
          </a:xfrm>
          <a:prstGeom prst="rect">
            <a:avLst/>
          </a:prstGeom>
          <a:solidFill>
            <a:schemeClr val="bg1"/>
          </a:solidFill>
        </p:spPr>
        <p:txBody>
          <a:bodyPr wrap="square" lIns="0" tIns="0" rIns="0" bIns="0" rtlCol="0">
            <a:spAutoFit/>
          </a:bodyPr>
          <a:lstStyle/>
          <a:p>
            <a:pPr algn="ctr"/>
            <a:r>
              <a:rPr lang="en-GB" sz="1200" dirty="0" err="1">
                <a:solidFill>
                  <a:schemeClr val="accent2">
                    <a:lumMod val="50000"/>
                  </a:schemeClr>
                </a:solidFill>
              </a:rPr>
              <a:t>Rinialer</a:t>
            </a:r>
            <a:r>
              <a:rPr lang="en-GB" sz="1200" dirty="0">
                <a:solidFill>
                  <a:schemeClr val="accent2">
                    <a:lumMod val="50000"/>
                  </a:schemeClr>
                </a:solidFill>
              </a:rPr>
              <a:t>  </a:t>
            </a:r>
          </a:p>
        </p:txBody>
      </p:sp>
      <p:sp>
        <p:nvSpPr>
          <p:cNvPr id="24" name="Text Box 4">
            <a:extLst>
              <a:ext uri="{FF2B5EF4-FFF2-40B4-BE49-F238E27FC236}">
                <a16:creationId xmlns:a16="http://schemas.microsoft.com/office/drawing/2014/main" id="{56A66C35-B8D6-40AB-A22C-59C426BAED5C}"/>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2087537803"/>
      </p:ext>
    </p:extLst>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5" name="54 Conector recto"/>
          <p:cNvCxnSpPr/>
          <p:nvPr/>
        </p:nvCxnSpPr>
        <p:spPr bwMode="auto">
          <a:xfrm>
            <a:off x="8294595" y="4655736"/>
            <a:ext cx="0" cy="1073205"/>
          </a:xfrm>
          <a:prstGeom prst="line">
            <a:avLst/>
          </a:prstGeom>
          <a:solidFill>
            <a:srgbClr val="00B8FF"/>
          </a:solidFill>
          <a:ln w="9525" cap="flat" cmpd="sng" algn="ctr">
            <a:solidFill>
              <a:srgbClr val="00B050"/>
            </a:solidFill>
            <a:prstDash val="solid"/>
            <a:round/>
            <a:headEnd type="none" w="med" len="med"/>
            <a:tailEnd type="none" w="med" len="med"/>
          </a:ln>
          <a:effectLst/>
        </p:spPr>
      </p:cxnSp>
      <p:cxnSp>
        <p:nvCxnSpPr>
          <p:cNvPr id="4" name="3 Conector recto"/>
          <p:cNvCxnSpPr/>
          <p:nvPr/>
        </p:nvCxnSpPr>
        <p:spPr bwMode="auto">
          <a:xfrm>
            <a:off x="6160995" y="5316843"/>
            <a:ext cx="0" cy="399398"/>
          </a:xfrm>
          <a:prstGeom prst="line">
            <a:avLst/>
          </a:prstGeom>
          <a:solidFill>
            <a:srgbClr val="00B8FF"/>
          </a:solidFill>
          <a:ln w="9525" cap="flat" cmpd="sng" algn="ctr">
            <a:solidFill>
              <a:srgbClr val="00B050"/>
            </a:solidFill>
            <a:prstDash val="solid"/>
            <a:round/>
            <a:headEnd type="none" w="med" len="med"/>
            <a:tailEnd type="none" w="med" len="med"/>
          </a:ln>
          <a:effectLst/>
        </p:spPr>
      </p:cxnSp>
      <p:graphicFrame>
        <p:nvGraphicFramePr>
          <p:cNvPr id="37" name="36 Gráfico"/>
          <p:cNvGraphicFramePr/>
          <p:nvPr>
            <p:extLst>
              <p:ext uri="{D42A27DB-BD31-4B8C-83A1-F6EECF244321}">
                <p14:modId xmlns:p14="http://schemas.microsoft.com/office/powerpoint/2010/main" val="481843772"/>
              </p:ext>
            </p:extLst>
          </p:nvPr>
        </p:nvGraphicFramePr>
        <p:xfrm>
          <a:off x="5213797" y="2501538"/>
          <a:ext cx="3788228" cy="33738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6" name="35 Gráfico"/>
          <p:cNvGraphicFramePr/>
          <p:nvPr>
            <p:extLst>
              <p:ext uri="{D42A27DB-BD31-4B8C-83A1-F6EECF244321}">
                <p14:modId xmlns:p14="http://schemas.microsoft.com/office/powerpoint/2010/main" val="3748706600"/>
              </p:ext>
            </p:extLst>
          </p:nvPr>
        </p:nvGraphicFramePr>
        <p:xfrm>
          <a:off x="744535" y="2545082"/>
          <a:ext cx="3914089" cy="3330332"/>
        </p:xfrm>
        <a:graphic>
          <a:graphicData uri="http://schemas.openxmlformats.org/drawingml/2006/chart">
            <c:chart xmlns:c="http://schemas.openxmlformats.org/drawingml/2006/chart" xmlns:r="http://schemas.openxmlformats.org/officeDocument/2006/relationships" r:id="rId4"/>
          </a:graphicData>
        </a:graphic>
      </p:graphicFrame>
      <p:sp>
        <p:nvSpPr>
          <p:cNvPr id="44034" name="Text Box 48"/>
          <p:cNvSpPr txBox="1">
            <a:spLocks noChangeArrowheads="1"/>
          </p:cNvSpPr>
          <p:nvPr/>
        </p:nvSpPr>
        <p:spPr bwMode="auto">
          <a:xfrm>
            <a:off x="1283165" y="432996"/>
            <a:ext cx="7509995"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de Fase III em urticária crónica espontânea: Análise de subgrupos (I)</a:t>
            </a:r>
            <a:endParaRPr lang="pt-PT" altLang="es-ES" sz="3200" dirty="0">
              <a:solidFill>
                <a:schemeClr val="accent2">
                  <a:lumMod val="50000"/>
                </a:schemeClr>
              </a:solidFill>
              <a:ea typeface="ＭＳ Ｐゴシック" charset="-128"/>
            </a:endParaRPr>
          </a:p>
        </p:txBody>
      </p:sp>
      <p:grpSp>
        <p:nvGrpSpPr>
          <p:cNvPr id="2" name="Agrupar 2"/>
          <p:cNvGrpSpPr>
            <a:grpSpLocks/>
          </p:cNvGrpSpPr>
          <p:nvPr/>
        </p:nvGrpSpPr>
        <p:grpSpPr bwMode="auto">
          <a:xfrm>
            <a:off x="4343703" y="1614770"/>
            <a:ext cx="1133475" cy="622300"/>
            <a:chOff x="4071900" y="3509360"/>
            <a:chExt cx="1253407" cy="798826"/>
          </a:xfrm>
        </p:grpSpPr>
        <p:sp>
          <p:nvSpPr>
            <p:cNvPr id="10" name="Freeform 8"/>
            <p:cNvSpPr>
              <a:spLocks/>
            </p:cNvSpPr>
            <p:nvPr/>
          </p:nvSpPr>
          <p:spPr bwMode="gray">
            <a:xfrm>
              <a:off x="4071900" y="3509360"/>
              <a:ext cx="549462" cy="798826"/>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chemeClr val="accent2">
                    <a:gamma/>
                    <a:tint val="63529"/>
                    <a:invGamma/>
                  </a:schemeClr>
                </a:gs>
              </a:gsLst>
              <a:lin ang="0" scaled="1"/>
            </a:gradFill>
            <a:ln>
              <a:noFill/>
            </a:ln>
          </p:spPr>
          <p:txBody>
            <a:bodyPr/>
            <a:lstStyle/>
            <a:p>
              <a:pPr eaLnBrk="1" hangingPunct="1">
                <a:buClr>
                  <a:srgbClr val="000000"/>
                </a:buClr>
                <a:buSzPct val="100000"/>
                <a:buFont typeface="Calibri" panose="020F0502020204030204" pitchFamily="34" charset="0"/>
                <a:buNone/>
                <a:defRPr/>
              </a:pPr>
              <a:endParaRPr lang="es-ES">
                <a:solidFill>
                  <a:schemeClr val="accent2">
                    <a:lumMod val="50000"/>
                  </a:schemeClr>
                </a:solidFill>
              </a:endParaRPr>
            </a:p>
          </p:txBody>
        </p:sp>
        <p:sp>
          <p:nvSpPr>
            <p:cNvPr id="12" name="Freeform 10"/>
            <p:cNvSpPr>
              <a:spLocks/>
            </p:cNvSpPr>
            <p:nvPr/>
          </p:nvSpPr>
          <p:spPr bwMode="gray">
            <a:xfrm flipH="1">
              <a:off x="4775844" y="3509360"/>
              <a:ext cx="549463" cy="798826"/>
            </a:xfrm>
            <a:custGeom>
              <a:avLst/>
              <a:gdLst>
                <a:gd name="T0" fmla="*/ 580 w 580"/>
                <a:gd name="T1" fmla="*/ 0 h 798"/>
                <a:gd name="T2" fmla="*/ 578 w 580"/>
                <a:gd name="T3" fmla="*/ 90 h 798"/>
                <a:gd name="T4" fmla="*/ 568 w 580"/>
                <a:gd name="T5" fmla="*/ 174 h 798"/>
                <a:gd name="T6" fmla="*/ 552 w 580"/>
                <a:gd name="T7" fmla="*/ 252 h 798"/>
                <a:gd name="T8" fmla="*/ 526 w 580"/>
                <a:gd name="T9" fmla="*/ 324 h 798"/>
                <a:gd name="T10" fmla="*/ 494 w 580"/>
                <a:gd name="T11" fmla="*/ 390 h 798"/>
                <a:gd name="T12" fmla="*/ 452 w 580"/>
                <a:gd name="T13" fmla="*/ 450 h 798"/>
                <a:gd name="T14" fmla="*/ 402 w 580"/>
                <a:gd name="T15" fmla="*/ 508 h 798"/>
                <a:gd name="T16" fmla="*/ 342 w 580"/>
                <a:gd name="T17" fmla="*/ 560 h 798"/>
                <a:gd name="T18" fmla="*/ 270 w 580"/>
                <a:gd name="T19" fmla="*/ 610 h 798"/>
                <a:gd name="T20" fmla="*/ 188 w 580"/>
                <a:gd name="T21" fmla="*/ 656 h 798"/>
                <a:gd name="T22" fmla="*/ 188 w 580"/>
                <a:gd name="T23" fmla="*/ 798 h 798"/>
                <a:gd name="T24" fmla="*/ 0 w 580"/>
                <a:gd name="T25" fmla="*/ 514 h 798"/>
                <a:gd name="T26" fmla="*/ 188 w 580"/>
                <a:gd name="T27" fmla="*/ 230 h 798"/>
                <a:gd name="T28" fmla="*/ 188 w 580"/>
                <a:gd name="T29" fmla="*/ 372 h 798"/>
                <a:gd name="T30" fmla="*/ 224 w 580"/>
                <a:gd name="T31" fmla="*/ 368 h 798"/>
                <a:gd name="T32" fmla="*/ 264 w 580"/>
                <a:gd name="T33" fmla="*/ 356 h 798"/>
                <a:gd name="T34" fmla="*/ 306 w 580"/>
                <a:gd name="T35" fmla="*/ 336 h 798"/>
                <a:gd name="T36" fmla="*/ 348 w 580"/>
                <a:gd name="T37" fmla="*/ 310 h 798"/>
                <a:gd name="T38" fmla="*/ 392 w 580"/>
                <a:gd name="T39" fmla="*/ 280 h 798"/>
                <a:gd name="T40" fmla="*/ 432 w 580"/>
                <a:gd name="T41" fmla="*/ 246 h 798"/>
                <a:gd name="T42" fmla="*/ 472 w 580"/>
                <a:gd name="T43" fmla="*/ 208 h 798"/>
                <a:gd name="T44" fmla="*/ 506 w 580"/>
                <a:gd name="T45" fmla="*/ 166 h 798"/>
                <a:gd name="T46" fmla="*/ 536 w 580"/>
                <a:gd name="T47" fmla="*/ 124 h 798"/>
                <a:gd name="T48" fmla="*/ 558 w 580"/>
                <a:gd name="T49" fmla="*/ 82 h 798"/>
                <a:gd name="T50" fmla="*/ 574 w 580"/>
                <a:gd name="T51" fmla="*/ 40 h 798"/>
                <a:gd name="T52" fmla="*/ 578 w 580"/>
                <a:gd name="T53" fmla="*/ 0 h 798"/>
                <a:gd name="T54" fmla="*/ 580 w 580"/>
                <a:gd name="T55" fmla="*/ 0 h 7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a:noFill/>
            </a:ln>
          </p:spPr>
          <p:txBody>
            <a:bodyPr/>
            <a:lstStyle/>
            <a:p>
              <a:pPr eaLnBrk="1" hangingPunct="1">
                <a:buClr>
                  <a:srgbClr val="000000"/>
                </a:buClr>
                <a:buSzPct val="100000"/>
                <a:buFont typeface="Calibri" panose="020F0502020204030204" pitchFamily="34" charset="0"/>
                <a:buNone/>
                <a:defRPr/>
              </a:pPr>
              <a:endParaRPr lang="es-ES">
                <a:solidFill>
                  <a:schemeClr val="accent2">
                    <a:lumMod val="50000"/>
                  </a:schemeClr>
                </a:solidFill>
              </a:endParaRPr>
            </a:p>
          </p:txBody>
        </p:sp>
      </p:grpSp>
      <p:sp>
        <p:nvSpPr>
          <p:cNvPr id="29" name="7 Rectángulo redondeado"/>
          <p:cNvSpPr/>
          <p:nvPr/>
        </p:nvSpPr>
        <p:spPr bwMode="auto">
          <a:xfrm>
            <a:off x="6376083" y="1930496"/>
            <a:ext cx="1917512" cy="390525"/>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Clr>
                <a:srgbClr val="000000"/>
              </a:buClr>
              <a:buSzPct val="100000"/>
              <a:buFont typeface="Calibri" pitchFamily="34" charset="0"/>
              <a:buNone/>
            </a:pPr>
            <a:r>
              <a:rPr lang="pt-PT" altLang="es-ES" sz="1600" dirty="0">
                <a:solidFill>
                  <a:schemeClr val="accent2">
                    <a:lumMod val="50000"/>
                  </a:schemeClr>
                </a:solidFill>
              </a:rPr>
              <a:t>Dose 5 ml ≡ </a:t>
            </a:r>
            <a:r>
              <a:rPr lang="pt-PT" altLang="es-ES" sz="1600" dirty="0">
                <a:solidFill>
                  <a:schemeClr val="accent2">
                    <a:lumMod val="50000"/>
                  </a:schemeClr>
                </a:solidFill>
                <a:latin typeface="Microsoft Sans Serif" pitchFamily="34" charset="0"/>
              </a:rPr>
              <a:t>≥ </a:t>
            </a:r>
            <a:r>
              <a:rPr lang="pt-PT" altLang="es-ES" sz="1600" dirty="0">
                <a:solidFill>
                  <a:schemeClr val="accent2">
                    <a:lumMod val="50000"/>
                  </a:schemeClr>
                </a:solidFill>
              </a:rPr>
              <a:t>25 kg</a:t>
            </a:r>
            <a:endParaRPr lang="pt-PT" altLang="es-ES" sz="1100" dirty="0">
              <a:solidFill>
                <a:schemeClr val="accent2">
                  <a:lumMod val="50000"/>
                </a:schemeClr>
              </a:solidFill>
              <a:ea typeface="ＭＳ Ｐゴシック" charset="-128"/>
            </a:endParaRPr>
          </a:p>
        </p:txBody>
      </p:sp>
      <p:sp>
        <p:nvSpPr>
          <p:cNvPr id="30" name="7 Rectángulo redondeado"/>
          <p:cNvSpPr/>
          <p:nvPr/>
        </p:nvSpPr>
        <p:spPr bwMode="auto">
          <a:xfrm>
            <a:off x="1665204" y="1921612"/>
            <a:ext cx="1900864" cy="390525"/>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buClr>
                <a:srgbClr val="000000"/>
              </a:buClr>
              <a:buSzPct val="100000"/>
              <a:buFont typeface="Calibri" pitchFamily="34" charset="0"/>
              <a:buNone/>
              <a:defRPr/>
            </a:pPr>
            <a:r>
              <a:rPr lang="pt-PT" altLang="es-ES" sz="1600" dirty="0">
                <a:solidFill>
                  <a:schemeClr val="accent2">
                    <a:lumMod val="50000"/>
                  </a:schemeClr>
                </a:solidFill>
              </a:rPr>
              <a:t>Dose 2,5 ml ≡ </a:t>
            </a:r>
            <a:r>
              <a:rPr lang="pt-PT" altLang="es-ES" sz="1600" dirty="0">
                <a:solidFill>
                  <a:schemeClr val="accent2">
                    <a:lumMod val="50000"/>
                  </a:schemeClr>
                </a:solidFill>
                <a:latin typeface="Microsoft Sans Serif" pitchFamily="34" charset="0"/>
              </a:rPr>
              <a:t>&lt; </a:t>
            </a:r>
            <a:r>
              <a:rPr lang="pt-PT" altLang="es-ES" sz="1600" dirty="0">
                <a:solidFill>
                  <a:schemeClr val="accent2">
                    <a:lumMod val="50000"/>
                  </a:schemeClr>
                </a:solidFill>
              </a:rPr>
              <a:t>25 kg</a:t>
            </a:r>
            <a:endParaRPr lang="pt-PT" altLang="es-ES" sz="1100" dirty="0">
              <a:solidFill>
                <a:schemeClr val="accent2">
                  <a:lumMod val="50000"/>
                </a:schemeClr>
              </a:solidFill>
            </a:endParaRPr>
          </a:p>
        </p:txBody>
      </p:sp>
      <p:sp>
        <p:nvSpPr>
          <p:cNvPr id="44053" name="TextBox 3"/>
          <p:cNvSpPr txBox="1">
            <a:spLocks noChangeArrowheads="1"/>
          </p:cNvSpPr>
          <p:nvPr/>
        </p:nvSpPr>
        <p:spPr bwMode="auto">
          <a:xfrm rot="16200000">
            <a:off x="-972635" y="4048295"/>
            <a:ext cx="2972601" cy="553998"/>
          </a:xfrm>
          <a:prstGeom prst="rect">
            <a:avLst/>
          </a:prstGeom>
          <a:noFill/>
          <a:ln w="9525">
            <a:noFill/>
            <a:miter lim="800000"/>
            <a:headEnd/>
            <a:tailEnd/>
          </a:ln>
        </p:spPr>
        <p:txBody>
          <a:bodyPr wrap="square">
            <a:spAutoFit/>
          </a:bodyPr>
          <a:lstStyle/>
          <a:p>
            <a:pPr algn="ctr">
              <a:buClr>
                <a:srgbClr val="000000"/>
              </a:buClr>
              <a:buSzPct val="100000"/>
              <a:buFont typeface="Calibri" pitchFamily="34" charset="0"/>
              <a:buNone/>
            </a:pPr>
            <a:r>
              <a:rPr lang="pt-PT" altLang="es-ES" sz="1400" dirty="0">
                <a:solidFill>
                  <a:schemeClr val="accent2">
                    <a:lumMod val="50000"/>
                  </a:schemeClr>
                </a:solidFill>
              </a:rPr>
              <a:t>% Variação UAS7</a:t>
            </a:r>
            <a:br>
              <a:rPr>
                <a:solidFill>
                  <a:schemeClr val="accent2">
                    <a:lumMod val="50000"/>
                  </a:schemeClr>
                </a:solidFill>
              </a:rPr>
            </a:br>
            <a:r>
              <a:rPr lang="pt-PT" altLang="es-ES" sz="1400" dirty="0">
                <a:solidFill>
                  <a:schemeClr val="accent2">
                    <a:lumMod val="50000"/>
                  </a:schemeClr>
                </a:solidFill>
              </a:rPr>
              <a:t>(2,5 ml ≡ </a:t>
            </a:r>
            <a:r>
              <a:rPr lang="pt-PT" altLang="es-ES" sz="1600" dirty="0">
                <a:solidFill>
                  <a:schemeClr val="accent2">
                    <a:lumMod val="50000"/>
                  </a:schemeClr>
                </a:solidFill>
                <a:latin typeface="Microsoft Sans Serif" pitchFamily="34" charset="0"/>
              </a:rPr>
              <a:t>&lt; </a:t>
            </a:r>
            <a:r>
              <a:rPr lang="pt-PT" altLang="es-ES" sz="1400" dirty="0">
                <a:solidFill>
                  <a:schemeClr val="accent2">
                    <a:lumMod val="50000"/>
                  </a:schemeClr>
                </a:solidFill>
              </a:rPr>
              <a:t>25 kg)</a:t>
            </a:r>
            <a:endParaRPr lang="pt-PT" altLang="es-ES" sz="1050" dirty="0">
              <a:solidFill>
                <a:schemeClr val="accent2">
                  <a:lumMod val="50000"/>
                </a:schemeClr>
              </a:solidFill>
              <a:ea typeface="ＭＳ Ｐゴシック" charset="-128"/>
            </a:endParaRPr>
          </a:p>
        </p:txBody>
      </p:sp>
      <p:sp>
        <p:nvSpPr>
          <p:cNvPr id="44055" name="TextBox 3"/>
          <p:cNvSpPr txBox="1">
            <a:spLocks noChangeArrowheads="1"/>
          </p:cNvSpPr>
          <p:nvPr/>
        </p:nvSpPr>
        <p:spPr bwMode="auto">
          <a:xfrm>
            <a:off x="1393504" y="4920007"/>
            <a:ext cx="572593" cy="246221"/>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dirty="0">
                <a:solidFill>
                  <a:schemeClr val="accent2">
                    <a:lumMod val="50000"/>
                  </a:schemeClr>
                </a:solidFill>
              </a:rPr>
              <a:t>-52,4 %</a:t>
            </a:r>
          </a:p>
        </p:txBody>
      </p:sp>
      <p:sp>
        <p:nvSpPr>
          <p:cNvPr id="44056" name="TextBox 3"/>
          <p:cNvSpPr txBox="1">
            <a:spLocks noChangeArrowheads="1"/>
          </p:cNvSpPr>
          <p:nvPr/>
        </p:nvSpPr>
        <p:spPr bwMode="auto">
          <a:xfrm>
            <a:off x="2545187" y="4517237"/>
            <a:ext cx="572593" cy="246221"/>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dirty="0">
                <a:solidFill>
                  <a:schemeClr val="accent2">
                    <a:lumMod val="50000"/>
                  </a:schemeClr>
                </a:solidFill>
              </a:rPr>
              <a:t>-31,9 %</a:t>
            </a:r>
          </a:p>
        </p:txBody>
      </p:sp>
      <p:sp>
        <p:nvSpPr>
          <p:cNvPr id="44057" name="TextBox 3"/>
          <p:cNvSpPr txBox="1">
            <a:spLocks noChangeArrowheads="1"/>
          </p:cNvSpPr>
          <p:nvPr/>
        </p:nvSpPr>
        <p:spPr bwMode="auto">
          <a:xfrm>
            <a:off x="3688804" y="4409515"/>
            <a:ext cx="572593" cy="246221"/>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dirty="0">
                <a:solidFill>
                  <a:schemeClr val="accent2">
                    <a:lumMod val="50000"/>
                  </a:schemeClr>
                </a:solidFill>
              </a:rPr>
              <a:t>-49,9 %</a:t>
            </a:r>
          </a:p>
        </p:txBody>
      </p:sp>
      <p:sp>
        <p:nvSpPr>
          <p:cNvPr id="44046" name="TextBox 3"/>
          <p:cNvSpPr txBox="1">
            <a:spLocks noChangeArrowheads="1"/>
          </p:cNvSpPr>
          <p:nvPr/>
        </p:nvSpPr>
        <p:spPr bwMode="auto">
          <a:xfrm rot="16200000">
            <a:off x="3498465" y="4062081"/>
            <a:ext cx="2969391" cy="523220"/>
          </a:xfrm>
          <a:prstGeom prst="rect">
            <a:avLst/>
          </a:prstGeom>
          <a:noFill/>
          <a:ln w="9525">
            <a:noFill/>
            <a:miter lim="800000"/>
            <a:headEnd/>
            <a:tailEnd/>
          </a:ln>
        </p:spPr>
        <p:txBody>
          <a:bodyPr wrap="square">
            <a:spAutoFit/>
          </a:bodyPr>
          <a:lstStyle/>
          <a:p>
            <a:pPr algn="ctr">
              <a:buClr>
                <a:srgbClr val="000000"/>
              </a:buClr>
              <a:buSzPct val="100000"/>
              <a:buFont typeface="Calibri" pitchFamily="34" charset="0"/>
              <a:buNone/>
            </a:pPr>
            <a:r>
              <a:rPr lang="pt-PT" altLang="es-ES" sz="1400" dirty="0">
                <a:solidFill>
                  <a:schemeClr val="accent2">
                    <a:lumMod val="50000"/>
                  </a:schemeClr>
                </a:solidFill>
              </a:rPr>
              <a:t>% Variação UAS7</a:t>
            </a:r>
            <a:br>
              <a:rPr>
                <a:solidFill>
                  <a:schemeClr val="accent2">
                    <a:lumMod val="50000"/>
                  </a:schemeClr>
                </a:solidFill>
              </a:rPr>
            </a:br>
            <a:r>
              <a:rPr lang="pt-PT" altLang="es-ES" sz="1400" dirty="0">
                <a:solidFill>
                  <a:schemeClr val="accent2">
                    <a:lumMod val="50000"/>
                  </a:schemeClr>
                </a:solidFill>
              </a:rPr>
              <a:t>(5 ml ≡ </a:t>
            </a:r>
            <a:r>
              <a:rPr lang="pt-PT" altLang="es-ES" sz="1400" dirty="0">
                <a:solidFill>
                  <a:schemeClr val="accent2">
                    <a:lumMod val="50000"/>
                  </a:schemeClr>
                </a:solidFill>
                <a:latin typeface="Microsoft Sans Serif" pitchFamily="34" charset="0"/>
              </a:rPr>
              <a:t>≥ </a:t>
            </a:r>
            <a:r>
              <a:rPr lang="pt-PT" altLang="es-ES" sz="1400" dirty="0">
                <a:solidFill>
                  <a:schemeClr val="accent2">
                    <a:lumMod val="50000"/>
                  </a:schemeClr>
                </a:solidFill>
              </a:rPr>
              <a:t>25 kg)</a:t>
            </a:r>
            <a:endParaRPr lang="pt-PT" altLang="es-ES" sz="1050" dirty="0">
              <a:solidFill>
                <a:schemeClr val="accent2">
                  <a:lumMod val="50000"/>
                </a:schemeClr>
              </a:solidFill>
              <a:ea typeface="ＭＳ Ｐゴシック" charset="-128"/>
            </a:endParaRPr>
          </a:p>
        </p:txBody>
      </p:sp>
      <p:sp>
        <p:nvSpPr>
          <p:cNvPr id="44047" name="TextBox 3"/>
          <p:cNvSpPr txBox="1">
            <a:spLocks noChangeArrowheads="1"/>
          </p:cNvSpPr>
          <p:nvPr/>
        </p:nvSpPr>
        <p:spPr bwMode="auto">
          <a:xfrm>
            <a:off x="6291573" y="5716241"/>
            <a:ext cx="790601" cy="646331"/>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100" i="1" dirty="0">
                <a:solidFill>
                  <a:schemeClr val="accent2">
                    <a:lumMod val="50000"/>
                  </a:schemeClr>
                </a:solidFill>
              </a:rPr>
              <a:t>p</a:t>
            </a:r>
            <a:r>
              <a:rPr lang="pt-PT">
                <a:solidFill>
                  <a:schemeClr val="accent2">
                    <a:lumMod val="50000"/>
                  </a:schemeClr>
                </a:solidFill>
              </a:rPr>
              <a:t> </a:t>
            </a:r>
            <a:r>
              <a:rPr lang="pt-PT" altLang="es-ES" sz="1100" dirty="0">
                <a:solidFill>
                  <a:schemeClr val="accent2">
                    <a:lumMod val="50000"/>
                  </a:schemeClr>
                </a:solidFill>
              </a:rPr>
              <a:t>&lt; 0,001</a:t>
            </a:r>
          </a:p>
        </p:txBody>
      </p:sp>
      <p:sp>
        <p:nvSpPr>
          <p:cNvPr id="44048" name="TextBox 3"/>
          <p:cNvSpPr txBox="1">
            <a:spLocks noChangeArrowheads="1"/>
          </p:cNvSpPr>
          <p:nvPr/>
        </p:nvSpPr>
        <p:spPr bwMode="auto">
          <a:xfrm>
            <a:off x="5873095" y="4763458"/>
            <a:ext cx="575800" cy="246221"/>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dirty="0">
                <a:solidFill>
                  <a:schemeClr val="accent2">
                    <a:lumMod val="50000"/>
                  </a:schemeClr>
                </a:solidFill>
              </a:rPr>
              <a:t>-63,6 %</a:t>
            </a:r>
          </a:p>
        </p:txBody>
      </p:sp>
      <p:sp>
        <p:nvSpPr>
          <p:cNvPr id="44049" name="TextBox 3"/>
          <p:cNvSpPr txBox="1">
            <a:spLocks noChangeArrowheads="1"/>
          </p:cNvSpPr>
          <p:nvPr/>
        </p:nvSpPr>
        <p:spPr bwMode="auto">
          <a:xfrm>
            <a:off x="6943092" y="4004193"/>
            <a:ext cx="572593" cy="246221"/>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dirty="0">
                <a:solidFill>
                  <a:schemeClr val="accent2">
                    <a:lumMod val="50000"/>
                  </a:schemeClr>
                </a:solidFill>
              </a:rPr>
              <a:t>-27,2 %</a:t>
            </a:r>
          </a:p>
        </p:txBody>
      </p:sp>
      <p:sp>
        <p:nvSpPr>
          <p:cNvPr id="44050" name="TextBox 3"/>
          <p:cNvSpPr txBox="1">
            <a:spLocks noChangeArrowheads="1"/>
          </p:cNvSpPr>
          <p:nvPr/>
        </p:nvSpPr>
        <p:spPr bwMode="auto">
          <a:xfrm>
            <a:off x="8035828" y="4273505"/>
            <a:ext cx="572593" cy="246221"/>
          </a:xfrm>
          <a:prstGeom prst="rect">
            <a:avLst/>
          </a:prstGeom>
          <a:noFill/>
          <a:ln w="9525">
            <a:noFill/>
            <a:miter lim="800000"/>
            <a:headEnd/>
            <a:tailEnd/>
          </a:ln>
        </p:spPr>
        <p:txBody>
          <a:bodyPr wrap="none">
            <a:spAutoFit/>
          </a:bodyPr>
          <a:lstStyle/>
          <a:p>
            <a:pPr algn="ctr" eaLnBrk="1" hangingPunct="1">
              <a:buClr>
                <a:srgbClr val="000000"/>
              </a:buClr>
              <a:buSzPct val="100000"/>
              <a:buFont typeface="Calibri" pitchFamily="34" charset="0"/>
              <a:buNone/>
            </a:pPr>
            <a:r>
              <a:rPr lang="pt-PT" altLang="es-ES" sz="1000" dirty="0">
                <a:solidFill>
                  <a:schemeClr val="accent2">
                    <a:lumMod val="50000"/>
                  </a:schemeClr>
                </a:solidFill>
              </a:rPr>
              <a:t>-45,5 %</a:t>
            </a:r>
          </a:p>
        </p:txBody>
      </p:sp>
      <p:sp>
        <p:nvSpPr>
          <p:cNvPr id="31" name="30 Elipse"/>
          <p:cNvSpPr/>
          <p:nvPr/>
        </p:nvSpPr>
        <p:spPr bwMode="auto">
          <a:xfrm>
            <a:off x="1312814" y="4796170"/>
            <a:ext cx="894138" cy="520673"/>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n-GB" sz="2600" b="1" i="0" u="sng" strike="noStrike" cap="none" normalizeH="0" baseline="0">
              <a:ln>
                <a:noFill/>
              </a:ln>
              <a:solidFill>
                <a:schemeClr val="accent2">
                  <a:lumMod val="50000"/>
                </a:schemeClr>
              </a:solidFill>
              <a:effectLst/>
              <a:latin typeface="Calibri" pitchFamily="34" charset="0"/>
            </a:endParaRPr>
          </a:p>
        </p:txBody>
      </p:sp>
      <p:sp>
        <p:nvSpPr>
          <p:cNvPr id="32" name="31 Elipse"/>
          <p:cNvSpPr/>
          <p:nvPr/>
        </p:nvSpPr>
        <p:spPr bwMode="auto">
          <a:xfrm>
            <a:off x="5757470" y="4645555"/>
            <a:ext cx="894138" cy="520673"/>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n-GB" sz="2600" b="1" i="0" u="sng" strike="noStrike" cap="none" normalizeH="0" baseline="0">
              <a:ln>
                <a:noFill/>
              </a:ln>
              <a:solidFill>
                <a:schemeClr val="accent2">
                  <a:lumMod val="50000"/>
                </a:schemeClr>
              </a:solidFill>
              <a:effectLst/>
              <a:latin typeface="Calibri" pitchFamily="34" charset="0"/>
            </a:endParaRPr>
          </a:p>
        </p:txBody>
      </p:sp>
      <p:sp>
        <p:nvSpPr>
          <p:cNvPr id="23" name="TextBox 4"/>
          <p:cNvSpPr txBox="1">
            <a:spLocks noChangeArrowheads="1"/>
          </p:cNvSpPr>
          <p:nvPr/>
        </p:nvSpPr>
        <p:spPr bwMode="auto">
          <a:xfrm>
            <a:off x="1050867" y="6423662"/>
            <a:ext cx="1494320"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Dados Uriach em arquivo</a:t>
            </a:r>
          </a:p>
        </p:txBody>
      </p:sp>
      <p:cxnSp>
        <p:nvCxnSpPr>
          <p:cNvPr id="6" name="5 Conector recto"/>
          <p:cNvCxnSpPr/>
          <p:nvPr/>
        </p:nvCxnSpPr>
        <p:spPr bwMode="auto">
          <a:xfrm>
            <a:off x="6160995" y="5716241"/>
            <a:ext cx="1002300" cy="0"/>
          </a:xfrm>
          <a:prstGeom prst="line">
            <a:avLst/>
          </a:prstGeom>
          <a:solidFill>
            <a:srgbClr val="00B8FF"/>
          </a:solidFill>
          <a:ln w="9525" cap="flat" cmpd="sng" algn="ctr">
            <a:solidFill>
              <a:srgbClr val="00B050"/>
            </a:solidFill>
            <a:prstDash val="solid"/>
            <a:round/>
            <a:headEnd type="none" w="med" len="med"/>
            <a:tailEnd type="none" w="med" len="med"/>
          </a:ln>
          <a:effectLst/>
        </p:spPr>
      </p:cxnSp>
      <p:cxnSp>
        <p:nvCxnSpPr>
          <p:cNvPr id="46" name="45 Conector recto"/>
          <p:cNvCxnSpPr/>
          <p:nvPr/>
        </p:nvCxnSpPr>
        <p:spPr bwMode="auto">
          <a:xfrm>
            <a:off x="7164295" y="4210005"/>
            <a:ext cx="0" cy="1506236"/>
          </a:xfrm>
          <a:prstGeom prst="line">
            <a:avLst/>
          </a:prstGeom>
          <a:solidFill>
            <a:srgbClr val="00B8FF"/>
          </a:solidFill>
          <a:ln w="9525" cap="flat" cmpd="sng" algn="ctr">
            <a:solidFill>
              <a:srgbClr val="00B050"/>
            </a:solidFill>
            <a:prstDash val="solid"/>
            <a:round/>
            <a:headEnd type="none" w="med" len="med"/>
            <a:tailEnd type="none" w="med" len="med"/>
          </a:ln>
          <a:effectLst/>
        </p:spPr>
      </p:cxnSp>
      <p:sp>
        <p:nvSpPr>
          <p:cNvPr id="56" name="TextBox 3"/>
          <p:cNvSpPr txBox="1">
            <a:spLocks noChangeArrowheads="1"/>
          </p:cNvSpPr>
          <p:nvPr/>
        </p:nvSpPr>
        <p:spPr bwMode="auto">
          <a:xfrm>
            <a:off x="7421873" y="5728941"/>
            <a:ext cx="652743" cy="307777"/>
          </a:xfrm>
          <a:prstGeom prst="rect">
            <a:avLst/>
          </a:prstGeom>
          <a:noFill/>
          <a:ln w="9525">
            <a:noFill/>
            <a:miter lim="800000"/>
            <a:headEnd/>
            <a:tailEnd/>
          </a:ln>
        </p:spPr>
        <p:txBody>
          <a:bodyPr wrap="none">
            <a:spAutoFit/>
          </a:bodyPr>
          <a:lstStyle/>
          <a:p>
            <a:pPr eaLnBrk="1" hangingPunct="1">
              <a:buClr>
                <a:srgbClr val="000000"/>
              </a:buClr>
              <a:buSzPct val="100000"/>
              <a:buFont typeface="Calibri" pitchFamily="34" charset="0"/>
              <a:buNone/>
            </a:pPr>
            <a:r>
              <a:rPr lang="pt-PT" altLang="es-ES" sz="1400" i="1" dirty="0">
                <a:solidFill>
                  <a:schemeClr val="accent2">
                    <a:lumMod val="50000"/>
                  </a:schemeClr>
                </a:solidFill>
              </a:rPr>
              <a:t>p</a:t>
            </a:r>
            <a:r>
              <a:rPr lang="pt-PT" altLang="es-ES" sz="1400" dirty="0">
                <a:solidFill>
                  <a:schemeClr val="accent2">
                    <a:lumMod val="50000"/>
                  </a:schemeClr>
                </a:solidFill>
              </a:rPr>
              <a:t> = NS</a:t>
            </a:r>
          </a:p>
        </p:txBody>
      </p:sp>
      <p:cxnSp>
        <p:nvCxnSpPr>
          <p:cNvPr id="58" name="57 Conector recto"/>
          <p:cNvCxnSpPr/>
          <p:nvPr/>
        </p:nvCxnSpPr>
        <p:spPr bwMode="auto">
          <a:xfrm>
            <a:off x="7291295" y="5728941"/>
            <a:ext cx="1002300" cy="0"/>
          </a:xfrm>
          <a:prstGeom prst="line">
            <a:avLst/>
          </a:prstGeom>
          <a:solidFill>
            <a:srgbClr val="00B8FF"/>
          </a:solidFill>
          <a:ln w="9525" cap="flat" cmpd="sng" algn="ctr">
            <a:solidFill>
              <a:srgbClr val="00B050"/>
            </a:solidFill>
            <a:prstDash val="solid"/>
            <a:round/>
            <a:headEnd type="none" w="med" len="med"/>
            <a:tailEnd type="none" w="med" len="med"/>
          </a:ln>
          <a:effectLst/>
        </p:spPr>
      </p:cxnSp>
      <p:cxnSp>
        <p:nvCxnSpPr>
          <p:cNvPr id="59" name="58 Conector recto"/>
          <p:cNvCxnSpPr/>
          <p:nvPr/>
        </p:nvCxnSpPr>
        <p:spPr bwMode="auto">
          <a:xfrm>
            <a:off x="7291295" y="4222705"/>
            <a:ext cx="0" cy="1506236"/>
          </a:xfrm>
          <a:prstGeom prst="line">
            <a:avLst/>
          </a:prstGeom>
          <a:solidFill>
            <a:srgbClr val="00B8FF"/>
          </a:solidFill>
          <a:ln w="9525" cap="flat" cmpd="sng" algn="ctr">
            <a:solidFill>
              <a:srgbClr val="00B050"/>
            </a:solidFill>
            <a:prstDash val="solid"/>
            <a:round/>
            <a:headEnd type="none" w="med" len="med"/>
            <a:tailEnd type="none" w="med" len="med"/>
          </a:ln>
          <a:effectLst/>
        </p:spPr>
      </p:cxnSp>
      <p:sp>
        <p:nvSpPr>
          <p:cNvPr id="33" name="Text Box 4">
            <a:extLst>
              <a:ext uri="{FF2B5EF4-FFF2-40B4-BE49-F238E27FC236}">
                <a16:creationId xmlns:a16="http://schemas.microsoft.com/office/drawing/2014/main" id="{C33F27F3-651C-47C9-ABA6-AA1987580C61}"/>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4146297262"/>
      </p:ext>
    </p:extLst>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24 Gráfico"/>
          <p:cNvGraphicFramePr/>
          <p:nvPr>
            <p:extLst>
              <p:ext uri="{D42A27DB-BD31-4B8C-83A1-F6EECF244321}">
                <p14:modId xmlns:p14="http://schemas.microsoft.com/office/powerpoint/2010/main" val="856830709"/>
              </p:ext>
            </p:extLst>
          </p:nvPr>
        </p:nvGraphicFramePr>
        <p:xfrm>
          <a:off x="811386" y="2723492"/>
          <a:ext cx="7576457" cy="3418114"/>
        </p:xfrm>
        <a:graphic>
          <a:graphicData uri="http://schemas.openxmlformats.org/drawingml/2006/chart">
            <c:chart xmlns:c="http://schemas.openxmlformats.org/drawingml/2006/chart" xmlns:r="http://schemas.openxmlformats.org/officeDocument/2006/relationships" r:id="rId3"/>
          </a:graphicData>
        </a:graphic>
      </p:graphicFrame>
      <p:sp>
        <p:nvSpPr>
          <p:cNvPr id="8" name="7 Rectángulo redondeado"/>
          <p:cNvSpPr/>
          <p:nvPr/>
        </p:nvSpPr>
        <p:spPr bwMode="auto">
          <a:xfrm>
            <a:off x="361688" y="1479532"/>
            <a:ext cx="8652387" cy="847952"/>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r>
              <a:rPr lang="pt-PT" altLang="es-ES" sz="2000" dirty="0" err="1">
                <a:solidFill>
                  <a:schemeClr val="accent2">
                    <a:lumMod val="50000"/>
                  </a:schemeClr>
                </a:solidFill>
              </a:rPr>
              <a:t>Rinialer</a:t>
            </a:r>
            <a:r>
              <a:rPr lang="pt-PT" altLang="es-ES" sz="2000" dirty="0">
                <a:solidFill>
                  <a:schemeClr val="accent2">
                    <a:lumMod val="50000"/>
                  </a:schemeClr>
                </a:solidFill>
              </a:rPr>
              <a:t> reduz significativamente o NÚMERO DE PÁPULAS (MNW)</a:t>
            </a:r>
            <a:br>
              <a:rPr lang="pt-PT" altLang="es-ES" sz="2000" dirty="0">
                <a:solidFill>
                  <a:schemeClr val="accent2">
                    <a:lumMod val="50000"/>
                  </a:schemeClr>
                </a:solidFill>
              </a:rPr>
            </a:br>
            <a:r>
              <a:rPr lang="pt-PT" altLang="es-ES" sz="2000" dirty="0">
                <a:solidFill>
                  <a:schemeClr val="accent2">
                    <a:lumMod val="50000"/>
                  </a:schemeClr>
                </a:solidFill>
              </a:rPr>
              <a:t>após 6 semanas (42 dias) de tratamento, em maior medida que</a:t>
            </a:r>
            <a:r>
              <a:rPr lang="pt-PT" sz="2000" dirty="0">
                <a:solidFill>
                  <a:schemeClr val="accent2">
                    <a:lumMod val="50000"/>
                  </a:schemeClr>
                </a:solidFill>
              </a:rPr>
              <a:t> </a:t>
            </a:r>
            <a:r>
              <a:rPr lang="pt-PT" altLang="es-ES" sz="2000" dirty="0">
                <a:solidFill>
                  <a:schemeClr val="accent2">
                    <a:lumMod val="50000"/>
                  </a:schemeClr>
                </a:solidFill>
              </a:rPr>
              <a:t>a desloratadina</a:t>
            </a:r>
          </a:p>
        </p:txBody>
      </p:sp>
      <p:sp>
        <p:nvSpPr>
          <p:cNvPr id="38916" name="Text Box 48"/>
          <p:cNvSpPr txBox="1">
            <a:spLocks noChangeArrowheads="1"/>
          </p:cNvSpPr>
          <p:nvPr/>
        </p:nvSpPr>
        <p:spPr bwMode="auto">
          <a:xfrm>
            <a:off x="1297430" y="429584"/>
            <a:ext cx="7612206" cy="984885"/>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sz="3200" dirty="0">
                <a:solidFill>
                  <a:schemeClr val="accent2">
                    <a:lumMod val="50000"/>
                  </a:schemeClr>
                </a:solidFill>
              </a:rPr>
              <a:t>Estudo da Fase III em urticária crónica espontânea:</a:t>
            </a:r>
            <a:r>
              <a:rPr lang="pt-PT" altLang="es-ES" sz="2800" dirty="0">
                <a:solidFill>
                  <a:schemeClr val="accent2">
                    <a:lumMod val="50000"/>
                  </a:schemeClr>
                </a:solidFill>
              </a:rPr>
              <a:t> Resultados (II)</a:t>
            </a:r>
            <a:endParaRPr lang="pt-PT" altLang="es-ES" sz="2800" dirty="0">
              <a:solidFill>
                <a:schemeClr val="accent2">
                  <a:lumMod val="50000"/>
                </a:schemeClr>
              </a:solidFill>
              <a:ea typeface="ＭＳ Ｐゴシック" charset="-128"/>
            </a:endParaRPr>
          </a:p>
        </p:txBody>
      </p:sp>
      <p:sp>
        <p:nvSpPr>
          <p:cNvPr id="38919" name="TextBox 3"/>
          <p:cNvSpPr txBox="1">
            <a:spLocks noChangeArrowheads="1"/>
          </p:cNvSpPr>
          <p:nvPr/>
        </p:nvSpPr>
        <p:spPr bwMode="auto">
          <a:xfrm>
            <a:off x="2457842" y="5206543"/>
            <a:ext cx="1000670" cy="369332"/>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800" dirty="0">
                <a:solidFill>
                  <a:schemeClr val="accent2">
                    <a:lumMod val="50000"/>
                  </a:schemeClr>
                </a:solidFill>
              </a:rPr>
              <a:t>-56,7 %</a:t>
            </a:r>
          </a:p>
        </p:txBody>
      </p:sp>
      <p:sp>
        <p:nvSpPr>
          <p:cNvPr id="38920" name="TextBox 3"/>
          <p:cNvSpPr txBox="1">
            <a:spLocks noChangeArrowheads="1"/>
          </p:cNvSpPr>
          <p:nvPr/>
        </p:nvSpPr>
        <p:spPr bwMode="auto">
          <a:xfrm>
            <a:off x="4520766" y="3754036"/>
            <a:ext cx="1000670" cy="338554"/>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600" dirty="0">
                <a:solidFill>
                  <a:schemeClr val="accent2">
                    <a:lumMod val="50000"/>
                  </a:schemeClr>
                </a:solidFill>
              </a:rPr>
              <a:t>-22,7 %</a:t>
            </a:r>
          </a:p>
        </p:txBody>
      </p:sp>
      <p:sp>
        <p:nvSpPr>
          <p:cNvPr id="38921" name="TextBox 3"/>
          <p:cNvSpPr txBox="1">
            <a:spLocks noChangeArrowheads="1"/>
          </p:cNvSpPr>
          <p:nvPr/>
        </p:nvSpPr>
        <p:spPr bwMode="auto">
          <a:xfrm>
            <a:off x="6684710" y="4249703"/>
            <a:ext cx="1000670" cy="338554"/>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600" dirty="0">
                <a:solidFill>
                  <a:schemeClr val="accent2">
                    <a:lumMod val="50000"/>
                  </a:schemeClr>
                </a:solidFill>
              </a:rPr>
              <a:t>-49,4 %</a:t>
            </a:r>
          </a:p>
        </p:txBody>
      </p:sp>
      <p:sp>
        <p:nvSpPr>
          <p:cNvPr id="38922" name="TextBox 3"/>
          <p:cNvSpPr txBox="1">
            <a:spLocks noChangeArrowheads="1"/>
          </p:cNvSpPr>
          <p:nvPr/>
        </p:nvSpPr>
        <p:spPr bwMode="auto">
          <a:xfrm>
            <a:off x="3477403" y="2401208"/>
            <a:ext cx="1049594" cy="283798"/>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200" dirty="0">
                <a:solidFill>
                  <a:schemeClr val="accent2">
                    <a:lumMod val="50000"/>
                  </a:schemeClr>
                </a:solidFill>
              </a:rPr>
              <a:t>P &lt; 0,001</a:t>
            </a:r>
          </a:p>
        </p:txBody>
      </p:sp>
      <p:sp>
        <p:nvSpPr>
          <p:cNvPr id="38923" name="TextBox 3"/>
          <p:cNvSpPr txBox="1">
            <a:spLocks noChangeArrowheads="1"/>
          </p:cNvSpPr>
          <p:nvPr/>
        </p:nvSpPr>
        <p:spPr bwMode="auto">
          <a:xfrm>
            <a:off x="5540625" y="2390200"/>
            <a:ext cx="1053662" cy="283798"/>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200" dirty="0">
                <a:solidFill>
                  <a:schemeClr val="accent2">
                    <a:lumMod val="50000"/>
                  </a:schemeClr>
                </a:solidFill>
              </a:rPr>
              <a:t>P = 0,003</a:t>
            </a:r>
          </a:p>
        </p:txBody>
      </p:sp>
      <p:grpSp>
        <p:nvGrpSpPr>
          <p:cNvPr id="2" name="Agrupar 60418"/>
          <p:cNvGrpSpPr>
            <a:grpSpLocks/>
          </p:cNvGrpSpPr>
          <p:nvPr/>
        </p:nvGrpSpPr>
        <p:grpSpPr bwMode="auto">
          <a:xfrm>
            <a:off x="3024717" y="2647804"/>
            <a:ext cx="1871778" cy="109132"/>
            <a:chOff x="3285934" y="3019392"/>
            <a:chExt cx="1358778" cy="91647"/>
          </a:xfrm>
        </p:grpSpPr>
        <p:cxnSp>
          <p:nvCxnSpPr>
            <p:cNvPr id="38934" name="Conector recto 24"/>
            <p:cNvCxnSpPr>
              <a:cxnSpLocks noChangeShapeType="1"/>
            </p:cNvCxnSpPr>
            <p:nvPr/>
          </p:nvCxnSpPr>
          <p:spPr bwMode="auto">
            <a:xfrm>
              <a:off x="3294815" y="3019392"/>
              <a:ext cx="1349897" cy="0"/>
            </a:xfrm>
            <a:prstGeom prst="line">
              <a:avLst/>
            </a:prstGeom>
            <a:noFill/>
            <a:ln w="9525">
              <a:solidFill>
                <a:schemeClr val="accent1"/>
              </a:solidFill>
              <a:round/>
              <a:headEnd/>
              <a:tailEnd/>
            </a:ln>
          </p:spPr>
        </p:cxnSp>
        <p:cxnSp>
          <p:nvCxnSpPr>
            <p:cNvPr id="38935" name="Conector recto 26"/>
            <p:cNvCxnSpPr>
              <a:cxnSpLocks noChangeShapeType="1"/>
            </p:cNvCxnSpPr>
            <p:nvPr/>
          </p:nvCxnSpPr>
          <p:spPr bwMode="auto">
            <a:xfrm flipH="1">
              <a:off x="4644094" y="3019392"/>
              <a:ext cx="618" cy="91647"/>
            </a:xfrm>
            <a:prstGeom prst="line">
              <a:avLst/>
            </a:prstGeom>
            <a:noFill/>
            <a:ln w="9525">
              <a:solidFill>
                <a:schemeClr val="accent1"/>
              </a:solidFill>
              <a:round/>
              <a:headEnd/>
              <a:tailEnd/>
            </a:ln>
          </p:spPr>
        </p:cxnSp>
        <p:cxnSp>
          <p:nvCxnSpPr>
            <p:cNvPr id="38936" name="Conector recto 35"/>
            <p:cNvCxnSpPr>
              <a:cxnSpLocks noChangeShapeType="1"/>
            </p:cNvCxnSpPr>
            <p:nvPr/>
          </p:nvCxnSpPr>
          <p:spPr bwMode="auto">
            <a:xfrm flipH="1">
              <a:off x="3285934" y="3019392"/>
              <a:ext cx="618" cy="91647"/>
            </a:xfrm>
            <a:prstGeom prst="line">
              <a:avLst/>
            </a:prstGeom>
            <a:noFill/>
            <a:ln w="9525">
              <a:solidFill>
                <a:schemeClr val="accent1"/>
              </a:solidFill>
              <a:round/>
              <a:headEnd/>
              <a:tailEnd/>
            </a:ln>
          </p:spPr>
        </p:cxnSp>
      </p:grpSp>
      <p:grpSp>
        <p:nvGrpSpPr>
          <p:cNvPr id="3" name="Agrupar 37"/>
          <p:cNvGrpSpPr>
            <a:grpSpLocks/>
          </p:cNvGrpSpPr>
          <p:nvPr/>
        </p:nvGrpSpPr>
        <p:grpSpPr bwMode="auto">
          <a:xfrm>
            <a:off x="5163554" y="2647804"/>
            <a:ext cx="1869591" cy="109132"/>
            <a:chOff x="3285934" y="3019392"/>
            <a:chExt cx="1358778" cy="91647"/>
          </a:xfrm>
        </p:grpSpPr>
        <p:cxnSp>
          <p:nvCxnSpPr>
            <p:cNvPr id="38931" name="Conector recto 38"/>
            <p:cNvCxnSpPr>
              <a:cxnSpLocks noChangeShapeType="1"/>
            </p:cNvCxnSpPr>
            <p:nvPr/>
          </p:nvCxnSpPr>
          <p:spPr bwMode="auto">
            <a:xfrm>
              <a:off x="3294815" y="3019392"/>
              <a:ext cx="1349897" cy="0"/>
            </a:xfrm>
            <a:prstGeom prst="line">
              <a:avLst/>
            </a:prstGeom>
            <a:noFill/>
            <a:ln w="9525">
              <a:solidFill>
                <a:schemeClr val="accent1"/>
              </a:solidFill>
              <a:round/>
              <a:headEnd/>
              <a:tailEnd/>
            </a:ln>
          </p:spPr>
        </p:cxnSp>
        <p:cxnSp>
          <p:nvCxnSpPr>
            <p:cNvPr id="38932" name="Conector recto 39"/>
            <p:cNvCxnSpPr>
              <a:cxnSpLocks noChangeShapeType="1"/>
            </p:cNvCxnSpPr>
            <p:nvPr/>
          </p:nvCxnSpPr>
          <p:spPr bwMode="auto">
            <a:xfrm flipH="1">
              <a:off x="4644094" y="3019392"/>
              <a:ext cx="618" cy="91647"/>
            </a:xfrm>
            <a:prstGeom prst="line">
              <a:avLst/>
            </a:prstGeom>
            <a:noFill/>
            <a:ln w="9525">
              <a:solidFill>
                <a:schemeClr val="accent1"/>
              </a:solidFill>
              <a:round/>
              <a:headEnd/>
              <a:tailEnd/>
            </a:ln>
          </p:spPr>
        </p:cxnSp>
        <p:cxnSp>
          <p:nvCxnSpPr>
            <p:cNvPr id="38933" name="Conector recto 40"/>
            <p:cNvCxnSpPr>
              <a:cxnSpLocks noChangeShapeType="1"/>
            </p:cNvCxnSpPr>
            <p:nvPr/>
          </p:nvCxnSpPr>
          <p:spPr bwMode="auto">
            <a:xfrm flipH="1">
              <a:off x="3285934" y="3019392"/>
              <a:ext cx="618" cy="91647"/>
            </a:xfrm>
            <a:prstGeom prst="line">
              <a:avLst/>
            </a:prstGeom>
            <a:noFill/>
            <a:ln w="9525">
              <a:solidFill>
                <a:schemeClr val="accent1"/>
              </a:solidFill>
              <a:round/>
              <a:headEnd/>
              <a:tailEnd/>
            </a:ln>
          </p:spPr>
        </p:cxnSp>
      </p:grpSp>
      <p:sp>
        <p:nvSpPr>
          <p:cNvPr id="24" name="Line 7"/>
          <p:cNvSpPr>
            <a:spLocks noChangeShapeType="1"/>
          </p:cNvSpPr>
          <p:nvPr/>
        </p:nvSpPr>
        <p:spPr bwMode="auto">
          <a:xfrm>
            <a:off x="1513415" y="3028721"/>
            <a:ext cx="0" cy="3072628"/>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6" name="Text Box 8"/>
          <p:cNvSpPr txBox="1">
            <a:spLocks noChangeArrowheads="1"/>
          </p:cNvSpPr>
          <p:nvPr/>
        </p:nvSpPr>
        <p:spPr bwMode="auto">
          <a:xfrm rot="16200000">
            <a:off x="288828" y="4263272"/>
            <a:ext cx="2094204" cy="338554"/>
          </a:xfrm>
          <a:prstGeom prst="rect">
            <a:avLst/>
          </a:prstGeom>
          <a:noFill/>
          <a:ln w="9525">
            <a:noFill/>
            <a:miter lim="800000"/>
            <a:headEnd/>
            <a:tailEnd/>
          </a:ln>
          <a:effectLst>
            <a:prstShdw prst="shdw17" dist="17961" dir="2700000">
              <a:srgbClr val="2F4D71"/>
            </a:prstShdw>
          </a:effectLst>
        </p:spPr>
        <p:txBody>
          <a:bodyPr wrap="square">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sp>
        <p:nvSpPr>
          <p:cNvPr id="27" name="26 Elipse"/>
          <p:cNvSpPr/>
          <p:nvPr/>
        </p:nvSpPr>
        <p:spPr bwMode="auto">
          <a:xfrm>
            <a:off x="2349545" y="5088855"/>
            <a:ext cx="1231605" cy="617127"/>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n-GB" sz="3200" b="1" i="0" u="sng" strike="noStrike" cap="none" normalizeH="0" baseline="0">
              <a:ln>
                <a:noFill/>
              </a:ln>
              <a:solidFill>
                <a:schemeClr val="accent2">
                  <a:lumMod val="50000"/>
                </a:schemeClr>
              </a:solidFill>
              <a:effectLst/>
              <a:latin typeface="Calibri" pitchFamily="34" charset="0"/>
            </a:endParaRPr>
          </a:p>
        </p:txBody>
      </p:sp>
      <p:sp>
        <p:nvSpPr>
          <p:cNvPr id="23" name="TextBox 4"/>
          <p:cNvSpPr txBox="1">
            <a:spLocks noChangeArrowheads="1"/>
          </p:cNvSpPr>
          <p:nvPr/>
        </p:nvSpPr>
        <p:spPr bwMode="auto">
          <a:xfrm>
            <a:off x="1128153" y="6380135"/>
            <a:ext cx="3007555"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Potter P. et al. Pediatr Allergy Immunol 2016:27:55-61</a:t>
            </a:r>
          </a:p>
        </p:txBody>
      </p:sp>
      <p:sp>
        <p:nvSpPr>
          <p:cNvPr id="28" name="Text Box 4">
            <a:extLst>
              <a:ext uri="{FF2B5EF4-FFF2-40B4-BE49-F238E27FC236}">
                <a16:creationId xmlns:a16="http://schemas.microsoft.com/office/drawing/2014/main" id="{AEB754E0-485C-4BC8-A4C9-7CDFD3BE9E41}"/>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4140522889"/>
      </p:ext>
    </p:extLst>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24 Gráfico"/>
          <p:cNvGraphicFramePr/>
          <p:nvPr>
            <p:extLst>
              <p:ext uri="{D42A27DB-BD31-4B8C-83A1-F6EECF244321}">
                <p14:modId xmlns:p14="http://schemas.microsoft.com/office/powerpoint/2010/main" val="795547776"/>
              </p:ext>
            </p:extLst>
          </p:nvPr>
        </p:nvGraphicFramePr>
        <p:xfrm>
          <a:off x="839155" y="2723726"/>
          <a:ext cx="7904113" cy="3581400"/>
        </p:xfrm>
        <a:graphic>
          <a:graphicData uri="http://schemas.openxmlformats.org/drawingml/2006/chart">
            <c:chart xmlns:c="http://schemas.openxmlformats.org/drawingml/2006/chart" xmlns:r="http://schemas.openxmlformats.org/officeDocument/2006/relationships" r:id="rId3"/>
          </a:graphicData>
        </a:graphic>
      </p:graphicFrame>
      <p:sp>
        <p:nvSpPr>
          <p:cNvPr id="8" name="7 Rectángulo redondeado"/>
          <p:cNvSpPr/>
          <p:nvPr/>
        </p:nvSpPr>
        <p:spPr bwMode="auto">
          <a:xfrm>
            <a:off x="500863" y="1514492"/>
            <a:ext cx="8399915" cy="737899"/>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a:defRPr/>
            </a:pPr>
            <a:r>
              <a:rPr lang="pt-PT" altLang="es-ES" sz="1800" dirty="0" err="1">
                <a:solidFill>
                  <a:schemeClr val="accent2">
                    <a:lumMod val="50000"/>
                  </a:schemeClr>
                </a:solidFill>
              </a:rPr>
              <a:t>Rinialer</a:t>
            </a:r>
            <a:r>
              <a:rPr lang="pt-PT" altLang="es-ES" sz="1800" dirty="0">
                <a:solidFill>
                  <a:schemeClr val="accent2">
                    <a:lumMod val="50000"/>
                  </a:schemeClr>
                </a:solidFill>
              </a:rPr>
              <a:t> (mas não desloratadina) reduz significativamente o PRURIDO (MPS)</a:t>
            </a:r>
            <a:br>
              <a:rPr lang="pt-PT" altLang="es-ES" sz="1800" dirty="0">
                <a:solidFill>
                  <a:schemeClr val="accent2">
                    <a:lumMod val="50000"/>
                  </a:schemeClr>
                </a:solidFill>
              </a:rPr>
            </a:br>
            <a:r>
              <a:rPr lang="pt-PT" altLang="es-ES" sz="1800" dirty="0">
                <a:solidFill>
                  <a:schemeClr val="accent2">
                    <a:lumMod val="50000"/>
                  </a:schemeClr>
                </a:solidFill>
              </a:rPr>
              <a:t>em comparação com o placebo após 6 semanas (42 dias) de tratamento</a:t>
            </a:r>
          </a:p>
        </p:txBody>
      </p:sp>
      <p:sp>
        <p:nvSpPr>
          <p:cNvPr id="39940" name="Text Box 48"/>
          <p:cNvSpPr txBox="1">
            <a:spLocks noChangeArrowheads="1"/>
          </p:cNvSpPr>
          <p:nvPr/>
        </p:nvSpPr>
        <p:spPr bwMode="auto">
          <a:xfrm>
            <a:off x="1223034" y="444305"/>
            <a:ext cx="7887034" cy="984885"/>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sz="3200" dirty="0">
                <a:solidFill>
                  <a:schemeClr val="accent2">
                    <a:lumMod val="50000"/>
                  </a:schemeClr>
                </a:solidFill>
              </a:rPr>
              <a:t>Estudo de Fase III em urticária crónica espontânea:</a:t>
            </a:r>
            <a:r>
              <a:rPr lang="pt-PT" altLang="es-ES" sz="2800" dirty="0">
                <a:solidFill>
                  <a:schemeClr val="accent2">
                    <a:lumMod val="50000"/>
                  </a:schemeClr>
                </a:solidFill>
              </a:rPr>
              <a:t> Resultados (III)</a:t>
            </a:r>
            <a:endParaRPr lang="pt-PT" altLang="es-ES" sz="2800" dirty="0">
              <a:solidFill>
                <a:schemeClr val="accent2">
                  <a:lumMod val="50000"/>
                </a:schemeClr>
              </a:solidFill>
              <a:ea typeface="ＭＳ Ｐゴシック" charset="-128"/>
            </a:endParaRPr>
          </a:p>
        </p:txBody>
      </p:sp>
      <p:sp>
        <p:nvSpPr>
          <p:cNvPr id="39943" name="TextBox 3"/>
          <p:cNvSpPr txBox="1">
            <a:spLocks noChangeArrowheads="1"/>
          </p:cNvSpPr>
          <p:nvPr/>
        </p:nvSpPr>
        <p:spPr bwMode="auto">
          <a:xfrm>
            <a:off x="2536013" y="5223823"/>
            <a:ext cx="1033738" cy="369332"/>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800" dirty="0">
                <a:solidFill>
                  <a:schemeClr val="accent2">
                    <a:lumMod val="50000"/>
                  </a:schemeClr>
                </a:solidFill>
              </a:rPr>
              <a:t>-56,8 %</a:t>
            </a:r>
          </a:p>
        </p:txBody>
      </p:sp>
      <p:sp>
        <p:nvSpPr>
          <p:cNvPr id="39944" name="TextBox 3"/>
          <p:cNvSpPr txBox="1">
            <a:spLocks noChangeArrowheads="1"/>
          </p:cNvSpPr>
          <p:nvPr/>
        </p:nvSpPr>
        <p:spPr bwMode="auto">
          <a:xfrm>
            <a:off x="4721112" y="3749164"/>
            <a:ext cx="1033738" cy="338554"/>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600" dirty="0">
                <a:solidFill>
                  <a:schemeClr val="accent2">
                    <a:lumMod val="50000"/>
                  </a:schemeClr>
                </a:solidFill>
              </a:rPr>
              <a:t>-33,4 %</a:t>
            </a:r>
          </a:p>
        </p:txBody>
      </p:sp>
      <p:sp>
        <p:nvSpPr>
          <p:cNvPr id="39945" name="TextBox 3"/>
          <p:cNvSpPr txBox="1">
            <a:spLocks noChangeArrowheads="1"/>
          </p:cNvSpPr>
          <p:nvPr/>
        </p:nvSpPr>
        <p:spPr bwMode="auto">
          <a:xfrm>
            <a:off x="6961149" y="4203367"/>
            <a:ext cx="1033738" cy="338554"/>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600" dirty="0">
                <a:solidFill>
                  <a:schemeClr val="accent2">
                    <a:lumMod val="50000"/>
                  </a:schemeClr>
                </a:solidFill>
              </a:rPr>
              <a:t>-46,7 %</a:t>
            </a:r>
          </a:p>
        </p:txBody>
      </p:sp>
      <p:sp>
        <p:nvSpPr>
          <p:cNvPr id="39946" name="TextBox 3"/>
          <p:cNvSpPr txBox="1">
            <a:spLocks noChangeArrowheads="1"/>
          </p:cNvSpPr>
          <p:nvPr/>
        </p:nvSpPr>
        <p:spPr bwMode="auto">
          <a:xfrm>
            <a:off x="3519789" y="2430148"/>
            <a:ext cx="1088482" cy="287053"/>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200" dirty="0">
                <a:solidFill>
                  <a:schemeClr val="accent2">
                    <a:lumMod val="50000"/>
                  </a:schemeClr>
                </a:solidFill>
              </a:rPr>
              <a:t>P = 0,005</a:t>
            </a:r>
          </a:p>
        </p:txBody>
      </p:sp>
      <p:sp>
        <p:nvSpPr>
          <p:cNvPr id="39947" name="TextBox 3"/>
          <p:cNvSpPr txBox="1">
            <a:spLocks noChangeArrowheads="1"/>
          </p:cNvSpPr>
          <p:nvPr/>
        </p:nvSpPr>
        <p:spPr bwMode="auto">
          <a:xfrm>
            <a:off x="5861148" y="2430148"/>
            <a:ext cx="828451" cy="287053"/>
          </a:xfrm>
          <a:prstGeom prst="rect">
            <a:avLst/>
          </a:prstGeom>
          <a:noFill/>
          <a:ln w="9525">
            <a:noFill/>
            <a:miter lim="800000"/>
            <a:headEnd/>
            <a:tailEnd/>
          </a:ln>
        </p:spPr>
        <p:txBody>
          <a:bodyPr wrap="square">
            <a:spAutoFit/>
          </a:bodyPr>
          <a:lstStyle/>
          <a:p>
            <a:pPr algn="ctr" eaLnBrk="1" hangingPunct="1">
              <a:buClr>
                <a:srgbClr val="000000"/>
              </a:buClr>
              <a:buSzPct val="100000"/>
              <a:buFont typeface="Calibri" pitchFamily="34" charset="0"/>
              <a:buNone/>
            </a:pPr>
            <a:r>
              <a:rPr lang="pt-PT" altLang="es-ES" sz="1200" dirty="0">
                <a:solidFill>
                  <a:schemeClr val="accent2">
                    <a:lumMod val="50000"/>
                  </a:schemeClr>
                </a:solidFill>
              </a:rPr>
              <a:t>P = NS</a:t>
            </a:r>
          </a:p>
        </p:txBody>
      </p:sp>
      <p:grpSp>
        <p:nvGrpSpPr>
          <p:cNvPr id="2" name="Agrupar 60418"/>
          <p:cNvGrpSpPr>
            <a:grpSpLocks/>
          </p:cNvGrpSpPr>
          <p:nvPr/>
        </p:nvGrpSpPr>
        <p:grpSpPr bwMode="auto">
          <a:xfrm>
            <a:off x="3114577" y="2662773"/>
            <a:ext cx="1933632" cy="114345"/>
            <a:chOff x="3285934" y="3019392"/>
            <a:chExt cx="1358778" cy="91647"/>
          </a:xfrm>
        </p:grpSpPr>
        <p:cxnSp>
          <p:nvCxnSpPr>
            <p:cNvPr id="39958" name="Conector recto 24"/>
            <p:cNvCxnSpPr>
              <a:cxnSpLocks noChangeShapeType="1"/>
            </p:cNvCxnSpPr>
            <p:nvPr/>
          </p:nvCxnSpPr>
          <p:spPr bwMode="auto">
            <a:xfrm>
              <a:off x="3294815" y="3019392"/>
              <a:ext cx="1349897" cy="0"/>
            </a:xfrm>
            <a:prstGeom prst="line">
              <a:avLst/>
            </a:prstGeom>
            <a:noFill/>
            <a:ln w="9525">
              <a:solidFill>
                <a:schemeClr val="accent1"/>
              </a:solidFill>
              <a:round/>
              <a:headEnd/>
              <a:tailEnd/>
            </a:ln>
          </p:spPr>
        </p:cxnSp>
        <p:cxnSp>
          <p:nvCxnSpPr>
            <p:cNvPr id="39959" name="Conector recto 26"/>
            <p:cNvCxnSpPr>
              <a:cxnSpLocks noChangeShapeType="1"/>
            </p:cNvCxnSpPr>
            <p:nvPr/>
          </p:nvCxnSpPr>
          <p:spPr bwMode="auto">
            <a:xfrm flipH="1">
              <a:off x="4644094" y="3019392"/>
              <a:ext cx="618" cy="91647"/>
            </a:xfrm>
            <a:prstGeom prst="line">
              <a:avLst/>
            </a:prstGeom>
            <a:noFill/>
            <a:ln w="9525">
              <a:solidFill>
                <a:schemeClr val="accent1"/>
              </a:solidFill>
              <a:round/>
              <a:headEnd/>
              <a:tailEnd/>
            </a:ln>
          </p:spPr>
        </p:cxnSp>
        <p:cxnSp>
          <p:nvCxnSpPr>
            <p:cNvPr id="39960" name="Conector recto 35"/>
            <p:cNvCxnSpPr>
              <a:cxnSpLocks noChangeShapeType="1"/>
            </p:cNvCxnSpPr>
            <p:nvPr/>
          </p:nvCxnSpPr>
          <p:spPr bwMode="auto">
            <a:xfrm flipH="1">
              <a:off x="3285934" y="3019392"/>
              <a:ext cx="618" cy="91647"/>
            </a:xfrm>
            <a:prstGeom prst="line">
              <a:avLst/>
            </a:prstGeom>
            <a:noFill/>
            <a:ln w="9525">
              <a:solidFill>
                <a:schemeClr val="accent1"/>
              </a:solidFill>
              <a:round/>
              <a:headEnd/>
              <a:tailEnd/>
            </a:ln>
          </p:spPr>
        </p:cxnSp>
      </p:grpSp>
      <p:grpSp>
        <p:nvGrpSpPr>
          <p:cNvPr id="3" name="Agrupar 37"/>
          <p:cNvGrpSpPr>
            <a:grpSpLocks/>
          </p:cNvGrpSpPr>
          <p:nvPr/>
        </p:nvGrpSpPr>
        <p:grpSpPr bwMode="auto">
          <a:xfrm>
            <a:off x="5363268" y="2662773"/>
            <a:ext cx="1931373" cy="114345"/>
            <a:chOff x="3285934" y="3019392"/>
            <a:chExt cx="1358778" cy="91647"/>
          </a:xfrm>
        </p:grpSpPr>
        <p:cxnSp>
          <p:nvCxnSpPr>
            <p:cNvPr id="39955" name="Conector recto 38"/>
            <p:cNvCxnSpPr>
              <a:cxnSpLocks noChangeShapeType="1"/>
            </p:cNvCxnSpPr>
            <p:nvPr/>
          </p:nvCxnSpPr>
          <p:spPr bwMode="auto">
            <a:xfrm>
              <a:off x="3294815" y="3019392"/>
              <a:ext cx="1349897" cy="0"/>
            </a:xfrm>
            <a:prstGeom prst="line">
              <a:avLst/>
            </a:prstGeom>
            <a:noFill/>
            <a:ln w="9525">
              <a:solidFill>
                <a:schemeClr val="accent1"/>
              </a:solidFill>
              <a:round/>
              <a:headEnd/>
              <a:tailEnd/>
            </a:ln>
          </p:spPr>
        </p:cxnSp>
        <p:cxnSp>
          <p:nvCxnSpPr>
            <p:cNvPr id="39956" name="Conector recto 39"/>
            <p:cNvCxnSpPr>
              <a:cxnSpLocks noChangeShapeType="1"/>
            </p:cNvCxnSpPr>
            <p:nvPr/>
          </p:nvCxnSpPr>
          <p:spPr bwMode="auto">
            <a:xfrm flipH="1">
              <a:off x="4644094" y="3019392"/>
              <a:ext cx="618" cy="91647"/>
            </a:xfrm>
            <a:prstGeom prst="line">
              <a:avLst/>
            </a:prstGeom>
            <a:noFill/>
            <a:ln w="9525">
              <a:solidFill>
                <a:schemeClr val="accent1"/>
              </a:solidFill>
              <a:round/>
              <a:headEnd/>
              <a:tailEnd/>
            </a:ln>
          </p:spPr>
        </p:cxnSp>
        <p:cxnSp>
          <p:nvCxnSpPr>
            <p:cNvPr id="39957" name="Conector recto 40"/>
            <p:cNvCxnSpPr>
              <a:cxnSpLocks noChangeShapeType="1"/>
            </p:cNvCxnSpPr>
            <p:nvPr/>
          </p:nvCxnSpPr>
          <p:spPr bwMode="auto">
            <a:xfrm flipH="1">
              <a:off x="3285934" y="3019392"/>
              <a:ext cx="618" cy="91647"/>
            </a:xfrm>
            <a:prstGeom prst="line">
              <a:avLst/>
            </a:prstGeom>
            <a:noFill/>
            <a:ln w="9525">
              <a:solidFill>
                <a:schemeClr val="accent1"/>
              </a:solidFill>
              <a:round/>
              <a:headEnd/>
              <a:tailEnd/>
            </a:ln>
          </p:spPr>
        </p:cxnSp>
      </p:grpSp>
      <p:sp>
        <p:nvSpPr>
          <p:cNvPr id="24" name="Line 7"/>
          <p:cNvSpPr>
            <a:spLocks noChangeShapeType="1"/>
          </p:cNvSpPr>
          <p:nvPr/>
        </p:nvSpPr>
        <p:spPr bwMode="auto">
          <a:xfrm>
            <a:off x="1461388" y="2996362"/>
            <a:ext cx="0" cy="3219410"/>
          </a:xfrm>
          <a:prstGeom prst="line">
            <a:avLst/>
          </a:prstGeom>
          <a:noFill/>
          <a:ln w="57150">
            <a:solidFill>
              <a:schemeClr val="accent1"/>
            </a:solidFill>
            <a:round/>
            <a:headEnd/>
            <a:tailEnd type="triangle" w="med" len="med"/>
          </a:ln>
          <a:effectLst>
            <a:prstShdw prst="shdw17" dist="17961" dir="2700000">
              <a:srgbClr val="808080">
                <a:alpha val="74997"/>
              </a:srgbClr>
            </a:prstShdw>
          </a:effectLst>
        </p:spPr>
        <p:txBody>
          <a:bodyPr/>
          <a:lstStyle/>
          <a:p>
            <a:pPr eaLnBrk="1" hangingPunct="1"/>
            <a:endParaRPr lang="es-ES">
              <a:solidFill>
                <a:schemeClr val="accent2">
                  <a:lumMod val="50000"/>
                </a:schemeClr>
              </a:solidFill>
              <a:ea typeface="ＭＳ Ｐゴシック" charset="-128"/>
            </a:endParaRPr>
          </a:p>
        </p:txBody>
      </p:sp>
      <p:sp>
        <p:nvSpPr>
          <p:cNvPr id="26" name="Text Box 8"/>
          <p:cNvSpPr txBox="1">
            <a:spLocks noChangeArrowheads="1"/>
          </p:cNvSpPr>
          <p:nvPr/>
        </p:nvSpPr>
        <p:spPr bwMode="auto">
          <a:xfrm rot="16200000">
            <a:off x="194988" y="4389468"/>
            <a:ext cx="2194246" cy="338554"/>
          </a:xfrm>
          <a:prstGeom prst="rect">
            <a:avLst/>
          </a:prstGeom>
          <a:noFill/>
          <a:ln w="9525">
            <a:noFill/>
            <a:miter lim="800000"/>
            <a:headEnd/>
            <a:tailEnd/>
          </a:ln>
          <a:effectLst>
            <a:prstShdw prst="shdw17" dist="17961" dir="2700000">
              <a:srgbClr val="2F4D71"/>
            </a:prstShdw>
          </a:effectLst>
        </p:spPr>
        <p:txBody>
          <a:bodyPr wrap="square">
            <a:spAutoFit/>
          </a:bodyPr>
          <a:lstStyle/>
          <a:p>
            <a:pPr algn="ctr" eaLnBrk="1" hangingPunct="1">
              <a:spcBef>
                <a:spcPct val="50000"/>
              </a:spcBef>
              <a:buClr>
                <a:srgbClr val="000000"/>
              </a:buClr>
              <a:buSzPct val="100000"/>
              <a:buFont typeface="Calibri" panose="020F0502020204030204" pitchFamily="34" charset="0"/>
              <a:buNone/>
              <a:defRPr/>
            </a:pPr>
            <a:r>
              <a:rPr lang="pt-PT" sz="1600" dirty="0">
                <a:solidFill>
                  <a:schemeClr val="accent2">
                    <a:lumMod val="50000"/>
                  </a:schemeClr>
                </a:solidFill>
              </a:rPr>
              <a:t>Melhoria</a:t>
            </a:r>
          </a:p>
        </p:txBody>
      </p:sp>
      <p:sp>
        <p:nvSpPr>
          <p:cNvPr id="27" name="26 Elipse"/>
          <p:cNvSpPr/>
          <p:nvPr/>
        </p:nvSpPr>
        <p:spPr bwMode="auto">
          <a:xfrm>
            <a:off x="2422408" y="5075142"/>
            <a:ext cx="1272303" cy="646608"/>
          </a:xfrm>
          <a:prstGeom prst="ellips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449263" rtl="0" eaLnBrk="1" fontAlgn="base" latinLnBrk="0" hangingPunct="1">
              <a:lnSpc>
                <a:spcPct val="100000"/>
              </a:lnSpc>
              <a:spcBef>
                <a:spcPts val="550"/>
              </a:spcBef>
              <a:spcAft>
                <a:spcPct val="0"/>
              </a:spcAft>
              <a:buClr>
                <a:srgbClr val="000000"/>
              </a:buClr>
              <a:buSzPct val="100000"/>
              <a:buFont typeface="Times New Roman" pitchFamily="18" charset="0"/>
              <a:buNone/>
              <a:tabLst/>
            </a:pPr>
            <a:endParaRPr kumimoji="0" lang="en-GB" sz="2600" b="1" i="0" u="sng" strike="noStrike" cap="none" normalizeH="0" baseline="0">
              <a:ln>
                <a:noFill/>
              </a:ln>
              <a:solidFill>
                <a:schemeClr val="accent2">
                  <a:lumMod val="50000"/>
                </a:schemeClr>
              </a:solidFill>
              <a:effectLst/>
              <a:latin typeface="Calibri" pitchFamily="34" charset="0"/>
            </a:endParaRPr>
          </a:p>
        </p:txBody>
      </p:sp>
      <p:sp>
        <p:nvSpPr>
          <p:cNvPr id="23" name="TextBox 4"/>
          <p:cNvSpPr txBox="1">
            <a:spLocks noChangeArrowheads="1"/>
          </p:cNvSpPr>
          <p:nvPr/>
        </p:nvSpPr>
        <p:spPr bwMode="auto">
          <a:xfrm>
            <a:off x="1022601" y="6367655"/>
            <a:ext cx="3007555"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Potter P. et al. Pediatr Allergy Immunol 2016:27:55-61</a:t>
            </a:r>
          </a:p>
        </p:txBody>
      </p:sp>
      <p:sp>
        <p:nvSpPr>
          <p:cNvPr id="28" name="Text Box 4">
            <a:extLst>
              <a:ext uri="{FF2B5EF4-FFF2-40B4-BE49-F238E27FC236}">
                <a16:creationId xmlns:a16="http://schemas.microsoft.com/office/drawing/2014/main" id="{A445E99E-E43D-4A8A-9250-A4015A308658}"/>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2310293715"/>
      </p:ext>
    </p:extLst>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9553" name="Picture 1" descr="\\grecia\proyectos\proyectos_en_curso\Uriach\POT375_Monografía Rupatadina\DTP\NEW_FORMAT_13marzo\d38.png"/>
          <p:cNvPicPr>
            <a:picLocks noChangeAspect="1" noChangeArrowheads="1"/>
          </p:cNvPicPr>
          <p:nvPr/>
        </p:nvPicPr>
        <p:blipFill>
          <a:blip r:embed="rId3" cstate="print"/>
          <a:srcRect/>
          <a:stretch>
            <a:fillRect/>
          </a:stretch>
        </p:blipFill>
        <p:spPr bwMode="auto">
          <a:xfrm>
            <a:off x="841593" y="2536152"/>
            <a:ext cx="7702776" cy="3854904"/>
          </a:xfrm>
          <a:prstGeom prst="rect">
            <a:avLst/>
          </a:prstGeom>
          <a:noFill/>
        </p:spPr>
      </p:pic>
      <p:sp>
        <p:nvSpPr>
          <p:cNvPr id="60420" name="Text Box 48"/>
          <p:cNvSpPr txBox="1">
            <a:spLocks noChangeArrowheads="1"/>
          </p:cNvSpPr>
          <p:nvPr/>
        </p:nvSpPr>
        <p:spPr bwMode="auto">
          <a:xfrm>
            <a:off x="1339236" y="461621"/>
            <a:ext cx="7779502"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de Fase III em urticária crónica espontânea: Resultados (IV)</a:t>
            </a:r>
          </a:p>
        </p:txBody>
      </p:sp>
      <p:sp>
        <p:nvSpPr>
          <p:cNvPr id="6" name="1 CuadroTexto"/>
          <p:cNvSpPr txBox="1">
            <a:spLocks noChangeArrowheads="1"/>
          </p:cNvSpPr>
          <p:nvPr/>
        </p:nvSpPr>
        <p:spPr bwMode="auto">
          <a:xfrm>
            <a:off x="5030191" y="5397410"/>
            <a:ext cx="3212881" cy="276999"/>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1200" dirty="0">
                <a:solidFill>
                  <a:schemeClr val="accent2">
                    <a:lumMod val="50000"/>
                  </a:schemeClr>
                </a:solidFill>
              </a:rPr>
              <a:t>*</a:t>
            </a:r>
            <a:r>
              <a:rPr lang="pt-PT" altLang="es-ES" sz="1200" i="1" dirty="0">
                <a:solidFill>
                  <a:schemeClr val="accent2">
                    <a:lumMod val="50000"/>
                  </a:schemeClr>
                </a:solidFill>
              </a:rPr>
              <a:t>p </a:t>
            </a:r>
            <a:r>
              <a:rPr lang="pt-PT" altLang="es-ES" sz="1200" dirty="0">
                <a:solidFill>
                  <a:schemeClr val="accent2">
                    <a:lumMod val="50000"/>
                  </a:schemeClr>
                </a:solidFill>
              </a:rPr>
              <a:t>&lt; 0,05 </a:t>
            </a:r>
            <a:r>
              <a:rPr lang="pt-PT" altLang="es-ES" sz="1200" dirty="0" err="1">
                <a:solidFill>
                  <a:schemeClr val="accent2">
                    <a:lumMod val="50000"/>
                  </a:schemeClr>
                </a:solidFill>
              </a:rPr>
              <a:t>Rinialer</a:t>
            </a:r>
            <a:r>
              <a:rPr lang="pt-PT" altLang="es-ES" sz="1200" dirty="0">
                <a:solidFill>
                  <a:schemeClr val="accent2">
                    <a:lumMod val="50000"/>
                  </a:schemeClr>
                </a:solidFill>
              </a:rPr>
              <a:t> e desloratadina vs placebo</a:t>
            </a:r>
          </a:p>
        </p:txBody>
      </p:sp>
      <p:sp>
        <p:nvSpPr>
          <p:cNvPr id="7" name="2 CuadroTexto"/>
          <p:cNvSpPr txBox="1">
            <a:spLocks noChangeArrowheads="1"/>
          </p:cNvSpPr>
          <p:nvPr/>
        </p:nvSpPr>
        <p:spPr bwMode="auto">
          <a:xfrm>
            <a:off x="2966980" y="3599004"/>
            <a:ext cx="254637" cy="30777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1400" dirty="0">
                <a:solidFill>
                  <a:schemeClr val="accent2">
                    <a:lumMod val="50000"/>
                  </a:schemeClr>
                </a:solidFill>
              </a:rPr>
              <a:t>*</a:t>
            </a:r>
          </a:p>
        </p:txBody>
      </p:sp>
      <p:sp>
        <p:nvSpPr>
          <p:cNvPr id="8" name="7 Rectángulo redondeado"/>
          <p:cNvSpPr/>
          <p:nvPr/>
        </p:nvSpPr>
        <p:spPr bwMode="auto">
          <a:xfrm>
            <a:off x="841593" y="1664747"/>
            <a:ext cx="7702775" cy="654116"/>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marL="342900" indent="-342900" algn="ctr">
              <a:spcBef>
                <a:spcPts val="600"/>
              </a:spcBef>
              <a:buClr>
                <a:srgbClr val="000000"/>
              </a:buClr>
              <a:buSzPct val="85000"/>
            </a:pPr>
            <a:r>
              <a:rPr lang="pt-PT" sz="2000" dirty="0" err="1">
                <a:solidFill>
                  <a:schemeClr val="accent2">
                    <a:lumMod val="50000"/>
                  </a:schemeClr>
                </a:solidFill>
              </a:rPr>
              <a:t>Rinialer</a:t>
            </a:r>
            <a:r>
              <a:rPr lang="pt-PT" sz="2000" dirty="0">
                <a:solidFill>
                  <a:schemeClr val="accent2">
                    <a:lumMod val="50000"/>
                  </a:schemeClr>
                </a:solidFill>
              </a:rPr>
              <a:t> reduz significativamente os sintomas de urticária </a:t>
            </a:r>
            <a:br>
              <a:rPr sz="2000" dirty="0">
                <a:solidFill>
                  <a:schemeClr val="accent2">
                    <a:lumMod val="50000"/>
                  </a:schemeClr>
                </a:solidFill>
              </a:rPr>
            </a:br>
            <a:r>
              <a:rPr lang="pt-PT" sz="2000" dirty="0">
                <a:solidFill>
                  <a:schemeClr val="accent2">
                    <a:lumMod val="50000"/>
                  </a:schemeClr>
                </a:solidFill>
              </a:rPr>
              <a:t>a partir da semana 1 e ao longo do período do estudo</a:t>
            </a:r>
          </a:p>
        </p:txBody>
      </p:sp>
      <p:sp>
        <p:nvSpPr>
          <p:cNvPr id="12" name="2 CuadroTexto"/>
          <p:cNvSpPr txBox="1">
            <a:spLocks noChangeArrowheads="1"/>
          </p:cNvSpPr>
          <p:nvPr/>
        </p:nvSpPr>
        <p:spPr bwMode="auto">
          <a:xfrm>
            <a:off x="3940204" y="3929401"/>
            <a:ext cx="254637" cy="30777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1400" dirty="0">
                <a:solidFill>
                  <a:schemeClr val="accent2">
                    <a:lumMod val="50000"/>
                  </a:schemeClr>
                </a:solidFill>
              </a:rPr>
              <a:t>*</a:t>
            </a:r>
          </a:p>
        </p:txBody>
      </p:sp>
      <p:sp>
        <p:nvSpPr>
          <p:cNvPr id="13" name="2 CuadroTexto"/>
          <p:cNvSpPr txBox="1">
            <a:spLocks noChangeArrowheads="1"/>
          </p:cNvSpPr>
          <p:nvPr/>
        </p:nvSpPr>
        <p:spPr bwMode="auto">
          <a:xfrm>
            <a:off x="5880805" y="4354331"/>
            <a:ext cx="254637" cy="30777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1400" dirty="0">
                <a:solidFill>
                  <a:schemeClr val="accent2">
                    <a:lumMod val="50000"/>
                  </a:schemeClr>
                </a:solidFill>
              </a:rPr>
              <a:t>*</a:t>
            </a:r>
          </a:p>
        </p:txBody>
      </p:sp>
      <p:sp>
        <p:nvSpPr>
          <p:cNvPr id="14" name="2 CuadroTexto"/>
          <p:cNvSpPr txBox="1">
            <a:spLocks noChangeArrowheads="1"/>
          </p:cNvSpPr>
          <p:nvPr/>
        </p:nvSpPr>
        <p:spPr bwMode="auto">
          <a:xfrm>
            <a:off x="6854016" y="4399124"/>
            <a:ext cx="254637" cy="30777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1400" dirty="0">
                <a:solidFill>
                  <a:schemeClr val="accent2">
                    <a:lumMod val="50000"/>
                  </a:schemeClr>
                </a:solidFill>
              </a:rPr>
              <a:t>*</a:t>
            </a:r>
          </a:p>
        </p:txBody>
      </p:sp>
      <p:sp>
        <p:nvSpPr>
          <p:cNvPr id="15" name="2 CuadroTexto"/>
          <p:cNvSpPr txBox="1">
            <a:spLocks noChangeArrowheads="1"/>
          </p:cNvSpPr>
          <p:nvPr/>
        </p:nvSpPr>
        <p:spPr bwMode="auto">
          <a:xfrm>
            <a:off x="7825859" y="4425261"/>
            <a:ext cx="254637" cy="30777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1400" dirty="0">
                <a:solidFill>
                  <a:schemeClr val="accent2">
                    <a:lumMod val="50000"/>
                  </a:schemeClr>
                </a:solidFill>
              </a:rPr>
              <a:t>*</a:t>
            </a:r>
          </a:p>
        </p:txBody>
      </p:sp>
      <p:sp>
        <p:nvSpPr>
          <p:cNvPr id="16" name="2 CuadroTexto"/>
          <p:cNvSpPr txBox="1">
            <a:spLocks noChangeArrowheads="1"/>
          </p:cNvSpPr>
          <p:nvPr/>
        </p:nvSpPr>
        <p:spPr bwMode="auto">
          <a:xfrm>
            <a:off x="4902873" y="4128381"/>
            <a:ext cx="254637" cy="307777"/>
          </a:xfrm>
          <a:prstGeom prst="rect">
            <a:avLst/>
          </a:prstGeom>
          <a:noFill/>
          <a:ln w="9525">
            <a:noFill/>
            <a:miter lim="800000"/>
            <a:headEnd/>
            <a:tailEnd/>
          </a:ln>
        </p:spPr>
        <p:txBody>
          <a:bodyPr wrap="square">
            <a:spAutoFit/>
          </a:bodyPr>
          <a:lstStyle/>
          <a:p>
            <a:pPr eaLnBrk="1" hangingPunct="1">
              <a:buClr>
                <a:srgbClr val="000000"/>
              </a:buClr>
              <a:buSzPct val="100000"/>
              <a:buFont typeface="Calibri" pitchFamily="34" charset="0"/>
              <a:buNone/>
            </a:pPr>
            <a:r>
              <a:rPr lang="pt-PT" altLang="es-ES" sz="1400" dirty="0">
                <a:solidFill>
                  <a:schemeClr val="accent2">
                    <a:lumMod val="50000"/>
                  </a:schemeClr>
                </a:solidFill>
              </a:rPr>
              <a:t>*</a:t>
            </a:r>
          </a:p>
        </p:txBody>
      </p:sp>
      <p:sp>
        <p:nvSpPr>
          <p:cNvPr id="17" name="TextBox 4"/>
          <p:cNvSpPr txBox="1">
            <a:spLocks noChangeArrowheads="1"/>
          </p:cNvSpPr>
          <p:nvPr/>
        </p:nvSpPr>
        <p:spPr bwMode="auto">
          <a:xfrm>
            <a:off x="1102511" y="6435152"/>
            <a:ext cx="3007555"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Potter P. et al. Pediatr Allergy Immunol 2016:27:55-61</a:t>
            </a:r>
          </a:p>
        </p:txBody>
      </p:sp>
      <p:sp>
        <p:nvSpPr>
          <p:cNvPr id="2" name="TextBox 1">
            <a:extLst>
              <a:ext uri="{FF2B5EF4-FFF2-40B4-BE49-F238E27FC236}">
                <a16:creationId xmlns:a16="http://schemas.microsoft.com/office/drawing/2014/main" id="{F1E01B01-A93A-32BB-DC06-9282340072F4}"/>
              </a:ext>
            </a:extLst>
          </p:cNvPr>
          <p:cNvSpPr txBox="1"/>
          <p:nvPr/>
        </p:nvSpPr>
        <p:spPr>
          <a:xfrm rot="16200000">
            <a:off x="-537402" y="4153506"/>
            <a:ext cx="2942793" cy="276999"/>
          </a:xfrm>
          <a:prstGeom prst="rect">
            <a:avLst/>
          </a:prstGeom>
          <a:solidFill>
            <a:schemeClr val="bg1"/>
          </a:solidFill>
        </p:spPr>
        <p:txBody>
          <a:bodyPr wrap="none" rtlCol="0">
            <a:spAutoFit/>
          </a:bodyPr>
          <a:lstStyle/>
          <a:p>
            <a:r>
              <a:rPr lang="pt-BR" sz="1200" b="0" dirty="0">
                <a:solidFill>
                  <a:schemeClr val="accent2">
                    <a:lumMod val="50000"/>
                  </a:schemeClr>
                </a:solidFill>
              </a:rPr>
              <a:t>Média (</a:t>
            </a:r>
            <a:r>
              <a:rPr lang="pt-BR" sz="1200" b="0" dirty="0" err="1">
                <a:solidFill>
                  <a:schemeClr val="accent2">
                    <a:lumMod val="50000"/>
                  </a:schemeClr>
                </a:solidFill>
              </a:rPr>
              <a:t>DP</a:t>
            </a:r>
            <a:r>
              <a:rPr lang="pt-BR" sz="1200" b="0" dirty="0">
                <a:solidFill>
                  <a:schemeClr val="accent2">
                    <a:lumMod val="50000"/>
                  </a:schemeClr>
                </a:solidFill>
              </a:rPr>
              <a:t>) da </a:t>
            </a:r>
            <a:r>
              <a:rPr lang="pt-BR" sz="1200" b="0" dirty="0" err="1">
                <a:solidFill>
                  <a:schemeClr val="accent2">
                    <a:lumMod val="50000"/>
                  </a:schemeClr>
                </a:solidFill>
              </a:rPr>
              <a:t>UAS7</a:t>
            </a:r>
            <a:r>
              <a:rPr lang="pt-BR" sz="1200" b="0" dirty="0">
                <a:solidFill>
                  <a:schemeClr val="accent2">
                    <a:lumMod val="50000"/>
                  </a:schemeClr>
                </a:solidFill>
              </a:rPr>
              <a:t> semanal adaptada (</a:t>
            </a:r>
            <a:r>
              <a:rPr lang="pt-BR" sz="1200" b="0" dirty="0" err="1">
                <a:solidFill>
                  <a:schemeClr val="accent2">
                    <a:lumMod val="50000"/>
                  </a:schemeClr>
                </a:solidFill>
              </a:rPr>
              <a:t>ITT</a:t>
            </a:r>
            <a:r>
              <a:rPr lang="pt-BR" sz="1200" b="0" dirty="0">
                <a:solidFill>
                  <a:schemeClr val="accent2">
                    <a:lumMod val="50000"/>
                  </a:schemeClr>
                </a:solidFill>
              </a:rPr>
              <a:t>)</a:t>
            </a:r>
            <a:endParaRPr lang="en-GB" sz="1200" b="0" dirty="0">
              <a:solidFill>
                <a:schemeClr val="accent2">
                  <a:lumMod val="50000"/>
                </a:schemeClr>
              </a:solidFill>
            </a:endParaRPr>
          </a:p>
        </p:txBody>
      </p:sp>
      <p:sp>
        <p:nvSpPr>
          <p:cNvPr id="3" name="TextBox 2">
            <a:extLst>
              <a:ext uri="{FF2B5EF4-FFF2-40B4-BE49-F238E27FC236}">
                <a16:creationId xmlns:a16="http://schemas.microsoft.com/office/drawing/2014/main" id="{2E9D60A3-A64B-C5CD-3939-AC9361C2C0EC}"/>
              </a:ext>
            </a:extLst>
          </p:cNvPr>
          <p:cNvSpPr txBox="1"/>
          <p:nvPr/>
        </p:nvSpPr>
        <p:spPr>
          <a:xfrm>
            <a:off x="7127699" y="2647737"/>
            <a:ext cx="1294822" cy="600164"/>
          </a:xfrm>
          <a:prstGeom prst="rect">
            <a:avLst/>
          </a:prstGeom>
          <a:solidFill>
            <a:schemeClr val="bg1"/>
          </a:solidFill>
        </p:spPr>
        <p:txBody>
          <a:bodyPr wrap="square" rtlCol="0">
            <a:spAutoFit/>
          </a:bodyPr>
          <a:lstStyle/>
          <a:p>
            <a:r>
              <a:rPr lang="en-GB" sz="1100" b="0" dirty="0" err="1">
                <a:solidFill>
                  <a:schemeClr val="accent2">
                    <a:lumMod val="50000"/>
                  </a:schemeClr>
                </a:solidFill>
              </a:rPr>
              <a:t>Rinialer</a:t>
            </a:r>
            <a:endParaRPr lang="en-GB" sz="1100" b="0" dirty="0">
              <a:solidFill>
                <a:schemeClr val="accent2">
                  <a:lumMod val="50000"/>
                </a:schemeClr>
              </a:solidFill>
            </a:endParaRPr>
          </a:p>
          <a:p>
            <a:r>
              <a:rPr lang="en-GB" sz="1100" b="0" dirty="0">
                <a:solidFill>
                  <a:schemeClr val="accent2">
                    <a:lumMod val="50000"/>
                  </a:schemeClr>
                </a:solidFill>
              </a:rPr>
              <a:t>Placebo</a:t>
            </a:r>
          </a:p>
          <a:p>
            <a:r>
              <a:rPr lang="en-GB" sz="1100" b="0" dirty="0" err="1">
                <a:solidFill>
                  <a:schemeClr val="accent2">
                    <a:lumMod val="50000"/>
                  </a:schemeClr>
                </a:solidFill>
              </a:rPr>
              <a:t>Desloratadina</a:t>
            </a:r>
            <a:endParaRPr lang="en-GB" sz="1100" b="0" dirty="0">
              <a:solidFill>
                <a:schemeClr val="accent2">
                  <a:lumMod val="50000"/>
                </a:schemeClr>
              </a:solidFill>
            </a:endParaRPr>
          </a:p>
        </p:txBody>
      </p:sp>
      <p:sp>
        <p:nvSpPr>
          <p:cNvPr id="18" name="Text Box 4">
            <a:extLst>
              <a:ext uri="{FF2B5EF4-FFF2-40B4-BE49-F238E27FC236}">
                <a16:creationId xmlns:a16="http://schemas.microsoft.com/office/drawing/2014/main" id="{C9286F30-0137-4B6A-B4AA-4A5DD7A3A3A2}"/>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Text Box 48"/>
          <p:cNvSpPr txBox="1">
            <a:spLocks noChangeArrowheads="1"/>
          </p:cNvSpPr>
          <p:nvPr/>
        </p:nvSpPr>
        <p:spPr bwMode="auto">
          <a:xfrm>
            <a:off x="1370232" y="463551"/>
            <a:ext cx="7708681"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da Fase III em urticária crónica espontânea: Resultados (V)</a:t>
            </a:r>
          </a:p>
        </p:txBody>
      </p:sp>
      <p:sp>
        <p:nvSpPr>
          <p:cNvPr id="13" name="12 Rectángulo redondeado"/>
          <p:cNvSpPr/>
          <p:nvPr/>
        </p:nvSpPr>
        <p:spPr bwMode="auto">
          <a:xfrm>
            <a:off x="1010653" y="1545639"/>
            <a:ext cx="7544985" cy="704850"/>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marL="342900" lvl="0" indent="-342900" algn="ctr">
              <a:spcBef>
                <a:spcPts val="600"/>
              </a:spcBef>
              <a:buClr>
                <a:srgbClr val="000000"/>
              </a:buClr>
              <a:buSzPct val="85000"/>
              <a:defRPr/>
            </a:pPr>
            <a:r>
              <a:rPr lang="pt-PT" sz="2000" kern="0" dirty="0" err="1">
                <a:solidFill>
                  <a:schemeClr val="accent2">
                    <a:lumMod val="50000"/>
                  </a:schemeClr>
                </a:solidFill>
              </a:rPr>
              <a:t>Rinialer</a:t>
            </a:r>
            <a:r>
              <a:rPr lang="pt-PT" sz="2000" kern="0" dirty="0">
                <a:solidFill>
                  <a:schemeClr val="accent2">
                    <a:lumMod val="50000"/>
                  </a:schemeClr>
                </a:solidFill>
              </a:rPr>
              <a:t> melhora significativamente a QoL em crianças</a:t>
            </a:r>
            <a:br>
              <a:rPr dirty="0">
                <a:solidFill>
                  <a:schemeClr val="accent2">
                    <a:lumMod val="50000"/>
                  </a:schemeClr>
                </a:solidFill>
              </a:rPr>
            </a:br>
            <a:r>
              <a:rPr lang="pt-PT" sz="2000" kern="0" dirty="0">
                <a:solidFill>
                  <a:schemeClr val="accent2">
                    <a:lumMod val="50000"/>
                  </a:schemeClr>
                </a:solidFill>
              </a:rPr>
              <a:t>com urticária após 6 semanas de tratamento</a:t>
            </a:r>
            <a:endParaRPr lang="pt-PT" sz="1400" kern="0" dirty="0">
              <a:solidFill>
                <a:schemeClr val="accent2">
                  <a:lumMod val="50000"/>
                </a:schemeClr>
              </a:solidFill>
              <a:ea typeface="ＭＳ Ｐゴシック" charset="-128"/>
              <a:cs typeface="ＭＳ Ｐゴシック" pitchFamily="34" charset="-128"/>
            </a:endParaRPr>
          </a:p>
        </p:txBody>
      </p:sp>
      <p:graphicFrame>
        <p:nvGraphicFramePr>
          <p:cNvPr id="9" name="8 Gráfico"/>
          <p:cNvGraphicFramePr/>
          <p:nvPr>
            <p:extLst>
              <p:ext uri="{D42A27DB-BD31-4B8C-83A1-F6EECF244321}">
                <p14:modId xmlns:p14="http://schemas.microsoft.com/office/powerpoint/2010/main" val="3167237258"/>
              </p:ext>
            </p:extLst>
          </p:nvPr>
        </p:nvGraphicFramePr>
        <p:xfrm>
          <a:off x="606346" y="2495692"/>
          <a:ext cx="7949292" cy="3537856"/>
        </p:xfrm>
        <a:graphic>
          <a:graphicData uri="http://schemas.openxmlformats.org/drawingml/2006/chart">
            <c:chart xmlns:c="http://schemas.openxmlformats.org/drawingml/2006/chart" xmlns:r="http://schemas.openxmlformats.org/officeDocument/2006/relationships" r:id="rId3"/>
          </a:graphicData>
        </a:graphic>
      </p:graphicFrame>
      <p:sp>
        <p:nvSpPr>
          <p:cNvPr id="2" name="1 CuadroTexto"/>
          <p:cNvSpPr txBox="1"/>
          <p:nvPr/>
        </p:nvSpPr>
        <p:spPr>
          <a:xfrm>
            <a:off x="2365518" y="2920233"/>
            <a:ext cx="413657" cy="307777"/>
          </a:xfrm>
          <a:prstGeom prst="rect">
            <a:avLst/>
          </a:prstGeom>
          <a:noFill/>
        </p:spPr>
        <p:txBody>
          <a:bodyPr wrap="square" rtlCol="0">
            <a:spAutoFit/>
          </a:bodyPr>
          <a:lstStyle/>
          <a:p>
            <a:r>
              <a:rPr lang="pt-PT" sz="1400" dirty="0">
                <a:solidFill>
                  <a:schemeClr val="accent2">
                    <a:lumMod val="50000"/>
                  </a:schemeClr>
                </a:solidFill>
              </a:rPr>
              <a:t>**</a:t>
            </a:r>
          </a:p>
        </p:txBody>
      </p:sp>
      <p:sp>
        <p:nvSpPr>
          <p:cNvPr id="12" name="11 CuadroTexto"/>
          <p:cNvSpPr txBox="1"/>
          <p:nvPr/>
        </p:nvSpPr>
        <p:spPr>
          <a:xfrm>
            <a:off x="7046376" y="3228010"/>
            <a:ext cx="413657" cy="307777"/>
          </a:xfrm>
          <a:prstGeom prst="rect">
            <a:avLst/>
          </a:prstGeom>
          <a:noFill/>
        </p:spPr>
        <p:txBody>
          <a:bodyPr wrap="square" rtlCol="0">
            <a:spAutoFit/>
          </a:bodyPr>
          <a:lstStyle/>
          <a:p>
            <a:r>
              <a:rPr lang="pt-PT" sz="1400" dirty="0">
                <a:solidFill>
                  <a:schemeClr val="accent2">
                    <a:lumMod val="50000"/>
                  </a:schemeClr>
                </a:solidFill>
              </a:rPr>
              <a:t>*</a:t>
            </a:r>
          </a:p>
        </p:txBody>
      </p:sp>
      <p:sp>
        <p:nvSpPr>
          <p:cNvPr id="14" name="1 CuadroTexto"/>
          <p:cNvSpPr txBox="1">
            <a:spLocks noChangeArrowheads="1"/>
          </p:cNvSpPr>
          <p:nvPr/>
        </p:nvSpPr>
        <p:spPr bwMode="auto">
          <a:xfrm>
            <a:off x="1370232" y="6056993"/>
            <a:ext cx="7127656" cy="276999"/>
          </a:xfrm>
          <a:prstGeom prst="rect">
            <a:avLst/>
          </a:prstGeom>
          <a:noFill/>
          <a:ln w="9525">
            <a:noFill/>
            <a:miter lim="800000"/>
            <a:headEnd/>
            <a:tailEnd/>
          </a:ln>
        </p:spPr>
        <p:txBody>
          <a:bodyPr wrap="square">
            <a:spAutoFit/>
          </a:bodyPr>
          <a:lstStyle/>
          <a:p>
            <a:pPr eaLnBrk="1" hangingPunct="1">
              <a:buClr>
                <a:srgbClr val="000000"/>
              </a:buClr>
              <a:buSzPct val="100000"/>
            </a:pPr>
            <a:r>
              <a:rPr lang="pt-PT" altLang="es-ES" sz="1200" dirty="0">
                <a:solidFill>
                  <a:schemeClr val="accent2">
                    <a:lumMod val="50000"/>
                  </a:schemeClr>
                </a:solidFill>
              </a:rPr>
              <a:t>Significância estatística: **p = 0,003 </a:t>
            </a:r>
            <a:r>
              <a:rPr lang="pt-PT" altLang="es-ES" sz="1200" dirty="0" err="1">
                <a:solidFill>
                  <a:schemeClr val="accent2">
                    <a:lumMod val="50000"/>
                  </a:schemeClr>
                </a:solidFill>
              </a:rPr>
              <a:t>Rinialer</a:t>
            </a:r>
            <a:r>
              <a:rPr lang="pt-PT" altLang="es-ES" sz="1200" dirty="0">
                <a:solidFill>
                  <a:schemeClr val="accent2">
                    <a:lumMod val="50000"/>
                  </a:schemeClr>
                </a:solidFill>
              </a:rPr>
              <a:t> vs placebo *p = 0,012 desloratadina vs placebo </a:t>
            </a:r>
          </a:p>
        </p:txBody>
      </p:sp>
      <p:sp>
        <p:nvSpPr>
          <p:cNvPr id="10" name="Text Box 4">
            <a:extLst>
              <a:ext uri="{FF2B5EF4-FFF2-40B4-BE49-F238E27FC236}">
                <a16:creationId xmlns:a16="http://schemas.microsoft.com/office/drawing/2014/main" id="{F535FB7C-4C50-4E81-9404-D9A86B4988C9}"/>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cSld>
  <p:clrMapOvr>
    <a:masterClrMapping/>
  </p:clrMapOvr>
  <p:transition>
    <p:fade/>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745975" y="1934189"/>
            <a:ext cx="8229600" cy="4001920"/>
          </a:xfrm>
        </p:spPr>
        <p:txBody>
          <a:bodyPr>
            <a:normAutofit/>
          </a:bodyPr>
          <a:lstStyle/>
          <a:p>
            <a:pPr>
              <a:spcAft>
                <a:spcPct val="50000"/>
              </a:spcAft>
            </a:pPr>
            <a:r>
              <a:rPr lang="pt-PT" altLang="es-ES" sz="2400" dirty="0" err="1"/>
              <a:t>Rinialer</a:t>
            </a:r>
            <a:r>
              <a:rPr lang="pt-PT" altLang="es-ES" sz="2400" dirty="0"/>
              <a:t> é </a:t>
            </a:r>
            <a:r>
              <a:rPr lang="pt-PT" altLang="es-ES" sz="2400" b="1" dirty="0"/>
              <a:t>eficaz</a:t>
            </a:r>
            <a:r>
              <a:rPr lang="pt-PT" altLang="es-ES" sz="2400" dirty="0"/>
              <a:t> no alívio dos sintomas de urticária com uma </a:t>
            </a:r>
            <a:r>
              <a:rPr lang="pt-PT" altLang="es-ES" sz="2400" b="1" dirty="0" err="1"/>
              <a:t>acção</a:t>
            </a:r>
            <a:r>
              <a:rPr lang="pt-PT" altLang="es-ES" sz="2400" b="1" dirty="0"/>
              <a:t> sustentada.</a:t>
            </a:r>
          </a:p>
          <a:p>
            <a:pPr>
              <a:spcAft>
                <a:spcPct val="50000"/>
              </a:spcAft>
            </a:pPr>
            <a:r>
              <a:rPr lang="pt-PT" altLang="es-ES" sz="2400" b="1" dirty="0" err="1"/>
              <a:t>Rinialer</a:t>
            </a:r>
            <a:r>
              <a:rPr lang="pt-PT" altLang="es-ES" sz="2400" b="1" dirty="0"/>
              <a:t> (mas não </a:t>
            </a:r>
            <a:r>
              <a:rPr lang="pt-PT" altLang="es-ES" sz="2400" b="1" dirty="0" err="1"/>
              <a:t>desloratadina</a:t>
            </a:r>
            <a:r>
              <a:rPr lang="pt-PT" altLang="es-ES" sz="2400" b="1" dirty="0"/>
              <a:t>) reduz </a:t>
            </a:r>
            <a:r>
              <a:rPr lang="pt-PT" altLang="es-ES" sz="2400" dirty="0"/>
              <a:t>significativamente o </a:t>
            </a:r>
            <a:r>
              <a:rPr lang="pt-PT" altLang="es-ES" sz="2400" b="1" dirty="0"/>
              <a:t>prurido</a:t>
            </a:r>
            <a:r>
              <a:rPr lang="pt-PT" altLang="es-ES" sz="2400" dirty="0"/>
              <a:t> (MPS), em comparação com o placebo, após 6 semanas (42 dias) de tratamento.</a:t>
            </a:r>
          </a:p>
          <a:p>
            <a:pPr>
              <a:spcAft>
                <a:spcPct val="50000"/>
              </a:spcAft>
            </a:pPr>
            <a:r>
              <a:rPr lang="pt-PT" altLang="es-ES" sz="2400" b="1" dirty="0" err="1"/>
              <a:t>Rinialer</a:t>
            </a:r>
            <a:r>
              <a:rPr lang="pt-PT" altLang="es-ES" sz="2400" dirty="0"/>
              <a:t> reduz significativamente o </a:t>
            </a:r>
            <a:r>
              <a:rPr lang="pt-PT" altLang="es-ES" sz="2400" b="1" dirty="0"/>
              <a:t>número de pápulas </a:t>
            </a:r>
            <a:r>
              <a:rPr lang="pt-PT" altLang="es-ES" sz="2400" dirty="0"/>
              <a:t>(MNW) após 6 semanas (42 dias) de tratamento em </a:t>
            </a:r>
            <a:r>
              <a:rPr lang="pt-PT" altLang="es-ES" sz="2400" b="1" dirty="0"/>
              <a:t>maior medida que a </a:t>
            </a:r>
            <a:r>
              <a:rPr lang="pt-PT" altLang="es-ES" sz="2400" b="1" dirty="0" err="1"/>
              <a:t>desloratadina</a:t>
            </a:r>
            <a:r>
              <a:rPr lang="pt-PT" altLang="es-ES" sz="2400" b="1" dirty="0"/>
              <a:t>.</a:t>
            </a:r>
          </a:p>
          <a:p>
            <a:pPr eaLnBrk="1" hangingPunct="1"/>
            <a:endParaRPr lang="pt-PT" altLang="es-ES" sz="2400" dirty="0"/>
          </a:p>
        </p:txBody>
      </p:sp>
      <p:sp>
        <p:nvSpPr>
          <p:cNvPr id="5" name="Text Box 4">
            <a:extLst>
              <a:ext uri="{FF2B5EF4-FFF2-40B4-BE49-F238E27FC236}">
                <a16:creationId xmlns:a16="http://schemas.microsoft.com/office/drawing/2014/main" id="{C880C1A7-59CB-4B23-95F4-1EA2A365B4A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7" name="Text Box 48">
            <a:extLst>
              <a:ext uri="{FF2B5EF4-FFF2-40B4-BE49-F238E27FC236}">
                <a16:creationId xmlns:a16="http://schemas.microsoft.com/office/drawing/2014/main" id="{D8A5DAB2-CEEB-4D6A-869A-A47B703EE1E8}"/>
              </a:ext>
            </a:extLst>
          </p:cNvPr>
          <p:cNvSpPr txBox="1">
            <a:spLocks noChangeArrowheads="1"/>
          </p:cNvSpPr>
          <p:nvPr/>
        </p:nvSpPr>
        <p:spPr bwMode="auto">
          <a:xfrm>
            <a:off x="1302101" y="478898"/>
            <a:ext cx="7928526"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de Fase III em urticária crónica espontânea: Conclusões sobre eficácia e QoL</a:t>
            </a:r>
          </a:p>
        </p:txBody>
      </p:sp>
    </p:spTree>
    <p:extLst>
      <p:ext uri="{BB962C8B-B14F-4D97-AF65-F5344CB8AC3E}">
        <p14:creationId xmlns:p14="http://schemas.microsoft.com/office/powerpoint/2010/main" val="8240541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745975" y="2155570"/>
            <a:ext cx="8229600" cy="4001920"/>
          </a:xfrm>
        </p:spPr>
        <p:txBody>
          <a:bodyPr>
            <a:normAutofit/>
          </a:bodyPr>
          <a:lstStyle/>
          <a:p>
            <a:pPr>
              <a:spcAft>
                <a:spcPct val="50000"/>
              </a:spcAft>
            </a:pPr>
            <a:r>
              <a:rPr lang="pt-PT" altLang="es-ES" sz="2400" b="1" dirty="0" err="1"/>
              <a:t>Rinialer</a:t>
            </a:r>
            <a:r>
              <a:rPr lang="pt-PT" altLang="es-ES" sz="2400" b="1" dirty="0"/>
              <a:t> melhorou a </a:t>
            </a:r>
            <a:r>
              <a:rPr lang="pt-PT" altLang="es-ES" sz="2400" b="1" dirty="0" err="1"/>
              <a:t>QoL</a:t>
            </a:r>
            <a:r>
              <a:rPr lang="pt-PT" altLang="es-ES" sz="2400" b="1" dirty="0"/>
              <a:t> </a:t>
            </a:r>
            <a:r>
              <a:rPr lang="pt-PT" altLang="es-ES" sz="2400" dirty="0"/>
              <a:t>(CDQLI) significativamente, em comparação com o placebo, às 6 semanas.</a:t>
            </a:r>
          </a:p>
          <a:p>
            <a:pPr>
              <a:spcAft>
                <a:spcPct val="50000"/>
              </a:spcAft>
            </a:pPr>
            <a:r>
              <a:rPr lang="pt-PT" altLang="es-ES" sz="2400" b="1" dirty="0"/>
              <a:t>Os resultados de Eficácia </a:t>
            </a:r>
            <a:r>
              <a:rPr lang="pt-PT" altLang="es-ES" sz="2400" dirty="0"/>
              <a:t>estão em conformidade  com os resultados obtidos </a:t>
            </a:r>
            <a:r>
              <a:rPr lang="pt-PT" altLang="es-ES" sz="2400" b="1" dirty="0"/>
              <a:t>em adolescentes/adultos.</a:t>
            </a:r>
          </a:p>
          <a:p>
            <a:pPr eaLnBrk="1" hangingPunct="1"/>
            <a:endParaRPr lang="pt-PT" altLang="es-ES" sz="2400" dirty="0"/>
          </a:p>
        </p:txBody>
      </p:sp>
      <p:sp>
        <p:nvSpPr>
          <p:cNvPr id="5" name="Text Box 4">
            <a:extLst>
              <a:ext uri="{FF2B5EF4-FFF2-40B4-BE49-F238E27FC236}">
                <a16:creationId xmlns:a16="http://schemas.microsoft.com/office/drawing/2014/main" id="{C880C1A7-59CB-4B23-95F4-1EA2A365B4A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7" name="Text Box 48">
            <a:extLst>
              <a:ext uri="{FF2B5EF4-FFF2-40B4-BE49-F238E27FC236}">
                <a16:creationId xmlns:a16="http://schemas.microsoft.com/office/drawing/2014/main" id="{D8A5DAB2-CEEB-4D6A-869A-A47B703EE1E8}"/>
              </a:ext>
            </a:extLst>
          </p:cNvPr>
          <p:cNvSpPr txBox="1">
            <a:spLocks noChangeArrowheads="1"/>
          </p:cNvSpPr>
          <p:nvPr/>
        </p:nvSpPr>
        <p:spPr bwMode="auto">
          <a:xfrm>
            <a:off x="1302101" y="478898"/>
            <a:ext cx="7928526" cy="985837"/>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Times New Roman" pitchFamily="18" charset="0"/>
              <a:buNone/>
            </a:pPr>
            <a:r>
              <a:rPr lang="pt-PT" altLang="es-ES" sz="3200" dirty="0">
                <a:solidFill>
                  <a:schemeClr val="accent2">
                    <a:lumMod val="50000"/>
                  </a:schemeClr>
                </a:solidFill>
              </a:rPr>
              <a:t>Estudo de Fase III em urticária crónica espontânea: Conclusões sobre eficácia e QoL</a:t>
            </a:r>
          </a:p>
        </p:txBody>
      </p:sp>
    </p:spTree>
    <p:extLst>
      <p:ext uri="{BB962C8B-B14F-4D97-AF65-F5344CB8AC3E}">
        <p14:creationId xmlns:p14="http://schemas.microsoft.com/office/powerpoint/2010/main" val="92442720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ChangeArrowheads="1"/>
          </p:cNvSpPr>
          <p:nvPr/>
        </p:nvSpPr>
        <p:spPr bwMode="auto">
          <a:xfrm>
            <a:off x="198438" y="3708755"/>
            <a:ext cx="8496300" cy="574675"/>
          </a:xfrm>
          <a:prstGeom prst="roundRect">
            <a:avLst>
              <a:gd name="adj" fmla="val 50000"/>
            </a:avLst>
          </a:prstGeom>
          <a:solidFill>
            <a:schemeClr val="accent1">
              <a:lumMod val="60000"/>
              <a:lumOff val="40000"/>
            </a:schemeClr>
          </a:solidFill>
          <a:ln w="9525">
            <a:noFill/>
            <a:round/>
            <a:headEnd/>
            <a:tailEnd/>
          </a:ln>
        </p:spPr>
        <p:txBody>
          <a:bodyPr wrap="none" anchor="ctr"/>
          <a:lstStyle/>
          <a:p>
            <a:pPr eaLnBrk="1" hangingPunct="1">
              <a:buClr>
                <a:srgbClr val="000000"/>
              </a:buClr>
              <a:buSzPct val="100000"/>
              <a:buFont typeface="Calibri" pitchFamily="34" charset="0"/>
              <a:buNone/>
            </a:pPr>
            <a:endParaRPr lang="es-ES_tradnl" altLang="es-ES" dirty="0"/>
          </a:p>
        </p:txBody>
      </p:sp>
      <p:sp>
        <p:nvSpPr>
          <p:cNvPr id="3075" name="Rectangle 3"/>
          <p:cNvSpPr>
            <a:spLocks noGrp="1" noChangeArrowheads="1"/>
          </p:cNvSpPr>
          <p:nvPr>
            <p:ph idx="1"/>
          </p:nvPr>
        </p:nvSpPr>
        <p:spPr>
          <a:xfrm>
            <a:off x="465138" y="1196974"/>
            <a:ext cx="8229600" cy="4395303"/>
          </a:xfrm>
        </p:spPr>
        <p:txBody>
          <a:bodyPr>
            <a:normAutofit fontScale="85000" lnSpcReduction="20000"/>
          </a:bodyPr>
          <a:lstStyle/>
          <a:p>
            <a:pPr eaLnBrk="1" hangingPunct="1">
              <a:lnSpc>
                <a:spcPct val="150000"/>
              </a:lnSpc>
            </a:pPr>
            <a:endParaRPr lang="pt-PT" altLang="es-ES" sz="3000" b="1" dirty="0"/>
          </a:p>
          <a:p>
            <a:pPr eaLnBrk="1" hangingPunct="1">
              <a:lnSpc>
                <a:spcPct val="150000"/>
              </a:lnSpc>
            </a:pPr>
            <a:r>
              <a:rPr lang="pt-PT" altLang="es-ES" sz="3000" b="1" dirty="0"/>
              <a:t>RINIALER em Pediatria (&lt; 12 anos) </a:t>
            </a:r>
          </a:p>
          <a:p>
            <a:pPr lvl="1">
              <a:lnSpc>
                <a:spcPct val="150000"/>
              </a:lnSpc>
            </a:pPr>
            <a:r>
              <a:rPr lang="pt-PT" altLang="es-ES" sz="2800" b="1" dirty="0"/>
              <a:t>Rinite alérgica: Eficácia clínica</a:t>
            </a:r>
          </a:p>
          <a:p>
            <a:pPr lvl="1">
              <a:lnSpc>
                <a:spcPct val="150000"/>
              </a:lnSpc>
            </a:pPr>
            <a:r>
              <a:rPr lang="pt-PT" altLang="es-ES" sz="2800" b="1" dirty="0"/>
              <a:t>Urticária: Eficácia clínica</a:t>
            </a:r>
          </a:p>
          <a:p>
            <a:pPr lvl="1">
              <a:lnSpc>
                <a:spcPct val="150000"/>
              </a:lnSpc>
            </a:pPr>
            <a:r>
              <a:rPr lang="pt-PT" altLang="es-ES" sz="2800" b="1" dirty="0"/>
              <a:t>Segurança e Tolerabilidade</a:t>
            </a:r>
          </a:p>
          <a:p>
            <a:pPr eaLnBrk="1" hangingPunct="1">
              <a:lnSpc>
                <a:spcPct val="150000"/>
              </a:lnSpc>
            </a:pPr>
            <a:r>
              <a:rPr lang="pt-PT" altLang="es-ES" sz="3000" b="1" dirty="0"/>
              <a:t>Conclusões</a:t>
            </a:r>
          </a:p>
          <a:p>
            <a:pPr eaLnBrk="1" hangingPunct="1">
              <a:lnSpc>
                <a:spcPct val="150000"/>
              </a:lnSpc>
            </a:pPr>
            <a:r>
              <a:rPr lang="pt-PT" altLang="es-ES" sz="3000" b="1" dirty="0"/>
              <a:t>Indicações terapêuticas</a:t>
            </a:r>
          </a:p>
        </p:txBody>
      </p:sp>
      <p:pic>
        <p:nvPicPr>
          <p:cNvPr id="3" name="Picture 2" descr="Text, logo&#10;&#10;Description automatically generated">
            <a:extLst>
              <a:ext uri="{FF2B5EF4-FFF2-40B4-BE49-F238E27FC236}">
                <a16:creationId xmlns:a16="http://schemas.microsoft.com/office/drawing/2014/main" id="{0A68C56D-5DCA-4C87-93E9-A9A726187A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7701" y="-386794"/>
            <a:ext cx="2566299" cy="1814776"/>
          </a:xfrm>
          <a:prstGeom prst="rect">
            <a:avLst/>
          </a:prstGeom>
        </p:spPr>
      </p:pic>
      <p:pic>
        <p:nvPicPr>
          <p:cNvPr id="4" name="Picture 3">
            <a:extLst>
              <a:ext uri="{FF2B5EF4-FFF2-40B4-BE49-F238E27FC236}">
                <a16:creationId xmlns:a16="http://schemas.microsoft.com/office/drawing/2014/main" id="{4DEF6D7E-C822-4DBD-AFB6-A799ED0E4CDA}"/>
              </a:ext>
            </a:extLst>
          </p:cNvPr>
          <p:cNvPicPr>
            <a:picLocks noChangeAspect="1"/>
          </p:cNvPicPr>
          <p:nvPr/>
        </p:nvPicPr>
        <p:blipFill>
          <a:blip r:embed="rId4"/>
          <a:stretch>
            <a:fillRect/>
          </a:stretch>
        </p:blipFill>
        <p:spPr>
          <a:xfrm>
            <a:off x="5712643" y="4574588"/>
            <a:ext cx="3431357" cy="2283412"/>
          </a:xfrm>
          <a:prstGeom prst="rect">
            <a:avLst/>
          </a:prstGeom>
        </p:spPr>
      </p:pic>
    </p:spTree>
    <p:extLst>
      <p:ext uri="{BB962C8B-B14F-4D97-AF65-F5344CB8AC3E}">
        <p14:creationId xmlns:p14="http://schemas.microsoft.com/office/powerpoint/2010/main" val="3244051112"/>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13 Gráfico"/>
          <p:cNvGraphicFramePr/>
          <p:nvPr>
            <p:extLst>
              <p:ext uri="{D42A27DB-BD31-4B8C-83A1-F6EECF244321}">
                <p14:modId xmlns:p14="http://schemas.microsoft.com/office/powerpoint/2010/main" val="3531728208"/>
              </p:ext>
            </p:extLst>
          </p:nvPr>
        </p:nvGraphicFramePr>
        <p:xfrm>
          <a:off x="1131527" y="2532817"/>
          <a:ext cx="7549242" cy="3829482"/>
        </p:xfrm>
        <a:graphic>
          <a:graphicData uri="http://schemas.openxmlformats.org/drawingml/2006/chart">
            <c:chart xmlns:c="http://schemas.openxmlformats.org/drawingml/2006/chart" xmlns:r="http://schemas.openxmlformats.org/officeDocument/2006/relationships" r:id="rId3"/>
          </a:graphicData>
        </a:graphic>
      </p:graphicFrame>
      <p:sp>
        <p:nvSpPr>
          <p:cNvPr id="11" name="7 Rectángulo redondeado"/>
          <p:cNvSpPr/>
          <p:nvPr/>
        </p:nvSpPr>
        <p:spPr bwMode="auto">
          <a:xfrm>
            <a:off x="851219" y="1634396"/>
            <a:ext cx="7829550" cy="754739"/>
          </a:xfrm>
          <a:prstGeom prst="roundRect">
            <a:avLst/>
          </a:prstGeom>
          <a:solidFill>
            <a:schemeClr val="accent1">
              <a:lumMod val="60000"/>
              <a:lumOff val="40000"/>
            </a:schemeClr>
          </a:solidFill>
          <a:ln w="9525">
            <a:noFill/>
            <a:round/>
            <a:headEnd/>
            <a:tailEnd/>
          </a:ln>
          <a:effectLst>
            <a:outerShdw blurRad="63500" dist="53882" dir="2700000" algn="ctr" rotWithShape="0">
              <a:srgbClr val="003366">
                <a:alpha val="19000"/>
              </a:srgbClr>
            </a:outerShdw>
          </a:effectLst>
        </p:spPr>
        <p:txBody>
          <a:bodyPr wrap="none" anchor="ctr"/>
          <a:lstStyle/>
          <a:p>
            <a:pPr algn="ctr" eaLnBrk="1" hangingPunct="1">
              <a:buClr>
                <a:srgbClr val="000000"/>
              </a:buClr>
              <a:buSzPct val="100000"/>
            </a:pPr>
            <a:r>
              <a:rPr lang="pt-PT" altLang="es-ES" sz="2000" dirty="0" err="1">
                <a:solidFill>
                  <a:schemeClr val="accent2">
                    <a:lumMod val="50000"/>
                  </a:schemeClr>
                </a:solidFill>
              </a:rPr>
              <a:t>Rinialer</a:t>
            </a:r>
            <a:r>
              <a:rPr lang="pt-PT" sz="2000" dirty="0">
                <a:solidFill>
                  <a:schemeClr val="accent2">
                    <a:lumMod val="50000"/>
                  </a:schemeClr>
                </a:solidFill>
              </a:rPr>
              <a:t> </a:t>
            </a:r>
            <a:r>
              <a:rPr lang="pt-PT" altLang="es-ES" sz="2000" dirty="0">
                <a:solidFill>
                  <a:schemeClr val="accent2">
                    <a:lumMod val="50000"/>
                  </a:schemeClr>
                </a:solidFill>
              </a:rPr>
              <a:t>é</a:t>
            </a:r>
            <a:r>
              <a:rPr lang="pt-PT" sz="2000" dirty="0">
                <a:solidFill>
                  <a:schemeClr val="accent2">
                    <a:lumMod val="50000"/>
                  </a:schemeClr>
                </a:solidFill>
              </a:rPr>
              <a:t> </a:t>
            </a:r>
            <a:r>
              <a:rPr lang="pt-PT" altLang="es-ES" sz="2000" dirty="0">
                <a:solidFill>
                  <a:schemeClr val="accent2">
                    <a:lumMod val="50000"/>
                  </a:schemeClr>
                </a:solidFill>
              </a:rPr>
              <a:t>seguro e bem</a:t>
            </a:r>
            <a:r>
              <a:rPr lang="pt-PT" sz="2000" dirty="0">
                <a:solidFill>
                  <a:schemeClr val="accent2">
                    <a:lumMod val="50000"/>
                  </a:schemeClr>
                </a:solidFill>
              </a:rPr>
              <a:t> </a:t>
            </a:r>
            <a:r>
              <a:rPr lang="pt-PT" altLang="es-ES" sz="2000" dirty="0">
                <a:solidFill>
                  <a:schemeClr val="accent2">
                    <a:lumMod val="50000"/>
                  </a:schemeClr>
                </a:solidFill>
              </a:rPr>
              <a:t>tolerado (semelhante ao placebo)</a:t>
            </a:r>
            <a:br>
              <a:rPr lang="pt-PT" altLang="es-ES" sz="2000" dirty="0">
                <a:solidFill>
                  <a:schemeClr val="accent2">
                    <a:lumMod val="50000"/>
                  </a:schemeClr>
                </a:solidFill>
              </a:rPr>
            </a:br>
            <a:r>
              <a:rPr lang="pt-PT" altLang="es-ES" sz="2000" dirty="0">
                <a:solidFill>
                  <a:schemeClr val="accent2">
                    <a:lumMod val="50000"/>
                  </a:schemeClr>
                </a:solidFill>
              </a:rPr>
              <a:t>em crianças entre os 2 e os 11 anos</a:t>
            </a:r>
            <a:r>
              <a:rPr lang="pt-PT" sz="2000" dirty="0">
                <a:solidFill>
                  <a:schemeClr val="accent2">
                    <a:lumMod val="50000"/>
                  </a:schemeClr>
                </a:solidFill>
              </a:rPr>
              <a:t> </a:t>
            </a:r>
            <a:r>
              <a:rPr lang="pt-PT" altLang="es-ES" sz="2000" dirty="0">
                <a:solidFill>
                  <a:schemeClr val="accent2">
                    <a:lumMod val="50000"/>
                  </a:schemeClr>
                </a:solidFill>
              </a:rPr>
              <a:t>de idade</a:t>
            </a:r>
          </a:p>
        </p:txBody>
      </p:sp>
      <p:sp>
        <p:nvSpPr>
          <p:cNvPr id="51205" name="Slide Number Placeholder 5"/>
          <p:cNvSpPr txBox="1">
            <a:spLocks/>
          </p:cNvSpPr>
          <p:nvPr/>
        </p:nvSpPr>
        <p:spPr bwMode="auto">
          <a:xfrm>
            <a:off x="5508625" y="6448425"/>
            <a:ext cx="2133600" cy="365125"/>
          </a:xfrm>
          <a:prstGeom prst="rect">
            <a:avLst/>
          </a:prstGeom>
          <a:noFill/>
          <a:ln w="9525">
            <a:noFill/>
            <a:miter lim="800000"/>
            <a:headEnd/>
            <a:tailEnd/>
          </a:ln>
        </p:spPr>
        <p:txBody>
          <a:bodyPr/>
          <a:lstStyle/>
          <a:p>
            <a:pPr algn="r" eaLnBrk="1" hangingPunct="1">
              <a:buClr>
                <a:srgbClr val="000000"/>
              </a:buClr>
              <a:buSzPct val="100000"/>
              <a:buFont typeface="Calibri" pitchFamily="34" charset="0"/>
              <a:buNone/>
            </a:pPr>
            <a:endParaRPr lang="en-NZ" altLang="es-ES" sz="1200">
              <a:solidFill>
                <a:schemeClr val="accent2">
                  <a:lumMod val="50000"/>
                </a:schemeClr>
              </a:solidFill>
              <a:ea typeface="ＭＳ Ｐゴシック" charset="-128"/>
            </a:endParaRPr>
          </a:p>
        </p:txBody>
      </p:sp>
      <p:sp>
        <p:nvSpPr>
          <p:cNvPr id="12" name="Text Box 8"/>
          <p:cNvSpPr txBox="1">
            <a:spLocks noChangeArrowheads="1"/>
          </p:cNvSpPr>
          <p:nvPr/>
        </p:nvSpPr>
        <p:spPr bwMode="auto">
          <a:xfrm rot="-5400000">
            <a:off x="-615612" y="3838046"/>
            <a:ext cx="3189469" cy="350617"/>
          </a:xfrm>
          <a:prstGeom prst="rect">
            <a:avLst/>
          </a:prstGeom>
          <a:noFill/>
          <a:ln w="9525">
            <a:noFill/>
            <a:miter lim="800000"/>
            <a:headEnd/>
            <a:tailEnd/>
          </a:ln>
          <a:effectLst>
            <a:prstShdw prst="shdw17" dist="17961" dir="2700000">
              <a:srgbClr val="2F4D71"/>
            </a:prstShdw>
          </a:effectLst>
        </p:spPr>
        <p:txBody>
          <a:bodyPr wrap="square">
            <a:spAutoFit/>
          </a:bodyPr>
          <a:lstStyle/>
          <a:p>
            <a:pPr algn="ctr" eaLnBrk="1" hangingPunct="1">
              <a:spcBef>
                <a:spcPct val="50000"/>
              </a:spcBef>
              <a:buClr>
                <a:srgbClr val="000000"/>
              </a:buClr>
              <a:buSzPct val="100000"/>
              <a:buFont typeface="Calibri" panose="020F0502020204030204" pitchFamily="34" charset="0"/>
              <a:buNone/>
              <a:defRPr/>
            </a:pPr>
            <a:r>
              <a:rPr lang="pt-PT" sz="1600" b="0" dirty="0">
                <a:solidFill>
                  <a:schemeClr val="accent2">
                    <a:lumMod val="50000"/>
                  </a:schemeClr>
                </a:solidFill>
              </a:rPr>
              <a:t>N.º de Doentes</a:t>
            </a:r>
          </a:p>
        </p:txBody>
      </p:sp>
      <p:sp>
        <p:nvSpPr>
          <p:cNvPr id="13" name="Text Box 3"/>
          <p:cNvSpPr txBox="1">
            <a:spLocks noChangeArrowheads="1"/>
          </p:cNvSpPr>
          <p:nvPr/>
        </p:nvSpPr>
        <p:spPr bwMode="auto">
          <a:xfrm>
            <a:off x="1314449" y="495701"/>
            <a:ext cx="7829551" cy="923330"/>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Calibri" pitchFamily="34" charset="0"/>
              <a:buNone/>
            </a:pPr>
            <a:r>
              <a:rPr lang="pt-PT" altLang="es-ES" sz="2800" dirty="0">
                <a:solidFill>
                  <a:schemeClr val="accent2">
                    <a:lumMod val="50000"/>
                  </a:schemeClr>
                </a:solidFill>
              </a:rPr>
              <a:t>Perfil de segurança em crianças</a:t>
            </a:r>
            <a:r>
              <a:rPr lang="pt-PT" sz="3200" dirty="0">
                <a:solidFill>
                  <a:schemeClr val="accent2">
                    <a:lumMod val="50000"/>
                  </a:schemeClr>
                </a:solidFill>
              </a:rPr>
              <a:t> </a:t>
            </a:r>
            <a:r>
              <a:rPr lang="pt-PT" altLang="es-ES" sz="2800" dirty="0">
                <a:solidFill>
                  <a:schemeClr val="accent2">
                    <a:lumMod val="50000"/>
                  </a:schemeClr>
                </a:solidFill>
              </a:rPr>
              <a:t>com idades compreendidas entre os 2 e os 11 anos</a:t>
            </a:r>
          </a:p>
        </p:txBody>
      </p:sp>
      <p:sp>
        <p:nvSpPr>
          <p:cNvPr id="9" name="TextBox 4"/>
          <p:cNvSpPr txBox="1">
            <a:spLocks noChangeArrowheads="1"/>
          </p:cNvSpPr>
          <p:nvPr/>
        </p:nvSpPr>
        <p:spPr bwMode="auto">
          <a:xfrm>
            <a:off x="1198763" y="6434852"/>
            <a:ext cx="1494320" cy="246221"/>
          </a:xfrm>
          <a:prstGeom prst="rect">
            <a:avLst/>
          </a:prstGeom>
          <a:noFill/>
          <a:ln w="9525">
            <a:noFill/>
            <a:miter lim="800000"/>
            <a:headEnd/>
            <a:tailEnd/>
          </a:ln>
        </p:spPr>
        <p:txBody>
          <a:bodyPr wrap="none">
            <a:spAutoFit/>
          </a:bodyPr>
          <a:lstStyle/>
          <a:p>
            <a:r>
              <a:rPr lang="pt-PT" altLang="es-ES" sz="1000" b="0" dirty="0">
                <a:solidFill>
                  <a:schemeClr val="accent2">
                    <a:lumMod val="50000"/>
                  </a:schemeClr>
                </a:solidFill>
              </a:rPr>
              <a:t>Dados Uriach em arquivo</a:t>
            </a:r>
          </a:p>
        </p:txBody>
      </p:sp>
      <p:sp>
        <p:nvSpPr>
          <p:cNvPr id="10" name="Text Box 4">
            <a:extLst>
              <a:ext uri="{FF2B5EF4-FFF2-40B4-BE49-F238E27FC236}">
                <a16:creationId xmlns:a16="http://schemas.microsoft.com/office/drawing/2014/main" id="{7E3FB854-DC88-4492-97B3-47DDCFAF7BD9}"/>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Tree>
    <p:extLst>
      <p:ext uri="{BB962C8B-B14F-4D97-AF65-F5344CB8AC3E}">
        <p14:creationId xmlns:p14="http://schemas.microsoft.com/office/powerpoint/2010/main" val="166733349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p:cNvSpPr>
          <p:nvPr/>
        </p:nvSpPr>
        <p:spPr bwMode="auto">
          <a:xfrm>
            <a:off x="1402138" y="638969"/>
            <a:ext cx="7395353" cy="714375"/>
          </a:xfrm>
          <a:prstGeom prst="rect">
            <a:avLst/>
          </a:prstGeom>
          <a:noFill/>
          <a:ln w="9525">
            <a:noFill/>
            <a:miter lim="800000"/>
            <a:headEnd/>
            <a:tailEnd/>
          </a:ln>
        </p:spPr>
        <p:txBody>
          <a:bodyPr anchor="ctr"/>
          <a:lstStyle/>
          <a:p>
            <a:pPr eaLnBrk="1" hangingPunct="1">
              <a:buClr>
                <a:srgbClr val="000000"/>
              </a:buClr>
              <a:buSzPct val="100000"/>
              <a:buFont typeface="Calibri" pitchFamily="34" charset="0"/>
              <a:buNone/>
            </a:pPr>
            <a:r>
              <a:rPr lang="pt-PT" altLang="es-ES" sz="3100" dirty="0" err="1">
                <a:solidFill>
                  <a:schemeClr val="accent2">
                    <a:lumMod val="50000"/>
                  </a:schemeClr>
                </a:solidFill>
              </a:rPr>
              <a:t>Reacções</a:t>
            </a:r>
            <a:r>
              <a:rPr lang="pt-PT" altLang="es-ES" sz="3100" dirty="0">
                <a:solidFill>
                  <a:schemeClr val="accent2">
                    <a:lumMod val="50000"/>
                  </a:schemeClr>
                </a:solidFill>
              </a:rPr>
              <a:t> adversas mais comuns por nível de dosagem de </a:t>
            </a:r>
            <a:r>
              <a:rPr lang="pt-PT" altLang="es-ES" sz="3100" dirty="0" err="1">
                <a:solidFill>
                  <a:schemeClr val="accent2">
                    <a:lumMod val="50000"/>
                  </a:schemeClr>
                </a:solidFill>
              </a:rPr>
              <a:t>Rinialer</a:t>
            </a:r>
            <a:endParaRPr lang="pt-PT" altLang="es-ES" sz="3100" dirty="0">
              <a:solidFill>
                <a:schemeClr val="accent2">
                  <a:lumMod val="50000"/>
                </a:schemeClr>
              </a:solidFill>
            </a:endParaRPr>
          </a:p>
        </p:txBody>
      </p:sp>
      <p:sp>
        <p:nvSpPr>
          <p:cNvPr id="52270" name="Slide Number Placeholder 5"/>
          <p:cNvSpPr txBox="1">
            <a:spLocks/>
          </p:cNvSpPr>
          <p:nvPr/>
        </p:nvSpPr>
        <p:spPr bwMode="auto">
          <a:xfrm>
            <a:off x="5508625" y="6448425"/>
            <a:ext cx="2133600" cy="365125"/>
          </a:xfrm>
          <a:prstGeom prst="rect">
            <a:avLst/>
          </a:prstGeom>
          <a:noFill/>
          <a:ln w="9525">
            <a:noFill/>
            <a:miter lim="800000"/>
            <a:headEnd/>
            <a:tailEnd/>
          </a:ln>
        </p:spPr>
        <p:txBody>
          <a:bodyPr/>
          <a:lstStyle/>
          <a:p>
            <a:pPr algn="r" eaLnBrk="1" hangingPunct="1">
              <a:buClr>
                <a:srgbClr val="000000"/>
              </a:buClr>
              <a:buSzPct val="100000"/>
              <a:buFont typeface="Calibri" pitchFamily="34" charset="0"/>
              <a:buNone/>
            </a:pPr>
            <a:endParaRPr lang="en-NZ" altLang="es-ES" sz="1200">
              <a:solidFill>
                <a:schemeClr val="accent2">
                  <a:lumMod val="50000"/>
                </a:schemeClr>
              </a:solidFill>
            </a:endParaRPr>
          </a:p>
        </p:txBody>
      </p:sp>
      <p:sp>
        <p:nvSpPr>
          <p:cNvPr id="6" name="Text Box 4">
            <a:extLst>
              <a:ext uri="{FF2B5EF4-FFF2-40B4-BE49-F238E27FC236}">
                <a16:creationId xmlns:a16="http://schemas.microsoft.com/office/drawing/2014/main" id="{643045A1-B6FC-4474-9B5D-26E1B126E7EA}"/>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graphicFrame>
        <p:nvGraphicFramePr>
          <p:cNvPr id="7" name="Group 127">
            <a:extLst>
              <a:ext uri="{FF2B5EF4-FFF2-40B4-BE49-F238E27FC236}">
                <a16:creationId xmlns:a16="http://schemas.microsoft.com/office/drawing/2014/main" id="{1ED4691A-8ABC-460A-B833-043EAF816F25}"/>
              </a:ext>
            </a:extLst>
          </p:cNvPr>
          <p:cNvGraphicFramePr>
            <a:graphicFrameLocks/>
          </p:cNvGraphicFramePr>
          <p:nvPr>
            <p:extLst>
              <p:ext uri="{D42A27DB-BD31-4B8C-83A1-F6EECF244321}">
                <p14:modId xmlns:p14="http://schemas.microsoft.com/office/powerpoint/2010/main" val="1560503294"/>
              </p:ext>
            </p:extLst>
          </p:nvPr>
        </p:nvGraphicFramePr>
        <p:xfrm>
          <a:off x="770021" y="2060856"/>
          <a:ext cx="7832670" cy="2736287"/>
        </p:xfrm>
        <a:graphic>
          <a:graphicData uri="http://schemas.openxmlformats.org/drawingml/2006/table">
            <a:tbl>
              <a:tblPr firstRow="1">
                <a:tableStyleId>{21E4AEA4-8DFA-4A89-87EB-49C32662AFE0}</a:tableStyleId>
              </a:tblPr>
              <a:tblGrid>
                <a:gridCol w="1655802">
                  <a:extLst>
                    <a:ext uri="{9D8B030D-6E8A-4147-A177-3AD203B41FA5}">
                      <a16:colId xmlns:a16="http://schemas.microsoft.com/office/drawing/2014/main" val="20000"/>
                    </a:ext>
                  </a:extLst>
                </a:gridCol>
                <a:gridCol w="1508999">
                  <a:extLst>
                    <a:ext uri="{9D8B030D-6E8A-4147-A177-3AD203B41FA5}">
                      <a16:colId xmlns:a16="http://schemas.microsoft.com/office/drawing/2014/main" val="661323298"/>
                    </a:ext>
                  </a:extLst>
                </a:gridCol>
                <a:gridCol w="1862515">
                  <a:extLst>
                    <a:ext uri="{9D8B030D-6E8A-4147-A177-3AD203B41FA5}">
                      <a16:colId xmlns:a16="http://schemas.microsoft.com/office/drawing/2014/main" val="20001"/>
                    </a:ext>
                  </a:extLst>
                </a:gridCol>
                <a:gridCol w="1663577">
                  <a:extLst>
                    <a:ext uri="{9D8B030D-6E8A-4147-A177-3AD203B41FA5}">
                      <a16:colId xmlns:a16="http://schemas.microsoft.com/office/drawing/2014/main" val="20002"/>
                    </a:ext>
                  </a:extLst>
                </a:gridCol>
                <a:gridCol w="1141777">
                  <a:extLst>
                    <a:ext uri="{9D8B030D-6E8A-4147-A177-3AD203B41FA5}">
                      <a16:colId xmlns:a16="http://schemas.microsoft.com/office/drawing/2014/main" val="20003"/>
                    </a:ext>
                  </a:extLst>
                </a:gridCol>
              </a:tblGrid>
              <a:tr h="0">
                <a:tc gridSpan="2">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err="1">
                          <a:ln>
                            <a:noFill/>
                          </a:ln>
                          <a:effectLst/>
                        </a:rPr>
                        <a:t>Classe</a:t>
                      </a:r>
                      <a:r>
                        <a:rPr kumimoji="0" lang="en-GB" sz="2000" u="none" strike="noStrike" cap="none" normalizeH="0" baseline="0" dirty="0">
                          <a:ln>
                            <a:noFill/>
                          </a:ln>
                          <a:effectLst/>
                        </a:rPr>
                        <a:t> de </a:t>
                      </a:r>
                      <a:r>
                        <a:rPr kumimoji="0" lang="en-GB" sz="2000" u="none" strike="noStrike" cap="none" normalizeH="0" baseline="0" dirty="0" err="1">
                          <a:ln>
                            <a:noFill/>
                          </a:ln>
                          <a:effectLst/>
                        </a:rPr>
                        <a:t>Sistemas</a:t>
                      </a:r>
                      <a:r>
                        <a:rPr kumimoji="0" lang="en-GB" sz="2000" u="none" strike="noStrike" cap="none" normalizeH="0" baseline="0" dirty="0">
                          <a:ln>
                            <a:noFill/>
                          </a:ln>
                          <a:effectLst/>
                        </a:rPr>
                        <a:t> e </a:t>
                      </a:r>
                      <a:r>
                        <a:rPr kumimoji="0" lang="en-GB" sz="2000" u="none" strike="noStrike" cap="none" normalizeH="0" baseline="0" dirty="0" err="1">
                          <a:ln>
                            <a:noFill/>
                          </a:ln>
                          <a:effectLst/>
                        </a:rPr>
                        <a:t>Órgãos</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tc hMerge="1">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err="1">
                          <a:ln>
                            <a:noFill/>
                          </a:ln>
                          <a:effectLst/>
                        </a:rPr>
                        <a:t>Rinialer</a:t>
                      </a:r>
                      <a:r>
                        <a:rPr kumimoji="0" lang="en-GB" sz="2000" u="none" strike="noStrike" cap="none" normalizeH="0" baseline="0" dirty="0">
                          <a:ln>
                            <a:noFill/>
                          </a:ln>
                          <a:effectLst/>
                        </a:rPr>
                        <a:t> 2,5 mg</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err="1">
                          <a:ln>
                            <a:noFill/>
                          </a:ln>
                          <a:effectLst/>
                        </a:rPr>
                        <a:t>Rinialer</a:t>
                      </a:r>
                      <a:r>
                        <a:rPr kumimoji="0" lang="en-GB" sz="2000" u="none" strike="noStrike" cap="none" normalizeH="0" baseline="0" dirty="0">
                          <a:ln>
                            <a:noFill/>
                          </a:ln>
                          <a:effectLst/>
                        </a:rPr>
                        <a:t> 5 mg</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a:ln>
                            <a:noFill/>
                          </a:ln>
                          <a:effectLst/>
                        </a:rPr>
                        <a:t>Placebo</a:t>
                      </a:r>
                      <a:endParaRPr kumimoji="0" lang="en-GB" sz="2000" b="1" i="0" u="none" strike="noStrike" cap="none" normalizeH="0" baseline="0" dirty="0">
                        <a:ln>
                          <a:noFill/>
                        </a:ln>
                        <a:solidFill>
                          <a:schemeClr val="bg1"/>
                        </a:solidFill>
                        <a:effectLst/>
                        <a:latin typeface="Calibri" pitchFamily="34" charset="0"/>
                        <a:ea typeface="ＭＳ Ｐゴシック" pitchFamily="34" charset="-128"/>
                        <a:cs typeface="ＭＳ Ｐゴシック" pitchFamily="34" charset="-128"/>
                      </a:endParaRPr>
                    </a:p>
                  </a:txBody>
                  <a:tcPr marL="91445" marR="91445" anchor="ctr" horzOverflow="overflow"/>
                </a:tc>
                <a:extLst>
                  <a:ext uri="{0D108BD9-81ED-4DB2-BD59-A6C34878D82A}">
                    <a16:rowId xmlns:a16="http://schemas.microsoft.com/office/drawing/2014/main" val="10000"/>
                  </a:ext>
                </a:extLst>
              </a:tr>
              <a:tr h="583640">
                <a:tc gridSpan="2">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hMerge="1">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(n=147)</a:t>
                      </a: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(n=159)</a:t>
                      </a: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(n=249)</a:t>
                      </a:r>
                    </a:p>
                  </a:txBody>
                  <a:tcPr marL="91445" marR="91445" anchor="ctr" horzOverflow="overflow"/>
                </a:tc>
                <a:extLst>
                  <a:ext uri="{0D108BD9-81ED-4DB2-BD59-A6C34878D82A}">
                    <a16:rowId xmlns:a16="http://schemas.microsoft.com/office/drawing/2014/main" val="10001"/>
                  </a:ext>
                </a:extLst>
              </a:tr>
              <a:tr h="585469">
                <a:tc gridSpan="5">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u="none" strike="noStrike" cap="none" normalizeH="0" baseline="0" dirty="0" err="1">
                          <a:ln>
                            <a:noFill/>
                          </a:ln>
                          <a:solidFill>
                            <a:schemeClr val="accent2">
                              <a:lumMod val="50000"/>
                            </a:schemeClr>
                          </a:solidFill>
                          <a:effectLst/>
                        </a:rPr>
                        <a:t>Distúrbios</a:t>
                      </a:r>
                      <a:r>
                        <a:rPr kumimoji="0" lang="en-GB" sz="2000" u="none" strike="noStrike" cap="none" normalizeH="0" baseline="0" dirty="0">
                          <a:ln>
                            <a:noFill/>
                          </a:ln>
                          <a:solidFill>
                            <a:schemeClr val="accent2">
                              <a:lumMod val="50000"/>
                            </a:schemeClr>
                          </a:solidFill>
                          <a:effectLst/>
                        </a:rPr>
                        <a:t> do </a:t>
                      </a:r>
                      <a:r>
                        <a:rPr kumimoji="0" lang="en-GB" sz="2000" u="none" strike="noStrike" cap="none" normalizeH="0" baseline="0" dirty="0" err="1">
                          <a:ln>
                            <a:noFill/>
                          </a:ln>
                          <a:solidFill>
                            <a:schemeClr val="accent2">
                              <a:lumMod val="50000"/>
                            </a:schemeClr>
                          </a:solidFill>
                          <a:effectLst/>
                        </a:rPr>
                        <a:t>sistema</a:t>
                      </a:r>
                      <a:r>
                        <a:rPr kumimoji="0" lang="en-GB" sz="2000" u="none" strike="noStrike" cap="none" normalizeH="0" baseline="0" dirty="0">
                          <a:ln>
                            <a:noFill/>
                          </a:ln>
                          <a:solidFill>
                            <a:schemeClr val="accent2">
                              <a:lumMod val="50000"/>
                            </a:schemeClr>
                          </a:solidFill>
                          <a:effectLst/>
                        </a:rPr>
                        <a:t> </a:t>
                      </a:r>
                      <a:r>
                        <a:rPr kumimoji="0" lang="en-GB" sz="2000" u="none" strike="noStrike" cap="none" normalizeH="0" baseline="0" dirty="0" err="1">
                          <a:ln>
                            <a:noFill/>
                          </a:ln>
                          <a:solidFill>
                            <a:schemeClr val="accent2">
                              <a:lumMod val="50000"/>
                            </a:schemeClr>
                          </a:solidFill>
                          <a:effectLst/>
                        </a:rPr>
                        <a:t>nervoso</a:t>
                      </a: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hMerge="1">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hMerge="1">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hMerge="1">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hMerge="1">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extLst>
                  <a:ext uri="{0D108BD9-81ED-4DB2-BD59-A6C34878D82A}">
                    <a16:rowId xmlns:a16="http://schemas.microsoft.com/office/drawing/2014/main" val="10002"/>
                  </a:ext>
                </a:extLst>
              </a:tr>
              <a:tr h="585469">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b="1" i="0" u="sng" strike="noStrike" cap="none" normalizeH="0" baseline="0" dirty="0" err="1">
                          <a:ln>
                            <a:noFill/>
                          </a:ln>
                          <a:solidFill>
                            <a:schemeClr val="accent2">
                              <a:lumMod val="50000"/>
                            </a:schemeClr>
                          </a:solidFill>
                          <a:effectLst/>
                          <a:latin typeface="Calibri" pitchFamily="34" charset="0"/>
                          <a:ea typeface="ＭＳ Ｐゴシック" pitchFamily="34" charset="-128"/>
                          <a:cs typeface="ＭＳ Ｐゴシック" pitchFamily="34" charset="-128"/>
                        </a:rPr>
                        <a:t>Frequentes</a:t>
                      </a:r>
                      <a:endParaRPr kumimoji="0" lang="en-GB" sz="2000" b="1" i="0" u="sng"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err="1">
                          <a:ln>
                            <a:noFill/>
                          </a:ln>
                          <a:solidFill>
                            <a:schemeClr val="accent2">
                              <a:lumMod val="50000"/>
                            </a:schemeClr>
                          </a:solidFill>
                          <a:effectLst/>
                          <a:latin typeface="Calibri" pitchFamily="34" charset="0"/>
                          <a:ea typeface="ＭＳ Ｐゴシック" pitchFamily="34" charset="-128"/>
                          <a:cs typeface="ＭＳ Ｐゴシック" pitchFamily="34" charset="-128"/>
                        </a:rPr>
                        <a:t>Cefaleias</a:t>
                      </a:r>
                      <a:endParaRPr kumimoji="0" lang="en-GB" sz="20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2 (1,36%)</a:t>
                      </a: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4 (2,52%)</a:t>
                      </a: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4 (1,61%)</a:t>
                      </a:r>
                    </a:p>
                  </a:txBody>
                  <a:tcPr marL="91445" marR="91445" anchor="ctr" horzOverflow="overflow"/>
                </a:tc>
                <a:extLst>
                  <a:ext uri="{0D108BD9-81ED-4DB2-BD59-A6C34878D82A}">
                    <a16:rowId xmlns:a16="http://schemas.microsoft.com/office/drawing/2014/main" val="10003"/>
                  </a:ext>
                </a:extLst>
              </a:tr>
              <a:tr h="585469">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endParaRPr kumimoji="0" lang="en-GB" sz="2000" b="1"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l" defTabSz="457200" rtl="0" eaLnBrk="0" fontAlgn="base" latinLnBrk="0" hangingPunct="0">
                        <a:lnSpc>
                          <a:spcPct val="100000"/>
                        </a:lnSpc>
                        <a:spcBef>
                          <a:spcPct val="0"/>
                        </a:spcBef>
                        <a:spcAft>
                          <a:spcPct val="0"/>
                        </a:spcAft>
                        <a:buClrTx/>
                        <a:buSzTx/>
                        <a:buFontTx/>
                        <a:buNone/>
                        <a:tabLst/>
                      </a:pPr>
                      <a:r>
                        <a:rPr kumimoji="0" lang="en-GB" sz="2000" b="0" i="0" u="none" strike="noStrike" cap="none" normalizeH="0" baseline="0" dirty="0" err="1">
                          <a:ln>
                            <a:noFill/>
                          </a:ln>
                          <a:solidFill>
                            <a:schemeClr val="accent2">
                              <a:lumMod val="50000"/>
                            </a:schemeClr>
                          </a:solidFill>
                          <a:effectLst/>
                          <a:latin typeface="Calibri" pitchFamily="34" charset="0"/>
                          <a:ea typeface="ＭＳ Ｐゴシック" pitchFamily="34" charset="-128"/>
                          <a:cs typeface="ＭＳ Ｐゴシック" pitchFamily="34" charset="-128"/>
                        </a:rPr>
                        <a:t>Sonolência</a:t>
                      </a:r>
                      <a:endParaRPr kumimoji="0" lang="en-GB" sz="20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endParaRP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0</a:t>
                      </a: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2 (1,26%)</a:t>
                      </a:r>
                    </a:p>
                  </a:txBody>
                  <a:tcPr marL="91445" marR="91445" anchor="ctr" horzOverflow="overflow"/>
                </a:tc>
                <a:tc>
                  <a:txBody>
                    <a:bodyPr/>
                    <a:lstStyle/>
                    <a:p>
                      <a:pPr marL="342900" marR="0" lvl="0" indent="-342900" algn="ctr" defTabSz="4572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dirty="0">
                          <a:ln>
                            <a:noFill/>
                          </a:ln>
                          <a:solidFill>
                            <a:schemeClr val="accent2">
                              <a:lumMod val="50000"/>
                            </a:schemeClr>
                          </a:solidFill>
                          <a:effectLst/>
                          <a:latin typeface="Calibri" pitchFamily="34" charset="0"/>
                          <a:ea typeface="ＭＳ Ｐゴシック" pitchFamily="34" charset="-128"/>
                          <a:cs typeface="ＭＳ Ｐゴシック" pitchFamily="34" charset="-128"/>
                        </a:rPr>
                        <a:t>0</a:t>
                      </a:r>
                    </a:p>
                  </a:txBody>
                  <a:tcPr marL="91445" marR="91445" anchor="ctr" horzOverflow="overflow"/>
                </a:tc>
                <a:extLst>
                  <a:ext uri="{0D108BD9-81ED-4DB2-BD59-A6C34878D82A}">
                    <a16:rowId xmlns:a16="http://schemas.microsoft.com/office/drawing/2014/main" val="2711454431"/>
                  </a:ext>
                </a:extLst>
              </a:tr>
            </a:tbl>
          </a:graphicData>
        </a:graphic>
      </p:graphicFrame>
    </p:spTree>
    <p:extLst>
      <p:ext uri="{BB962C8B-B14F-4D97-AF65-F5344CB8AC3E}">
        <p14:creationId xmlns:p14="http://schemas.microsoft.com/office/powerpoint/2010/main" val="2763667080"/>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ChangeArrowheads="1"/>
          </p:cNvSpPr>
          <p:nvPr/>
        </p:nvSpPr>
        <p:spPr bwMode="auto">
          <a:xfrm>
            <a:off x="198438" y="4334201"/>
            <a:ext cx="8496300" cy="574675"/>
          </a:xfrm>
          <a:prstGeom prst="roundRect">
            <a:avLst>
              <a:gd name="adj" fmla="val 50000"/>
            </a:avLst>
          </a:prstGeom>
          <a:solidFill>
            <a:schemeClr val="accent1">
              <a:lumMod val="60000"/>
              <a:lumOff val="40000"/>
            </a:schemeClr>
          </a:solidFill>
          <a:ln w="9525">
            <a:noFill/>
            <a:round/>
            <a:headEnd/>
            <a:tailEnd/>
          </a:ln>
        </p:spPr>
        <p:txBody>
          <a:bodyPr wrap="none" anchor="ctr"/>
          <a:lstStyle/>
          <a:p>
            <a:pPr eaLnBrk="1" hangingPunct="1">
              <a:buClr>
                <a:srgbClr val="000000"/>
              </a:buClr>
              <a:buSzPct val="100000"/>
              <a:buFont typeface="Calibri" pitchFamily="34" charset="0"/>
              <a:buNone/>
            </a:pPr>
            <a:endParaRPr lang="es-ES_tradnl" altLang="es-ES" dirty="0"/>
          </a:p>
        </p:txBody>
      </p:sp>
      <p:sp>
        <p:nvSpPr>
          <p:cNvPr id="3075" name="Rectangle 3"/>
          <p:cNvSpPr>
            <a:spLocks noGrp="1" noChangeArrowheads="1"/>
          </p:cNvSpPr>
          <p:nvPr>
            <p:ph idx="1"/>
          </p:nvPr>
        </p:nvSpPr>
        <p:spPr>
          <a:xfrm>
            <a:off x="465138" y="1196974"/>
            <a:ext cx="8229600" cy="4395303"/>
          </a:xfrm>
        </p:spPr>
        <p:txBody>
          <a:bodyPr>
            <a:normAutofit fontScale="85000" lnSpcReduction="20000"/>
          </a:bodyPr>
          <a:lstStyle/>
          <a:p>
            <a:pPr eaLnBrk="1" hangingPunct="1">
              <a:lnSpc>
                <a:spcPct val="150000"/>
              </a:lnSpc>
            </a:pPr>
            <a:endParaRPr lang="pt-PT" altLang="es-ES" sz="3000" b="1" dirty="0"/>
          </a:p>
          <a:p>
            <a:pPr eaLnBrk="1" hangingPunct="1">
              <a:lnSpc>
                <a:spcPct val="150000"/>
              </a:lnSpc>
            </a:pPr>
            <a:r>
              <a:rPr lang="pt-PT" altLang="es-ES" sz="3000" b="1" dirty="0"/>
              <a:t>RINIALER em Pediatria (&lt; 12 anos) </a:t>
            </a:r>
          </a:p>
          <a:p>
            <a:pPr lvl="1">
              <a:lnSpc>
                <a:spcPct val="150000"/>
              </a:lnSpc>
            </a:pPr>
            <a:r>
              <a:rPr lang="pt-PT" altLang="es-ES" sz="2800" b="1" dirty="0"/>
              <a:t>Rinite alérgica: Eficácia clínica</a:t>
            </a:r>
          </a:p>
          <a:p>
            <a:pPr lvl="1">
              <a:lnSpc>
                <a:spcPct val="150000"/>
              </a:lnSpc>
            </a:pPr>
            <a:r>
              <a:rPr lang="pt-PT" altLang="es-ES" sz="2800" b="1" dirty="0"/>
              <a:t>Urticária: Eficácia clínica</a:t>
            </a:r>
          </a:p>
          <a:p>
            <a:pPr lvl="1">
              <a:lnSpc>
                <a:spcPct val="150000"/>
              </a:lnSpc>
            </a:pPr>
            <a:r>
              <a:rPr lang="pt-PT" altLang="es-ES" sz="2800" b="1" dirty="0"/>
              <a:t>Segurança e Tolerabilidade</a:t>
            </a:r>
          </a:p>
          <a:p>
            <a:pPr eaLnBrk="1" hangingPunct="1">
              <a:lnSpc>
                <a:spcPct val="150000"/>
              </a:lnSpc>
            </a:pPr>
            <a:r>
              <a:rPr lang="pt-PT" altLang="es-ES" sz="3000" b="1" dirty="0"/>
              <a:t>Conclusões</a:t>
            </a:r>
          </a:p>
          <a:p>
            <a:pPr eaLnBrk="1" hangingPunct="1">
              <a:lnSpc>
                <a:spcPct val="150000"/>
              </a:lnSpc>
            </a:pPr>
            <a:r>
              <a:rPr lang="pt-PT" altLang="es-ES" sz="3000" b="1" dirty="0"/>
              <a:t>Indicações terapêuticas</a:t>
            </a:r>
          </a:p>
        </p:txBody>
      </p:sp>
      <p:pic>
        <p:nvPicPr>
          <p:cNvPr id="3" name="Picture 2" descr="Text, logo&#10;&#10;Description automatically generated">
            <a:extLst>
              <a:ext uri="{FF2B5EF4-FFF2-40B4-BE49-F238E27FC236}">
                <a16:creationId xmlns:a16="http://schemas.microsoft.com/office/drawing/2014/main" id="{0A68C56D-5DCA-4C87-93E9-A9A726187A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7701" y="-386794"/>
            <a:ext cx="2566299" cy="1814776"/>
          </a:xfrm>
          <a:prstGeom prst="rect">
            <a:avLst/>
          </a:prstGeom>
        </p:spPr>
      </p:pic>
      <p:pic>
        <p:nvPicPr>
          <p:cNvPr id="7170" name="Picture 2" descr="A Mindfulness Practice for Preschoolers That Connects Kids to Nature -  Mindful">
            <a:extLst>
              <a:ext uri="{FF2B5EF4-FFF2-40B4-BE49-F238E27FC236}">
                <a16:creationId xmlns:a16="http://schemas.microsoft.com/office/drawing/2014/main" id="{889340E2-1E5D-4C43-BD25-2965A752C1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3326" y="4334201"/>
            <a:ext cx="4020674" cy="252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354673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745975" y="1917526"/>
            <a:ext cx="8229600" cy="4001920"/>
          </a:xfrm>
        </p:spPr>
        <p:txBody>
          <a:bodyPr>
            <a:noAutofit/>
          </a:bodyPr>
          <a:lstStyle/>
          <a:p>
            <a:pPr>
              <a:spcAft>
                <a:spcPct val="50000"/>
              </a:spcAft>
            </a:pPr>
            <a:r>
              <a:rPr lang="pt-PT" altLang="es-ES" sz="2000" dirty="0"/>
              <a:t>A incidência de </a:t>
            </a:r>
            <a:r>
              <a:rPr lang="pt-PT" altLang="es-ES" sz="2000" b="1" dirty="0" err="1"/>
              <a:t>reacções</a:t>
            </a:r>
            <a:r>
              <a:rPr lang="pt-PT" altLang="es-ES" sz="2000" b="1" dirty="0"/>
              <a:t> adversas em crianças entre os 2 e os 11 anos de idade</a:t>
            </a:r>
            <a:r>
              <a:rPr lang="pt-PT" altLang="es-ES" sz="2000" dirty="0"/>
              <a:t> tratadas com </a:t>
            </a:r>
            <a:r>
              <a:rPr lang="pt-PT" altLang="es-ES" sz="2000" dirty="0" err="1"/>
              <a:t>Rinialer</a:t>
            </a:r>
            <a:r>
              <a:rPr lang="pt-PT" altLang="es-ES" sz="2000" dirty="0"/>
              <a:t> em solução oral pediátrica é </a:t>
            </a:r>
            <a:r>
              <a:rPr lang="pt-PT" altLang="es-ES" sz="2000" b="1" dirty="0"/>
              <a:t>MENOR que aquela relatada em doentes adultos.</a:t>
            </a:r>
          </a:p>
          <a:p>
            <a:pPr>
              <a:spcAft>
                <a:spcPct val="50000"/>
              </a:spcAft>
            </a:pPr>
            <a:r>
              <a:rPr lang="pt-PT" altLang="es-ES" sz="2000" b="1" dirty="0" err="1"/>
              <a:t>Rinialer</a:t>
            </a:r>
            <a:r>
              <a:rPr lang="pt-PT" altLang="es-ES" sz="2000" b="1" dirty="0"/>
              <a:t> foi bem tolerado</a:t>
            </a:r>
            <a:r>
              <a:rPr lang="pt-PT" altLang="es-ES" sz="2000" dirty="0"/>
              <a:t>, de forma semelhante ao placebo.</a:t>
            </a:r>
          </a:p>
          <a:p>
            <a:pPr>
              <a:spcAft>
                <a:spcPct val="50000"/>
              </a:spcAft>
            </a:pPr>
            <a:r>
              <a:rPr lang="pt-PT" altLang="es-ES" sz="2000" dirty="0"/>
              <a:t>As RA mais frequentes foram dores de cabeça, porém, a sua incidência com </a:t>
            </a:r>
            <a:r>
              <a:rPr lang="pt-PT" altLang="es-ES" sz="2000" b="1" dirty="0" err="1"/>
              <a:t>Rinialer</a:t>
            </a:r>
            <a:r>
              <a:rPr lang="pt-PT" altLang="es-ES" sz="2000" dirty="0"/>
              <a:t> foi </a:t>
            </a:r>
            <a:r>
              <a:rPr lang="pt-PT" altLang="es-ES" sz="2000" b="1" dirty="0"/>
              <a:t>semelhante àquela verificada com o placebo</a:t>
            </a:r>
            <a:r>
              <a:rPr lang="pt-PT" altLang="es-ES" sz="2000" dirty="0"/>
              <a:t>.</a:t>
            </a:r>
          </a:p>
          <a:p>
            <a:pPr>
              <a:spcAft>
                <a:spcPct val="50000"/>
              </a:spcAft>
            </a:pPr>
            <a:r>
              <a:rPr lang="pt-PT" altLang="es-ES" sz="2000" dirty="0"/>
              <a:t>Não foram comunicadas RA graves.</a:t>
            </a:r>
          </a:p>
          <a:p>
            <a:pPr>
              <a:spcAft>
                <a:spcPct val="50000"/>
              </a:spcAft>
            </a:pPr>
            <a:r>
              <a:rPr lang="pt-PT" altLang="es-ES" sz="2000" b="1" dirty="0"/>
              <a:t>Não se </a:t>
            </a:r>
            <a:r>
              <a:rPr lang="pt-PT" altLang="es-ES" sz="2000" b="1" dirty="0" err="1"/>
              <a:t>detectaram</a:t>
            </a:r>
            <a:r>
              <a:rPr lang="pt-PT" altLang="es-ES" sz="2000" b="1" dirty="0"/>
              <a:t> problemas relacionados com o ECG </a:t>
            </a:r>
            <a:r>
              <a:rPr lang="pt-PT" altLang="es-ES" sz="2000" dirty="0"/>
              <a:t>(prolongamento do intervalo </a:t>
            </a:r>
            <a:r>
              <a:rPr lang="pt-PT" altLang="es-ES" sz="2000" dirty="0" err="1"/>
              <a:t>QTc</a:t>
            </a:r>
            <a:r>
              <a:rPr lang="pt-PT" altLang="es-ES" sz="2000" dirty="0"/>
              <a:t>).</a:t>
            </a:r>
          </a:p>
        </p:txBody>
      </p:sp>
      <p:sp>
        <p:nvSpPr>
          <p:cNvPr id="5" name="Text Box 4">
            <a:extLst>
              <a:ext uri="{FF2B5EF4-FFF2-40B4-BE49-F238E27FC236}">
                <a16:creationId xmlns:a16="http://schemas.microsoft.com/office/drawing/2014/main" id="{C880C1A7-59CB-4B23-95F4-1EA2A365B4A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7" name="Text Box 48">
            <a:extLst>
              <a:ext uri="{FF2B5EF4-FFF2-40B4-BE49-F238E27FC236}">
                <a16:creationId xmlns:a16="http://schemas.microsoft.com/office/drawing/2014/main" id="{D8A5DAB2-CEEB-4D6A-869A-A47B703EE1E8}"/>
              </a:ext>
            </a:extLst>
          </p:cNvPr>
          <p:cNvSpPr txBox="1">
            <a:spLocks noChangeArrowheads="1"/>
          </p:cNvSpPr>
          <p:nvPr/>
        </p:nvSpPr>
        <p:spPr bwMode="auto">
          <a:xfrm>
            <a:off x="1302101" y="147637"/>
            <a:ext cx="7928526" cy="1538883"/>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Calibri" pitchFamily="34" charset="0"/>
              <a:buNone/>
            </a:pPr>
            <a:r>
              <a:rPr lang="pt-PT" altLang="es-ES" sz="3200" dirty="0">
                <a:solidFill>
                  <a:schemeClr val="accent2">
                    <a:lumMod val="50000"/>
                  </a:schemeClr>
                </a:solidFill>
              </a:rPr>
              <a:t>Perfil de segurança em crianças</a:t>
            </a:r>
            <a:r>
              <a:rPr lang="pt-PT" sz="3600" dirty="0">
                <a:solidFill>
                  <a:schemeClr val="accent2">
                    <a:lumMod val="50000"/>
                  </a:schemeClr>
                </a:solidFill>
              </a:rPr>
              <a:t> </a:t>
            </a:r>
            <a:r>
              <a:rPr lang="pt-PT" altLang="es-ES" sz="3200" dirty="0">
                <a:solidFill>
                  <a:schemeClr val="accent2">
                    <a:lumMod val="50000"/>
                  </a:schemeClr>
                </a:solidFill>
              </a:rPr>
              <a:t>com idades compreendidas entre os 2 e os 11 anos: </a:t>
            </a:r>
            <a:r>
              <a:rPr lang="pt-PT" altLang="es-ES" sz="3200" u="sng" dirty="0">
                <a:solidFill>
                  <a:schemeClr val="accent2">
                    <a:lumMod val="50000"/>
                  </a:schemeClr>
                </a:solidFill>
              </a:rPr>
              <a:t>Conclusões</a:t>
            </a:r>
          </a:p>
        </p:txBody>
      </p:sp>
    </p:spTree>
    <p:extLst>
      <p:ext uri="{BB962C8B-B14F-4D97-AF65-F5344CB8AC3E}">
        <p14:creationId xmlns:p14="http://schemas.microsoft.com/office/powerpoint/2010/main" val="322051378"/>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p:cNvSpPr>
            <a:spLocks noChangeArrowheads="1"/>
          </p:cNvSpPr>
          <p:nvPr/>
        </p:nvSpPr>
        <p:spPr bwMode="auto">
          <a:xfrm>
            <a:off x="198438" y="4969666"/>
            <a:ext cx="8496300" cy="574675"/>
          </a:xfrm>
          <a:prstGeom prst="roundRect">
            <a:avLst>
              <a:gd name="adj" fmla="val 50000"/>
            </a:avLst>
          </a:prstGeom>
          <a:solidFill>
            <a:schemeClr val="accent1">
              <a:lumMod val="60000"/>
              <a:lumOff val="40000"/>
            </a:schemeClr>
          </a:solidFill>
          <a:ln w="9525">
            <a:noFill/>
            <a:round/>
            <a:headEnd/>
            <a:tailEnd/>
          </a:ln>
        </p:spPr>
        <p:txBody>
          <a:bodyPr wrap="none" anchor="ctr"/>
          <a:lstStyle/>
          <a:p>
            <a:pPr eaLnBrk="1" hangingPunct="1">
              <a:buClr>
                <a:srgbClr val="000000"/>
              </a:buClr>
              <a:buSzPct val="100000"/>
              <a:buFont typeface="Calibri" pitchFamily="34" charset="0"/>
              <a:buNone/>
            </a:pPr>
            <a:endParaRPr lang="es-ES_tradnl" altLang="es-ES" dirty="0"/>
          </a:p>
        </p:txBody>
      </p:sp>
      <p:sp>
        <p:nvSpPr>
          <p:cNvPr id="3075" name="Rectangle 3"/>
          <p:cNvSpPr>
            <a:spLocks noGrp="1" noChangeArrowheads="1"/>
          </p:cNvSpPr>
          <p:nvPr>
            <p:ph idx="1"/>
          </p:nvPr>
        </p:nvSpPr>
        <p:spPr>
          <a:xfrm>
            <a:off x="465138" y="1196974"/>
            <a:ext cx="8229600" cy="4424179"/>
          </a:xfrm>
        </p:spPr>
        <p:txBody>
          <a:bodyPr>
            <a:normAutofit fontScale="85000" lnSpcReduction="20000"/>
          </a:bodyPr>
          <a:lstStyle/>
          <a:p>
            <a:pPr eaLnBrk="1" hangingPunct="1">
              <a:lnSpc>
                <a:spcPct val="150000"/>
              </a:lnSpc>
            </a:pPr>
            <a:endParaRPr lang="pt-PT" altLang="es-ES" sz="3000" b="1" dirty="0"/>
          </a:p>
          <a:p>
            <a:pPr eaLnBrk="1" hangingPunct="1">
              <a:lnSpc>
                <a:spcPct val="150000"/>
              </a:lnSpc>
            </a:pPr>
            <a:r>
              <a:rPr lang="pt-PT" altLang="es-ES" sz="3000" b="1" dirty="0"/>
              <a:t>RINIALER em Pediatria (&lt; 12 anos) </a:t>
            </a:r>
          </a:p>
          <a:p>
            <a:pPr lvl="1">
              <a:lnSpc>
                <a:spcPct val="150000"/>
              </a:lnSpc>
            </a:pPr>
            <a:r>
              <a:rPr lang="pt-PT" altLang="es-ES" sz="2800" b="1" dirty="0"/>
              <a:t>Rinite alérgica: Eficácia clínica</a:t>
            </a:r>
          </a:p>
          <a:p>
            <a:pPr lvl="1">
              <a:lnSpc>
                <a:spcPct val="150000"/>
              </a:lnSpc>
            </a:pPr>
            <a:r>
              <a:rPr lang="pt-PT" altLang="es-ES" sz="2800" b="1" dirty="0"/>
              <a:t>Urticária: Eficácia clínica</a:t>
            </a:r>
          </a:p>
          <a:p>
            <a:pPr lvl="1">
              <a:lnSpc>
                <a:spcPct val="150000"/>
              </a:lnSpc>
            </a:pPr>
            <a:r>
              <a:rPr lang="pt-PT" altLang="es-ES" sz="2800" b="1" dirty="0"/>
              <a:t>Segurança e Tolerabilidade</a:t>
            </a:r>
          </a:p>
          <a:p>
            <a:pPr>
              <a:lnSpc>
                <a:spcPct val="150000"/>
              </a:lnSpc>
            </a:pPr>
            <a:r>
              <a:rPr lang="pt-PT" altLang="es-ES" sz="3000" b="1" dirty="0"/>
              <a:t>Conclusões</a:t>
            </a:r>
          </a:p>
          <a:p>
            <a:pPr eaLnBrk="1" hangingPunct="1">
              <a:lnSpc>
                <a:spcPct val="150000"/>
              </a:lnSpc>
            </a:pPr>
            <a:r>
              <a:rPr lang="pt-PT" altLang="es-ES" sz="3000" b="1" dirty="0"/>
              <a:t>Indicações terapêuticas</a:t>
            </a:r>
          </a:p>
        </p:txBody>
      </p:sp>
      <p:pic>
        <p:nvPicPr>
          <p:cNvPr id="3" name="Picture 2" descr="Text, logo&#10;&#10;Description automatically generated">
            <a:extLst>
              <a:ext uri="{FF2B5EF4-FFF2-40B4-BE49-F238E27FC236}">
                <a16:creationId xmlns:a16="http://schemas.microsoft.com/office/drawing/2014/main" id="{0A68C56D-5DCA-4C87-93E9-A9A726187A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7701" y="-386794"/>
            <a:ext cx="2566299" cy="1814776"/>
          </a:xfrm>
          <a:prstGeom prst="rect">
            <a:avLst/>
          </a:prstGeom>
        </p:spPr>
      </p:pic>
      <p:pic>
        <p:nvPicPr>
          <p:cNvPr id="4102" name="Picture 6" descr="Happy African American Child Stock Photo 23822263 | Shutterstock">
            <a:extLst>
              <a:ext uri="{FF2B5EF4-FFF2-40B4-BE49-F238E27FC236}">
                <a16:creationId xmlns:a16="http://schemas.microsoft.com/office/drawing/2014/main" id="{6AC132E5-0A2F-4688-B88F-201A75386F6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8646"/>
          <a:stretch/>
        </p:blipFill>
        <p:spPr bwMode="auto">
          <a:xfrm>
            <a:off x="5632989" y="4555872"/>
            <a:ext cx="3511011" cy="2302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991401"/>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Content Placeholder 2"/>
          <p:cNvSpPr>
            <a:spLocks noGrp="1"/>
          </p:cNvSpPr>
          <p:nvPr>
            <p:ph idx="1"/>
          </p:nvPr>
        </p:nvSpPr>
        <p:spPr>
          <a:xfrm>
            <a:off x="649722" y="1648019"/>
            <a:ext cx="8229600" cy="4001920"/>
          </a:xfrm>
        </p:spPr>
        <p:txBody>
          <a:bodyPr>
            <a:noAutofit/>
          </a:bodyPr>
          <a:lstStyle/>
          <a:p>
            <a:pPr>
              <a:spcAft>
                <a:spcPct val="50000"/>
              </a:spcAft>
            </a:pPr>
            <a:r>
              <a:rPr lang="pt-PT" altLang="es-ES" sz="2000" b="1" dirty="0" err="1"/>
              <a:t>Rinialer</a:t>
            </a:r>
            <a:r>
              <a:rPr lang="pt-PT" altLang="es-ES" sz="2000" b="1" dirty="0"/>
              <a:t> solução oral 1 mg/ml</a:t>
            </a:r>
            <a:r>
              <a:rPr lang="pt-PT" altLang="es-ES" sz="2000" dirty="0"/>
              <a:t> está indicada para o </a:t>
            </a:r>
            <a:r>
              <a:rPr lang="pt-PT" altLang="es-ES" sz="2000" b="1" dirty="0"/>
              <a:t>tratamento sintomático de rinite alérgica </a:t>
            </a:r>
            <a:r>
              <a:rPr lang="pt-PT" altLang="es-ES" sz="2000" dirty="0"/>
              <a:t>(incluindo rinite alérgica perene) </a:t>
            </a:r>
            <a:r>
              <a:rPr lang="pt-PT" altLang="es-ES" sz="2000" b="1" dirty="0"/>
              <a:t>e urticária</a:t>
            </a:r>
            <a:r>
              <a:rPr lang="pt-PT" altLang="es-ES" sz="2000" dirty="0"/>
              <a:t> em </a:t>
            </a:r>
            <a:r>
              <a:rPr lang="pt-PT" altLang="es-ES" sz="2000" u="sng" dirty="0"/>
              <a:t>crianças entre os 2 e os 11 anos de idade</a:t>
            </a:r>
            <a:r>
              <a:rPr lang="pt-PT" altLang="es-ES" sz="2000" dirty="0"/>
              <a:t>.</a:t>
            </a:r>
          </a:p>
          <a:p>
            <a:pPr>
              <a:spcAft>
                <a:spcPct val="50000"/>
              </a:spcAft>
            </a:pPr>
            <a:r>
              <a:rPr lang="pt-PT" altLang="es-ES" sz="2000" b="1" dirty="0"/>
              <a:t>Posologia:  </a:t>
            </a:r>
          </a:p>
          <a:p>
            <a:pPr lvl="1">
              <a:spcAft>
                <a:spcPct val="50000"/>
              </a:spcAft>
            </a:pPr>
            <a:r>
              <a:rPr lang="pt-PT" altLang="es-ES" sz="1800" dirty="0"/>
              <a:t>Em crianças com </a:t>
            </a:r>
            <a:r>
              <a:rPr lang="pt-PT" altLang="es-ES" sz="1800" b="1" dirty="0"/>
              <a:t>peso igual ou superior a 10 kg e inferior a 25 kg</a:t>
            </a:r>
            <a:r>
              <a:rPr lang="pt-PT" altLang="es-ES" sz="1800" dirty="0"/>
              <a:t>: 		2,5 ml (2,5 mg de </a:t>
            </a:r>
            <a:r>
              <a:rPr lang="pt-PT" altLang="es-ES" sz="1800" dirty="0" err="1"/>
              <a:t>Rinialer</a:t>
            </a:r>
            <a:r>
              <a:rPr lang="pt-PT" altLang="es-ES" sz="1800" dirty="0"/>
              <a:t>) em solução oral.</a:t>
            </a:r>
          </a:p>
          <a:p>
            <a:pPr lvl="1">
              <a:spcAft>
                <a:spcPct val="50000"/>
              </a:spcAft>
            </a:pPr>
            <a:r>
              <a:rPr lang="pt-PT" altLang="es-ES" sz="1800" dirty="0"/>
              <a:t>Em crianças com </a:t>
            </a:r>
            <a:r>
              <a:rPr lang="pt-PT" altLang="es-ES" sz="1800" b="1" dirty="0"/>
              <a:t>peso igual ou superior a 25 kg</a:t>
            </a:r>
            <a:r>
              <a:rPr lang="pt-PT" altLang="es-ES" sz="1800" dirty="0"/>
              <a:t>:							5 ml (5 mg de </a:t>
            </a:r>
            <a:r>
              <a:rPr lang="pt-PT" altLang="es-ES" sz="1800" dirty="0" err="1"/>
              <a:t>Rinialer</a:t>
            </a:r>
            <a:r>
              <a:rPr lang="pt-PT" altLang="es-ES" sz="1800" dirty="0"/>
              <a:t>) em solução oral. </a:t>
            </a:r>
          </a:p>
          <a:p>
            <a:pPr>
              <a:spcAft>
                <a:spcPct val="50000"/>
              </a:spcAft>
            </a:pPr>
            <a:r>
              <a:rPr lang="pt-PT" altLang="es-ES" sz="2000" b="1" dirty="0"/>
              <a:t>Uma vez ao dia</a:t>
            </a:r>
            <a:r>
              <a:rPr lang="pt-PT" altLang="es-ES" sz="2000" dirty="0"/>
              <a:t>, com ou sem alimentos.</a:t>
            </a:r>
          </a:p>
          <a:p>
            <a:pPr>
              <a:spcAft>
                <a:spcPct val="50000"/>
              </a:spcAft>
            </a:pPr>
            <a:endParaRPr lang="pt-PT" altLang="es-ES" sz="2000" dirty="0"/>
          </a:p>
        </p:txBody>
      </p:sp>
      <p:sp>
        <p:nvSpPr>
          <p:cNvPr id="5" name="Text Box 4">
            <a:extLst>
              <a:ext uri="{FF2B5EF4-FFF2-40B4-BE49-F238E27FC236}">
                <a16:creationId xmlns:a16="http://schemas.microsoft.com/office/drawing/2014/main" id="{C880C1A7-59CB-4B23-95F4-1EA2A365B4A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7" name="Text Box 48">
            <a:extLst>
              <a:ext uri="{FF2B5EF4-FFF2-40B4-BE49-F238E27FC236}">
                <a16:creationId xmlns:a16="http://schemas.microsoft.com/office/drawing/2014/main" id="{D8A5DAB2-CEEB-4D6A-869A-A47B703EE1E8}"/>
              </a:ext>
            </a:extLst>
          </p:cNvPr>
          <p:cNvSpPr txBox="1">
            <a:spLocks noChangeArrowheads="1"/>
          </p:cNvSpPr>
          <p:nvPr/>
        </p:nvSpPr>
        <p:spPr bwMode="auto">
          <a:xfrm>
            <a:off x="1302101" y="734776"/>
            <a:ext cx="7928526" cy="492443"/>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Calibri" pitchFamily="34" charset="0"/>
              <a:buNone/>
            </a:pPr>
            <a:r>
              <a:rPr lang="pt-PT" altLang="es-ES" sz="3200" dirty="0">
                <a:solidFill>
                  <a:schemeClr val="accent2">
                    <a:lumMod val="50000"/>
                  </a:schemeClr>
                </a:solidFill>
              </a:rPr>
              <a:t>Indicações terapêuticas</a:t>
            </a:r>
          </a:p>
        </p:txBody>
      </p:sp>
      <p:pic>
        <p:nvPicPr>
          <p:cNvPr id="8" name="Picture 7" descr="Text, whiteboard&#10;&#10;Description automatically generated">
            <a:extLst>
              <a:ext uri="{FF2B5EF4-FFF2-40B4-BE49-F238E27FC236}">
                <a16:creationId xmlns:a16="http://schemas.microsoft.com/office/drawing/2014/main" id="{C3476CBA-4197-4222-8937-9543A8CD1D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2804" y="3382007"/>
            <a:ext cx="2242947" cy="3065297"/>
          </a:xfrm>
          <a:prstGeom prst="rect">
            <a:avLst/>
          </a:prstGeom>
        </p:spPr>
      </p:pic>
      <p:pic>
        <p:nvPicPr>
          <p:cNvPr id="6" name="Picture 5" descr="Text&#10;&#10;Description automatically generated">
            <a:extLst>
              <a:ext uri="{FF2B5EF4-FFF2-40B4-BE49-F238E27FC236}">
                <a16:creationId xmlns:a16="http://schemas.microsoft.com/office/drawing/2014/main" id="{2826A6FA-B0AF-4912-98CD-2A7AB8C0965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04174" y="4661235"/>
            <a:ext cx="3620573" cy="2149772"/>
          </a:xfrm>
          <a:prstGeom prst="rect">
            <a:avLst/>
          </a:prstGeom>
        </p:spPr>
      </p:pic>
      <p:pic>
        <p:nvPicPr>
          <p:cNvPr id="9" name="Picture 8" descr="Text, logo&#10;&#10;Description automatically generated">
            <a:extLst>
              <a:ext uri="{FF2B5EF4-FFF2-40B4-BE49-F238E27FC236}">
                <a16:creationId xmlns:a16="http://schemas.microsoft.com/office/drawing/2014/main" id="{36CD3627-FA69-49BE-BFE2-6EC36BA5DBB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77701" y="-386794"/>
            <a:ext cx="2566299" cy="1814776"/>
          </a:xfrm>
          <a:prstGeom prst="rect">
            <a:avLst/>
          </a:prstGeom>
        </p:spPr>
      </p:pic>
    </p:spTree>
    <p:extLst>
      <p:ext uri="{BB962C8B-B14F-4D97-AF65-F5344CB8AC3E}">
        <p14:creationId xmlns:p14="http://schemas.microsoft.com/office/powerpoint/2010/main" val="308922833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4F8C0A-5B6C-48D9-97AA-A80CE5442D71}"/>
              </a:ext>
            </a:extLst>
          </p:cNvPr>
          <p:cNvPicPr>
            <a:picLocks noChangeAspect="1"/>
          </p:cNvPicPr>
          <p:nvPr/>
        </p:nvPicPr>
        <p:blipFill rotWithShape="1">
          <a:blip r:embed="rId3"/>
          <a:srcRect l="657" t="421" r="-1" b="1"/>
          <a:stretch/>
        </p:blipFill>
        <p:spPr>
          <a:xfrm>
            <a:off x="1145403" y="-22321"/>
            <a:ext cx="6872438" cy="6880321"/>
          </a:xfrm>
          <a:prstGeom prst="rect">
            <a:avLst/>
          </a:prstGeom>
        </p:spPr>
      </p:pic>
    </p:spTree>
    <p:extLst>
      <p:ext uri="{BB962C8B-B14F-4D97-AF65-F5344CB8AC3E}">
        <p14:creationId xmlns:p14="http://schemas.microsoft.com/office/powerpoint/2010/main" val="86960976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C880C1A7-59CB-4B23-95F4-1EA2A365B4A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sp>
        <p:nvSpPr>
          <p:cNvPr id="7" name="Text Box 48">
            <a:extLst>
              <a:ext uri="{FF2B5EF4-FFF2-40B4-BE49-F238E27FC236}">
                <a16:creationId xmlns:a16="http://schemas.microsoft.com/office/drawing/2014/main" id="{D8A5DAB2-CEEB-4D6A-869A-A47B703EE1E8}"/>
              </a:ext>
            </a:extLst>
          </p:cNvPr>
          <p:cNvSpPr txBox="1">
            <a:spLocks noChangeArrowheads="1"/>
          </p:cNvSpPr>
          <p:nvPr/>
        </p:nvSpPr>
        <p:spPr bwMode="auto">
          <a:xfrm>
            <a:off x="1302101" y="734776"/>
            <a:ext cx="7928526" cy="492443"/>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Calibri" pitchFamily="34" charset="0"/>
              <a:buNone/>
            </a:pPr>
            <a:r>
              <a:rPr lang="pt-PT" altLang="es-ES" sz="3200" dirty="0">
                <a:solidFill>
                  <a:schemeClr val="accent2">
                    <a:lumMod val="50000"/>
                  </a:schemeClr>
                </a:solidFill>
              </a:rPr>
              <a:t>IEC </a:t>
            </a:r>
            <a:r>
              <a:rPr lang="pt-PT" altLang="es-ES" sz="1400" dirty="0">
                <a:solidFill>
                  <a:schemeClr val="accent2">
                    <a:lumMod val="50000"/>
                  </a:schemeClr>
                </a:solidFill>
              </a:rPr>
              <a:t>(</a:t>
            </a:r>
            <a:r>
              <a:rPr lang="pt-PT" sz="1400" dirty="0">
                <a:solidFill>
                  <a:schemeClr val="accent2">
                    <a:lumMod val="50000"/>
                  </a:schemeClr>
                </a:solidFill>
              </a:rPr>
              <a:t>Informações essenciais compatíveis com o Resumo das Características do Medicamento)</a:t>
            </a:r>
            <a:endParaRPr lang="pt-PT" altLang="es-ES" sz="3200" dirty="0">
              <a:solidFill>
                <a:schemeClr val="accent2">
                  <a:lumMod val="50000"/>
                </a:schemeClr>
              </a:solidFill>
            </a:endParaRPr>
          </a:p>
        </p:txBody>
      </p:sp>
      <p:pic>
        <p:nvPicPr>
          <p:cNvPr id="15" name="Picture 14">
            <a:extLst>
              <a:ext uri="{FF2B5EF4-FFF2-40B4-BE49-F238E27FC236}">
                <a16:creationId xmlns:a16="http://schemas.microsoft.com/office/drawing/2014/main" id="{BF8013A0-93FC-4DF9-8FD1-A671AC17B358}"/>
              </a:ext>
            </a:extLst>
          </p:cNvPr>
          <p:cNvPicPr>
            <a:picLocks noChangeAspect="1"/>
          </p:cNvPicPr>
          <p:nvPr/>
        </p:nvPicPr>
        <p:blipFill>
          <a:blip r:embed="rId3"/>
          <a:stretch>
            <a:fillRect/>
          </a:stretch>
        </p:blipFill>
        <p:spPr>
          <a:xfrm>
            <a:off x="1460884" y="1635943"/>
            <a:ext cx="5991225" cy="4048125"/>
          </a:xfrm>
          <a:prstGeom prst="rect">
            <a:avLst/>
          </a:prstGeom>
        </p:spPr>
      </p:pic>
    </p:spTree>
    <p:extLst>
      <p:ext uri="{BB962C8B-B14F-4D97-AF65-F5344CB8AC3E}">
        <p14:creationId xmlns:p14="http://schemas.microsoft.com/office/powerpoint/2010/main" val="290664058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C880C1A7-59CB-4B23-95F4-1EA2A365B4AF}"/>
              </a:ext>
            </a:extLst>
          </p:cNvPr>
          <p:cNvSpPr txBox="1">
            <a:spLocks noChangeArrowheads="1"/>
          </p:cNvSpPr>
          <p:nvPr/>
        </p:nvSpPr>
        <p:spPr bwMode="auto">
          <a:xfrm>
            <a:off x="3790800" y="6405563"/>
            <a:ext cx="5184775" cy="304800"/>
          </a:xfrm>
          <a:prstGeom prst="rect">
            <a:avLst/>
          </a:prstGeom>
          <a:noFill/>
          <a:ln w="9525">
            <a:noFill/>
            <a:miter lim="800000"/>
            <a:headEnd/>
            <a:tailEnd/>
          </a:ln>
        </p:spPr>
        <p:txBody>
          <a:bodyPr>
            <a:spAutoFit/>
          </a:bodyPr>
          <a:lstStyle/>
          <a:p>
            <a:pPr algn="r" eaLnBrk="1" hangingPunct="1">
              <a:spcBef>
                <a:spcPct val="50000"/>
              </a:spcBef>
            </a:pPr>
            <a:r>
              <a:rPr lang="pt-PT" altLang="es-ES" sz="1400" i="1" dirty="0">
                <a:solidFill>
                  <a:schemeClr val="accent2">
                    <a:lumMod val="50000"/>
                  </a:schemeClr>
                </a:solidFill>
              </a:rPr>
              <a:t>RINIALER na Rinite Alérgica e Urticária</a:t>
            </a:r>
          </a:p>
        </p:txBody>
      </p:sp>
      <p:pic>
        <p:nvPicPr>
          <p:cNvPr id="13" name="Picture 12">
            <a:extLst>
              <a:ext uri="{FF2B5EF4-FFF2-40B4-BE49-F238E27FC236}">
                <a16:creationId xmlns:a16="http://schemas.microsoft.com/office/drawing/2014/main" id="{B641BC14-89B6-466F-BF75-BA1F4900D200}"/>
              </a:ext>
            </a:extLst>
          </p:cNvPr>
          <p:cNvPicPr>
            <a:picLocks noChangeAspect="1"/>
          </p:cNvPicPr>
          <p:nvPr/>
        </p:nvPicPr>
        <p:blipFill>
          <a:blip r:embed="rId3"/>
          <a:stretch>
            <a:fillRect/>
          </a:stretch>
        </p:blipFill>
        <p:spPr>
          <a:xfrm>
            <a:off x="1427346" y="1449428"/>
            <a:ext cx="6019800" cy="4733925"/>
          </a:xfrm>
          <a:prstGeom prst="rect">
            <a:avLst/>
          </a:prstGeom>
        </p:spPr>
      </p:pic>
      <p:sp>
        <p:nvSpPr>
          <p:cNvPr id="6" name="Text Box 48">
            <a:extLst>
              <a:ext uri="{FF2B5EF4-FFF2-40B4-BE49-F238E27FC236}">
                <a16:creationId xmlns:a16="http://schemas.microsoft.com/office/drawing/2014/main" id="{17E5A307-663B-4835-8EC6-22757769A466}"/>
              </a:ext>
            </a:extLst>
          </p:cNvPr>
          <p:cNvSpPr txBox="1">
            <a:spLocks noChangeArrowheads="1"/>
          </p:cNvSpPr>
          <p:nvPr/>
        </p:nvSpPr>
        <p:spPr bwMode="auto">
          <a:xfrm>
            <a:off x="1302101" y="734776"/>
            <a:ext cx="7928526" cy="492443"/>
          </a:xfrm>
          <a:prstGeom prst="rect">
            <a:avLst/>
          </a:prstGeom>
          <a:noFill/>
          <a:ln w="9525">
            <a:noFill/>
            <a:miter lim="800000"/>
            <a:headEnd/>
            <a:tailEnd/>
          </a:ln>
        </p:spPr>
        <p:txBody>
          <a:bodyPr wrap="square" lIns="180000" tIns="0" rIns="180000" bIns="0">
            <a:spAutoFit/>
          </a:bodyPr>
          <a:lstStyle/>
          <a:p>
            <a:pPr eaLnBrk="1" hangingPunct="1">
              <a:spcBef>
                <a:spcPts val="550"/>
              </a:spcBef>
              <a:buClr>
                <a:srgbClr val="000000"/>
              </a:buClr>
              <a:buSzPct val="100000"/>
              <a:buFont typeface="Calibri" pitchFamily="34" charset="0"/>
              <a:buNone/>
            </a:pPr>
            <a:r>
              <a:rPr lang="pt-PT" altLang="es-ES" sz="3200" dirty="0">
                <a:solidFill>
                  <a:schemeClr val="accent2">
                    <a:lumMod val="50000"/>
                  </a:schemeClr>
                </a:solidFill>
              </a:rPr>
              <a:t>IEC </a:t>
            </a:r>
            <a:r>
              <a:rPr lang="pt-PT" altLang="es-ES" sz="1400" dirty="0">
                <a:solidFill>
                  <a:schemeClr val="accent2">
                    <a:lumMod val="50000"/>
                  </a:schemeClr>
                </a:solidFill>
              </a:rPr>
              <a:t>(</a:t>
            </a:r>
            <a:r>
              <a:rPr lang="pt-PT" sz="1400" dirty="0">
                <a:solidFill>
                  <a:schemeClr val="accent2">
                    <a:lumMod val="50000"/>
                  </a:schemeClr>
                </a:solidFill>
              </a:rPr>
              <a:t>Informações essenciais compatíveis com o Resumo das Características do Medicamento)</a:t>
            </a:r>
            <a:endParaRPr lang="pt-PT" altLang="es-ES" sz="3200" dirty="0">
              <a:solidFill>
                <a:schemeClr val="accent2">
                  <a:lumMod val="50000"/>
                </a:schemeClr>
              </a:solidFill>
            </a:endParaRPr>
          </a:p>
        </p:txBody>
      </p:sp>
    </p:spTree>
    <p:extLst>
      <p:ext uri="{BB962C8B-B14F-4D97-AF65-F5344CB8AC3E}">
        <p14:creationId xmlns:p14="http://schemas.microsoft.com/office/powerpoint/2010/main" val="2912967355"/>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682BE371-319E-4D32-BBF2-8119A900D0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06584" y="4293096"/>
            <a:ext cx="2221696" cy="1221838"/>
          </a:xfrm>
          <a:prstGeom prst="rect">
            <a:avLst/>
          </a:prstGeom>
        </p:spPr>
      </p:pic>
      <p:pic>
        <p:nvPicPr>
          <p:cNvPr id="8" name="Picture 7" descr="Text, logo&#10;&#10;Description automatically generated">
            <a:extLst>
              <a:ext uri="{FF2B5EF4-FFF2-40B4-BE49-F238E27FC236}">
                <a16:creationId xmlns:a16="http://schemas.microsoft.com/office/drawing/2014/main" id="{33A7E350-04C6-4C5D-9A5D-C59D96A1EC7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9184" y="3577726"/>
            <a:ext cx="4638679" cy="3280274"/>
          </a:xfrm>
          <a:prstGeom prst="rect">
            <a:avLst/>
          </a:prstGeom>
        </p:spPr>
      </p:pic>
      <p:pic>
        <p:nvPicPr>
          <p:cNvPr id="6" name="Picture 1">
            <a:extLst>
              <a:ext uri="{FF2B5EF4-FFF2-40B4-BE49-F238E27FC236}">
                <a16:creationId xmlns:a16="http://schemas.microsoft.com/office/drawing/2014/main" id="{3CF04476-E4DF-4AFA-A02A-42C17DF17F25}"/>
              </a:ext>
            </a:extLst>
          </p:cNvPr>
          <p:cNvPicPr>
            <a:picLocks noChangeAspect="1" noChangeArrowheads="1"/>
          </p:cNvPicPr>
          <p:nvPr/>
        </p:nvPicPr>
        <p:blipFill>
          <a:blip r:embed="rId5" cstate="print"/>
          <a:srcRect/>
          <a:stretch>
            <a:fillRect/>
          </a:stretch>
        </p:blipFill>
        <p:spPr bwMode="auto">
          <a:xfrm>
            <a:off x="-39757" y="5661248"/>
            <a:ext cx="9183757" cy="1500502"/>
          </a:xfrm>
          <a:prstGeom prst="rect">
            <a:avLst/>
          </a:prstGeom>
          <a:noFill/>
          <a:ln w="9525">
            <a:noFill/>
            <a:miter lim="800000"/>
            <a:headEnd/>
            <a:tailEnd/>
          </a:ln>
        </p:spPr>
      </p:pic>
      <p:sp>
        <p:nvSpPr>
          <p:cNvPr id="7" name="Text Box 48">
            <a:extLst>
              <a:ext uri="{FF2B5EF4-FFF2-40B4-BE49-F238E27FC236}">
                <a16:creationId xmlns:a16="http://schemas.microsoft.com/office/drawing/2014/main" id="{A12CC67A-E149-4510-813C-5F54B50D98B1}"/>
              </a:ext>
            </a:extLst>
          </p:cNvPr>
          <p:cNvSpPr txBox="1">
            <a:spLocks noChangeArrowheads="1"/>
          </p:cNvSpPr>
          <p:nvPr/>
        </p:nvSpPr>
        <p:spPr bwMode="auto">
          <a:xfrm>
            <a:off x="3018865" y="1655377"/>
            <a:ext cx="3106270" cy="584775"/>
          </a:xfrm>
          <a:prstGeom prst="rect">
            <a:avLst/>
          </a:prstGeom>
          <a:noFill/>
        </p:spPr>
        <p:txBody>
          <a:bodyPr wrap="square" rtlCol="0">
            <a:spAutoFit/>
          </a:bodyPr>
          <a:lstStyle>
            <a:defPPr>
              <a:defRPr lang="en-GB"/>
            </a:defPPr>
            <a:lvl1pPr>
              <a:defRPr sz="2400">
                <a:solidFill>
                  <a:srgbClr val="006600"/>
                </a:solidFill>
              </a:defRPr>
            </a:lvl1pPr>
          </a:lstStyle>
          <a:p>
            <a:pPr algn="ctr"/>
            <a:r>
              <a:rPr lang="pt-PT" altLang="es-ES" sz="3200" dirty="0"/>
              <a:t>Obrigado.</a:t>
            </a:r>
          </a:p>
        </p:txBody>
      </p:sp>
    </p:spTree>
    <p:extLst>
      <p:ext uri="{BB962C8B-B14F-4D97-AF65-F5344CB8AC3E}">
        <p14:creationId xmlns:p14="http://schemas.microsoft.com/office/powerpoint/2010/main" val="14277217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7.0&quot;&gt;&lt;object type=&quot;1&quot; unique_id=&quot;10001&quot;&gt;&lt;object type=&quot;8&quot; unique_id=&quot;10416&quot;&gt;&lt;/object&gt;&lt;object type=&quot;2&quot; unique_id=&quot;10417&quot;&gt;&lt;object type=&quot;3&quot; unique_id=&quot;10418&quot;&gt;&lt;property id=&quot;20148&quot; value=&quot;5&quot;/&gt;&lt;property id=&quot;20300&quot; value=&quot;Diapositiva 1&quot;/&gt;&lt;property id=&quot;20307&quot; value=&quot;317&quot;/&gt;&lt;/object&gt;&lt;object type=&quot;3&quot; unique_id=&quot;10419&quot;&gt;&lt;property id=&quot;20148&quot; value=&quot;5&quot;/&gt;&lt;property id=&quot;20300&quot; value=&quot;Diapositiva 2&quot;/&gt;&lt;property id=&quot;20307&quot; value=&quot;318&quot;/&gt;&lt;/object&gt;&lt;object type=&quot;3&quot; unique_id=&quot;10420&quot;&gt;&lt;property id=&quot;20148&quot; value=&quot;5&quot;/&gt;&lt;property id=&quot;20300&quot; value=&quot;Diapositiva 3 - &amp;quot;Convenience of treatment: once a day administration&amp;quot;&quot;/&gt;&lt;property id=&quot;20307&quot; value=&quot;260&quot;/&gt;&lt;/object&gt;&lt;object type=&quot;3&quot; unique_id=&quot;10421&quot;&gt;&lt;property id=&quot;20148&quot; value=&quot;5&quot;/&gt;&lt;property id=&quot;20300&quot; value=&quot;Diapositiva 4 - &amp;quot;Convenience of treatment: once a day administration&amp;quot;&quot;/&gt;&lt;property id=&quot;20307&quot; value=&quot;320&quot;/&gt;&lt;/object&gt;&lt;object type=&quot;3&quot; unique_id=&quot;10422&quot;&gt;&lt;property id=&quot;20148&quot; value=&quot;5&quot;/&gt;&lt;property id=&quot;20300&quot; value=&quot;Diapositiva 5&quot;/&gt;&lt;property id=&quot;20307&quot; value=&quot;263&quot;/&gt;&lt;/object&gt;&lt;object type=&quot;3&quot; unique_id=&quot;10423&quot;&gt;&lt;property id=&quot;20148&quot; value=&quot;5&quot;/&gt;&lt;property id=&quot;20300&quot; value=&quot;Diapositiva 6&quot;/&gt;&lt;property id=&quot;20307&quot; value=&quot;321&quot;/&gt;&lt;/object&gt;&lt;object type=&quot;3&quot; unique_id=&quot;10424&quot;&gt;&lt;property id=&quot;20148&quot; value=&quot;5&quot;/&gt;&lt;property id=&quot;20300&quot; value=&quot;Diapositiva 7 - &amp;quot;Drug-drug interactions: CYP3A4 cytochrome inhibitors (1)&amp;quot;&quot;/&gt;&lt;property id=&quot;20307&quot; value=&quot;265&quot;/&gt;&lt;/object&gt;&lt;object type=&quot;3&quot; unique_id=&quot;10425&quot;&gt;&lt;property id=&quot;20148&quot; value=&quot;5&quot;/&gt;&lt;property id=&quot;20300&quot; value=&quot;Diapositiva 8 - &amp;quot;Drug-drug interactions: CYP3A4 cytochrome inhibitors (2)&amp;quot;&quot;/&gt;&lt;property id=&quot;20307&quot; value=&quot;262&quot;/&gt;&lt;/object&gt;&lt;object type=&quot;3&quot; unique_id=&quot;10426&quot;&gt;&lt;property id=&quot;20148&quot; value=&quot;5&quot;/&gt;&lt;property id=&quot;20300&quot; value=&quot;Diapositiva 9&quot;/&gt;&lt;property id=&quot;20307&quot; value=&quot;268&quot;/&gt;&lt;/object&gt;&lt;object type=&quot;3&quot; unique_id=&quot;10427&quot;&gt;&lt;property id=&quot;20148&quot; value=&quot;5&quot;/&gt;&lt;property id=&quot;20300&quot; value=&quot;Diapositiva 10&quot;/&gt;&lt;property id=&quot;20307&quot; value=&quot;322&quot;/&gt;&lt;/object&gt;&lt;object type=&quot;3&quot; unique_id=&quot;10428&quot;&gt;&lt;property id=&quot;20148&quot; value=&quot;5&quot;/&gt;&lt;property id=&quot;20300&quot; value=&quot;Diapositiva 11&quot;/&gt;&lt;property id=&quot;20307&quot; value=&quot;323&quot;/&gt;&lt;/object&gt;&lt;object type=&quot;3&quot; unique_id=&quot;10429&quot;&gt;&lt;property id=&quot;20148&quot; value=&quot;5&quot;/&gt;&lt;property id=&quot;20300&quot; value=&quot;Diapositiva 12&quot;/&gt;&lt;property id=&quot;20307&quot; value=&quot;324&quot;/&gt;&lt;/object&gt;&lt;object type=&quot;3&quot; unique_id=&quot;10430&quot;&gt;&lt;property id=&quot;20148&quot; value=&quot;5&quot;/&gt;&lt;property id=&quot;20300&quot; value=&quot;Diapositiva 13&quot;/&gt;&lt;property id=&quot;20307&quot; value=&quot;264&quot;/&gt;&lt;/object&gt;&lt;object type=&quot;3&quot; unique_id=&quot;10431&quot;&gt;&lt;property id=&quot;20148&quot; value=&quot;5&quot;/&gt;&lt;property id=&quot;20300&quot; value=&quot;Diapositiva 14&quot;/&gt;&lt;property id=&quot;20307&quot; value=&quot;325&quot;/&gt;&lt;/object&gt;&lt;object type=&quot;3&quot; unique_id=&quot;10432&quot;&gt;&lt;property id=&quot;20148&quot; value=&quot;5&quot;/&gt;&lt;property id=&quot;20300&quot; value=&quot;Diapositiva 15 - &amp;quot;Drug-drug interactions: Conclusions&amp;quot;&quot;/&gt;&lt;property id=&quot;20307&quot; value=&quot;266&quot;/&gt;&lt;/object&gt;&lt;object type=&quot;3&quot; unique_id=&quot;10433&quot;&gt;&lt;property id=&quot;20148&quot; value=&quot;5&quot;/&gt;&lt;property id=&quot;20300&quot; value=&quot;Diapositiva 16&quot;/&gt;&lt;property id=&quot;20307&quot; value=&quot;328&quot;/&gt;&lt;/object&gt;&lt;object type=&quot;3&quot; unique_id=&quot;10434&quot;&gt;&lt;property id=&quot;20148&quot; value=&quot;5&quot;/&gt;&lt;property id=&quot;20300&quot; value=&quot;Diapositiva 17 - &amp;quot;CNS Effects in pre-clinical Studies&amp;quot;&quot;/&gt;&lt;property id=&quot;20307&quot; value=&quot;339&quot;/&gt;&lt;/object&gt;&lt;object type=&quot;3&quot; unique_id=&quot;10435&quot;&gt;&lt;property id=&quot;20148&quot; value=&quot;5&quot;/&gt;&lt;property id=&quot;20300&quot; value=&quot;Diapositiva 18 - &amp;quot;CNS Effects in Clinical Studies (1) &amp;quot;&quot;/&gt;&lt;property id=&quot;20307&quot; value=&quot;338&quot;/&gt;&lt;/object&gt;&lt;object type=&quot;3&quot; unique_id=&quot;10436&quot;&gt;&lt;property id=&quot;20148&quot; value=&quot;5&quot;/&gt;&lt;property id=&quot;20300&quot; value=&quot;Diapositiva 19 - &amp;quot;CNS Effects in Clinical Studies (2) &amp;quot;&quot;/&gt;&lt;property id=&quot;20307&quot; value=&quot;340&quot;/&gt;&lt;/object&gt;&lt;object type=&quot;3&quot; unique_id=&quot;10437&quot;&gt;&lt;property id=&quot;20148&quot; value=&quot;5&quot;/&gt;&lt;property id=&quot;20300&quot; value=&quot;Diapositiva 20&quot;/&gt;&lt;property id=&quot;20307&quot; value=&quot;341&quot;/&gt;&lt;/object&gt;&lt;object type=&quot;3&quot; unique_id=&quot;10438&quot;&gt;&lt;property id=&quot;20148&quot; value=&quot;5&quot;/&gt;&lt;property id=&quot;20300&quot; value=&quot;Diapositiva 21&quot;/&gt;&lt;property id=&quot;20307&quot; value=&quot;342&quot;/&gt;&lt;/object&gt;&lt;object type=&quot;3&quot; unique_id=&quot;10439&quot;&gt;&lt;property id=&quot;20148&quot; value=&quot;5&quot;/&gt;&lt;property id=&quot;20300&quot; value=&quot;Diapositiva 22&quot;/&gt;&lt;property id=&quot;20307&quot; value=&quot;343&quot;/&gt;&lt;/object&gt;&lt;object type=&quot;3&quot; unique_id=&quot;10440&quot;&gt;&lt;property id=&quot;20148&quot; value=&quot;5&quot;/&gt;&lt;property id=&quot;20300&quot; value=&quot;Diapositiva 23&quot;/&gt;&lt;property id=&quot;20307&quot; value=&quot;345&quot;/&gt;&lt;/object&gt;&lt;object type=&quot;3&quot; unique_id=&quot;10441&quot;&gt;&lt;property id=&quot;20148&quot; value=&quot;5&quot;/&gt;&lt;property id=&quot;20300&quot; value=&quot;Diapositiva 24&quot;/&gt;&lt;property id=&quot;20307&quot; value=&quot;344&quot;/&gt;&lt;/object&gt;&lt;object type=&quot;3&quot; unique_id=&quot;10442&quot;&gt;&lt;property id=&quot;20148&quot; value=&quot;5&quot;/&gt;&lt;property id=&quot;20300&quot; value=&quot;Diapositiva 25&quot;/&gt;&lt;property id=&quot;20307&quot; value=&quot;337&quot;/&gt;&lt;/object&gt;&lt;object type=&quot;3&quot; unique_id=&quot;10443&quot;&gt;&lt;property id=&quot;20148&quot; value=&quot;5&quot;/&gt;&lt;property id=&quot;20300&quot; value=&quot;Diapositiva 26 - &amp;quot;Pre-clinical Cardiac Safety (1)&amp;quot;&quot;/&gt;&lt;property id=&quot;20307&quot; value=&quot;287&quot;/&gt;&lt;/object&gt;&lt;object type=&quot;3&quot; unique_id=&quot;10444&quot;&gt;&lt;property id=&quot;20148&quot; value=&quot;5&quot;/&gt;&lt;property id=&quot;20300&quot; value=&quot;Diapositiva 27 - &amp;quot;Pre-clinical Cardiac Safety (2)&amp;quot;&quot;/&gt;&lt;property id=&quot;20307&quot; value=&quot;286&quot;/&gt;&lt;/object&gt;&lt;object type=&quot;3&quot; unique_id=&quot;10445&quot;&gt;&lt;property id=&quot;20148&quot; value=&quot;5&quot;/&gt;&lt;property id=&quot;20300&quot; value=&quot;Diapositiva 28&quot;/&gt;&lt;property id=&quot;20307&quot; value=&quot;289&quot;/&gt;&lt;/object&gt;&lt;object type=&quot;3&quot; unique_id=&quot;10446&quot;&gt;&lt;property id=&quot;20148&quot; value=&quot;5&quot;/&gt;&lt;property id=&quot;20300&quot; value=&quot;Diapositiva 29 - &amp;quot;Cardiac Safety: rupatadine 10 mg or 100 mg has no effect on the QT/QTc interval prolongation&amp;quot;&quot;/&gt;&lt;property id=&quot;20307&quot; value=&quot;291&quot;/&gt;&lt;/object&gt;&lt;object type=&quot;3&quot; unique_id=&quot;10447&quot;&gt;&lt;property id=&quot;20148&quot; value=&quot;5&quot;/&gt;&lt;property id=&quot;20300&quot; value=&quot;Diapositiva 30&quot;/&gt;&lt;property id=&quot;20307&quot; value=&quot;347&quot;/&gt;&lt;/object&gt;&lt;object type=&quot;3&quot; unique_id=&quot;10448&quot;&gt;&lt;property id=&quot;20148&quot; value=&quot;5&quot;/&gt;&lt;property id=&quot;20300&quot; value=&quot;Diapositiva 31&quot;/&gt;&lt;property id=&quot;20307&quot; value=&quot;329&quot;/&gt;&lt;/object&gt;&lt;object type=&quot;3&quot; unique_id=&quot;10449&quot;&gt;&lt;property id=&quot;20148&quot; value=&quot;5&quot;/&gt;&lt;property id=&quot;20300&quot; value=&quot;Diapositiva 32 - &amp;quot;Adverse Effects in Allergic Rhinitis &amp;quot;&quot;/&gt;&lt;property id=&quot;20307&quot; value=&quot;330&quot;/&gt;&lt;/object&gt;&lt;object type=&quot;3&quot; unique_id=&quot;10450&quot;&gt;&lt;property id=&quot;20148&quot; value=&quot;5&quot;/&gt;&lt;property id=&quot;20300&quot; value=&quot;Diapositiva 33 - &amp;quot;Adverse Effects: Long-term treatment in Persistent Allergic Rhinitis (PER)&amp;quot;&quot;/&gt;&lt;property id=&quot;20307&quot; value=&quot;331&quot;/&gt;&lt;/object&gt;&lt;object type=&quot;3&quot; unique_id=&quot;10451&quot;&gt;&lt;property id=&quot;20148&quot; value=&quot;5&quot;/&gt;&lt;property id=&quot;20300&quot; value=&quot;Diapositiva 34&quot;/&gt;&lt;property id=&quot;20307&quot; value=&quot;332&quot;/&gt;&lt;/object&gt;&lt;object type=&quot;3&quot; unique_id=&quot;10452&quot;&gt;&lt;property id=&quot;20148&quot; value=&quot;5&quot;/&gt;&lt;property id=&quot;20300&quot; value=&quot;Diapositiva 35 - &amp;quot;Adverse Effects in AR: Summary&amp;quot;&quot;/&gt;&lt;property id=&quot;20307&quot; value=&quot;333&quot;/&gt;&lt;/object&gt;&lt;object type=&quot;3&quot; unique_id=&quot;10453&quot;&gt;&lt;property id=&quot;20148&quot; value=&quot;5&quot;/&gt;&lt;property id=&quot;20300&quot; value=&quot;Diapositiva 36&quot;/&gt;&lt;property id=&quot;20307&quot; value=&quot;334&quot;/&gt;&lt;/object&gt;&lt;object type=&quot;3&quot; unique_id=&quot;10454&quot;&gt;&lt;property id=&quot;20148&quot; value=&quot;5&quot;/&gt;&lt;property id=&quot;20300&quot; value=&quot;Diapositiva 37&quot;/&gt;&lt;property id=&quot;20307&quot; value=&quot;335&quot;/&gt;&lt;/object&gt;&lt;object type=&quot;3&quot; unique_id=&quot;10455&quot;&gt;&lt;property id=&quot;20148&quot; value=&quot;5&quot;/&gt;&lt;property id=&quot;20300&quot; value=&quot;Diapositiva 38 - &amp;quot;Adverse Effects in Chronic Urticaria – Summary&amp;quot;&quot;/&gt;&lt;property id=&quot;20307&quot; value=&quot;336&quot;/&gt;&lt;/object&gt;&lt;object type=&quot;3&quot; unique_id=&quot;10456&quot;&gt;&lt;property id=&quot;20148&quot; value=&quot;5&quot;/&gt;&lt;property id=&quot;20300&quot; value=&quot;Diapositiva 39 - &amp;quot;Rupatadine Safety Profile: Summary &amp;quot;&quot;/&gt;&lt;property id=&quot;20307&quot; value=&quot;312&quot;/&gt;&lt;/object&gt;&lt;object type=&quot;3&quot; unique_id=&quot;10457&quot;&gt;&lt;property id=&quot;20148&quot; value=&quot;5&quot;/&gt;&lt;property id=&quot;20300&quot; value=&quot;Diapositiva 40&quot;/&gt;&lt;property id=&quot;20307&quot; value=&quot;346&quot;/&gt;&lt;/object&gt;&lt;object type=&quot;3&quot; unique_id=&quot;10458&quot;&gt;&lt;property id=&quot;20148&quot; value=&quot;5&quot;/&gt;&lt;property id=&quot;20300&quot; value=&quot;Diapositiva 41 - &amp;quot;Role of Rupatadine in Clinical Practice (1)&amp;quot;&quot;/&gt;&lt;property id=&quot;20307&quot; value=&quot;314&quot;/&gt;&lt;/object&gt;&lt;object type=&quot;3&quot; unique_id=&quot;10459&quot;&gt;&lt;property id=&quot;20148&quot; value=&quot;5&quot;/&gt;&lt;property id=&quot;20300&quot; value=&quot;Diapositiva 42 - &amp;quot;Role of Rupatadine in Clinical Practice (2)&amp;quot;&quot;/&gt;&lt;property id=&quot;20307&quot; value=&quot;315&quot;/&gt;&lt;/object&gt;&lt;/object&gt;&lt;/object&gt;&lt;/database&gt;"/>
  <p:tag name="SECTOMILLISECCONVERTED" val="1"/>
</p:tagLst>
</file>

<file path=ppt/theme/theme1.xml><?xml version="1.0" encoding="utf-8"?>
<a:theme xmlns:a="http://schemas.openxmlformats.org/drawingml/2006/main" name="Wisp">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3_Diseño predeterminad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Diseño predeterminado">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3_Diseño predeterminad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Diseño predeterminado">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7D792E8C4DA247BA13D3097A5B3651" ma:contentTypeVersion="19" ma:contentTypeDescription="Criar um novo documento." ma:contentTypeScope="" ma:versionID="feca8c51351b7dd2ebe379f83568fbca">
  <xsd:schema xmlns:xsd="http://www.w3.org/2001/XMLSchema" xmlns:xs="http://www.w3.org/2001/XMLSchema" xmlns:p="http://schemas.microsoft.com/office/2006/metadata/properties" xmlns:ns2="02969a41-4749-41bd-9c7b-d9741e2c579a" xmlns:ns3="89ea4605-a98c-4f8f-b4f4-c542867de630" targetNamespace="http://schemas.microsoft.com/office/2006/metadata/properties" ma:root="true" ma:fieldsID="df4199eb2ac8845ed51d786ca0c01ee1" ns2:_="" ns3:_="">
    <xsd:import namespace="02969a41-4749-41bd-9c7b-d9741e2c579a"/>
    <xsd:import namespace="89ea4605-a98c-4f8f-b4f4-c542867de63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969a41-4749-41bd-9c7b-d9741e2c5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m" ma:readOnly="false" ma:fieldId="{5cf76f15-5ced-4ddc-b409-7134ff3c332f}" ma:taxonomyMulti="true" ma:sspId="f0e915e2-2c61-4469-adf1-0bc69b39a59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ea4605-a98c-4f8f-b4f4-c542867de630"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b6ae7d10-be01-4fdc-8ba2-d77ac22d0290}" ma:internalName="TaxCatchAll" ma:showField="CatchAllData" ma:web="89ea4605-a98c-4f8f-b4f4-c542867de630">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Detalhes de 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9ea4605-a98c-4f8f-b4f4-c542867de630" xsi:nil="true"/>
    <lcf76f155ced4ddcb4097134ff3c332f xmlns="02969a41-4749-41bd-9c7b-d9741e2c57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FDC8F32-FFB5-4EB4-AF9F-27284D252957}"/>
</file>

<file path=customXml/itemProps2.xml><?xml version="1.0" encoding="utf-8"?>
<ds:datastoreItem xmlns:ds="http://schemas.openxmlformats.org/officeDocument/2006/customXml" ds:itemID="{61D86750-BF58-4507-9B74-126CF7D4C6C3}"/>
</file>

<file path=customXml/itemProps3.xml><?xml version="1.0" encoding="utf-8"?>
<ds:datastoreItem xmlns:ds="http://schemas.openxmlformats.org/officeDocument/2006/customXml" ds:itemID="{0F3A8469-5D76-4912-A156-8A10644F0573}"/>
</file>

<file path=docProps/app.xml><?xml version="1.0" encoding="utf-8"?>
<Properties xmlns="http://schemas.openxmlformats.org/officeDocument/2006/extended-properties" xmlns:vt="http://schemas.openxmlformats.org/officeDocument/2006/docPropsVTypes">
  <Template/>
  <TotalTime>0</TotalTime>
  <Words>9114</Words>
  <Application>Microsoft Office PowerPoint</Application>
  <PresentationFormat>On-screen Show (4:3)</PresentationFormat>
  <Paragraphs>982</Paragraphs>
  <Slides>54</Slides>
  <Notes>54</Notes>
  <HiddenSlides>13</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64" baseType="lpstr">
      <vt:lpstr>Wingdings 3</vt:lpstr>
      <vt:lpstr>Times New Roman</vt:lpstr>
      <vt:lpstr>Calibri</vt:lpstr>
      <vt:lpstr>Arial</vt:lpstr>
      <vt:lpstr>Wingdings</vt:lpstr>
      <vt:lpstr>Verdana</vt:lpstr>
      <vt:lpstr>Segoe UI</vt:lpstr>
      <vt:lpstr>Microsoft Sans Serif</vt:lpstr>
      <vt:lpstr>Wisp</vt:lpstr>
      <vt:lpstr>Worksheet</vt:lpstr>
      <vt:lpstr>PowerPoint Presentation</vt:lpstr>
      <vt:lpstr>PowerPoint Presentation</vt:lpstr>
      <vt:lpstr>PowerPoint Presentation</vt:lpstr>
      <vt:lpstr>PowerPoint Presentation</vt:lpstr>
      <vt:lpstr>PowerPoint Presentation</vt:lpstr>
      <vt:lpstr>PowerPoint Presentation</vt:lpstr>
      <vt:lpstr>Estudo de Fase II: Principais conclusões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Rupatadine Slide Kit</dc:title>
  <dc:creator>Kerry Dechant</dc:creator>
  <cp:lastModifiedBy>Cláudia Meneses</cp:lastModifiedBy>
  <cp:revision>970</cp:revision>
  <cp:lastPrinted>2014-07-21T09:40:45Z</cp:lastPrinted>
  <dcterms:created xsi:type="dcterms:W3CDTF">2011-03-08T11:39:58Z</dcterms:created>
  <dcterms:modified xsi:type="dcterms:W3CDTF">2022-11-03T17:21:16Z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0x010100DF7D792E8C4DA247BA13D3097A5B3651</vt:lpwstr>
  </property>
  <property fmtid="{D5CDD505-2E9C-101B-9397-08002B2CF9AE}" pid="3" name="MediaServiceImageTags">
    <vt:lpwstr/>
  </property>
</Properties>
</file>