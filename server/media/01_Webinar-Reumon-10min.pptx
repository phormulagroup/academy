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323" r:id="rId6"/>
    <p:sldId id="314" r:id="rId7"/>
    <p:sldId id="316" r:id="rId8"/>
    <p:sldId id="277" r:id="rId9"/>
    <p:sldId id="321" r:id="rId10"/>
    <p:sldId id="532" r:id="rId11"/>
    <p:sldId id="533" r:id="rId12"/>
    <p:sldId id="320" r:id="rId13"/>
    <p:sldId id="322" r:id="rId14"/>
    <p:sldId id="317" r:id="rId15"/>
    <p:sldId id="452" r:id="rId16"/>
    <p:sldId id="315" r:id="rId17"/>
    <p:sldId id="534" r:id="rId18"/>
    <p:sldId id="270" r:id="rId19"/>
  </p:sldIdLst>
  <p:sldSz cx="12192000" cy="6858000"/>
  <p:notesSz cx="6858000" cy="9144000"/>
  <p:defaultTextStyle>
    <a:defPPr rtl="0"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C1C1"/>
    <a:srgbClr val="D7D7D7"/>
    <a:srgbClr val="555555"/>
    <a:srgbClr val="005FA6"/>
    <a:srgbClr val="FFFFFF"/>
    <a:srgbClr val="EEE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6" autoAdjust="0"/>
    <p:restoredTop sz="94641" autoAdjust="0"/>
  </p:normalViewPr>
  <p:slideViewPr>
    <p:cSldViewPr snapToGrid="0">
      <p:cViewPr varScale="1">
        <p:scale>
          <a:sx n="114" d="100"/>
          <a:sy n="114" d="100"/>
        </p:scale>
        <p:origin x="24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7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0B9F29A9-E82C-4E11-B6C5-1492531CA3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620C7B0-CCDC-4C09-912E-A43F5EC214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E23B9-FC1D-42BB-9A0B-9F7A4B4A2C56}" type="datetime1">
              <a:rPr lang="pt-PT" smtClean="0"/>
              <a:t>2021.07.02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3904143-4294-479F-90F0-4E19CEBCC5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D644E84-A3F0-47E2-B791-5D3F884EA4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32098-997D-43A0-8404-6E2A2CCA3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6420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E808A-393A-4474-9384-8E4742057935}" type="datetime1">
              <a:rPr lang="pt-PT" smtClean="0"/>
              <a:pPr/>
              <a:t>2021.07.02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noProof="0" dirty="0"/>
              <a:t>Editar estilos de texto do Modelo Global</a:t>
            </a:r>
          </a:p>
          <a:p>
            <a:pPr lvl="1"/>
            <a:r>
              <a:rPr lang="pt-PT" noProof="0" dirty="0"/>
              <a:t>Segundo nível</a:t>
            </a:r>
          </a:p>
          <a:p>
            <a:pPr lvl="2"/>
            <a:r>
              <a:rPr lang="pt-PT" noProof="0" dirty="0"/>
              <a:t>Terceiro nível</a:t>
            </a:r>
          </a:p>
          <a:p>
            <a:pPr lvl="3"/>
            <a:r>
              <a:rPr lang="pt-PT" noProof="0" dirty="0"/>
              <a:t>Quarto nível</a:t>
            </a:r>
          </a:p>
          <a:p>
            <a:pPr lvl="4"/>
            <a:r>
              <a:rPr lang="pt-PT" noProof="0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7342D-1E5A-435C-87A3-22925F2D1CEE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978485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7342D-1E5A-435C-87A3-22925F2D1CEE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3129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7342D-1E5A-435C-87A3-22925F2D1CEE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730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176FF4-9EDE-4E67-AFDF-6AD4664134AF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654E2F-BCB2-4D71-8945-0DC4EF4CB989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BF64BA-ACA2-4C7E-8533-20D93887809E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747AF9-4A63-4525-A3DB-46BB25D8E074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DB9E3A-11F4-464F-860D-85011A64BB60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7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F4AE7E-2AC9-4D67-999F-684EF5059D2E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190224-B32F-479B-9980-7A5F5540AD3D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7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DEE7F-C500-426B-A3E1-79AF91F03F60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A7FB3E-02C7-4843-9962-6ED5556CA9AC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D859CC-7AB4-49BB-AE5F-B2404DD57B79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8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C01B9E-2742-4343-AA45-CEE0CD8C7EAA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14" name="Marcador de Posição do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930400" y="3771174"/>
            <a:ext cx="727964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10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78623-6970-4CB1-BF87-A1F7C0EB2271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9" name="Caixa de texto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pt-PT" noProof="0" dirty="0"/>
              <a:t>"</a:t>
            </a:r>
          </a:p>
        </p:txBody>
      </p:sp>
      <p:sp>
        <p:nvSpPr>
          <p:cNvPr id="13" name="Caixa De Texto 12"/>
          <p:cNvSpPr txBox="1"/>
          <p:nvPr userDrawn="1"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pt-PT" noProof="0" dirty="0"/>
              <a:t>"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3DB717-B90F-468A-BE1E-794FBEF3AF08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19" name="Marcador de Posição do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14" name="Marcador de Posição do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20" name="Marcador de Posição do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cxnSp>
        <p:nvCxnSpPr>
          <p:cNvPr id="17" name="Conexão Reta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82923C-A982-4DAD-98A1-71D9CD48C685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4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com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29" name="Marcador de Posição da Imagem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2" name="Marcador de Posição do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30" name="Marcador de Posição da Imagem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3" name="Marcador de Posição do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14" name="Marcador de Posição do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31" name="Marcador de Posição da Imagem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4" name="Marcador de Posição do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cxnSp>
        <p:nvCxnSpPr>
          <p:cNvPr id="17" name="Conexão Reta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0BD0CF-4B37-4130-8828-1EC6AE26B6C7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4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0A1A4F-A4F9-430E-8ADC-AA68F7FD3B05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B87891-A8A9-4F32-84D1-35B2A302428E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D26F498E-DA9F-4228-ADA1-4ABDE5D19877}" type="datetime1">
              <a:rPr lang="pt-PT" noProof="0" smtClean="0"/>
              <a:t>2021.07.02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denise.marques@bial.com" TargetMode="Externa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enise.marques@bi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igações de cadeia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018" y="818624"/>
            <a:ext cx="8825658" cy="3329581"/>
          </a:xfrm>
        </p:spPr>
        <p:txBody>
          <a:bodyPr rtlCol="0">
            <a:normAutofit/>
          </a:bodyPr>
          <a:lstStyle/>
          <a:p>
            <a:pPr rtl="0"/>
            <a:r>
              <a:rPr lang="pt-PT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1018" y="4047533"/>
            <a:ext cx="8825658" cy="861420"/>
          </a:xfrm>
        </p:spPr>
        <p:txBody>
          <a:bodyPr rtlCol="0">
            <a:normAutofit/>
          </a:bodyPr>
          <a:lstStyle/>
          <a:p>
            <a:pPr rtl="0"/>
            <a:r>
              <a:rPr lang="pt-PT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MEDICINA FÍSICA E REABILITAÇÃO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306C3DF-5C89-41F8-B95E-385DB5F1435A}"/>
              </a:ext>
            </a:extLst>
          </p:cNvPr>
          <p:cNvSpPr/>
          <p:nvPr/>
        </p:nvSpPr>
        <p:spPr>
          <a:xfrm>
            <a:off x="1131018" y="4966819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no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médico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MD </a:t>
            </a:r>
          </a:p>
          <a:p>
            <a:endParaRPr lang="en-GB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Especialidade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médica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  <a:hlinkClick r:id="rId5"/>
            </a:endParaRPr>
          </a:p>
          <a:p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/>
              </a:rPr>
              <a:t>nomedomédico@gmail.com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6AD5A5-5E9C-4531-A98E-911D07D05844}"/>
              </a:ext>
            </a:extLst>
          </p:cNvPr>
          <p:cNvSpPr/>
          <p:nvPr/>
        </p:nvSpPr>
        <p:spPr>
          <a:xfrm>
            <a:off x="1026759" y="1976624"/>
            <a:ext cx="10369685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formulações tópicas podem proporcionar </a:t>
            </a:r>
            <a:r>
              <a:rPr lang="pt-PT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elevadas concentrações analgésicas</a:t>
            </a:r>
            <a:r>
              <a:rPr lang="pt-PT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local da inflamação, minimizando o risco associado às concentrações sistémicas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pt-PT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Após a aplicação tópica, as concentrações atingidas nos meniscos ou na cartilagem podem ser </a:t>
            </a:r>
            <a:r>
              <a:rPr lang="pt-PT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a 7 vezes maiores </a:t>
            </a:r>
            <a:r>
              <a:rPr lang="pt-PT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que após a administração de AINE  oral e as alcançadas nas bainhas dos tendões são várias centenas de vezes superiores às plasmáticas.</a:t>
            </a:r>
          </a:p>
          <a:p>
            <a:endParaRPr lang="pt-PT" sz="2000" dirty="0"/>
          </a:p>
          <a:p>
            <a:endParaRPr lang="pt-PT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5829F0D-4843-4087-9A5B-3130EBA7C123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04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F8D5F8B4-DEA1-4786-A8B2-D122E53866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9" r="10944"/>
          <a:stretch/>
        </p:blipFill>
        <p:spPr>
          <a:xfrm>
            <a:off x="838200" y="-3810"/>
            <a:ext cx="9928860" cy="6858001"/>
          </a:xfrm>
          <a:prstGeom prst="rect">
            <a:avLst/>
          </a:prstGeom>
        </p:spPr>
      </p:pic>
      <p:sp>
        <p:nvSpPr>
          <p:cNvPr id="14" name="TextBox 2">
            <a:extLst>
              <a:ext uri="{FF2B5EF4-FFF2-40B4-BE49-F238E27FC236}">
                <a16:creationId xmlns:a16="http://schemas.microsoft.com/office/drawing/2014/main" id="{F2E8BCCE-B3F3-4B81-A6B2-11C09D7B2C13}"/>
              </a:ext>
            </a:extLst>
          </p:cNvPr>
          <p:cNvSpPr txBox="1"/>
          <p:nvPr/>
        </p:nvSpPr>
        <p:spPr>
          <a:xfrm>
            <a:off x="268567" y="5546276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CÁPSULA ARTICULAR</a:t>
            </a:r>
          </a:p>
        </p:txBody>
      </p: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59A54BC6-57B6-42B4-91E2-8E6FA6C5EEAC}"/>
              </a:ext>
            </a:extLst>
          </p:cNvPr>
          <p:cNvCxnSpPr>
            <a:cxnSpLocks/>
          </p:cNvCxnSpPr>
          <p:nvPr/>
        </p:nvCxnSpPr>
        <p:spPr>
          <a:xfrm flipH="1">
            <a:off x="8313577" y="1417117"/>
            <a:ext cx="1353559" cy="817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7">
            <a:extLst>
              <a:ext uri="{FF2B5EF4-FFF2-40B4-BE49-F238E27FC236}">
                <a16:creationId xmlns:a16="http://schemas.microsoft.com/office/drawing/2014/main" id="{D7E81467-FF63-4127-A287-694FF64AA920}"/>
              </a:ext>
            </a:extLst>
          </p:cNvPr>
          <p:cNvSpPr txBox="1"/>
          <p:nvPr/>
        </p:nvSpPr>
        <p:spPr>
          <a:xfrm>
            <a:off x="10449849" y="3727662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CARTILAGEM</a:t>
            </a:r>
          </a:p>
        </p:txBody>
      </p:sp>
      <p:cxnSp>
        <p:nvCxnSpPr>
          <p:cNvPr id="17" name="Straight Arrow Connector 8">
            <a:extLst>
              <a:ext uri="{FF2B5EF4-FFF2-40B4-BE49-F238E27FC236}">
                <a16:creationId xmlns:a16="http://schemas.microsoft.com/office/drawing/2014/main" id="{F1F73225-E714-42D7-9A4C-68ADF725DA14}"/>
              </a:ext>
            </a:extLst>
          </p:cNvPr>
          <p:cNvCxnSpPr>
            <a:cxnSpLocks/>
          </p:cNvCxnSpPr>
          <p:nvPr/>
        </p:nvCxnSpPr>
        <p:spPr>
          <a:xfrm flipV="1">
            <a:off x="2388637" y="4790068"/>
            <a:ext cx="1554665" cy="840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9">
            <a:extLst>
              <a:ext uri="{FF2B5EF4-FFF2-40B4-BE49-F238E27FC236}">
                <a16:creationId xmlns:a16="http://schemas.microsoft.com/office/drawing/2014/main" id="{4C0453D7-807D-4D9E-8494-E7CB94B1A78D}"/>
              </a:ext>
            </a:extLst>
          </p:cNvPr>
          <p:cNvSpPr txBox="1"/>
          <p:nvPr/>
        </p:nvSpPr>
        <p:spPr>
          <a:xfrm>
            <a:off x="9763130" y="5546276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OSSO SUBCONDRAL</a:t>
            </a:r>
          </a:p>
        </p:txBody>
      </p: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6F1DE796-6526-4C64-A926-5961101E5C61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638748" y="4521000"/>
            <a:ext cx="4124382" cy="120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2">
            <a:extLst>
              <a:ext uri="{FF2B5EF4-FFF2-40B4-BE49-F238E27FC236}">
                <a16:creationId xmlns:a16="http://schemas.microsoft.com/office/drawing/2014/main" id="{635A41BA-0DB9-4544-8CDA-22E0D510427B}"/>
              </a:ext>
            </a:extLst>
          </p:cNvPr>
          <p:cNvSpPr txBox="1"/>
          <p:nvPr/>
        </p:nvSpPr>
        <p:spPr>
          <a:xfrm>
            <a:off x="9667136" y="1207583"/>
            <a:ext cx="261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MEMBRANA SINOVIAL</a:t>
            </a:r>
          </a:p>
        </p:txBody>
      </p:sp>
      <p:cxnSp>
        <p:nvCxnSpPr>
          <p:cNvPr id="21" name="Straight Arrow Connector 18">
            <a:extLst>
              <a:ext uri="{FF2B5EF4-FFF2-40B4-BE49-F238E27FC236}">
                <a16:creationId xmlns:a16="http://schemas.microsoft.com/office/drawing/2014/main" id="{96214C55-43E9-46EC-995E-8D72A98584C4}"/>
              </a:ext>
            </a:extLst>
          </p:cNvPr>
          <p:cNvCxnSpPr/>
          <p:nvPr/>
        </p:nvCxnSpPr>
        <p:spPr>
          <a:xfrm flipH="1" flipV="1">
            <a:off x="6096000" y="3526971"/>
            <a:ext cx="4353849" cy="385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9">
            <a:extLst>
              <a:ext uri="{FF2B5EF4-FFF2-40B4-BE49-F238E27FC236}">
                <a16:creationId xmlns:a16="http://schemas.microsoft.com/office/drawing/2014/main" id="{B051E8E3-F45F-414D-81BE-6FE1F688EFD5}"/>
              </a:ext>
            </a:extLst>
          </p:cNvPr>
          <p:cNvSpPr txBox="1"/>
          <p:nvPr/>
        </p:nvSpPr>
        <p:spPr>
          <a:xfrm>
            <a:off x="268567" y="1405007"/>
            <a:ext cx="221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LÍQUIDO SINOVIAL</a:t>
            </a:r>
          </a:p>
        </p:txBody>
      </p:sp>
      <p:cxnSp>
        <p:nvCxnSpPr>
          <p:cNvPr id="23" name="Straight Arrow Connector 21">
            <a:extLst>
              <a:ext uri="{FF2B5EF4-FFF2-40B4-BE49-F238E27FC236}">
                <a16:creationId xmlns:a16="http://schemas.microsoft.com/office/drawing/2014/main" id="{0E20794E-D40D-4EBB-B249-78CFB4733D07}"/>
              </a:ext>
            </a:extLst>
          </p:cNvPr>
          <p:cNvCxnSpPr>
            <a:stCxn id="22" idx="3"/>
          </p:cNvCxnSpPr>
          <p:nvPr/>
        </p:nvCxnSpPr>
        <p:spPr>
          <a:xfrm>
            <a:off x="2487444" y="1589673"/>
            <a:ext cx="1455858" cy="1769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000D06C-9646-47C4-8CD5-465786540297}"/>
              </a:ext>
            </a:extLst>
          </p:cNvPr>
          <p:cNvSpPr txBox="1"/>
          <p:nvPr/>
        </p:nvSpPr>
        <p:spPr>
          <a:xfrm flipH="1">
            <a:off x="3685337" y="389506"/>
            <a:ext cx="48862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Chegar</a:t>
            </a:r>
            <a:r>
              <a:rPr lang="en-GB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en-GB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local da </a:t>
            </a:r>
            <a:r>
              <a:rPr lang="en-GB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inflamação</a:t>
            </a:r>
            <a:endParaRPr lang="en-GB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964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D84D5C1-8665-4A08-B025-1FA8EB50E496}"/>
              </a:ext>
            </a:extLst>
          </p:cNvPr>
          <p:cNvSpPr txBox="1"/>
          <p:nvPr/>
        </p:nvSpPr>
        <p:spPr>
          <a:xfrm>
            <a:off x="2214100" y="2522340"/>
            <a:ext cx="830547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</a:t>
            </a:r>
            <a:r>
              <a:rPr lang="en-GB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AINE </a:t>
            </a:r>
            <a:r>
              <a:rPr lang="en-GB" sz="6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tópicos</a:t>
            </a:r>
            <a:r>
              <a:rPr lang="en-GB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en-GB" sz="6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</a:t>
            </a:r>
            <a:r>
              <a:rPr lang="en-GB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6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são</a:t>
            </a:r>
            <a:r>
              <a:rPr lang="en-GB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6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todos</a:t>
            </a:r>
            <a:r>
              <a:rPr lang="en-GB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6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iguais</a:t>
            </a:r>
            <a:r>
              <a:rPr lang="en-GB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!</a:t>
            </a:r>
          </a:p>
          <a:p>
            <a:endParaRPr lang="en-GB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207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9941D6B3-E3E3-490C-83B8-5EBFABDCF816}"/>
              </a:ext>
            </a:extLst>
          </p:cNvPr>
          <p:cNvGrpSpPr/>
          <p:nvPr/>
        </p:nvGrpSpPr>
        <p:grpSpPr>
          <a:xfrm>
            <a:off x="1877182" y="836579"/>
            <a:ext cx="6421751" cy="4819317"/>
            <a:chOff x="6723857" y="2086456"/>
            <a:chExt cx="5251389" cy="4720679"/>
          </a:xfrm>
        </p:grpSpPr>
        <p:pic>
          <p:nvPicPr>
            <p:cNvPr id="5" name="Picture 3" descr="Slide_17.png">
              <a:extLst>
                <a:ext uri="{FF2B5EF4-FFF2-40B4-BE49-F238E27FC236}">
                  <a16:creationId xmlns:a16="http://schemas.microsoft.com/office/drawing/2014/main" id="{89C3BB4D-E00F-46DA-AF0F-0679A78D6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561"/>
            <a:stretch/>
          </p:blipFill>
          <p:spPr>
            <a:xfrm>
              <a:off x="6723857" y="2086456"/>
              <a:ext cx="5251389" cy="4720679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D61362E-DE45-467C-B6AD-61D406E26B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112" r="52436" b="54171"/>
            <a:stretch/>
          </p:blipFill>
          <p:spPr>
            <a:xfrm rot="16200000">
              <a:off x="7362474" y="4406194"/>
              <a:ext cx="919730" cy="318448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E70EAF6-BF36-4FD0-8DF1-D638FA154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8423" y="3680220"/>
              <a:ext cx="647700" cy="104775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4C00CB5C-7309-4C1F-AC60-39F0E1DF9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081287" y="4399369"/>
              <a:ext cx="809988" cy="332095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1D28C79-4878-4F80-A0E0-8B5C02DE26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97" t="39427" r="19189" b="24156"/>
            <a:stretch/>
          </p:blipFill>
          <p:spPr>
            <a:xfrm rot="16200000">
              <a:off x="8705717" y="4338932"/>
              <a:ext cx="1091701" cy="452967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AD7F3F53-B358-4761-B387-BE54C65186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71" b="28743"/>
            <a:stretch/>
          </p:blipFill>
          <p:spPr>
            <a:xfrm rot="16200000">
              <a:off x="10040780" y="3870989"/>
              <a:ext cx="1230540" cy="483421"/>
            </a:xfrm>
            <a:prstGeom prst="rect">
              <a:avLst/>
            </a:prstGeom>
          </p:spPr>
        </p:pic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36D4B574-E774-4EE0-ADEA-3811614B7B67}"/>
              </a:ext>
            </a:extLst>
          </p:cNvPr>
          <p:cNvSpPr/>
          <p:nvPr/>
        </p:nvSpPr>
        <p:spPr>
          <a:xfrm>
            <a:off x="3116051" y="1133105"/>
            <a:ext cx="4980562" cy="8925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pt-PT" sz="1600" b="1" dirty="0">
                <a:solidFill>
                  <a:schemeClr val="bg1"/>
                </a:solidFill>
                <a:cs typeface="Arial"/>
              </a:rPr>
              <a:t>A biodisponibilidade do etofenamato após aplicação tópica é 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3X superior </a:t>
            </a:r>
            <a:r>
              <a:rPr lang="pt-PT" sz="1600" b="1" dirty="0">
                <a:solidFill>
                  <a:schemeClr val="bg1"/>
                </a:solidFill>
                <a:cs typeface="Arial"/>
              </a:rPr>
              <a:t>à dos restantes AINE tópicos.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DFD6B9-8341-407A-B7AE-3B0F8954FA65}"/>
              </a:ext>
            </a:extLst>
          </p:cNvPr>
          <p:cNvSpPr/>
          <p:nvPr/>
        </p:nvSpPr>
        <p:spPr>
          <a:xfrm>
            <a:off x="2237042" y="5149884"/>
            <a:ext cx="788729" cy="50601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AB4A95A-80C7-463D-913E-1D027DE1AB26}"/>
              </a:ext>
            </a:extLst>
          </p:cNvPr>
          <p:cNvSpPr/>
          <p:nvPr/>
        </p:nvSpPr>
        <p:spPr>
          <a:xfrm>
            <a:off x="1877182" y="5781451"/>
            <a:ext cx="6421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</a:rPr>
              <a:t>A biodisponibilidade refere-se à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</a:rPr>
              <a:t>extensão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</a:rPr>
              <a:t> e à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</a:rPr>
              <a:t>velocidade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</a:rPr>
              <a:t> do fármaco em atingir o seu local de ação.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Picture 27" descr="RM_Gama.gif">
            <a:extLst>
              <a:ext uri="{FF2B5EF4-FFF2-40B4-BE49-F238E27FC236}">
                <a16:creationId xmlns:a16="http://schemas.microsoft.com/office/drawing/2014/main" id="{A94C1A52-2D64-420D-B171-BE6CB7DA4FF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65" y="4082185"/>
            <a:ext cx="1506084" cy="116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2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97216EE-86A8-4139-96A6-43AADE4BDE9C}"/>
              </a:ext>
            </a:extLst>
          </p:cNvPr>
          <p:cNvSpPr/>
          <p:nvPr/>
        </p:nvSpPr>
        <p:spPr>
          <a:xfrm>
            <a:off x="1017350" y="1769510"/>
            <a:ext cx="74984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4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em cada 10 </a:t>
            </a:r>
            <a:r>
              <a:rPr lang="pt-PT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utentes recuperam funcionalidade com REUMON?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BF7AF08-C71E-4341-A251-6ACCCA7A87E0}"/>
              </a:ext>
            </a:extLst>
          </p:cNvPr>
          <p:cNvSpPr/>
          <p:nvPr/>
        </p:nvSpPr>
        <p:spPr>
          <a:xfrm>
            <a:off x="1017350" y="3621483"/>
            <a:ext cx="102490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1600" dirty="0"/>
              <a:t>Tratamento de </a:t>
            </a:r>
            <a:r>
              <a:rPr lang="pt-PT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300 doentes </a:t>
            </a:r>
            <a:r>
              <a:rPr lang="pt-PT" sz="1600" dirty="0"/>
              <a:t>com traumatismos fechados dos tecidos moles e articulações, com Reumon. A sensibilidade muscular, a dor espontânea, a dor em movimento, o edema e a limitação funcional das articulações afetadas, foram avaliados como parâmetros clínicos de acordo com a gravidade (0 a 3) após um período de tratamento de 6 a 12 dias. Houve uma rápida melhoria nos resultados em quase todos os doentes e foi recuperada a funcionalidade total das articulações afetadas durante o período do tratamento em 86% dos doentes.</a:t>
            </a:r>
          </a:p>
        </p:txBody>
      </p:sp>
    </p:spTree>
    <p:extLst>
      <p:ext uri="{BB962C8B-B14F-4D97-AF65-F5344CB8AC3E}">
        <p14:creationId xmlns:p14="http://schemas.microsoft.com/office/powerpoint/2010/main" val="222410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15081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PT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Redução dos AINE orais como resultado da associação com o tratamento tópico</a:t>
            </a:r>
            <a:br>
              <a:rPr lang="pt-PT" sz="3200" b="1" dirty="0"/>
            </a:br>
            <a:endParaRPr lang="pt-PT" sz="3200" dirty="0"/>
          </a:p>
        </p:txBody>
      </p:sp>
      <p:sp>
        <p:nvSpPr>
          <p:cNvPr id="6" name="Retângulo 5"/>
          <p:cNvSpPr/>
          <p:nvPr/>
        </p:nvSpPr>
        <p:spPr>
          <a:xfrm>
            <a:off x="838200" y="2551704"/>
            <a:ext cx="10515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Um estudo avaliou a possibilidade de redução dos AINE orais como resultado de um tratamento combinado com REUMON (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etofenamato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) gel em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3584 doentes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O tratamento dirigiu-se principalmente a patologias tais como a artrite reumatoide, a espondilite anquilosante, a osteoartrose e a espondilose. </a:t>
            </a:r>
          </a:p>
          <a:p>
            <a:pPr algn="just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/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Num período inicial do ensaio de 1 a 2 semanas, foi administrado um AINE oral numa dosagem constante. Num segundo período de estudo, os doentes receberam também REUMON (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etofenamato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) gel a 5% quatro vezes por dia, em média (dose diária de 600 mg de REUMON (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etofenamato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Calibri" panose="020F0502020204030204" pitchFamily="34" charset="0"/>
              </a:rPr>
              <a:t>)). Ao mesmo tempo, a dose de AINE oral foi gradualmente reduzida tanto quanto possível. 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084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692727" y="2249480"/>
            <a:ext cx="1122218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pt-PT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dose de AINE oral foi significativamente reduzida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como resultado da utilização adicional de 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etofenamato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Os </a:t>
            </a:r>
            <a:r>
              <a:rPr lang="pt-PT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efeitos adversos diminuíram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claramente com o tratamento de combinação. 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92727" y="1803935"/>
            <a:ext cx="2837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RESULTADOS:</a:t>
            </a:r>
          </a:p>
        </p:txBody>
      </p:sp>
      <p:sp>
        <p:nvSpPr>
          <p:cNvPr id="5" name="Retângulo 4"/>
          <p:cNvSpPr/>
          <p:nvPr/>
        </p:nvSpPr>
        <p:spPr>
          <a:xfrm>
            <a:off x="2791882" y="4990053"/>
            <a:ext cx="8963891" cy="13388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melhoria ou desaparecimento das reações adversas envolvendo o trato gastrintestinal foram bastante significativos (21,9%). 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redução de 10% nos efeitos secundários do sistema nervoso central foi também significativa.</a:t>
            </a:r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eta em ângulo reto para cima 7"/>
          <p:cNvSpPr/>
          <p:nvPr/>
        </p:nvSpPr>
        <p:spPr>
          <a:xfrm rot="5400000">
            <a:off x="1399883" y="4802325"/>
            <a:ext cx="936107" cy="131156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71" y="2994453"/>
            <a:ext cx="9048750" cy="1095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7D865664-A0E5-4F8D-BE1E-0B86E927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68" y="768667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PT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Redução dos AINE orais como resultado da associação com o tratamento tópico</a:t>
            </a:r>
            <a:br>
              <a:rPr lang="pt-PT" sz="3200" b="1" dirty="0"/>
            </a:br>
            <a:endParaRPr lang="pt-PT" sz="3200" dirty="0"/>
          </a:p>
        </p:txBody>
      </p:sp>
    </p:spTree>
    <p:extLst>
      <p:ext uri="{BB962C8B-B14F-4D97-AF65-F5344CB8AC3E}">
        <p14:creationId xmlns:p14="http://schemas.microsoft.com/office/powerpoint/2010/main" val="297931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4F5E72-7DE1-4000-B95A-45B1EC420656}"/>
              </a:ext>
            </a:extLst>
          </p:cNvPr>
          <p:cNvSpPr txBox="1"/>
          <p:nvPr/>
        </p:nvSpPr>
        <p:spPr>
          <a:xfrm>
            <a:off x="1941372" y="2239267"/>
            <a:ext cx="2994210" cy="44267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solidFill>
                  <a:srgbClr val="002060"/>
                </a:solidFill>
              </a:rPr>
              <a:t>BIODISPONIBILIDADE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BD3EAF-62B8-439E-BDAA-D091D103D64A}"/>
              </a:ext>
            </a:extLst>
          </p:cNvPr>
          <p:cNvSpPr txBox="1"/>
          <p:nvPr/>
        </p:nvSpPr>
        <p:spPr>
          <a:xfrm>
            <a:off x="5343127" y="2247125"/>
            <a:ext cx="3861040" cy="51077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solidFill>
                  <a:srgbClr val="002060"/>
                </a:solidFill>
              </a:rPr>
              <a:t>21%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FC55C3-B0E8-4143-86FC-B9663D610F92}"/>
              </a:ext>
            </a:extLst>
          </p:cNvPr>
          <p:cNvSpPr txBox="1"/>
          <p:nvPr/>
        </p:nvSpPr>
        <p:spPr>
          <a:xfrm>
            <a:off x="1918512" y="4129583"/>
            <a:ext cx="2994210" cy="51077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solidFill>
                  <a:srgbClr val="002060"/>
                </a:solidFill>
              </a:rPr>
              <a:t>t</a:t>
            </a:r>
            <a:r>
              <a:rPr lang="pt-PT" sz="2400" b="1" baseline="-25000" dirty="0">
                <a:solidFill>
                  <a:srgbClr val="002060"/>
                </a:solidFill>
              </a:rPr>
              <a:t>1/2</a:t>
            </a:r>
            <a:endParaRPr lang="en-US" sz="2400" b="1" baseline="-25000" dirty="0">
              <a:solidFill>
                <a:srgbClr val="00206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6C3191-8F37-4EAA-B84F-D0C1E84D7A3A}"/>
              </a:ext>
            </a:extLst>
          </p:cNvPr>
          <p:cNvSpPr txBox="1"/>
          <p:nvPr/>
        </p:nvSpPr>
        <p:spPr>
          <a:xfrm>
            <a:off x="5331697" y="4129583"/>
            <a:ext cx="3872469" cy="51077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solidFill>
                  <a:srgbClr val="002060"/>
                </a:solidFill>
              </a:rPr>
              <a:t>3,3 horas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476BB5-5AD1-470C-B488-6E7A3D25F05C}"/>
              </a:ext>
            </a:extLst>
          </p:cNvPr>
          <p:cNvSpPr txBox="1"/>
          <p:nvPr/>
        </p:nvSpPr>
        <p:spPr>
          <a:xfrm>
            <a:off x="1918512" y="5219205"/>
            <a:ext cx="2994210" cy="51077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solidFill>
                  <a:srgbClr val="002060"/>
                </a:solidFill>
              </a:rPr>
              <a:t>ELIMINAÇÃO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EF04005-E848-4E4F-BC13-8DB6037D567C}"/>
              </a:ext>
            </a:extLst>
          </p:cNvPr>
          <p:cNvSpPr txBox="1"/>
          <p:nvPr/>
        </p:nvSpPr>
        <p:spPr>
          <a:xfrm>
            <a:off x="5320267" y="5042868"/>
            <a:ext cx="3883899" cy="919401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solidFill>
                  <a:srgbClr val="002060"/>
                </a:solidFill>
              </a:rPr>
              <a:t>35% renal</a:t>
            </a:r>
          </a:p>
          <a:p>
            <a:pPr algn="ctr"/>
            <a:r>
              <a:rPr lang="pt-PT" sz="2400" b="1" dirty="0">
                <a:solidFill>
                  <a:srgbClr val="002060"/>
                </a:solidFill>
              </a:rPr>
              <a:t>&gt;60% via biliar/fecal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ECF23B-FC27-4BED-A657-8E9175CD145B}"/>
              </a:ext>
            </a:extLst>
          </p:cNvPr>
          <p:cNvSpPr txBox="1"/>
          <p:nvPr/>
        </p:nvSpPr>
        <p:spPr>
          <a:xfrm>
            <a:off x="1941372" y="2940574"/>
            <a:ext cx="2994210" cy="78319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solidFill>
                  <a:srgbClr val="002060"/>
                </a:solidFill>
              </a:rPr>
              <a:t>LIGAÇÃO PROTEÍNAS PLASMÁTICAS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A17494-9AB5-4995-B320-897F12E2B809}"/>
              </a:ext>
            </a:extLst>
          </p:cNvPr>
          <p:cNvSpPr txBox="1"/>
          <p:nvPr/>
        </p:nvSpPr>
        <p:spPr>
          <a:xfrm>
            <a:off x="5343127" y="3161792"/>
            <a:ext cx="3861039" cy="510778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solidFill>
                  <a:srgbClr val="002060"/>
                </a:solidFill>
              </a:rPr>
              <a:t>98 – 99%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2" name="Retângulo 3">
            <a:extLst>
              <a:ext uri="{FF2B5EF4-FFF2-40B4-BE49-F238E27FC236}">
                <a16:creationId xmlns:a16="http://schemas.microsoft.com/office/drawing/2014/main" id="{CA5821FB-187A-4B59-B790-8F1AF7C0B0C1}"/>
              </a:ext>
            </a:extLst>
          </p:cNvPr>
          <p:cNvSpPr/>
          <p:nvPr/>
        </p:nvSpPr>
        <p:spPr>
          <a:xfrm>
            <a:off x="1771162" y="988552"/>
            <a:ext cx="511390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GB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FARMACOCINÉTICA</a:t>
            </a:r>
            <a:endParaRPr lang="pt-PT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/>
            </a:endParaRPr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20D6C574-1751-4628-9DA2-FF23331014EB}"/>
              </a:ext>
            </a:extLst>
          </p:cNvPr>
          <p:cNvSpPr/>
          <p:nvPr/>
        </p:nvSpPr>
        <p:spPr>
          <a:xfrm>
            <a:off x="8816828" y="4286497"/>
            <a:ext cx="973123" cy="2684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eta: Para a Esquerda 14">
            <a:extLst>
              <a:ext uri="{FF2B5EF4-FFF2-40B4-BE49-F238E27FC236}">
                <a16:creationId xmlns:a16="http://schemas.microsoft.com/office/drawing/2014/main" id="{7ED021A6-0FCB-4900-B949-6D490C8C4E6F}"/>
              </a:ext>
            </a:extLst>
          </p:cNvPr>
          <p:cNvSpPr/>
          <p:nvPr/>
        </p:nvSpPr>
        <p:spPr>
          <a:xfrm>
            <a:off x="8816829" y="5168871"/>
            <a:ext cx="973123" cy="2684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50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AC70307-9C90-4632-95BF-C83230F4B597}"/>
              </a:ext>
            </a:extLst>
          </p:cNvPr>
          <p:cNvSpPr/>
          <p:nvPr/>
        </p:nvSpPr>
        <p:spPr>
          <a:xfrm>
            <a:off x="805345" y="2167722"/>
            <a:ext cx="1036879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 dados disponíveis apoiam a eficácia dos AINE tópicos no alívio da dor em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patologia musculoesquelética aguda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como entorses, distensões ou lesões desportivas, bem como na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osteoartrite de articulações localizadas superficialmente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just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 AINE tópicos, usados conforme necessário ou diariamente, podem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proporcionar benefícios de longo prazo na OA do joelho</a:t>
            </a:r>
            <a:r>
              <a:rPr lang="pt-P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quando combinados com medidas não farmacológicas.</a:t>
            </a:r>
          </a:p>
          <a:p>
            <a:pPr algn="just"/>
            <a:endParaRPr lang="pt-P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estudos realizados na vida real,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AINE tópicos e orais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mostram um </a:t>
            </a:r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efeito equivalente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OA do joelho ao longo de um ano de tratamento. Uma revisão comparativa encontrou uma eficácia semelhante para os AINE tópicos e os orais.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7149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279913-9EE0-4985-ACA2-7AB0871D4F48}"/>
              </a:ext>
            </a:extLst>
          </p:cNvPr>
          <p:cNvSpPr/>
          <p:nvPr/>
        </p:nvSpPr>
        <p:spPr>
          <a:xfrm>
            <a:off x="803525" y="1716979"/>
            <a:ext cx="1058494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American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Academy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Orthopaedic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Surgeons</a:t>
            </a:r>
            <a:r>
              <a:rPr lang="pt-P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incluiu os AINE tópicos nas normas de tratamento da OA do joelho.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norma do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Institute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Care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Excellence</a:t>
            </a:r>
            <a:r>
              <a:rPr lang="pt-PT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P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(NICE) recomenda os AINE tópicos antes de iniciar tratamento com AINE orais como terapêutica de primeira linha na OA da mão e do joelho.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GB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American College of Rheumatology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AINE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tópicos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são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fortemente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recomendados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tratamento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 OA do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joelho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tratamento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 </a:t>
            </a:r>
            <a:r>
              <a:rPr lang="en-GB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European Society for Clinical and Economic Aspects of Osteoporosis and Osteoarthritis</a:t>
            </a:r>
            <a:r>
              <a:rPr lang="en-GB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(ESCEO)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recomenda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AINE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tópicos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opção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tratamento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precoce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o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tratamento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sintomático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OA do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joelho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da </a:t>
            </a:r>
            <a:r>
              <a:rPr lang="en-GB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mão</a:t>
            </a:r>
            <a:r>
              <a:rPr lang="en-GB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529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entágono 18">
            <a:extLst>
              <a:ext uri="{FF2B5EF4-FFF2-40B4-BE49-F238E27FC236}">
                <a16:creationId xmlns:a16="http://schemas.microsoft.com/office/drawing/2014/main" id="{27D7D090-A2E9-4556-8136-9CEC4BB13DE1}"/>
              </a:ext>
            </a:extLst>
          </p:cNvPr>
          <p:cNvSpPr/>
          <p:nvPr/>
        </p:nvSpPr>
        <p:spPr>
          <a:xfrm rot="10800000">
            <a:off x="6733296" y="3314788"/>
            <a:ext cx="4763992" cy="1145994"/>
          </a:xfrm>
          <a:prstGeom prst="homePlate">
            <a:avLst/>
          </a:prstGeom>
          <a:solidFill>
            <a:srgbClr val="4A66AC">
              <a:lumMod val="50000"/>
            </a:srgbClr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</p:sp>
      <p:grpSp>
        <p:nvGrpSpPr>
          <p:cNvPr id="26" name="Grupo 7">
            <a:extLst>
              <a:ext uri="{FF2B5EF4-FFF2-40B4-BE49-F238E27FC236}">
                <a16:creationId xmlns:a16="http://schemas.microsoft.com/office/drawing/2014/main" id="{DD58F567-724D-4EC2-A994-77FE84DC1EC4}"/>
              </a:ext>
            </a:extLst>
          </p:cNvPr>
          <p:cNvGrpSpPr/>
          <p:nvPr/>
        </p:nvGrpSpPr>
        <p:grpSpPr>
          <a:xfrm>
            <a:off x="1067696" y="2009837"/>
            <a:ext cx="5180757" cy="1571714"/>
            <a:chOff x="1386565" y="1670"/>
            <a:chExt cx="4472025" cy="1040614"/>
          </a:xfrm>
        </p:grpSpPr>
        <p:sp>
          <p:nvSpPr>
            <p:cNvPr id="27" name="Pentágono 9">
              <a:extLst>
                <a:ext uri="{FF2B5EF4-FFF2-40B4-BE49-F238E27FC236}">
                  <a16:creationId xmlns:a16="http://schemas.microsoft.com/office/drawing/2014/main" id="{1F93B921-3840-4116-872D-F4D7B51A7F1E}"/>
                </a:ext>
              </a:extLst>
            </p:cNvPr>
            <p:cNvSpPr/>
            <p:nvPr/>
          </p:nvSpPr>
          <p:spPr>
            <a:xfrm rot="10800000">
              <a:off x="1386565" y="1670"/>
              <a:ext cx="3858862" cy="1040611"/>
            </a:xfrm>
            <a:prstGeom prst="homePlate">
              <a:avLst/>
            </a:prstGeom>
            <a:solidFill>
              <a:srgbClr val="4A66AC">
                <a:lumMod val="50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</p:sp>
        <p:sp>
          <p:nvSpPr>
            <p:cNvPr id="28" name="Pentágono 4">
              <a:extLst>
                <a:ext uri="{FF2B5EF4-FFF2-40B4-BE49-F238E27FC236}">
                  <a16:creationId xmlns:a16="http://schemas.microsoft.com/office/drawing/2014/main" id="{16442F72-0F00-4122-A608-E3351674ECF4}"/>
                </a:ext>
              </a:extLst>
            </p:cNvPr>
            <p:cNvSpPr/>
            <p:nvPr/>
          </p:nvSpPr>
          <p:spPr>
            <a:xfrm rot="21600000">
              <a:off x="1646718" y="1673"/>
              <a:ext cx="4211872" cy="10406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458881" tIns="53340" rIns="99568" bIns="53340" numCol="1" spcCol="1270" anchor="ctr" anchorCtr="0">
              <a:noAutofit/>
            </a:bodyPr>
            <a:lstStyle/>
            <a:p>
              <a:pPr marL="0" marR="0" lvl="0" indent="0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0" cap="all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Nevralgias</a:t>
              </a:r>
              <a:endParaRPr kumimoji="0" lang="en-US" sz="1700" b="1" i="0" u="none" strike="noStrike" kern="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  <a:p>
              <a:pPr marL="0" marR="0" lvl="0" indent="182563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Síndroma cervical</a:t>
              </a:r>
            </a:p>
            <a:p>
              <a:pPr marL="0" marR="0" lvl="0" indent="182563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Lombalgias</a:t>
              </a:r>
            </a:p>
            <a:p>
              <a:pPr marL="0" marR="0" lvl="0" indent="182563" defTabSz="6223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Ciatalgias</a:t>
              </a:r>
              <a:endPara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556C14FE-3F02-4B85-B19C-2F30D93EA474}"/>
              </a:ext>
            </a:extLst>
          </p:cNvPr>
          <p:cNvSpPr/>
          <p:nvPr/>
        </p:nvSpPr>
        <p:spPr>
          <a:xfrm>
            <a:off x="526106" y="2275386"/>
            <a:ext cx="1040611" cy="1040611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6000" r="-46000"/>
            </a:stretch>
          </a:blip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" name="Grupo 12">
            <a:extLst>
              <a:ext uri="{FF2B5EF4-FFF2-40B4-BE49-F238E27FC236}">
                <a16:creationId xmlns:a16="http://schemas.microsoft.com/office/drawing/2014/main" id="{03F4B734-A95A-427D-863D-CD4E721D7C2B}"/>
              </a:ext>
            </a:extLst>
          </p:cNvPr>
          <p:cNvGrpSpPr/>
          <p:nvPr/>
        </p:nvGrpSpPr>
        <p:grpSpPr>
          <a:xfrm>
            <a:off x="1067695" y="4097896"/>
            <a:ext cx="6973468" cy="1986738"/>
            <a:chOff x="1386561" y="1112184"/>
            <a:chExt cx="5305966" cy="1520794"/>
          </a:xfrm>
        </p:grpSpPr>
        <p:sp>
          <p:nvSpPr>
            <p:cNvPr id="31" name="Pentágono 14">
              <a:extLst>
                <a:ext uri="{FF2B5EF4-FFF2-40B4-BE49-F238E27FC236}">
                  <a16:creationId xmlns:a16="http://schemas.microsoft.com/office/drawing/2014/main" id="{35AD565B-5069-4D49-87D0-958F486FAB03}"/>
                </a:ext>
              </a:extLst>
            </p:cNvPr>
            <p:cNvSpPr/>
            <p:nvPr/>
          </p:nvSpPr>
          <p:spPr>
            <a:xfrm rot="10800000">
              <a:off x="1386561" y="1112184"/>
              <a:ext cx="3388055" cy="1520794"/>
            </a:xfrm>
            <a:prstGeom prst="homePlate">
              <a:avLst/>
            </a:prstGeom>
            <a:solidFill>
              <a:srgbClr val="4A66AC">
                <a:lumMod val="50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</p:sp>
        <p:sp>
          <p:nvSpPr>
            <p:cNvPr id="32" name="Pentágono 4">
              <a:extLst>
                <a:ext uri="{FF2B5EF4-FFF2-40B4-BE49-F238E27FC236}">
                  <a16:creationId xmlns:a16="http://schemas.microsoft.com/office/drawing/2014/main" id="{FD305BA5-67D3-4E00-ADAC-44139F1250E6}"/>
                </a:ext>
              </a:extLst>
            </p:cNvPr>
            <p:cNvSpPr/>
            <p:nvPr/>
          </p:nvSpPr>
          <p:spPr>
            <a:xfrm>
              <a:off x="1646717" y="1223879"/>
              <a:ext cx="5045810" cy="128937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458881" tIns="41910" rIns="78232" bIns="41910" numCol="1" spcCol="1270" anchor="ctr" anchorCtr="0">
              <a:noAutofit/>
            </a:bodyPr>
            <a:lstStyle/>
            <a:p>
              <a:pPr marL="0" marR="0" lvl="0" indent="0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0" cap="all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Artropatias</a:t>
              </a:r>
              <a:endParaRPr kumimoji="0" lang="en-US" sz="1700" b="1" i="0" u="none" strike="noStrike" kern="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  <a:p>
              <a:pPr marL="0" marR="0" lvl="0" indent="182563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Periartrite</a:t>
              </a: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 </a:t>
              </a:r>
            </a:p>
            <a:p>
              <a:pPr marL="0" marR="0" lvl="0" indent="182563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Artrite</a:t>
              </a: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 / </a:t>
              </a: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Poliartrite</a:t>
              </a: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 </a:t>
              </a:r>
            </a:p>
            <a:p>
              <a:pPr marL="0" marR="0" lvl="0" indent="182563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Osteoartrose</a:t>
              </a:r>
              <a:endPara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  <a:p>
              <a:pPr marL="0" marR="0" lvl="0" indent="182563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Espondilose</a:t>
              </a:r>
              <a:endPara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8CC1663B-5FAA-4008-9D84-A4C7334AC198}"/>
              </a:ext>
            </a:extLst>
          </p:cNvPr>
          <p:cNvSpPr/>
          <p:nvPr/>
        </p:nvSpPr>
        <p:spPr>
          <a:xfrm>
            <a:off x="547394" y="4541652"/>
            <a:ext cx="1040611" cy="1040611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</p:sp>
      <p:grpSp>
        <p:nvGrpSpPr>
          <p:cNvPr id="34" name="Grupo 16">
            <a:extLst>
              <a:ext uri="{FF2B5EF4-FFF2-40B4-BE49-F238E27FC236}">
                <a16:creationId xmlns:a16="http://schemas.microsoft.com/office/drawing/2014/main" id="{557E0A42-28B7-4AEC-9CF4-F7E65A0B6AE6}"/>
              </a:ext>
            </a:extLst>
          </p:cNvPr>
          <p:cNvGrpSpPr/>
          <p:nvPr/>
        </p:nvGrpSpPr>
        <p:grpSpPr>
          <a:xfrm>
            <a:off x="6746436" y="1719158"/>
            <a:ext cx="5563856" cy="1352621"/>
            <a:chOff x="1386565" y="2704155"/>
            <a:chExt cx="4490294" cy="1352621"/>
          </a:xfrm>
        </p:grpSpPr>
        <p:sp>
          <p:nvSpPr>
            <p:cNvPr id="35" name="Pentágono 18">
              <a:extLst>
                <a:ext uri="{FF2B5EF4-FFF2-40B4-BE49-F238E27FC236}">
                  <a16:creationId xmlns:a16="http://schemas.microsoft.com/office/drawing/2014/main" id="{857D0C49-B376-447D-934C-765A66A6C60E}"/>
                </a:ext>
              </a:extLst>
            </p:cNvPr>
            <p:cNvSpPr/>
            <p:nvPr/>
          </p:nvSpPr>
          <p:spPr>
            <a:xfrm rot="10800000">
              <a:off x="1386565" y="2704155"/>
              <a:ext cx="3844766" cy="1352621"/>
            </a:xfrm>
            <a:prstGeom prst="homePlate">
              <a:avLst/>
            </a:prstGeom>
            <a:solidFill>
              <a:srgbClr val="4A66AC">
                <a:lumMod val="50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</p:sp>
        <p:sp>
          <p:nvSpPr>
            <p:cNvPr id="36" name="Pentágono 4">
              <a:extLst>
                <a:ext uri="{FF2B5EF4-FFF2-40B4-BE49-F238E27FC236}">
                  <a16:creationId xmlns:a16="http://schemas.microsoft.com/office/drawing/2014/main" id="{FCE96AE3-B66C-4594-AA6B-DD008B5E5773}"/>
                </a:ext>
              </a:extLst>
            </p:cNvPr>
            <p:cNvSpPr/>
            <p:nvPr/>
          </p:nvSpPr>
          <p:spPr>
            <a:xfrm>
              <a:off x="1664987" y="2868308"/>
              <a:ext cx="4211872" cy="10406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458881" tIns="45720" rIns="85344" bIns="45720" numCol="1" spcCol="1270" anchor="ctr" anchorCtr="0">
              <a:noAutofit/>
            </a:bodyPr>
            <a:lstStyle/>
            <a:p>
              <a:pPr marL="0" marR="0" lvl="0" indent="0" defTabSz="533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0" cap="all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Tendo</a:t>
              </a:r>
              <a:r>
                <a:rPr kumimoji="0" lang="en-US" sz="1700" b="1" i="0" u="none" strike="noStrike" kern="0" cap="all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 e </a:t>
              </a:r>
              <a:r>
                <a:rPr kumimoji="0" lang="en-US" sz="1700" b="1" i="0" u="none" strike="noStrike" kern="0" cap="all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Bursopatias</a:t>
              </a:r>
              <a:r>
                <a:rPr kumimoji="0" lang="en-US" sz="1700" b="1" i="0" u="none" strike="noStrike" kern="0" cap="all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 </a:t>
              </a:r>
            </a:p>
            <a:p>
              <a:pPr marL="0" marR="0" lvl="0" indent="182563" defTabSz="533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Bursites</a:t>
              </a:r>
              <a:endPara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  <a:p>
              <a:pPr marL="0" marR="0" lvl="0" indent="182563" defTabSz="533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Tenossinovites</a:t>
              </a:r>
              <a:endPara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  <a:p>
              <a:pPr marL="0" marR="0" lvl="0" indent="182563" defTabSz="533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Fibrosites</a:t>
              </a:r>
              <a:endPara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0AF852AE-4E17-4C73-9017-4871AC63B4B5}"/>
              </a:ext>
            </a:extLst>
          </p:cNvPr>
          <p:cNvSpPr/>
          <p:nvPr/>
        </p:nvSpPr>
        <p:spPr>
          <a:xfrm>
            <a:off x="6175788" y="1890894"/>
            <a:ext cx="1040611" cy="1040611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000" r="-9000"/>
            </a:stretch>
          </a:blip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AE8AB97-5D44-4B86-81DE-E1BCBF4E1B8C}"/>
              </a:ext>
            </a:extLst>
          </p:cNvPr>
          <p:cNvSpPr/>
          <p:nvPr/>
        </p:nvSpPr>
        <p:spPr>
          <a:xfrm>
            <a:off x="6212991" y="3412484"/>
            <a:ext cx="1040611" cy="1040611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DDEB5E3-7C54-4FD9-A8B7-01A333831A30}"/>
              </a:ext>
            </a:extLst>
          </p:cNvPr>
          <p:cNvSpPr txBox="1"/>
          <p:nvPr/>
        </p:nvSpPr>
        <p:spPr>
          <a:xfrm>
            <a:off x="7320093" y="3494207"/>
            <a:ext cx="3724977" cy="836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1700" b="1" cap="all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Afeções</a:t>
            </a:r>
            <a:r>
              <a:rPr lang="en-US" sz="1700" b="1" cap="all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 </a:t>
            </a:r>
            <a:r>
              <a:rPr lang="en-US" sz="1700" b="1" cap="all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musculares</a:t>
            </a:r>
            <a:endParaRPr lang="en-US" sz="1700" b="1" cap="all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/>
            </a:endParaRPr>
          </a:p>
          <a:p>
            <a:pPr indent="182563" defTabSz="914400">
              <a:lnSpc>
                <a:spcPct val="150000"/>
              </a:lnSpc>
            </a:pPr>
            <a:r>
              <a:rPr lang="en-US" sz="1700" dirty="0" err="1">
                <a:solidFill>
                  <a:prstClr val="white"/>
                </a:solidFill>
                <a:latin typeface="Calibri Light" panose="020F0302020204030204"/>
              </a:rPr>
              <a:t>Mialgias</a:t>
            </a:r>
            <a:endParaRPr lang="en-US" sz="170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40" name="Grupo 26">
            <a:extLst>
              <a:ext uri="{FF2B5EF4-FFF2-40B4-BE49-F238E27FC236}">
                <a16:creationId xmlns:a16="http://schemas.microsoft.com/office/drawing/2014/main" id="{C70ED3C2-CA25-42A6-95BE-5B7553537ECC}"/>
              </a:ext>
            </a:extLst>
          </p:cNvPr>
          <p:cNvGrpSpPr/>
          <p:nvPr/>
        </p:nvGrpSpPr>
        <p:grpSpPr>
          <a:xfrm>
            <a:off x="6733297" y="4703825"/>
            <a:ext cx="4799452" cy="1563707"/>
            <a:chOff x="1353277" y="5180117"/>
            <a:chExt cx="4505313" cy="1563707"/>
          </a:xfrm>
        </p:grpSpPr>
        <p:sp>
          <p:nvSpPr>
            <p:cNvPr id="41" name="Pentágono 28">
              <a:extLst>
                <a:ext uri="{FF2B5EF4-FFF2-40B4-BE49-F238E27FC236}">
                  <a16:creationId xmlns:a16="http://schemas.microsoft.com/office/drawing/2014/main" id="{646EDB8D-F3CF-49CF-9477-0F343BAA9F4F}"/>
                </a:ext>
              </a:extLst>
            </p:cNvPr>
            <p:cNvSpPr/>
            <p:nvPr/>
          </p:nvSpPr>
          <p:spPr>
            <a:xfrm rot="10800000">
              <a:off x="1353277" y="5180117"/>
              <a:ext cx="4472025" cy="1563707"/>
            </a:xfrm>
            <a:prstGeom prst="homePlate">
              <a:avLst/>
            </a:prstGeom>
            <a:solidFill>
              <a:srgbClr val="4A66AC">
                <a:lumMod val="50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</p:sp>
        <p:sp>
          <p:nvSpPr>
            <p:cNvPr id="42" name="Pentágono 4">
              <a:extLst>
                <a:ext uri="{FF2B5EF4-FFF2-40B4-BE49-F238E27FC236}">
                  <a16:creationId xmlns:a16="http://schemas.microsoft.com/office/drawing/2014/main" id="{3A14F96F-4B69-4D94-B349-52D1D2ED7EE4}"/>
                </a:ext>
              </a:extLst>
            </p:cNvPr>
            <p:cNvSpPr/>
            <p:nvPr/>
          </p:nvSpPr>
          <p:spPr>
            <a:xfrm rot="21600000">
              <a:off x="1646718" y="5406641"/>
              <a:ext cx="4211872" cy="10406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458881" tIns="41910" rIns="78232" bIns="41910" numCol="1" spcCol="1270" anchor="ctr" anchorCtr="0">
              <a:noAutofit/>
            </a:bodyPr>
            <a:lstStyle/>
            <a:p>
              <a:pPr marL="0" marR="0" lvl="0" indent="0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i="0" u="none" strike="noStrike" kern="0" cap="all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Traumatismo</a:t>
              </a:r>
              <a:endParaRPr kumimoji="0" lang="en-US" sz="1700" i="0" u="none" strike="noStrike" kern="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182563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Contusões</a:t>
              </a:r>
            </a:p>
            <a:p>
              <a:pPr marL="0" marR="0" lvl="0" indent="182563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Entorses</a:t>
              </a:r>
            </a:p>
            <a:p>
              <a:pPr marL="0" marR="0" lvl="0" indent="182563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Distensões (</a:t>
              </a:r>
              <a:r>
                <a:rPr kumimoji="0" lang="pt-PT" sz="1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ex</a:t>
              </a:r>
              <a:r>
                <a:rPr kumimoji="0" lang="pt-PT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traumatismos desportivos)</a:t>
              </a:r>
              <a:endPara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55BE9278-F4CC-44AA-8D18-FFCEA7D29119}"/>
              </a:ext>
            </a:extLst>
          </p:cNvPr>
          <p:cNvSpPr/>
          <p:nvPr/>
        </p:nvSpPr>
        <p:spPr>
          <a:xfrm>
            <a:off x="6175788" y="4930349"/>
            <a:ext cx="1040611" cy="1040611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000" r="-17000"/>
            </a:stretch>
          </a:blip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45" name="Retângulo 3">
            <a:extLst>
              <a:ext uri="{FF2B5EF4-FFF2-40B4-BE49-F238E27FC236}">
                <a16:creationId xmlns:a16="http://schemas.microsoft.com/office/drawing/2014/main" id="{5691B2BC-3036-45E1-BBFF-04B5EFCB9769}"/>
              </a:ext>
            </a:extLst>
          </p:cNvPr>
          <p:cNvSpPr/>
          <p:nvPr/>
        </p:nvSpPr>
        <p:spPr>
          <a:xfrm>
            <a:off x="633678" y="733505"/>
            <a:ext cx="75120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hangingPunct="0"/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Arial"/>
              </a:rPr>
              <a:t>INDICAÇÕES TERAPÊUTICAS</a:t>
            </a:r>
            <a:endParaRPr lang="pt-P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cs typeface="Arial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6165C53-CE0D-4B04-8347-6D5BB62EAED8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503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5" name="Retângulo 3">
            <a:extLst>
              <a:ext uri="{FF2B5EF4-FFF2-40B4-BE49-F238E27FC236}">
                <a16:creationId xmlns:a16="http://schemas.microsoft.com/office/drawing/2014/main" id="{7B3DAD39-4256-4FBC-B4E0-E5887061DC15}"/>
              </a:ext>
            </a:extLst>
          </p:cNvPr>
          <p:cNvSpPr/>
          <p:nvPr/>
        </p:nvSpPr>
        <p:spPr>
          <a:xfrm>
            <a:off x="600122" y="950118"/>
            <a:ext cx="75120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hangingPunct="0"/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Arial"/>
              </a:rPr>
              <a:t>FORMULAÇÕES ADAPTADAS A DIFERENTES NECESSIDADES</a:t>
            </a:r>
            <a:endParaRPr lang="pt-P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FC141-85E7-47E0-848C-4F106E5CC8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1"/>
          <a:stretch/>
        </p:blipFill>
        <p:spPr>
          <a:xfrm>
            <a:off x="662731" y="2301680"/>
            <a:ext cx="2330904" cy="40072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40A5A52-59B1-499D-83C1-E412CC92E369}"/>
              </a:ext>
            </a:extLst>
          </p:cNvPr>
          <p:cNvSpPr txBox="1"/>
          <p:nvPr/>
        </p:nvSpPr>
        <p:spPr>
          <a:xfrm flipH="1">
            <a:off x="2663789" y="2877954"/>
            <a:ext cx="8212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Grande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mais-valia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loção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fisioterapia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sempre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é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necessária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GB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massagem</a:t>
            </a: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pic>
        <p:nvPicPr>
          <p:cNvPr id="8" name="Picture 2" descr="Resultado de imagem para iontoforese musculo">
            <a:extLst>
              <a:ext uri="{FF2B5EF4-FFF2-40B4-BE49-F238E27FC236}">
                <a16:creationId xmlns:a16="http://schemas.microsoft.com/office/drawing/2014/main" id="{2ED7BA40-5607-42D8-ACCF-03BCD04D1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046" y="4017256"/>
            <a:ext cx="3374516" cy="1687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4">
            <a:extLst>
              <a:ext uri="{FF2B5EF4-FFF2-40B4-BE49-F238E27FC236}">
                <a16:creationId xmlns:a16="http://schemas.microsoft.com/office/drawing/2014/main" id="{19B3DED3-6DFA-4479-BB4F-ACB8BE014A64}"/>
              </a:ext>
            </a:extLst>
          </p:cNvPr>
          <p:cNvSpPr txBox="1"/>
          <p:nvPr/>
        </p:nvSpPr>
        <p:spPr>
          <a:xfrm>
            <a:off x="6059648" y="4034902"/>
            <a:ext cx="6132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APLICAÇÃO DE ETOFENAMATO POR IONTOFORESE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484A4-3B94-42EB-B0F1-A4B34406E227}"/>
              </a:ext>
            </a:extLst>
          </p:cNvPr>
          <p:cNvSpPr/>
          <p:nvPr/>
        </p:nvSpPr>
        <p:spPr>
          <a:xfrm>
            <a:off x="6128501" y="4404234"/>
            <a:ext cx="55143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i="1" dirty="0"/>
              <a:t>A treatment period of 10 (to 12) minutes and a current intensity of 0.3 - 2.0 mA /10 cm2 electrode surface has proved useful for iontophoresis with </a:t>
            </a:r>
            <a:r>
              <a:rPr lang="en-US" sz="1200" i="1" dirty="0" err="1"/>
              <a:t>etofenamate</a:t>
            </a:r>
            <a:r>
              <a:rPr lang="en-US" sz="1200" i="1" dirty="0"/>
              <a:t>. The current strength used depends on the subjective experience of the patient.</a:t>
            </a:r>
          </a:p>
          <a:p>
            <a:pPr algn="just"/>
            <a:endParaRPr lang="en-US" sz="1200" i="1" dirty="0"/>
          </a:p>
          <a:p>
            <a:pPr algn="just"/>
            <a:r>
              <a:rPr lang="en-US" sz="1200" i="1" dirty="0"/>
              <a:t>In order to achieve optimum success, </a:t>
            </a:r>
            <a:r>
              <a:rPr lang="en-US" sz="1200" i="1" dirty="0" err="1"/>
              <a:t>etofenamate</a:t>
            </a:r>
            <a:r>
              <a:rPr lang="en-US" sz="1200" i="1" dirty="0"/>
              <a:t> should be applied underneath the </a:t>
            </a:r>
            <a:r>
              <a:rPr lang="en-US" sz="1200" b="1" i="1" dirty="0"/>
              <a:t>negative electrode</a:t>
            </a:r>
            <a:r>
              <a:rPr lang="en-US" sz="1200" i="1" dirty="0"/>
              <a:t>.</a:t>
            </a:r>
            <a:endParaRPr lang="pt-PT" sz="1200" i="1" dirty="0"/>
          </a:p>
        </p:txBody>
      </p:sp>
    </p:spTree>
    <p:extLst>
      <p:ext uri="{BB962C8B-B14F-4D97-AF65-F5344CB8AC3E}">
        <p14:creationId xmlns:p14="http://schemas.microsoft.com/office/powerpoint/2010/main" val="141514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8EC51-3FE9-4076-A86C-9CAB83E3ABE9}"/>
              </a:ext>
            </a:extLst>
          </p:cNvPr>
          <p:cNvSpPr/>
          <p:nvPr/>
        </p:nvSpPr>
        <p:spPr>
          <a:xfrm>
            <a:off x="8355627" y="677303"/>
            <a:ext cx="1959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REUMON</a:t>
            </a:r>
            <a:endParaRPr lang="en-GB" sz="3200" dirty="0">
              <a:solidFill>
                <a:schemeClr val="accent1"/>
              </a:solidFill>
            </a:endParaRPr>
          </a:p>
        </p:txBody>
      </p:sp>
      <p:sp>
        <p:nvSpPr>
          <p:cNvPr id="5" name="Retângulo 3">
            <a:extLst>
              <a:ext uri="{FF2B5EF4-FFF2-40B4-BE49-F238E27FC236}">
                <a16:creationId xmlns:a16="http://schemas.microsoft.com/office/drawing/2014/main" id="{7B3DAD39-4256-4FBC-B4E0-E5887061DC15}"/>
              </a:ext>
            </a:extLst>
          </p:cNvPr>
          <p:cNvSpPr/>
          <p:nvPr/>
        </p:nvSpPr>
        <p:spPr>
          <a:xfrm>
            <a:off x="600122" y="950118"/>
            <a:ext cx="75120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hangingPunct="0"/>
            <a:r>
              <a:rPr lang="en-GB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Arial"/>
              </a:rPr>
              <a:t>FORMULAÇÕES ADAPTADAS A DIFERENTES NECESSIDADES</a:t>
            </a:r>
            <a:endParaRPr lang="pt-P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FC141-85E7-47E0-848C-4F106E5CC8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32" t="-603" r="36775" b="603"/>
          <a:stretch/>
        </p:blipFill>
        <p:spPr>
          <a:xfrm>
            <a:off x="-1735677" y="474002"/>
            <a:ext cx="7153711" cy="5909995"/>
          </a:xfrm>
          <a:prstGeom prst="rect">
            <a:avLst/>
          </a:prstGeom>
        </p:spPr>
      </p:pic>
      <p:pic>
        <p:nvPicPr>
          <p:cNvPr id="11" name="Picture 9" descr="http://www.sobresaude.com.br/wp-content/uploads/2010/01/entorse-ou-distensao.jpg">
            <a:extLst>
              <a:ext uri="{FF2B5EF4-FFF2-40B4-BE49-F238E27FC236}">
                <a16:creationId xmlns:a16="http://schemas.microsoft.com/office/drawing/2014/main" id="{DB8017E3-CEDA-4E07-8CA5-A434EF45C2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3752" r="10510"/>
          <a:stretch/>
        </p:blipFill>
        <p:spPr bwMode="auto">
          <a:xfrm>
            <a:off x="9210009" y="4724022"/>
            <a:ext cx="1687902" cy="1691999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2" name="Picture 11" descr="http://www.f-sport.pt/lojaonline/images/uploads/Protec%C3%A7%C3%B5es/70012gf.jpg">
            <a:extLst>
              <a:ext uri="{FF2B5EF4-FFF2-40B4-BE49-F238E27FC236}">
                <a16:creationId xmlns:a16="http://schemas.microsoft.com/office/drawing/2014/main" id="{C9ACA001-9A9D-4246-8818-ECEDE0587D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l="6301" t="8293" r="6045" b="17255"/>
          <a:stretch/>
        </p:blipFill>
        <p:spPr bwMode="auto">
          <a:xfrm>
            <a:off x="10418544" y="4694799"/>
            <a:ext cx="1206421" cy="1206516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1C4CA1-1D32-42D9-A777-10DBF4554F71}"/>
              </a:ext>
            </a:extLst>
          </p:cNvPr>
          <p:cNvSpPr txBox="1"/>
          <p:nvPr/>
        </p:nvSpPr>
        <p:spPr>
          <a:xfrm>
            <a:off x="5526165" y="4217295"/>
            <a:ext cx="6059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Sempre</a:t>
            </a:r>
            <a:r>
              <a:rPr lang="en-GB" sz="2400" dirty="0"/>
              <a:t> que é </a:t>
            </a:r>
            <a:r>
              <a:rPr lang="en-GB" sz="2400" dirty="0" err="1"/>
              <a:t>necessário</a:t>
            </a:r>
            <a:r>
              <a:rPr lang="en-GB" sz="2400" dirty="0"/>
              <a:t> </a:t>
            </a:r>
            <a:r>
              <a:rPr lang="en-GB" sz="2400" dirty="0" err="1"/>
              <a:t>fazer</a:t>
            </a:r>
            <a:r>
              <a:rPr lang="en-GB" sz="2400" dirty="0"/>
              <a:t> </a:t>
            </a:r>
            <a:r>
              <a:rPr lang="en-GB" sz="2400" dirty="0" err="1"/>
              <a:t>oclusão</a:t>
            </a:r>
            <a:endParaRPr lang="en-GB" sz="24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C7E2E6F-EB28-4335-939F-6443F9D573E2}"/>
              </a:ext>
            </a:extLst>
          </p:cNvPr>
          <p:cNvSpPr txBox="1"/>
          <p:nvPr/>
        </p:nvSpPr>
        <p:spPr>
          <a:xfrm>
            <a:off x="5522514" y="2967334"/>
            <a:ext cx="2728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Absorção</a:t>
            </a:r>
            <a:r>
              <a:rPr lang="en-GB" sz="2400" dirty="0"/>
              <a:t> </a:t>
            </a:r>
            <a:r>
              <a:rPr lang="en-GB" sz="2400" dirty="0" err="1"/>
              <a:t>rápida</a:t>
            </a:r>
            <a:endParaRPr lang="en-GB" sz="2400" dirty="0"/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72C3310B-989D-43E9-AC58-F6928B032E58}"/>
              </a:ext>
            </a:extLst>
          </p:cNvPr>
          <p:cNvSpPr/>
          <p:nvPr/>
        </p:nvSpPr>
        <p:spPr>
          <a:xfrm>
            <a:off x="4930132" y="3125110"/>
            <a:ext cx="592382" cy="240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9B32CDD4-083E-4BBD-9297-B1C459182158}"/>
              </a:ext>
            </a:extLst>
          </p:cNvPr>
          <p:cNvSpPr/>
          <p:nvPr/>
        </p:nvSpPr>
        <p:spPr>
          <a:xfrm>
            <a:off x="4930194" y="4352424"/>
            <a:ext cx="592382" cy="240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03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design abstrato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384" y="1421674"/>
            <a:ext cx="8825658" cy="3329581"/>
          </a:xfrm>
        </p:spPr>
        <p:txBody>
          <a:bodyPr rtlCol="0">
            <a:normAutofit/>
          </a:bodyPr>
          <a:lstStyle/>
          <a:p>
            <a:pPr rtl="0"/>
            <a:r>
              <a:rPr lang="pt-PT" dirty="0"/>
              <a:t>Obrigado.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2087C1-FE4C-4E3F-80FD-F00E397D18C2}"/>
              </a:ext>
            </a:extLst>
          </p:cNvPr>
          <p:cNvSpPr/>
          <p:nvPr/>
        </p:nvSpPr>
        <p:spPr>
          <a:xfrm>
            <a:off x="5400384" y="4937161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no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médico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MD </a:t>
            </a:r>
          </a:p>
          <a:p>
            <a:endParaRPr lang="en-GB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Especialidade</a:t>
            </a:r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médica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  <a:hlinkClick r:id="rId4"/>
            </a:endParaRPr>
          </a:p>
          <a:p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nomedomédico@gmail.com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821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ão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9ea4605-a98c-4f8f-b4f4-c542867de630" xsi:nil="true"/>
    <lcf76f155ced4ddcb4097134ff3c332f xmlns="02969a41-4749-41bd-9c7b-d9741e2c579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7D792E8C4DA247BA13D3097A5B3651" ma:contentTypeVersion="19" ma:contentTypeDescription="Criar um novo documento." ma:contentTypeScope="" ma:versionID="feca8c51351b7dd2ebe379f83568fbca">
  <xsd:schema xmlns:xsd="http://www.w3.org/2001/XMLSchema" xmlns:xs="http://www.w3.org/2001/XMLSchema" xmlns:p="http://schemas.microsoft.com/office/2006/metadata/properties" xmlns:ns2="02969a41-4749-41bd-9c7b-d9741e2c579a" xmlns:ns3="89ea4605-a98c-4f8f-b4f4-c542867de630" targetNamespace="http://schemas.microsoft.com/office/2006/metadata/properties" ma:root="true" ma:fieldsID="df4199eb2ac8845ed51d786ca0c01ee1" ns2:_="" ns3:_="">
    <xsd:import namespace="02969a41-4749-41bd-9c7b-d9741e2c579a"/>
    <xsd:import namespace="89ea4605-a98c-4f8f-b4f4-c542867de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969a41-4749-41bd-9c7b-d9741e2c57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m" ma:readOnly="false" ma:fieldId="{5cf76f15-5ced-4ddc-b409-7134ff3c332f}" ma:taxonomyMulti="true" ma:sspId="f0e915e2-2c61-4469-adf1-0bc69b39a5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a4605-a98c-4f8f-b4f4-c542867de630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6ae7d10-be01-4fdc-8ba2-d77ac22d0290}" ma:internalName="TaxCatchAll" ma:showField="CatchAllData" ma:web="89ea4605-a98c-4f8f-b4f4-c542867de6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953E32-00D6-4FFB-AD6B-B2091BB328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CC4F44-154A-4E67-B129-1B5389E9F993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76CAA7B-28F0-48A6-87FE-FD6CA3B68EA5}"/>
</file>

<file path=docProps/app.xml><?xml version="1.0" encoding="utf-8"?>
<Properties xmlns="http://schemas.openxmlformats.org/officeDocument/2006/extended-properties" xmlns:vt="http://schemas.openxmlformats.org/officeDocument/2006/docPropsVTypes">
  <Template>Design Ião para Conteúdos Digitais</Template>
  <TotalTime>0</TotalTime>
  <Words>859</Words>
  <Application>Microsoft Office PowerPoint</Application>
  <PresentationFormat>Ecrã Panorâmico</PresentationFormat>
  <Paragraphs>109</Paragraphs>
  <Slides>15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Open Sans</vt:lpstr>
      <vt:lpstr>Wingdings 3</vt:lpstr>
      <vt:lpstr>Ião</vt:lpstr>
      <vt:lpstr>REUMON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Redução dos AINE orais como resultado da associação com o tratamento tópico </vt:lpstr>
      <vt:lpstr>Redução dos AINE orais como resultado da associação com o tratamento tópico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2021-06-15T10:35:24Z</dcterms:created>
  <dcterms:modified xsi:type="dcterms:W3CDTF">2021-07-02T09:59:28Z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0x010100DF7D792E8C4DA247BA13D3097A5B3651</vt:lpwstr>
  </property>
</Properties>
</file>