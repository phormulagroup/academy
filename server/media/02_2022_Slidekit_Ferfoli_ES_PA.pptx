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1.xml" ContentType="application/vnd.openxmlformats-officedocument.presentationml.notesSlide+xml"/>
  <Override PartName="/ppt/notesSlides/notesSlide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20" r:id="rId2"/>
  </p:sldMasterIdLst>
  <p:notesMasterIdLst>
    <p:notesMasterId r:id="rId22"/>
  </p:notesMasterIdLst>
  <p:handoutMasterIdLst>
    <p:handoutMasterId r:id="rId23"/>
  </p:handoutMasterIdLst>
  <p:sldIdLst>
    <p:sldId id="450" r:id="rId3"/>
    <p:sldId id="262" r:id="rId4"/>
    <p:sldId id="429" r:id="rId5"/>
    <p:sldId id="428" r:id="rId6"/>
    <p:sldId id="451" r:id="rId7"/>
    <p:sldId id="444" r:id="rId8"/>
    <p:sldId id="462" r:id="rId9"/>
    <p:sldId id="282" r:id="rId10"/>
    <p:sldId id="280" r:id="rId11"/>
    <p:sldId id="452" r:id="rId12"/>
    <p:sldId id="271" r:id="rId13"/>
    <p:sldId id="454" r:id="rId14"/>
    <p:sldId id="455" r:id="rId15"/>
    <p:sldId id="456" r:id="rId16"/>
    <p:sldId id="441" r:id="rId17"/>
    <p:sldId id="460" r:id="rId18"/>
    <p:sldId id="459" r:id="rId19"/>
    <p:sldId id="461" r:id="rId20"/>
    <p:sldId id="424" r:id="rId21"/>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571">
          <p15:clr>
            <a:srgbClr val="A4A3A4"/>
          </p15:clr>
        </p15:guide>
        <p15:guide id="4" pos="6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41D"/>
    <a:srgbClr val="6E6F74"/>
    <a:srgbClr val="EF4136"/>
    <a:srgbClr val="E94320"/>
    <a:srgbClr val="F35C13"/>
    <a:srgbClr val="F79015"/>
    <a:srgbClr val="F7941C"/>
    <a:srgbClr val="EC121B"/>
    <a:srgbClr val="FF996E"/>
    <a:srgbClr val="F197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00" autoAdjust="0"/>
    <p:restoredTop sz="94125" autoAdjust="0"/>
  </p:normalViewPr>
  <p:slideViewPr>
    <p:cSldViewPr>
      <p:cViewPr varScale="1">
        <p:scale>
          <a:sx n="104" d="100"/>
          <a:sy n="104" d="100"/>
        </p:scale>
        <p:origin x="2070" y="96"/>
      </p:cViewPr>
      <p:guideLst>
        <p:guide orient="horz" pos="2160"/>
        <p:guide pos="2880"/>
        <p:guide orient="horz" pos="1571"/>
        <p:guide pos="680"/>
      </p:guideLst>
    </p:cSldViewPr>
  </p:slideViewPr>
  <p:notesTextViewPr>
    <p:cViewPr>
      <p:scale>
        <a:sx n="1" d="1"/>
        <a:sy n="1" d="1"/>
      </p:scale>
      <p:origin x="0" y="0"/>
    </p:cViewPr>
  </p:notesTextViewPr>
  <p:sorterViewPr>
    <p:cViewPr>
      <p:scale>
        <a:sx n="66" d="100"/>
        <a:sy n="66" d="100"/>
      </p:scale>
      <p:origin x="0" y="743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manualLayout>
          <c:layoutTarget val="inner"/>
          <c:xMode val="edge"/>
          <c:yMode val="edge"/>
          <c:x val="1.6343605854493532E-2"/>
          <c:y val="4.3737161591974417E-2"/>
          <c:w val="0.5761293069216249"/>
          <c:h val="0.81495968533047158"/>
        </c:manualLayout>
      </c:layout>
      <c:pie3DChart>
        <c:varyColors val="1"/>
        <c:ser>
          <c:idx val="0"/>
          <c:order val="0"/>
          <c:tx>
            <c:strRef>
              <c:f>Sheet1!$B$1</c:f>
              <c:strCache>
                <c:ptCount val="1"/>
                <c:pt idx="0">
                  <c:v>Sales</c:v>
                </c:pt>
              </c:strCache>
            </c:strRef>
          </c:tx>
          <c:dPt>
            <c:idx val="0"/>
            <c:bubble3D val="0"/>
            <c:spPr>
              <a:solidFill>
                <a:srgbClr val="F7941D"/>
              </a:solidFill>
            </c:spPr>
            <c:extLst>
              <c:ext xmlns:c16="http://schemas.microsoft.com/office/drawing/2014/chart" uri="{C3380CC4-5D6E-409C-BE32-E72D297353CC}">
                <c16:uniqueId val="{00000001-9239-417E-BED4-EEC8027071C4}"/>
              </c:ext>
            </c:extLst>
          </c:dPt>
          <c:dPt>
            <c:idx val="1"/>
            <c:bubble3D val="0"/>
            <c:spPr>
              <a:solidFill>
                <a:srgbClr val="FF0000"/>
              </a:solidFill>
            </c:spPr>
            <c:extLst>
              <c:ext xmlns:c16="http://schemas.microsoft.com/office/drawing/2014/chart" uri="{C3380CC4-5D6E-409C-BE32-E72D297353CC}">
                <c16:uniqueId val="{00000003-9239-417E-BED4-EEC8027071C4}"/>
              </c:ext>
            </c:extLst>
          </c:dPt>
          <c:dPt>
            <c:idx val="2"/>
            <c:bubble3D val="0"/>
            <c:spPr>
              <a:solidFill>
                <a:srgbClr val="F19748"/>
              </a:solidFill>
            </c:spPr>
            <c:extLst>
              <c:ext xmlns:c16="http://schemas.microsoft.com/office/drawing/2014/chart" uri="{C3380CC4-5D6E-409C-BE32-E72D297353CC}">
                <c16:uniqueId val="{00000005-9239-417E-BED4-EEC8027071C4}"/>
              </c:ext>
            </c:extLst>
          </c:dPt>
          <c:dPt>
            <c:idx val="3"/>
            <c:bubble3D val="0"/>
            <c:spPr>
              <a:solidFill>
                <a:srgbClr val="FFC000"/>
              </a:solidFill>
            </c:spPr>
            <c:extLst>
              <c:ext xmlns:c16="http://schemas.microsoft.com/office/drawing/2014/chart" uri="{C3380CC4-5D6E-409C-BE32-E72D297353CC}">
                <c16:uniqueId val="{00000007-9239-417E-BED4-EEC8027071C4}"/>
              </c:ext>
            </c:extLst>
          </c:dPt>
          <c:dLbls>
            <c:spPr>
              <a:noFill/>
              <a:ln>
                <a:noFill/>
              </a:ln>
              <a:effectLst/>
            </c:spPr>
            <c:txPr>
              <a:bodyPr/>
              <a:lstStyle/>
              <a:p>
                <a:pPr>
                  <a:defRPr>
                    <a:solidFill>
                      <a:schemeClr val="bg1"/>
                    </a:solidFill>
                    <a:latin typeface="Arial"/>
                    <a:cs typeface="Arial"/>
                  </a:defRPr>
                </a:pPr>
                <a:endParaRPr lang="pt-PT"/>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Sheet1!$A$2:$A$5</c:f>
              <c:strCache>
                <c:ptCount val="4"/>
                <c:pt idx="0">
                  <c:v>IRON</c:v>
                </c:pt>
                <c:pt idx="1">
                  <c:v>IRON + FOLIC ACID</c:v>
                </c:pt>
                <c:pt idx="2">
                  <c:v>FOLIC ACID</c:v>
                </c:pt>
                <c:pt idx="3">
                  <c:v>OTHERS</c:v>
                </c:pt>
              </c:strCache>
            </c:strRef>
          </c:cat>
          <c:val>
            <c:numRef>
              <c:f>Sheet1!$B$2:$B$5</c:f>
              <c:numCache>
                <c:formatCode>General</c:formatCode>
                <c:ptCount val="4"/>
                <c:pt idx="0">
                  <c:v>39.200000000000003</c:v>
                </c:pt>
                <c:pt idx="1">
                  <c:v>11.5</c:v>
                </c:pt>
                <c:pt idx="2">
                  <c:v>11.9</c:v>
                </c:pt>
                <c:pt idx="3">
                  <c:v>37.4</c:v>
                </c:pt>
              </c:numCache>
            </c:numRef>
          </c:val>
          <c:extLst>
            <c:ext xmlns:c16="http://schemas.microsoft.com/office/drawing/2014/chart" uri="{C3380CC4-5D6E-409C-BE32-E72D297353CC}">
              <c16:uniqueId val="{00000008-9239-417E-BED4-EEC8027071C4}"/>
            </c:ext>
          </c:extLst>
        </c:ser>
        <c:dLbls>
          <c:showLegendKey val="0"/>
          <c:showVal val="0"/>
          <c:showCatName val="0"/>
          <c:showSerName val="0"/>
          <c:showPercent val="0"/>
          <c:showBubbleSize val="0"/>
          <c:showLeaderLines val="1"/>
        </c:dLbls>
      </c:pie3DChart>
    </c:plotArea>
    <c:legend>
      <c:legendPos val="r"/>
      <c:layout>
        <c:manualLayout>
          <c:xMode val="edge"/>
          <c:yMode val="edge"/>
          <c:x val="0.62201627445701713"/>
          <c:y val="0.27246263417539895"/>
          <c:w val="0.36818542754363531"/>
          <c:h val="0.48509503672168808"/>
        </c:manualLayout>
      </c:layout>
      <c:overlay val="0"/>
      <c:txPr>
        <a:bodyPr/>
        <a:lstStyle/>
        <a:p>
          <a:pPr>
            <a:defRPr sz="1600">
              <a:latin typeface="Arial" panose="020B0604020202020204" pitchFamily="34" charset="0"/>
              <a:cs typeface="Arial" panose="020B0604020202020204" pitchFamily="34" charset="0"/>
            </a:defRPr>
          </a:pPr>
          <a:endParaRPr lang="pt-PT"/>
        </a:p>
      </c:txPr>
    </c:legend>
    <c:plotVisOnly val="1"/>
    <c:dispBlanksAs val="gap"/>
    <c:showDLblsOverMax val="0"/>
  </c:chart>
  <c:txPr>
    <a:bodyPr/>
    <a:lstStyle/>
    <a:p>
      <a:pPr>
        <a:defRPr sz="1800"/>
      </a:pPr>
      <a:endParaRPr lang="pt-PT"/>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pt-PT"/>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8EBD0968-BC7D-4176-9709-0D0C4950C109}" type="datetimeFigureOut">
              <a:rPr lang="pt-PT" smtClean="0"/>
              <a:t>2022.07.21</a:t>
            </a:fld>
            <a:endParaRPr lang="pt-PT"/>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pt-PT"/>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01709B4A-EE07-4A0F-A885-E7AF3F68B8DD}" type="slidenum">
              <a:rPr lang="pt-PT" smtClean="0"/>
              <a:t>‹#›</a:t>
            </a:fld>
            <a:endParaRPr lang="pt-PT"/>
          </a:p>
        </p:txBody>
      </p:sp>
    </p:spTree>
    <p:extLst>
      <p:ext uri="{BB962C8B-B14F-4D97-AF65-F5344CB8AC3E}">
        <p14:creationId xmlns:p14="http://schemas.microsoft.com/office/powerpoint/2010/main" val="40325219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09432A21-9378-4F12-9C0E-0BEDF73ECB8D}" type="datetimeFigureOut">
              <a:rPr lang="en-GB" smtClean="0"/>
              <a:pPr/>
              <a:t>21/07/2022</a:t>
            </a:fld>
            <a:endParaRPr lang="en-GB"/>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772CFCAE-90A2-4282-A908-F894652778F5}" type="slidenum">
              <a:rPr lang="en-GB" smtClean="0"/>
              <a:pPr/>
              <a:t>‹#›</a:t>
            </a:fld>
            <a:endParaRPr lang="en-GB"/>
          </a:p>
        </p:txBody>
      </p:sp>
    </p:spTree>
    <p:extLst>
      <p:ext uri="{BB962C8B-B14F-4D97-AF65-F5344CB8AC3E}">
        <p14:creationId xmlns:p14="http://schemas.microsoft.com/office/powerpoint/2010/main" val="2347885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1087438" y="871538"/>
            <a:ext cx="4622800" cy="3468687"/>
          </a:xfrm>
          <a:ln/>
        </p:spPr>
      </p:sp>
      <p:sp>
        <p:nvSpPr>
          <p:cNvPr id="55299" name="Notes Placeholder 2"/>
          <p:cNvSpPr>
            <a:spLocks noGrp="1"/>
          </p:cNvSpPr>
          <p:nvPr>
            <p:ph type="body" idx="1"/>
          </p:nvPr>
        </p:nvSpPr>
        <p:spPr>
          <a:noFill/>
          <a:ln w="9525"/>
        </p:spPr>
        <p:txBody>
          <a:bodyPr/>
          <a:lstStyle/>
          <a:p>
            <a:pPr algn="just" defTabSz="776288"/>
            <a:endParaRPr lang="en-US" b="1" dirty="0"/>
          </a:p>
        </p:txBody>
      </p:sp>
    </p:spTree>
    <p:extLst>
      <p:ext uri="{BB962C8B-B14F-4D97-AF65-F5344CB8AC3E}">
        <p14:creationId xmlns:p14="http://schemas.microsoft.com/office/powerpoint/2010/main" val="3184063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1087438" y="871538"/>
            <a:ext cx="4622800" cy="3468687"/>
          </a:xfrm>
          <a:ln/>
        </p:spPr>
      </p:sp>
      <p:sp>
        <p:nvSpPr>
          <p:cNvPr id="55299" name="Notes Placeholder 2"/>
          <p:cNvSpPr>
            <a:spLocks noGrp="1"/>
          </p:cNvSpPr>
          <p:nvPr>
            <p:ph type="body" idx="1"/>
          </p:nvPr>
        </p:nvSpPr>
        <p:spPr>
          <a:noFill/>
          <a:ln w="9525"/>
        </p:spPr>
        <p:txBody>
          <a:bodyPr/>
          <a:lstStyle/>
          <a:p>
            <a:pPr algn="just" defTabSz="776288"/>
            <a:endParaRPr lang="en-US" b="1" dirty="0"/>
          </a:p>
        </p:txBody>
      </p:sp>
    </p:spTree>
    <p:extLst>
      <p:ext uri="{BB962C8B-B14F-4D97-AF65-F5344CB8AC3E}">
        <p14:creationId xmlns:p14="http://schemas.microsoft.com/office/powerpoint/2010/main" val="3281503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1087438" y="871538"/>
            <a:ext cx="4622800" cy="3468687"/>
          </a:xfrm>
          <a:ln/>
        </p:spPr>
      </p:sp>
      <p:sp>
        <p:nvSpPr>
          <p:cNvPr id="55299" name="Notes Placeholder 2"/>
          <p:cNvSpPr>
            <a:spLocks noGrp="1"/>
          </p:cNvSpPr>
          <p:nvPr>
            <p:ph type="body" idx="1"/>
          </p:nvPr>
        </p:nvSpPr>
        <p:spPr>
          <a:noFill/>
          <a:ln w="9525"/>
        </p:spPr>
        <p:txBody>
          <a:bodyPr/>
          <a:lstStyle/>
          <a:p>
            <a:pPr algn="just" defTabSz="776288"/>
            <a:endParaRPr lang="en-US" b="1" dirty="0"/>
          </a:p>
        </p:txBody>
      </p:sp>
    </p:spTree>
    <p:extLst>
      <p:ext uri="{BB962C8B-B14F-4D97-AF65-F5344CB8AC3E}">
        <p14:creationId xmlns:p14="http://schemas.microsoft.com/office/powerpoint/2010/main" val="2209502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1087438" y="871538"/>
            <a:ext cx="4622800" cy="3468687"/>
          </a:xfrm>
          <a:ln/>
        </p:spPr>
      </p:sp>
      <p:sp>
        <p:nvSpPr>
          <p:cNvPr id="55299" name="Notes Placeholder 2"/>
          <p:cNvSpPr>
            <a:spLocks noGrp="1"/>
          </p:cNvSpPr>
          <p:nvPr>
            <p:ph type="body" idx="1"/>
          </p:nvPr>
        </p:nvSpPr>
        <p:spPr>
          <a:noFill/>
          <a:ln w="9525"/>
        </p:spPr>
        <p:txBody>
          <a:bodyPr/>
          <a:lstStyle/>
          <a:p>
            <a:pPr algn="just" defTabSz="776288"/>
            <a:endParaRPr lang="en-US" b="1" dirty="0"/>
          </a:p>
        </p:txBody>
      </p:sp>
    </p:spTree>
    <p:extLst>
      <p:ext uri="{BB962C8B-B14F-4D97-AF65-F5344CB8AC3E}">
        <p14:creationId xmlns:p14="http://schemas.microsoft.com/office/powerpoint/2010/main" val="1150627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xfrm>
            <a:off x="1087438" y="871538"/>
            <a:ext cx="4622800" cy="3468687"/>
          </a:xfrm>
          <a:ln/>
        </p:spPr>
      </p:sp>
      <p:sp>
        <p:nvSpPr>
          <p:cNvPr id="65539" name="Notes Placeholder 2"/>
          <p:cNvSpPr>
            <a:spLocks noGrp="1"/>
          </p:cNvSpPr>
          <p:nvPr>
            <p:ph type="body" idx="1"/>
          </p:nvPr>
        </p:nvSpPr>
        <p:spPr>
          <a:noFill/>
          <a:ln w="9525"/>
        </p:spPr>
        <p:txBody>
          <a:bodyPr/>
          <a:lstStyle/>
          <a:p>
            <a:endParaRPr lang="en-US"/>
          </a:p>
        </p:txBody>
      </p:sp>
    </p:spTree>
    <p:extLst>
      <p:ext uri="{BB962C8B-B14F-4D97-AF65-F5344CB8AC3E}">
        <p14:creationId xmlns:p14="http://schemas.microsoft.com/office/powerpoint/2010/main" val="40926989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1087438" y="871538"/>
            <a:ext cx="4622800" cy="3468687"/>
          </a:xfrm>
          <a:ln/>
        </p:spPr>
      </p:sp>
      <p:sp>
        <p:nvSpPr>
          <p:cNvPr id="55299" name="Notes Placeholder 2"/>
          <p:cNvSpPr>
            <a:spLocks noGrp="1"/>
          </p:cNvSpPr>
          <p:nvPr>
            <p:ph type="body" idx="1"/>
          </p:nvPr>
        </p:nvSpPr>
        <p:spPr>
          <a:noFill/>
          <a:ln w="9525"/>
        </p:spPr>
        <p:txBody>
          <a:bodyPr/>
          <a:lstStyle/>
          <a:p>
            <a:pPr algn="just" defTabSz="776288"/>
            <a:endParaRPr lang="en-US" b="1" dirty="0"/>
          </a:p>
        </p:txBody>
      </p:sp>
    </p:spTree>
    <p:extLst>
      <p:ext uri="{BB962C8B-B14F-4D97-AF65-F5344CB8AC3E}">
        <p14:creationId xmlns:p14="http://schemas.microsoft.com/office/powerpoint/2010/main" val="498565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xfrm>
            <a:off x="1087438" y="871538"/>
            <a:ext cx="4622800" cy="3468687"/>
          </a:xfrm>
          <a:ln/>
        </p:spPr>
      </p:sp>
      <p:sp>
        <p:nvSpPr>
          <p:cNvPr id="61443" name="Notes Placeholder 2"/>
          <p:cNvSpPr>
            <a:spLocks noGrp="1"/>
          </p:cNvSpPr>
          <p:nvPr>
            <p:ph type="body" idx="1"/>
          </p:nvPr>
        </p:nvSpPr>
        <p:spPr>
          <a:noFill/>
          <a:ln w="9525"/>
        </p:spPr>
        <p:txBody>
          <a:bodyPr/>
          <a:lstStyle/>
          <a:p>
            <a:endParaRPr lang="en-US"/>
          </a:p>
        </p:txBody>
      </p:sp>
    </p:spTree>
    <p:extLst>
      <p:ext uri="{BB962C8B-B14F-4D97-AF65-F5344CB8AC3E}">
        <p14:creationId xmlns:p14="http://schemas.microsoft.com/office/powerpoint/2010/main" val="2190384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2177304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r>
              <a:rPr lang="en-US" dirty="0" err="1">
                <a:highlight>
                  <a:srgbClr val="FFFF00"/>
                </a:highlight>
              </a:rPr>
              <a:t>Rever</a:t>
            </a:r>
            <a:r>
              <a:rPr lang="en-US" dirty="0">
                <a:highlight>
                  <a:srgbClr val="FFFF00"/>
                </a:highlight>
              </a:rPr>
              <a:t> </a:t>
            </a:r>
            <a:r>
              <a:rPr lang="en-US" dirty="0" err="1">
                <a:highlight>
                  <a:srgbClr val="FFFF00"/>
                </a:highlight>
              </a:rPr>
              <a:t>desenho</a:t>
            </a:r>
            <a:endParaRPr lang="en-US" dirty="0">
              <a:highlight>
                <a:srgbClr val="FFFF00"/>
              </a:highlight>
            </a:endParaRPr>
          </a:p>
        </p:txBody>
      </p:sp>
    </p:spTree>
    <p:extLst>
      <p:ext uri="{BB962C8B-B14F-4D97-AF65-F5344CB8AC3E}">
        <p14:creationId xmlns:p14="http://schemas.microsoft.com/office/powerpoint/2010/main" val="7121822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9331673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1002431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33032162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11742073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w="9525"/>
        </p:spPr>
        <p:txBody>
          <a:bodyPr/>
          <a:lstStyle/>
          <a:p>
            <a:pPr algn="just" defTabSz="776288"/>
            <a:endParaRPr lang="en-US" dirty="0"/>
          </a:p>
        </p:txBody>
      </p:sp>
    </p:spTree>
    <p:extLst>
      <p:ext uri="{BB962C8B-B14F-4D97-AF65-F5344CB8AC3E}">
        <p14:creationId xmlns:p14="http://schemas.microsoft.com/office/powerpoint/2010/main" val="6171463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8" name="Picture 7" descr="Logo&#10;&#10;Description automatically generated">
            <a:extLst>
              <a:ext uri="{FF2B5EF4-FFF2-40B4-BE49-F238E27FC236}">
                <a16:creationId xmlns:a16="http://schemas.microsoft.com/office/drawing/2014/main" id="{5A17A32A-10BF-4F88-8E80-00CE1A4EE71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4328" y="5979044"/>
            <a:ext cx="1475656" cy="104280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10" name="Picture 9" descr="Logo&#10;&#10;Description automatically generated">
            <a:extLst>
              <a:ext uri="{FF2B5EF4-FFF2-40B4-BE49-F238E27FC236}">
                <a16:creationId xmlns:a16="http://schemas.microsoft.com/office/drawing/2014/main" id="{EBDEFEC8-B079-4C69-90FE-69C4DA09F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4328" y="5979044"/>
            <a:ext cx="1475656" cy="104280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pic>
        <p:nvPicPr>
          <p:cNvPr id="6" name="Picture 5" descr="Logo&#10;&#10;Description automatically generated">
            <a:extLst>
              <a:ext uri="{FF2B5EF4-FFF2-40B4-BE49-F238E27FC236}">
                <a16:creationId xmlns:a16="http://schemas.microsoft.com/office/drawing/2014/main" id="{8F4CC7E4-BB37-48E2-ADAB-EECAE6B5B6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4328" y="5979044"/>
            <a:ext cx="1475656" cy="104280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Logo&#10;&#10;Description automatically generated">
            <a:extLst>
              <a:ext uri="{FF2B5EF4-FFF2-40B4-BE49-F238E27FC236}">
                <a16:creationId xmlns:a16="http://schemas.microsoft.com/office/drawing/2014/main" id="{51D71173-C186-4A03-85FF-A59B722BA1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24328" y="5979044"/>
            <a:ext cx="1475656" cy="104280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EFBE43-27CB-404A-82BC-32B7DD13321A}"/>
              </a:ext>
            </a:extLst>
          </p:cNvPr>
          <p:cNvSpPr>
            <a:spLocks noGrp="1"/>
          </p:cNvSpPr>
          <p:nvPr>
            <p:ph type="dt" sz="half" idx="10"/>
          </p:nvPr>
        </p:nvSpPr>
        <p:spPr/>
        <p:txBody>
          <a:bodyPr/>
          <a:lstStyle/>
          <a:p>
            <a:fld id="{5C03F512-DCAA-4E27-B302-82E4103BFA8A}" type="datetimeFigureOut">
              <a:rPr lang="pt-PT" smtClean="0"/>
              <a:t>2022.07.21</a:t>
            </a:fld>
            <a:endParaRPr lang="pt-PT"/>
          </a:p>
        </p:txBody>
      </p:sp>
      <p:sp>
        <p:nvSpPr>
          <p:cNvPr id="3" name="Footer Placeholder 2">
            <a:extLst>
              <a:ext uri="{FF2B5EF4-FFF2-40B4-BE49-F238E27FC236}">
                <a16:creationId xmlns:a16="http://schemas.microsoft.com/office/drawing/2014/main" id="{A6EAECB9-3797-4687-92EB-86C11F4B9798}"/>
              </a:ext>
            </a:extLst>
          </p:cNvPr>
          <p:cNvSpPr>
            <a:spLocks noGrp="1"/>
          </p:cNvSpPr>
          <p:nvPr>
            <p:ph type="ftr" sz="quarter" idx="11"/>
          </p:nvPr>
        </p:nvSpPr>
        <p:spPr/>
        <p:txBody>
          <a:bodyPr/>
          <a:lstStyle/>
          <a:p>
            <a:endParaRPr lang="pt-PT"/>
          </a:p>
        </p:txBody>
      </p:sp>
      <p:sp>
        <p:nvSpPr>
          <p:cNvPr id="4" name="Slide Number Placeholder 3">
            <a:extLst>
              <a:ext uri="{FF2B5EF4-FFF2-40B4-BE49-F238E27FC236}">
                <a16:creationId xmlns:a16="http://schemas.microsoft.com/office/drawing/2014/main" id="{3B29F847-7A0D-40B6-A5F3-7940E3D53264}"/>
              </a:ext>
            </a:extLst>
          </p:cNvPr>
          <p:cNvSpPr>
            <a:spLocks noGrp="1"/>
          </p:cNvSpPr>
          <p:nvPr>
            <p:ph type="sldNum" sz="quarter" idx="12"/>
          </p:nvPr>
        </p:nvSpPr>
        <p:spPr/>
        <p:txBody>
          <a:bodyPr/>
          <a:lstStyle/>
          <a:p>
            <a:fld id="{095F7031-252E-47AA-B750-E46060B89932}" type="slidenum">
              <a:rPr lang="pt-PT" smtClean="0"/>
              <a:t>‹#›</a:t>
            </a:fld>
            <a:endParaRPr lang="pt-PT"/>
          </a:p>
        </p:txBody>
      </p:sp>
    </p:spTree>
    <p:extLst>
      <p:ext uri="{BB962C8B-B14F-4D97-AF65-F5344CB8AC3E}">
        <p14:creationId xmlns:p14="http://schemas.microsoft.com/office/powerpoint/2010/main" val="2367990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B57F0-87FE-442F-8116-D620DED53F3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pt-PT"/>
          </a:p>
        </p:txBody>
      </p:sp>
      <p:sp>
        <p:nvSpPr>
          <p:cNvPr id="3" name="Content Placeholder 2">
            <a:extLst>
              <a:ext uri="{FF2B5EF4-FFF2-40B4-BE49-F238E27FC236}">
                <a16:creationId xmlns:a16="http://schemas.microsoft.com/office/drawing/2014/main" id="{80C543FB-E599-4FD3-B0EB-68137F5855BD}"/>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Text Placeholder 3">
            <a:extLst>
              <a:ext uri="{FF2B5EF4-FFF2-40B4-BE49-F238E27FC236}">
                <a16:creationId xmlns:a16="http://schemas.microsoft.com/office/drawing/2014/main" id="{DCFBEACD-7E9A-4A6D-83F4-68369622425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685A97D-ADC1-43C8-ADE8-207C0263238D}"/>
              </a:ext>
            </a:extLst>
          </p:cNvPr>
          <p:cNvSpPr>
            <a:spLocks noGrp="1"/>
          </p:cNvSpPr>
          <p:nvPr>
            <p:ph type="dt" sz="half" idx="10"/>
          </p:nvPr>
        </p:nvSpPr>
        <p:spPr/>
        <p:txBody>
          <a:bodyPr/>
          <a:lstStyle/>
          <a:p>
            <a:fld id="{5C03F512-DCAA-4E27-B302-82E4103BFA8A}" type="datetimeFigureOut">
              <a:rPr lang="pt-PT" smtClean="0"/>
              <a:t>2022.07.21</a:t>
            </a:fld>
            <a:endParaRPr lang="pt-PT"/>
          </a:p>
        </p:txBody>
      </p:sp>
      <p:sp>
        <p:nvSpPr>
          <p:cNvPr id="6" name="Footer Placeholder 5">
            <a:extLst>
              <a:ext uri="{FF2B5EF4-FFF2-40B4-BE49-F238E27FC236}">
                <a16:creationId xmlns:a16="http://schemas.microsoft.com/office/drawing/2014/main" id="{B4133114-2B9B-4AA8-A114-C4B4DA26D2F1}"/>
              </a:ext>
            </a:extLst>
          </p:cNvPr>
          <p:cNvSpPr>
            <a:spLocks noGrp="1"/>
          </p:cNvSpPr>
          <p:nvPr>
            <p:ph type="ftr" sz="quarter" idx="11"/>
          </p:nvPr>
        </p:nvSpPr>
        <p:spPr/>
        <p:txBody>
          <a:bodyPr/>
          <a:lstStyle/>
          <a:p>
            <a:endParaRPr lang="pt-PT"/>
          </a:p>
        </p:txBody>
      </p:sp>
      <p:sp>
        <p:nvSpPr>
          <p:cNvPr id="7" name="Slide Number Placeholder 6">
            <a:extLst>
              <a:ext uri="{FF2B5EF4-FFF2-40B4-BE49-F238E27FC236}">
                <a16:creationId xmlns:a16="http://schemas.microsoft.com/office/drawing/2014/main" id="{97508D98-7FA9-43C1-B34C-505D4E064954}"/>
              </a:ext>
            </a:extLst>
          </p:cNvPr>
          <p:cNvSpPr>
            <a:spLocks noGrp="1"/>
          </p:cNvSpPr>
          <p:nvPr>
            <p:ph type="sldNum" sz="quarter" idx="12"/>
          </p:nvPr>
        </p:nvSpPr>
        <p:spPr/>
        <p:txBody>
          <a:bodyPr/>
          <a:lstStyle/>
          <a:p>
            <a:fld id="{095F7031-252E-47AA-B750-E46060B89932}" type="slidenum">
              <a:rPr lang="pt-PT" smtClean="0"/>
              <a:t>‹#›</a:t>
            </a:fld>
            <a:endParaRPr lang="pt-PT"/>
          </a:p>
        </p:txBody>
      </p:sp>
    </p:spTree>
    <p:extLst>
      <p:ext uri="{BB962C8B-B14F-4D97-AF65-F5344CB8AC3E}">
        <p14:creationId xmlns:p14="http://schemas.microsoft.com/office/powerpoint/2010/main" val="3560978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CBB89-A479-4B66-8BDC-BCB750FA2A2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pt-PT"/>
          </a:p>
        </p:txBody>
      </p:sp>
      <p:sp>
        <p:nvSpPr>
          <p:cNvPr id="3" name="Picture Placeholder 2">
            <a:extLst>
              <a:ext uri="{FF2B5EF4-FFF2-40B4-BE49-F238E27FC236}">
                <a16:creationId xmlns:a16="http://schemas.microsoft.com/office/drawing/2014/main" id="{2BCEB117-4AF3-4B17-9A2D-E103D48E911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pt-PT"/>
          </a:p>
        </p:txBody>
      </p:sp>
      <p:sp>
        <p:nvSpPr>
          <p:cNvPr id="4" name="Text Placeholder 3">
            <a:extLst>
              <a:ext uri="{FF2B5EF4-FFF2-40B4-BE49-F238E27FC236}">
                <a16:creationId xmlns:a16="http://schemas.microsoft.com/office/drawing/2014/main" id="{227B8278-DBAE-4434-8778-EFDFA8B7654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6F902AFB-B41F-445F-AB9C-8A9D7E747C19}"/>
              </a:ext>
            </a:extLst>
          </p:cNvPr>
          <p:cNvSpPr>
            <a:spLocks noGrp="1"/>
          </p:cNvSpPr>
          <p:nvPr>
            <p:ph type="dt" sz="half" idx="10"/>
          </p:nvPr>
        </p:nvSpPr>
        <p:spPr/>
        <p:txBody>
          <a:bodyPr/>
          <a:lstStyle/>
          <a:p>
            <a:fld id="{5C03F512-DCAA-4E27-B302-82E4103BFA8A}" type="datetimeFigureOut">
              <a:rPr lang="pt-PT" smtClean="0"/>
              <a:t>2022.07.21</a:t>
            </a:fld>
            <a:endParaRPr lang="pt-PT"/>
          </a:p>
        </p:txBody>
      </p:sp>
      <p:sp>
        <p:nvSpPr>
          <p:cNvPr id="6" name="Footer Placeholder 5">
            <a:extLst>
              <a:ext uri="{FF2B5EF4-FFF2-40B4-BE49-F238E27FC236}">
                <a16:creationId xmlns:a16="http://schemas.microsoft.com/office/drawing/2014/main" id="{6BD8B173-14AA-4C90-B369-3421C877D724}"/>
              </a:ext>
            </a:extLst>
          </p:cNvPr>
          <p:cNvSpPr>
            <a:spLocks noGrp="1"/>
          </p:cNvSpPr>
          <p:nvPr>
            <p:ph type="ftr" sz="quarter" idx="11"/>
          </p:nvPr>
        </p:nvSpPr>
        <p:spPr/>
        <p:txBody>
          <a:bodyPr/>
          <a:lstStyle/>
          <a:p>
            <a:endParaRPr lang="pt-PT"/>
          </a:p>
        </p:txBody>
      </p:sp>
      <p:sp>
        <p:nvSpPr>
          <p:cNvPr id="7" name="Slide Number Placeholder 6">
            <a:extLst>
              <a:ext uri="{FF2B5EF4-FFF2-40B4-BE49-F238E27FC236}">
                <a16:creationId xmlns:a16="http://schemas.microsoft.com/office/drawing/2014/main" id="{BDFF1FDA-F3AF-40BB-9124-180AC09169D5}"/>
              </a:ext>
            </a:extLst>
          </p:cNvPr>
          <p:cNvSpPr>
            <a:spLocks noGrp="1"/>
          </p:cNvSpPr>
          <p:nvPr>
            <p:ph type="sldNum" sz="quarter" idx="12"/>
          </p:nvPr>
        </p:nvSpPr>
        <p:spPr/>
        <p:txBody>
          <a:bodyPr/>
          <a:lstStyle/>
          <a:p>
            <a:fld id="{095F7031-252E-47AA-B750-E46060B89932}" type="slidenum">
              <a:rPr lang="pt-PT" smtClean="0"/>
              <a:t>‹#›</a:t>
            </a:fld>
            <a:endParaRPr lang="pt-PT"/>
          </a:p>
        </p:txBody>
      </p:sp>
    </p:spTree>
    <p:extLst>
      <p:ext uri="{BB962C8B-B14F-4D97-AF65-F5344CB8AC3E}">
        <p14:creationId xmlns:p14="http://schemas.microsoft.com/office/powerpoint/2010/main" val="3278487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BD1E8-505D-4EC8-B5AE-6FC44F1C2BCF}"/>
              </a:ext>
            </a:extLst>
          </p:cNvPr>
          <p:cNvSpPr>
            <a:spLocks noGrp="1"/>
          </p:cNvSpPr>
          <p:nvPr>
            <p:ph type="title"/>
          </p:nvPr>
        </p:nvSpPr>
        <p:spPr/>
        <p:txBody>
          <a:bodyPr/>
          <a:lstStyle/>
          <a:p>
            <a:r>
              <a:rPr lang="en-US"/>
              <a:t>Click to edit Master title style</a:t>
            </a:r>
            <a:endParaRPr lang="pt-PT"/>
          </a:p>
        </p:txBody>
      </p:sp>
      <p:sp>
        <p:nvSpPr>
          <p:cNvPr id="3" name="Vertical Text Placeholder 2">
            <a:extLst>
              <a:ext uri="{FF2B5EF4-FFF2-40B4-BE49-F238E27FC236}">
                <a16:creationId xmlns:a16="http://schemas.microsoft.com/office/drawing/2014/main" id="{09836C85-1B4C-4D13-8F3F-5BA7D62272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a:extLst>
              <a:ext uri="{FF2B5EF4-FFF2-40B4-BE49-F238E27FC236}">
                <a16:creationId xmlns:a16="http://schemas.microsoft.com/office/drawing/2014/main" id="{609FF9B3-9158-4989-BB2D-08A87D8F9AE6}"/>
              </a:ext>
            </a:extLst>
          </p:cNvPr>
          <p:cNvSpPr>
            <a:spLocks noGrp="1"/>
          </p:cNvSpPr>
          <p:nvPr>
            <p:ph type="dt" sz="half" idx="10"/>
          </p:nvPr>
        </p:nvSpPr>
        <p:spPr/>
        <p:txBody>
          <a:bodyPr/>
          <a:lstStyle/>
          <a:p>
            <a:fld id="{5C03F512-DCAA-4E27-B302-82E4103BFA8A}" type="datetimeFigureOut">
              <a:rPr lang="pt-PT" smtClean="0"/>
              <a:t>2022.07.21</a:t>
            </a:fld>
            <a:endParaRPr lang="pt-PT"/>
          </a:p>
        </p:txBody>
      </p:sp>
      <p:sp>
        <p:nvSpPr>
          <p:cNvPr id="5" name="Footer Placeholder 4">
            <a:extLst>
              <a:ext uri="{FF2B5EF4-FFF2-40B4-BE49-F238E27FC236}">
                <a16:creationId xmlns:a16="http://schemas.microsoft.com/office/drawing/2014/main" id="{80C22A99-7FB6-49CC-B551-AD33636FF7DC}"/>
              </a:ext>
            </a:extLst>
          </p:cNvPr>
          <p:cNvSpPr>
            <a:spLocks noGrp="1"/>
          </p:cNvSpPr>
          <p:nvPr>
            <p:ph type="ftr" sz="quarter" idx="11"/>
          </p:nvPr>
        </p:nvSpPr>
        <p:spPr/>
        <p:txBody>
          <a:bodyPr/>
          <a:lstStyle/>
          <a:p>
            <a:endParaRPr lang="pt-PT"/>
          </a:p>
        </p:txBody>
      </p:sp>
      <p:sp>
        <p:nvSpPr>
          <p:cNvPr id="6" name="Slide Number Placeholder 5">
            <a:extLst>
              <a:ext uri="{FF2B5EF4-FFF2-40B4-BE49-F238E27FC236}">
                <a16:creationId xmlns:a16="http://schemas.microsoft.com/office/drawing/2014/main" id="{58EFF266-1B6F-4913-8133-0E6AAACE81B4}"/>
              </a:ext>
            </a:extLst>
          </p:cNvPr>
          <p:cNvSpPr>
            <a:spLocks noGrp="1"/>
          </p:cNvSpPr>
          <p:nvPr>
            <p:ph type="sldNum" sz="quarter" idx="12"/>
          </p:nvPr>
        </p:nvSpPr>
        <p:spPr/>
        <p:txBody>
          <a:bodyPr/>
          <a:lstStyle/>
          <a:p>
            <a:fld id="{095F7031-252E-47AA-B750-E46060B89932}" type="slidenum">
              <a:rPr lang="pt-PT" smtClean="0"/>
              <a:t>‹#›</a:t>
            </a:fld>
            <a:endParaRPr lang="pt-PT"/>
          </a:p>
        </p:txBody>
      </p:sp>
    </p:spTree>
    <p:extLst>
      <p:ext uri="{BB962C8B-B14F-4D97-AF65-F5344CB8AC3E}">
        <p14:creationId xmlns:p14="http://schemas.microsoft.com/office/powerpoint/2010/main" val="382281186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47344DC-530D-45EE-9A2A-438A16E37895}"/>
              </a:ext>
            </a:extLst>
          </p:cNvPr>
          <p:cNvPicPr>
            <a:picLocks noChangeAspect="1"/>
          </p:cNvPicPr>
          <p:nvPr userDrawn="1"/>
        </p:nvPicPr>
        <p:blipFill>
          <a:blip r:embed="rId6"/>
          <a:stretch>
            <a:fillRect/>
          </a:stretch>
        </p:blipFill>
        <p:spPr>
          <a:xfrm>
            <a:off x="7208346" y="-231810"/>
            <a:ext cx="2107620" cy="1488972"/>
          </a:xfrm>
          <a:prstGeom prst="rect">
            <a:avLst/>
          </a:prstGeom>
        </p:spPr>
      </p:pic>
      <p:sp>
        <p:nvSpPr>
          <p:cNvPr id="9" name="Title Placeholder 8"/>
          <p:cNvSpPr>
            <a:spLocks noGrp="1"/>
          </p:cNvSpPr>
          <p:nvPr>
            <p:ph type="title"/>
          </p:nvPr>
        </p:nvSpPr>
        <p:spPr>
          <a:xfrm>
            <a:off x="457200" y="260648"/>
            <a:ext cx="8229600" cy="504056"/>
          </a:xfrm>
          <a:prstGeom prst="rect">
            <a:avLst/>
          </a:prstGeom>
        </p:spPr>
        <p:txBody>
          <a:bodyPr vert="horz" lIns="0" rIns="0" bIns="0" anchor="b">
            <a:noAutofit/>
          </a:bodyPr>
          <a:lstStyle/>
          <a:p>
            <a:r>
              <a:rPr kumimoji="0" lang="en-US" dirty="0"/>
              <a:t>CLICK TO EDIT MASTER TITLE STYLE</a:t>
            </a:r>
          </a:p>
        </p:txBody>
      </p:sp>
      <p:sp>
        <p:nvSpPr>
          <p:cNvPr id="30" name="Text Placeholder 29"/>
          <p:cNvSpPr>
            <a:spLocks noGrp="1"/>
          </p:cNvSpPr>
          <p:nvPr>
            <p:ph type="body" idx="1"/>
          </p:nvPr>
        </p:nvSpPr>
        <p:spPr>
          <a:xfrm>
            <a:off x="457200" y="1340768"/>
            <a:ext cx="8229600" cy="4983832"/>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pic>
        <p:nvPicPr>
          <p:cNvPr id="11" name="Picture 10" descr="Logo&#10;&#10;Description automatically generated">
            <a:extLst>
              <a:ext uri="{FF2B5EF4-FFF2-40B4-BE49-F238E27FC236}">
                <a16:creationId xmlns:a16="http://schemas.microsoft.com/office/drawing/2014/main" id="{2D21E1B5-01DB-42F9-A148-0CB229A177A6}"/>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7524328" y="5979044"/>
            <a:ext cx="1475656" cy="1042802"/>
          </a:xfrm>
          <a:prstGeom prst="rect">
            <a:avLst/>
          </a:prstGeom>
        </p:spPr>
      </p:pic>
    </p:spTree>
  </p:cSld>
  <p:clrMap bg1="lt1" tx1="dk1" bg2="lt2" tx2="dk2" accent1="accent1" accent2="accent2" accent3="accent3" accent4="accent4" accent5="accent5" accent6="accent6" hlink="hlink" folHlink="folHlink"/>
  <p:sldLayoutIdLst>
    <p:sldLayoutId id="2147483710" r:id="rId1"/>
    <p:sldLayoutId id="2147483713" r:id="rId2"/>
    <p:sldLayoutId id="2147483714" r:id="rId3"/>
    <p:sldLayoutId id="2147483715" r:id="rId4"/>
  </p:sldLayoutIdLst>
  <p:hf hdr="0" dt="0"/>
  <p:txStyles>
    <p:titleStyle>
      <a:lvl1pPr algn="l" rtl="0" eaLnBrk="1" latinLnBrk="0" hangingPunct="1">
        <a:spcBef>
          <a:spcPct val="0"/>
        </a:spcBef>
        <a:buNone/>
        <a:defRPr kumimoji="0" sz="3600" b="0" kern="1200">
          <a:ln>
            <a:noFill/>
          </a:ln>
          <a:solidFill>
            <a:srgbClr val="E94320"/>
          </a:solidFill>
          <a:effectLst/>
          <a:latin typeface="+mj-lt"/>
          <a:ea typeface="+mj-ea"/>
          <a:cs typeface="+mj-cs"/>
        </a:defRPr>
      </a:lvl1pPr>
    </p:titleStyle>
    <p:bodyStyle>
      <a:lvl1pPr marL="457200" indent="-457200" algn="l" rtl="0" eaLnBrk="1" latinLnBrk="0" hangingPunct="1">
        <a:spcBef>
          <a:spcPct val="20000"/>
        </a:spcBef>
        <a:buClr>
          <a:srgbClr val="E94320"/>
        </a:buClr>
        <a:buSzPct val="95000"/>
        <a:buFont typeface="Arial"/>
        <a:buChar char="•"/>
        <a:defRPr kumimoji="0" sz="2600" kern="1200">
          <a:solidFill>
            <a:schemeClr val="tx1">
              <a:lumMod val="75000"/>
              <a:lumOff val="25000"/>
            </a:schemeClr>
          </a:solidFill>
          <a:latin typeface="+mn-lt"/>
          <a:ea typeface="+mn-ea"/>
          <a:cs typeface="+mn-cs"/>
        </a:defRPr>
      </a:lvl1pPr>
      <a:lvl2pPr marL="736092" indent="-342900" algn="l" rtl="0" eaLnBrk="1" latinLnBrk="0" hangingPunct="1">
        <a:spcBef>
          <a:spcPct val="20000"/>
        </a:spcBef>
        <a:buClr>
          <a:srgbClr val="E94320"/>
        </a:buClr>
        <a:buSzPct val="85000"/>
        <a:buFont typeface="Arial"/>
        <a:buChar char="•"/>
        <a:defRPr kumimoji="0" sz="2400" kern="1200">
          <a:solidFill>
            <a:schemeClr val="tx1">
              <a:lumMod val="75000"/>
              <a:lumOff val="25000"/>
            </a:schemeClr>
          </a:solidFill>
          <a:latin typeface="+mn-lt"/>
          <a:ea typeface="+mn-ea"/>
          <a:cs typeface="+mn-cs"/>
        </a:defRPr>
      </a:lvl2pPr>
      <a:lvl3pPr marL="1010412" indent="-342900" algn="l" rtl="0" eaLnBrk="1" latinLnBrk="0" hangingPunct="1">
        <a:spcBef>
          <a:spcPct val="20000"/>
        </a:spcBef>
        <a:buClr>
          <a:srgbClr val="E94320"/>
        </a:buClr>
        <a:buSzPct val="70000"/>
        <a:buFont typeface="Arial"/>
        <a:buChar char="•"/>
        <a:defRPr kumimoji="0" sz="2100" kern="1200">
          <a:solidFill>
            <a:schemeClr val="tx1">
              <a:lumMod val="75000"/>
              <a:lumOff val="25000"/>
            </a:schemeClr>
          </a:solidFill>
          <a:latin typeface="+mn-lt"/>
          <a:ea typeface="+mn-ea"/>
          <a:cs typeface="+mn-cs"/>
        </a:defRPr>
      </a:lvl3pPr>
      <a:lvl4pPr marL="1321308" indent="-342900" algn="l" rtl="0" eaLnBrk="1" latinLnBrk="0" hangingPunct="1">
        <a:spcBef>
          <a:spcPct val="20000"/>
        </a:spcBef>
        <a:buClr>
          <a:srgbClr val="E94320"/>
        </a:buClr>
        <a:buSzPct val="65000"/>
        <a:buFont typeface="Arial"/>
        <a:buChar char="•"/>
        <a:defRPr kumimoji="0" sz="2000" kern="1200">
          <a:solidFill>
            <a:schemeClr val="tx1">
              <a:lumMod val="75000"/>
              <a:lumOff val="25000"/>
            </a:schemeClr>
          </a:solidFill>
          <a:latin typeface="+mn-lt"/>
          <a:ea typeface="+mn-ea"/>
          <a:cs typeface="+mn-cs"/>
        </a:defRPr>
      </a:lvl4pPr>
      <a:lvl5pPr marL="1595628" indent="-342900" algn="l" rtl="0" eaLnBrk="1" latinLnBrk="0" hangingPunct="1">
        <a:spcBef>
          <a:spcPct val="20000"/>
        </a:spcBef>
        <a:buClr>
          <a:srgbClr val="E94320"/>
        </a:buClr>
        <a:buSzPct val="65000"/>
        <a:buFont typeface="Arial"/>
        <a:buChar char="•"/>
        <a:defRPr kumimoji="0" sz="2000" kern="1200">
          <a:solidFill>
            <a:schemeClr val="tx1">
              <a:lumMod val="75000"/>
              <a:lumOff val="25000"/>
            </a:schemeClr>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931E63-FA75-47E1-842B-2EC144FC609F}"/>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pt-PT"/>
          </a:p>
        </p:txBody>
      </p:sp>
      <p:sp>
        <p:nvSpPr>
          <p:cNvPr id="3" name="Text Placeholder 2">
            <a:extLst>
              <a:ext uri="{FF2B5EF4-FFF2-40B4-BE49-F238E27FC236}">
                <a16:creationId xmlns:a16="http://schemas.microsoft.com/office/drawing/2014/main" id="{25F8F943-4675-4B73-B58C-64F8CDDDD15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pt-PT"/>
          </a:p>
        </p:txBody>
      </p:sp>
      <p:sp>
        <p:nvSpPr>
          <p:cNvPr id="4" name="Date Placeholder 3">
            <a:extLst>
              <a:ext uri="{FF2B5EF4-FFF2-40B4-BE49-F238E27FC236}">
                <a16:creationId xmlns:a16="http://schemas.microsoft.com/office/drawing/2014/main" id="{1E51EC2E-F946-4A22-B3ED-7E9261BFC417}"/>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C03F512-DCAA-4E27-B302-82E4103BFA8A}" type="datetimeFigureOut">
              <a:rPr lang="pt-PT" smtClean="0"/>
              <a:t>2022.07.21</a:t>
            </a:fld>
            <a:endParaRPr lang="pt-PT"/>
          </a:p>
        </p:txBody>
      </p:sp>
      <p:sp>
        <p:nvSpPr>
          <p:cNvPr id="5" name="Footer Placeholder 4">
            <a:extLst>
              <a:ext uri="{FF2B5EF4-FFF2-40B4-BE49-F238E27FC236}">
                <a16:creationId xmlns:a16="http://schemas.microsoft.com/office/drawing/2014/main" id="{BC301994-63EA-4B97-892B-6AFA50258E9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pt-PT"/>
          </a:p>
        </p:txBody>
      </p:sp>
      <p:sp>
        <p:nvSpPr>
          <p:cNvPr id="6" name="Slide Number Placeholder 5">
            <a:extLst>
              <a:ext uri="{FF2B5EF4-FFF2-40B4-BE49-F238E27FC236}">
                <a16:creationId xmlns:a16="http://schemas.microsoft.com/office/drawing/2014/main" id="{2211ECAB-EC37-419C-A243-B23B2E5185A6}"/>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95F7031-252E-47AA-B750-E46060B89932}" type="slidenum">
              <a:rPr lang="pt-PT" smtClean="0"/>
              <a:t>‹#›</a:t>
            </a:fld>
            <a:endParaRPr lang="pt-PT"/>
          </a:p>
        </p:txBody>
      </p:sp>
    </p:spTree>
    <p:extLst>
      <p:ext uri="{BB962C8B-B14F-4D97-AF65-F5344CB8AC3E}">
        <p14:creationId xmlns:p14="http://schemas.microsoft.com/office/powerpoint/2010/main" val="3083819208"/>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pt-PT"/>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jpeg"/><Relationship Id="rId4" Type="http://schemas.openxmlformats.org/officeDocument/2006/relationships/image" Target="../media/image6.png"/><Relationship Id="rId9" Type="http://schemas.openxmlformats.org/officeDocument/2006/relationships/image" Target="../media/image11.jpe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7.jpe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3.xml"/><Relationship Id="rId5" Type="http://schemas.openxmlformats.org/officeDocument/2006/relationships/image" Target="../media/image20.jpe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3.png"/><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3.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food&#10;&#10;Description automatically generated">
            <a:extLst>
              <a:ext uri="{FF2B5EF4-FFF2-40B4-BE49-F238E27FC236}">
                <a16:creationId xmlns:a16="http://schemas.microsoft.com/office/drawing/2014/main" id="{779CE1A8-4942-4DFF-BA7B-A231BABC66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568" y="-1"/>
            <a:ext cx="9684570" cy="6852081"/>
          </a:xfrm>
          <a:prstGeom prst="rect">
            <a:avLst/>
          </a:prstGeom>
        </p:spPr>
      </p:pic>
      <p:pic>
        <p:nvPicPr>
          <p:cNvPr id="15" name="Picture 14" descr="A picture containing clipart&#10;&#10;Description automatically generated">
            <a:extLst>
              <a:ext uri="{FF2B5EF4-FFF2-40B4-BE49-F238E27FC236}">
                <a16:creationId xmlns:a16="http://schemas.microsoft.com/office/drawing/2014/main" id="{3E28B4D8-D44F-41F8-8837-2E07B405BD5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41934" y="-50251"/>
            <a:ext cx="2104203" cy="2976430"/>
          </a:xfrm>
          <a:prstGeom prst="rect">
            <a:avLst/>
          </a:prstGeom>
        </p:spPr>
      </p:pic>
      <p:pic>
        <p:nvPicPr>
          <p:cNvPr id="4" name="Picture 3" descr="A close up of a logo&#10;&#10;Description automatically generated">
            <a:extLst>
              <a:ext uri="{FF2B5EF4-FFF2-40B4-BE49-F238E27FC236}">
                <a16:creationId xmlns:a16="http://schemas.microsoft.com/office/drawing/2014/main" id="{21A37EE4-8049-47DC-A2FA-705E772E0A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98235" y="1529269"/>
            <a:ext cx="1330156" cy="2173830"/>
          </a:xfrm>
          <a:prstGeom prst="rect">
            <a:avLst/>
          </a:prstGeom>
        </p:spPr>
      </p:pic>
      <p:pic>
        <p:nvPicPr>
          <p:cNvPr id="5" name="Picture 4" descr="A picture containing drawing, light&#10;&#10;Description automatically generated">
            <a:extLst>
              <a:ext uri="{FF2B5EF4-FFF2-40B4-BE49-F238E27FC236}">
                <a16:creationId xmlns:a16="http://schemas.microsoft.com/office/drawing/2014/main" id="{5ED8C3B0-2650-4599-B0A0-7216E2BCFB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rot="18741116" flipH="1">
            <a:off x="-240330" y="3713582"/>
            <a:ext cx="1674500" cy="2489426"/>
          </a:xfrm>
          <a:prstGeom prst="rect">
            <a:avLst/>
          </a:prstGeom>
        </p:spPr>
      </p:pic>
      <p:pic>
        <p:nvPicPr>
          <p:cNvPr id="6" name="Picture 5" descr="A picture containing object, light, fireworks&#10;&#10;Description automatically generated">
            <a:extLst>
              <a:ext uri="{FF2B5EF4-FFF2-40B4-BE49-F238E27FC236}">
                <a16:creationId xmlns:a16="http://schemas.microsoft.com/office/drawing/2014/main" id="{E9F021ED-A54E-4A9E-910C-125EEC03936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343137" y="496536"/>
            <a:ext cx="1833876" cy="2997043"/>
          </a:xfrm>
          <a:prstGeom prst="rect">
            <a:avLst/>
          </a:prstGeom>
        </p:spPr>
      </p:pic>
      <p:sp>
        <p:nvSpPr>
          <p:cNvPr id="14" name="TextBox 13">
            <a:extLst>
              <a:ext uri="{FF2B5EF4-FFF2-40B4-BE49-F238E27FC236}">
                <a16:creationId xmlns:a16="http://schemas.microsoft.com/office/drawing/2014/main" id="{28126525-747F-42C9-BB6A-E27C4972C498}"/>
              </a:ext>
            </a:extLst>
          </p:cNvPr>
          <p:cNvSpPr txBox="1"/>
          <p:nvPr/>
        </p:nvSpPr>
        <p:spPr>
          <a:xfrm>
            <a:off x="2939945" y="2822245"/>
            <a:ext cx="2724172" cy="1569660"/>
          </a:xfrm>
          <a:prstGeom prst="rect">
            <a:avLst/>
          </a:prstGeom>
          <a:noFill/>
        </p:spPr>
        <p:txBody>
          <a:bodyPr wrap="square" rtlCol="0">
            <a:spAutoFit/>
          </a:bodyPr>
          <a:lstStyle/>
          <a:p>
            <a:pPr algn="ctr" defTabSz="685800"/>
            <a:r>
              <a:rPr lang="en-GB" sz="2400" dirty="0">
                <a:solidFill>
                  <a:srgbClr val="F35C13"/>
                </a:solidFill>
                <a:latin typeface="Gotham Rounded Bold" pitchFamily="50" charset="0"/>
                <a:sym typeface="Wingdings" panose="05000000000000000000" pitchFamily="2" charset="2"/>
              </a:rPr>
              <a:t>Un </a:t>
            </a:r>
            <a:r>
              <a:rPr lang="en-GB" sz="2400" dirty="0" err="1">
                <a:solidFill>
                  <a:srgbClr val="F35C13"/>
                </a:solidFill>
                <a:latin typeface="Gotham Rounded Bold" pitchFamily="50" charset="0"/>
                <a:sym typeface="Wingdings" panose="05000000000000000000" pitchFamily="2" charset="2"/>
              </a:rPr>
              <a:t>embarazo</a:t>
            </a:r>
            <a:r>
              <a:rPr lang="en-GB" sz="2400" dirty="0">
                <a:solidFill>
                  <a:srgbClr val="F35C13"/>
                </a:solidFill>
                <a:latin typeface="Gotham Rounded Bold" pitchFamily="50" charset="0"/>
                <a:sym typeface="Wingdings" panose="05000000000000000000" pitchFamily="2" charset="2"/>
              </a:rPr>
              <a:t> </a:t>
            </a:r>
            <a:r>
              <a:rPr lang="en-GB" sz="2400" dirty="0" err="1">
                <a:solidFill>
                  <a:srgbClr val="F35C13"/>
                </a:solidFill>
                <a:latin typeface="Gotham Rounded Bold" pitchFamily="50" charset="0"/>
                <a:sym typeface="Wingdings" panose="05000000000000000000" pitchFamily="2" charset="2"/>
              </a:rPr>
              <a:t>saludable</a:t>
            </a:r>
            <a:r>
              <a:rPr lang="en-GB" sz="2400" dirty="0">
                <a:solidFill>
                  <a:srgbClr val="F35C13"/>
                </a:solidFill>
                <a:latin typeface="Gotham Rounded Bold" pitchFamily="50" charset="0"/>
                <a:sym typeface="Wingdings" panose="05000000000000000000" pitchFamily="2" charset="2"/>
              </a:rPr>
              <a:t> </a:t>
            </a:r>
            <a:r>
              <a:rPr lang="en-GB" sz="2400" dirty="0" err="1">
                <a:solidFill>
                  <a:srgbClr val="F35C13"/>
                </a:solidFill>
                <a:latin typeface="Gotham Rounded Bold" pitchFamily="50" charset="0"/>
                <a:sym typeface="Wingdings" panose="05000000000000000000" pitchFamily="2" charset="2"/>
              </a:rPr>
              <a:t>ofrece</a:t>
            </a:r>
            <a:r>
              <a:rPr lang="en-GB" sz="2400" dirty="0">
                <a:solidFill>
                  <a:srgbClr val="F35C13"/>
                </a:solidFill>
                <a:latin typeface="Gotham Rounded Bold" pitchFamily="50" charset="0"/>
                <a:sym typeface="Wingdings" panose="05000000000000000000" pitchFamily="2" charset="2"/>
              </a:rPr>
              <a:t> </a:t>
            </a:r>
            <a:r>
              <a:rPr lang="en-GB" sz="2400" dirty="0" err="1">
                <a:solidFill>
                  <a:srgbClr val="F35C13"/>
                </a:solidFill>
                <a:latin typeface="Gotham Rounded Bold" pitchFamily="50" charset="0"/>
                <a:sym typeface="Wingdings" panose="05000000000000000000" pitchFamily="2" charset="2"/>
              </a:rPr>
              <a:t>snrisas</a:t>
            </a:r>
            <a:r>
              <a:rPr lang="en-GB" sz="2400" dirty="0">
                <a:solidFill>
                  <a:srgbClr val="F35C13"/>
                </a:solidFill>
                <a:latin typeface="Gotham Rounded Bold" pitchFamily="50" charset="0"/>
                <a:sym typeface="Wingdings" panose="05000000000000000000" pitchFamily="2" charset="2"/>
              </a:rPr>
              <a:t> </a:t>
            </a:r>
            <a:r>
              <a:rPr lang="en-GB" sz="2400" dirty="0" err="1">
                <a:solidFill>
                  <a:srgbClr val="F35C13"/>
                </a:solidFill>
                <a:latin typeface="Gotham Rounded Bold" pitchFamily="50" charset="0"/>
                <a:sym typeface="Wingdings" panose="05000000000000000000" pitchFamily="2" charset="2"/>
              </a:rPr>
              <a:t>felices</a:t>
            </a:r>
            <a:endParaRPr lang="en-GB" sz="2400" dirty="0">
              <a:solidFill>
                <a:srgbClr val="F35C13"/>
              </a:solidFill>
              <a:latin typeface="Gotham Rounded Bold" pitchFamily="50" charset="0"/>
              <a:sym typeface="Wingdings" panose="05000000000000000000" pitchFamily="2" charset="2"/>
            </a:endParaRPr>
          </a:p>
        </p:txBody>
      </p:sp>
      <p:pic>
        <p:nvPicPr>
          <p:cNvPr id="16" name="Picture 15" descr="A picture containing object, light, fireworks&#10;&#10;Description automatically generated">
            <a:extLst>
              <a:ext uri="{FF2B5EF4-FFF2-40B4-BE49-F238E27FC236}">
                <a16:creationId xmlns:a16="http://schemas.microsoft.com/office/drawing/2014/main" id="{38A88B7D-BF5F-49BB-B61F-9B072BF678D4}"/>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2445060">
            <a:off x="4175626" y="3742267"/>
            <a:ext cx="1833876" cy="2997043"/>
          </a:xfrm>
          <a:prstGeom prst="rect">
            <a:avLst/>
          </a:prstGeom>
        </p:spPr>
      </p:pic>
      <p:sp>
        <p:nvSpPr>
          <p:cNvPr id="18" name="TextBox 17">
            <a:extLst>
              <a:ext uri="{FF2B5EF4-FFF2-40B4-BE49-F238E27FC236}">
                <a16:creationId xmlns:a16="http://schemas.microsoft.com/office/drawing/2014/main" id="{1CAF61C7-2B67-497C-8553-C45139644D6F}"/>
              </a:ext>
            </a:extLst>
          </p:cNvPr>
          <p:cNvSpPr txBox="1"/>
          <p:nvPr/>
        </p:nvSpPr>
        <p:spPr>
          <a:xfrm>
            <a:off x="3943078" y="5876333"/>
            <a:ext cx="2573138" cy="923330"/>
          </a:xfrm>
          <a:prstGeom prst="rect">
            <a:avLst/>
          </a:prstGeom>
          <a:noFill/>
        </p:spPr>
        <p:txBody>
          <a:bodyPr wrap="square" rtlCol="0">
            <a:spAutoFit/>
          </a:bodyPr>
          <a:lstStyle/>
          <a:p>
            <a:r>
              <a:rPr lang="pt-PT" dirty="0">
                <a:solidFill>
                  <a:srgbClr val="F35C13"/>
                </a:solidFill>
              </a:rPr>
              <a:t>Evento</a:t>
            </a:r>
          </a:p>
          <a:p>
            <a:r>
              <a:rPr lang="pt-PT" dirty="0">
                <a:solidFill>
                  <a:srgbClr val="F35C13"/>
                </a:solidFill>
              </a:rPr>
              <a:t>Local y fecha</a:t>
            </a:r>
          </a:p>
          <a:p>
            <a:r>
              <a:rPr lang="pt-PT" dirty="0" err="1">
                <a:solidFill>
                  <a:srgbClr val="F35C13"/>
                </a:solidFill>
              </a:rPr>
              <a:t>Nombre</a:t>
            </a:r>
            <a:r>
              <a:rPr lang="pt-PT" dirty="0">
                <a:solidFill>
                  <a:srgbClr val="F35C13"/>
                </a:solidFill>
              </a:rPr>
              <a:t> del </a:t>
            </a:r>
            <a:r>
              <a:rPr lang="pt-PT" dirty="0" err="1">
                <a:solidFill>
                  <a:srgbClr val="F35C13"/>
                </a:solidFill>
              </a:rPr>
              <a:t>presentador</a:t>
            </a:r>
            <a:endParaRPr lang="pt-PT" dirty="0">
              <a:solidFill>
                <a:srgbClr val="F35C13"/>
              </a:solidFill>
            </a:endParaRPr>
          </a:p>
        </p:txBody>
      </p:sp>
      <p:pic>
        <p:nvPicPr>
          <p:cNvPr id="19" name="Picture 18" descr="Text&#10;&#10;Description automatically generated">
            <a:extLst>
              <a:ext uri="{FF2B5EF4-FFF2-40B4-BE49-F238E27FC236}">
                <a16:creationId xmlns:a16="http://schemas.microsoft.com/office/drawing/2014/main" id="{C1141ADC-E515-4D77-97F8-021C571688C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592" y="5999676"/>
            <a:ext cx="1475656" cy="811548"/>
          </a:xfrm>
          <a:prstGeom prst="rect">
            <a:avLst/>
          </a:prstGeom>
        </p:spPr>
      </p:pic>
      <p:pic>
        <p:nvPicPr>
          <p:cNvPr id="9" name="Picture 8" descr="Logo&#10;&#10;Description automatically generated">
            <a:extLst>
              <a:ext uri="{FF2B5EF4-FFF2-40B4-BE49-F238E27FC236}">
                <a16:creationId xmlns:a16="http://schemas.microsoft.com/office/drawing/2014/main" id="{82B3CC3E-71E7-47FC-AB24-0F7E0D2BDB8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95675" y="-50251"/>
            <a:ext cx="4238157" cy="2997043"/>
          </a:xfrm>
          <a:prstGeom prst="rect">
            <a:avLst/>
          </a:prstGeom>
        </p:spPr>
      </p:pic>
      <p:pic>
        <p:nvPicPr>
          <p:cNvPr id="11" name="Picture 10" descr="A picture containing text, clipart, doll&#10;&#10;Description automatically generated">
            <a:extLst>
              <a:ext uri="{FF2B5EF4-FFF2-40B4-BE49-F238E27FC236}">
                <a16:creationId xmlns:a16="http://schemas.microsoft.com/office/drawing/2014/main" id="{B1DEFD90-231E-451E-86D7-E643450A933D}"/>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62379" y="2258054"/>
            <a:ext cx="1131553" cy="2435659"/>
          </a:xfrm>
          <a:prstGeom prst="rect">
            <a:avLst/>
          </a:prstGeom>
        </p:spPr>
      </p:pic>
      <p:pic>
        <p:nvPicPr>
          <p:cNvPr id="13" name="Picture 12" descr="A picture containing text, clipart&#10;&#10;Description automatically generated">
            <a:extLst>
              <a:ext uri="{FF2B5EF4-FFF2-40B4-BE49-F238E27FC236}">
                <a16:creationId xmlns:a16="http://schemas.microsoft.com/office/drawing/2014/main" id="{9F19EC00-A393-451E-9AEA-4CA1902298E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260075" y="4140924"/>
            <a:ext cx="1228506" cy="2675351"/>
          </a:xfrm>
          <a:prstGeom prst="rect">
            <a:avLst/>
          </a:prstGeom>
        </p:spPr>
      </p:pic>
      <p:sp>
        <p:nvSpPr>
          <p:cNvPr id="2" name="Rectangle 1">
            <a:extLst>
              <a:ext uri="{FF2B5EF4-FFF2-40B4-BE49-F238E27FC236}">
                <a16:creationId xmlns:a16="http://schemas.microsoft.com/office/drawing/2014/main" id="{5CF68B51-5AFF-4F14-8AD7-E6C67B86AFB4}"/>
              </a:ext>
            </a:extLst>
          </p:cNvPr>
          <p:cNvSpPr/>
          <p:nvPr/>
        </p:nvSpPr>
        <p:spPr>
          <a:xfrm rot="16200000">
            <a:off x="8250419" y="6004091"/>
            <a:ext cx="1418978" cy="276999"/>
          </a:xfrm>
          <a:prstGeom prst="rect">
            <a:avLst/>
          </a:prstGeom>
        </p:spPr>
        <p:txBody>
          <a:bodyPr wrap="square">
            <a:spAutoFit/>
          </a:bodyPr>
          <a:lstStyle/>
          <a:p>
            <a:r>
              <a:rPr lang="pt-PT" sz="1200" dirty="0">
                <a:solidFill>
                  <a:srgbClr val="444444"/>
                </a:solidFill>
                <a:latin typeface="Segoe UI" panose="020B0502040204020203" pitchFamily="34" charset="0"/>
              </a:rPr>
              <a:t>FO/JUL22/EM/023</a:t>
            </a:r>
            <a:endParaRPr lang="pt-PT" sz="1200" dirty="0"/>
          </a:p>
        </p:txBody>
      </p:sp>
    </p:spTree>
    <p:extLst>
      <p:ext uri="{BB962C8B-B14F-4D97-AF65-F5344CB8AC3E}">
        <p14:creationId xmlns:p14="http://schemas.microsoft.com/office/powerpoint/2010/main" val="2507276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ECF76D-C28B-455C-ADE7-8E27D29C1A11}"/>
              </a:ext>
            </a:extLst>
          </p:cNvPr>
          <p:cNvPicPr>
            <a:picLocks noChangeAspect="1"/>
          </p:cNvPicPr>
          <p:nvPr/>
        </p:nvPicPr>
        <p:blipFill>
          <a:blip r:embed="rId3"/>
          <a:stretch>
            <a:fillRect/>
          </a:stretch>
        </p:blipFill>
        <p:spPr>
          <a:xfrm>
            <a:off x="-528116" y="43686"/>
            <a:ext cx="9672116" cy="6841698"/>
          </a:xfrm>
          <a:prstGeom prst="rect">
            <a:avLst/>
          </a:prstGeom>
        </p:spPr>
      </p:pic>
      <p:pic>
        <p:nvPicPr>
          <p:cNvPr id="5" name="Picture 4"/>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24544" y="2924944"/>
            <a:ext cx="5817061" cy="3933056"/>
          </a:xfrm>
          <a:prstGeom prst="rect">
            <a:avLst/>
          </a:prstGeom>
        </p:spPr>
      </p:pic>
      <p:sp>
        <p:nvSpPr>
          <p:cNvPr id="13" name="Oval 12">
            <a:extLst>
              <a:ext uri="{FF2B5EF4-FFF2-40B4-BE49-F238E27FC236}">
                <a16:creationId xmlns:a16="http://schemas.microsoft.com/office/drawing/2014/main" id="{FBCE85FD-D661-42F5-8478-8E3AA4A49E29}"/>
              </a:ext>
            </a:extLst>
          </p:cNvPr>
          <p:cNvSpPr/>
          <p:nvPr/>
        </p:nvSpPr>
        <p:spPr>
          <a:xfrm>
            <a:off x="611560" y="3329608"/>
            <a:ext cx="3816424" cy="3168352"/>
          </a:xfrm>
          <a:prstGeom prst="ellipse">
            <a:avLst/>
          </a:prstGeom>
          <a:noFill/>
          <a:ln>
            <a:solidFill>
              <a:srgbClr val="F7901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Title 2">
            <a:extLst>
              <a:ext uri="{FF2B5EF4-FFF2-40B4-BE49-F238E27FC236}">
                <a16:creationId xmlns:a16="http://schemas.microsoft.com/office/drawing/2014/main" id="{D36C4347-F2A4-4CC7-854E-0DF6EE14811F}"/>
              </a:ext>
            </a:extLst>
          </p:cNvPr>
          <p:cNvSpPr txBox="1">
            <a:spLocks/>
          </p:cNvSpPr>
          <p:nvPr/>
        </p:nvSpPr>
        <p:spPr>
          <a:xfrm>
            <a:off x="251520" y="416959"/>
            <a:ext cx="6336704" cy="1355857"/>
          </a:xfrm>
          <a:prstGeom prst="flowChartAlternateProcess">
            <a:avLst/>
          </a:prstGeom>
          <a:solidFill>
            <a:srgbClr val="E94320"/>
          </a:solidFill>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pPr algn="ctr"/>
            <a:r>
              <a:rPr lang="es-ES" b="1" dirty="0">
                <a:solidFill>
                  <a:schemeClr val="bg1"/>
                </a:solidFill>
              </a:rPr>
              <a:t>¿POR QUÉ NECESITAMOS HIERRO EN NUESTRO CUERPO?</a:t>
            </a:r>
            <a:endParaRPr lang="en-US" b="1" dirty="0">
              <a:solidFill>
                <a:schemeClr val="bg1"/>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76FEC6B-CF03-498E-AE3E-7EA863A99CBB}"/>
              </a:ext>
            </a:extLst>
          </p:cNvPr>
          <p:cNvPicPr>
            <a:picLocks noChangeAspect="1"/>
          </p:cNvPicPr>
          <p:nvPr/>
        </p:nvPicPr>
        <p:blipFill>
          <a:blip r:embed="rId3"/>
          <a:stretch>
            <a:fillRect/>
          </a:stretch>
        </p:blipFill>
        <p:spPr>
          <a:xfrm rot="5400000">
            <a:off x="-670270" y="2947371"/>
            <a:ext cx="4580899" cy="3240359"/>
          </a:xfrm>
          <a:prstGeom prst="rect">
            <a:avLst/>
          </a:prstGeom>
        </p:spPr>
      </p:pic>
      <p:sp>
        <p:nvSpPr>
          <p:cNvPr id="4099" name="TextBox 2"/>
          <p:cNvSpPr txBox="1">
            <a:spLocks noChangeArrowheads="1"/>
          </p:cNvSpPr>
          <p:nvPr/>
        </p:nvSpPr>
        <p:spPr bwMode="auto">
          <a:xfrm>
            <a:off x="2483768" y="6524625"/>
            <a:ext cx="4135372" cy="338554"/>
          </a:xfrm>
          <a:prstGeom prst="rect">
            <a:avLst/>
          </a:prstGeom>
          <a:noFill/>
          <a:ln w="9525">
            <a:noFill/>
            <a:miter lim="800000"/>
            <a:headEnd/>
            <a:tailEnd/>
          </a:ln>
        </p:spPr>
        <p:txBody>
          <a:bodyPr>
            <a:spAutoFit/>
          </a:bodyPr>
          <a:lstStyle/>
          <a:p>
            <a:pPr algn="ctr"/>
            <a:r>
              <a:rPr lang="pt-PT" sz="800" dirty="0" err="1">
                <a:latin typeface="Arial"/>
                <a:cs typeface="Arial"/>
              </a:rPr>
              <a:t>Fuente</a:t>
            </a:r>
            <a:r>
              <a:rPr lang="pt-PT" sz="800" dirty="0">
                <a:latin typeface="Arial"/>
                <a:cs typeface="Arial"/>
              </a:rPr>
              <a:t>: RCP </a:t>
            </a:r>
            <a:r>
              <a:rPr lang="pt-PT" sz="800" dirty="0" err="1">
                <a:latin typeface="Arial"/>
                <a:cs typeface="Arial"/>
              </a:rPr>
              <a:t>Ferfoli</a:t>
            </a:r>
            <a:endParaRPr lang="pt-PT" sz="800" dirty="0">
              <a:latin typeface="Arial"/>
              <a:cs typeface="Arial"/>
            </a:endParaRPr>
          </a:p>
          <a:p>
            <a:pPr algn="ctr"/>
            <a:r>
              <a:rPr lang="pt-PT" sz="800" dirty="0" err="1">
                <a:latin typeface="Arial"/>
                <a:cs typeface="Arial"/>
              </a:rPr>
              <a:t>Gentili</a:t>
            </a:r>
            <a:r>
              <a:rPr lang="pt-PT" sz="800" dirty="0">
                <a:latin typeface="Arial"/>
                <a:cs typeface="Arial"/>
              </a:rPr>
              <a:t> A, </a:t>
            </a:r>
            <a:r>
              <a:rPr lang="pt-PT" sz="800" dirty="0" err="1">
                <a:latin typeface="Arial"/>
                <a:cs typeface="Arial"/>
              </a:rPr>
              <a:t>et</a:t>
            </a:r>
            <a:r>
              <a:rPr lang="pt-PT" sz="800" dirty="0">
                <a:latin typeface="Arial"/>
                <a:cs typeface="Arial"/>
              </a:rPr>
              <a:t> </a:t>
            </a:r>
            <a:r>
              <a:rPr lang="pt-PT" sz="800" dirty="0" err="1">
                <a:latin typeface="Arial"/>
                <a:cs typeface="Arial"/>
              </a:rPr>
              <a:t>al.</a:t>
            </a:r>
            <a:r>
              <a:rPr lang="pt-PT" sz="800" dirty="0">
                <a:latin typeface="Arial"/>
                <a:cs typeface="Arial"/>
              </a:rPr>
              <a:t> </a:t>
            </a:r>
            <a:r>
              <a:rPr lang="pt-PT" sz="800" dirty="0" err="1">
                <a:latin typeface="Arial"/>
                <a:cs typeface="Arial"/>
              </a:rPr>
              <a:t>Folic</a:t>
            </a:r>
            <a:r>
              <a:rPr lang="pt-PT" sz="800" dirty="0">
                <a:latin typeface="Arial"/>
                <a:cs typeface="Arial"/>
              </a:rPr>
              <a:t> </a:t>
            </a:r>
            <a:r>
              <a:rPr lang="pt-PT" sz="800" dirty="0" err="1">
                <a:latin typeface="Arial"/>
                <a:cs typeface="Arial"/>
              </a:rPr>
              <a:t>Acid</a:t>
            </a:r>
            <a:r>
              <a:rPr lang="pt-PT" sz="800" dirty="0">
                <a:latin typeface="Arial"/>
                <a:cs typeface="Arial"/>
              </a:rPr>
              <a:t>  </a:t>
            </a:r>
            <a:r>
              <a:rPr lang="pt-PT" sz="800" dirty="0" err="1">
                <a:latin typeface="Arial"/>
                <a:cs typeface="Arial"/>
              </a:rPr>
              <a:t>Deficiency</a:t>
            </a:r>
            <a:r>
              <a:rPr lang="pt-PT" sz="800" dirty="0">
                <a:latin typeface="Arial"/>
                <a:cs typeface="Arial"/>
              </a:rPr>
              <a:t>. </a:t>
            </a:r>
            <a:r>
              <a:rPr lang="pt-PT" sz="800" dirty="0" err="1">
                <a:latin typeface="Arial"/>
                <a:cs typeface="Arial"/>
              </a:rPr>
              <a:t>Medscape</a:t>
            </a:r>
            <a:r>
              <a:rPr lang="pt-PT" sz="800" dirty="0">
                <a:latin typeface="Arial"/>
                <a:cs typeface="Arial"/>
              </a:rPr>
              <a:t> 2009</a:t>
            </a:r>
            <a:endParaRPr lang="en-US" sz="800" dirty="0">
              <a:latin typeface="Arial"/>
              <a:cs typeface="Arial"/>
            </a:endParaRPr>
          </a:p>
        </p:txBody>
      </p:sp>
      <p:sp>
        <p:nvSpPr>
          <p:cNvPr id="5" name="Rectangle 3"/>
          <p:cNvSpPr txBox="1">
            <a:spLocks noChangeArrowheads="1"/>
          </p:cNvSpPr>
          <p:nvPr/>
        </p:nvSpPr>
        <p:spPr>
          <a:xfrm>
            <a:off x="323528" y="1268760"/>
            <a:ext cx="5040560" cy="3652562"/>
          </a:xfrm>
          <a:prstGeom prst="rect">
            <a:avLst/>
          </a:prstGeom>
        </p:spPr>
        <p:txBody>
          <a:bodyPr/>
          <a:lstStyle/>
          <a:p>
            <a:pPr marL="342900" indent="-342900">
              <a:lnSpc>
                <a:spcPct val="90000"/>
              </a:lnSpc>
              <a:spcBef>
                <a:spcPct val="20000"/>
              </a:spcBef>
              <a:buClr>
                <a:srgbClr val="E94320"/>
              </a:buClr>
              <a:buFont typeface="Arial"/>
              <a:buChar char="•"/>
              <a:defRPr/>
            </a:pPr>
            <a:r>
              <a:rPr lang="es-ES" sz="2400" b="1" dirty="0">
                <a:solidFill>
                  <a:srgbClr val="F7941D"/>
                </a:solidFill>
                <a:latin typeface="+mj-lt"/>
              </a:rPr>
              <a:t>El </a:t>
            </a:r>
            <a:r>
              <a:rPr lang="es-ES" sz="2800" b="1" dirty="0">
                <a:solidFill>
                  <a:srgbClr val="F7941D"/>
                </a:solidFill>
                <a:latin typeface="+mj-lt"/>
              </a:rPr>
              <a:t>hierro</a:t>
            </a:r>
            <a:r>
              <a:rPr lang="es-ES" sz="2400" b="1" dirty="0">
                <a:solidFill>
                  <a:srgbClr val="F7941D"/>
                </a:solidFill>
                <a:latin typeface="+mj-lt"/>
              </a:rPr>
              <a:t> es un metal, </a:t>
            </a:r>
            <a:r>
              <a:rPr lang="es-ES" sz="2400" dirty="0">
                <a:solidFill>
                  <a:srgbClr val="F7941D"/>
                </a:solidFill>
                <a:latin typeface="+mj-lt"/>
              </a:rPr>
              <a:t>un elemento químico con el </a:t>
            </a:r>
            <a:r>
              <a:rPr lang="es-ES" sz="2400" b="1" dirty="0">
                <a:solidFill>
                  <a:srgbClr val="F7941D"/>
                </a:solidFill>
                <a:latin typeface="+mj-lt"/>
              </a:rPr>
              <a:t>símbolo Fe.</a:t>
            </a:r>
          </a:p>
          <a:p>
            <a:pPr marL="342900" indent="-342900">
              <a:lnSpc>
                <a:spcPct val="90000"/>
              </a:lnSpc>
              <a:spcBef>
                <a:spcPct val="20000"/>
              </a:spcBef>
              <a:buClr>
                <a:srgbClr val="E94320"/>
              </a:buClr>
              <a:buFont typeface="Arial"/>
              <a:buChar char="•"/>
              <a:defRPr/>
            </a:pPr>
            <a:endParaRPr lang="es-ES" sz="2000" b="1" dirty="0">
              <a:solidFill>
                <a:srgbClr val="F7941D"/>
              </a:solidFill>
              <a:latin typeface="+mj-lt"/>
            </a:endParaRPr>
          </a:p>
          <a:p>
            <a:pPr marL="342900" indent="-342900">
              <a:lnSpc>
                <a:spcPct val="90000"/>
              </a:lnSpc>
              <a:spcBef>
                <a:spcPct val="20000"/>
              </a:spcBef>
              <a:buClr>
                <a:srgbClr val="E94320"/>
              </a:buClr>
              <a:buFont typeface="Arial"/>
              <a:buChar char="•"/>
              <a:defRPr/>
            </a:pPr>
            <a:r>
              <a:rPr lang="es-ES" sz="2400" dirty="0">
                <a:solidFill>
                  <a:srgbClr val="F7941D"/>
                </a:solidFill>
                <a:latin typeface="+mj-lt"/>
              </a:rPr>
              <a:t>Juega un papel importante en la biología, formando complejos con el oxígeno molecular en la </a:t>
            </a:r>
            <a:r>
              <a:rPr lang="es-ES" sz="2400" b="1" dirty="0">
                <a:solidFill>
                  <a:srgbClr val="F7941D"/>
                </a:solidFill>
                <a:latin typeface="+mj-lt"/>
              </a:rPr>
              <a:t>hemoglobina y en la mioglobina.</a:t>
            </a:r>
          </a:p>
          <a:p>
            <a:pPr marL="342900" indent="-342900">
              <a:lnSpc>
                <a:spcPct val="90000"/>
              </a:lnSpc>
              <a:spcBef>
                <a:spcPct val="20000"/>
              </a:spcBef>
              <a:buClr>
                <a:srgbClr val="E94320"/>
              </a:buClr>
              <a:buFont typeface="Arial"/>
              <a:buChar char="•"/>
              <a:defRPr/>
            </a:pPr>
            <a:endParaRPr lang="es-ES" sz="2000" b="1" dirty="0">
              <a:solidFill>
                <a:srgbClr val="F7941D"/>
              </a:solidFill>
              <a:latin typeface="+mj-lt"/>
            </a:endParaRPr>
          </a:p>
          <a:p>
            <a:pPr marL="342900" indent="-342900">
              <a:lnSpc>
                <a:spcPct val="90000"/>
              </a:lnSpc>
              <a:spcBef>
                <a:spcPct val="20000"/>
              </a:spcBef>
              <a:buClr>
                <a:srgbClr val="E94320"/>
              </a:buClr>
              <a:buFont typeface="Arial"/>
              <a:buChar char="•"/>
              <a:defRPr/>
            </a:pPr>
            <a:r>
              <a:rPr lang="es-ES" sz="2400" dirty="0">
                <a:solidFill>
                  <a:srgbClr val="F7941D"/>
                </a:solidFill>
                <a:latin typeface="+mj-lt"/>
              </a:rPr>
              <a:t>Se utiliza en el sitio activo de muchas </a:t>
            </a:r>
            <a:r>
              <a:rPr lang="es-ES" sz="2400" b="1" dirty="0">
                <a:solidFill>
                  <a:srgbClr val="F7941D"/>
                </a:solidFill>
                <a:latin typeface="+mj-lt"/>
              </a:rPr>
              <a:t>enzimas redox importantes.</a:t>
            </a:r>
            <a:endParaRPr lang="en-US" sz="2400" b="1" dirty="0">
              <a:solidFill>
                <a:srgbClr val="F7941D"/>
              </a:solidFill>
              <a:latin typeface="+mj-lt"/>
            </a:endParaRPr>
          </a:p>
        </p:txBody>
      </p:sp>
      <p:sp>
        <p:nvSpPr>
          <p:cNvPr id="6" name="Title 2"/>
          <p:cNvSpPr txBox="1">
            <a:spLocks/>
          </p:cNvSpPr>
          <p:nvPr/>
        </p:nvSpPr>
        <p:spPr>
          <a:xfrm>
            <a:off x="457200" y="188640"/>
            <a:ext cx="7139136" cy="64807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r>
              <a:rPr lang="en-US" dirty="0"/>
              <a:t>QUÍMICA DEL HIERRO</a:t>
            </a:r>
          </a:p>
        </p:txBody>
      </p:sp>
      <p:pic>
        <p:nvPicPr>
          <p:cNvPr id="3" name="Picture 2" descr="ING_19023_01670-[Converted].png"/>
          <p:cNvPicPr>
            <a:picLocks noChangeAspect="1"/>
          </p:cNvPicPr>
          <p:nvPr/>
        </p:nvPicPr>
        <p:blipFill rotWithShape="1">
          <a:blip r:embed="rId4" cstate="screen">
            <a:extLst>
              <a:ext uri="{28A0092B-C50C-407E-A947-70E740481C1C}">
                <a14:useLocalDpi xmlns:a14="http://schemas.microsoft.com/office/drawing/2010/main"/>
              </a:ext>
            </a:extLst>
          </a:blip>
          <a:srcRect l="5979" t="13790" r="5290" b="14396"/>
          <a:stretch/>
        </p:blipFill>
        <p:spPr>
          <a:xfrm>
            <a:off x="4427984" y="2277101"/>
            <a:ext cx="4823076" cy="3903572"/>
          </a:xfrm>
          <a:prstGeom prst="rect">
            <a:avLst/>
          </a:prstGeom>
        </p:spPr>
      </p:pic>
    </p:spTree>
    <p:extLst>
      <p:ext uri="{BB962C8B-B14F-4D97-AF65-F5344CB8AC3E}">
        <p14:creationId xmlns:p14="http://schemas.microsoft.com/office/powerpoint/2010/main" val="220306682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02G29261.jpg"/>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95530" y="3602914"/>
            <a:ext cx="4548470" cy="3044277"/>
          </a:xfrm>
          <a:prstGeom prst="rect">
            <a:avLst/>
          </a:prstGeom>
        </p:spPr>
      </p:pic>
      <p:pic>
        <p:nvPicPr>
          <p:cNvPr id="7" name="Picture 6">
            <a:extLst>
              <a:ext uri="{FF2B5EF4-FFF2-40B4-BE49-F238E27FC236}">
                <a16:creationId xmlns:a16="http://schemas.microsoft.com/office/drawing/2014/main" id="{9EF0BC15-8AE7-4497-85E5-E306F812C4D0}"/>
              </a:ext>
            </a:extLst>
          </p:cNvPr>
          <p:cNvPicPr>
            <a:picLocks noChangeAspect="1"/>
          </p:cNvPicPr>
          <p:nvPr/>
        </p:nvPicPr>
        <p:blipFill>
          <a:blip r:embed="rId4"/>
          <a:stretch>
            <a:fillRect/>
          </a:stretch>
        </p:blipFill>
        <p:spPr>
          <a:xfrm rot="5400000">
            <a:off x="-670270" y="2947371"/>
            <a:ext cx="4580899" cy="3240359"/>
          </a:xfrm>
          <a:prstGeom prst="rect">
            <a:avLst/>
          </a:prstGeom>
        </p:spPr>
      </p:pic>
      <p:sp>
        <p:nvSpPr>
          <p:cNvPr id="4" name="Rectangle 3"/>
          <p:cNvSpPr txBox="1">
            <a:spLocks noChangeArrowheads="1"/>
          </p:cNvSpPr>
          <p:nvPr/>
        </p:nvSpPr>
        <p:spPr>
          <a:xfrm>
            <a:off x="323528" y="1556792"/>
            <a:ext cx="8496944" cy="3868586"/>
          </a:xfrm>
          <a:prstGeom prst="rect">
            <a:avLst/>
          </a:prstGeom>
        </p:spPr>
        <p:txBody>
          <a:bodyPr/>
          <a:lstStyle/>
          <a:p>
            <a:pPr marL="342900" indent="-342900">
              <a:lnSpc>
                <a:spcPct val="90000"/>
              </a:lnSpc>
              <a:spcBef>
                <a:spcPct val="20000"/>
              </a:spcBef>
              <a:buClr>
                <a:srgbClr val="E94320"/>
              </a:buClr>
              <a:buFont typeface="Arial"/>
              <a:buChar char="•"/>
              <a:defRPr/>
            </a:pPr>
            <a:r>
              <a:rPr lang="es-ES" sz="2400" b="1" dirty="0">
                <a:solidFill>
                  <a:srgbClr val="F7941D"/>
                </a:solidFill>
                <a:latin typeface="Arial"/>
                <a:cs typeface="Arial"/>
              </a:rPr>
              <a:t>Transportar oxígeno desde los pulmones al resto del cuerpo.</a:t>
            </a:r>
          </a:p>
          <a:p>
            <a:pPr marL="342900" indent="-342900">
              <a:lnSpc>
                <a:spcPct val="90000"/>
              </a:lnSpc>
              <a:spcBef>
                <a:spcPct val="20000"/>
              </a:spcBef>
              <a:buClr>
                <a:srgbClr val="E94320"/>
              </a:buClr>
              <a:buFont typeface="Arial"/>
              <a:buChar char="•"/>
              <a:defRPr/>
            </a:pPr>
            <a:endParaRPr lang="en-GB" sz="2000" kern="0" dirty="0">
              <a:solidFill>
                <a:srgbClr val="F7941D"/>
              </a:solidFill>
              <a:latin typeface="+mj-lt"/>
            </a:endParaRPr>
          </a:p>
          <a:p>
            <a:pPr marL="342900" indent="-342900">
              <a:lnSpc>
                <a:spcPct val="90000"/>
              </a:lnSpc>
              <a:spcBef>
                <a:spcPct val="20000"/>
              </a:spcBef>
              <a:buClr>
                <a:srgbClr val="E94320"/>
              </a:buClr>
              <a:buFont typeface="Arial"/>
              <a:buChar char="•"/>
              <a:defRPr/>
            </a:pPr>
            <a:r>
              <a:rPr lang="es-ES" sz="2400" b="1" dirty="0">
                <a:solidFill>
                  <a:srgbClr val="F7941D"/>
                </a:solidFill>
                <a:latin typeface="Arial"/>
                <a:cs typeface="Arial"/>
              </a:rPr>
              <a:t>Mantener un sistema inmunológico saludable.</a:t>
            </a:r>
            <a:endParaRPr lang="en-GB" sz="2400" b="1" dirty="0">
              <a:solidFill>
                <a:srgbClr val="F7941D"/>
              </a:solidFill>
              <a:latin typeface="Arial"/>
              <a:cs typeface="Arial"/>
            </a:endParaRPr>
          </a:p>
          <a:p>
            <a:pPr lvl="1">
              <a:lnSpc>
                <a:spcPct val="90000"/>
              </a:lnSpc>
              <a:spcBef>
                <a:spcPct val="20000"/>
              </a:spcBef>
              <a:buClr>
                <a:srgbClr val="E94320"/>
              </a:buClr>
              <a:defRPr/>
            </a:pPr>
            <a:r>
              <a:rPr lang="es-ES" dirty="0">
                <a:solidFill>
                  <a:srgbClr val="F7941D"/>
                </a:solidFill>
                <a:latin typeface="+mj-lt"/>
              </a:rPr>
              <a:t>(el cuerpo se protege de los antígenos, que incluyen virus, bacterias y sustancias extrañas que enferman)</a:t>
            </a:r>
          </a:p>
          <a:p>
            <a:pPr lvl="1">
              <a:lnSpc>
                <a:spcPct val="90000"/>
              </a:lnSpc>
              <a:spcBef>
                <a:spcPct val="20000"/>
              </a:spcBef>
              <a:buClr>
                <a:srgbClr val="E94320"/>
              </a:buClr>
              <a:defRPr/>
            </a:pPr>
            <a:endParaRPr lang="en-GB" sz="2000" dirty="0">
              <a:solidFill>
                <a:srgbClr val="F7941D"/>
              </a:solidFill>
              <a:latin typeface="+mj-lt"/>
            </a:endParaRPr>
          </a:p>
          <a:p>
            <a:pPr marL="342900" indent="-342900">
              <a:lnSpc>
                <a:spcPct val="90000"/>
              </a:lnSpc>
              <a:spcBef>
                <a:spcPct val="20000"/>
              </a:spcBef>
              <a:buClr>
                <a:srgbClr val="E94320"/>
              </a:buClr>
              <a:buFont typeface="Arial"/>
              <a:buChar char="•"/>
              <a:defRPr/>
            </a:pPr>
            <a:r>
              <a:rPr lang="es-ES" sz="2400" b="1" dirty="0">
                <a:solidFill>
                  <a:srgbClr val="F7941D"/>
                </a:solidFill>
                <a:latin typeface="Arial"/>
                <a:cs typeface="Arial"/>
              </a:rPr>
              <a:t>Ayudar a la producción de energía.</a:t>
            </a:r>
            <a:endParaRPr lang="en-GB" sz="2400" b="1" dirty="0">
              <a:solidFill>
                <a:srgbClr val="F7941D"/>
              </a:solidFill>
              <a:latin typeface="Arial"/>
              <a:cs typeface="Arial"/>
            </a:endParaRPr>
          </a:p>
          <a:p>
            <a:pPr lvl="1">
              <a:lnSpc>
                <a:spcPct val="90000"/>
              </a:lnSpc>
              <a:spcBef>
                <a:spcPct val="20000"/>
              </a:spcBef>
              <a:buClr>
                <a:srgbClr val="E94320"/>
              </a:buClr>
              <a:defRPr/>
            </a:pPr>
            <a:r>
              <a:rPr lang="es-ES" dirty="0">
                <a:solidFill>
                  <a:srgbClr val="F7941D"/>
                </a:solidFill>
                <a:latin typeface="+mj-lt"/>
              </a:rPr>
              <a:t>(El hierro es un constituyente de varias </a:t>
            </a:r>
          </a:p>
          <a:p>
            <a:pPr lvl="1">
              <a:lnSpc>
                <a:spcPct val="90000"/>
              </a:lnSpc>
              <a:spcBef>
                <a:spcPct val="20000"/>
              </a:spcBef>
              <a:buClr>
                <a:srgbClr val="E94320"/>
              </a:buClr>
              <a:defRPr/>
            </a:pPr>
            <a:r>
              <a:rPr lang="es-ES" dirty="0">
                <a:solidFill>
                  <a:srgbClr val="F7941D"/>
                </a:solidFill>
                <a:latin typeface="+mj-lt"/>
              </a:rPr>
              <a:t>enzimas incluyendo: catalasa de hierro, </a:t>
            </a:r>
          </a:p>
          <a:p>
            <a:pPr lvl="1">
              <a:lnSpc>
                <a:spcPct val="90000"/>
              </a:lnSpc>
              <a:spcBef>
                <a:spcPct val="20000"/>
              </a:spcBef>
              <a:buClr>
                <a:srgbClr val="E94320"/>
              </a:buClr>
              <a:defRPr/>
            </a:pPr>
            <a:r>
              <a:rPr lang="es-ES" dirty="0">
                <a:solidFill>
                  <a:srgbClr val="F7941D"/>
                </a:solidFill>
                <a:latin typeface="+mj-lt"/>
              </a:rPr>
              <a:t>peroxidasa y enzimas del citocromo)</a:t>
            </a:r>
            <a:endParaRPr lang="en-GB" sz="2400" b="1" kern="0" dirty="0">
              <a:solidFill>
                <a:srgbClr val="F7941D"/>
              </a:solidFill>
              <a:latin typeface="+mj-lt"/>
            </a:endParaRPr>
          </a:p>
        </p:txBody>
      </p:sp>
      <p:sp>
        <p:nvSpPr>
          <p:cNvPr id="5" name="Title 2"/>
          <p:cNvSpPr txBox="1">
            <a:spLocks/>
          </p:cNvSpPr>
          <p:nvPr/>
        </p:nvSpPr>
        <p:spPr>
          <a:xfrm>
            <a:off x="457200" y="188640"/>
            <a:ext cx="6275040" cy="64807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r>
              <a:rPr lang="en-US" dirty="0"/>
              <a:t>LAS 3 FUNCIONES PRINCIPALES DEL HIERRO</a:t>
            </a:r>
          </a:p>
        </p:txBody>
      </p:sp>
    </p:spTree>
    <p:extLst>
      <p:ext uri="{BB962C8B-B14F-4D97-AF65-F5344CB8AC3E}">
        <p14:creationId xmlns:p14="http://schemas.microsoft.com/office/powerpoint/2010/main" val="400770603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ECF76D-C28B-455C-ADE7-8E27D29C1A11}"/>
              </a:ext>
            </a:extLst>
          </p:cNvPr>
          <p:cNvPicPr>
            <a:picLocks noChangeAspect="1"/>
          </p:cNvPicPr>
          <p:nvPr/>
        </p:nvPicPr>
        <p:blipFill>
          <a:blip r:embed="rId3"/>
          <a:stretch>
            <a:fillRect/>
          </a:stretch>
        </p:blipFill>
        <p:spPr>
          <a:xfrm>
            <a:off x="-528116" y="43686"/>
            <a:ext cx="9672116" cy="6841698"/>
          </a:xfrm>
          <a:prstGeom prst="rect">
            <a:avLst/>
          </a:prstGeom>
        </p:spPr>
      </p:pic>
      <p:sp>
        <p:nvSpPr>
          <p:cNvPr id="4" name="Title 2"/>
          <p:cNvSpPr txBox="1">
            <a:spLocks/>
          </p:cNvSpPr>
          <p:nvPr/>
        </p:nvSpPr>
        <p:spPr>
          <a:xfrm>
            <a:off x="251520" y="416958"/>
            <a:ext cx="5832648" cy="2075937"/>
          </a:xfrm>
          <a:prstGeom prst="flowChartAlternateProcess">
            <a:avLst/>
          </a:prstGeom>
          <a:solidFill>
            <a:srgbClr val="E94320"/>
          </a:solidFill>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pPr algn="ctr"/>
            <a:r>
              <a:rPr lang="es-ES" sz="4000" b="1" dirty="0">
                <a:solidFill>
                  <a:schemeClr val="bg1"/>
                </a:solidFill>
              </a:rPr>
              <a:t>¿CUÁLES SON LAS CAUSAS DE LA DEFICIENCIA DE HIERRO?</a:t>
            </a:r>
            <a:endParaRPr lang="en-US" sz="4000" b="1" dirty="0">
              <a:solidFill>
                <a:schemeClr val="bg1"/>
              </a:solidFill>
            </a:endParaRPr>
          </a:p>
        </p:txBody>
      </p:sp>
      <p:pic>
        <p:nvPicPr>
          <p:cNvPr id="6" name="Picture 5" descr="03B89588.jpg">
            <a:extLst>
              <a:ext uri="{FF2B5EF4-FFF2-40B4-BE49-F238E27FC236}">
                <a16:creationId xmlns:a16="http://schemas.microsoft.com/office/drawing/2014/main" id="{18ADB081-D7F1-416F-BD00-802163ACC1D8}"/>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36350"/>
          <a:stretch/>
        </p:blipFill>
        <p:spPr>
          <a:xfrm>
            <a:off x="-900608" y="3227799"/>
            <a:ext cx="6120680" cy="3655760"/>
          </a:xfrm>
          <a:prstGeom prst="rect">
            <a:avLst/>
          </a:prstGeom>
        </p:spPr>
      </p:pic>
    </p:spTree>
    <p:extLst>
      <p:ext uri="{BB962C8B-B14F-4D97-AF65-F5344CB8AC3E}">
        <p14:creationId xmlns:p14="http://schemas.microsoft.com/office/powerpoint/2010/main" val="149264541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806629" y="1412776"/>
            <a:ext cx="7348241" cy="5501763"/>
            <a:chOff x="-790402" y="-582158"/>
            <a:chExt cx="9937192" cy="7440158"/>
          </a:xfrm>
        </p:grpSpPr>
        <p:pic>
          <p:nvPicPr>
            <p:cNvPr id="8" name="Picture 7" descr="02E98676.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9146790" cy="6858000"/>
            </a:xfrm>
            <a:prstGeom prst="rect">
              <a:avLst/>
            </a:prstGeom>
          </p:spPr>
        </p:pic>
        <p:sp>
          <p:nvSpPr>
            <p:cNvPr id="2" name="Freeform 1"/>
            <p:cNvSpPr/>
            <p:nvPr/>
          </p:nvSpPr>
          <p:spPr>
            <a:xfrm>
              <a:off x="-790402" y="-582158"/>
              <a:ext cx="7091174" cy="7367236"/>
            </a:xfrm>
            <a:custGeom>
              <a:avLst/>
              <a:gdLst>
                <a:gd name="connsiteX0" fmla="*/ 7091175 w 7091175"/>
                <a:gd name="connsiteY0" fmla="*/ 476311 h 8238420"/>
                <a:gd name="connsiteX1" fmla="*/ 6561983 w 7091175"/>
                <a:gd name="connsiteY1" fmla="*/ 1340728 h 8238420"/>
                <a:gd name="connsiteX2" fmla="*/ 6015151 w 7091175"/>
                <a:gd name="connsiteY2" fmla="*/ 2540326 h 8238420"/>
                <a:gd name="connsiteX3" fmla="*/ 5433040 w 7091175"/>
                <a:gd name="connsiteY3" fmla="*/ 3140126 h 8238420"/>
                <a:gd name="connsiteX4" fmla="*/ 5327201 w 7091175"/>
                <a:gd name="connsiteY4" fmla="*/ 3563514 h 8238420"/>
                <a:gd name="connsiteX5" fmla="*/ 5150804 w 7091175"/>
                <a:gd name="connsiteY5" fmla="*/ 4780753 h 8238420"/>
                <a:gd name="connsiteX6" fmla="*/ 5186083 w 7091175"/>
                <a:gd name="connsiteY6" fmla="*/ 5733376 h 8238420"/>
                <a:gd name="connsiteX7" fmla="*/ 4921487 w 7091175"/>
                <a:gd name="connsiteY7" fmla="*/ 7321080 h 8238420"/>
                <a:gd name="connsiteX8" fmla="*/ 3704345 w 7091175"/>
                <a:gd name="connsiteY8" fmla="*/ 8238420 h 8238420"/>
                <a:gd name="connsiteX9" fmla="*/ 1111303 w 7091175"/>
                <a:gd name="connsiteY9" fmla="*/ 7867956 h 8238420"/>
                <a:gd name="connsiteX10" fmla="*/ 0 w 7091175"/>
                <a:gd name="connsiteY10" fmla="*/ 6738922 h 8238420"/>
                <a:gd name="connsiteX11" fmla="*/ 317515 w 7091175"/>
                <a:gd name="connsiteY11" fmla="*/ 2699097 h 8238420"/>
                <a:gd name="connsiteX12" fmla="*/ 335155 w 7091175"/>
                <a:gd name="connsiteY12" fmla="*/ 2522685 h 8238420"/>
                <a:gd name="connsiteX13" fmla="*/ 246956 w 7091175"/>
                <a:gd name="connsiteY13" fmla="*/ 317541 h 8238420"/>
                <a:gd name="connsiteX14" fmla="*/ 917266 w 7091175"/>
                <a:gd name="connsiteY14" fmla="*/ 0 h 8238420"/>
                <a:gd name="connsiteX15" fmla="*/ 7091175 w 7091175"/>
                <a:gd name="connsiteY15" fmla="*/ 529235 h 823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091175" h="8238420">
                  <a:moveTo>
                    <a:pt x="7091175" y="476311"/>
                  </a:moveTo>
                  <a:lnTo>
                    <a:pt x="6561983" y="1340728"/>
                  </a:lnTo>
                  <a:lnTo>
                    <a:pt x="6015151" y="2540326"/>
                  </a:lnTo>
                  <a:lnTo>
                    <a:pt x="5433040" y="3140126"/>
                  </a:lnTo>
                  <a:lnTo>
                    <a:pt x="5327201" y="3563514"/>
                  </a:lnTo>
                  <a:lnTo>
                    <a:pt x="5150804" y="4780753"/>
                  </a:lnTo>
                  <a:lnTo>
                    <a:pt x="5186083" y="5733376"/>
                  </a:lnTo>
                  <a:lnTo>
                    <a:pt x="4921487" y="7321080"/>
                  </a:lnTo>
                  <a:lnTo>
                    <a:pt x="3704345" y="8238420"/>
                  </a:lnTo>
                  <a:lnTo>
                    <a:pt x="1111303" y="7867956"/>
                  </a:lnTo>
                  <a:lnTo>
                    <a:pt x="0" y="6738922"/>
                  </a:lnTo>
                  <a:lnTo>
                    <a:pt x="317515" y="2699097"/>
                  </a:lnTo>
                  <a:lnTo>
                    <a:pt x="335155" y="2522685"/>
                  </a:lnTo>
                  <a:lnTo>
                    <a:pt x="246956" y="317541"/>
                  </a:lnTo>
                  <a:lnTo>
                    <a:pt x="917266" y="0"/>
                  </a:lnTo>
                  <a:lnTo>
                    <a:pt x="7091175" y="529235"/>
                  </a:lnTo>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15364" name="Rectangle 7"/>
          <p:cNvSpPr>
            <a:spLocks noChangeArrowheads="1"/>
          </p:cNvSpPr>
          <p:nvPr/>
        </p:nvSpPr>
        <p:spPr bwMode="auto">
          <a:xfrm>
            <a:off x="2886160" y="6611938"/>
            <a:ext cx="2988319" cy="215444"/>
          </a:xfrm>
          <a:prstGeom prst="rect">
            <a:avLst/>
          </a:prstGeom>
          <a:noFill/>
          <a:ln w="9525">
            <a:noFill/>
            <a:miter lim="800000"/>
            <a:headEnd/>
            <a:tailEnd/>
          </a:ln>
        </p:spPr>
        <p:txBody>
          <a:bodyPr wrap="none">
            <a:spAutoFit/>
          </a:bodyPr>
          <a:lstStyle/>
          <a:p>
            <a:pPr algn="ctr"/>
            <a:r>
              <a:rPr lang="en-US" sz="800" dirty="0">
                <a:solidFill>
                  <a:schemeClr val="tx1">
                    <a:lumMod val="75000"/>
                    <a:lumOff val="25000"/>
                  </a:schemeClr>
                </a:solidFill>
                <a:latin typeface="Arial"/>
                <a:cs typeface="Arial"/>
              </a:rPr>
              <a:t>Goddard AF, et al. BSG Guidelines </a:t>
            </a:r>
            <a:r>
              <a:rPr lang="en-US" sz="800" dirty="0" err="1">
                <a:solidFill>
                  <a:schemeClr val="tx1">
                    <a:lumMod val="75000"/>
                    <a:lumOff val="25000"/>
                  </a:schemeClr>
                </a:solidFill>
                <a:latin typeface="Arial"/>
                <a:cs typeface="Arial"/>
              </a:rPr>
              <a:t>en</a:t>
            </a:r>
            <a:r>
              <a:rPr lang="en-US" sz="800" dirty="0">
                <a:solidFill>
                  <a:schemeClr val="tx1">
                    <a:lumMod val="75000"/>
                    <a:lumOff val="25000"/>
                  </a:schemeClr>
                </a:solidFill>
                <a:latin typeface="Arial"/>
                <a:cs typeface="Arial"/>
              </a:rPr>
              <a:t> </a:t>
            </a:r>
            <a:r>
              <a:rPr lang="en-US" sz="800" dirty="0" err="1">
                <a:solidFill>
                  <a:schemeClr val="tx1">
                    <a:lumMod val="75000"/>
                    <a:lumOff val="25000"/>
                  </a:schemeClr>
                </a:solidFill>
                <a:latin typeface="Arial"/>
                <a:cs typeface="Arial"/>
              </a:rPr>
              <a:t>Gastroenerology</a:t>
            </a:r>
            <a:r>
              <a:rPr lang="en-US" sz="800" dirty="0">
                <a:solidFill>
                  <a:schemeClr val="tx1">
                    <a:lumMod val="75000"/>
                    <a:lumOff val="25000"/>
                  </a:schemeClr>
                </a:solidFill>
                <a:latin typeface="Arial"/>
                <a:cs typeface="Arial"/>
              </a:rPr>
              <a:t> 2005</a:t>
            </a:r>
          </a:p>
        </p:txBody>
      </p:sp>
      <p:pic>
        <p:nvPicPr>
          <p:cNvPr id="9" name="Picture 8">
            <a:extLst>
              <a:ext uri="{FF2B5EF4-FFF2-40B4-BE49-F238E27FC236}">
                <a16:creationId xmlns:a16="http://schemas.microsoft.com/office/drawing/2014/main" id="{DDD2D894-219B-4750-BF16-03E418A9BA11}"/>
              </a:ext>
            </a:extLst>
          </p:cNvPr>
          <p:cNvPicPr>
            <a:picLocks noChangeAspect="1"/>
          </p:cNvPicPr>
          <p:nvPr/>
        </p:nvPicPr>
        <p:blipFill>
          <a:blip r:embed="rId3"/>
          <a:stretch>
            <a:fillRect/>
          </a:stretch>
        </p:blipFill>
        <p:spPr>
          <a:xfrm rot="5400000">
            <a:off x="-670270" y="2947371"/>
            <a:ext cx="4580899" cy="3240359"/>
          </a:xfrm>
          <a:prstGeom prst="rect">
            <a:avLst/>
          </a:prstGeom>
        </p:spPr>
      </p:pic>
      <p:sp>
        <p:nvSpPr>
          <p:cNvPr id="5" name="Title 2"/>
          <p:cNvSpPr txBox="1">
            <a:spLocks/>
          </p:cNvSpPr>
          <p:nvPr/>
        </p:nvSpPr>
        <p:spPr>
          <a:xfrm>
            <a:off x="457200" y="188640"/>
            <a:ext cx="5842992" cy="117021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r>
              <a:rPr lang="es-ES" dirty="0"/>
              <a:t>¿CUÁLES SON LAS CAUSAS DE LA DEFICIENCIA DE HIERRO?</a:t>
            </a:r>
          </a:p>
        </p:txBody>
      </p:sp>
      <p:pic>
        <p:nvPicPr>
          <p:cNvPr id="11" name="Picture 3">
            <a:extLst>
              <a:ext uri="{FF2B5EF4-FFF2-40B4-BE49-F238E27FC236}">
                <a16:creationId xmlns:a16="http://schemas.microsoft.com/office/drawing/2014/main" id="{58B86CC0-2598-45DF-AE4B-63DB365F54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192" y="1916832"/>
            <a:ext cx="7200900" cy="252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ight Arrow 7">
            <a:extLst>
              <a:ext uri="{FF2B5EF4-FFF2-40B4-BE49-F238E27FC236}">
                <a16:creationId xmlns:a16="http://schemas.microsoft.com/office/drawing/2014/main" id="{D4CE2179-773B-41BF-8635-597210A4F84F}"/>
              </a:ext>
            </a:extLst>
          </p:cNvPr>
          <p:cNvSpPr/>
          <p:nvPr/>
        </p:nvSpPr>
        <p:spPr>
          <a:xfrm rot="5400000">
            <a:off x="5086146" y="3999555"/>
            <a:ext cx="504056" cy="380220"/>
          </a:xfrm>
          <a:prstGeom prst="rightArrow">
            <a:avLst/>
          </a:prstGeom>
          <a:solidFill>
            <a:srgbClr val="FF0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pic>
        <p:nvPicPr>
          <p:cNvPr id="13" name="Picture 5">
            <a:extLst>
              <a:ext uri="{FF2B5EF4-FFF2-40B4-BE49-F238E27FC236}">
                <a16:creationId xmlns:a16="http://schemas.microsoft.com/office/drawing/2014/main" id="{EB8C27B4-7698-4A94-8CAE-DF8DE03C0C3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48867" y="4581128"/>
            <a:ext cx="1296144" cy="1598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894256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806629" y="1412776"/>
            <a:ext cx="7348241" cy="5501763"/>
            <a:chOff x="-790402" y="-582158"/>
            <a:chExt cx="9937192" cy="7440158"/>
          </a:xfrm>
        </p:grpSpPr>
        <p:pic>
          <p:nvPicPr>
            <p:cNvPr id="8" name="Picture 7" descr="02E98676.pn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9146790" cy="6858000"/>
            </a:xfrm>
            <a:prstGeom prst="rect">
              <a:avLst/>
            </a:prstGeom>
          </p:spPr>
        </p:pic>
        <p:sp>
          <p:nvSpPr>
            <p:cNvPr id="2" name="Freeform 1"/>
            <p:cNvSpPr/>
            <p:nvPr/>
          </p:nvSpPr>
          <p:spPr>
            <a:xfrm>
              <a:off x="-790402" y="-582158"/>
              <a:ext cx="7091174" cy="7367236"/>
            </a:xfrm>
            <a:custGeom>
              <a:avLst/>
              <a:gdLst>
                <a:gd name="connsiteX0" fmla="*/ 7091175 w 7091175"/>
                <a:gd name="connsiteY0" fmla="*/ 476311 h 8238420"/>
                <a:gd name="connsiteX1" fmla="*/ 6561983 w 7091175"/>
                <a:gd name="connsiteY1" fmla="*/ 1340728 h 8238420"/>
                <a:gd name="connsiteX2" fmla="*/ 6015151 w 7091175"/>
                <a:gd name="connsiteY2" fmla="*/ 2540326 h 8238420"/>
                <a:gd name="connsiteX3" fmla="*/ 5433040 w 7091175"/>
                <a:gd name="connsiteY3" fmla="*/ 3140126 h 8238420"/>
                <a:gd name="connsiteX4" fmla="*/ 5327201 w 7091175"/>
                <a:gd name="connsiteY4" fmla="*/ 3563514 h 8238420"/>
                <a:gd name="connsiteX5" fmla="*/ 5150804 w 7091175"/>
                <a:gd name="connsiteY5" fmla="*/ 4780753 h 8238420"/>
                <a:gd name="connsiteX6" fmla="*/ 5186083 w 7091175"/>
                <a:gd name="connsiteY6" fmla="*/ 5733376 h 8238420"/>
                <a:gd name="connsiteX7" fmla="*/ 4921487 w 7091175"/>
                <a:gd name="connsiteY7" fmla="*/ 7321080 h 8238420"/>
                <a:gd name="connsiteX8" fmla="*/ 3704345 w 7091175"/>
                <a:gd name="connsiteY8" fmla="*/ 8238420 h 8238420"/>
                <a:gd name="connsiteX9" fmla="*/ 1111303 w 7091175"/>
                <a:gd name="connsiteY9" fmla="*/ 7867956 h 8238420"/>
                <a:gd name="connsiteX10" fmla="*/ 0 w 7091175"/>
                <a:gd name="connsiteY10" fmla="*/ 6738922 h 8238420"/>
                <a:gd name="connsiteX11" fmla="*/ 317515 w 7091175"/>
                <a:gd name="connsiteY11" fmla="*/ 2699097 h 8238420"/>
                <a:gd name="connsiteX12" fmla="*/ 335155 w 7091175"/>
                <a:gd name="connsiteY12" fmla="*/ 2522685 h 8238420"/>
                <a:gd name="connsiteX13" fmla="*/ 246956 w 7091175"/>
                <a:gd name="connsiteY13" fmla="*/ 317541 h 8238420"/>
                <a:gd name="connsiteX14" fmla="*/ 917266 w 7091175"/>
                <a:gd name="connsiteY14" fmla="*/ 0 h 8238420"/>
                <a:gd name="connsiteX15" fmla="*/ 7091175 w 7091175"/>
                <a:gd name="connsiteY15" fmla="*/ 529235 h 8238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091175" h="8238420">
                  <a:moveTo>
                    <a:pt x="7091175" y="476311"/>
                  </a:moveTo>
                  <a:lnTo>
                    <a:pt x="6561983" y="1340728"/>
                  </a:lnTo>
                  <a:lnTo>
                    <a:pt x="6015151" y="2540326"/>
                  </a:lnTo>
                  <a:lnTo>
                    <a:pt x="5433040" y="3140126"/>
                  </a:lnTo>
                  <a:lnTo>
                    <a:pt x="5327201" y="3563514"/>
                  </a:lnTo>
                  <a:lnTo>
                    <a:pt x="5150804" y="4780753"/>
                  </a:lnTo>
                  <a:lnTo>
                    <a:pt x="5186083" y="5733376"/>
                  </a:lnTo>
                  <a:lnTo>
                    <a:pt x="4921487" y="7321080"/>
                  </a:lnTo>
                  <a:lnTo>
                    <a:pt x="3704345" y="8238420"/>
                  </a:lnTo>
                  <a:lnTo>
                    <a:pt x="1111303" y="7867956"/>
                  </a:lnTo>
                  <a:lnTo>
                    <a:pt x="0" y="6738922"/>
                  </a:lnTo>
                  <a:lnTo>
                    <a:pt x="317515" y="2699097"/>
                  </a:lnTo>
                  <a:lnTo>
                    <a:pt x="335155" y="2522685"/>
                  </a:lnTo>
                  <a:lnTo>
                    <a:pt x="246956" y="317541"/>
                  </a:lnTo>
                  <a:lnTo>
                    <a:pt x="917266" y="0"/>
                  </a:lnTo>
                  <a:lnTo>
                    <a:pt x="7091175" y="529235"/>
                  </a:lnTo>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sp>
        <p:nvSpPr>
          <p:cNvPr id="15364" name="Rectangle 7"/>
          <p:cNvSpPr>
            <a:spLocks noChangeArrowheads="1"/>
          </p:cNvSpPr>
          <p:nvPr/>
        </p:nvSpPr>
        <p:spPr bwMode="auto">
          <a:xfrm>
            <a:off x="2886160" y="6611938"/>
            <a:ext cx="2988319" cy="215444"/>
          </a:xfrm>
          <a:prstGeom prst="rect">
            <a:avLst/>
          </a:prstGeom>
          <a:noFill/>
          <a:ln w="9525">
            <a:noFill/>
            <a:miter lim="800000"/>
            <a:headEnd/>
            <a:tailEnd/>
          </a:ln>
        </p:spPr>
        <p:txBody>
          <a:bodyPr wrap="none">
            <a:spAutoFit/>
          </a:bodyPr>
          <a:lstStyle/>
          <a:p>
            <a:pPr algn="ctr"/>
            <a:r>
              <a:rPr lang="en-US" sz="800" dirty="0">
                <a:solidFill>
                  <a:schemeClr val="tx1">
                    <a:lumMod val="75000"/>
                    <a:lumOff val="25000"/>
                  </a:schemeClr>
                </a:solidFill>
                <a:latin typeface="Arial"/>
                <a:cs typeface="Arial"/>
              </a:rPr>
              <a:t>Goddard AF, et al. BSG Guidelines </a:t>
            </a:r>
            <a:r>
              <a:rPr lang="en-US" sz="800" dirty="0" err="1">
                <a:solidFill>
                  <a:schemeClr val="tx1">
                    <a:lumMod val="75000"/>
                    <a:lumOff val="25000"/>
                  </a:schemeClr>
                </a:solidFill>
                <a:latin typeface="Arial"/>
                <a:cs typeface="Arial"/>
              </a:rPr>
              <a:t>en</a:t>
            </a:r>
            <a:r>
              <a:rPr lang="en-US" sz="800" dirty="0">
                <a:solidFill>
                  <a:schemeClr val="tx1">
                    <a:lumMod val="75000"/>
                    <a:lumOff val="25000"/>
                  </a:schemeClr>
                </a:solidFill>
                <a:latin typeface="Arial"/>
                <a:cs typeface="Arial"/>
              </a:rPr>
              <a:t> </a:t>
            </a:r>
            <a:r>
              <a:rPr lang="en-US" sz="800" dirty="0" err="1">
                <a:solidFill>
                  <a:schemeClr val="tx1">
                    <a:lumMod val="75000"/>
                    <a:lumOff val="25000"/>
                  </a:schemeClr>
                </a:solidFill>
                <a:latin typeface="Arial"/>
                <a:cs typeface="Arial"/>
              </a:rPr>
              <a:t>Gastroenerology</a:t>
            </a:r>
            <a:r>
              <a:rPr lang="en-US" sz="800" dirty="0">
                <a:solidFill>
                  <a:schemeClr val="tx1">
                    <a:lumMod val="75000"/>
                    <a:lumOff val="25000"/>
                  </a:schemeClr>
                </a:solidFill>
                <a:latin typeface="Arial"/>
                <a:cs typeface="Arial"/>
              </a:rPr>
              <a:t> 2005</a:t>
            </a:r>
          </a:p>
        </p:txBody>
      </p:sp>
      <p:pic>
        <p:nvPicPr>
          <p:cNvPr id="9" name="Picture 8">
            <a:extLst>
              <a:ext uri="{FF2B5EF4-FFF2-40B4-BE49-F238E27FC236}">
                <a16:creationId xmlns:a16="http://schemas.microsoft.com/office/drawing/2014/main" id="{DDD2D894-219B-4750-BF16-03E418A9BA11}"/>
              </a:ext>
            </a:extLst>
          </p:cNvPr>
          <p:cNvPicPr>
            <a:picLocks noChangeAspect="1"/>
          </p:cNvPicPr>
          <p:nvPr/>
        </p:nvPicPr>
        <p:blipFill>
          <a:blip r:embed="rId3"/>
          <a:stretch>
            <a:fillRect/>
          </a:stretch>
        </p:blipFill>
        <p:spPr>
          <a:xfrm rot="5400000">
            <a:off x="-670270" y="2947371"/>
            <a:ext cx="4580899" cy="3240359"/>
          </a:xfrm>
          <a:prstGeom prst="rect">
            <a:avLst/>
          </a:prstGeom>
        </p:spPr>
      </p:pic>
      <p:sp>
        <p:nvSpPr>
          <p:cNvPr id="5" name="Title 2"/>
          <p:cNvSpPr txBox="1">
            <a:spLocks/>
          </p:cNvSpPr>
          <p:nvPr/>
        </p:nvSpPr>
        <p:spPr>
          <a:xfrm>
            <a:off x="457200" y="188640"/>
            <a:ext cx="5842992" cy="117021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r>
              <a:rPr lang="es-ES" dirty="0"/>
              <a:t>¿CUÁLES SON LAS CAUSAS DE LA DEFICIENCIA DE HIERRO?</a:t>
            </a:r>
          </a:p>
        </p:txBody>
      </p:sp>
      <p:sp useBgFill="1">
        <p:nvSpPr>
          <p:cNvPr id="10" name="Rectangle 3"/>
          <p:cNvSpPr txBox="1">
            <a:spLocks noChangeArrowheads="1"/>
          </p:cNvSpPr>
          <p:nvPr/>
        </p:nvSpPr>
        <p:spPr>
          <a:xfrm>
            <a:off x="467544" y="1556792"/>
            <a:ext cx="6120680" cy="4104456"/>
          </a:xfrm>
          <a:prstGeom prst="rect">
            <a:avLst/>
          </a:prstGeom>
        </p:spPr>
        <p:txBody>
          <a:bodyPr/>
          <a:lstStyle/>
          <a:p>
            <a:pPr marL="342900" indent="-342900">
              <a:lnSpc>
                <a:spcPct val="80000"/>
              </a:lnSpc>
              <a:spcBef>
                <a:spcPct val="20000"/>
              </a:spcBef>
              <a:buClr>
                <a:srgbClr val="E94320"/>
              </a:buClr>
              <a:buFont typeface="Arial"/>
              <a:buChar char="•"/>
              <a:defRPr/>
            </a:pPr>
            <a:r>
              <a:rPr lang="es-ES" sz="2000" b="1" dirty="0">
                <a:solidFill>
                  <a:srgbClr val="F7941D"/>
                </a:solidFill>
                <a:latin typeface="Arial"/>
                <a:cs typeface="Arial"/>
              </a:rPr>
              <a:t>Pérdida de sangre</a:t>
            </a:r>
          </a:p>
          <a:p>
            <a:pPr marL="800100" lvl="1" indent="-342900">
              <a:lnSpc>
                <a:spcPct val="80000"/>
              </a:lnSpc>
              <a:spcBef>
                <a:spcPct val="20000"/>
              </a:spcBef>
              <a:buClr>
                <a:srgbClr val="E94320"/>
              </a:buClr>
              <a:buFont typeface="Arial"/>
              <a:buChar char="•"/>
              <a:defRPr/>
            </a:pPr>
            <a:r>
              <a:rPr lang="es-ES" dirty="0">
                <a:solidFill>
                  <a:srgbClr val="F7941D"/>
                </a:solidFill>
                <a:latin typeface="Arial"/>
                <a:cs typeface="Arial"/>
              </a:rPr>
              <a:t>Menorragia</a:t>
            </a:r>
          </a:p>
          <a:p>
            <a:pPr marL="800100" lvl="1" indent="-342900">
              <a:lnSpc>
                <a:spcPct val="80000"/>
              </a:lnSpc>
              <a:spcBef>
                <a:spcPct val="20000"/>
              </a:spcBef>
              <a:buClr>
                <a:srgbClr val="E94320"/>
              </a:buClr>
              <a:buFont typeface="Arial"/>
              <a:buChar char="•"/>
              <a:defRPr/>
            </a:pPr>
            <a:r>
              <a:rPr lang="es-ES" dirty="0">
                <a:solidFill>
                  <a:srgbClr val="F7941D"/>
                </a:solidFill>
                <a:latin typeface="Arial"/>
                <a:cs typeface="Arial"/>
              </a:rPr>
              <a:t>Hemorragia intestinal crónica</a:t>
            </a:r>
          </a:p>
          <a:p>
            <a:pPr marL="1257300" lvl="2" indent="-342900">
              <a:lnSpc>
                <a:spcPct val="80000"/>
              </a:lnSpc>
              <a:spcBef>
                <a:spcPct val="20000"/>
              </a:spcBef>
              <a:buClr>
                <a:srgbClr val="E94320"/>
              </a:buClr>
              <a:buFont typeface="Arial"/>
              <a:buChar char="•"/>
              <a:defRPr/>
            </a:pPr>
            <a:r>
              <a:rPr lang="es-ES" dirty="0">
                <a:solidFill>
                  <a:srgbClr val="F7941D"/>
                </a:solidFill>
                <a:latin typeface="Arial"/>
                <a:cs typeface="Arial"/>
              </a:rPr>
              <a:t>Una úlcera sangrante, colon, pólipos</a:t>
            </a:r>
          </a:p>
          <a:p>
            <a:pPr marL="1257300" lvl="2" indent="-342900">
              <a:lnSpc>
                <a:spcPct val="80000"/>
              </a:lnSpc>
              <a:spcBef>
                <a:spcPct val="20000"/>
              </a:spcBef>
              <a:buClr>
                <a:srgbClr val="E94320"/>
              </a:buClr>
              <a:buFont typeface="Arial"/>
              <a:buChar char="•"/>
              <a:defRPr/>
            </a:pPr>
            <a:r>
              <a:rPr lang="es-ES" dirty="0">
                <a:solidFill>
                  <a:srgbClr val="F7941D"/>
                </a:solidFill>
                <a:latin typeface="Arial"/>
                <a:cs typeface="Arial"/>
              </a:rPr>
              <a:t>Uso regular de </a:t>
            </a:r>
            <a:r>
              <a:rPr lang="es-ES" dirty="0" err="1">
                <a:solidFill>
                  <a:srgbClr val="F7941D"/>
                </a:solidFill>
                <a:latin typeface="Arial"/>
                <a:cs typeface="Arial"/>
              </a:rPr>
              <a:t>AINEs</a:t>
            </a:r>
            <a:endParaRPr lang="es-ES" dirty="0">
              <a:solidFill>
                <a:srgbClr val="F7941D"/>
              </a:solidFill>
              <a:latin typeface="Arial"/>
              <a:cs typeface="Arial"/>
            </a:endParaRPr>
          </a:p>
          <a:p>
            <a:pPr marL="1257300" lvl="2" indent="-342900">
              <a:lnSpc>
                <a:spcPct val="80000"/>
              </a:lnSpc>
              <a:spcBef>
                <a:spcPct val="20000"/>
              </a:spcBef>
              <a:buClr>
                <a:srgbClr val="E94320"/>
              </a:buClr>
              <a:buFont typeface="Arial"/>
              <a:buChar char="•"/>
              <a:defRPr/>
            </a:pPr>
            <a:r>
              <a:rPr lang="es-ES" dirty="0">
                <a:solidFill>
                  <a:srgbClr val="F7941D"/>
                </a:solidFill>
                <a:latin typeface="Arial"/>
                <a:cs typeface="Arial"/>
              </a:rPr>
              <a:t>Lesión severa o cirugía</a:t>
            </a:r>
          </a:p>
          <a:p>
            <a:pPr marL="342900" indent="-342900">
              <a:lnSpc>
                <a:spcPct val="80000"/>
              </a:lnSpc>
              <a:spcBef>
                <a:spcPct val="20000"/>
              </a:spcBef>
              <a:buClr>
                <a:srgbClr val="E94320"/>
              </a:buClr>
              <a:buFont typeface="Arial"/>
              <a:buChar char="•"/>
              <a:defRPr/>
            </a:pPr>
            <a:r>
              <a:rPr lang="es-ES" sz="2000" b="1" dirty="0">
                <a:solidFill>
                  <a:srgbClr val="F7941D"/>
                </a:solidFill>
                <a:latin typeface="Arial"/>
                <a:cs typeface="Arial"/>
              </a:rPr>
              <a:t>Desnutrición</a:t>
            </a:r>
          </a:p>
          <a:p>
            <a:pPr marL="342900" indent="-342900">
              <a:lnSpc>
                <a:spcPct val="80000"/>
              </a:lnSpc>
              <a:spcBef>
                <a:spcPct val="20000"/>
              </a:spcBef>
              <a:buClr>
                <a:srgbClr val="E94320"/>
              </a:buClr>
              <a:buFont typeface="Arial"/>
              <a:buChar char="•"/>
              <a:defRPr/>
            </a:pPr>
            <a:r>
              <a:rPr lang="es-ES" sz="2000" b="1" dirty="0">
                <a:solidFill>
                  <a:srgbClr val="F7941D"/>
                </a:solidFill>
                <a:latin typeface="Arial"/>
                <a:cs typeface="Arial"/>
              </a:rPr>
              <a:t>Malabsorción</a:t>
            </a:r>
          </a:p>
          <a:p>
            <a:pPr marL="800100" lvl="1" indent="-342900">
              <a:lnSpc>
                <a:spcPct val="80000"/>
              </a:lnSpc>
              <a:spcBef>
                <a:spcPct val="20000"/>
              </a:spcBef>
              <a:buClr>
                <a:srgbClr val="E94320"/>
              </a:buClr>
              <a:buFont typeface="Arial"/>
              <a:buChar char="•"/>
              <a:defRPr/>
            </a:pPr>
            <a:r>
              <a:rPr lang="es-ES" dirty="0">
                <a:solidFill>
                  <a:srgbClr val="F7941D"/>
                </a:solidFill>
                <a:latin typeface="Arial"/>
                <a:cs typeface="Arial"/>
              </a:rPr>
              <a:t>Trastornos intestinales</a:t>
            </a:r>
          </a:p>
          <a:p>
            <a:pPr marL="1257300" lvl="2" indent="-342900">
              <a:lnSpc>
                <a:spcPct val="80000"/>
              </a:lnSpc>
              <a:spcBef>
                <a:spcPct val="20000"/>
              </a:spcBef>
              <a:buClr>
                <a:srgbClr val="E94320"/>
              </a:buClr>
              <a:buFont typeface="Arial"/>
              <a:buChar char="•"/>
              <a:defRPr/>
            </a:pPr>
            <a:r>
              <a:rPr lang="es-ES" sz="1600" dirty="0">
                <a:solidFill>
                  <a:srgbClr val="F7941D"/>
                </a:solidFill>
                <a:latin typeface="Arial"/>
                <a:cs typeface="Arial"/>
              </a:rPr>
              <a:t>Enfermedad de Crohn</a:t>
            </a:r>
          </a:p>
          <a:p>
            <a:pPr marL="1257300" lvl="2" indent="-342900">
              <a:lnSpc>
                <a:spcPct val="80000"/>
              </a:lnSpc>
              <a:spcBef>
                <a:spcPct val="20000"/>
              </a:spcBef>
              <a:buClr>
                <a:srgbClr val="E94320"/>
              </a:buClr>
              <a:buFont typeface="Arial"/>
              <a:buChar char="•"/>
              <a:defRPr/>
            </a:pPr>
            <a:r>
              <a:rPr lang="es-ES" sz="1600" dirty="0">
                <a:solidFill>
                  <a:srgbClr val="F7941D"/>
                </a:solidFill>
                <a:latin typeface="Arial"/>
                <a:cs typeface="Arial"/>
              </a:rPr>
              <a:t>Enfermedad celíaca</a:t>
            </a:r>
          </a:p>
          <a:p>
            <a:pPr marL="800100" lvl="1" indent="-342900">
              <a:lnSpc>
                <a:spcPct val="80000"/>
              </a:lnSpc>
              <a:spcBef>
                <a:spcPct val="20000"/>
              </a:spcBef>
              <a:buClr>
                <a:srgbClr val="E94320"/>
              </a:buClr>
              <a:buFont typeface="Arial"/>
              <a:buChar char="•"/>
              <a:defRPr/>
            </a:pPr>
            <a:r>
              <a:rPr lang="es-ES" dirty="0">
                <a:solidFill>
                  <a:srgbClr val="F7941D"/>
                </a:solidFill>
                <a:latin typeface="Arial"/>
                <a:cs typeface="Arial"/>
              </a:rPr>
              <a:t>Uso regular de bloqueadores de ácido estomacal</a:t>
            </a:r>
          </a:p>
          <a:p>
            <a:pPr marL="800100" lvl="1" indent="-342900">
              <a:lnSpc>
                <a:spcPct val="80000"/>
              </a:lnSpc>
              <a:spcBef>
                <a:spcPct val="20000"/>
              </a:spcBef>
              <a:buClr>
                <a:srgbClr val="E94320"/>
              </a:buClr>
              <a:buFont typeface="Arial"/>
              <a:buChar char="•"/>
              <a:defRPr/>
            </a:pPr>
            <a:r>
              <a:rPr lang="es-ES" dirty="0">
                <a:solidFill>
                  <a:srgbClr val="F7941D"/>
                </a:solidFill>
                <a:latin typeface="Arial"/>
                <a:cs typeface="Arial"/>
              </a:rPr>
              <a:t>Ciertos alimentos como leche, té, café.</a:t>
            </a:r>
          </a:p>
          <a:p>
            <a:pPr marL="342900" indent="-342900">
              <a:lnSpc>
                <a:spcPct val="80000"/>
              </a:lnSpc>
              <a:spcBef>
                <a:spcPct val="20000"/>
              </a:spcBef>
              <a:buClr>
                <a:srgbClr val="E94320"/>
              </a:buClr>
              <a:buFont typeface="Arial"/>
              <a:buChar char="•"/>
              <a:defRPr/>
            </a:pPr>
            <a:r>
              <a:rPr lang="es-ES" sz="2000" b="1" dirty="0">
                <a:solidFill>
                  <a:srgbClr val="F7941D"/>
                </a:solidFill>
                <a:latin typeface="Arial"/>
                <a:cs typeface="Arial"/>
              </a:rPr>
              <a:t>Aumento de las necesidades </a:t>
            </a:r>
            <a:r>
              <a:rPr lang="es-ES" sz="2000" dirty="0">
                <a:solidFill>
                  <a:srgbClr val="F7941D"/>
                </a:solidFill>
                <a:latin typeface="Arial"/>
                <a:cs typeface="Arial"/>
              </a:rPr>
              <a:t>de hierro en la edad juvenil, embarazo, lactancia</a:t>
            </a:r>
          </a:p>
        </p:txBody>
      </p:sp>
    </p:spTree>
    <p:extLst>
      <p:ext uri="{BB962C8B-B14F-4D97-AF65-F5344CB8AC3E}">
        <p14:creationId xmlns:p14="http://schemas.microsoft.com/office/powerpoint/2010/main" val="386202089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2"/>
          <p:cNvSpPr txBox="1">
            <a:spLocks noChangeArrowheads="1"/>
          </p:cNvSpPr>
          <p:nvPr/>
        </p:nvSpPr>
        <p:spPr bwMode="auto">
          <a:xfrm>
            <a:off x="1403648" y="6381328"/>
            <a:ext cx="6084711" cy="461665"/>
          </a:xfrm>
          <a:prstGeom prst="rect">
            <a:avLst/>
          </a:prstGeom>
          <a:noFill/>
          <a:ln w="9525">
            <a:noFill/>
            <a:miter lim="800000"/>
            <a:headEnd/>
            <a:tailEnd/>
          </a:ln>
        </p:spPr>
        <p:txBody>
          <a:bodyPr>
            <a:spAutoFit/>
          </a:bodyPr>
          <a:lstStyle/>
          <a:p>
            <a:pPr algn="ctr"/>
            <a:r>
              <a:rPr lang="en-US" sz="800" dirty="0"/>
              <a:t>1) National Institutes of Health 2007</a:t>
            </a:r>
          </a:p>
          <a:p>
            <a:pPr algn="ctr"/>
            <a:r>
              <a:rPr lang="en-US" sz="800" dirty="0"/>
              <a:t>2) Joint FAO/WHO Expert Consultation on Human Vitamin and Mineral Requirements. WHO 2004</a:t>
            </a:r>
            <a:r>
              <a:rPr lang="pt-PT" sz="800" dirty="0"/>
              <a:t> </a:t>
            </a:r>
          </a:p>
          <a:p>
            <a:pPr algn="ctr"/>
            <a:r>
              <a:rPr lang="en-US" sz="800" dirty="0"/>
              <a:t>3) Bothwell TH. Am J </a:t>
            </a:r>
            <a:r>
              <a:rPr lang="en-US" sz="800" dirty="0" err="1"/>
              <a:t>Clin</a:t>
            </a:r>
            <a:r>
              <a:rPr lang="en-US" sz="800" dirty="0"/>
              <a:t> </a:t>
            </a:r>
            <a:r>
              <a:rPr lang="en-US" sz="800" dirty="0" err="1"/>
              <a:t>Nutr</a:t>
            </a:r>
            <a:r>
              <a:rPr lang="en-US" sz="800" dirty="0"/>
              <a:t> 2000;72(</a:t>
            </a:r>
            <a:r>
              <a:rPr lang="en-US" sz="800" dirty="0" err="1"/>
              <a:t>suppl</a:t>
            </a:r>
            <a:r>
              <a:rPr lang="en-US" sz="800" dirty="0"/>
              <a:t>):257S-64S </a:t>
            </a:r>
          </a:p>
        </p:txBody>
      </p:sp>
      <p:pic>
        <p:nvPicPr>
          <p:cNvPr id="7" name="Picture 6">
            <a:extLst>
              <a:ext uri="{FF2B5EF4-FFF2-40B4-BE49-F238E27FC236}">
                <a16:creationId xmlns:a16="http://schemas.microsoft.com/office/drawing/2014/main" id="{5F89FFAE-5076-46CB-89B0-39F4C9B60D42}"/>
              </a:ext>
            </a:extLst>
          </p:cNvPr>
          <p:cNvPicPr>
            <a:picLocks noChangeAspect="1"/>
          </p:cNvPicPr>
          <p:nvPr/>
        </p:nvPicPr>
        <p:blipFill>
          <a:blip r:embed="rId2"/>
          <a:stretch>
            <a:fillRect/>
          </a:stretch>
        </p:blipFill>
        <p:spPr>
          <a:xfrm rot="5400000">
            <a:off x="-670270" y="2947371"/>
            <a:ext cx="4580899" cy="3240359"/>
          </a:xfrm>
          <a:prstGeom prst="rect">
            <a:avLst/>
          </a:prstGeom>
        </p:spPr>
      </p:pic>
      <p:sp>
        <p:nvSpPr>
          <p:cNvPr id="24580" name="Rectangle 7"/>
          <p:cNvSpPr>
            <a:spLocks noChangeArrowheads="1"/>
          </p:cNvSpPr>
          <p:nvPr/>
        </p:nvSpPr>
        <p:spPr bwMode="auto">
          <a:xfrm>
            <a:off x="4716016" y="2276872"/>
            <a:ext cx="4288366" cy="4031873"/>
          </a:xfrm>
          <a:prstGeom prst="rect">
            <a:avLst/>
          </a:prstGeom>
          <a:noFill/>
          <a:ln w="9525">
            <a:noFill/>
            <a:miter lim="800000"/>
            <a:headEnd/>
            <a:tailEnd/>
          </a:ln>
        </p:spPr>
        <p:txBody>
          <a:bodyPr>
            <a:spAutoFit/>
          </a:bodyPr>
          <a:lstStyle/>
          <a:p>
            <a:pPr marL="268288" lvl="1"/>
            <a:r>
              <a:rPr lang="es-ES" sz="1600" b="1" dirty="0">
                <a:solidFill>
                  <a:srgbClr val="E94320"/>
                </a:solidFill>
                <a:latin typeface="Arial"/>
                <a:cs typeface="Arial"/>
              </a:rPr>
              <a:t>LOS REQUERIMIENTOS DE NUTRIENTES AUMENTAN DURANTE EL EMBARAZO PARA APOYAR EL CRECIMIENTO FETAL Y LA SALUD MATERNA</a:t>
            </a:r>
            <a:r>
              <a:rPr lang="en-US" sz="1600" b="1" dirty="0">
                <a:solidFill>
                  <a:srgbClr val="E94320"/>
                </a:solidFill>
                <a:latin typeface="Arial"/>
                <a:cs typeface="Arial"/>
              </a:rPr>
              <a:t>.</a:t>
            </a:r>
            <a:r>
              <a:rPr lang="en-US" sz="1600" b="1" baseline="30000" dirty="0">
                <a:solidFill>
                  <a:srgbClr val="E94320"/>
                </a:solidFill>
                <a:latin typeface="Arial"/>
                <a:cs typeface="Arial"/>
              </a:rPr>
              <a:t>1,2,3</a:t>
            </a:r>
          </a:p>
          <a:p>
            <a:pPr>
              <a:buFontTx/>
              <a:buChar char="-"/>
            </a:pPr>
            <a:endParaRPr lang="en-US" sz="1600" dirty="0">
              <a:solidFill>
                <a:srgbClr val="404040"/>
              </a:solidFill>
              <a:latin typeface="Arial"/>
              <a:cs typeface="Arial"/>
            </a:endParaRPr>
          </a:p>
          <a:p>
            <a:pPr marL="285750" indent="-285750">
              <a:buClr>
                <a:srgbClr val="E94320"/>
              </a:buClr>
              <a:buFont typeface="Arial"/>
              <a:buChar char="•"/>
            </a:pPr>
            <a:r>
              <a:rPr lang="en-US" sz="1600" b="1" u="sng" dirty="0" err="1">
                <a:solidFill>
                  <a:srgbClr val="F7941D"/>
                </a:solidFill>
                <a:latin typeface="Arial"/>
                <a:cs typeface="Arial"/>
              </a:rPr>
              <a:t>Requerimientos</a:t>
            </a:r>
            <a:r>
              <a:rPr lang="en-US" sz="1600" b="1" u="sng" dirty="0">
                <a:solidFill>
                  <a:srgbClr val="F7941D"/>
                </a:solidFill>
                <a:latin typeface="Arial"/>
                <a:cs typeface="Arial"/>
              </a:rPr>
              <a:t> basales</a:t>
            </a:r>
            <a:r>
              <a:rPr lang="en-US" sz="1600" u="sng" dirty="0">
                <a:solidFill>
                  <a:srgbClr val="F7941D"/>
                </a:solidFill>
                <a:latin typeface="Arial"/>
                <a:cs typeface="Arial"/>
              </a:rPr>
              <a:t>:</a:t>
            </a:r>
            <a:r>
              <a:rPr lang="en-US" sz="1600" dirty="0">
                <a:solidFill>
                  <a:srgbClr val="F7941D"/>
                </a:solidFill>
                <a:latin typeface="Arial"/>
                <a:cs typeface="Arial"/>
              </a:rPr>
              <a:t> </a:t>
            </a:r>
            <a:r>
              <a:rPr lang="en-US" sz="1600" dirty="0" err="1">
                <a:solidFill>
                  <a:srgbClr val="F7941D"/>
                </a:solidFill>
                <a:latin typeface="Arial"/>
                <a:cs typeface="Arial"/>
              </a:rPr>
              <a:t>representa</a:t>
            </a:r>
            <a:r>
              <a:rPr lang="en-US" sz="1600" dirty="0">
                <a:solidFill>
                  <a:srgbClr val="F7941D"/>
                </a:solidFill>
                <a:latin typeface="Arial"/>
                <a:cs typeface="Arial"/>
              </a:rPr>
              <a:t> 0,8 mg/día, lo </a:t>
            </a:r>
            <a:r>
              <a:rPr lang="en-US" sz="1600" dirty="0" err="1">
                <a:solidFill>
                  <a:srgbClr val="F7941D"/>
                </a:solidFill>
                <a:latin typeface="Arial"/>
                <a:cs typeface="Arial"/>
              </a:rPr>
              <a:t>mismo</a:t>
            </a:r>
            <a:r>
              <a:rPr lang="en-US" sz="1600" dirty="0">
                <a:solidFill>
                  <a:srgbClr val="F7941D"/>
                </a:solidFill>
                <a:latin typeface="Arial"/>
                <a:cs typeface="Arial"/>
              </a:rPr>
              <a:t> que las </a:t>
            </a:r>
            <a:r>
              <a:rPr lang="en-US" sz="1600" dirty="0" err="1">
                <a:solidFill>
                  <a:srgbClr val="F7941D"/>
                </a:solidFill>
                <a:latin typeface="Arial"/>
                <a:cs typeface="Arial"/>
              </a:rPr>
              <a:t>pérdidas</a:t>
            </a:r>
            <a:r>
              <a:rPr lang="en-US" sz="1600" dirty="0">
                <a:solidFill>
                  <a:srgbClr val="F7941D"/>
                </a:solidFill>
                <a:latin typeface="Arial"/>
                <a:cs typeface="Arial"/>
              </a:rPr>
              <a:t> </a:t>
            </a:r>
            <a:r>
              <a:rPr lang="en-US" sz="1600" dirty="0" err="1">
                <a:solidFill>
                  <a:srgbClr val="F7941D"/>
                </a:solidFill>
                <a:latin typeface="Arial"/>
                <a:cs typeface="Arial"/>
              </a:rPr>
              <a:t>diarias</a:t>
            </a:r>
            <a:r>
              <a:rPr lang="en-US" sz="1600" dirty="0">
                <a:solidFill>
                  <a:srgbClr val="F7941D"/>
                </a:solidFill>
                <a:latin typeface="Arial"/>
                <a:cs typeface="Arial"/>
              </a:rPr>
              <a:t>.</a:t>
            </a:r>
          </a:p>
          <a:p>
            <a:pPr marL="285750" indent="-285750">
              <a:buClr>
                <a:srgbClr val="E94320"/>
              </a:buClr>
              <a:buFont typeface="Arial"/>
              <a:buChar char="•"/>
            </a:pPr>
            <a:r>
              <a:rPr lang="en-US" sz="1600" b="1" u="sng" dirty="0" err="1">
                <a:solidFill>
                  <a:srgbClr val="F7941D"/>
                </a:solidFill>
                <a:latin typeface="Arial"/>
                <a:cs typeface="Arial"/>
              </a:rPr>
              <a:t>Requerimientos</a:t>
            </a:r>
            <a:r>
              <a:rPr lang="en-US" sz="1600" b="1" u="sng" dirty="0">
                <a:solidFill>
                  <a:srgbClr val="F7941D"/>
                </a:solidFill>
                <a:latin typeface="Arial"/>
                <a:cs typeface="Arial"/>
              </a:rPr>
              <a:t> </a:t>
            </a:r>
            <a:r>
              <a:rPr lang="en-US" sz="1600" b="1" u="sng" dirty="0" err="1">
                <a:solidFill>
                  <a:srgbClr val="F7941D"/>
                </a:solidFill>
                <a:latin typeface="Arial"/>
                <a:cs typeface="Arial"/>
              </a:rPr>
              <a:t>durante</a:t>
            </a:r>
            <a:r>
              <a:rPr lang="en-US" sz="1600" b="1" u="sng" dirty="0">
                <a:solidFill>
                  <a:srgbClr val="F7941D"/>
                </a:solidFill>
                <a:latin typeface="Arial"/>
                <a:cs typeface="Arial"/>
              </a:rPr>
              <a:t> el </a:t>
            </a:r>
            <a:r>
              <a:rPr lang="en-US" sz="1600" b="1" u="sng" dirty="0" err="1">
                <a:solidFill>
                  <a:srgbClr val="F7941D"/>
                </a:solidFill>
                <a:latin typeface="Arial"/>
                <a:cs typeface="Arial"/>
              </a:rPr>
              <a:t>embarazo</a:t>
            </a:r>
            <a:r>
              <a:rPr lang="en-US" sz="1600" u="sng" dirty="0">
                <a:solidFill>
                  <a:srgbClr val="F7941D"/>
                </a:solidFill>
                <a:latin typeface="Arial"/>
                <a:cs typeface="Arial"/>
              </a:rPr>
              <a:t>:</a:t>
            </a:r>
            <a:r>
              <a:rPr lang="en-US" sz="1600" dirty="0">
                <a:solidFill>
                  <a:srgbClr val="F7941D"/>
                </a:solidFill>
                <a:latin typeface="Arial"/>
                <a:cs typeface="Arial"/>
              </a:rPr>
              <a:t> </a:t>
            </a:r>
            <a:r>
              <a:rPr lang="en-US" sz="1600" dirty="0" err="1">
                <a:solidFill>
                  <a:srgbClr val="F7941D"/>
                </a:solidFill>
                <a:latin typeface="Arial"/>
                <a:cs typeface="Arial"/>
              </a:rPr>
              <a:t>aumentar</a:t>
            </a:r>
            <a:r>
              <a:rPr lang="en-US" sz="1600" dirty="0">
                <a:solidFill>
                  <a:srgbClr val="F7941D"/>
                </a:solidFill>
                <a:latin typeface="Arial"/>
                <a:cs typeface="Arial"/>
              </a:rPr>
              <a:t> de 0,8mg a </a:t>
            </a:r>
            <a:r>
              <a:rPr lang="en-US" sz="1600" dirty="0" err="1">
                <a:solidFill>
                  <a:srgbClr val="F7941D"/>
                </a:solidFill>
                <a:latin typeface="Arial"/>
                <a:cs typeface="Arial"/>
              </a:rPr>
              <a:t>unos</a:t>
            </a:r>
            <a:r>
              <a:rPr lang="en-US" sz="1600" dirty="0">
                <a:solidFill>
                  <a:srgbClr val="F7941D"/>
                </a:solidFill>
                <a:latin typeface="Arial"/>
                <a:cs typeface="Arial"/>
              </a:rPr>
              <a:t> 10mg </a:t>
            </a:r>
            <a:r>
              <a:rPr lang="en-US" sz="1600" dirty="0" err="1">
                <a:solidFill>
                  <a:srgbClr val="F7941D"/>
                </a:solidFill>
                <a:latin typeface="Arial"/>
                <a:cs typeface="Arial"/>
              </a:rPr>
              <a:t>durante</a:t>
            </a:r>
            <a:r>
              <a:rPr lang="en-US" sz="1600" dirty="0">
                <a:solidFill>
                  <a:srgbClr val="F7941D"/>
                </a:solidFill>
                <a:latin typeface="Arial"/>
                <a:cs typeface="Arial"/>
              </a:rPr>
              <a:t> las </a:t>
            </a:r>
            <a:r>
              <a:rPr lang="en-US" sz="1600" dirty="0" err="1">
                <a:solidFill>
                  <a:srgbClr val="F7941D"/>
                </a:solidFill>
                <a:latin typeface="Arial"/>
                <a:cs typeface="Arial"/>
              </a:rPr>
              <a:t>últimas</a:t>
            </a:r>
            <a:r>
              <a:rPr lang="en-US" sz="1600" dirty="0">
                <a:solidFill>
                  <a:srgbClr val="F7941D"/>
                </a:solidFill>
                <a:latin typeface="Arial"/>
                <a:cs typeface="Arial"/>
              </a:rPr>
              <a:t> 6 </a:t>
            </a:r>
            <a:r>
              <a:rPr lang="en-US" sz="1600" dirty="0" err="1">
                <a:solidFill>
                  <a:srgbClr val="F7941D"/>
                </a:solidFill>
                <a:latin typeface="Arial"/>
                <a:cs typeface="Arial"/>
              </a:rPr>
              <a:t>semanas</a:t>
            </a:r>
            <a:r>
              <a:rPr lang="en-US" sz="1600" dirty="0">
                <a:solidFill>
                  <a:srgbClr val="F7941D"/>
                </a:solidFill>
                <a:latin typeface="Arial"/>
                <a:cs typeface="Arial"/>
              </a:rPr>
              <a:t>.</a:t>
            </a:r>
          </a:p>
          <a:p>
            <a:pPr marL="285750" indent="-285750">
              <a:buClr>
                <a:srgbClr val="E94320"/>
              </a:buClr>
              <a:buFont typeface="Arial"/>
              <a:buChar char="•"/>
            </a:pPr>
            <a:r>
              <a:rPr lang="en-US" sz="1600" b="1" u="sng" dirty="0" err="1">
                <a:solidFill>
                  <a:srgbClr val="F7941D"/>
                </a:solidFill>
                <a:latin typeface="Arial"/>
                <a:cs typeface="Arial"/>
              </a:rPr>
              <a:t>Requerimientos</a:t>
            </a:r>
            <a:r>
              <a:rPr lang="en-US" sz="1600" b="1" u="sng" dirty="0">
                <a:solidFill>
                  <a:srgbClr val="F7941D"/>
                </a:solidFill>
                <a:latin typeface="Arial"/>
                <a:cs typeface="Arial"/>
              </a:rPr>
              <a:t> de </a:t>
            </a:r>
            <a:r>
              <a:rPr lang="en-US" sz="1600" b="1" u="sng" dirty="0" err="1">
                <a:solidFill>
                  <a:srgbClr val="F7941D"/>
                </a:solidFill>
                <a:latin typeface="Arial"/>
                <a:cs typeface="Arial"/>
              </a:rPr>
              <a:t>mujeres</a:t>
            </a:r>
            <a:r>
              <a:rPr lang="en-US" sz="1600" b="1" u="sng" dirty="0">
                <a:solidFill>
                  <a:srgbClr val="F7941D"/>
                </a:solidFill>
                <a:latin typeface="Arial"/>
                <a:cs typeface="Arial"/>
              </a:rPr>
              <a:t> </a:t>
            </a:r>
            <a:r>
              <a:rPr lang="en-US" sz="1600" b="1" u="sng" dirty="0" err="1">
                <a:solidFill>
                  <a:srgbClr val="F7941D"/>
                </a:solidFill>
                <a:latin typeface="Arial"/>
                <a:cs typeface="Arial"/>
              </a:rPr>
              <a:t>lactantes</a:t>
            </a:r>
            <a:r>
              <a:rPr lang="en-US" sz="1600" u="sng" dirty="0">
                <a:solidFill>
                  <a:srgbClr val="F7941D"/>
                </a:solidFill>
                <a:latin typeface="Arial"/>
                <a:cs typeface="Arial"/>
              </a:rPr>
              <a:t>:</a:t>
            </a:r>
            <a:r>
              <a:rPr lang="en-US" sz="1600" dirty="0">
                <a:solidFill>
                  <a:srgbClr val="F7941D"/>
                </a:solidFill>
                <a:latin typeface="Arial"/>
                <a:cs typeface="Arial"/>
              </a:rPr>
              <a:t> </a:t>
            </a:r>
            <a:r>
              <a:rPr lang="en-US" sz="1600" dirty="0" err="1">
                <a:solidFill>
                  <a:srgbClr val="F7941D"/>
                </a:solidFill>
                <a:latin typeface="Arial"/>
                <a:cs typeface="Arial"/>
              </a:rPr>
              <a:t>pérdida</a:t>
            </a:r>
            <a:r>
              <a:rPr lang="en-US" sz="1600" dirty="0">
                <a:solidFill>
                  <a:srgbClr val="F7941D"/>
                </a:solidFill>
                <a:latin typeface="Arial"/>
                <a:cs typeface="Arial"/>
              </a:rPr>
              <a:t> </a:t>
            </a:r>
            <a:r>
              <a:rPr lang="en-US" sz="1600" dirty="0" err="1">
                <a:solidFill>
                  <a:srgbClr val="F7941D"/>
                </a:solidFill>
                <a:latin typeface="Arial"/>
                <a:cs typeface="Arial"/>
              </a:rPr>
              <a:t>diaria</a:t>
            </a:r>
            <a:r>
              <a:rPr lang="en-US" sz="1600" dirty="0">
                <a:solidFill>
                  <a:srgbClr val="F7941D"/>
                </a:solidFill>
                <a:latin typeface="Arial"/>
                <a:cs typeface="Arial"/>
              </a:rPr>
              <a:t> de </a:t>
            </a:r>
            <a:r>
              <a:rPr lang="en-US" sz="1600" dirty="0" err="1">
                <a:solidFill>
                  <a:srgbClr val="F7941D"/>
                </a:solidFill>
                <a:latin typeface="Arial"/>
                <a:cs typeface="Arial"/>
              </a:rPr>
              <a:t>hierro</a:t>
            </a:r>
            <a:r>
              <a:rPr lang="en-US" sz="1600" dirty="0">
                <a:solidFill>
                  <a:srgbClr val="F7941D"/>
                </a:solidFill>
                <a:latin typeface="Arial"/>
                <a:cs typeface="Arial"/>
              </a:rPr>
              <a:t> </a:t>
            </a:r>
            <a:r>
              <a:rPr lang="en-US" sz="1600" dirty="0" err="1">
                <a:solidFill>
                  <a:srgbClr val="F7941D"/>
                </a:solidFill>
                <a:latin typeface="Arial"/>
                <a:cs typeface="Arial"/>
              </a:rPr>
              <a:t>en</a:t>
            </a:r>
            <a:r>
              <a:rPr lang="en-US" sz="1600" dirty="0">
                <a:solidFill>
                  <a:srgbClr val="F7941D"/>
                </a:solidFill>
                <a:latin typeface="Arial"/>
                <a:cs typeface="Arial"/>
              </a:rPr>
              <a:t> la leche (0,3mg) + </a:t>
            </a:r>
            <a:r>
              <a:rPr lang="en-US" sz="1600" dirty="0" err="1">
                <a:solidFill>
                  <a:srgbClr val="F7941D"/>
                </a:solidFill>
                <a:latin typeface="Arial"/>
                <a:cs typeface="Arial"/>
              </a:rPr>
              <a:t>pérdidas</a:t>
            </a:r>
            <a:r>
              <a:rPr lang="en-US" sz="1600" dirty="0">
                <a:solidFill>
                  <a:srgbClr val="F7941D"/>
                </a:solidFill>
                <a:latin typeface="Arial"/>
                <a:cs typeface="Arial"/>
              </a:rPr>
              <a:t> </a:t>
            </a:r>
            <a:r>
              <a:rPr lang="en-US" sz="1600" dirty="0" err="1">
                <a:solidFill>
                  <a:srgbClr val="F7941D"/>
                </a:solidFill>
                <a:latin typeface="Arial"/>
                <a:cs typeface="Arial"/>
              </a:rPr>
              <a:t>diarias</a:t>
            </a:r>
            <a:r>
              <a:rPr lang="en-US" sz="1600" dirty="0">
                <a:solidFill>
                  <a:srgbClr val="F7941D"/>
                </a:solidFill>
                <a:latin typeface="Arial"/>
                <a:cs typeface="Arial"/>
              </a:rPr>
              <a:t> </a:t>
            </a:r>
            <a:r>
              <a:rPr lang="en-US" sz="1600" dirty="0" err="1">
                <a:solidFill>
                  <a:srgbClr val="F7941D"/>
                </a:solidFill>
                <a:latin typeface="Arial"/>
                <a:cs typeface="Arial"/>
              </a:rPr>
              <a:t>normales</a:t>
            </a:r>
            <a:r>
              <a:rPr lang="en-US" sz="1600" dirty="0">
                <a:solidFill>
                  <a:srgbClr val="F7941D"/>
                </a:solidFill>
                <a:latin typeface="Arial"/>
                <a:cs typeface="Arial"/>
              </a:rPr>
              <a:t> (0,8mg) = 1,1mg/día.</a:t>
            </a:r>
            <a:endParaRPr lang="pt-PT" sz="1600" dirty="0">
              <a:solidFill>
                <a:srgbClr val="F7941D"/>
              </a:solidFill>
              <a:latin typeface="Arial"/>
              <a:cs typeface="Arial"/>
            </a:endParaRPr>
          </a:p>
          <a:p>
            <a:endParaRPr lang="en-US" sz="1600" dirty="0"/>
          </a:p>
        </p:txBody>
      </p:sp>
      <p:sp>
        <p:nvSpPr>
          <p:cNvPr id="6" name="Title 2"/>
          <p:cNvSpPr txBox="1">
            <a:spLocks/>
          </p:cNvSpPr>
          <p:nvPr/>
        </p:nvSpPr>
        <p:spPr>
          <a:xfrm>
            <a:off x="457200" y="188640"/>
            <a:ext cx="6851104" cy="172819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pPr>
              <a:lnSpc>
                <a:spcPct val="90000"/>
              </a:lnSpc>
            </a:pPr>
            <a:r>
              <a:rPr lang="es-ES" sz="3200" dirty="0"/>
              <a:t>REQUERIMIENTOS TOTALES DE HIERRO DURANTE EL EMBARAZO TRADUCIDOS A REQUERIMIENTOS DIARIOS</a:t>
            </a:r>
            <a:endParaRPr lang="en-US" sz="3200" baseline="30000" dirty="0"/>
          </a:p>
        </p:txBody>
      </p:sp>
      <p:grpSp>
        <p:nvGrpSpPr>
          <p:cNvPr id="8" name="Group 7">
            <a:extLst>
              <a:ext uri="{FF2B5EF4-FFF2-40B4-BE49-F238E27FC236}">
                <a16:creationId xmlns:a16="http://schemas.microsoft.com/office/drawing/2014/main" id="{C57F0410-0FB7-4AC5-AD02-448695E1AD3E}"/>
              </a:ext>
            </a:extLst>
          </p:cNvPr>
          <p:cNvGrpSpPr/>
          <p:nvPr/>
        </p:nvGrpSpPr>
        <p:grpSpPr>
          <a:xfrm>
            <a:off x="153759" y="2060848"/>
            <a:ext cx="4572752" cy="3528392"/>
            <a:chOff x="153759" y="2060848"/>
            <a:chExt cx="4572752" cy="3528392"/>
          </a:xfrm>
        </p:grpSpPr>
        <p:pic>
          <p:nvPicPr>
            <p:cNvPr id="2" name="Picture 1" descr="image002.jpg"/>
            <p:cNvPicPr>
              <a:picLocks noChangeAspect="1"/>
            </p:cNvPicPr>
            <p:nvPr/>
          </p:nvPicPr>
          <p:blipFill rotWithShape="1">
            <a:blip r:embed="rId3">
              <a:extLst>
                <a:ext uri="{28A0092B-C50C-407E-A947-70E740481C1C}">
                  <a14:useLocalDpi xmlns:a14="http://schemas.microsoft.com/office/drawing/2010/main" val="0"/>
                </a:ext>
              </a:extLst>
            </a:blip>
            <a:srcRect b="761"/>
            <a:stretch/>
          </p:blipFill>
          <p:spPr>
            <a:xfrm>
              <a:off x="153759" y="2210187"/>
              <a:ext cx="4562257" cy="2958904"/>
            </a:xfrm>
            <a:prstGeom prst="rect">
              <a:avLst/>
            </a:prstGeom>
          </p:spPr>
        </p:pic>
        <p:sp>
          <p:nvSpPr>
            <p:cNvPr id="13" name="TextBox 12">
              <a:extLst>
                <a:ext uri="{FF2B5EF4-FFF2-40B4-BE49-F238E27FC236}">
                  <a16:creationId xmlns:a16="http://schemas.microsoft.com/office/drawing/2014/main" id="{518E023C-26E3-4D7C-B958-19CDEDA68269}"/>
                </a:ext>
              </a:extLst>
            </p:cNvPr>
            <p:cNvSpPr txBox="1"/>
            <p:nvPr/>
          </p:nvSpPr>
          <p:spPr>
            <a:xfrm>
              <a:off x="2771800" y="2780928"/>
              <a:ext cx="612575" cy="461665"/>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pPr algn="ctr"/>
              <a:r>
                <a:rPr lang="es-ES" sz="800" dirty="0"/>
                <a:t>Feto y placenta</a:t>
              </a:r>
            </a:p>
            <a:p>
              <a:pPr algn="ctr"/>
              <a:endParaRPr lang="es-ES" sz="800" dirty="0"/>
            </a:p>
          </p:txBody>
        </p:sp>
        <p:pic>
          <p:nvPicPr>
            <p:cNvPr id="24579" name="Picture 4"/>
            <p:cNvPicPr>
              <a:picLocks noChangeAspect="1" noChangeArrowheads="1"/>
            </p:cNvPicPr>
            <p:nvPr/>
          </p:nvPicPr>
          <p:blipFill rotWithShape="1">
            <a:blip r:embed="rId4" cstate="print"/>
            <a:srcRect t="84383"/>
            <a:stretch/>
          </p:blipFill>
          <p:spPr bwMode="auto">
            <a:xfrm>
              <a:off x="786964" y="5183304"/>
              <a:ext cx="3424996" cy="405936"/>
            </a:xfrm>
            <a:prstGeom prst="rect">
              <a:avLst/>
            </a:prstGeom>
            <a:noFill/>
            <a:ln w="12700">
              <a:noFill/>
              <a:miter lim="800000"/>
              <a:headEnd/>
              <a:tailEnd/>
            </a:ln>
          </p:spPr>
        </p:pic>
        <p:sp>
          <p:nvSpPr>
            <p:cNvPr id="4" name="TextBox 3">
              <a:extLst>
                <a:ext uri="{FF2B5EF4-FFF2-40B4-BE49-F238E27FC236}">
                  <a16:creationId xmlns:a16="http://schemas.microsoft.com/office/drawing/2014/main" id="{A25385F0-EE07-416D-8F2A-B898B4378766}"/>
                </a:ext>
              </a:extLst>
            </p:cNvPr>
            <p:cNvSpPr txBox="1"/>
            <p:nvPr/>
          </p:nvSpPr>
          <p:spPr>
            <a:xfrm rot="16200000">
              <a:off x="-939572" y="3154179"/>
              <a:ext cx="2448272" cy="261610"/>
            </a:xfrm>
            <a:prstGeom prst="rect">
              <a:avLst/>
            </a:prstGeom>
            <a:solidFill>
              <a:schemeClr val="bg1"/>
            </a:solidFill>
          </p:spPr>
          <p:txBody>
            <a:bodyPr wrap="square" rtlCol="0">
              <a:spAutoFit/>
            </a:bodyPr>
            <a:lstStyle/>
            <a:p>
              <a:r>
                <a:rPr lang="es-ES" sz="1100" dirty="0">
                  <a:latin typeface="Arial" panose="020B0604020202020204" pitchFamily="34" charset="0"/>
                  <a:cs typeface="Arial" panose="020B0604020202020204" pitchFamily="34" charset="0"/>
                </a:rPr>
                <a:t>Requerimientos de hierro (mg/día)</a:t>
              </a:r>
            </a:p>
          </p:txBody>
        </p:sp>
        <p:sp>
          <p:nvSpPr>
            <p:cNvPr id="10" name="TextBox 9">
              <a:extLst>
                <a:ext uri="{FF2B5EF4-FFF2-40B4-BE49-F238E27FC236}">
                  <a16:creationId xmlns:a16="http://schemas.microsoft.com/office/drawing/2014/main" id="{4AE6C7A8-CB81-4E00-A6B3-4930B22643B9}"/>
                </a:ext>
              </a:extLst>
            </p:cNvPr>
            <p:cNvSpPr txBox="1"/>
            <p:nvPr/>
          </p:nvSpPr>
          <p:spPr>
            <a:xfrm>
              <a:off x="683567" y="3652934"/>
              <a:ext cx="1008113" cy="230832"/>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r>
                <a:rPr lang="es-ES" sz="900" dirty="0"/>
                <a:t>Menstruación</a:t>
              </a:r>
            </a:p>
          </p:txBody>
        </p:sp>
        <p:sp>
          <p:nvSpPr>
            <p:cNvPr id="12" name="TextBox 11">
              <a:extLst>
                <a:ext uri="{FF2B5EF4-FFF2-40B4-BE49-F238E27FC236}">
                  <a16:creationId xmlns:a16="http://schemas.microsoft.com/office/drawing/2014/main" id="{C73831E3-588A-4248-BE5F-376282E5EEA0}"/>
                </a:ext>
              </a:extLst>
            </p:cNvPr>
            <p:cNvSpPr txBox="1"/>
            <p:nvPr/>
          </p:nvSpPr>
          <p:spPr>
            <a:xfrm>
              <a:off x="3718398" y="3541725"/>
              <a:ext cx="1008113" cy="230832"/>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r>
                <a:rPr lang="es-ES" sz="900" dirty="0"/>
                <a:t>Menstruación</a:t>
              </a:r>
            </a:p>
          </p:txBody>
        </p:sp>
        <p:sp>
          <p:nvSpPr>
            <p:cNvPr id="14" name="TextBox 13">
              <a:extLst>
                <a:ext uri="{FF2B5EF4-FFF2-40B4-BE49-F238E27FC236}">
                  <a16:creationId xmlns:a16="http://schemas.microsoft.com/office/drawing/2014/main" id="{01E10321-C462-431A-A13A-123721628068}"/>
                </a:ext>
              </a:extLst>
            </p:cNvPr>
            <p:cNvSpPr txBox="1"/>
            <p:nvPr/>
          </p:nvSpPr>
          <p:spPr>
            <a:xfrm>
              <a:off x="3419872" y="3719894"/>
              <a:ext cx="702682" cy="230832"/>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r>
                <a:rPr lang="es-ES" sz="900" dirty="0"/>
                <a:t>Lactancia</a:t>
              </a:r>
            </a:p>
          </p:txBody>
        </p:sp>
        <p:sp>
          <p:nvSpPr>
            <p:cNvPr id="15" name="TextBox 14">
              <a:extLst>
                <a:ext uri="{FF2B5EF4-FFF2-40B4-BE49-F238E27FC236}">
                  <a16:creationId xmlns:a16="http://schemas.microsoft.com/office/drawing/2014/main" id="{0EFF45C2-D3A2-4C09-A128-1BC1D4EEFFA2}"/>
                </a:ext>
              </a:extLst>
            </p:cNvPr>
            <p:cNvSpPr txBox="1"/>
            <p:nvPr/>
          </p:nvSpPr>
          <p:spPr>
            <a:xfrm>
              <a:off x="3474175" y="4567550"/>
              <a:ext cx="971828" cy="230832"/>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r>
                <a:rPr lang="es-ES" sz="900" dirty="0"/>
                <a:t>Posparto</a:t>
              </a:r>
            </a:p>
          </p:txBody>
        </p:sp>
        <p:sp>
          <p:nvSpPr>
            <p:cNvPr id="16" name="TextBox 15">
              <a:extLst>
                <a:ext uri="{FF2B5EF4-FFF2-40B4-BE49-F238E27FC236}">
                  <a16:creationId xmlns:a16="http://schemas.microsoft.com/office/drawing/2014/main" id="{2E7A7290-EB89-4722-B9EA-D51209C42A4E}"/>
                </a:ext>
              </a:extLst>
            </p:cNvPr>
            <p:cNvSpPr txBox="1"/>
            <p:nvPr/>
          </p:nvSpPr>
          <p:spPr>
            <a:xfrm>
              <a:off x="2784720" y="4579256"/>
              <a:ext cx="612575" cy="230832"/>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r>
                <a:rPr lang="es-ES" sz="900" dirty="0"/>
                <a:t>Tercero</a:t>
              </a:r>
            </a:p>
          </p:txBody>
        </p:sp>
        <p:sp>
          <p:nvSpPr>
            <p:cNvPr id="17" name="TextBox 16">
              <a:extLst>
                <a:ext uri="{FF2B5EF4-FFF2-40B4-BE49-F238E27FC236}">
                  <a16:creationId xmlns:a16="http://schemas.microsoft.com/office/drawing/2014/main" id="{A6AB3C1B-70E4-4997-B004-3A4597E3CB1F}"/>
                </a:ext>
              </a:extLst>
            </p:cNvPr>
            <p:cNvSpPr txBox="1"/>
            <p:nvPr/>
          </p:nvSpPr>
          <p:spPr>
            <a:xfrm>
              <a:off x="2087217" y="4581128"/>
              <a:ext cx="687008" cy="230832"/>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r>
                <a:rPr lang="es-ES" sz="900" dirty="0"/>
                <a:t>Segundo</a:t>
              </a:r>
            </a:p>
          </p:txBody>
        </p:sp>
        <p:sp>
          <p:nvSpPr>
            <p:cNvPr id="18" name="TextBox 17">
              <a:extLst>
                <a:ext uri="{FF2B5EF4-FFF2-40B4-BE49-F238E27FC236}">
                  <a16:creationId xmlns:a16="http://schemas.microsoft.com/office/drawing/2014/main" id="{D2DE79DC-E1D5-4054-AE49-9E75AFE41387}"/>
                </a:ext>
              </a:extLst>
            </p:cNvPr>
            <p:cNvSpPr txBox="1"/>
            <p:nvPr/>
          </p:nvSpPr>
          <p:spPr>
            <a:xfrm>
              <a:off x="1403648" y="4581128"/>
              <a:ext cx="612575" cy="230832"/>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r>
                <a:rPr lang="es-ES" sz="900" dirty="0"/>
                <a:t>Primero</a:t>
              </a:r>
            </a:p>
          </p:txBody>
        </p:sp>
        <p:sp>
          <p:nvSpPr>
            <p:cNvPr id="19" name="TextBox 18">
              <a:extLst>
                <a:ext uri="{FF2B5EF4-FFF2-40B4-BE49-F238E27FC236}">
                  <a16:creationId xmlns:a16="http://schemas.microsoft.com/office/drawing/2014/main" id="{434CDDDA-F729-492D-B677-E6830F5117EB}"/>
                </a:ext>
              </a:extLst>
            </p:cNvPr>
            <p:cNvSpPr txBox="1"/>
            <p:nvPr/>
          </p:nvSpPr>
          <p:spPr>
            <a:xfrm>
              <a:off x="251520" y="4581128"/>
              <a:ext cx="1152129" cy="230832"/>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pPr algn="r"/>
              <a:r>
                <a:rPr lang="es-ES" sz="900" dirty="0"/>
                <a:t>No embarazada</a:t>
              </a:r>
            </a:p>
          </p:txBody>
        </p:sp>
        <p:sp>
          <p:nvSpPr>
            <p:cNvPr id="20" name="TextBox 19">
              <a:extLst>
                <a:ext uri="{FF2B5EF4-FFF2-40B4-BE49-F238E27FC236}">
                  <a16:creationId xmlns:a16="http://schemas.microsoft.com/office/drawing/2014/main" id="{3695052B-6B4C-4FED-8B9F-12D7DBC91B5D}"/>
                </a:ext>
              </a:extLst>
            </p:cNvPr>
            <p:cNvSpPr txBox="1"/>
            <p:nvPr/>
          </p:nvSpPr>
          <p:spPr>
            <a:xfrm>
              <a:off x="2051720" y="4975300"/>
              <a:ext cx="971828" cy="230832"/>
            </a:xfrm>
            <a:prstGeom prst="rect">
              <a:avLst/>
            </a:prstGeom>
            <a:solidFill>
              <a:schemeClr val="bg1"/>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r>
                <a:rPr lang="es-ES" sz="900" dirty="0"/>
                <a:t>Trimestre</a:t>
              </a:r>
            </a:p>
          </p:txBody>
        </p:sp>
        <p:sp>
          <p:nvSpPr>
            <p:cNvPr id="21" name="TextBox 20">
              <a:extLst>
                <a:ext uri="{FF2B5EF4-FFF2-40B4-BE49-F238E27FC236}">
                  <a16:creationId xmlns:a16="http://schemas.microsoft.com/office/drawing/2014/main" id="{8B46DFCE-CE3D-4216-8231-154B12F00832}"/>
                </a:ext>
              </a:extLst>
            </p:cNvPr>
            <p:cNvSpPr txBox="1"/>
            <p:nvPr/>
          </p:nvSpPr>
          <p:spPr>
            <a:xfrm>
              <a:off x="2662627" y="3717032"/>
              <a:ext cx="685237" cy="507831"/>
            </a:xfrm>
            <a:prstGeom prst="rect">
              <a:avLst/>
            </a:prstGeom>
            <a:solidFill>
              <a:srgbClr val="EF4136"/>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pPr algn="ctr"/>
              <a:r>
                <a:rPr lang="es-ES" sz="900" dirty="0"/>
                <a:t>Células rojas de la sangre</a:t>
              </a:r>
            </a:p>
          </p:txBody>
        </p:sp>
        <p:sp>
          <p:nvSpPr>
            <p:cNvPr id="22" name="TextBox 21">
              <a:extLst>
                <a:ext uri="{FF2B5EF4-FFF2-40B4-BE49-F238E27FC236}">
                  <a16:creationId xmlns:a16="http://schemas.microsoft.com/office/drawing/2014/main" id="{0AF18877-3C6E-48A8-AC72-ACD5A5943B7D}"/>
                </a:ext>
              </a:extLst>
            </p:cNvPr>
            <p:cNvSpPr txBox="1"/>
            <p:nvPr/>
          </p:nvSpPr>
          <p:spPr>
            <a:xfrm>
              <a:off x="1511152" y="4276268"/>
              <a:ext cx="2180143" cy="246221"/>
            </a:xfrm>
            <a:prstGeom prst="rect">
              <a:avLst/>
            </a:prstGeom>
            <a:solidFill>
              <a:srgbClr val="6E6F74"/>
            </a:solidFill>
          </p:spPr>
          <p:txBody>
            <a:bodyPr wrap="square" rtlCol="0">
              <a:spAutoFit/>
            </a:bodyPr>
            <a:lstStyle>
              <a:defPPr>
                <a:defRPr lang="en-US"/>
              </a:defPPr>
              <a:lvl1pPr>
                <a:defRPr sz="1100">
                  <a:latin typeface="Arial" panose="020B0604020202020204" pitchFamily="34" charset="0"/>
                  <a:cs typeface="Arial" panose="020B0604020202020204" pitchFamily="34" charset="0"/>
                </a:defRPr>
              </a:lvl1pPr>
            </a:lstStyle>
            <a:p>
              <a:pPr algn="ctr"/>
              <a:r>
                <a:rPr lang="es-ES" sz="1000" dirty="0">
                  <a:solidFill>
                    <a:schemeClr val="bg1"/>
                  </a:solidFill>
                </a:rPr>
                <a:t>Pérdidas de sangre en el cuerpo</a:t>
              </a:r>
            </a:p>
          </p:txBody>
        </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6A85767-58BE-4FC6-B218-3E11EFA531FE}"/>
              </a:ext>
            </a:extLst>
          </p:cNvPr>
          <p:cNvPicPr>
            <a:picLocks noChangeAspect="1"/>
          </p:cNvPicPr>
          <p:nvPr/>
        </p:nvPicPr>
        <p:blipFill>
          <a:blip r:embed="rId3"/>
          <a:stretch>
            <a:fillRect/>
          </a:stretch>
        </p:blipFill>
        <p:spPr>
          <a:xfrm rot="5400000">
            <a:off x="-670270" y="2947371"/>
            <a:ext cx="4580899" cy="3240359"/>
          </a:xfrm>
          <a:prstGeom prst="rect">
            <a:avLst/>
          </a:prstGeom>
        </p:spPr>
      </p:pic>
      <p:sp>
        <p:nvSpPr>
          <p:cNvPr id="22530" name="Rectangle 6"/>
          <p:cNvSpPr>
            <a:spLocks noChangeArrowheads="1"/>
          </p:cNvSpPr>
          <p:nvPr/>
        </p:nvSpPr>
        <p:spPr bwMode="auto">
          <a:xfrm>
            <a:off x="2555776" y="6359062"/>
            <a:ext cx="4788025" cy="400110"/>
          </a:xfrm>
          <a:prstGeom prst="rect">
            <a:avLst/>
          </a:prstGeom>
          <a:noFill/>
          <a:ln w="9525">
            <a:noFill/>
            <a:miter lim="800000"/>
            <a:headEnd/>
            <a:tailEnd/>
          </a:ln>
        </p:spPr>
        <p:txBody>
          <a:bodyPr wrap="square">
            <a:spAutoFit/>
          </a:bodyPr>
          <a:lstStyle/>
          <a:p>
            <a:r>
              <a:rPr lang="en-US" sz="1000" dirty="0"/>
              <a:t>1) </a:t>
            </a:r>
            <a:r>
              <a:rPr lang="pt-PT" sz="1000" dirty="0" err="1"/>
              <a:t>Martí-Carvajal</a:t>
            </a:r>
            <a:r>
              <a:rPr lang="pt-PT" sz="1000" dirty="0"/>
              <a:t> M. </a:t>
            </a:r>
            <a:r>
              <a:rPr lang="pt-PT" sz="1000" dirty="0" err="1"/>
              <a:t>Latin</a:t>
            </a:r>
            <a:r>
              <a:rPr lang="pt-PT" sz="1000" dirty="0"/>
              <a:t> </a:t>
            </a:r>
            <a:r>
              <a:rPr lang="pt-PT" sz="1000" dirty="0" err="1"/>
              <a:t>American</a:t>
            </a:r>
            <a:r>
              <a:rPr lang="pt-PT" sz="1000" dirty="0"/>
              <a:t> </a:t>
            </a:r>
            <a:r>
              <a:rPr lang="pt-PT" sz="1000" dirty="0" err="1"/>
              <a:t>Nutrition</a:t>
            </a:r>
            <a:r>
              <a:rPr lang="pt-PT" sz="1000" dirty="0"/>
              <a:t> </a:t>
            </a:r>
            <a:r>
              <a:rPr lang="pt-PT" sz="1000" dirty="0" err="1"/>
              <a:t>Archives</a:t>
            </a:r>
            <a:r>
              <a:rPr lang="pt-PT" sz="1000" dirty="0"/>
              <a:t> Vol.52 N 1 2002</a:t>
            </a:r>
            <a:endParaRPr lang="en-US" sz="1000" dirty="0"/>
          </a:p>
          <a:p>
            <a:r>
              <a:rPr lang="en-US" sz="1000" dirty="0"/>
              <a:t>2) WHO Guidelines 2001</a:t>
            </a:r>
          </a:p>
        </p:txBody>
      </p:sp>
      <p:sp>
        <p:nvSpPr>
          <p:cNvPr id="22531" name="TextBox 4"/>
          <p:cNvSpPr txBox="1">
            <a:spLocks noChangeArrowheads="1"/>
          </p:cNvSpPr>
          <p:nvPr/>
        </p:nvSpPr>
        <p:spPr bwMode="auto">
          <a:xfrm>
            <a:off x="1475656" y="4620125"/>
            <a:ext cx="7669359" cy="1846659"/>
          </a:xfrm>
          <a:prstGeom prst="rect">
            <a:avLst/>
          </a:prstGeom>
          <a:noFill/>
          <a:ln w="9525">
            <a:noFill/>
            <a:miter lim="800000"/>
            <a:headEnd/>
            <a:tailEnd/>
          </a:ln>
        </p:spPr>
        <p:txBody>
          <a:bodyPr wrap="square">
            <a:spAutoFit/>
          </a:bodyPr>
          <a:lstStyle/>
          <a:p>
            <a:r>
              <a:rPr lang="es-ES" sz="2000" dirty="0">
                <a:solidFill>
                  <a:srgbClr val="F7941D"/>
                </a:solidFill>
                <a:latin typeface="Arial"/>
                <a:cs typeface="Arial"/>
              </a:rPr>
              <a:t>En los países en desarrollo, el 25-30% de las mujeres </a:t>
            </a:r>
            <a:r>
              <a:rPr lang="es-ES" sz="2000" b="1" u="sng" dirty="0">
                <a:solidFill>
                  <a:srgbClr val="F7941D"/>
                </a:solidFill>
                <a:latin typeface="Arial"/>
                <a:cs typeface="Arial"/>
              </a:rPr>
              <a:t>no tienen </a:t>
            </a:r>
            <a:r>
              <a:rPr lang="es-ES" sz="2000" dirty="0">
                <a:solidFill>
                  <a:srgbClr val="F7941D"/>
                </a:solidFill>
                <a:latin typeface="Arial"/>
                <a:cs typeface="Arial"/>
              </a:rPr>
              <a:t>reservas de hierro.</a:t>
            </a:r>
            <a:r>
              <a:rPr lang="es-ES" sz="2000" baseline="30000" dirty="0">
                <a:solidFill>
                  <a:srgbClr val="F7941D"/>
                </a:solidFill>
                <a:latin typeface="Arial"/>
                <a:cs typeface="Arial"/>
              </a:rPr>
              <a:t>2</a:t>
            </a:r>
          </a:p>
          <a:p>
            <a:endParaRPr lang="es-ES" sz="1400" dirty="0">
              <a:solidFill>
                <a:srgbClr val="F7941D"/>
              </a:solidFill>
              <a:latin typeface="Arial"/>
              <a:cs typeface="Arial"/>
            </a:endParaRPr>
          </a:p>
          <a:p>
            <a:r>
              <a:rPr lang="es-ES" sz="2000" dirty="0">
                <a:solidFill>
                  <a:srgbClr val="F7941D"/>
                </a:solidFill>
                <a:latin typeface="Arial"/>
                <a:cs typeface="Arial"/>
              </a:rPr>
              <a:t>Combinado con otros micronutrientes, </a:t>
            </a:r>
            <a:r>
              <a:rPr lang="es-ES" sz="2000" b="1" dirty="0">
                <a:solidFill>
                  <a:srgbClr val="E94320"/>
                </a:solidFill>
                <a:latin typeface="Arial"/>
                <a:cs typeface="Arial"/>
              </a:rPr>
              <a:t>el ácido fólico debe ser administrado siempre junto con hierro durante el embarazo.</a:t>
            </a:r>
            <a:r>
              <a:rPr lang="es-ES" sz="2000" b="1" baseline="30000" dirty="0">
                <a:solidFill>
                  <a:srgbClr val="E94320"/>
                </a:solidFill>
                <a:latin typeface="Arial"/>
                <a:cs typeface="Arial"/>
              </a:rPr>
              <a:t>2</a:t>
            </a:r>
          </a:p>
          <a:p>
            <a:endParaRPr lang="es-ES" sz="2000" b="1" u="sng" dirty="0"/>
          </a:p>
        </p:txBody>
      </p:sp>
      <p:sp>
        <p:nvSpPr>
          <p:cNvPr id="5" name="Title 2"/>
          <p:cNvSpPr txBox="1">
            <a:spLocks/>
          </p:cNvSpPr>
          <p:nvPr/>
        </p:nvSpPr>
        <p:spPr>
          <a:xfrm>
            <a:off x="457200" y="188640"/>
            <a:ext cx="6707088" cy="1125308"/>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pPr>
              <a:lnSpc>
                <a:spcPct val="90000"/>
              </a:lnSpc>
            </a:pPr>
            <a:r>
              <a:rPr lang="es-ES" dirty="0"/>
              <a:t>CAUSAS DE LA ANEMIA DURANTE EL EMBARAZO </a:t>
            </a:r>
            <a:r>
              <a:rPr lang="en-US" dirty="0"/>
              <a:t>(%)</a:t>
            </a:r>
            <a:r>
              <a:rPr lang="en-US" baseline="30000" dirty="0"/>
              <a:t>1</a:t>
            </a:r>
          </a:p>
        </p:txBody>
      </p:sp>
      <p:graphicFrame>
        <p:nvGraphicFramePr>
          <p:cNvPr id="2" name="Chart 1"/>
          <p:cNvGraphicFramePr/>
          <p:nvPr>
            <p:extLst>
              <p:ext uri="{D42A27DB-BD31-4B8C-83A1-F6EECF244321}">
                <p14:modId xmlns:p14="http://schemas.microsoft.com/office/powerpoint/2010/main" val="3464437383"/>
              </p:ext>
            </p:extLst>
          </p:nvPr>
        </p:nvGraphicFramePr>
        <p:xfrm>
          <a:off x="827583" y="1412776"/>
          <a:ext cx="8101407" cy="3384376"/>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DECF76D-C28B-455C-ADE7-8E27D29C1A11}"/>
              </a:ext>
            </a:extLst>
          </p:cNvPr>
          <p:cNvPicPr>
            <a:picLocks noChangeAspect="1"/>
          </p:cNvPicPr>
          <p:nvPr/>
        </p:nvPicPr>
        <p:blipFill>
          <a:blip r:embed="rId3"/>
          <a:stretch>
            <a:fillRect/>
          </a:stretch>
        </p:blipFill>
        <p:spPr>
          <a:xfrm>
            <a:off x="-528116" y="43686"/>
            <a:ext cx="9672116" cy="6841698"/>
          </a:xfrm>
          <a:prstGeom prst="rect">
            <a:avLst/>
          </a:prstGeom>
        </p:spPr>
      </p:pic>
      <p:sp>
        <p:nvSpPr>
          <p:cNvPr id="5" name="Title 2">
            <a:extLst>
              <a:ext uri="{FF2B5EF4-FFF2-40B4-BE49-F238E27FC236}">
                <a16:creationId xmlns:a16="http://schemas.microsoft.com/office/drawing/2014/main" id="{33ABDDD5-164D-4E67-AA8D-EA02ABB76DF2}"/>
              </a:ext>
            </a:extLst>
          </p:cNvPr>
          <p:cNvSpPr txBox="1">
            <a:spLocks/>
          </p:cNvSpPr>
          <p:nvPr/>
        </p:nvSpPr>
        <p:spPr>
          <a:xfrm>
            <a:off x="251520" y="200935"/>
            <a:ext cx="5904656" cy="2075937"/>
          </a:xfrm>
          <a:prstGeom prst="flowChartAlternateProcess">
            <a:avLst/>
          </a:prstGeom>
          <a:solidFill>
            <a:srgbClr val="E94320"/>
          </a:solidFill>
        </p:spPr>
        <p:txBody>
          <a:bodyPr/>
          <a:lstStyle>
            <a:lvl1pPr algn="l" rtl="0" eaLnBrk="1" latinLnBrk="0" hangingPunct="1">
              <a:spcBef>
                <a:spcPct val="0"/>
              </a:spcBef>
              <a:buNone/>
              <a:defRPr kumimoji="0" sz="3600" b="0" kern="1200">
                <a:ln>
                  <a:noFill/>
                </a:ln>
                <a:solidFill>
                  <a:srgbClr val="B11B7E"/>
                </a:solidFill>
                <a:effectLst/>
                <a:latin typeface="+mj-lt"/>
                <a:ea typeface="+mj-ea"/>
                <a:cs typeface="+mj-cs"/>
              </a:defRPr>
            </a:lvl1pPr>
          </a:lstStyle>
          <a:p>
            <a:pPr algn="ctr"/>
            <a:r>
              <a:rPr lang="es-ES" sz="4000" b="1" dirty="0">
                <a:solidFill>
                  <a:schemeClr val="bg1"/>
                </a:solidFill>
              </a:rPr>
              <a:t>CÓMO DIAGNOSTICAR LA ANEMIA POR CARENCIA DE HIERRO</a:t>
            </a:r>
            <a:r>
              <a:rPr lang="en-US" sz="4000" b="1" dirty="0">
                <a:solidFill>
                  <a:schemeClr val="bg1"/>
                </a:solidFill>
              </a:rPr>
              <a:t> </a:t>
            </a:r>
          </a:p>
        </p:txBody>
      </p:sp>
      <p:pic>
        <p:nvPicPr>
          <p:cNvPr id="2" name="Picture 1">
            <a:extLst>
              <a:ext uri="{FF2B5EF4-FFF2-40B4-BE49-F238E27FC236}">
                <a16:creationId xmlns:a16="http://schemas.microsoft.com/office/drawing/2014/main" id="{34F41FD0-CEE7-4D5D-B020-583BC13116CD}"/>
              </a:ext>
            </a:extLst>
          </p:cNvPr>
          <p:cNvPicPr>
            <a:picLocks noChangeAspect="1"/>
          </p:cNvPicPr>
          <p:nvPr/>
        </p:nvPicPr>
        <p:blipFill>
          <a:blip r:embed="rId4"/>
          <a:stretch>
            <a:fillRect/>
          </a:stretch>
        </p:blipFill>
        <p:spPr>
          <a:xfrm>
            <a:off x="-828600" y="2652126"/>
            <a:ext cx="6311926" cy="4199384"/>
          </a:xfrm>
          <a:prstGeom prst="rect">
            <a:avLst/>
          </a:prstGeom>
        </p:spPr>
      </p:pic>
    </p:spTree>
    <p:extLst>
      <p:ext uri="{BB962C8B-B14F-4D97-AF65-F5344CB8AC3E}">
        <p14:creationId xmlns:p14="http://schemas.microsoft.com/office/powerpoint/2010/main" val="242908129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5486D89-AC5A-4DA6-B0A0-CD6259AB8F65}"/>
              </a:ext>
            </a:extLst>
          </p:cNvPr>
          <p:cNvPicPr>
            <a:picLocks noChangeAspect="1"/>
          </p:cNvPicPr>
          <p:nvPr/>
        </p:nvPicPr>
        <p:blipFill>
          <a:blip r:embed="rId3"/>
          <a:stretch>
            <a:fillRect/>
          </a:stretch>
        </p:blipFill>
        <p:spPr>
          <a:xfrm rot="5400000">
            <a:off x="-670270" y="2947371"/>
            <a:ext cx="4580899" cy="3240359"/>
          </a:xfrm>
          <a:prstGeom prst="rect">
            <a:avLst/>
          </a:prstGeom>
        </p:spPr>
      </p:pic>
      <p:sp>
        <p:nvSpPr>
          <p:cNvPr id="13315" name="Rectangle 2"/>
          <p:cNvSpPr>
            <a:spLocks noChangeArrowheads="1"/>
          </p:cNvSpPr>
          <p:nvPr/>
        </p:nvSpPr>
        <p:spPr bwMode="auto">
          <a:xfrm>
            <a:off x="1619672" y="5903893"/>
            <a:ext cx="7488832" cy="954107"/>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a:spAutoFit/>
          </a:bodyPr>
          <a:lstStyle/>
          <a:p>
            <a:r>
              <a:rPr lang="en-US" sz="800" b="1" dirty="0">
                <a:solidFill>
                  <a:srgbClr val="FF0000"/>
                </a:solidFill>
                <a:latin typeface="Arial"/>
                <a:cs typeface="Arial"/>
              </a:rPr>
              <a:t>Normal </a:t>
            </a:r>
            <a:r>
              <a:rPr lang="en-US" sz="800" b="1" dirty="0" err="1">
                <a:solidFill>
                  <a:srgbClr val="FF0000"/>
                </a:solidFill>
                <a:latin typeface="Arial"/>
                <a:cs typeface="Arial"/>
              </a:rPr>
              <a:t>Ferritin</a:t>
            </a:r>
            <a:r>
              <a:rPr lang="en-US" sz="800" b="1" dirty="0">
                <a:solidFill>
                  <a:srgbClr val="FF0000"/>
                </a:solidFill>
                <a:latin typeface="Arial"/>
                <a:cs typeface="Arial"/>
              </a:rPr>
              <a:t> Levels in </a:t>
            </a:r>
            <a:r>
              <a:rPr lang="en-US" sz="800" b="1" dirty="0">
                <a:latin typeface="Arial"/>
                <a:cs typeface="Arial"/>
              </a:rPr>
              <a:t>Male: 12-300 </a:t>
            </a:r>
            <a:r>
              <a:rPr lang="en-US" sz="800" b="1" dirty="0" err="1">
                <a:latin typeface="Arial"/>
                <a:cs typeface="Arial"/>
              </a:rPr>
              <a:t>ng</a:t>
            </a:r>
            <a:r>
              <a:rPr lang="en-US" sz="800" b="1" dirty="0">
                <a:latin typeface="Arial"/>
                <a:cs typeface="Arial"/>
              </a:rPr>
              <a:t>/</a:t>
            </a:r>
            <a:r>
              <a:rPr lang="en-US" sz="800" b="1" dirty="0" err="1">
                <a:latin typeface="Arial"/>
                <a:cs typeface="Arial"/>
              </a:rPr>
              <a:t>mL</a:t>
            </a:r>
            <a:r>
              <a:rPr lang="en-US" sz="800" b="1" dirty="0">
                <a:latin typeface="Arial"/>
                <a:cs typeface="Arial"/>
              </a:rPr>
              <a:t>  and in Female: 12-150 </a:t>
            </a:r>
            <a:r>
              <a:rPr lang="en-US" sz="800" b="1" dirty="0" err="1">
                <a:latin typeface="Arial"/>
                <a:cs typeface="Arial"/>
              </a:rPr>
              <a:t>ng</a:t>
            </a:r>
            <a:r>
              <a:rPr lang="en-US" sz="800" b="1" dirty="0">
                <a:latin typeface="Arial"/>
                <a:cs typeface="Arial"/>
              </a:rPr>
              <a:t>/</a:t>
            </a:r>
            <a:r>
              <a:rPr lang="en-US" sz="800" b="1" dirty="0" err="1">
                <a:latin typeface="Arial"/>
                <a:cs typeface="Arial"/>
              </a:rPr>
              <a:t>mL.</a:t>
            </a:r>
            <a:r>
              <a:rPr lang="en-US" sz="800" b="1" dirty="0">
                <a:latin typeface="Arial"/>
                <a:cs typeface="Arial"/>
              </a:rPr>
              <a:t> The lower the </a:t>
            </a:r>
            <a:r>
              <a:rPr lang="en-US" sz="800" b="1" dirty="0" err="1">
                <a:latin typeface="Arial"/>
                <a:cs typeface="Arial"/>
              </a:rPr>
              <a:t>ferritin</a:t>
            </a:r>
            <a:r>
              <a:rPr lang="en-US" sz="800" b="1" dirty="0">
                <a:latin typeface="Arial"/>
                <a:cs typeface="Arial"/>
              </a:rPr>
              <a:t> level, </a:t>
            </a:r>
            <a:r>
              <a:rPr lang="en-US" sz="800" b="1" dirty="0">
                <a:solidFill>
                  <a:srgbClr val="FF0000"/>
                </a:solidFill>
                <a:latin typeface="Arial"/>
                <a:cs typeface="Arial"/>
              </a:rPr>
              <a:t>even within the "normal" range</a:t>
            </a:r>
            <a:r>
              <a:rPr lang="en-US" sz="800" b="1" dirty="0">
                <a:latin typeface="Arial"/>
                <a:cs typeface="Arial"/>
              </a:rPr>
              <a:t>, the more likely it is that the patient does not have enough iron.</a:t>
            </a:r>
          </a:p>
          <a:p>
            <a:r>
              <a:rPr lang="en-US" sz="800" b="1" dirty="0">
                <a:latin typeface="Arial"/>
                <a:cs typeface="Arial"/>
              </a:rPr>
              <a:t>The sequence of events (left to right) that occur with gradual depletion of body stores of iron. Serum ferritin and stainable iron in tissue stores are the most sensitive laboratory indicators of mild iron deficiency and are particularly useful in differentiating iron deficiency from the </a:t>
            </a:r>
            <a:r>
              <a:rPr lang="en-US" sz="800" b="1" dirty="0" err="1">
                <a:latin typeface="Arial"/>
                <a:cs typeface="Arial"/>
              </a:rPr>
              <a:t>anaemia</a:t>
            </a:r>
            <a:r>
              <a:rPr lang="en-US" sz="800" b="1" dirty="0">
                <a:latin typeface="Arial"/>
                <a:cs typeface="Arial"/>
              </a:rPr>
              <a:t> of chronic disorders. The percentage saturation of </a:t>
            </a:r>
            <a:r>
              <a:rPr lang="en-US" sz="800" b="1" dirty="0" err="1">
                <a:latin typeface="Arial"/>
                <a:cs typeface="Arial"/>
              </a:rPr>
              <a:t>transferrin</a:t>
            </a:r>
            <a:r>
              <a:rPr lang="en-US" sz="800" b="1" dirty="0">
                <a:latin typeface="Arial"/>
                <a:cs typeface="Arial"/>
              </a:rPr>
              <a:t> with iron and free erythrocyte </a:t>
            </a:r>
            <a:r>
              <a:rPr lang="en-US" sz="800" b="1" dirty="0" err="1">
                <a:latin typeface="Arial"/>
                <a:cs typeface="Arial"/>
              </a:rPr>
              <a:t>protoporphyrin</a:t>
            </a:r>
            <a:r>
              <a:rPr lang="en-US" sz="800" b="1" dirty="0">
                <a:latin typeface="Arial"/>
                <a:cs typeface="Arial"/>
              </a:rPr>
              <a:t> values do not become abnormal until tissue stores are depleted of iron. Subsequently, a decrease in the hemoglobin concentration occurs because iron is unavailable for </a:t>
            </a:r>
            <a:r>
              <a:rPr lang="en-US" sz="800" b="1" dirty="0" err="1">
                <a:latin typeface="Arial"/>
                <a:cs typeface="Arial"/>
              </a:rPr>
              <a:t>heme</a:t>
            </a:r>
            <a:r>
              <a:rPr lang="en-US" sz="800" b="1" dirty="0">
                <a:latin typeface="Arial"/>
                <a:cs typeface="Arial"/>
              </a:rPr>
              <a:t> synthesis. Red blood cell indices do not become abnormal for several months after tissue stores are depleted of iron.</a:t>
            </a:r>
            <a:endParaRPr lang="en-US" sz="800" dirty="0">
              <a:latin typeface="Arial"/>
              <a:cs typeface="Arial"/>
            </a:endParaRPr>
          </a:p>
        </p:txBody>
      </p:sp>
      <p:sp>
        <p:nvSpPr>
          <p:cNvPr id="5" name="Title 2"/>
          <p:cNvSpPr txBox="1">
            <a:spLocks/>
          </p:cNvSpPr>
          <p:nvPr/>
        </p:nvSpPr>
        <p:spPr>
          <a:xfrm>
            <a:off x="457200" y="188640"/>
            <a:ext cx="5842992" cy="1080120"/>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pPr>
              <a:lnSpc>
                <a:spcPct val="90000"/>
              </a:lnSpc>
            </a:pPr>
            <a:r>
              <a:rPr lang="en-US" dirty="0"/>
              <a:t>DIAGNÓSTICO DE LA ANEMIA DURANTE EL EMBARAZO</a:t>
            </a:r>
            <a:endParaRPr lang="en-US" sz="2400" dirty="0"/>
          </a:p>
        </p:txBody>
      </p:sp>
      <p:pic>
        <p:nvPicPr>
          <p:cNvPr id="2" name="Picture 1">
            <a:extLst>
              <a:ext uri="{FF2B5EF4-FFF2-40B4-BE49-F238E27FC236}">
                <a16:creationId xmlns:a16="http://schemas.microsoft.com/office/drawing/2014/main" id="{A41A2973-9E0E-47D9-B7CC-2FC11462CA23}"/>
              </a:ext>
            </a:extLst>
          </p:cNvPr>
          <p:cNvPicPr>
            <a:picLocks noChangeAspect="1"/>
          </p:cNvPicPr>
          <p:nvPr/>
        </p:nvPicPr>
        <p:blipFill>
          <a:blip r:embed="rId4"/>
          <a:stretch>
            <a:fillRect/>
          </a:stretch>
        </p:blipFill>
        <p:spPr>
          <a:xfrm>
            <a:off x="457200" y="1185600"/>
            <a:ext cx="7488832" cy="4687066"/>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52A5774-B23E-46B4-8875-496AEDE2471A}"/>
              </a:ext>
            </a:extLst>
          </p:cNvPr>
          <p:cNvPicPr>
            <a:picLocks noChangeAspect="1"/>
          </p:cNvPicPr>
          <p:nvPr/>
        </p:nvPicPr>
        <p:blipFill>
          <a:blip r:embed="rId3"/>
          <a:stretch>
            <a:fillRect/>
          </a:stretch>
        </p:blipFill>
        <p:spPr>
          <a:xfrm rot="5400000">
            <a:off x="-670270" y="2947371"/>
            <a:ext cx="4580899" cy="3240359"/>
          </a:xfrm>
          <a:prstGeom prst="rect">
            <a:avLst/>
          </a:prstGeom>
        </p:spPr>
      </p:pic>
      <p:sp>
        <p:nvSpPr>
          <p:cNvPr id="11" name="Title 2"/>
          <p:cNvSpPr txBox="1">
            <a:spLocks/>
          </p:cNvSpPr>
          <p:nvPr/>
        </p:nvSpPr>
        <p:spPr>
          <a:xfrm>
            <a:off x="107504" y="188640"/>
            <a:ext cx="7272808" cy="1080120"/>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pPr>
              <a:lnSpc>
                <a:spcPct val="90000"/>
              </a:lnSpc>
            </a:pPr>
            <a:r>
              <a:rPr lang="es-ES" dirty="0"/>
              <a:t>EL PAPEL ESENCIAL DEL ÁCIDO FÓLICO Y EL HIERRO DURANTE EL EMBARAZO</a:t>
            </a:r>
            <a:endParaRPr lang="en-US" sz="2400" dirty="0"/>
          </a:p>
        </p:txBody>
      </p:sp>
      <p:sp useBgFill="1">
        <p:nvSpPr>
          <p:cNvPr id="16" name="Rectangle 3">
            <a:extLst>
              <a:ext uri="{FF2B5EF4-FFF2-40B4-BE49-F238E27FC236}">
                <a16:creationId xmlns:a16="http://schemas.microsoft.com/office/drawing/2014/main" id="{2A95766E-D35E-4077-A306-66E687FB6681}"/>
              </a:ext>
            </a:extLst>
          </p:cNvPr>
          <p:cNvSpPr txBox="1">
            <a:spLocks noChangeArrowheads="1"/>
          </p:cNvSpPr>
          <p:nvPr/>
        </p:nvSpPr>
        <p:spPr>
          <a:xfrm>
            <a:off x="467544" y="1484784"/>
            <a:ext cx="8424936" cy="3672408"/>
          </a:xfrm>
          <a:prstGeom prst="rect">
            <a:avLst/>
          </a:prstGeom>
        </p:spPr>
        <p:txBody>
          <a:bodyPr/>
          <a:lstStyle/>
          <a:p>
            <a:pPr marL="342900" indent="-342900">
              <a:lnSpc>
                <a:spcPct val="80000"/>
              </a:lnSpc>
              <a:spcBef>
                <a:spcPct val="20000"/>
              </a:spcBef>
              <a:buClr>
                <a:srgbClr val="E94320"/>
              </a:buClr>
              <a:buFont typeface="Arial"/>
              <a:buChar char="•"/>
              <a:defRPr/>
            </a:pPr>
            <a:r>
              <a:rPr lang="en-US" sz="2000" b="1" dirty="0">
                <a:solidFill>
                  <a:srgbClr val="F7941D"/>
                </a:solidFill>
                <a:latin typeface="Arial"/>
                <a:cs typeface="Arial"/>
              </a:rPr>
              <a:t>ÁCIDO FÓLICO</a:t>
            </a:r>
          </a:p>
          <a:p>
            <a:pPr marL="800100" lvl="1" indent="-342900">
              <a:lnSpc>
                <a:spcPct val="80000"/>
              </a:lnSpc>
              <a:spcBef>
                <a:spcPct val="20000"/>
              </a:spcBef>
              <a:buClr>
                <a:srgbClr val="E94320"/>
              </a:buClr>
              <a:buFont typeface="Arial"/>
              <a:buChar char="•"/>
              <a:defRPr/>
            </a:pPr>
            <a:r>
              <a:rPr lang="es-ES" dirty="0">
                <a:solidFill>
                  <a:srgbClr val="F7941D"/>
                </a:solidFill>
                <a:latin typeface="Arial"/>
                <a:cs typeface="Arial"/>
              </a:rPr>
              <a:t>Es un nutriente esencial que desempeña un papel importante durante las fases de </a:t>
            </a:r>
            <a:r>
              <a:rPr lang="es-ES" b="1" dirty="0">
                <a:solidFill>
                  <a:srgbClr val="F7941D"/>
                </a:solidFill>
                <a:latin typeface="Arial"/>
                <a:cs typeface="Arial"/>
              </a:rPr>
              <a:t>rápida división celular </a:t>
            </a:r>
            <a:r>
              <a:rPr lang="es-ES" dirty="0">
                <a:solidFill>
                  <a:srgbClr val="F7941D"/>
                </a:solidFill>
                <a:latin typeface="Arial"/>
                <a:cs typeface="Arial"/>
              </a:rPr>
              <a:t>y </a:t>
            </a:r>
            <a:r>
              <a:rPr lang="es-ES" b="1" dirty="0">
                <a:solidFill>
                  <a:srgbClr val="F7941D"/>
                </a:solidFill>
                <a:latin typeface="Arial"/>
                <a:cs typeface="Arial"/>
              </a:rPr>
              <a:t>crecimiento</a:t>
            </a:r>
            <a:r>
              <a:rPr lang="es-ES" dirty="0">
                <a:solidFill>
                  <a:srgbClr val="F7941D"/>
                </a:solidFill>
                <a:latin typeface="Arial"/>
                <a:cs typeface="Arial"/>
              </a:rPr>
              <a:t>.</a:t>
            </a:r>
            <a:endParaRPr lang="en-US" dirty="0">
              <a:solidFill>
                <a:srgbClr val="F7941D"/>
              </a:solidFill>
              <a:latin typeface="Arial"/>
              <a:cs typeface="Arial"/>
            </a:endParaRPr>
          </a:p>
          <a:p>
            <a:pPr marL="342900" indent="-342900">
              <a:lnSpc>
                <a:spcPct val="80000"/>
              </a:lnSpc>
              <a:spcBef>
                <a:spcPct val="20000"/>
              </a:spcBef>
              <a:buClr>
                <a:srgbClr val="E94320"/>
              </a:buClr>
              <a:buFont typeface="Arial"/>
              <a:buChar char="•"/>
              <a:defRPr/>
            </a:pPr>
            <a:endParaRPr lang="en-US" sz="2000" b="1" dirty="0">
              <a:solidFill>
                <a:srgbClr val="F7941D"/>
              </a:solidFill>
              <a:latin typeface="Arial"/>
              <a:cs typeface="Arial"/>
            </a:endParaRPr>
          </a:p>
          <a:p>
            <a:pPr marL="342900" indent="-342900">
              <a:lnSpc>
                <a:spcPct val="80000"/>
              </a:lnSpc>
              <a:spcBef>
                <a:spcPct val="20000"/>
              </a:spcBef>
              <a:buClr>
                <a:srgbClr val="E94320"/>
              </a:buClr>
              <a:buFont typeface="Arial"/>
              <a:buChar char="•"/>
              <a:defRPr/>
            </a:pPr>
            <a:r>
              <a:rPr lang="en-US" sz="2000" b="1" dirty="0">
                <a:solidFill>
                  <a:srgbClr val="F7941D"/>
                </a:solidFill>
                <a:latin typeface="Arial"/>
                <a:cs typeface="Arial"/>
              </a:rPr>
              <a:t>HIERRO</a:t>
            </a:r>
          </a:p>
          <a:p>
            <a:pPr marL="800100" lvl="1" indent="-342900">
              <a:lnSpc>
                <a:spcPct val="80000"/>
              </a:lnSpc>
              <a:spcBef>
                <a:spcPct val="20000"/>
              </a:spcBef>
              <a:buClr>
                <a:srgbClr val="E94320"/>
              </a:buClr>
              <a:buFont typeface="Arial"/>
              <a:buChar char="•"/>
              <a:defRPr/>
            </a:pPr>
            <a:r>
              <a:rPr lang="es-ES" dirty="0">
                <a:solidFill>
                  <a:srgbClr val="F79015"/>
                </a:solidFill>
                <a:latin typeface="Arial"/>
                <a:cs typeface="Arial"/>
              </a:rPr>
              <a:t>El hierro es un nutriente esencial para el </a:t>
            </a:r>
            <a:r>
              <a:rPr lang="es-ES" b="1" dirty="0">
                <a:solidFill>
                  <a:srgbClr val="F79015"/>
                </a:solidFill>
                <a:latin typeface="Arial"/>
                <a:cs typeface="Arial"/>
              </a:rPr>
              <a:t>transporte de oxígeno </a:t>
            </a:r>
            <a:r>
              <a:rPr lang="es-ES" dirty="0">
                <a:solidFill>
                  <a:srgbClr val="F79015"/>
                </a:solidFill>
                <a:latin typeface="Arial"/>
                <a:cs typeface="Arial"/>
              </a:rPr>
              <a:t>en el organismo, a través de la hemoglobina, y para el </a:t>
            </a:r>
            <a:r>
              <a:rPr lang="es-ES" b="1" dirty="0">
                <a:solidFill>
                  <a:srgbClr val="F79015"/>
                </a:solidFill>
                <a:latin typeface="Arial"/>
                <a:cs typeface="Arial"/>
              </a:rPr>
              <a:t>crecimiento y la supervivencia celular.</a:t>
            </a:r>
          </a:p>
          <a:p>
            <a:pPr marL="800100" lvl="1" indent="-342900">
              <a:lnSpc>
                <a:spcPct val="80000"/>
              </a:lnSpc>
              <a:spcBef>
                <a:spcPct val="20000"/>
              </a:spcBef>
              <a:buClr>
                <a:srgbClr val="E94320"/>
              </a:buClr>
              <a:buFont typeface="Arial"/>
              <a:buChar char="•"/>
              <a:defRPr/>
            </a:pPr>
            <a:endParaRPr lang="en-US" sz="800" b="1" dirty="0">
              <a:solidFill>
                <a:srgbClr val="F79015"/>
              </a:solidFill>
              <a:latin typeface="Arial"/>
              <a:cs typeface="Arial"/>
            </a:endParaRPr>
          </a:p>
          <a:p>
            <a:pPr marL="800100" lvl="1" indent="-342900">
              <a:lnSpc>
                <a:spcPct val="80000"/>
              </a:lnSpc>
              <a:spcBef>
                <a:spcPct val="20000"/>
              </a:spcBef>
              <a:buClr>
                <a:srgbClr val="E94320"/>
              </a:buClr>
              <a:buFont typeface="Arial"/>
              <a:buChar char="•"/>
              <a:defRPr/>
            </a:pPr>
            <a:r>
              <a:rPr lang="es-ES" kern="0" dirty="0">
                <a:solidFill>
                  <a:srgbClr val="F7941D"/>
                </a:solidFill>
                <a:latin typeface="Arial"/>
                <a:cs typeface="Arial"/>
              </a:rPr>
              <a:t>Durante el embarazo, el </a:t>
            </a:r>
            <a:r>
              <a:rPr lang="es-ES" b="1" kern="0" dirty="0">
                <a:solidFill>
                  <a:srgbClr val="F7941D"/>
                </a:solidFill>
                <a:latin typeface="Arial"/>
                <a:cs typeface="Arial"/>
              </a:rPr>
              <a:t>ácido fólico debe ser administrado siempre junto con hierro</a:t>
            </a:r>
            <a:r>
              <a:rPr lang="es-ES" kern="0" dirty="0">
                <a:solidFill>
                  <a:srgbClr val="F7941D"/>
                </a:solidFill>
                <a:latin typeface="Arial"/>
                <a:cs typeface="Arial"/>
              </a:rPr>
              <a:t>, ya que durante este período existe una mayor  necesidad de ambos nutrientes. Además, los déficits de ácido fólico y de hierro suelen ocurrir simultáneamente, y son particularmente comunes en el </a:t>
            </a:r>
            <a:r>
              <a:rPr lang="es-ES" b="1" kern="0" dirty="0">
                <a:solidFill>
                  <a:srgbClr val="F7941D"/>
                </a:solidFill>
                <a:latin typeface="Arial"/>
                <a:cs typeface="Arial"/>
              </a:rPr>
              <a:t>embarazo</a:t>
            </a:r>
            <a:r>
              <a:rPr lang="es-ES" kern="0" dirty="0">
                <a:solidFill>
                  <a:srgbClr val="F7941D"/>
                </a:solidFill>
                <a:latin typeface="Arial"/>
                <a:cs typeface="Arial"/>
              </a:rPr>
              <a:t>, la </a:t>
            </a:r>
            <a:r>
              <a:rPr lang="es-ES" b="1" kern="0" dirty="0">
                <a:solidFill>
                  <a:srgbClr val="F7941D"/>
                </a:solidFill>
                <a:latin typeface="Arial"/>
                <a:cs typeface="Arial"/>
              </a:rPr>
              <a:t>lactancia</a:t>
            </a:r>
            <a:r>
              <a:rPr lang="es-ES" kern="0" dirty="0">
                <a:solidFill>
                  <a:srgbClr val="F7941D"/>
                </a:solidFill>
                <a:latin typeface="Arial"/>
                <a:cs typeface="Arial"/>
              </a:rPr>
              <a:t> y el </a:t>
            </a:r>
            <a:r>
              <a:rPr lang="es-ES" b="1" kern="0" dirty="0">
                <a:solidFill>
                  <a:srgbClr val="F7941D"/>
                </a:solidFill>
                <a:latin typeface="Arial"/>
                <a:cs typeface="Arial"/>
              </a:rPr>
              <a:t>posparto</a:t>
            </a:r>
            <a:r>
              <a:rPr lang="es-ES" kern="0" dirty="0">
                <a:solidFill>
                  <a:srgbClr val="F7941D"/>
                </a:solidFill>
                <a:latin typeface="Arial"/>
                <a:cs typeface="Arial"/>
              </a:rPr>
              <a:t>.</a:t>
            </a:r>
            <a:endParaRPr lang="en-US" kern="0" dirty="0">
              <a:solidFill>
                <a:srgbClr val="F7941D"/>
              </a:solidFill>
              <a:latin typeface="Arial"/>
              <a:cs typeface="Arial"/>
            </a:endParaRPr>
          </a:p>
        </p:txBody>
      </p:sp>
      <p:sp>
        <p:nvSpPr>
          <p:cNvPr id="2" name="Rectangle: Rounded Corners 1">
            <a:extLst>
              <a:ext uri="{FF2B5EF4-FFF2-40B4-BE49-F238E27FC236}">
                <a16:creationId xmlns:a16="http://schemas.microsoft.com/office/drawing/2014/main" id="{40E9A473-7730-4253-913B-BC1F3C52E884}"/>
              </a:ext>
            </a:extLst>
          </p:cNvPr>
          <p:cNvSpPr/>
          <p:nvPr/>
        </p:nvSpPr>
        <p:spPr>
          <a:xfrm>
            <a:off x="1331640" y="5013176"/>
            <a:ext cx="7560840" cy="1183303"/>
          </a:xfrm>
          <a:prstGeom prst="roundRect">
            <a:avLst/>
          </a:prstGeom>
          <a:solidFill>
            <a:srgbClr val="F7941D"/>
          </a:solidFill>
          <a:ln>
            <a:noFill/>
          </a:ln>
        </p:spPr>
        <p:txBody>
          <a:bodyPr wrap="square">
            <a:spAutoFit/>
          </a:bodyPr>
          <a:lstStyle/>
          <a:p>
            <a:pPr marL="0" lvl="1" algn="ctr">
              <a:lnSpc>
                <a:spcPct val="80000"/>
              </a:lnSpc>
              <a:spcBef>
                <a:spcPct val="20000"/>
              </a:spcBef>
              <a:buClr>
                <a:srgbClr val="E94320"/>
              </a:buClr>
              <a:defRPr/>
            </a:pPr>
            <a:endParaRPr lang="es-ES" sz="500" i="1" kern="0" dirty="0">
              <a:solidFill>
                <a:schemeClr val="bg1"/>
              </a:solidFill>
              <a:latin typeface="Arial"/>
              <a:cs typeface="Arial"/>
            </a:endParaRPr>
          </a:p>
          <a:p>
            <a:pPr marL="0" lvl="1" algn="ctr">
              <a:lnSpc>
                <a:spcPct val="80000"/>
              </a:lnSpc>
              <a:spcBef>
                <a:spcPct val="20000"/>
              </a:spcBef>
              <a:buClr>
                <a:srgbClr val="E94320"/>
              </a:buClr>
              <a:defRPr/>
            </a:pPr>
            <a:r>
              <a:rPr lang="es-ES" sz="2000" i="1" kern="0" dirty="0">
                <a:solidFill>
                  <a:schemeClr val="bg1"/>
                </a:solidFill>
                <a:latin typeface="Arial"/>
                <a:cs typeface="Arial"/>
              </a:rPr>
              <a:t>La administración concomitante de ácido fólico y hierro facilita la respuesta fisiológica al tratamiento del déficit de hierro durante el embarazo en comparación con hierro solo.</a:t>
            </a:r>
            <a:endParaRPr lang="en-US" sz="2000" i="1" kern="0" dirty="0">
              <a:solidFill>
                <a:schemeClr val="bg1"/>
              </a:solidFill>
              <a:latin typeface="Arial"/>
              <a:cs typeface="Arial"/>
            </a:endParaRPr>
          </a:p>
          <a:p>
            <a:pPr marL="0" lvl="1" algn="ctr">
              <a:lnSpc>
                <a:spcPct val="80000"/>
              </a:lnSpc>
              <a:spcBef>
                <a:spcPct val="20000"/>
              </a:spcBef>
              <a:buClr>
                <a:srgbClr val="E94320"/>
              </a:buClr>
              <a:defRPr/>
            </a:pPr>
            <a:endParaRPr lang="pt-PT" sz="500" i="1" kern="0" dirty="0">
              <a:solidFill>
                <a:schemeClr val="bg1"/>
              </a:solidFill>
              <a:latin typeface="+mj-lt"/>
            </a:endParaRPr>
          </a:p>
        </p:txBody>
      </p:sp>
    </p:spTree>
    <p:extLst>
      <p:ext uri="{BB962C8B-B14F-4D97-AF65-F5344CB8AC3E}">
        <p14:creationId xmlns:p14="http://schemas.microsoft.com/office/powerpoint/2010/main" val="29728021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52A5774-B23E-46B4-8875-496AEDE2471A}"/>
              </a:ext>
            </a:extLst>
          </p:cNvPr>
          <p:cNvPicPr>
            <a:picLocks noChangeAspect="1"/>
          </p:cNvPicPr>
          <p:nvPr/>
        </p:nvPicPr>
        <p:blipFill>
          <a:blip r:embed="rId3"/>
          <a:stretch>
            <a:fillRect/>
          </a:stretch>
        </p:blipFill>
        <p:spPr>
          <a:xfrm rot="5400000">
            <a:off x="-670270" y="2947371"/>
            <a:ext cx="4580899" cy="3240359"/>
          </a:xfrm>
          <a:prstGeom prst="rect">
            <a:avLst/>
          </a:prstGeom>
        </p:spPr>
      </p:pic>
      <p:sp>
        <p:nvSpPr>
          <p:cNvPr id="11" name="Title 2"/>
          <p:cNvSpPr txBox="1">
            <a:spLocks/>
          </p:cNvSpPr>
          <p:nvPr/>
        </p:nvSpPr>
        <p:spPr>
          <a:xfrm>
            <a:off x="457200" y="188640"/>
            <a:ext cx="6131024" cy="64807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pPr>
              <a:lnSpc>
                <a:spcPct val="90000"/>
              </a:lnSpc>
            </a:pPr>
            <a:r>
              <a:rPr lang="en-US" dirty="0"/>
              <a:t>FÓRMULA GALÉNICA ÚNICA</a:t>
            </a:r>
            <a:endParaRPr lang="en-US" sz="2400" dirty="0"/>
          </a:p>
        </p:txBody>
      </p:sp>
      <p:sp useBgFill="1">
        <p:nvSpPr>
          <p:cNvPr id="16" name="Rectangle 3">
            <a:extLst>
              <a:ext uri="{FF2B5EF4-FFF2-40B4-BE49-F238E27FC236}">
                <a16:creationId xmlns:a16="http://schemas.microsoft.com/office/drawing/2014/main" id="{2A95766E-D35E-4077-A306-66E687FB6681}"/>
              </a:ext>
            </a:extLst>
          </p:cNvPr>
          <p:cNvSpPr txBox="1">
            <a:spLocks noChangeArrowheads="1"/>
          </p:cNvSpPr>
          <p:nvPr/>
        </p:nvSpPr>
        <p:spPr>
          <a:xfrm>
            <a:off x="611560" y="3933056"/>
            <a:ext cx="8460432" cy="2304256"/>
          </a:xfrm>
          <a:prstGeom prst="rect">
            <a:avLst/>
          </a:prstGeom>
        </p:spPr>
        <p:txBody>
          <a:bodyPr/>
          <a:lstStyle/>
          <a:p>
            <a:pPr lvl="0"/>
            <a:r>
              <a:rPr lang="es-ES" b="1" dirty="0">
                <a:solidFill>
                  <a:srgbClr val="E94320"/>
                </a:solidFill>
                <a:latin typeface="Arial"/>
                <a:cs typeface="Arial"/>
              </a:rPr>
              <a:t>FÓRMULA GALÉNICA </a:t>
            </a:r>
            <a:r>
              <a:rPr lang="pt-PT" b="1" dirty="0">
                <a:solidFill>
                  <a:srgbClr val="E94320"/>
                </a:solidFill>
                <a:latin typeface="Arial"/>
                <a:cs typeface="Arial"/>
              </a:rPr>
              <a:t>– </a:t>
            </a:r>
            <a:r>
              <a:rPr lang="es-ES" b="1" dirty="0">
                <a:solidFill>
                  <a:srgbClr val="E94320"/>
                </a:solidFill>
                <a:latin typeface="Arial"/>
                <a:cs typeface="Arial"/>
              </a:rPr>
              <a:t>MEJOR TOLERABILIDAD</a:t>
            </a:r>
            <a:endParaRPr lang="en-US" b="1" dirty="0">
              <a:solidFill>
                <a:srgbClr val="E94320"/>
              </a:solidFill>
              <a:latin typeface="Arial"/>
              <a:cs typeface="Arial"/>
            </a:endParaRPr>
          </a:p>
          <a:p>
            <a:pPr lvl="0"/>
            <a:endParaRPr lang="pt-PT" b="1" u="sng" dirty="0">
              <a:solidFill>
                <a:prstClr val="black"/>
              </a:solidFill>
            </a:endParaRPr>
          </a:p>
          <a:p>
            <a:pPr lvl="0"/>
            <a:r>
              <a:rPr lang="es-ES" dirty="0">
                <a:solidFill>
                  <a:srgbClr val="F79015"/>
                </a:solidFill>
                <a:latin typeface="Arial"/>
                <a:cs typeface="Arial"/>
              </a:rPr>
              <a:t>Las formulaciones de hierro de liberación controlada causan menos efectos secundarios, como náuseas y epigastralgias, que las formulaciones  Convencionales de sulfato ferroso.</a:t>
            </a:r>
            <a:endParaRPr lang="pt-PT" dirty="0">
              <a:solidFill>
                <a:srgbClr val="F79015"/>
              </a:solidFill>
              <a:latin typeface="Arial"/>
              <a:cs typeface="Arial"/>
            </a:endParaRPr>
          </a:p>
          <a:p>
            <a:pPr lvl="0"/>
            <a:endParaRPr lang="pt-PT" dirty="0">
              <a:solidFill>
                <a:srgbClr val="F79015"/>
              </a:solidFill>
              <a:latin typeface="Arial"/>
              <a:cs typeface="Arial"/>
            </a:endParaRPr>
          </a:p>
          <a:p>
            <a:pPr lvl="0"/>
            <a:r>
              <a:rPr lang="pt-PT" b="1" dirty="0">
                <a:solidFill>
                  <a:srgbClr val="F79015"/>
                </a:solidFill>
                <a:latin typeface="Arial"/>
                <a:cs typeface="Arial"/>
              </a:rPr>
              <a:t>La fórmula galénica de </a:t>
            </a:r>
            <a:r>
              <a:rPr lang="pt-PT" b="1" dirty="0" err="1">
                <a:solidFill>
                  <a:srgbClr val="F79015"/>
                </a:solidFill>
                <a:latin typeface="Arial"/>
                <a:cs typeface="Arial"/>
              </a:rPr>
              <a:t>Ferfoli</a:t>
            </a:r>
            <a:r>
              <a:rPr lang="pt-PT" b="1" dirty="0">
                <a:solidFill>
                  <a:srgbClr val="F79015"/>
                </a:solidFill>
                <a:latin typeface="Arial"/>
                <a:cs typeface="Arial"/>
              </a:rPr>
              <a:t> </a:t>
            </a:r>
            <a:r>
              <a:rPr lang="pt-PT" dirty="0" err="1">
                <a:solidFill>
                  <a:srgbClr val="F79015"/>
                </a:solidFill>
                <a:latin typeface="Arial"/>
                <a:cs typeface="Arial"/>
              </a:rPr>
              <a:t>es</a:t>
            </a:r>
            <a:r>
              <a:rPr lang="pt-PT" dirty="0">
                <a:solidFill>
                  <a:srgbClr val="F79015"/>
                </a:solidFill>
                <a:latin typeface="Arial"/>
                <a:cs typeface="Arial"/>
              </a:rPr>
              <a:t> una </a:t>
            </a:r>
            <a:r>
              <a:rPr lang="pt-PT" dirty="0" err="1">
                <a:solidFill>
                  <a:srgbClr val="F79015"/>
                </a:solidFill>
                <a:latin typeface="Arial"/>
                <a:cs typeface="Arial"/>
              </a:rPr>
              <a:t>formulación</a:t>
            </a:r>
            <a:r>
              <a:rPr lang="pt-PT" dirty="0">
                <a:solidFill>
                  <a:srgbClr val="F79015"/>
                </a:solidFill>
                <a:latin typeface="Arial"/>
                <a:cs typeface="Arial"/>
              </a:rPr>
              <a:t> de </a:t>
            </a:r>
            <a:r>
              <a:rPr lang="pt-PT" dirty="0" err="1">
                <a:solidFill>
                  <a:srgbClr val="F79015"/>
                </a:solidFill>
                <a:latin typeface="Arial"/>
                <a:cs typeface="Arial"/>
              </a:rPr>
              <a:t>liberación</a:t>
            </a:r>
            <a:r>
              <a:rPr lang="pt-PT" dirty="0">
                <a:solidFill>
                  <a:srgbClr val="F79015"/>
                </a:solidFill>
                <a:latin typeface="Arial"/>
                <a:cs typeface="Arial"/>
              </a:rPr>
              <a:t> controlada, que libera Ácido Fólico </a:t>
            </a:r>
            <a:r>
              <a:rPr lang="pt-PT" dirty="0" err="1">
                <a:solidFill>
                  <a:srgbClr val="F79015"/>
                </a:solidFill>
                <a:latin typeface="Arial"/>
                <a:cs typeface="Arial"/>
              </a:rPr>
              <a:t>en</a:t>
            </a:r>
            <a:r>
              <a:rPr lang="pt-PT" dirty="0">
                <a:solidFill>
                  <a:srgbClr val="F79015"/>
                </a:solidFill>
                <a:latin typeface="Arial"/>
                <a:cs typeface="Arial"/>
              </a:rPr>
              <a:t> 30 minutos y 60 mg de </a:t>
            </a:r>
            <a:r>
              <a:rPr lang="pt-PT" dirty="0" err="1">
                <a:solidFill>
                  <a:srgbClr val="F79015"/>
                </a:solidFill>
                <a:latin typeface="Arial"/>
                <a:cs typeface="Arial"/>
              </a:rPr>
              <a:t>Hierro</a:t>
            </a:r>
            <a:r>
              <a:rPr lang="pt-PT" dirty="0">
                <a:solidFill>
                  <a:srgbClr val="F79015"/>
                </a:solidFill>
                <a:latin typeface="Arial"/>
                <a:cs typeface="Arial"/>
              </a:rPr>
              <a:t> </a:t>
            </a:r>
            <a:r>
              <a:rPr lang="pt-PT" dirty="0" err="1">
                <a:solidFill>
                  <a:srgbClr val="F79015"/>
                </a:solidFill>
                <a:latin typeface="Arial"/>
                <a:cs typeface="Arial"/>
              </a:rPr>
              <a:t>en</a:t>
            </a:r>
            <a:r>
              <a:rPr lang="pt-PT" dirty="0">
                <a:solidFill>
                  <a:srgbClr val="F79015"/>
                </a:solidFill>
                <a:latin typeface="Arial"/>
                <a:cs typeface="Arial"/>
              </a:rPr>
              <a:t> las </a:t>
            </a:r>
            <a:r>
              <a:rPr lang="pt-PT" dirty="0" err="1">
                <a:solidFill>
                  <a:srgbClr val="F79015"/>
                </a:solidFill>
                <a:latin typeface="Arial"/>
                <a:cs typeface="Arial"/>
              </a:rPr>
              <a:t>primeras</a:t>
            </a:r>
            <a:r>
              <a:rPr lang="pt-PT" dirty="0">
                <a:solidFill>
                  <a:srgbClr val="F79015"/>
                </a:solidFill>
                <a:latin typeface="Arial"/>
                <a:cs typeface="Arial"/>
              </a:rPr>
              <a:t> 4 horas.</a:t>
            </a:r>
          </a:p>
        </p:txBody>
      </p:sp>
      <p:pic>
        <p:nvPicPr>
          <p:cNvPr id="2" name="Picture 1">
            <a:extLst>
              <a:ext uri="{FF2B5EF4-FFF2-40B4-BE49-F238E27FC236}">
                <a16:creationId xmlns:a16="http://schemas.microsoft.com/office/drawing/2014/main" id="{E4A9D7B7-63F0-41DA-927A-E1D6768B3ADF}"/>
              </a:ext>
            </a:extLst>
          </p:cNvPr>
          <p:cNvPicPr>
            <a:picLocks noChangeAspect="1"/>
          </p:cNvPicPr>
          <p:nvPr/>
        </p:nvPicPr>
        <p:blipFill>
          <a:blip r:embed="rId4"/>
          <a:stretch>
            <a:fillRect/>
          </a:stretch>
        </p:blipFill>
        <p:spPr>
          <a:xfrm>
            <a:off x="1039729" y="1878595"/>
            <a:ext cx="7064542" cy="1982453"/>
          </a:xfrm>
          <a:prstGeom prst="rect">
            <a:avLst/>
          </a:prstGeom>
        </p:spPr>
      </p:pic>
      <p:sp useBgFill="1">
        <p:nvSpPr>
          <p:cNvPr id="7" name="Rectangle 3">
            <a:extLst>
              <a:ext uri="{FF2B5EF4-FFF2-40B4-BE49-F238E27FC236}">
                <a16:creationId xmlns:a16="http://schemas.microsoft.com/office/drawing/2014/main" id="{B3133A61-3889-4668-813F-1470E2E1EB1D}"/>
              </a:ext>
            </a:extLst>
          </p:cNvPr>
          <p:cNvSpPr txBox="1">
            <a:spLocks noChangeArrowheads="1"/>
          </p:cNvSpPr>
          <p:nvPr/>
        </p:nvSpPr>
        <p:spPr>
          <a:xfrm>
            <a:off x="492765" y="1284337"/>
            <a:ext cx="8111683" cy="338434"/>
          </a:xfrm>
          <a:prstGeom prst="rect">
            <a:avLst/>
          </a:prstGeom>
        </p:spPr>
        <p:txBody>
          <a:bodyPr/>
          <a:lstStyle/>
          <a:p>
            <a:pPr lvl="0"/>
            <a:r>
              <a:rPr lang="es-ES" b="1" dirty="0">
                <a:solidFill>
                  <a:srgbClr val="E94320"/>
                </a:solidFill>
                <a:latin typeface="Arial"/>
                <a:cs typeface="Arial"/>
              </a:rPr>
              <a:t>Fórmula galénica de liberación prolongada: MEJOR TOLERABILIDAD</a:t>
            </a:r>
            <a:endParaRPr lang="en-US" b="1" dirty="0">
              <a:solidFill>
                <a:srgbClr val="E94320"/>
              </a:solidFill>
              <a:latin typeface="Arial"/>
              <a:cs typeface="Arial"/>
            </a:endParaRPr>
          </a:p>
        </p:txBody>
      </p:sp>
    </p:spTree>
    <p:extLst>
      <p:ext uri="{BB962C8B-B14F-4D97-AF65-F5344CB8AC3E}">
        <p14:creationId xmlns:p14="http://schemas.microsoft.com/office/powerpoint/2010/main" val="157203851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F52A5774-B23E-46B4-8875-496AEDE2471A}"/>
              </a:ext>
            </a:extLst>
          </p:cNvPr>
          <p:cNvPicPr>
            <a:picLocks noChangeAspect="1"/>
          </p:cNvPicPr>
          <p:nvPr/>
        </p:nvPicPr>
        <p:blipFill>
          <a:blip r:embed="rId3"/>
          <a:stretch>
            <a:fillRect/>
          </a:stretch>
        </p:blipFill>
        <p:spPr>
          <a:xfrm rot="5400000">
            <a:off x="-670270" y="2947371"/>
            <a:ext cx="4580899" cy="3240359"/>
          </a:xfrm>
          <a:prstGeom prst="rect">
            <a:avLst/>
          </a:prstGeom>
        </p:spPr>
      </p:pic>
      <p:sp useBgFill="1">
        <p:nvSpPr>
          <p:cNvPr id="16" name="Rectangle 3">
            <a:extLst>
              <a:ext uri="{FF2B5EF4-FFF2-40B4-BE49-F238E27FC236}">
                <a16:creationId xmlns:a16="http://schemas.microsoft.com/office/drawing/2014/main" id="{2A95766E-D35E-4077-A306-66E687FB6681}"/>
              </a:ext>
            </a:extLst>
          </p:cNvPr>
          <p:cNvSpPr txBox="1">
            <a:spLocks noChangeArrowheads="1"/>
          </p:cNvSpPr>
          <p:nvPr/>
        </p:nvSpPr>
        <p:spPr>
          <a:xfrm>
            <a:off x="467544" y="1556792"/>
            <a:ext cx="6851104" cy="504056"/>
          </a:xfrm>
          <a:prstGeom prst="rect">
            <a:avLst/>
          </a:prstGeom>
        </p:spPr>
        <p:txBody>
          <a:bodyPr/>
          <a:lstStyle/>
          <a:p>
            <a:pPr lvl="0"/>
            <a:r>
              <a:rPr lang="es-ES" b="1" dirty="0">
                <a:solidFill>
                  <a:srgbClr val="E94320"/>
                </a:solidFill>
                <a:latin typeface="Arial"/>
                <a:cs typeface="Arial"/>
              </a:rPr>
              <a:t>FÓRMULA GALÉNICA </a:t>
            </a:r>
            <a:r>
              <a:rPr lang="pt-PT" b="1" dirty="0">
                <a:solidFill>
                  <a:srgbClr val="E94320"/>
                </a:solidFill>
                <a:latin typeface="Arial"/>
                <a:cs typeface="Arial"/>
              </a:rPr>
              <a:t>– </a:t>
            </a:r>
            <a:r>
              <a:rPr lang="es-ES" b="1" dirty="0">
                <a:solidFill>
                  <a:srgbClr val="E94320"/>
                </a:solidFill>
                <a:latin typeface="Arial"/>
                <a:cs typeface="Arial"/>
              </a:rPr>
              <a:t>MEJOR TOLERABILIDAD</a:t>
            </a:r>
            <a:endParaRPr lang="pt-PT" b="1" u="sng" dirty="0">
              <a:solidFill>
                <a:srgbClr val="E94320"/>
              </a:solidFill>
            </a:endParaRPr>
          </a:p>
        </p:txBody>
      </p:sp>
      <p:sp>
        <p:nvSpPr>
          <p:cNvPr id="8" name="Title 2">
            <a:extLst>
              <a:ext uri="{FF2B5EF4-FFF2-40B4-BE49-F238E27FC236}">
                <a16:creationId xmlns:a16="http://schemas.microsoft.com/office/drawing/2014/main" id="{A08F7D7C-E643-457F-81C3-74FA1D3781A7}"/>
              </a:ext>
            </a:extLst>
          </p:cNvPr>
          <p:cNvSpPr txBox="1">
            <a:spLocks/>
          </p:cNvSpPr>
          <p:nvPr/>
        </p:nvSpPr>
        <p:spPr>
          <a:xfrm>
            <a:off x="457200" y="188640"/>
            <a:ext cx="6131024" cy="64807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pPr>
              <a:lnSpc>
                <a:spcPct val="90000"/>
              </a:lnSpc>
            </a:pPr>
            <a:r>
              <a:rPr lang="en-US" dirty="0"/>
              <a:t>FÓRMULA GALÉNICA ÚNICA</a:t>
            </a:r>
            <a:endParaRPr lang="en-US" sz="2400" dirty="0"/>
          </a:p>
        </p:txBody>
      </p:sp>
      <p:pic>
        <p:nvPicPr>
          <p:cNvPr id="4" name="Picture 3">
            <a:extLst>
              <a:ext uri="{FF2B5EF4-FFF2-40B4-BE49-F238E27FC236}">
                <a16:creationId xmlns:a16="http://schemas.microsoft.com/office/drawing/2014/main" id="{3DCE8337-F69F-44DD-BA26-FE6F49166D0D}"/>
              </a:ext>
            </a:extLst>
          </p:cNvPr>
          <p:cNvPicPr>
            <a:picLocks noChangeAspect="1"/>
          </p:cNvPicPr>
          <p:nvPr/>
        </p:nvPicPr>
        <p:blipFill>
          <a:blip r:embed="rId4"/>
          <a:stretch>
            <a:fillRect/>
          </a:stretch>
        </p:blipFill>
        <p:spPr>
          <a:xfrm>
            <a:off x="380506" y="2111455"/>
            <a:ext cx="8382988" cy="2779564"/>
          </a:xfrm>
          <a:prstGeom prst="rect">
            <a:avLst/>
          </a:prstGeom>
        </p:spPr>
      </p:pic>
    </p:spTree>
    <p:extLst>
      <p:ext uri="{BB962C8B-B14F-4D97-AF65-F5344CB8AC3E}">
        <p14:creationId xmlns:p14="http://schemas.microsoft.com/office/powerpoint/2010/main" val="233169058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4"/>
          <p:cNvSpPr txBox="1">
            <a:spLocks noChangeArrowheads="1"/>
          </p:cNvSpPr>
          <p:nvPr/>
        </p:nvSpPr>
        <p:spPr bwMode="auto">
          <a:xfrm>
            <a:off x="555062" y="2348880"/>
            <a:ext cx="5185834" cy="2677656"/>
          </a:xfrm>
          <a:prstGeom prst="rect">
            <a:avLst/>
          </a:prstGeom>
          <a:noFill/>
          <a:ln w="9525">
            <a:noFill/>
            <a:miter lim="800000"/>
            <a:headEnd/>
            <a:tailEnd/>
          </a:ln>
        </p:spPr>
        <p:txBody>
          <a:bodyPr>
            <a:spAutoFit/>
          </a:bodyPr>
          <a:lstStyle/>
          <a:p>
            <a:r>
              <a:rPr lang="es-ES" sz="2400" b="1" dirty="0">
                <a:solidFill>
                  <a:srgbClr val="E94320"/>
                </a:solidFill>
                <a:latin typeface="Arial"/>
                <a:cs typeface="Arial"/>
              </a:rPr>
              <a:t>LAS DIRECTRICES DE LA OMS DEFIENDEN:</a:t>
            </a:r>
          </a:p>
          <a:p>
            <a:endParaRPr lang="en-US" sz="2000" b="1" u="sng" dirty="0"/>
          </a:p>
          <a:p>
            <a:r>
              <a:rPr lang="es-ES" sz="2000" b="1" u="sng" dirty="0">
                <a:solidFill>
                  <a:srgbClr val="F7941D"/>
                </a:solidFill>
                <a:latin typeface="Arial"/>
                <a:cs typeface="Arial"/>
              </a:rPr>
              <a:t>La combinación (</a:t>
            </a:r>
            <a:r>
              <a:rPr lang="es-ES" sz="2000" b="1" u="sng" dirty="0" err="1">
                <a:solidFill>
                  <a:srgbClr val="F7941D"/>
                </a:solidFill>
                <a:latin typeface="Arial"/>
                <a:cs typeface="Arial"/>
              </a:rPr>
              <a:t>hierro+ácido</a:t>
            </a:r>
            <a:r>
              <a:rPr lang="es-ES" sz="2000" b="1" u="sng" dirty="0">
                <a:solidFill>
                  <a:srgbClr val="F7941D"/>
                </a:solidFill>
                <a:latin typeface="Arial"/>
                <a:cs typeface="Arial"/>
              </a:rPr>
              <a:t> fólico) es importante</a:t>
            </a:r>
            <a:r>
              <a:rPr lang="es-ES" sz="2000" dirty="0">
                <a:solidFill>
                  <a:srgbClr val="F7941D"/>
                </a:solidFill>
                <a:latin typeface="Arial"/>
                <a:cs typeface="Arial"/>
              </a:rPr>
              <a:t> debido al mayor requerimiento de ácido fólico de las mujeres embarazadas y al hecho de que </a:t>
            </a:r>
            <a:r>
              <a:rPr lang="es-ES" sz="2000" b="1" dirty="0">
                <a:solidFill>
                  <a:srgbClr val="F7941D"/>
                </a:solidFill>
                <a:latin typeface="Arial"/>
                <a:cs typeface="Arial"/>
              </a:rPr>
              <a:t>ambas deficiencias son comunes en el embarazo.</a:t>
            </a:r>
            <a:r>
              <a:rPr lang="pt-PT" sz="2000" b="1" baseline="30000" dirty="0">
                <a:solidFill>
                  <a:srgbClr val="F7941D"/>
                </a:solidFill>
                <a:latin typeface="Arial"/>
                <a:cs typeface="Arial"/>
              </a:rPr>
              <a:t>1</a:t>
            </a:r>
            <a:endParaRPr lang="en-US" sz="2000" b="1" baseline="30000" dirty="0">
              <a:solidFill>
                <a:srgbClr val="F7941D"/>
              </a:solidFill>
              <a:latin typeface="Arial"/>
              <a:cs typeface="Arial"/>
            </a:endParaRPr>
          </a:p>
        </p:txBody>
      </p:sp>
      <p:pic>
        <p:nvPicPr>
          <p:cNvPr id="10" name="Picture 1"/>
          <p:cNvPicPr>
            <a:picLocks noChangeAspect="1" noChangeArrowheads="1"/>
          </p:cNvPicPr>
          <p:nvPr/>
        </p:nvPicPr>
        <p:blipFill>
          <a:blip r:embed="rId3" cstate="print"/>
          <a:srcRect/>
          <a:stretch>
            <a:fillRect/>
          </a:stretch>
        </p:blipFill>
        <p:spPr bwMode="auto">
          <a:xfrm>
            <a:off x="5757732" y="2348880"/>
            <a:ext cx="3030952" cy="2231504"/>
          </a:xfrm>
          <a:prstGeom prst="rect">
            <a:avLst/>
          </a:prstGeom>
          <a:noFill/>
          <a:ln w="12700">
            <a:noFill/>
            <a:miter lim="800000"/>
            <a:headEnd/>
            <a:tailEnd/>
          </a:ln>
        </p:spPr>
      </p:pic>
      <p:pic>
        <p:nvPicPr>
          <p:cNvPr id="11" name="Picture 2"/>
          <p:cNvPicPr>
            <a:picLocks noChangeAspect="1" noChangeArrowheads="1"/>
          </p:cNvPicPr>
          <p:nvPr/>
        </p:nvPicPr>
        <p:blipFill>
          <a:blip r:embed="rId4" cstate="print"/>
          <a:srcRect/>
          <a:stretch>
            <a:fillRect/>
          </a:stretch>
        </p:blipFill>
        <p:spPr bwMode="auto">
          <a:xfrm>
            <a:off x="5652120" y="4652344"/>
            <a:ext cx="3242733" cy="238125"/>
          </a:xfrm>
          <a:prstGeom prst="rect">
            <a:avLst/>
          </a:prstGeom>
          <a:noFill/>
          <a:ln w="12700">
            <a:noFill/>
            <a:miter lim="800000"/>
            <a:headEnd/>
            <a:tailEnd/>
          </a:ln>
        </p:spPr>
      </p:pic>
      <p:sp>
        <p:nvSpPr>
          <p:cNvPr id="6" name="Title 2"/>
          <p:cNvSpPr txBox="1">
            <a:spLocks/>
          </p:cNvSpPr>
          <p:nvPr/>
        </p:nvSpPr>
        <p:spPr>
          <a:xfrm>
            <a:off x="457200" y="188640"/>
            <a:ext cx="6131024" cy="100811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pPr>
              <a:lnSpc>
                <a:spcPct val="90000"/>
              </a:lnSpc>
            </a:pPr>
            <a:r>
              <a:rPr lang="es-ES" dirty="0"/>
              <a:t>ASOCIADO CON ÁCIDO FÓLICO</a:t>
            </a:r>
          </a:p>
          <a:p>
            <a:pPr>
              <a:lnSpc>
                <a:spcPct val="90000"/>
              </a:lnSpc>
            </a:pPr>
            <a:r>
              <a:rPr lang="es-ES" dirty="0"/>
              <a:t>¿O SOLO?</a:t>
            </a:r>
            <a:endParaRPr lang="en-US" sz="2400" dirty="0"/>
          </a:p>
        </p:txBody>
      </p:sp>
      <p:pic>
        <p:nvPicPr>
          <p:cNvPr id="7" name="Picture 6">
            <a:extLst>
              <a:ext uri="{FF2B5EF4-FFF2-40B4-BE49-F238E27FC236}">
                <a16:creationId xmlns:a16="http://schemas.microsoft.com/office/drawing/2014/main" id="{1B4C0DA3-41BA-4912-9351-6DB7B780AEF8}"/>
              </a:ext>
            </a:extLst>
          </p:cNvPr>
          <p:cNvPicPr>
            <a:picLocks noChangeAspect="1"/>
          </p:cNvPicPr>
          <p:nvPr/>
        </p:nvPicPr>
        <p:blipFill>
          <a:blip r:embed="rId5"/>
          <a:stretch>
            <a:fillRect/>
          </a:stretch>
        </p:blipFill>
        <p:spPr>
          <a:xfrm rot="5400000">
            <a:off x="-670270" y="2947371"/>
            <a:ext cx="4580899" cy="3240359"/>
          </a:xfrm>
          <a:prstGeom prst="rect">
            <a:avLst/>
          </a:prstGeom>
        </p:spPr>
      </p:pic>
    </p:spTree>
    <p:extLst>
      <p:ext uri="{BB962C8B-B14F-4D97-AF65-F5344CB8AC3E}">
        <p14:creationId xmlns:p14="http://schemas.microsoft.com/office/powerpoint/2010/main" val="211611703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58CD70-871C-49FA-8A1D-618020876430}"/>
              </a:ext>
            </a:extLst>
          </p:cNvPr>
          <p:cNvPicPr>
            <a:picLocks noChangeAspect="1"/>
          </p:cNvPicPr>
          <p:nvPr/>
        </p:nvPicPr>
        <p:blipFill>
          <a:blip r:embed="rId3"/>
          <a:stretch>
            <a:fillRect/>
          </a:stretch>
        </p:blipFill>
        <p:spPr>
          <a:xfrm rot="5400000">
            <a:off x="-670270" y="2947371"/>
            <a:ext cx="4580899" cy="3240359"/>
          </a:xfrm>
          <a:prstGeom prst="rect">
            <a:avLst/>
          </a:prstGeom>
        </p:spPr>
      </p:pic>
      <p:sp>
        <p:nvSpPr>
          <p:cNvPr id="6" name="Title 2">
            <a:extLst>
              <a:ext uri="{FF2B5EF4-FFF2-40B4-BE49-F238E27FC236}">
                <a16:creationId xmlns:a16="http://schemas.microsoft.com/office/drawing/2014/main" id="{726BC7CD-1CD6-4EC4-B25A-3F800974C91A}"/>
              </a:ext>
            </a:extLst>
          </p:cNvPr>
          <p:cNvSpPr txBox="1">
            <a:spLocks/>
          </p:cNvSpPr>
          <p:nvPr/>
        </p:nvSpPr>
        <p:spPr>
          <a:xfrm>
            <a:off x="457200" y="188640"/>
            <a:ext cx="7139136" cy="64807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pPr>
              <a:lnSpc>
                <a:spcPct val="90000"/>
              </a:lnSpc>
            </a:pPr>
            <a:r>
              <a:rPr lang="en-US" dirty="0"/>
              <a:t>VENTAJAS DE FERFOLI®</a:t>
            </a:r>
            <a:endParaRPr lang="en-US" sz="2400" dirty="0"/>
          </a:p>
        </p:txBody>
      </p:sp>
      <p:sp useBgFill="1">
        <p:nvSpPr>
          <p:cNvPr id="7" name="Rectangle 3">
            <a:extLst>
              <a:ext uri="{FF2B5EF4-FFF2-40B4-BE49-F238E27FC236}">
                <a16:creationId xmlns:a16="http://schemas.microsoft.com/office/drawing/2014/main" id="{8787B710-0013-47DC-9085-25F95D951396}"/>
              </a:ext>
            </a:extLst>
          </p:cNvPr>
          <p:cNvSpPr txBox="1">
            <a:spLocks noChangeArrowheads="1"/>
          </p:cNvSpPr>
          <p:nvPr/>
        </p:nvSpPr>
        <p:spPr>
          <a:xfrm>
            <a:off x="467544" y="1412776"/>
            <a:ext cx="8352928" cy="4392488"/>
          </a:xfrm>
          <a:prstGeom prst="rect">
            <a:avLst/>
          </a:prstGeom>
        </p:spPr>
        <p:txBody>
          <a:bodyPr/>
          <a:lstStyle/>
          <a:p>
            <a:pPr marL="342900" indent="-342900">
              <a:lnSpc>
                <a:spcPct val="80000"/>
              </a:lnSpc>
              <a:spcBef>
                <a:spcPct val="20000"/>
              </a:spcBef>
              <a:buClr>
                <a:srgbClr val="E94320"/>
              </a:buClr>
              <a:buFont typeface="Arial"/>
              <a:buChar char="•"/>
              <a:defRPr/>
            </a:pPr>
            <a:r>
              <a:rPr lang="es-ES" sz="2200" dirty="0">
                <a:solidFill>
                  <a:srgbClr val="F7941D"/>
                </a:solidFill>
                <a:latin typeface="Arial"/>
                <a:cs typeface="Arial"/>
              </a:rPr>
              <a:t>Cumple las recomendaciones de la OMS en </a:t>
            </a:r>
            <a:r>
              <a:rPr lang="es-ES" sz="2200" b="1" dirty="0">
                <a:solidFill>
                  <a:srgbClr val="E94320"/>
                </a:solidFill>
                <a:latin typeface="Arial"/>
                <a:cs typeface="Arial"/>
              </a:rPr>
              <a:t>cantidad</a:t>
            </a:r>
            <a:r>
              <a:rPr lang="es-ES" sz="2200" dirty="0">
                <a:solidFill>
                  <a:srgbClr val="F7941D"/>
                </a:solidFill>
                <a:latin typeface="Arial"/>
                <a:cs typeface="Arial"/>
              </a:rPr>
              <a:t> y </a:t>
            </a:r>
            <a:r>
              <a:rPr lang="es-ES" sz="2200" b="1" dirty="0">
                <a:solidFill>
                  <a:srgbClr val="E94320"/>
                </a:solidFill>
                <a:latin typeface="Arial"/>
                <a:cs typeface="Arial"/>
              </a:rPr>
              <a:t>tipo de hierro </a:t>
            </a:r>
            <a:r>
              <a:rPr lang="es-ES" sz="2200" dirty="0">
                <a:solidFill>
                  <a:srgbClr val="F7941D"/>
                </a:solidFill>
                <a:latin typeface="Arial"/>
                <a:cs typeface="Arial"/>
              </a:rPr>
              <a:t>por ser </a:t>
            </a:r>
            <a:r>
              <a:rPr lang="es-ES" sz="2200" b="1" dirty="0">
                <a:solidFill>
                  <a:srgbClr val="E94320"/>
                </a:solidFill>
                <a:latin typeface="Arial"/>
                <a:cs typeface="Arial"/>
              </a:rPr>
              <a:t>combinado con ácido fólico.</a:t>
            </a:r>
          </a:p>
          <a:p>
            <a:pPr marL="342900" indent="-342900">
              <a:lnSpc>
                <a:spcPct val="80000"/>
              </a:lnSpc>
              <a:spcBef>
                <a:spcPct val="20000"/>
              </a:spcBef>
              <a:buClr>
                <a:srgbClr val="E94320"/>
              </a:buClr>
              <a:buFont typeface="Arial"/>
              <a:buChar char="•"/>
              <a:defRPr/>
            </a:pPr>
            <a:endParaRPr lang="es-ES" sz="2200" dirty="0">
              <a:solidFill>
                <a:srgbClr val="F7941D"/>
              </a:solidFill>
              <a:latin typeface="Arial"/>
              <a:cs typeface="Arial"/>
            </a:endParaRPr>
          </a:p>
          <a:p>
            <a:pPr marL="342900" indent="-342900">
              <a:lnSpc>
                <a:spcPct val="80000"/>
              </a:lnSpc>
              <a:spcBef>
                <a:spcPct val="20000"/>
              </a:spcBef>
              <a:buClr>
                <a:srgbClr val="E94320"/>
              </a:buClr>
              <a:buFont typeface="Arial"/>
              <a:buChar char="•"/>
              <a:defRPr/>
            </a:pPr>
            <a:r>
              <a:rPr lang="es-ES" sz="2200" b="1" dirty="0">
                <a:solidFill>
                  <a:srgbClr val="E94320"/>
                </a:solidFill>
                <a:latin typeface="Arial"/>
                <a:cs typeface="Arial"/>
              </a:rPr>
              <a:t>Libera 59,4 mg de hierro elemental </a:t>
            </a:r>
            <a:r>
              <a:rPr lang="es-ES" sz="2200" kern="0" dirty="0">
                <a:solidFill>
                  <a:srgbClr val="F7941D"/>
                </a:solidFill>
                <a:latin typeface="Arial"/>
                <a:cs typeface="Arial"/>
              </a:rPr>
              <a:t>en las primeras 4 horas.</a:t>
            </a:r>
          </a:p>
          <a:p>
            <a:pPr marL="342900" indent="-342900">
              <a:lnSpc>
                <a:spcPct val="80000"/>
              </a:lnSpc>
              <a:spcBef>
                <a:spcPct val="20000"/>
              </a:spcBef>
              <a:buClr>
                <a:srgbClr val="E94320"/>
              </a:buClr>
              <a:buFont typeface="Arial"/>
              <a:buChar char="•"/>
              <a:defRPr/>
            </a:pPr>
            <a:endParaRPr lang="es-ES" sz="2200" kern="0" dirty="0">
              <a:solidFill>
                <a:srgbClr val="F7941D"/>
              </a:solidFill>
              <a:latin typeface="Arial"/>
              <a:cs typeface="Arial"/>
            </a:endParaRPr>
          </a:p>
          <a:p>
            <a:pPr marL="342900" indent="-342900">
              <a:lnSpc>
                <a:spcPct val="80000"/>
              </a:lnSpc>
              <a:spcBef>
                <a:spcPct val="20000"/>
              </a:spcBef>
              <a:buClr>
                <a:srgbClr val="E94320"/>
              </a:buClr>
              <a:buFont typeface="Arial"/>
              <a:buChar char="•"/>
              <a:defRPr/>
            </a:pPr>
            <a:r>
              <a:rPr lang="es-ES" sz="2200" b="1" dirty="0">
                <a:solidFill>
                  <a:srgbClr val="E94320"/>
                </a:solidFill>
                <a:latin typeface="Arial"/>
                <a:cs typeface="Arial"/>
              </a:rPr>
              <a:t>Buena tolerabilidad </a:t>
            </a:r>
            <a:r>
              <a:rPr lang="es-ES" sz="2200" kern="0" dirty="0">
                <a:solidFill>
                  <a:srgbClr val="F7941D"/>
                </a:solidFill>
                <a:latin typeface="Arial"/>
                <a:cs typeface="Arial"/>
              </a:rPr>
              <a:t>debido a su forma galénica única, que consiste en un núcleo de sulfato ferroso y una capa externa de ácido fólico.</a:t>
            </a:r>
          </a:p>
          <a:p>
            <a:pPr marL="342900" indent="-342900">
              <a:lnSpc>
                <a:spcPct val="80000"/>
              </a:lnSpc>
              <a:spcBef>
                <a:spcPct val="20000"/>
              </a:spcBef>
              <a:buClr>
                <a:srgbClr val="E94320"/>
              </a:buClr>
              <a:buFont typeface="Arial"/>
              <a:buChar char="•"/>
              <a:defRPr/>
            </a:pPr>
            <a:endParaRPr lang="es-ES" sz="2200" kern="0" dirty="0">
              <a:solidFill>
                <a:srgbClr val="F7941D"/>
              </a:solidFill>
              <a:latin typeface="Arial"/>
              <a:cs typeface="Arial"/>
            </a:endParaRPr>
          </a:p>
          <a:p>
            <a:pPr marL="342900" indent="-342900">
              <a:lnSpc>
                <a:spcPct val="80000"/>
              </a:lnSpc>
              <a:spcBef>
                <a:spcPct val="20000"/>
              </a:spcBef>
              <a:buClr>
                <a:srgbClr val="E94320"/>
              </a:buClr>
              <a:buFont typeface="Arial"/>
              <a:buChar char="•"/>
              <a:defRPr/>
            </a:pPr>
            <a:r>
              <a:rPr lang="es-ES" sz="2200" kern="0" dirty="0">
                <a:solidFill>
                  <a:srgbClr val="F7941D"/>
                </a:solidFill>
                <a:latin typeface="Arial"/>
                <a:cs typeface="Arial"/>
              </a:rPr>
              <a:t>Sulfato ferroso - </a:t>
            </a:r>
            <a:r>
              <a:rPr lang="es-ES" sz="2200" b="1" dirty="0">
                <a:solidFill>
                  <a:srgbClr val="E94320"/>
                </a:solidFill>
                <a:latin typeface="Arial"/>
                <a:cs typeface="Arial"/>
              </a:rPr>
              <a:t>1.ª línea de tratamiento </a:t>
            </a:r>
            <a:r>
              <a:rPr lang="es-ES" sz="2200" kern="0" dirty="0">
                <a:solidFill>
                  <a:srgbClr val="F7941D"/>
                </a:solidFill>
                <a:latin typeface="Arial"/>
                <a:cs typeface="Arial"/>
              </a:rPr>
              <a:t>de la anemia por déficit de hierro debido a su tolerabilidad, eficacia y bajo coste.</a:t>
            </a:r>
          </a:p>
          <a:p>
            <a:pPr marL="342900" indent="-342900">
              <a:lnSpc>
                <a:spcPct val="80000"/>
              </a:lnSpc>
              <a:spcBef>
                <a:spcPct val="20000"/>
              </a:spcBef>
              <a:buClr>
                <a:srgbClr val="E94320"/>
              </a:buClr>
              <a:buFont typeface="Arial"/>
              <a:buChar char="•"/>
              <a:defRPr/>
            </a:pPr>
            <a:endParaRPr lang="es-ES" sz="2200" kern="0" dirty="0">
              <a:solidFill>
                <a:srgbClr val="F7941D"/>
              </a:solidFill>
              <a:latin typeface="Arial"/>
              <a:cs typeface="Arial"/>
            </a:endParaRPr>
          </a:p>
          <a:p>
            <a:pPr marL="342900" indent="-342900">
              <a:lnSpc>
                <a:spcPct val="80000"/>
              </a:lnSpc>
              <a:spcBef>
                <a:spcPct val="20000"/>
              </a:spcBef>
              <a:buClr>
                <a:srgbClr val="E94320"/>
              </a:buClr>
              <a:buFont typeface="Arial"/>
              <a:buChar char="•"/>
              <a:defRPr/>
            </a:pPr>
            <a:r>
              <a:rPr lang="es-ES" sz="2200" b="1" dirty="0">
                <a:solidFill>
                  <a:srgbClr val="E94320"/>
                </a:solidFill>
                <a:latin typeface="Arial"/>
                <a:cs typeface="Arial"/>
              </a:rPr>
              <a:t>Práctico</a:t>
            </a:r>
            <a:r>
              <a:rPr lang="es-ES" sz="2200" kern="0" dirty="0">
                <a:solidFill>
                  <a:srgbClr val="F7941D"/>
                </a:solidFill>
                <a:latin typeface="Arial"/>
                <a:cs typeface="Arial"/>
              </a:rPr>
              <a:t>: 1 toma diaria.</a:t>
            </a:r>
            <a:endParaRPr lang="es-ES" sz="2200" kern="0" dirty="0">
              <a:solidFill>
                <a:srgbClr val="F7941D"/>
              </a:solidFill>
              <a:latin typeface="+mj-lt"/>
            </a:endParaRPr>
          </a:p>
        </p:txBody>
      </p:sp>
    </p:spTree>
    <p:extLst>
      <p:ext uri="{BB962C8B-B14F-4D97-AF65-F5344CB8AC3E}">
        <p14:creationId xmlns:p14="http://schemas.microsoft.com/office/powerpoint/2010/main" val="3456474084"/>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4C0DA3-41BA-4912-9351-6DB7B780AEF8}"/>
              </a:ext>
            </a:extLst>
          </p:cNvPr>
          <p:cNvPicPr>
            <a:picLocks noChangeAspect="1"/>
          </p:cNvPicPr>
          <p:nvPr/>
        </p:nvPicPr>
        <p:blipFill>
          <a:blip r:embed="rId3"/>
          <a:stretch>
            <a:fillRect/>
          </a:stretch>
        </p:blipFill>
        <p:spPr>
          <a:xfrm rot="5400000">
            <a:off x="-670270" y="2947371"/>
            <a:ext cx="4580899" cy="3240359"/>
          </a:xfrm>
          <a:prstGeom prst="rect">
            <a:avLst/>
          </a:prstGeom>
        </p:spPr>
      </p:pic>
      <p:sp>
        <p:nvSpPr>
          <p:cNvPr id="15" name="Title 2">
            <a:extLst>
              <a:ext uri="{FF2B5EF4-FFF2-40B4-BE49-F238E27FC236}">
                <a16:creationId xmlns:a16="http://schemas.microsoft.com/office/drawing/2014/main" id="{FC14E0C4-CE78-4541-879D-B06F35C01AD7}"/>
              </a:ext>
            </a:extLst>
          </p:cNvPr>
          <p:cNvSpPr txBox="1">
            <a:spLocks/>
          </p:cNvSpPr>
          <p:nvPr/>
        </p:nvSpPr>
        <p:spPr>
          <a:xfrm>
            <a:off x="457200" y="188640"/>
            <a:ext cx="7139136" cy="648072"/>
          </a:xfrm>
          <a:prstGeom prst="rect">
            <a:avLst/>
          </a:prstGeom>
        </p:spPr>
        <p:txBody>
          <a:bodyPr/>
          <a:lstStyle>
            <a:lvl1pPr algn="l" rtl="0" eaLnBrk="1" latinLnBrk="0" hangingPunct="1">
              <a:spcBef>
                <a:spcPct val="0"/>
              </a:spcBef>
              <a:buNone/>
              <a:defRPr kumimoji="0" sz="3600" b="0" kern="1200">
                <a:ln>
                  <a:noFill/>
                </a:ln>
                <a:solidFill>
                  <a:srgbClr val="E94320"/>
                </a:solidFill>
                <a:effectLst/>
                <a:latin typeface="+mj-lt"/>
                <a:ea typeface="+mj-ea"/>
                <a:cs typeface="+mj-cs"/>
              </a:defRPr>
            </a:lvl1pPr>
          </a:lstStyle>
          <a:p>
            <a:pPr>
              <a:lnSpc>
                <a:spcPct val="90000"/>
              </a:lnSpc>
            </a:pPr>
            <a:r>
              <a:rPr lang="en-US" dirty="0"/>
              <a:t>POSOLOGÍA Y PRESENTACIÓN</a:t>
            </a:r>
            <a:endParaRPr lang="en-US" sz="2400" dirty="0"/>
          </a:p>
        </p:txBody>
      </p:sp>
      <p:pic>
        <p:nvPicPr>
          <p:cNvPr id="6" name="Picture 5">
            <a:extLst>
              <a:ext uri="{FF2B5EF4-FFF2-40B4-BE49-F238E27FC236}">
                <a16:creationId xmlns:a16="http://schemas.microsoft.com/office/drawing/2014/main" id="{E432C4D0-1FFD-4177-AEDD-9C323FEC803F}"/>
              </a:ext>
            </a:extLst>
          </p:cNvPr>
          <p:cNvPicPr>
            <a:picLocks noChangeAspect="1"/>
          </p:cNvPicPr>
          <p:nvPr/>
        </p:nvPicPr>
        <p:blipFill>
          <a:blip r:embed="rId4"/>
          <a:stretch>
            <a:fillRect/>
          </a:stretch>
        </p:blipFill>
        <p:spPr>
          <a:xfrm>
            <a:off x="0" y="1377635"/>
            <a:ext cx="9144000" cy="4499637"/>
          </a:xfrm>
          <a:prstGeom prst="rect">
            <a:avLst/>
          </a:prstGeom>
        </p:spPr>
      </p:pic>
    </p:spTree>
    <p:extLst>
      <p:ext uri="{BB962C8B-B14F-4D97-AF65-F5344CB8AC3E}">
        <p14:creationId xmlns:p14="http://schemas.microsoft.com/office/powerpoint/2010/main" val="60930711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B4C0DA3-41BA-4912-9351-6DB7B780AEF8}"/>
              </a:ext>
            </a:extLst>
          </p:cNvPr>
          <p:cNvPicPr>
            <a:picLocks noChangeAspect="1"/>
          </p:cNvPicPr>
          <p:nvPr/>
        </p:nvPicPr>
        <p:blipFill>
          <a:blip r:embed="rId3"/>
          <a:stretch>
            <a:fillRect/>
          </a:stretch>
        </p:blipFill>
        <p:spPr>
          <a:xfrm rot="5400000">
            <a:off x="-670270" y="2947371"/>
            <a:ext cx="4580899" cy="3240359"/>
          </a:xfrm>
          <a:prstGeom prst="rect">
            <a:avLst/>
          </a:prstGeom>
        </p:spPr>
      </p:pic>
      <p:pic>
        <p:nvPicPr>
          <p:cNvPr id="4" name="Picture 3">
            <a:extLst>
              <a:ext uri="{FF2B5EF4-FFF2-40B4-BE49-F238E27FC236}">
                <a16:creationId xmlns:a16="http://schemas.microsoft.com/office/drawing/2014/main" id="{A71952EC-9043-40AB-A3BB-0F68D02FF5F0}"/>
              </a:ext>
            </a:extLst>
          </p:cNvPr>
          <p:cNvPicPr>
            <a:picLocks noChangeAspect="1"/>
          </p:cNvPicPr>
          <p:nvPr/>
        </p:nvPicPr>
        <p:blipFill>
          <a:blip r:embed="rId4"/>
          <a:stretch>
            <a:fillRect/>
          </a:stretch>
        </p:blipFill>
        <p:spPr>
          <a:xfrm>
            <a:off x="0" y="1464629"/>
            <a:ext cx="9144000" cy="1604331"/>
          </a:xfrm>
          <a:prstGeom prst="rect">
            <a:avLst/>
          </a:prstGeom>
        </p:spPr>
      </p:pic>
      <p:pic>
        <p:nvPicPr>
          <p:cNvPr id="6" name="Picture 5">
            <a:extLst>
              <a:ext uri="{FF2B5EF4-FFF2-40B4-BE49-F238E27FC236}">
                <a16:creationId xmlns:a16="http://schemas.microsoft.com/office/drawing/2014/main" id="{D536899D-88F8-433F-A20C-5F6AF8AA3E2A}"/>
              </a:ext>
            </a:extLst>
          </p:cNvPr>
          <p:cNvPicPr>
            <a:picLocks noChangeAspect="1"/>
          </p:cNvPicPr>
          <p:nvPr/>
        </p:nvPicPr>
        <p:blipFill>
          <a:blip r:embed="rId5"/>
          <a:stretch>
            <a:fillRect/>
          </a:stretch>
        </p:blipFill>
        <p:spPr>
          <a:xfrm>
            <a:off x="0" y="3212976"/>
            <a:ext cx="9144000" cy="2740507"/>
          </a:xfrm>
          <a:prstGeom prst="rect">
            <a:avLst/>
          </a:prstGeom>
        </p:spPr>
      </p:pic>
    </p:spTree>
    <p:extLst>
      <p:ext uri="{BB962C8B-B14F-4D97-AF65-F5344CB8AC3E}">
        <p14:creationId xmlns:p14="http://schemas.microsoft.com/office/powerpoint/2010/main" val="1221920794"/>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02E80570.jpg"/>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387106" y="1196752"/>
            <a:ext cx="7756894" cy="5661248"/>
          </a:xfrm>
          <a:prstGeom prst="rect">
            <a:avLst/>
          </a:prstGeom>
        </p:spPr>
      </p:pic>
      <p:sp>
        <p:nvSpPr>
          <p:cNvPr id="7" name="Title 2"/>
          <p:cNvSpPr>
            <a:spLocks noGrp="1"/>
          </p:cNvSpPr>
          <p:nvPr>
            <p:ph type="title"/>
          </p:nvPr>
        </p:nvSpPr>
        <p:spPr>
          <a:xfrm>
            <a:off x="1475656" y="788368"/>
            <a:ext cx="3962400" cy="762000"/>
          </a:xfrm>
        </p:spPr>
        <p:txBody>
          <a:bodyPr>
            <a:normAutofit fontScale="90000"/>
          </a:bodyPr>
          <a:lstStyle/>
          <a:p>
            <a:r>
              <a:rPr lang="pt-PT" b="1" dirty="0">
                <a:solidFill>
                  <a:srgbClr val="E94320"/>
                </a:solidFill>
              </a:rPr>
              <a:t>GRACIAS!</a:t>
            </a:r>
          </a:p>
        </p:txBody>
      </p:sp>
      <p:sp>
        <p:nvSpPr>
          <p:cNvPr id="9" name="TextBox 8">
            <a:extLst>
              <a:ext uri="{FF2B5EF4-FFF2-40B4-BE49-F238E27FC236}">
                <a16:creationId xmlns:a16="http://schemas.microsoft.com/office/drawing/2014/main" id="{FC0938B5-92B2-4450-B996-F971F307292C}"/>
              </a:ext>
            </a:extLst>
          </p:cNvPr>
          <p:cNvSpPr txBox="1"/>
          <p:nvPr/>
        </p:nvSpPr>
        <p:spPr>
          <a:xfrm>
            <a:off x="251520" y="2246707"/>
            <a:ext cx="3600400" cy="923330"/>
          </a:xfrm>
          <a:prstGeom prst="rect">
            <a:avLst/>
          </a:prstGeom>
          <a:noFill/>
        </p:spPr>
        <p:txBody>
          <a:bodyPr wrap="square" rtlCol="0">
            <a:spAutoFit/>
          </a:bodyPr>
          <a:lstStyle/>
          <a:p>
            <a:pPr algn="ctr"/>
            <a:r>
              <a:rPr lang="es-ES" dirty="0">
                <a:solidFill>
                  <a:srgbClr val="E94320"/>
                </a:solidFill>
                <a:latin typeface="Calibri"/>
              </a:rPr>
              <a:t>Si tiene alguna pregunta, por favor diríjala a nuestro equipo médico:</a:t>
            </a:r>
            <a:r>
              <a:rPr lang="fr-FR" dirty="0">
                <a:solidFill>
                  <a:srgbClr val="E94320"/>
                </a:solidFill>
                <a:latin typeface="Calibri"/>
              </a:rPr>
              <a:t> denise.marques@bial.com</a:t>
            </a:r>
            <a:endParaRPr lang="pt-PT" dirty="0">
              <a:solidFill>
                <a:srgbClr val="E94320"/>
              </a:solidFill>
              <a:latin typeface="Calibri"/>
            </a:endParaRPr>
          </a:p>
        </p:txBody>
      </p:sp>
      <p:pic>
        <p:nvPicPr>
          <p:cNvPr id="11" name="Picture 10" descr="Text&#10;&#10;Description automatically generated">
            <a:extLst>
              <a:ext uri="{FF2B5EF4-FFF2-40B4-BE49-F238E27FC236}">
                <a16:creationId xmlns:a16="http://schemas.microsoft.com/office/drawing/2014/main" id="{BF689FAA-DAE2-4ACA-B7BF-AACE2999CF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12" y="5616624"/>
            <a:ext cx="2307015" cy="1268760"/>
          </a:xfrm>
          <a:prstGeom prst="rect">
            <a:avLst/>
          </a:prstGeom>
        </p:spPr>
      </p:pic>
    </p:spTree>
    <p:extLst>
      <p:ext uri="{BB962C8B-B14F-4D97-AF65-F5344CB8AC3E}">
        <p14:creationId xmlns:p14="http://schemas.microsoft.com/office/powerpoint/2010/main" val="31031816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7D792E8C4DA247BA13D3097A5B3651" ma:contentTypeVersion="19" ma:contentTypeDescription="Criar um novo documento." ma:contentTypeScope="" ma:versionID="feca8c51351b7dd2ebe379f83568fbca">
  <xsd:schema xmlns:xsd="http://www.w3.org/2001/XMLSchema" xmlns:xs="http://www.w3.org/2001/XMLSchema" xmlns:p="http://schemas.microsoft.com/office/2006/metadata/properties" xmlns:ns2="02969a41-4749-41bd-9c7b-d9741e2c579a" xmlns:ns3="89ea4605-a98c-4f8f-b4f4-c542867de630" targetNamespace="http://schemas.microsoft.com/office/2006/metadata/properties" ma:root="true" ma:fieldsID="df4199eb2ac8845ed51d786ca0c01ee1" ns2:_="" ns3:_="">
    <xsd:import namespace="02969a41-4749-41bd-9c7b-d9741e2c579a"/>
    <xsd:import namespace="89ea4605-a98c-4f8f-b4f4-c542867de63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3:SharedWithUsers" minOccurs="0"/>
                <xsd:element ref="ns3:SharedWithDetail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2969a41-4749-41bd-9c7b-d9741e2c57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Etiquetas de Imagem" ma:readOnly="false" ma:fieldId="{5cf76f15-5ced-4ddc-b409-7134ff3c332f}" ma:taxonomyMulti="true" ma:sspId="f0e915e2-2c61-4469-adf1-0bc69b39a59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9ea4605-a98c-4f8f-b4f4-c542867de630"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b6ae7d10-be01-4fdc-8ba2-d77ac22d0290}" ma:internalName="TaxCatchAll" ma:showField="CatchAllData" ma:web="89ea4605-a98c-4f8f-b4f4-c542867de630">
      <xsd:complexType>
        <xsd:complexContent>
          <xsd:extension base="dms:MultiChoiceLookup">
            <xsd:sequence>
              <xsd:element name="Value" type="dms:Lookup" maxOccurs="unbounded" minOccurs="0" nillable="true"/>
            </xsd:sequence>
          </xsd:extension>
        </xsd:complexContent>
      </xsd:complexType>
    </xsd:element>
    <xsd:element name="SharedWithUsers" ma:index="23" nillable="true" ma:displayName="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Detalhes de 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89ea4605-a98c-4f8f-b4f4-c542867de630" xsi:nil="true"/>
    <lcf76f155ced4ddcb4097134ff3c332f xmlns="02969a41-4749-41bd-9c7b-d9741e2c579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B78F984-EF31-43A7-B681-6BC0DAE28421}"/>
</file>

<file path=customXml/itemProps2.xml><?xml version="1.0" encoding="utf-8"?>
<ds:datastoreItem xmlns:ds="http://schemas.openxmlformats.org/officeDocument/2006/customXml" ds:itemID="{70B559B2-701B-4977-A2C1-0FD99F22EEB1}"/>
</file>

<file path=customXml/itemProps3.xml><?xml version="1.0" encoding="utf-8"?>
<ds:datastoreItem xmlns:ds="http://schemas.openxmlformats.org/officeDocument/2006/customXml" ds:itemID="{C817D813-7D35-4BFB-89F2-7030FD7EC453}"/>
</file>

<file path=docProps/app.xml><?xml version="1.0" encoding="utf-8"?>
<Properties xmlns="http://schemas.openxmlformats.org/officeDocument/2006/extended-properties" xmlns:vt="http://schemas.openxmlformats.org/officeDocument/2006/docPropsVTypes">
  <Template>Flow</Template>
  <TotalTime>0</TotalTime>
  <Words>1082</Words>
  <Application>Microsoft Office PowerPoint</Application>
  <PresentationFormat>On-screen Show (4:3)</PresentationFormat>
  <Paragraphs>113</Paragraphs>
  <Slides>19</Slides>
  <Notes>14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Calibri</vt:lpstr>
      <vt:lpstr>Calibri Light</vt:lpstr>
      <vt:lpstr>Constantia</vt:lpstr>
      <vt:lpstr>Gotham Rounded Bold</vt:lpstr>
      <vt:lpstr>Segoe UI</vt:lpstr>
      <vt:lpstr>Wingdings 2</vt:lpstr>
      <vt:lpstr>Flow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 Soares-da-Silva</dc:creator>
  <cp:lastModifiedBy>Cláudia Meneses</cp:lastModifiedBy>
  <cp:revision>180</cp:revision>
  <dcterms:created xsi:type="dcterms:W3CDTF">2011-05-12T06:47:26Z</dcterms:created>
  <dcterms:modified xsi:type="dcterms:W3CDTF">2022-07-21T07:24:19Z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0x010100DF7D792E8C4DA247BA13D3097A5B3651</vt:lpwstr>
  </property>
  <property fmtid="{D5CDD505-2E9C-101B-9397-08002B2CF9AE}" pid="3" name="MediaServiceImageTags">
    <vt:lpwstr/>
  </property>
</Properties>
</file>