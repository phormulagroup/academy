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59"/>
  </p:notesMasterIdLst>
  <p:sldIdLst>
    <p:sldId id="256" r:id="rId6"/>
    <p:sldId id="473" r:id="rId7"/>
    <p:sldId id="270" r:id="rId8"/>
    <p:sldId id="309" r:id="rId9"/>
    <p:sldId id="310" r:id="rId10"/>
    <p:sldId id="541" r:id="rId11"/>
    <p:sldId id="542" r:id="rId12"/>
    <p:sldId id="301" r:id="rId13"/>
    <p:sldId id="544" r:id="rId14"/>
    <p:sldId id="543" r:id="rId15"/>
    <p:sldId id="302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8" r:id="rId24"/>
    <p:sldId id="565" r:id="rId25"/>
    <p:sldId id="566" r:id="rId26"/>
    <p:sldId id="567" r:id="rId27"/>
    <p:sldId id="568" r:id="rId28"/>
    <p:sldId id="569" r:id="rId29"/>
    <p:sldId id="578" r:id="rId30"/>
    <p:sldId id="564" r:id="rId31"/>
    <p:sldId id="559" r:id="rId32"/>
    <p:sldId id="560" r:id="rId33"/>
    <p:sldId id="561" r:id="rId34"/>
    <p:sldId id="562" r:id="rId35"/>
    <p:sldId id="563" r:id="rId36"/>
    <p:sldId id="306" r:id="rId37"/>
    <p:sldId id="572" r:id="rId38"/>
    <p:sldId id="573" r:id="rId39"/>
    <p:sldId id="308" r:id="rId40"/>
    <p:sldId id="313" r:id="rId41"/>
    <p:sldId id="311" r:id="rId42"/>
    <p:sldId id="552" r:id="rId43"/>
    <p:sldId id="553" r:id="rId44"/>
    <p:sldId id="554" r:id="rId45"/>
    <p:sldId id="555" r:id="rId46"/>
    <p:sldId id="556" r:id="rId47"/>
    <p:sldId id="557" r:id="rId48"/>
    <p:sldId id="474" r:id="rId49"/>
    <p:sldId id="312" r:id="rId50"/>
    <p:sldId id="314" r:id="rId51"/>
    <p:sldId id="315" r:id="rId52"/>
    <p:sldId id="316" r:id="rId53"/>
    <p:sldId id="576" r:id="rId54"/>
    <p:sldId id="577" r:id="rId55"/>
    <p:sldId id="475" r:id="rId56"/>
    <p:sldId id="476" r:id="rId57"/>
    <p:sldId id="298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6D00"/>
    <a:srgbClr val="44546A"/>
    <a:srgbClr val="EE3E34"/>
    <a:srgbClr val="EC6707"/>
    <a:srgbClr val="0055A4"/>
    <a:srgbClr val="051D55"/>
    <a:srgbClr val="FCBC00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87602" autoAdjust="0"/>
  </p:normalViewPr>
  <p:slideViewPr>
    <p:cSldViewPr snapToGrid="0">
      <p:cViewPr varScale="1">
        <p:scale>
          <a:sx n="100" d="100"/>
          <a:sy n="100" d="100"/>
        </p:scale>
        <p:origin x="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732897-1D2E-415B-A9DA-A21239D57DE1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B5037-7CE2-4C28-8A49-B72C232D6B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9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18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8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21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00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Disclaimer</a:t>
            </a:r>
            <a:r>
              <a:rPr lang="pt-PT" dirty="0"/>
              <a:t>: Campanha nova </a:t>
            </a:r>
            <a:r>
              <a:rPr lang="pt-PT" dirty="0" err="1"/>
              <a:t>vs</a:t>
            </a:r>
            <a:r>
              <a:rPr lang="pt-PT" dirty="0"/>
              <a:t> formação “global”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79393B-81A2-48ED-ABC8-73147F8BA9CC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568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996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1873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0266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7172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59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41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33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87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29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3965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3716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4398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448602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31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14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40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71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92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32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3079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33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3820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34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42527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35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96037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36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78891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37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01617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8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0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553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141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259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49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84035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50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222845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51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80525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E283EC-F872-4BBA-B8AF-7DC36FBCF206}" type="slidenum">
              <a:rPr lang="pt-PT" smtClean="0"/>
              <a:t>52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09064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B5037-7CE2-4C28-8A49-B72C232D6B8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3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04F0-7B6C-450F-A50B-EEF359696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8C18D-1A1E-46F8-8EAD-7253C28D0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37375-D9C1-44AC-97A3-7DC90EBB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81E85-35B0-4EED-8F2E-162CFBA1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7C8F8-2794-439D-9D75-3EF7737D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5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2E17-B8D3-41E0-84C4-526703BC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7CCB2-5055-416E-9F81-CF57E7239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9EF8E-6C13-43FE-AFD8-F8F6B440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AB83-2D76-4908-9CE0-AE597C81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AED2B-9CB2-4055-BF28-13CBABA8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8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CF99-C189-490A-AD05-3FE650B15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AE537-8CA7-4963-A894-023BC5C0B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989EC-A55A-43B7-A15F-974FBABC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B2324-025F-4E7D-B8BD-03C3EA1C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5DBF3-FD76-40E9-BCEE-2A312C6C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1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B595-4BA6-4F97-A17E-291EFAC5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FC333-4175-457E-9A37-22B0ED3BE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2479D-FB28-4B82-A7E7-341097B61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FF9C-362A-4544-A5D2-E39A1668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42A0C-7D7B-48D1-919C-18DA9FF3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206AF-1769-469A-8227-ADE80871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89C9D-518D-4329-A67F-56AF49AA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F0BC3-BA86-4D75-8DE7-054E3145F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F3804-BB9F-46BF-9EA7-2C95C5E80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7C780-D7A6-4CE1-9677-7A048AD11B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4A570-0C7D-4143-A75C-AFE9C584B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1682BB-50DB-4C65-9F7A-86AE1FDA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29D825-7033-4D7E-9202-E5C3AF30A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8195E-5E7C-4495-8010-4AC2D808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6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9717-FE03-4565-99CC-7D51E622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C1308-2DBE-4CE2-92CD-5BE01BEE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39E7C-31BA-40E9-B5D5-0D75DB71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73BEC-096D-42F9-88F4-E5A4F460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4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FE85B-B787-4FF6-B620-5B50727C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16FCAE-541A-4D28-A15A-BC1E02C01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1EAD5-3E73-45BE-A886-C8F70689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7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B464-89CD-4257-B877-27A7D65A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DD3A-DB18-4BED-9647-548EE9BA5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6EEED-2FFE-4B91-861E-F0836AFAB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206C0-755F-473E-A988-CEC270CB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5A1CC-8A31-4E22-B783-8C9F23FC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3285B-C4E6-405B-BC43-E09721B1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3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FC3F-016B-4399-9A2F-2C247B73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C713A-448C-427E-AB06-E2EAA25FF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6694E-C891-4BBF-9A7A-83A37597A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BB488-DC32-4393-88B6-F669C67B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5ED53-48C7-46F8-800F-F8F4ACFC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FB111-5542-492E-9CD2-995EA187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2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ED79-E362-4ED1-AAB3-B7988782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61A95-5A67-4E92-8997-DF19F2249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5CE5-E3DD-49CF-A71F-94328E5E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7CC97-5CCD-4A54-8DB6-7A3A0BE0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AF57-47CF-4BF0-AD38-15C022E4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1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4FA3A8-4B9F-43B3-9881-B5A4C9B20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4FA3B-79B4-44C9-ABB2-DE8C466B5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94F45-9908-433C-84AF-93D48601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7E0D7-37EA-4115-A88C-6BF85BAA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82A9F-1A52-4F15-8252-00B8E9C6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6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38E6-69FC-4B56-A74B-01A451942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16F09-AA97-41A0-B170-B0626D34B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46C21-1EDE-4FF1-B716-DBDDDF367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5720-DAC2-4EC5-8BCE-1DAEFABA9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4F191-FF33-4CE2-93FF-8EA05FED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0827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FB42-5168-4FAC-9263-8F0FE949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D5E90-9E20-4F7B-A019-7939BCDC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C963-8D31-47E2-81C9-3F26B2D1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352C-167D-434F-A376-0F1C8C23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D077B-7132-4DA9-A1ED-C8F6262E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01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866F-D11F-4EEE-9E02-319B666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D1BD-D5D1-459D-B264-9675301A1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04FC4-43AC-4814-9E57-28D38CC7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822F0-F27F-4E3A-B1E9-0F2D1451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755A-5401-437B-B9CC-035503C2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3243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A318-818F-42A9-B867-F04B93E6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6271-3EC0-4988-826A-280EAC403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91BEE-0F90-47C0-A8B9-55E0A486C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04786-B531-4A10-811C-DCD8BD83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9263F-1D0D-487D-8E0D-B47B3DCE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2B834-F0F7-4D8F-8953-A9EBA4A8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4352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3848-37BE-4FB2-9507-3EB0BBAA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E17F4-609D-472F-BB5F-41F2AC121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C7203-79F0-49F9-BB7B-37349DCDE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1C587-EF25-41AA-B419-253280E70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80804-7ECC-4B05-95D8-8F5ACD5F8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ACEAE1-72F5-4C31-9B7F-7312D031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91EB7-ED47-4E0A-9516-712B01C6E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935A5-0D60-47DA-BEAE-E1F694E6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3004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8FA7-F17F-46DA-AA48-A721B8DE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4B0A5-B10D-481F-B71A-04F04CE6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65CD7-B328-42D8-8F8F-82B4C388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224EE-3727-4E23-ADF2-81E2CD16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2108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667A7-1537-4D61-A040-B9B2EB54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8CE79-1AAA-4FB0-833D-42039774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F5DF3-4E44-4B61-9E15-FE4634F7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2092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1E83-9001-4858-AC87-91B66ADE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1D8CE-C267-47D7-A46B-448772B1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F9FC9-921A-49CD-82CA-734038A8D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1D47C-F083-4B0E-A5FF-7126A101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C4125-B68D-442B-B425-F5905D8C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2CD08-7ED0-45C2-9236-E585C2EE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90822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0F12-2ADA-4714-A6DF-58BAEF600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97C04-DD4A-4946-BDD8-112A16EE6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006BF-D070-4F00-BCA0-55E53FA5A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C3BE6-6E4C-4D2F-9599-6D0EE40B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6D72-3CC5-4E14-A770-CA22B2D6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9F3A3-6E79-4F3C-8166-DC3094A6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1443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B7E4-C416-4C1C-B491-276505D5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159FD-BD86-4BC1-8317-CB5D3BEDE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37343-938B-4C31-91AB-DADEE1F8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B7A21-098B-4C87-847B-DB61BC7F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5B278-ACFD-4AC8-971B-D9F0CBA1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27851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2178B-BC17-4C2A-86A1-ACD688FC9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4B498-A65B-4A9C-A676-3277BF3AB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4624-6035-48B5-B390-3921AE9D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5B2CF-D2BC-4405-85AE-14DC1B8A8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BAEFC-570E-4BAE-B63D-59416382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048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9C09D-048A-443B-97D4-58BCA82E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C379E-5488-4295-B595-D23685832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8EC40-CC5E-4A13-9CF6-241BEFC79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11AD0-30E5-4F17-B969-EA984D10ECDA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DB5A4-3DE4-4247-9DE7-40716D4B76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6DEE9-2886-4DCB-AF49-5E24AB073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5B63F-CE85-4E27-9C11-3D0DBBEF7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9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18A7A-168E-455B-8126-8BB86270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77388-56E1-472C-B8DD-93AC15625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9C040-0115-4B93-8149-B7F032131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100C1-C684-423D-8916-1538E7F35F26}" type="datetimeFigureOut">
              <a:rPr lang="pt-PT" smtClean="0"/>
              <a:t>2021.09.20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F8A15-13BB-4F2B-90E1-3C06FB60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C443D-F391-4F91-806F-AF0263212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AA80D-7CDD-406C-93C8-9EEA09D177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948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7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C5CCFF6A-7D93-4206-BDFD-BDE8ECBB9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6" y="-573499"/>
            <a:ext cx="10633389" cy="106333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BD49AF-AB03-41BD-84EA-DE84700F77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39F139-EAED-41E1-ABF7-622B54D4C19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83631" y="2874530"/>
            <a:ext cx="7710487" cy="342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5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70"/>
    </mc:Choice>
    <mc:Fallback xmlns="">
      <p:transition spd="slow" advTm="220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0E491E-BA2A-43CD-8C0D-D1986F0588E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361913"/>
            <a:ext cx="12192000" cy="2729931"/>
            <a:chOff x="2478110" y="3856996"/>
            <a:chExt cx="8369077" cy="18739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2BA476-7559-4ACD-B720-7A6F246986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894"/>
            <a:stretch/>
          </p:blipFill>
          <p:spPr>
            <a:xfrm>
              <a:off x="3153311" y="3856996"/>
              <a:ext cx="7693876" cy="18739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4037B1-6CFA-4B6F-9076-D4E95192F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462"/>
            <a:stretch/>
          </p:blipFill>
          <p:spPr>
            <a:xfrm>
              <a:off x="2478110" y="3856996"/>
              <a:ext cx="675198" cy="187393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57580E-B105-4F1D-A7EB-B5D3285CF49C}"/>
              </a:ext>
            </a:extLst>
          </p:cNvPr>
          <p:cNvSpPr txBox="1"/>
          <p:nvPr/>
        </p:nvSpPr>
        <p:spPr>
          <a:xfrm>
            <a:off x="1386618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Adultos e Adolescentes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61E19-934C-422C-9B3A-F104153A51DD}"/>
              </a:ext>
            </a:extLst>
          </p:cNvPr>
          <p:cNvSpPr txBox="1"/>
          <p:nvPr/>
        </p:nvSpPr>
        <p:spPr>
          <a:xfrm>
            <a:off x="4012707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Toda a família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D391B-D67B-4F08-B837-66EA4EE2C471}"/>
              </a:ext>
            </a:extLst>
          </p:cNvPr>
          <p:cNvSpPr txBox="1"/>
          <p:nvPr/>
        </p:nvSpPr>
        <p:spPr>
          <a:xfrm>
            <a:off x="6873596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Crianças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1D474-E7A0-401B-9A4B-BB34B0C96E1C}"/>
              </a:ext>
            </a:extLst>
          </p:cNvPr>
          <p:cNvSpPr txBox="1"/>
          <p:nvPr/>
        </p:nvSpPr>
        <p:spPr>
          <a:xfrm>
            <a:off x="9347342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Mulheres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(+12 anos)</a:t>
            </a:r>
          </a:p>
        </p:txBody>
      </p:sp>
      <p:pic>
        <p:nvPicPr>
          <p:cNvPr id="23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DC28DDFB-CC3F-402B-B230-3FFB1B5416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9522162" y="4871463"/>
            <a:ext cx="1779893" cy="6356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EEB320-BE59-4073-B209-41E775B6B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540" y="2148058"/>
            <a:ext cx="2327141" cy="1645379"/>
          </a:xfrm>
          <a:prstGeom prst="rect">
            <a:avLst/>
          </a:prstGeom>
        </p:spPr>
      </p:pic>
      <p:pic>
        <p:nvPicPr>
          <p:cNvPr id="28" name="Picture 27" descr="Logo&#10;&#10;Description automatically generated">
            <a:extLst>
              <a:ext uri="{FF2B5EF4-FFF2-40B4-BE49-F238E27FC236}">
                <a16:creationId xmlns:a16="http://schemas.microsoft.com/office/drawing/2014/main" id="{4A125CA3-39E8-450D-A2A2-4DFE5BEC6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694" y="4322598"/>
            <a:ext cx="2411058" cy="1704712"/>
          </a:xfrm>
          <a:prstGeom prst="rect">
            <a:avLst/>
          </a:prstGeom>
        </p:spPr>
      </p:pic>
      <p:pic>
        <p:nvPicPr>
          <p:cNvPr id="3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3418AC14-CCA8-4425-A07D-A0C6D5FF8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280" y="2114831"/>
            <a:ext cx="2448027" cy="1731055"/>
          </a:xfrm>
          <a:prstGeom prst="rect">
            <a:avLst/>
          </a:prstGeom>
        </p:spPr>
      </p:pic>
      <p:pic>
        <p:nvPicPr>
          <p:cNvPr id="26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B4B5A67F-2402-4E1A-91A7-28ACF6473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11" y="369476"/>
            <a:ext cx="1163569" cy="1163569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A1E5C227-52DF-429B-B77C-516BDA5303D7}"/>
              </a:ext>
            </a:extLst>
          </p:cNvPr>
          <p:cNvSpPr/>
          <p:nvPr/>
        </p:nvSpPr>
        <p:spPr>
          <a:xfrm>
            <a:off x="1735436" y="668732"/>
            <a:ext cx="2748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GAMA VICOMBIL</a:t>
            </a:r>
          </a:p>
        </p:txBody>
      </p:sp>
    </p:spTree>
    <p:extLst>
      <p:ext uri="{BB962C8B-B14F-4D97-AF65-F5344CB8AC3E}">
        <p14:creationId xmlns:p14="http://schemas.microsoft.com/office/powerpoint/2010/main" val="2996849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4FCE7-B901-4615-88E3-0C959B3FDB8F}"/>
              </a:ext>
            </a:extLst>
          </p:cNvPr>
          <p:cNvSpPr txBox="1"/>
          <p:nvPr/>
        </p:nvSpPr>
        <p:spPr>
          <a:xfrm>
            <a:off x="1653077" y="1993412"/>
            <a:ext cx="107389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/>
              <a:t>Fala-se cada vez mais do </a:t>
            </a:r>
            <a:r>
              <a:rPr lang="pt-PT" sz="2000" b="1" dirty="0">
                <a:solidFill>
                  <a:srgbClr val="EE6D00"/>
                </a:solidFill>
              </a:rPr>
              <a:t>défice de micronutrientes (vitaminas e minerais) </a:t>
            </a:r>
            <a:r>
              <a:rPr lang="pt-PT" sz="2000" dirty="0"/>
              <a:t>e do seu impacto.   </a:t>
            </a:r>
            <a:endParaRPr lang="en-US" sz="2000" dirty="0"/>
          </a:p>
        </p:txBody>
      </p:sp>
      <p:sp>
        <p:nvSpPr>
          <p:cNvPr id="5" name="Arrow: Bent-Up 4">
            <a:extLst>
              <a:ext uri="{FF2B5EF4-FFF2-40B4-BE49-F238E27FC236}">
                <a16:creationId xmlns:a16="http://schemas.microsoft.com/office/drawing/2014/main" id="{466413B0-8980-459F-98E5-0DCEBCE5051D}"/>
              </a:ext>
            </a:extLst>
          </p:cNvPr>
          <p:cNvSpPr/>
          <p:nvPr/>
        </p:nvSpPr>
        <p:spPr>
          <a:xfrm rot="5400000">
            <a:off x="3036220" y="2593268"/>
            <a:ext cx="733641" cy="813916"/>
          </a:xfrm>
          <a:prstGeom prst="bentUp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FCD88-69F0-4B7D-BEAF-7EB8B6481788}"/>
              </a:ext>
            </a:extLst>
          </p:cNvPr>
          <p:cNvSpPr txBox="1"/>
          <p:nvPr/>
        </p:nvSpPr>
        <p:spPr>
          <a:xfrm>
            <a:off x="4035425" y="2755647"/>
            <a:ext cx="702945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Antes de surgirem sinais clínicos, a falta de vitaminas e/ou minerais vai-se desenvolvendo progressivamente dentro de </a:t>
            </a:r>
            <a:r>
              <a:rPr lang="pt-PT" b="1" dirty="0">
                <a:solidFill>
                  <a:srgbClr val="EE6D00"/>
                </a:solidFill>
              </a:rPr>
              <a:t>estadios subclínicos</a:t>
            </a:r>
            <a:r>
              <a:rPr lang="pt-PT" dirty="0"/>
              <a:t>.</a:t>
            </a:r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4347A1D-84B8-46AC-80F0-987E7EB16CA6}"/>
              </a:ext>
            </a:extLst>
          </p:cNvPr>
          <p:cNvSpPr/>
          <p:nvPr/>
        </p:nvSpPr>
        <p:spPr>
          <a:xfrm>
            <a:off x="7226300" y="3924300"/>
            <a:ext cx="584200" cy="444500"/>
          </a:xfrm>
          <a:prstGeom prst="down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50B5E8-5378-4EC6-9C55-5999983F2CBB}"/>
              </a:ext>
            </a:extLst>
          </p:cNvPr>
          <p:cNvSpPr txBox="1"/>
          <p:nvPr/>
        </p:nvSpPr>
        <p:spPr>
          <a:xfrm>
            <a:off x="4102101" y="4518333"/>
            <a:ext cx="6896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Inicialmente não existem sintomas e só se consegue verificar a depleção vitamínica por análises laboratoriais. </a:t>
            </a:r>
            <a:r>
              <a:rPr lang="pt-PT" b="1" dirty="0"/>
              <a:t>Com a evolução da situação vão aparecendo os primeiros sintomas físicos: falta de energia, falta de apetite, dificuldade em dormir…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B06EE-0AC0-4D9A-8110-83BA750F2D13}"/>
              </a:ext>
            </a:extLst>
          </p:cNvPr>
          <p:cNvSpPr/>
          <p:nvPr/>
        </p:nvSpPr>
        <p:spPr>
          <a:xfrm>
            <a:off x="4070350" y="4518333"/>
            <a:ext cx="6896099" cy="175432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E3886DC-AE83-453C-AC4E-E1F54F3CDF02}"/>
              </a:ext>
            </a:extLst>
          </p:cNvPr>
          <p:cNvSpPr txBox="1">
            <a:spLocks/>
          </p:cNvSpPr>
          <p:nvPr/>
        </p:nvSpPr>
        <p:spPr>
          <a:xfrm>
            <a:off x="766763" y="133278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17BACB-B307-46B6-8833-3E5BEF381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75" y="3429000"/>
            <a:ext cx="3608837" cy="240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0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3338ACC-72F5-4508-BA91-047FA8F28F04}"/>
              </a:ext>
            </a:extLst>
          </p:cNvPr>
          <p:cNvSpPr/>
          <p:nvPr/>
        </p:nvSpPr>
        <p:spPr>
          <a:xfrm>
            <a:off x="121751" y="1934888"/>
            <a:ext cx="5426606" cy="4275412"/>
          </a:xfrm>
          <a:prstGeom prst="rect">
            <a:avLst/>
          </a:prstGeom>
          <a:noFill/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84100608-D823-4C04-B90B-289B115E440B}"/>
              </a:ext>
            </a:extLst>
          </p:cNvPr>
          <p:cNvSpPr txBox="1"/>
          <p:nvPr/>
        </p:nvSpPr>
        <p:spPr>
          <a:xfrm>
            <a:off x="279400" y="1934888"/>
            <a:ext cx="5219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De modo geral, uma dieta equilibrada seria suficiente para cobrir todas as necessidades nutricionais. </a:t>
            </a:r>
            <a:endParaRPr lang="en-US" dirty="0"/>
          </a:p>
        </p:txBody>
      </p:sp>
      <p:sp>
        <p:nvSpPr>
          <p:cNvPr id="15" name="Arrow: Down 1">
            <a:extLst>
              <a:ext uri="{FF2B5EF4-FFF2-40B4-BE49-F238E27FC236}">
                <a16:creationId xmlns:a16="http://schemas.microsoft.com/office/drawing/2014/main" id="{4EF5BA39-019D-4EAB-A152-9864A9C5DD6F}"/>
              </a:ext>
            </a:extLst>
          </p:cNvPr>
          <p:cNvSpPr/>
          <p:nvPr/>
        </p:nvSpPr>
        <p:spPr>
          <a:xfrm rot="16200000">
            <a:off x="5715000" y="3652844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8444FB4-C344-4259-BD67-B1491EF205BE}"/>
              </a:ext>
            </a:extLst>
          </p:cNvPr>
          <p:cNvSpPr txBox="1"/>
          <p:nvPr/>
        </p:nvSpPr>
        <p:spPr>
          <a:xfrm>
            <a:off x="279400" y="4022086"/>
            <a:ext cx="52197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No entanto, infelizmente, mesmo em países considerados mais desenvolvidos, uma grande parte da população não ingere a quantidade adequada de diferentes vitaminas através da dieta.  </a:t>
            </a:r>
            <a:endParaRPr lang="en-US" dirty="0"/>
          </a:p>
        </p:txBody>
      </p:sp>
      <p:sp>
        <p:nvSpPr>
          <p:cNvPr id="18" name="Arrow: Down 12">
            <a:extLst>
              <a:ext uri="{FF2B5EF4-FFF2-40B4-BE49-F238E27FC236}">
                <a16:creationId xmlns:a16="http://schemas.microsoft.com/office/drawing/2014/main" id="{56E1BB83-ADD1-4F79-8AAF-013AC7C7E406}"/>
              </a:ext>
            </a:extLst>
          </p:cNvPr>
          <p:cNvSpPr/>
          <p:nvPr/>
        </p:nvSpPr>
        <p:spPr>
          <a:xfrm>
            <a:off x="2508250" y="3102428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D6D4A9EA-33D8-44D4-AC10-EA4E031891DC}"/>
              </a:ext>
            </a:extLst>
          </p:cNvPr>
          <p:cNvSpPr txBox="1"/>
          <p:nvPr/>
        </p:nvSpPr>
        <p:spPr>
          <a:xfrm>
            <a:off x="6639475" y="1970416"/>
            <a:ext cx="5273125" cy="4204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Isto deve-se a situações como: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Pobreza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Dietas desequilibradas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Distúrbios alimentares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Escolhas alimentares pouco saudáveis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Períodos de exercício físico intenso com maiores necessidades de ingestão de vitaminas que o normal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Stress cognitivo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Doença</a:t>
            </a:r>
          </a:p>
        </p:txBody>
      </p:sp>
    </p:spTree>
    <p:extLst>
      <p:ext uri="{BB962C8B-B14F-4D97-AF65-F5344CB8AC3E}">
        <p14:creationId xmlns:p14="http://schemas.microsoft.com/office/powerpoint/2010/main" val="258232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0CAC90BC-D0A5-4CC0-A1C3-1EECE9AA1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685" y="4684466"/>
            <a:ext cx="2811516" cy="2183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5B75A333-9054-4296-9BA5-87CE7F81D89D}"/>
              </a:ext>
            </a:extLst>
          </p:cNvPr>
          <p:cNvSpPr txBox="1"/>
          <p:nvPr/>
        </p:nvSpPr>
        <p:spPr>
          <a:xfrm>
            <a:off x="1066799" y="2126977"/>
            <a:ext cx="10429875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Mesmo os défices nutricionais leves podem ter </a:t>
            </a:r>
            <a:r>
              <a:rPr lang="pt-PT" b="1" dirty="0">
                <a:solidFill>
                  <a:srgbClr val="EE6D00"/>
                </a:solidFill>
              </a:rPr>
              <a:t>impacto no bem-estar </a:t>
            </a:r>
            <a:r>
              <a:rPr lang="pt-PT" dirty="0"/>
              <a:t>da criança ou do adulto, estando muito relacionados com a fadiga física e mental ou até a diminuição da resistência às infeções.</a:t>
            </a:r>
          </a:p>
          <a:p>
            <a:pPr algn="just">
              <a:lnSpc>
                <a:spcPct val="150000"/>
              </a:lnSpc>
            </a:pPr>
            <a:endParaRPr lang="pt-PT" dirty="0"/>
          </a:p>
          <a:p>
            <a:pPr algn="just">
              <a:lnSpc>
                <a:spcPct val="150000"/>
              </a:lnSpc>
            </a:pPr>
            <a:r>
              <a:rPr lang="pt-PT" dirty="0"/>
              <a:t>Dada a importância dos micronutrientes para o </a:t>
            </a:r>
            <a:r>
              <a:rPr lang="pt-PT" b="1" dirty="0">
                <a:solidFill>
                  <a:srgbClr val="EE6D00"/>
                </a:solidFill>
              </a:rPr>
              <a:t>metabolismo energético </a:t>
            </a:r>
            <a:r>
              <a:rPr lang="pt-PT" dirty="0"/>
              <a:t>e </a:t>
            </a:r>
            <a:r>
              <a:rPr lang="pt-PT" b="1" dirty="0">
                <a:solidFill>
                  <a:srgbClr val="EE6D00"/>
                </a:solidFill>
              </a:rPr>
              <a:t>desempenho</a:t>
            </a:r>
            <a:r>
              <a:rPr lang="pt-PT" dirty="0"/>
              <a:t> </a:t>
            </a:r>
            <a:r>
              <a:rPr lang="pt-PT" b="1" dirty="0">
                <a:solidFill>
                  <a:srgbClr val="EE6D00"/>
                </a:solidFill>
              </a:rPr>
              <a:t>intelectual </a:t>
            </a:r>
            <a:r>
              <a:rPr lang="pt-PT" dirty="0"/>
              <a:t>e dado o </a:t>
            </a:r>
            <a:r>
              <a:rPr lang="pt-PT" u="sng" dirty="0"/>
              <a:t>risco associado aos estados de carência</a:t>
            </a:r>
            <a:r>
              <a:rPr lang="pt-PT" dirty="0"/>
              <a:t>, a suplementação com multivitamínicos pode muitas vezes ser recomendada, nomeadamente para pessoas que sofram de mau aporte alimentar e de queixas que não estejam associadas a qualquer doença subjacente (cansaço, falta de energia, falta de apetite…).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C562E43-D458-4229-A2C7-9DD3E8866987}"/>
              </a:ext>
            </a:extLst>
          </p:cNvPr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1918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rass&#10;&#10;Description automatically generated">
            <a:extLst>
              <a:ext uri="{FF2B5EF4-FFF2-40B4-BE49-F238E27FC236}">
                <a16:creationId xmlns:a16="http://schemas.microsoft.com/office/drawing/2014/main" id="{C82F40F4-B187-454C-9E4E-B30C2C5D2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55" y="-447744"/>
            <a:ext cx="7753487" cy="7753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CE5E12-C522-42BD-B1B5-872FF02319DB}"/>
              </a:ext>
            </a:extLst>
          </p:cNvPr>
          <p:cNvSpPr txBox="1"/>
          <p:nvPr/>
        </p:nvSpPr>
        <p:spPr>
          <a:xfrm>
            <a:off x="3118102" y="744566"/>
            <a:ext cx="583659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7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47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7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0583B07B-C08B-487D-A56E-A40BC68B0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94" y="1377070"/>
            <a:ext cx="5555411" cy="392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3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3F14346-B863-4119-9D3C-3EF82446E7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3777"/>
          <a:stretch/>
        </p:blipFill>
        <p:spPr>
          <a:xfrm>
            <a:off x="6096000" y="-690703"/>
            <a:ext cx="6345103" cy="673524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886D53F-983F-4EFD-BA24-500EEC92A0ED}"/>
              </a:ext>
            </a:extLst>
          </p:cNvPr>
          <p:cNvSpPr/>
          <p:nvPr/>
        </p:nvSpPr>
        <p:spPr>
          <a:xfrm>
            <a:off x="1062654" y="1273475"/>
            <a:ext cx="9256798" cy="4867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002060"/>
                </a:solidFill>
              </a:rPr>
              <a:t>Retinol 5000 U.I.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rgbClr val="002060"/>
                </a:solidFill>
              </a:rPr>
              <a:t> Vit. A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002060"/>
                </a:solidFill>
              </a:rPr>
              <a:t>Ergocalciferol 500 U.I.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Vit. D</a:t>
            </a:r>
            <a:endParaRPr lang="en-GB" sz="20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Acetato</a:t>
            </a:r>
            <a:r>
              <a:rPr lang="en-GB" sz="2000" dirty="0">
                <a:solidFill>
                  <a:srgbClr val="002060"/>
                </a:solidFill>
              </a:rPr>
              <a:t> de </a:t>
            </a:r>
            <a:r>
              <a:rPr lang="en-GB" sz="2000" dirty="0" err="1">
                <a:solidFill>
                  <a:srgbClr val="002060"/>
                </a:solidFill>
              </a:rPr>
              <a:t>tocoferol</a:t>
            </a:r>
            <a:r>
              <a:rPr lang="en-GB" sz="2000" dirty="0">
                <a:solidFill>
                  <a:srgbClr val="002060"/>
                </a:solidFill>
              </a:rPr>
              <a:t> 10 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rgbClr val="002060"/>
                </a:solidFill>
              </a:rPr>
              <a:t> Vit. E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20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Cloridrato</a:t>
            </a:r>
            <a:r>
              <a:rPr lang="en-GB" sz="2000" dirty="0">
                <a:solidFill>
                  <a:srgbClr val="002060"/>
                </a:solidFill>
              </a:rPr>
              <a:t> de </a:t>
            </a:r>
            <a:r>
              <a:rPr lang="en-GB" sz="2000" dirty="0" err="1">
                <a:solidFill>
                  <a:srgbClr val="002060"/>
                </a:solidFill>
              </a:rPr>
              <a:t>tiamina</a:t>
            </a:r>
            <a:r>
              <a:rPr lang="en-GB" sz="2000" dirty="0">
                <a:solidFill>
                  <a:srgbClr val="002060"/>
                </a:solidFill>
              </a:rPr>
              <a:t> 3mg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Vit. B1</a:t>
            </a:r>
            <a:endParaRPr lang="en-GB" sz="20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Riboflavina</a:t>
            </a:r>
            <a:r>
              <a:rPr lang="en-GB" sz="2000" dirty="0">
                <a:solidFill>
                  <a:srgbClr val="002060"/>
                </a:solidFill>
              </a:rPr>
              <a:t> 2 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GB" sz="2000" dirty="0">
                <a:solidFill>
                  <a:srgbClr val="002060"/>
                </a:solidFill>
              </a:rPr>
              <a:t> Vit. B2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Nicotinamida</a:t>
            </a:r>
            <a:r>
              <a:rPr lang="en-GB" sz="2000" dirty="0">
                <a:solidFill>
                  <a:srgbClr val="002060"/>
                </a:solidFill>
              </a:rPr>
              <a:t> 20 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Vit. B3 </a:t>
            </a:r>
            <a:endParaRPr lang="en-GB" sz="20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Pantotenato</a:t>
            </a:r>
            <a:r>
              <a:rPr lang="en-GB" sz="2000" dirty="0">
                <a:solidFill>
                  <a:srgbClr val="002060"/>
                </a:solidFill>
              </a:rPr>
              <a:t> de </a:t>
            </a:r>
            <a:r>
              <a:rPr lang="en-GB" sz="2000" dirty="0" err="1">
                <a:solidFill>
                  <a:srgbClr val="002060"/>
                </a:solidFill>
              </a:rPr>
              <a:t>cálcio</a:t>
            </a:r>
            <a:r>
              <a:rPr lang="en-GB" sz="2000" dirty="0">
                <a:solidFill>
                  <a:srgbClr val="002060"/>
                </a:solidFill>
              </a:rPr>
              <a:t> 5 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pt-PT" sz="2000" dirty="0" err="1">
                <a:solidFill>
                  <a:srgbClr val="002060"/>
                </a:solidFill>
                <a:sym typeface="Wingdings" panose="05000000000000000000" pitchFamily="2" charset="2"/>
              </a:rPr>
              <a:t>Vit</a:t>
            </a:r>
            <a:r>
              <a:rPr lang="pt-PT" sz="2000" dirty="0">
                <a:solidFill>
                  <a:srgbClr val="002060"/>
                </a:solidFill>
                <a:sym typeface="Wingdings" panose="05000000000000000000" pitchFamily="2" charset="2"/>
              </a:rPr>
              <a:t>. B5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Cloridrato</a:t>
            </a:r>
            <a:r>
              <a:rPr lang="en-GB" sz="2000" dirty="0">
                <a:solidFill>
                  <a:srgbClr val="002060"/>
                </a:solidFill>
              </a:rPr>
              <a:t> de </a:t>
            </a:r>
            <a:r>
              <a:rPr lang="en-GB" sz="2000" dirty="0" err="1">
                <a:solidFill>
                  <a:srgbClr val="002060"/>
                </a:solidFill>
              </a:rPr>
              <a:t>piridoxina</a:t>
            </a:r>
            <a:r>
              <a:rPr lang="en-GB" sz="2000" dirty="0">
                <a:solidFill>
                  <a:srgbClr val="002060"/>
                </a:solidFill>
              </a:rPr>
              <a:t> 3 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Vit. B6</a:t>
            </a:r>
            <a:r>
              <a:rPr lang="en-GB" sz="2000" dirty="0">
                <a:solidFill>
                  <a:srgbClr val="002060"/>
                </a:solidFill>
              </a:rPr>
              <a:t> 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Ácido</a:t>
            </a:r>
            <a:r>
              <a:rPr lang="en-GB" sz="2000" dirty="0">
                <a:solidFill>
                  <a:srgbClr val="002060"/>
                </a:solidFill>
              </a:rPr>
              <a:t> </a:t>
            </a:r>
            <a:r>
              <a:rPr lang="en-GB" sz="2000" dirty="0" err="1">
                <a:solidFill>
                  <a:srgbClr val="002060"/>
                </a:solidFill>
              </a:rPr>
              <a:t>fólico</a:t>
            </a:r>
            <a:r>
              <a:rPr lang="en-GB" sz="2000" dirty="0">
                <a:solidFill>
                  <a:srgbClr val="002060"/>
                </a:solidFill>
              </a:rPr>
              <a:t> 0,2 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Vit. B9</a:t>
            </a:r>
            <a:endParaRPr lang="en-GB" sz="20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Cianocobalamina</a:t>
            </a:r>
            <a:r>
              <a:rPr lang="en-GB" sz="2000" dirty="0">
                <a:solidFill>
                  <a:srgbClr val="002060"/>
                </a:solidFill>
              </a:rPr>
              <a:t> 1 </a:t>
            </a:r>
            <a:r>
              <a:rPr lang="el-GR" sz="2000" dirty="0">
                <a:solidFill>
                  <a:srgbClr val="002060"/>
                </a:solidFill>
              </a:rPr>
              <a:t>μ</a:t>
            </a:r>
            <a:r>
              <a:rPr lang="en-GB" sz="2000" dirty="0">
                <a:solidFill>
                  <a:srgbClr val="002060"/>
                </a:solidFill>
              </a:rPr>
              <a:t>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Vit. B12</a:t>
            </a:r>
          </a:p>
          <a:p>
            <a:pPr>
              <a:lnSpc>
                <a:spcPct val="120000"/>
              </a:lnSpc>
            </a:pPr>
            <a:endParaRPr lang="en-GB" sz="20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2000" dirty="0" err="1">
                <a:solidFill>
                  <a:srgbClr val="002060"/>
                </a:solidFill>
              </a:rPr>
              <a:t>Ácido</a:t>
            </a:r>
            <a:r>
              <a:rPr lang="en-GB" sz="2000" dirty="0">
                <a:solidFill>
                  <a:srgbClr val="002060"/>
                </a:solidFill>
              </a:rPr>
              <a:t> </a:t>
            </a:r>
            <a:r>
              <a:rPr lang="en-GB" sz="2000" dirty="0" err="1">
                <a:solidFill>
                  <a:srgbClr val="002060"/>
                </a:solidFill>
              </a:rPr>
              <a:t>ascórbico</a:t>
            </a:r>
            <a:r>
              <a:rPr lang="en-GB" sz="2000" dirty="0">
                <a:solidFill>
                  <a:srgbClr val="002060"/>
                </a:solidFill>
              </a:rPr>
              <a:t> 75 mg </a:t>
            </a:r>
            <a:r>
              <a:rPr lang="en-GB" sz="2000" dirty="0">
                <a:solidFill>
                  <a:srgbClr val="002060"/>
                </a:solidFill>
                <a:sym typeface="Wingdings" panose="05000000000000000000" pitchFamily="2" charset="2"/>
              </a:rPr>
              <a:t> Vit. C</a:t>
            </a:r>
            <a:endParaRPr lang="en-GB" sz="2000" dirty="0">
              <a:solidFill>
                <a:srgbClr val="002060"/>
              </a:solidFill>
            </a:endParaRPr>
          </a:p>
        </p:txBody>
      </p:sp>
      <p:pic>
        <p:nvPicPr>
          <p:cNvPr id="4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6514420D-F2BE-4D8F-83F4-F360A5AF8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935" y="-690703"/>
            <a:ext cx="5555411" cy="392835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FF9AD4-E119-40E9-B80C-BFD24C053C97}"/>
              </a:ext>
            </a:extLst>
          </p:cNvPr>
          <p:cNvSpPr txBox="1"/>
          <p:nvPr/>
        </p:nvSpPr>
        <p:spPr>
          <a:xfrm flipH="1">
            <a:off x="6218552" y="5201831"/>
            <a:ext cx="7231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>
                <a:solidFill>
                  <a:srgbClr val="EE6D00"/>
                </a:solidFill>
              </a:rPr>
              <a:t>Medicamento</a:t>
            </a:r>
            <a:r>
              <a:rPr lang="en-GB" b="1" dirty="0">
                <a:solidFill>
                  <a:srgbClr val="EE6D00"/>
                </a:solidFill>
              </a:rPr>
              <a:t> </a:t>
            </a:r>
            <a:r>
              <a:rPr lang="en-GB" b="1" dirty="0" err="1">
                <a:solidFill>
                  <a:srgbClr val="EE6D00"/>
                </a:solidFill>
              </a:rPr>
              <a:t>não</a:t>
            </a:r>
            <a:r>
              <a:rPr lang="en-GB" b="1" dirty="0">
                <a:solidFill>
                  <a:srgbClr val="EE6D00"/>
                </a:solidFill>
              </a:rPr>
              <a:t> </a:t>
            </a:r>
            <a:r>
              <a:rPr lang="en-GB" b="1" dirty="0" err="1">
                <a:solidFill>
                  <a:srgbClr val="EE6D00"/>
                </a:solidFill>
              </a:rPr>
              <a:t>sujeito</a:t>
            </a:r>
            <a:r>
              <a:rPr lang="en-GB" b="1" dirty="0">
                <a:solidFill>
                  <a:srgbClr val="EE6D00"/>
                </a:solidFill>
              </a:rPr>
              <a:t> a </a:t>
            </a:r>
            <a:r>
              <a:rPr lang="en-GB" b="1" dirty="0" err="1">
                <a:solidFill>
                  <a:srgbClr val="EE6D00"/>
                </a:solidFill>
              </a:rPr>
              <a:t>receita</a:t>
            </a:r>
            <a:r>
              <a:rPr lang="en-GB" b="1" dirty="0">
                <a:solidFill>
                  <a:srgbClr val="EE6D00"/>
                </a:solidFill>
              </a:rPr>
              <a:t> </a:t>
            </a:r>
            <a:r>
              <a:rPr lang="en-GB" b="1" dirty="0" err="1">
                <a:solidFill>
                  <a:srgbClr val="EE6D00"/>
                </a:solidFill>
              </a:rPr>
              <a:t>médica</a:t>
            </a:r>
            <a:r>
              <a:rPr lang="en-GB" b="1" dirty="0">
                <a:solidFill>
                  <a:srgbClr val="EE6D00"/>
                </a:solidFill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0FA1FF9-F1D7-4454-9000-007751C9364F}"/>
              </a:ext>
            </a:extLst>
          </p:cNvPr>
          <p:cNvSpPr txBox="1"/>
          <p:nvPr/>
        </p:nvSpPr>
        <p:spPr>
          <a:xfrm flipH="1">
            <a:off x="1062654" y="640506"/>
            <a:ext cx="7231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EE6D00"/>
                </a:solidFill>
              </a:rPr>
              <a:t>COMPOSIÇÃO:</a:t>
            </a:r>
          </a:p>
        </p:txBody>
      </p:sp>
    </p:spTree>
    <p:extLst>
      <p:ext uri="{BB962C8B-B14F-4D97-AF65-F5344CB8AC3E}">
        <p14:creationId xmlns:p14="http://schemas.microsoft.com/office/powerpoint/2010/main" val="363837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433499" y="2003398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592189" y="2974376"/>
            <a:ext cx="5357667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Visão normal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Efeito antioxidante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pic>
        <p:nvPicPr>
          <p:cNvPr id="8194" name="Picture 2" descr="Vitamina a png » PNG Image">
            <a:extLst>
              <a:ext uri="{FF2B5EF4-FFF2-40B4-BE49-F238E27FC236}">
                <a16:creationId xmlns:a16="http://schemas.microsoft.com/office/drawing/2014/main" id="{27BCCEEA-062F-4DA9-AB6C-E72FA6D290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9605" r="23906" b="635"/>
          <a:stretch/>
        </p:blipFill>
        <p:spPr bwMode="auto">
          <a:xfrm>
            <a:off x="1917966" y="2758092"/>
            <a:ext cx="3467838" cy="3588622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32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ruit and vegetable alphabet - letter D Sticker • Pixers® - We live to  change">
            <a:extLst>
              <a:ext uri="{FF2B5EF4-FFF2-40B4-BE49-F238E27FC236}">
                <a16:creationId xmlns:a16="http://schemas.microsoft.com/office/drawing/2014/main" id="{DAB2BC97-14D9-4919-BAB8-F7AB1468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011" y="2269485"/>
            <a:ext cx="3561346" cy="445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866118" y="1753494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246356" y="2568124"/>
            <a:ext cx="6945643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sistema musculosquelético 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Redução do cansaço 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Saúde cardiovascular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Metabolismo e função hormonal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</p:spTree>
    <p:extLst>
      <p:ext uri="{BB962C8B-B14F-4D97-AF65-F5344CB8AC3E}">
        <p14:creationId xmlns:p14="http://schemas.microsoft.com/office/powerpoint/2010/main" val="134062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050" name="Picture 2" descr="Imagem relacionada">
            <a:extLst>
              <a:ext uri="{FF2B5EF4-FFF2-40B4-BE49-F238E27FC236}">
                <a16:creationId xmlns:a16="http://schemas.microsoft.com/office/drawing/2014/main" id="{BD9B4E5C-C148-4459-9954-CB9B504C2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7" r="22353"/>
          <a:stretch/>
        </p:blipFill>
        <p:spPr bwMode="auto">
          <a:xfrm>
            <a:off x="2578580" y="2569905"/>
            <a:ext cx="2650645" cy="3456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433499" y="2003398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592189" y="1753494"/>
            <a:ext cx="5357667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Redução do cansaço e fadiga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Saúde cardiovascular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Visão normal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Manutenção/formação de glóbulos vermelhos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Metabolismo do ferro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81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4062F5A-3241-465F-B005-95D1C9D71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074" name="Picture 2" descr="Imagem relacionada">
            <a:extLst>
              <a:ext uri="{FF2B5EF4-FFF2-40B4-BE49-F238E27FC236}">
                <a16:creationId xmlns:a16="http://schemas.microsoft.com/office/drawing/2014/main" id="{3D9006C0-B572-4463-AAF6-470CA2BF9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9" r="29273"/>
          <a:stretch/>
        </p:blipFill>
        <p:spPr bwMode="auto">
          <a:xfrm>
            <a:off x="1724349" y="2687854"/>
            <a:ext cx="2551218" cy="2647189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477FFA-E3C0-42B3-8038-9AEFA7C5235F}"/>
              </a:ext>
            </a:extLst>
          </p:cNvPr>
          <p:cNvSpPr/>
          <p:nvPr/>
        </p:nvSpPr>
        <p:spPr>
          <a:xfrm>
            <a:off x="-1020079" y="1961684"/>
            <a:ext cx="8040073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DB685E-6958-4608-99EB-1C8A9EB8BBB9}"/>
              </a:ext>
            </a:extLst>
          </p:cNvPr>
          <p:cNvSpPr/>
          <p:nvPr/>
        </p:nvSpPr>
        <p:spPr>
          <a:xfrm>
            <a:off x="4710276" y="1961684"/>
            <a:ext cx="8270394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 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Cansaço e fadiga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Ossos, cartilagens, gengivas, pele e dentes (pela formação de colagénio)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dos vasos sanguíneos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Absorção do ferro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FFD3AD-4716-46E9-A876-CCAD4414A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78C98C24-9D9E-4630-902E-599D7B5FD7DC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 dirty="0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68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CDF0095-F9A2-4AFA-817E-3351DBF3E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66" y="1477106"/>
            <a:ext cx="7108775" cy="4923909"/>
          </a:xfrm>
          <a:prstGeom prst="rect">
            <a:avLst/>
          </a:prstGeom>
        </p:spPr>
      </p:pic>
      <p:pic>
        <p:nvPicPr>
          <p:cNvPr id="5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68AF9AB2-4B74-4B74-BE74-0D18FF038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704" y="-924971"/>
            <a:ext cx="5555411" cy="392835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AF9457D-7D2B-4561-805A-8BD4240B408C}"/>
              </a:ext>
            </a:extLst>
          </p:cNvPr>
          <p:cNvSpPr/>
          <p:nvPr/>
        </p:nvSpPr>
        <p:spPr>
          <a:xfrm>
            <a:off x="937846" y="4324350"/>
            <a:ext cx="8405446" cy="981075"/>
          </a:xfrm>
          <a:prstGeom prst="rect">
            <a:avLst/>
          </a:prstGeom>
          <a:noFill/>
          <a:ln w="57150">
            <a:solidFill>
              <a:srgbClr val="EE6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2" descr="black-teens - Pen Strokes">
            <a:extLst>
              <a:ext uri="{FF2B5EF4-FFF2-40B4-BE49-F238E27FC236}">
                <a16:creationId xmlns:a16="http://schemas.microsoft.com/office/drawing/2014/main" id="{C3A4443B-AE18-4B94-AB24-C685D8A2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301" y="2533650"/>
            <a:ext cx="3634841" cy="2423227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44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DFBD9E-97D9-4B17-BFB3-B08C94D7B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2921"/>
            <a:ext cx="12192000" cy="44829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B340034-F6D8-4D09-A5FB-5154D9D88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69480"/>
            <a:ext cx="7710487" cy="342688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BD70E8-D5CE-4B6E-BFF2-64CE8966D100}"/>
              </a:ext>
            </a:extLst>
          </p:cNvPr>
          <p:cNvSpPr txBox="1"/>
          <p:nvPr/>
        </p:nvSpPr>
        <p:spPr>
          <a:xfrm>
            <a:off x="9191625" y="5709805"/>
            <a:ext cx="22694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err="1">
                <a:solidFill>
                  <a:srgbClr val="EE3E34"/>
                </a:solidFill>
              </a:rPr>
              <a:t>Obrigada</a:t>
            </a:r>
            <a:r>
              <a:rPr lang="en-GB" sz="4000" dirty="0">
                <a:solidFill>
                  <a:srgbClr val="EE3E3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477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48"/>
    </mc:Choice>
    <mc:Fallback xmlns="">
      <p:transition spd="slow" advTm="7004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C5CCFF6A-7D93-4206-BDFD-BDE8ECBB9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6" y="-573499"/>
            <a:ext cx="10633389" cy="106333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BD49AF-AB03-41BD-84EA-DE84700F77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39F139-EAED-41E1-ABF7-622B54D4C19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83631" y="2874530"/>
            <a:ext cx="7710487" cy="342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8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70"/>
    </mc:Choice>
    <mc:Fallback xmlns="">
      <p:transition spd="slow" advTm="2207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0E491E-BA2A-43CD-8C0D-D1986F0588E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361913"/>
            <a:ext cx="12192000" cy="2729931"/>
            <a:chOff x="2478110" y="3856996"/>
            <a:chExt cx="8369077" cy="18739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2BA476-7559-4ACD-B720-7A6F246986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894"/>
            <a:stretch/>
          </p:blipFill>
          <p:spPr>
            <a:xfrm>
              <a:off x="3153311" y="3856996"/>
              <a:ext cx="7693876" cy="18739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4037B1-6CFA-4B6F-9076-D4E95192F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462"/>
            <a:stretch/>
          </p:blipFill>
          <p:spPr>
            <a:xfrm>
              <a:off x="2478110" y="3856996"/>
              <a:ext cx="675198" cy="187393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57580E-B105-4F1D-A7EB-B5D3285CF49C}"/>
              </a:ext>
            </a:extLst>
          </p:cNvPr>
          <p:cNvSpPr txBox="1"/>
          <p:nvPr/>
        </p:nvSpPr>
        <p:spPr>
          <a:xfrm>
            <a:off x="1386618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Adultos e Adolescentes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61E19-934C-422C-9B3A-F104153A51DD}"/>
              </a:ext>
            </a:extLst>
          </p:cNvPr>
          <p:cNvSpPr txBox="1"/>
          <p:nvPr/>
        </p:nvSpPr>
        <p:spPr>
          <a:xfrm>
            <a:off x="4012707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Toda a família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D391B-D67B-4F08-B837-66EA4EE2C471}"/>
              </a:ext>
            </a:extLst>
          </p:cNvPr>
          <p:cNvSpPr txBox="1"/>
          <p:nvPr/>
        </p:nvSpPr>
        <p:spPr>
          <a:xfrm>
            <a:off x="6873596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Crianças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1D474-E7A0-401B-9A4B-BB34B0C96E1C}"/>
              </a:ext>
            </a:extLst>
          </p:cNvPr>
          <p:cNvSpPr txBox="1"/>
          <p:nvPr/>
        </p:nvSpPr>
        <p:spPr>
          <a:xfrm>
            <a:off x="9347342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Mulheres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(+12 anos)</a:t>
            </a:r>
          </a:p>
        </p:txBody>
      </p:sp>
      <p:pic>
        <p:nvPicPr>
          <p:cNvPr id="23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DC28DDFB-CC3F-402B-B230-3FFB1B5416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9522162" y="4871463"/>
            <a:ext cx="1779893" cy="6356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EEB320-BE59-4073-B209-41E775B6B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540" y="2148058"/>
            <a:ext cx="2327141" cy="1645379"/>
          </a:xfrm>
          <a:prstGeom prst="rect">
            <a:avLst/>
          </a:prstGeom>
        </p:spPr>
      </p:pic>
      <p:pic>
        <p:nvPicPr>
          <p:cNvPr id="28" name="Picture 27" descr="Logo&#10;&#10;Description automatically generated">
            <a:extLst>
              <a:ext uri="{FF2B5EF4-FFF2-40B4-BE49-F238E27FC236}">
                <a16:creationId xmlns:a16="http://schemas.microsoft.com/office/drawing/2014/main" id="{4A125CA3-39E8-450D-A2A2-4DFE5BEC6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694" y="4322598"/>
            <a:ext cx="2411058" cy="1704712"/>
          </a:xfrm>
          <a:prstGeom prst="rect">
            <a:avLst/>
          </a:prstGeom>
        </p:spPr>
      </p:pic>
      <p:pic>
        <p:nvPicPr>
          <p:cNvPr id="3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3418AC14-CCA8-4425-A07D-A0C6D5FF8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280" y="2114831"/>
            <a:ext cx="2448027" cy="1731055"/>
          </a:xfrm>
          <a:prstGeom prst="rect">
            <a:avLst/>
          </a:prstGeom>
        </p:spPr>
      </p:pic>
      <p:pic>
        <p:nvPicPr>
          <p:cNvPr id="26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B4B5A67F-2402-4E1A-91A7-28ACF6473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11" y="369476"/>
            <a:ext cx="1163569" cy="1163569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A1E5C227-52DF-429B-B77C-516BDA5303D7}"/>
              </a:ext>
            </a:extLst>
          </p:cNvPr>
          <p:cNvSpPr/>
          <p:nvPr/>
        </p:nvSpPr>
        <p:spPr>
          <a:xfrm>
            <a:off x="1735436" y="668732"/>
            <a:ext cx="2748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GAMA VICOMBIL</a:t>
            </a:r>
          </a:p>
        </p:txBody>
      </p:sp>
    </p:spTree>
    <p:extLst>
      <p:ext uri="{BB962C8B-B14F-4D97-AF65-F5344CB8AC3E}">
        <p14:creationId xmlns:p14="http://schemas.microsoft.com/office/powerpoint/2010/main" val="3267133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4FCE7-B901-4615-88E3-0C959B3FDB8F}"/>
              </a:ext>
            </a:extLst>
          </p:cNvPr>
          <p:cNvSpPr txBox="1"/>
          <p:nvPr/>
        </p:nvSpPr>
        <p:spPr>
          <a:xfrm>
            <a:off x="1653077" y="1993412"/>
            <a:ext cx="107389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/>
              <a:t>Fala-se cada vez mais do </a:t>
            </a:r>
            <a:r>
              <a:rPr lang="pt-PT" sz="2000" b="1" dirty="0">
                <a:solidFill>
                  <a:srgbClr val="EE6D00"/>
                </a:solidFill>
              </a:rPr>
              <a:t>défice de micronutrientes (vitaminas e minerais) </a:t>
            </a:r>
            <a:r>
              <a:rPr lang="pt-PT" sz="2000" dirty="0"/>
              <a:t>e do seu impacto.   </a:t>
            </a:r>
            <a:endParaRPr lang="en-US" sz="2000" dirty="0"/>
          </a:p>
        </p:txBody>
      </p:sp>
      <p:sp>
        <p:nvSpPr>
          <p:cNvPr id="5" name="Arrow: Bent-Up 4">
            <a:extLst>
              <a:ext uri="{FF2B5EF4-FFF2-40B4-BE49-F238E27FC236}">
                <a16:creationId xmlns:a16="http://schemas.microsoft.com/office/drawing/2014/main" id="{466413B0-8980-459F-98E5-0DCEBCE5051D}"/>
              </a:ext>
            </a:extLst>
          </p:cNvPr>
          <p:cNvSpPr/>
          <p:nvPr/>
        </p:nvSpPr>
        <p:spPr>
          <a:xfrm rot="5400000">
            <a:off x="3036220" y="2593268"/>
            <a:ext cx="733641" cy="813916"/>
          </a:xfrm>
          <a:prstGeom prst="bentUp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FCD88-69F0-4B7D-BEAF-7EB8B6481788}"/>
              </a:ext>
            </a:extLst>
          </p:cNvPr>
          <p:cNvSpPr txBox="1"/>
          <p:nvPr/>
        </p:nvSpPr>
        <p:spPr>
          <a:xfrm>
            <a:off x="4035425" y="2755647"/>
            <a:ext cx="702945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Antes de surgirem sinais clínicos, a falta de vitaminas e/ou minerais vai-se desenvolvendo progressivamente dentro de </a:t>
            </a:r>
            <a:r>
              <a:rPr lang="pt-PT" b="1" dirty="0">
                <a:solidFill>
                  <a:srgbClr val="EE6D00"/>
                </a:solidFill>
              </a:rPr>
              <a:t>estadios subclínicos</a:t>
            </a:r>
            <a:r>
              <a:rPr lang="pt-PT" dirty="0"/>
              <a:t>.</a:t>
            </a:r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4347A1D-84B8-46AC-80F0-987E7EB16CA6}"/>
              </a:ext>
            </a:extLst>
          </p:cNvPr>
          <p:cNvSpPr/>
          <p:nvPr/>
        </p:nvSpPr>
        <p:spPr>
          <a:xfrm>
            <a:off x="7226300" y="3924300"/>
            <a:ext cx="584200" cy="444500"/>
          </a:xfrm>
          <a:prstGeom prst="down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50B5E8-5378-4EC6-9C55-5999983F2CBB}"/>
              </a:ext>
            </a:extLst>
          </p:cNvPr>
          <p:cNvSpPr txBox="1"/>
          <p:nvPr/>
        </p:nvSpPr>
        <p:spPr>
          <a:xfrm>
            <a:off x="4102101" y="4518333"/>
            <a:ext cx="6896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Inicialmente não existem sintomas e só se consegue verificar a depleção vitamínica por análises laboratoriais. </a:t>
            </a:r>
            <a:r>
              <a:rPr lang="pt-PT" b="1" dirty="0"/>
              <a:t>Com a evolução da situação vão aparecendo os primeiros sintomas físicos: falta de energia, falta de apetite, dificuldade em dormir…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B06EE-0AC0-4D9A-8110-83BA750F2D13}"/>
              </a:ext>
            </a:extLst>
          </p:cNvPr>
          <p:cNvSpPr/>
          <p:nvPr/>
        </p:nvSpPr>
        <p:spPr>
          <a:xfrm>
            <a:off x="4070350" y="4518333"/>
            <a:ext cx="6896099" cy="175432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E3886DC-AE83-453C-AC4E-E1F54F3CDF02}"/>
              </a:ext>
            </a:extLst>
          </p:cNvPr>
          <p:cNvSpPr txBox="1">
            <a:spLocks/>
          </p:cNvSpPr>
          <p:nvPr/>
        </p:nvSpPr>
        <p:spPr>
          <a:xfrm>
            <a:off x="766763" y="133278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17BACB-B307-46B6-8833-3E5BEF381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75" y="3429000"/>
            <a:ext cx="3608837" cy="240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3338ACC-72F5-4508-BA91-047FA8F28F04}"/>
              </a:ext>
            </a:extLst>
          </p:cNvPr>
          <p:cNvSpPr/>
          <p:nvPr/>
        </p:nvSpPr>
        <p:spPr>
          <a:xfrm>
            <a:off x="121751" y="1934888"/>
            <a:ext cx="5426606" cy="4275412"/>
          </a:xfrm>
          <a:prstGeom prst="rect">
            <a:avLst/>
          </a:prstGeom>
          <a:noFill/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84100608-D823-4C04-B90B-289B115E440B}"/>
              </a:ext>
            </a:extLst>
          </p:cNvPr>
          <p:cNvSpPr txBox="1"/>
          <p:nvPr/>
        </p:nvSpPr>
        <p:spPr>
          <a:xfrm>
            <a:off x="279400" y="1934888"/>
            <a:ext cx="5219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De modo geral, uma dieta equilibrada seria suficiente para cobrir todas as necessidades nutricionais. </a:t>
            </a:r>
            <a:endParaRPr lang="en-US" dirty="0"/>
          </a:p>
        </p:txBody>
      </p:sp>
      <p:sp>
        <p:nvSpPr>
          <p:cNvPr id="15" name="Arrow: Down 1">
            <a:extLst>
              <a:ext uri="{FF2B5EF4-FFF2-40B4-BE49-F238E27FC236}">
                <a16:creationId xmlns:a16="http://schemas.microsoft.com/office/drawing/2014/main" id="{4EF5BA39-019D-4EAB-A152-9864A9C5DD6F}"/>
              </a:ext>
            </a:extLst>
          </p:cNvPr>
          <p:cNvSpPr/>
          <p:nvPr/>
        </p:nvSpPr>
        <p:spPr>
          <a:xfrm rot="16200000">
            <a:off x="5715000" y="3652844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8444FB4-C344-4259-BD67-B1491EF205BE}"/>
              </a:ext>
            </a:extLst>
          </p:cNvPr>
          <p:cNvSpPr txBox="1"/>
          <p:nvPr/>
        </p:nvSpPr>
        <p:spPr>
          <a:xfrm>
            <a:off x="279400" y="4022086"/>
            <a:ext cx="52197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No entanto, infelizmente, mesmo em países considerados mais desenvolvidos, uma grande parte da população não ingere a quantidade adequada de diferentes vitaminas através da dieta.  </a:t>
            </a:r>
            <a:endParaRPr lang="en-US" dirty="0"/>
          </a:p>
        </p:txBody>
      </p:sp>
      <p:sp>
        <p:nvSpPr>
          <p:cNvPr id="18" name="Arrow: Down 12">
            <a:extLst>
              <a:ext uri="{FF2B5EF4-FFF2-40B4-BE49-F238E27FC236}">
                <a16:creationId xmlns:a16="http://schemas.microsoft.com/office/drawing/2014/main" id="{56E1BB83-ADD1-4F79-8AAF-013AC7C7E406}"/>
              </a:ext>
            </a:extLst>
          </p:cNvPr>
          <p:cNvSpPr/>
          <p:nvPr/>
        </p:nvSpPr>
        <p:spPr>
          <a:xfrm>
            <a:off x="2508250" y="3102428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D6D4A9EA-33D8-44D4-AC10-EA4E031891DC}"/>
              </a:ext>
            </a:extLst>
          </p:cNvPr>
          <p:cNvSpPr txBox="1"/>
          <p:nvPr/>
        </p:nvSpPr>
        <p:spPr>
          <a:xfrm>
            <a:off x="6639475" y="1970416"/>
            <a:ext cx="5273125" cy="4204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Isto deve-se a situações como: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Pobreza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Dietas desequilibradas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Distúrbios alimentares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Escolhas alimentares pouco saudáveis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Períodos de exercício físico intenso com maiores necessidades de ingestão de vitaminas que o normal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Stress cognitivo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Doença</a:t>
            </a:r>
          </a:p>
        </p:txBody>
      </p:sp>
    </p:spTree>
    <p:extLst>
      <p:ext uri="{BB962C8B-B14F-4D97-AF65-F5344CB8AC3E}">
        <p14:creationId xmlns:p14="http://schemas.microsoft.com/office/powerpoint/2010/main" val="90306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0CAC90BC-D0A5-4CC0-A1C3-1EECE9AA1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685" y="4684466"/>
            <a:ext cx="2811516" cy="2183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5B75A333-9054-4296-9BA5-87CE7F81D89D}"/>
              </a:ext>
            </a:extLst>
          </p:cNvPr>
          <p:cNvSpPr txBox="1"/>
          <p:nvPr/>
        </p:nvSpPr>
        <p:spPr>
          <a:xfrm>
            <a:off x="1066799" y="2126977"/>
            <a:ext cx="10429875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Mesmo os défices nutricionais leves podem ter </a:t>
            </a:r>
            <a:r>
              <a:rPr lang="pt-PT" b="1" dirty="0">
                <a:solidFill>
                  <a:srgbClr val="EE6D00"/>
                </a:solidFill>
              </a:rPr>
              <a:t>impacto no bem-estar </a:t>
            </a:r>
            <a:r>
              <a:rPr lang="pt-PT" dirty="0"/>
              <a:t>da criança ou do adulto, estando muito relacionados com a fadiga física e mental ou até a diminuição da resistência às infeções.</a:t>
            </a:r>
          </a:p>
          <a:p>
            <a:pPr algn="just">
              <a:lnSpc>
                <a:spcPct val="150000"/>
              </a:lnSpc>
            </a:pPr>
            <a:endParaRPr lang="pt-PT" dirty="0"/>
          </a:p>
          <a:p>
            <a:pPr algn="just">
              <a:lnSpc>
                <a:spcPct val="150000"/>
              </a:lnSpc>
            </a:pPr>
            <a:r>
              <a:rPr lang="pt-PT" dirty="0"/>
              <a:t>Dada a importância dos micronutrientes para o </a:t>
            </a:r>
            <a:r>
              <a:rPr lang="pt-PT" b="1" dirty="0">
                <a:solidFill>
                  <a:srgbClr val="EE6D00"/>
                </a:solidFill>
              </a:rPr>
              <a:t>metabolismo energético </a:t>
            </a:r>
            <a:r>
              <a:rPr lang="pt-PT" dirty="0"/>
              <a:t>e </a:t>
            </a:r>
            <a:r>
              <a:rPr lang="pt-PT" b="1" dirty="0">
                <a:solidFill>
                  <a:srgbClr val="EE6D00"/>
                </a:solidFill>
              </a:rPr>
              <a:t>desempenho</a:t>
            </a:r>
            <a:r>
              <a:rPr lang="pt-PT" dirty="0"/>
              <a:t> </a:t>
            </a:r>
            <a:r>
              <a:rPr lang="pt-PT" b="1" dirty="0">
                <a:solidFill>
                  <a:srgbClr val="EE6D00"/>
                </a:solidFill>
              </a:rPr>
              <a:t>intelectual </a:t>
            </a:r>
            <a:r>
              <a:rPr lang="pt-PT" dirty="0"/>
              <a:t>e dado o </a:t>
            </a:r>
            <a:r>
              <a:rPr lang="pt-PT" u="sng" dirty="0"/>
              <a:t>risco associado aos estados de carência</a:t>
            </a:r>
            <a:r>
              <a:rPr lang="pt-PT" dirty="0"/>
              <a:t>, a suplementação com multivitamínicos pode muitas vezes ser recomendada, nomeadamente para pessoas que sofram de mau aporte alimentar e de queixas que não estejam associadas a qualquer doença subjacente (cansaço, falta de energia, falta de apetite…).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C562E43-D458-4229-A2C7-9DD3E8866987}"/>
              </a:ext>
            </a:extLst>
          </p:cNvPr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53250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7">
            <a:extLst>
              <a:ext uri="{FF2B5EF4-FFF2-40B4-BE49-F238E27FC236}">
                <a16:creationId xmlns:a16="http://schemas.microsoft.com/office/drawing/2014/main" id="{B04A3372-83D4-4230-9A7F-A44C1BDD5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reeform: Shape 9">
            <a:extLst>
              <a:ext uri="{FF2B5EF4-FFF2-40B4-BE49-F238E27FC236}">
                <a16:creationId xmlns:a16="http://schemas.microsoft.com/office/drawing/2014/main" id="{249FB0EA-3C29-4774-B778-CE423831E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416F664B-F4A2-41C8-B39E-873F5CC44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27" descr="Logo&#10;&#10;Description automatically generated">
            <a:extLst>
              <a:ext uri="{FF2B5EF4-FFF2-40B4-BE49-F238E27FC236}">
                <a16:creationId xmlns:a16="http://schemas.microsoft.com/office/drawing/2014/main" id="{1EC2E1FC-B38F-4C3D-BEDB-1DAEFD953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4413" y="605091"/>
            <a:ext cx="7001005" cy="4949984"/>
          </a:xfrm>
          <a:prstGeom prst="rect">
            <a:avLst/>
          </a:prstGeom>
        </p:spPr>
      </p:pic>
      <p:sp>
        <p:nvSpPr>
          <p:cNvPr id="9" name="TextBox 15">
            <a:extLst>
              <a:ext uri="{FF2B5EF4-FFF2-40B4-BE49-F238E27FC236}">
                <a16:creationId xmlns:a16="http://schemas.microsoft.com/office/drawing/2014/main" id="{DF0206C3-FB13-483F-AA6D-A77BE29DF8DB}"/>
              </a:ext>
            </a:extLst>
          </p:cNvPr>
          <p:cNvSpPr txBox="1"/>
          <p:nvPr/>
        </p:nvSpPr>
        <p:spPr>
          <a:xfrm>
            <a:off x="4209812" y="4117334"/>
            <a:ext cx="37723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400" b="1" dirty="0">
                <a:solidFill>
                  <a:srgbClr val="002060"/>
                </a:solidFill>
              </a:rPr>
              <a:t>Toda a família </a:t>
            </a:r>
          </a:p>
          <a:p>
            <a:pPr algn="ctr"/>
            <a:r>
              <a:rPr lang="pt-PT" sz="4400" b="1" dirty="0">
                <a:solidFill>
                  <a:srgbClr val="002060"/>
                </a:solidFill>
              </a:rPr>
              <a:t>(+3 anos)</a:t>
            </a:r>
          </a:p>
        </p:txBody>
      </p:sp>
      <p:pic>
        <p:nvPicPr>
          <p:cNvPr id="10" name="Picture 2" descr="American family | African american family, Black families, Blended family">
            <a:extLst>
              <a:ext uri="{FF2B5EF4-FFF2-40B4-BE49-F238E27FC236}">
                <a16:creationId xmlns:a16="http://schemas.microsoft.com/office/drawing/2014/main" id="{069A0D8C-6C59-486D-9535-95C0FB0D3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847" y="389736"/>
            <a:ext cx="5264295" cy="3506658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287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133CF10-4D11-4E32-B467-69839751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26" y="3278804"/>
            <a:ext cx="4658580" cy="2624137"/>
          </a:xfrm>
          <a:prstGeom prst="rect">
            <a:avLst/>
          </a:prstGeom>
        </p:spPr>
      </p:pic>
      <p:pic>
        <p:nvPicPr>
          <p:cNvPr id="3" name="Picture 27" descr="Logo&#10;&#10;Description automatically generated">
            <a:extLst>
              <a:ext uri="{FF2B5EF4-FFF2-40B4-BE49-F238E27FC236}">
                <a16:creationId xmlns:a16="http://schemas.microsoft.com/office/drawing/2014/main" id="{C3B55083-CA37-47DA-A207-A5A804D53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278" y="66994"/>
            <a:ext cx="5613475" cy="3968946"/>
          </a:xfrm>
          <a:prstGeom prst="rect">
            <a:avLst/>
          </a:pr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0B0AAEE4-1B29-4AC4-AFE9-F54DD9B1D2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703" r="41390"/>
          <a:stretch/>
        </p:blipFill>
        <p:spPr>
          <a:xfrm>
            <a:off x="6909753" y="772361"/>
            <a:ext cx="3816862" cy="613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9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433499" y="2003398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592189" y="2974376"/>
            <a:ext cx="5357667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Visão normal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Efeito antioxidante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24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pic>
        <p:nvPicPr>
          <p:cNvPr id="8194" name="Picture 2" descr="Vitamina a png » PNG Image">
            <a:extLst>
              <a:ext uri="{FF2B5EF4-FFF2-40B4-BE49-F238E27FC236}">
                <a16:creationId xmlns:a16="http://schemas.microsoft.com/office/drawing/2014/main" id="{27BCCEEA-062F-4DA9-AB6C-E72FA6D290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9605" r="23906" b="635"/>
          <a:stretch/>
        </p:blipFill>
        <p:spPr bwMode="auto">
          <a:xfrm>
            <a:off x="1917966" y="2758092"/>
            <a:ext cx="3467838" cy="3588622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46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ruit and vegetable alphabet - letter D Sticker • Pixers® - We live to  change">
            <a:extLst>
              <a:ext uri="{FF2B5EF4-FFF2-40B4-BE49-F238E27FC236}">
                <a16:creationId xmlns:a16="http://schemas.microsoft.com/office/drawing/2014/main" id="{DAB2BC97-14D9-4919-BAB8-F7AB1468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011" y="2269485"/>
            <a:ext cx="3561346" cy="445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866118" y="1753494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246356" y="2568124"/>
            <a:ext cx="6945643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sistema musculosquelético 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Redução do cansaço 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Saúde cardiovascular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Metabolismo e função hormonal</a:t>
            </a:r>
          </a:p>
          <a:p>
            <a:pPr>
              <a:lnSpc>
                <a:spcPct val="150000"/>
              </a:lnSpc>
              <a:buBlip>
                <a:blip r:embed="rId6"/>
              </a:buBlip>
            </a:pPr>
            <a:r>
              <a:rPr lang="pt-PT" sz="20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</p:spTree>
    <p:extLst>
      <p:ext uri="{BB962C8B-B14F-4D97-AF65-F5344CB8AC3E}">
        <p14:creationId xmlns:p14="http://schemas.microsoft.com/office/powerpoint/2010/main" val="2161155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050" name="Picture 2" descr="Imagem relacionada">
            <a:extLst>
              <a:ext uri="{FF2B5EF4-FFF2-40B4-BE49-F238E27FC236}">
                <a16:creationId xmlns:a16="http://schemas.microsoft.com/office/drawing/2014/main" id="{BD9B4E5C-C148-4459-9954-CB9B504C2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7" r="22353"/>
          <a:stretch/>
        </p:blipFill>
        <p:spPr bwMode="auto">
          <a:xfrm>
            <a:off x="2578580" y="2569905"/>
            <a:ext cx="2650645" cy="3456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433499" y="2003398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592189" y="1753494"/>
            <a:ext cx="5357667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Redução do cansaço e fadiga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Saúde cardiovascular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Visão normal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Manutenção/formação de glóbulos vermelhos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Metabolismo do ferro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62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4062F5A-3241-465F-B005-95D1C9D71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074" name="Picture 2" descr="Imagem relacionada">
            <a:extLst>
              <a:ext uri="{FF2B5EF4-FFF2-40B4-BE49-F238E27FC236}">
                <a16:creationId xmlns:a16="http://schemas.microsoft.com/office/drawing/2014/main" id="{3D9006C0-B572-4463-AAF6-470CA2BF9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9" r="29273"/>
          <a:stretch/>
        </p:blipFill>
        <p:spPr bwMode="auto">
          <a:xfrm>
            <a:off x="1724349" y="2687854"/>
            <a:ext cx="2551218" cy="2647189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477FFA-E3C0-42B3-8038-9AEFA7C5235F}"/>
              </a:ext>
            </a:extLst>
          </p:cNvPr>
          <p:cNvSpPr/>
          <p:nvPr/>
        </p:nvSpPr>
        <p:spPr>
          <a:xfrm>
            <a:off x="-1020079" y="1961684"/>
            <a:ext cx="8040073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DB685E-6958-4608-99EB-1C8A9EB8BBB9}"/>
              </a:ext>
            </a:extLst>
          </p:cNvPr>
          <p:cNvSpPr/>
          <p:nvPr/>
        </p:nvSpPr>
        <p:spPr>
          <a:xfrm>
            <a:off x="4710276" y="1961684"/>
            <a:ext cx="8270394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 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Cansaço e fadiga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Ossos, cartilagens, gengivas, pele e dentes (pela formação de colagénio)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dos vasos sanguíneos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Absorção do ferro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FFD3AD-4716-46E9-A876-CCAD4414A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78C98C24-9D9E-4630-902E-599D7B5FD7DC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 dirty="0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062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7" descr="Logo&#10;&#10;Description automatically generated">
            <a:extLst>
              <a:ext uri="{FF2B5EF4-FFF2-40B4-BE49-F238E27FC236}">
                <a16:creationId xmlns:a16="http://schemas.microsoft.com/office/drawing/2014/main" id="{E2C1D9F7-4558-4EE7-BB72-6095EF479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57" y="194530"/>
            <a:ext cx="6079699" cy="429858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FED0DD0-E297-44F6-8A53-275C54F4A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57" y="3729868"/>
            <a:ext cx="5295900" cy="1976438"/>
          </a:xfrm>
          <a:prstGeom prst="rect">
            <a:avLst/>
          </a:prstGeom>
        </p:spPr>
      </p:pic>
      <p:pic>
        <p:nvPicPr>
          <p:cNvPr id="10242" name="Picture 2" descr="Lovelace Family Medicine, PA ~ Compassionate, Quality Care to the Glory of  God">
            <a:extLst>
              <a:ext uri="{FF2B5EF4-FFF2-40B4-BE49-F238E27FC236}">
                <a16:creationId xmlns:a16="http://schemas.microsoft.com/office/drawing/2014/main" id="{8E16C38F-A6B1-4B7A-8851-9CD53E555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034" y="950816"/>
            <a:ext cx="5311809" cy="3542299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913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DFBD9E-97D9-4B17-BFB3-B08C94D7B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2921"/>
            <a:ext cx="12192000" cy="44829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B340034-F6D8-4D09-A5FB-5154D9D88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69480"/>
            <a:ext cx="7710487" cy="342688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BD70E8-D5CE-4B6E-BFF2-64CE8966D100}"/>
              </a:ext>
            </a:extLst>
          </p:cNvPr>
          <p:cNvSpPr txBox="1"/>
          <p:nvPr/>
        </p:nvSpPr>
        <p:spPr>
          <a:xfrm>
            <a:off x="9191625" y="5709805"/>
            <a:ext cx="22694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err="1">
                <a:solidFill>
                  <a:srgbClr val="EE3E34"/>
                </a:solidFill>
              </a:rPr>
              <a:t>Obrigada</a:t>
            </a:r>
            <a:r>
              <a:rPr lang="en-GB" sz="4000" dirty="0">
                <a:solidFill>
                  <a:srgbClr val="EE3E3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87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48"/>
    </mc:Choice>
    <mc:Fallback xmlns="">
      <p:transition spd="slow" advTm="7004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C5CCFF6A-7D93-4206-BDFD-BDE8ECBB9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6" y="-573499"/>
            <a:ext cx="10633389" cy="106333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BD49AF-AB03-41BD-84EA-DE84700F77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39F139-EAED-41E1-ABF7-622B54D4C19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83631" y="2874530"/>
            <a:ext cx="7710487" cy="342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7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70"/>
    </mc:Choice>
    <mc:Fallback xmlns="">
      <p:transition spd="slow" advTm="2207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0E491E-BA2A-43CD-8C0D-D1986F0588E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361913"/>
            <a:ext cx="12192000" cy="2729931"/>
            <a:chOff x="2478110" y="3856996"/>
            <a:chExt cx="8369077" cy="18739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2BA476-7559-4ACD-B720-7A6F246986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894"/>
            <a:stretch/>
          </p:blipFill>
          <p:spPr>
            <a:xfrm>
              <a:off x="3153311" y="3856996"/>
              <a:ext cx="7693876" cy="18739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4037B1-6CFA-4B6F-9076-D4E95192F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462"/>
            <a:stretch/>
          </p:blipFill>
          <p:spPr>
            <a:xfrm>
              <a:off x="2478110" y="3856996"/>
              <a:ext cx="675198" cy="187393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57580E-B105-4F1D-A7EB-B5D3285CF49C}"/>
              </a:ext>
            </a:extLst>
          </p:cNvPr>
          <p:cNvSpPr txBox="1"/>
          <p:nvPr/>
        </p:nvSpPr>
        <p:spPr>
          <a:xfrm>
            <a:off x="1386618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Adultos e Adolescentes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61E19-934C-422C-9B3A-F104153A51DD}"/>
              </a:ext>
            </a:extLst>
          </p:cNvPr>
          <p:cNvSpPr txBox="1"/>
          <p:nvPr/>
        </p:nvSpPr>
        <p:spPr>
          <a:xfrm>
            <a:off x="4012707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Toda a família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D391B-D67B-4F08-B837-66EA4EE2C471}"/>
              </a:ext>
            </a:extLst>
          </p:cNvPr>
          <p:cNvSpPr txBox="1"/>
          <p:nvPr/>
        </p:nvSpPr>
        <p:spPr>
          <a:xfrm>
            <a:off x="6873596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Crianças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1D474-E7A0-401B-9A4B-BB34B0C96E1C}"/>
              </a:ext>
            </a:extLst>
          </p:cNvPr>
          <p:cNvSpPr txBox="1"/>
          <p:nvPr/>
        </p:nvSpPr>
        <p:spPr>
          <a:xfrm>
            <a:off x="9347342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Mulheres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(+12 anos)</a:t>
            </a:r>
          </a:p>
        </p:txBody>
      </p:sp>
      <p:pic>
        <p:nvPicPr>
          <p:cNvPr id="23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DC28DDFB-CC3F-402B-B230-3FFB1B5416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9522162" y="4871463"/>
            <a:ext cx="1779893" cy="6356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EEB320-BE59-4073-B209-41E775B6B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540" y="2148058"/>
            <a:ext cx="2327141" cy="1645379"/>
          </a:xfrm>
          <a:prstGeom prst="rect">
            <a:avLst/>
          </a:prstGeom>
        </p:spPr>
      </p:pic>
      <p:pic>
        <p:nvPicPr>
          <p:cNvPr id="28" name="Picture 27" descr="Logo&#10;&#10;Description automatically generated">
            <a:extLst>
              <a:ext uri="{FF2B5EF4-FFF2-40B4-BE49-F238E27FC236}">
                <a16:creationId xmlns:a16="http://schemas.microsoft.com/office/drawing/2014/main" id="{4A125CA3-39E8-450D-A2A2-4DFE5BEC6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694" y="4322598"/>
            <a:ext cx="2411058" cy="1704712"/>
          </a:xfrm>
          <a:prstGeom prst="rect">
            <a:avLst/>
          </a:prstGeom>
        </p:spPr>
      </p:pic>
      <p:pic>
        <p:nvPicPr>
          <p:cNvPr id="3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3418AC14-CCA8-4425-A07D-A0C6D5FF8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280" y="2114831"/>
            <a:ext cx="2448027" cy="1731055"/>
          </a:xfrm>
          <a:prstGeom prst="rect">
            <a:avLst/>
          </a:prstGeom>
        </p:spPr>
      </p:pic>
      <p:pic>
        <p:nvPicPr>
          <p:cNvPr id="26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B4B5A67F-2402-4E1A-91A7-28ACF6473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11" y="369476"/>
            <a:ext cx="1163569" cy="1163569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A1E5C227-52DF-429B-B77C-516BDA5303D7}"/>
              </a:ext>
            </a:extLst>
          </p:cNvPr>
          <p:cNvSpPr/>
          <p:nvPr/>
        </p:nvSpPr>
        <p:spPr>
          <a:xfrm>
            <a:off x="1735436" y="668732"/>
            <a:ext cx="2748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GAMA VICOMBIL</a:t>
            </a:r>
          </a:p>
        </p:txBody>
      </p:sp>
    </p:spTree>
    <p:extLst>
      <p:ext uri="{BB962C8B-B14F-4D97-AF65-F5344CB8AC3E}">
        <p14:creationId xmlns:p14="http://schemas.microsoft.com/office/powerpoint/2010/main" val="2019517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4FCE7-B901-4615-88E3-0C959B3FDB8F}"/>
              </a:ext>
            </a:extLst>
          </p:cNvPr>
          <p:cNvSpPr txBox="1"/>
          <p:nvPr/>
        </p:nvSpPr>
        <p:spPr>
          <a:xfrm>
            <a:off x="1653077" y="1993412"/>
            <a:ext cx="107389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/>
              <a:t>Fala-se cada vez mais do </a:t>
            </a:r>
            <a:r>
              <a:rPr lang="pt-PT" sz="2000" b="1" dirty="0">
                <a:solidFill>
                  <a:srgbClr val="EE6D00"/>
                </a:solidFill>
              </a:rPr>
              <a:t>défice de micronutrientes (vitaminas e minerais) </a:t>
            </a:r>
            <a:r>
              <a:rPr lang="pt-PT" sz="2000" dirty="0"/>
              <a:t>e do seu impacto.   </a:t>
            </a:r>
            <a:endParaRPr lang="en-US" sz="2000" dirty="0"/>
          </a:p>
        </p:txBody>
      </p:sp>
      <p:sp>
        <p:nvSpPr>
          <p:cNvPr id="5" name="Arrow: Bent-Up 4">
            <a:extLst>
              <a:ext uri="{FF2B5EF4-FFF2-40B4-BE49-F238E27FC236}">
                <a16:creationId xmlns:a16="http://schemas.microsoft.com/office/drawing/2014/main" id="{466413B0-8980-459F-98E5-0DCEBCE5051D}"/>
              </a:ext>
            </a:extLst>
          </p:cNvPr>
          <p:cNvSpPr/>
          <p:nvPr/>
        </p:nvSpPr>
        <p:spPr>
          <a:xfrm rot="5400000">
            <a:off x="3036220" y="2593268"/>
            <a:ext cx="733641" cy="813916"/>
          </a:xfrm>
          <a:prstGeom prst="bentUp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FCD88-69F0-4B7D-BEAF-7EB8B6481788}"/>
              </a:ext>
            </a:extLst>
          </p:cNvPr>
          <p:cNvSpPr txBox="1"/>
          <p:nvPr/>
        </p:nvSpPr>
        <p:spPr>
          <a:xfrm>
            <a:off x="4035425" y="2755647"/>
            <a:ext cx="702945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Antes de surgirem sinais clínicos, a falta de vitaminas e/ou minerais vai-se desenvolvendo progressivamente dentro de </a:t>
            </a:r>
            <a:r>
              <a:rPr lang="pt-PT" b="1" dirty="0">
                <a:solidFill>
                  <a:srgbClr val="EE6D00"/>
                </a:solidFill>
              </a:rPr>
              <a:t>estadios subclínicos</a:t>
            </a:r>
            <a:r>
              <a:rPr lang="pt-PT" dirty="0"/>
              <a:t>.</a:t>
            </a:r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4347A1D-84B8-46AC-80F0-987E7EB16CA6}"/>
              </a:ext>
            </a:extLst>
          </p:cNvPr>
          <p:cNvSpPr/>
          <p:nvPr/>
        </p:nvSpPr>
        <p:spPr>
          <a:xfrm>
            <a:off x="7226300" y="3924300"/>
            <a:ext cx="584200" cy="444500"/>
          </a:xfrm>
          <a:prstGeom prst="down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50B5E8-5378-4EC6-9C55-5999983F2CBB}"/>
              </a:ext>
            </a:extLst>
          </p:cNvPr>
          <p:cNvSpPr txBox="1"/>
          <p:nvPr/>
        </p:nvSpPr>
        <p:spPr>
          <a:xfrm>
            <a:off x="4102101" y="4518333"/>
            <a:ext cx="6896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Inicialmente não existem sintomas e só se consegue verificar a depleção vitamínica por análises laboratoriais. </a:t>
            </a:r>
            <a:r>
              <a:rPr lang="pt-PT" b="1" dirty="0"/>
              <a:t>Com a evolução da situação vão aparecendo os primeiros sintomas físicos: falta de energia, falta de apetite, dificuldade em dormir…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B06EE-0AC0-4D9A-8110-83BA750F2D13}"/>
              </a:ext>
            </a:extLst>
          </p:cNvPr>
          <p:cNvSpPr/>
          <p:nvPr/>
        </p:nvSpPr>
        <p:spPr>
          <a:xfrm>
            <a:off x="4070350" y="4518333"/>
            <a:ext cx="6896099" cy="175432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E3886DC-AE83-453C-AC4E-E1F54F3CDF02}"/>
              </a:ext>
            </a:extLst>
          </p:cNvPr>
          <p:cNvSpPr txBox="1">
            <a:spLocks/>
          </p:cNvSpPr>
          <p:nvPr/>
        </p:nvSpPr>
        <p:spPr>
          <a:xfrm>
            <a:off x="766763" y="133278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17BACB-B307-46B6-8833-3E5BEF381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75" y="3429000"/>
            <a:ext cx="3608837" cy="240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6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3338ACC-72F5-4508-BA91-047FA8F28F04}"/>
              </a:ext>
            </a:extLst>
          </p:cNvPr>
          <p:cNvSpPr/>
          <p:nvPr/>
        </p:nvSpPr>
        <p:spPr>
          <a:xfrm>
            <a:off x="121751" y="1934888"/>
            <a:ext cx="5426606" cy="4275412"/>
          </a:xfrm>
          <a:prstGeom prst="rect">
            <a:avLst/>
          </a:prstGeom>
          <a:noFill/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84100608-D823-4C04-B90B-289B115E440B}"/>
              </a:ext>
            </a:extLst>
          </p:cNvPr>
          <p:cNvSpPr txBox="1"/>
          <p:nvPr/>
        </p:nvSpPr>
        <p:spPr>
          <a:xfrm>
            <a:off x="279400" y="1934888"/>
            <a:ext cx="5219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De modo geral, uma dieta equilibrada seria suficiente para cobrir todas as necessidades nutricionais. </a:t>
            </a:r>
            <a:endParaRPr lang="en-US" dirty="0"/>
          </a:p>
        </p:txBody>
      </p:sp>
      <p:sp>
        <p:nvSpPr>
          <p:cNvPr id="15" name="Arrow: Down 1">
            <a:extLst>
              <a:ext uri="{FF2B5EF4-FFF2-40B4-BE49-F238E27FC236}">
                <a16:creationId xmlns:a16="http://schemas.microsoft.com/office/drawing/2014/main" id="{4EF5BA39-019D-4EAB-A152-9864A9C5DD6F}"/>
              </a:ext>
            </a:extLst>
          </p:cNvPr>
          <p:cNvSpPr/>
          <p:nvPr/>
        </p:nvSpPr>
        <p:spPr>
          <a:xfrm rot="16200000">
            <a:off x="5715000" y="3652844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8444FB4-C344-4259-BD67-B1491EF205BE}"/>
              </a:ext>
            </a:extLst>
          </p:cNvPr>
          <p:cNvSpPr txBox="1"/>
          <p:nvPr/>
        </p:nvSpPr>
        <p:spPr>
          <a:xfrm>
            <a:off x="279400" y="4022086"/>
            <a:ext cx="52197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No entanto, infelizmente, mesmo em países considerados mais desenvolvidos, uma grande parte da população não ingere a quantidade adequada de diferentes vitaminas através da dieta.  </a:t>
            </a:r>
            <a:endParaRPr lang="en-US" dirty="0"/>
          </a:p>
        </p:txBody>
      </p:sp>
      <p:sp>
        <p:nvSpPr>
          <p:cNvPr id="18" name="Arrow: Down 12">
            <a:extLst>
              <a:ext uri="{FF2B5EF4-FFF2-40B4-BE49-F238E27FC236}">
                <a16:creationId xmlns:a16="http://schemas.microsoft.com/office/drawing/2014/main" id="{56E1BB83-ADD1-4F79-8AAF-013AC7C7E406}"/>
              </a:ext>
            </a:extLst>
          </p:cNvPr>
          <p:cNvSpPr/>
          <p:nvPr/>
        </p:nvSpPr>
        <p:spPr>
          <a:xfrm>
            <a:off x="2508250" y="3102428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D6D4A9EA-33D8-44D4-AC10-EA4E031891DC}"/>
              </a:ext>
            </a:extLst>
          </p:cNvPr>
          <p:cNvSpPr txBox="1"/>
          <p:nvPr/>
        </p:nvSpPr>
        <p:spPr>
          <a:xfrm>
            <a:off x="6639475" y="1970416"/>
            <a:ext cx="5273125" cy="4204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Isto deve-se a situações como: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Pobreza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Dietas desequilibradas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Distúrbios alimentares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Escolhas alimentares pouco saudáveis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Períodos de exercício físico intenso com maiores necessidades de ingestão de vitaminas que o normal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Stress cognitivo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Doença</a:t>
            </a:r>
          </a:p>
        </p:txBody>
      </p:sp>
    </p:spTree>
    <p:extLst>
      <p:ext uri="{BB962C8B-B14F-4D97-AF65-F5344CB8AC3E}">
        <p14:creationId xmlns:p14="http://schemas.microsoft.com/office/powerpoint/2010/main" val="43148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0CAC90BC-D0A5-4CC0-A1C3-1EECE9AA1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685" y="4684466"/>
            <a:ext cx="2811516" cy="2183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5B75A333-9054-4296-9BA5-87CE7F81D89D}"/>
              </a:ext>
            </a:extLst>
          </p:cNvPr>
          <p:cNvSpPr txBox="1"/>
          <p:nvPr/>
        </p:nvSpPr>
        <p:spPr>
          <a:xfrm>
            <a:off x="1066799" y="2126977"/>
            <a:ext cx="10429875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Mesmo os défices nutricionais leves podem ter </a:t>
            </a:r>
            <a:r>
              <a:rPr lang="pt-PT" b="1" dirty="0">
                <a:solidFill>
                  <a:srgbClr val="EE6D00"/>
                </a:solidFill>
              </a:rPr>
              <a:t>impacto no bem-estar </a:t>
            </a:r>
            <a:r>
              <a:rPr lang="pt-PT" dirty="0"/>
              <a:t>da criança ou do adulto, estando muito relacionados com a fadiga física e mental ou até a diminuição da resistência às infeções.</a:t>
            </a:r>
          </a:p>
          <a:p>
            <a:pPr algn="just">
              <a:lnSpc>
                <a:spcPct val="150000"/>
              </a:lnSpc>
            </a:pPr>
            <a:endParaRPr lang="pt-PT" dirty="0"/>
          </a:p>
          <a:p>
            <a:pPr algn="just">
              <a:lnSpc>
                <a:spcPct val="150000"/>
              </a:lnSpc>
            </a:pPr>
            <a:r>
              <a:rPr lang="pt-PT" dirty="0"/>
              <a:t>Dada a importância dos micronutrientes para o </a:t>
            </a:r>
            <a:r>
              <a:rPr lang="pt-PT" b="1" dirty="0">
                <a:solidFill>
                  <a:srgbClr val="EE6D00"/>
                </a:solidFill>
              </a:rPr>
              <a:t>metabolismo energético </a:t>
            </a:r>
            <a:r>
              <a:rPr lang="pt-PT" dirty="0"/>
              <a:t>e </a:t>
            </a:r>
            <a:r>
              <a:rPr lang="pt-PT" b="1" dirty="0">
                <a:solidFill>
                  <a:srgbClr val="EE6D00"/>
                </a:solidFill>
              </a:rPr>
              <a:t>desempenho</a:t>
            </a:r>
            <a:r>
              <a:rPr lang="pt-PT" dirty="0"/>
              <a:t> </a:t>
            </a:r>
            <a:r>
              <a:rPr lang="pt-PT" b="1" dirty="0">
                <a:solidFill>
                  <a:srgbClr val="EE6D00"/>
                </a:solidFill>
              </a:rPr>
              <a:t>intelectual </a:t>
            </a:r>
            <a:r>
              <a:rPr lang="pt-PT" dirty="0"/>
              <a:t>e dado o </a:t>
            </a:r>
            <a:r>
              <a:rPr lang="pt-PT" u="sng" dirty="0"/>
              <a:t>risco associado aos estados de carência</a:t>
            </a:r>
            <a:r>
              <a:rPr lang="pt-PT" dirty="0"/>
              <a:t>, a suplementação com multivitamínicos pode muitas vezes ser recomendada, nomeadamente para pessoas que sofram de mau aporte alimentar e de queixas que não estejam associadas a qualquer doença subjacente (cansaço, falta de energia, falta de apetite…).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C562E43-D458-4229-A2C7-9DD3E8866987}"/>
              </a:ext>
            </a:extLst>
          </p:cNvPr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71850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D8B2359-569A-403A-BBF1-8DEA6F13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868" y="2482042"/>
            <a:ext cx="3453632" cy="258651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Vitamina </a:t>
            </a:r>
            <a:r>
              <a:rPr lang="pt-PT" sz="1800" b="1" dirty="0">
                <a:solidFill>
                  <a:srgbClr val="2B1786"/>
                </a:solidFill>
                <a:latin typeface="MyriadPro-Regular"/>
              </a:rPr>
              <a:t>B6 </a:t>
            </a: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(2 mg/10ml) – 143% DDR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Vitamina </a:t>
            </a:r>
            <a:r>
              <a:rPr lang="pt-PT" sz="1800" b="1" dirty="0">
                <a:solidFill>
                  <a:srgbClr val="FB7D98"/>
                </a:solidFill>
                <a:latin typeface="MyriadPro-Regular"/>
              </a:rPr>
              <a:t>C</a:t>
            </a: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(60 mg/10ml) – 75% DDR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Vitamina </a:t>
            </a:r>
            <a:r>
              <a:rPr lang="pt-PT" sz="1800" b="1" dirty="0">
                <a:solidFill>
                  <a:srgbClr val="76C46B"/>
                </a:solidFill>
                <a:latin typeface="MyriadPro-Regular"/>
              </a:rPr>
              <a:t>B3</a:t>
            </a: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(20 mg/10ml) – 125% DDR</a:t>
            </a:r>
            <a:endParaRPr lang="pt-PT" sz="1800" dirty="0">
              <a:solidFill>
                <a:srgbClr val="F7083E"/>
              </a:solidFill>
              <a:latin typeface="MyriadPro-Regular"/>
            </a:endParaRP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Vitamina </a:t>
            </a:r>
            <a:r>
              <a:rPr lang="pt-PT" sz="1800" b="1" dirty="0">
                <a:solidFill>
                  <a:srgbClr val="F7083E"/>
                </a:solidFill>
                <a:latin typeface="MyriadPro-Regular"/>
              </a:rPr>
              <a:t>B1</a:t>
            </a: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(2mg/10ml) – 143% DDR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Vitamina </a:t>
            </a:r>
            <a:r>
              <a:rPr lang="pt-PT" sz="1800" b="1" dirty="0">
                <a:solidFill>
                  <a:srgbClr val="FF7200"/>
                </a:solidFill>
                <a:latin typeface="MyriadPro-Regular"/>
              </a:rPr>
              <a:t>B2</a:t>
            </a:r>
            <a:r>
              <a:rPr lang="pt-PT" sz="1800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(2 mg/10ml) – 182% DDR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endParaRPr lang="pt-PT" sz="1800" dirty="0">
              <a:solidFill>
                <a:schemeClr val="tx2">
                  <a:lumMod val="50000"/>
                </a:schemeClr>
              </a:solidFill>
              <a:latin typeface="MyriadPro-Regular"/>
            </a:endParaRPr>
          </a:p>
          <a:p>
            <a:pPr marL="0" indent="0">
              <a:lnSpc>
                <a:spcPct val="150000"/>
              </a:lnSpc>
              <a:buNone/>
            </a:pPr>
            <a:endParaRPr lang="pt-PT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6DC9D6-B292-4B83-B1E9-8D4445CA5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22" y="782823"/>
            <a:ext cx="4206474" cy="59487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EBC73F-7B36-4EB4-8678-BFBE4E924F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963" b="27599"/>
          <a:stretch/>
        </p:blipFill>
        <p:spPr>
          <a:xfrm>
            <a:off x="3486150" y="258208"/>
            <a:ext cx="5799799" cy="1699219"/>
          </a:xfrm>
          <a:prstGeom prst="rect">
            <a:avLst/>
          </a:prstGeom>
        </p:spPr>
      </p:pic>
      <p:pic>
        <p:nvPicPr>
          <p:cNvPr id="6" name="Picture 2" descr="Black Child Pictures | Download Free Images on Unsplash">
            <a:extLst>
              <a:ext uri="{FF2B5EF4-FFF2-40B4-BE49-F238E27FC236}">
                <a16:creationId xmlns:a16="http://schemas.microsoft.com/office/drawing/2014/main" id="{2B2D4FC8-B37E-4DD6-9B56-38B2EA05E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937" y="0"/>
            <a:ext cx="3548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250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050" name="Picture 2" descr="Imagem relacionada">
            <a:extLst>
              <a:ext uri="{FF2B5EF4-FFF2-40B4-BE49-F238E27FC236}">
                <a16:creationId xmlns:a16="http://schemas.microsoft.com/office/drawing/2014/main" id="{BD9B4E5C-C148-4459-9954-CB9B504C2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7" r="22353"/>
          <a:stretch/>
        </p:blipFill>
        <p:spPr bwMode="auto">
          <a:xfrm>
            <a:off x="2578580" y="2569905"/>
            <a:ext cx="2650645" cy="3456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433499" y="2003398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592189" y="1753494"/>
            <a:ext cx="5357667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Redução do cansaço e fadiga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Saúde cardiovascular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Visão normal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Manutenção/formação de glóbulos vermelhos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Metabolismo do ferro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8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4062F5A-3241-465F-B005-95D1C9D71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074" name="Picture 2" descr="Imagem relacionada">
            <a:extLst>
              <a:ext uri="{FF2B5EF4-FFF2-40B4-BE49-F238E27FC236}">
                <a16:creationId xmlns:a16="http://schemas.microsoft.com/office/drawing/2014/main" id="{3D9006C0-B572-4463-AAF6-470CA2BF9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9" r="29273"/>
          <a:stretch/>
        </p:blipFill>
        <p:spPr bwMode="auto">
          <a:xfrm>
            <a:off x="1724349" y="2687854"/>
            <a:ext cx="2551218" cy="2647189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477FFA-E3C0-42B3-8038-9AEFA7C5235F}"/>
              </a:ext>
            </a:extLst>
          </p:cNvPr>
          <p:cNvSpPr/>
          <p:nvPr/>
        </p:nvSpPr>
        <p:spPr>
          <a:xfrm>
            <a:off x="-1020079" y="1961684"/>
            <a:ext cx="8040073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DB685E-6958-4608-99EB-1C8A9EB8BBB9}"/>
              </a:ext>
            </a:extLst>
          </p:cNvPr>
          <p:cNvSpPr/>
          <p:nvPr/>
        </p:nvSpPr>
        <p:spPr>
          <a:xfrm>
            <a:off x="4710276" y="1961684"/>
            <a:ext cx="8270394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 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Cansaço e fadiga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Ossos, cartilagens, gengivas, pele e dentes (pela formação de colagénio)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dos vasos sanguíneos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Absorção do ferro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FFD3AD-4716-46E9-A876-CCAD4414A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78C98C24-9D9E-4630-902E-599D7B5FD7DC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 dirty="0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782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BAAE9C-E9B4-4854-94B5-40692630053C}"/>
              </a:ext>
            </a:extLst>
          </p:cNvPr>
          <p:cNvGrpSpPr/>
          <p:nvPr/>
        </p:nvGrpSpPr>
        <p:grpSpPr>
          <a:xfrm>
            <a:off x="1369138" y="2126969"/>
            <a:ext cx="6501496" cy="4231275"/>
            <a:chOff x="428624" y="2729050"/>
            <a:chExt cx="7936247" cy="226897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2671FBA-C398-49E1-BA33-FB0880A9A967}"/>
                </a:ext>
              </a:extLst>
            </p:cNvPr>
            <p:cNvSpPr/>
            <p:nvPr/>
          </p:nvSpPr>
          <p:spPr>
            <a:xfrm>
              <a:off x="428624" y="2888673"/>
              <a:ext cx="6690044" cy="2109354"/>
            </a:xfrm>
            <a:prstGeom prst="roundRect">
              <a:avLst/>
            </a:prstGeom>
            <a:noFill/>
            <a:ln>
              <a:solidFill>
                <a:srgbClr val="EE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2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94B725-FA41-4C34-A637-CD10AA51C44A}"/>
                </a:ext>
              </a:extLst>
            </p:cNvPr>
            <p:cNvSpPr txBox="1"/>
            <p:nvPr/>
          </p:nvSpPr>
          <p:spPr>
            <a:xfrm>
              <a:off x="1064275" y="2729050"/>
              <a:ext cx="3858441" cy="280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2800" b="1" dirty="0">
                  <a:solidFill>
                    <a:srgbClr val="EE6D00"/>
                  </a:solidFill>
                </a:rPr>
                <a:t> QUANDO UTILIZAR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19EA8EC-3D72-4332-AEA6-A62C2D951CA4}"/>
                </a:ext>
              </a:extLst>
            </p:cNvPr>
            <p:cNvSpPr/>
            <p:nvPr/>
          </p:nvSpPr>
          <p:spPr>
            <a:xfrm>
              <a:off x="740784" y="3045375"/>
              <a:ext cx="7624087" cy="187057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Manutenção de uma normal função de: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Sistema</a:t>
              </a:r>
              <a:r>
                <a:rPr lang="pt-PT" sz="2400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nervoso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dirty="0">
                  <a:solidFill>
                    <a:schemeClr val="tx2">
                      <a:lumMod val="50000"/>
                    </a:schemeClr>
                  </a:solidFill>
                </a:rPr>
                <a:t>Visão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dirty="0">
                  <a:solidFill>
                    <a:schemeClr val="tx2">
                      <a:lumMod val="50000"/>
                    </a:schemeClr>
                  </a:solidFill>
                </a:rPr>
                <a:t>Coração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Produção de energia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dirty="0">
                  <a:solidFill>
                    <a:schemeClr val="tx2">
                      <a:lumMod val="50000"/>
                    </a:schemeClr>
                  </a:solidFill>
                </a:rPr>
                <a:t>Sistema imunitário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Sistema musculosquelético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0EBC73F-7B36-4EB4-8678-BFBE4E924F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963" b="27599"/>
          <a:stretch/>
        </p:blipFill>
        <p:spPr>
          <a:xfrm>
            <a:off x="514774" y="210110"/>
            <a:ext cx="6315075" cy="18501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B33677-0B5E-410B-BF70-8042779116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426" r="14647"/>
          <a:stretch/>
        </p:blipFill>
        <p:spPr>
          <a:xfrm>
            <a:off x="7141235" y="703911"/>
            <a:ext cx="4427291" cy="410352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0000" endA="275" endPos="40000" dist="1016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379056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BAAE9C-E9B4-4854-94B5-40692630053C}"/>
              </a:ext>
            </a:extLst>
          </p:cNvPr>
          <p:cNvGrpSpPr/>
          <p:nvPr/>
        </p:nvGrpSpPr>
        <p:grpSpPr>
          <a:xfrm>
            <a:off x="1369138" y="2129719"/>
            <a:ext cx="5480587" cy="4228524"/>
            <a:chOff x="428624" y="2730525"/>
            <a:chExt cx="6690044" cy="226750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2671FBA-C398-49E1-BA33-FB0880A9A967}"/>
                </a:ext>
              </a:extLst>
            </p:cNvPr>
            <p:cNvSpPr/>
            <p:nvPr/>
          </p:nvSpPr>
          <p:spPr>
            <a:xfrm>
              <a:off x="428624" y="2888673"/>
              <a:ext cx="6690044" cy="2109354"/>
            </a:xfrm>
            <a:prstGeom prst="roundRect">
              <a:avLst/>
            </a:prstGeom>
            <a:noFill/>
            <a:ln>
              <a:solidFill>
                <a:srgbClr val="EE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2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94B725-FA41-4C34-A637-CD10AA51C44A}"/>
                </a:ext>
              </a:extLst>
            </p:cNvPr>
            <p:cNvSpPr txBox="1"/>
            <p:nvPr/>
          </p:nvSpPr>
          <p:spPr>
            <a:xfrm>
              <a:off x="1564235" y="2730525"/>
              <a:ext cx="3858441" cy="280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2800" b="1" dirty="0">
                  <a:solidFill>
                    <a:srgbClr val="EE6D00"/>
                  </a:solidFill>
                </a:rPr>
                <a:t> COMO UTILIZAR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0EBC73F-7B36-4EB4-8678-BFBE4E924F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963" b="27599"/>
          <a:stretch/>
        </p:blipFill>
        <p:spPr>
          <a:xfrm>
            <a:off x="514774" y="210110"/>
            <a:ext cx="6315075" cy="1850184"/>
          </a:xfrm>
          <a:prstGeom prst="rect">
            <a:avLst/>
          </a:prstGeom>
        </p:spPr>
      </p:pic>
      <p:pic>
        <p:nvPicPr>
          <p:cNvPr id="1026" name="Picture 2" descr="Black Child High Res Stock Images | Shutterstock">
            <a:extLst>
              <a:ext uri="{FF2B5EF4-FFF2-40B4-BE49-F238E27FC236}">
                <a16:creationId xmlns:a16="http://schemas.microsoft.com/office/drawing/2014/main" id="{7F1E3F45-9CB2-4859-85BD-7C6ECD420E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9" t="1459" r="11552" b="8249"/>
          <a:stretch/>
        </p:blipFill>
        <p:spPr bwMode="auto">
          <a:xfrm>
            <a:off x="7350583" y="847725"/>
            <a:ext cx="3793667" cy="3352800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0181B28-56D2-4852-A8A3-CD56794A0B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8957"/>
          <a:stretch/>
        </p:blipFill>
        <p:spPr>
          <a:xfrm>
            <a:off x="1653588" y="2637025"/>
            <a:ext cx="4918661" cy="345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35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C2A2EC33-E4C8-41F9-AFA3-9F16A73C8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" y="-982060"/>
            <a:ext cx="10633389" cy="10633389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6DC9D6-B292-4B83-B1E9-8D4445CA5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076" y="1688814"/>
            <a:ext cx="3317718" cy="46919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EBC73F-7B36-4EB4-8678-BFBE4E924F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963" b="27599"/>
          <a:stretch/>
        </p:blipFill>
        <p:spPr>
          <a:xfrm>
            <a:off x="981075" y="307363"/>
            <a:ext cx="4777699" cy="139976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39EFA45F-130B-45B2-AAC0-16FE721285D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5814" b="24666"/>
          <a:stretch/>
        </p:blipFill>
        <p:spPr>
          <a:xfrm>
            <a:off x="4848105" y="1393667"/>
            <a:ext cx="3714750" cy="12211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98F2777-E8D0-49FC-8D9D-93652316996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3976" b="-1"/>
          <a:stretch/>
        </p:blipFill>
        <p:spPr>
          <a:xfrm>
            <a:off x="7414986" y="1465955"/>
            <a:ext cx="3714750" cy="1076550"/>
          </a:xfrm>
          <a:prstGeom prst="rect">
            <a:avLst/>
          </a:prstGeom>
        </p:spPr>
      </p:pic>
      <p:pic>
        <p:nvPicPr>
          <p:cNvPr id="7" name="Picture 2" descr="AA Children — CASA of St. Louis">
            <a:extLst>
              <a:ext uri="{FF2B5EF4-FFF2-40B4-BE49-F238E27FC236}">
                <a16:creationId xmlns:a16="http://schemas.microsoft.com/office/drawing/2014/main" id="{7B07EFF4-DB79-4609-A84F-0D4F88EFF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268" y="2004230"/>
            <a:ext cx="7310311" cy="484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475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DFBD9E-97D9-4B17-BFB3-B08C94D7B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2921"/>
            <a:ext cx="12192000" cy="44829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B340034-F6D8-4D09-A5FB-5154D9D88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69480"/>
            <a:ext cx="7710487" cy="342688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BD70E8-D5CE-4B6E-BFF2-64CE8966D100}"/>
              </a:ext>
            </a:extLst>
          </p:cNvPr>
          <p:cNvSpPr txBox="1"/>
          <p:nvPr/>
        </p:nvSpPr>
        <p:spPr>
          <a:xfrm>
            <a:off x="9191625" y="5709805"/>
            <a:ext cx="22694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err="1">
                <a:solidFill>
                  <a:srgbClr val="EE3E34"/>
                </a:solidFill>
              </a:rPr>
              <a:t>Obrigada</a:t>
            </a:r>
            <a:r>
              <a:rPr lang="en-GB" sz="4000" dirty="0">
                <a:solidFill>
                  <a:srgbClr val="EE3E3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600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48"/>
    </mc:Choice>
    <mc:Fallback xmlns="">
      <p:transition spd="slow" advTm="70048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C5CCFF6A-7D93-4206-BDFD-BDE8ECBB9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6" y="-573499"/>
            <a:ext cx="10633389" cy="106333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BD49AF-AB03-41BD-84EA-DE84700F77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39F139-EAED-41E1-ABF7-622B54D4C19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83631" y="2874530"/>
            <a:ext cx="7710487" cy="342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0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70"/>
    </mc:Choice>
    <mc:Fallback xmlns="">
      <p:transition spd="slow" advTm="2207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0E491E-BA2A-43CD-8C0D-D1986F0588E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361913"/>
            <a:ext cx="12192000" cy="2729931"/>
            <a:chOff x="2478110" y="3856996"/>
            <a:chExt cx="8369077" cy="18739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2BA476-7559-4ACD-B720-7A6F246986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894"/>
            <a:stretch/>
          </p:blipFill>
          <p:spPr>
            <a:xfrm>
              <a:off x="3153311" y="3856996"/>
              <a:ext cx="7693876" cy="18739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4037B1-6CFA-4B6F-9076-D4E95192F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462"/>
            <a:stretch/>
          </p:blipFill>
          <p:spPr>
            <a:xfrm>
              <a:off x="2478110" y="3856996"/>
              <a:ext cx="675198" cy="187393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57580E-B105-4F1D-A7EB-B5D3285CF49C}"/>
              </a:ext>
            </a:extLst>
          </p:cNvPr>
          <p:cNvSpPr txBox="1"/>
          <p:nvPr/>
        </p:nvSpPr>
        <p:spPr>
          <a:xfrm>
            <a:off x="1386618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Adultos e Adolescentes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61E19-934C-422C-9B3A-F104153A51DD}"/>
              </a:ext>
            </a:extLst>
          </p:cNvPr>
          <p:cNvSpPr txBox="1"/>
          <p:nvPr/>
        </p:nvSpPr>
        <p:spPr>
          <a:xfrm>
            <a:off x="4012707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Toda a família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D391B-D67B-4F08-B837-66EA4EE2C471}"/>
              </a:ext>
            </a:extLst>
          </p:cNvPr>
          <p:cNvSpPr txBox="1"/>
          <p:nvPr/>
        </p:nvSpPr>
        <p:spPr>
          <a:xfrm>
            <a:off x="6873596" y="4835349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Crianças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(+3 anos)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1D474-E7A0-401B-9A4B-BB34B0C96E1C}"/>
              </a:ext>
            </a:extLst>
          </p:cNvPr>
          <p:cNvSpPr txBox="1"/>
          <p:nvPr/>
        </p:nvSpPr>
        <p:spPr>
          <a:xfrm>
            <a:off x="9347342" y="2620097"/>
            <a:ext cx="1861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Mulheres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(+12 anos)</a:t>
            </a:r>
          </a:p>
        </p:txBody>
      </p:sp>
      <p:pic>
        <p:nvPicPr>
          <p:cNvPr id="23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DC28DDFB-CC3F-402B-B230-3FFB1B5416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9522162" y="4871463"/>
            <a:ext cx="1779893" cy="6356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EEB320-BE59-4073-B209-41E775B6B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540" y="2148058"/>
            <a:ext cx="2327141" cy="1645379"/>
          </a:xfrm>
          <a:prstGeom prst="rect">
            <a:avLst/>
          </a:prstGeom>
        </p:spPr>
      </p:pic>
      <p:pic>
        <p:nvPicPr>
          <p:cNvPr id="28" name="Picture 27" descr="Logo&#10;&#10;Description automatically generated">
            <a:extLst>
              <a:ext uri="{FF2B5EF4-FFF2-40B4-BE49-F238E27FC236}">
                <a16:creationId xmlns:a16="http://schemas.microsoft.com/office/drawing/2014/main" id="{4A125CA3-39E8-450D-A2A2-4DFE5BEC6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694" y="4322598"/>
            <a:ext cx="2411058" cy="1704712"/>
          </a:xfrm>
          <a:prstGeom prst="rect">
            <a:avLst/>
          </a:prstGeom>
        </p:spPr>
      </p:pic>
      <p:pic>
        <p:nvPicPr>
          <p:cNvPr id="3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3418AC14-CCA8-4425-A07D-A0C6D5FF84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280" y="2114831"/>
            <a:ext cx="2448027" cy="1731055"/>
          </a:xfrm>
          <a:prstGeom prst="rect">
            <a:avLst/>
          </a:prstGeom>
        </p:spPr>
      </p:pic>
      <p:pic>
        <p:nvPicPr>
          <p:cNvPr id="26" name="Picture 24" descr="A picture containing brass&#10;&#10;Description automatically generated">
            <a:extLst>
              <a:ext uri="{FF2B5EF4-FFF2-40B4-BE49-F238E27FC236}">
                <a16:creationId xmlns:a16="http://schemas.microsoft.com/office/drawing/2014/main" id="{B4B5A67F-2402-4E1A-91A7-28ACF6473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11" y="369476"/>
            <a:ext cx="1163569" cy="1163569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A1E5C227-52DF-429B-B77C-516BDA5303D7}"/>
              </a:ext>
            </a:extLst>
          </p:cNvPr>
          <p:cNvSpPr/>
          <p:nvPr/>
        </p:nvSpPr>
        <p:spPr>
          <a:xfrm>
            <a:off x="1735436" y="668732"/>
            <a:ext cx="2748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GAMA VICOMBIL</a:t>
            </a:r>
          </a:p>
        </p:txBody>
      </p:sp>
    </p:spTree>
    <p:extLst>
      <p:ext uri="{BB962C8B-B14F-4D97-AF65-F5344CB8AC3E}">
        <p14:creationId xmlns:p14="http://schemas.microsoft.com/office/powerpoint/2010/main" val="2927466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4FCE7-B901-4615-88E3-0C959B3FDB8F}"/>
              </a:ext>
            </a:extLst>
          </p:cNvPr>
          <p:cNvSpPr txBox="1"/>
          <p:nvPr/>
        </p:nvSpPr>
        <p:spPr>
          <a:xfrm>
            <a:off x="1653077" y="1993412"/>
            <a:ext cx="107389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/>
              <a:t>Fala-se cada vez mais do </a:t>
            </a:r>
            <a:r>
              <a:rPr lang="pt-PT" sz="2000" b="1" dirty="0">
                <a:solidFill>
                  <a:srgbClr val="EE6D00"/>
                </a:solidFill>
              </a:rPr>
              <a:t>défice de micronutrientes (vitaminas e minerais) </a:t>
            </a:r>
            <a:r>
              <a:rPr lang="pt-PT" sz="2000" dirty="0"/>
              <a:t>e do seu impacto.   </a:t>
            </a:r>
            <a:endParaRPr lang="en-US" sz="2000" dirty="0"/>
          </a:p>
        </p:txBody>
      </p:sp>
      <p:sp>
        <p:nvSpPr>
          <p:cNvPr id="5" name="Arrow: Bent-Up 4">
            <a:extLst>
              <a:ext uri="{FF2B5EF4-FFF2-40B4-BE49-F238E27FC236}">
                <a16:creationId xmlns:a16="http://schemas.microsoft.com/office/drawing/2014/main" id="{466413B0-8980-459F-98E5-0DCEBCE5051D}"/>
              </a:ext>
            </a:extLst>
          </p:cNvPr>
          <p:cNvSpPr/>
          <p:nvPr/>
        </p:nvSpPr>
        <p:spPr>
          <a:xfrm rot="5400000">
            <a:off x="3036220" y="2593268"/>
            <a:ext cx="733641" cy="813916"/>
          </a:xfrm>
          <a:prstGeom prst="bentUp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FCD88-69F0-4B7D-BEAF-7EB8B6481788}"/>
              </a:ext>
            </a:extLst>
          </p:cNvPr>
          <p:cNvSpPr txBox="1"/>
          <p:nvPr/>
        </p:nvSpPr>
        <p:spPr>
          <a:xfrm>
            <a:off x="4035425" y="2755647"/>
            <a:ext cx="702945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Antes de surgirem sinais clínicos, a falta de vitaminas e/ou minerais vai-se desenvolvendo progressivamente dentro de </a:t>
            </a:r>
            <a:r>
              <a:rPr lang="pt-PT" b="1" dirty="0">
                <a:solidFill>
                  <a:srgbClr val="EE6D00"/>
                </a:solidFill>
              </a:rPr>
              <a:t>estadios subclínicos</a:t>
            </a:r>
            <a:r>
              <a:rPr lang="pt-PT" dirty="0"/>
              <a:t>.</a:t>
            </a:r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4347A1D-84B8-46AC-80F0-987E7EB16CA6}"/>
              </a:ext>
            </a:extLst>
          </p:cNvPr>
          <p:cNvSpPr/>
          <p:nvPr/>
        </p:nvSpPr>
        <p:spPr>
          <a:xfrm>
            <a:off x="7226300" y="3924300"/>
            <a:ext cx="584200" cy="444500"/>
          </a:xfrm>
          <a:prstGeom prst="downArrow">
            <a:avLst/>
          </a:prstGeom>
          <a:solidFill>
            <a:srgbClr val="FCBC00"/>
          </a:solidFill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50B5E8-5378-4EC6-9C55-5999983F2CBB}"/>
              </a:ext>
            </a:extLst>
          </p:cNvPr>
          <p:cNvSpPr txBox="1"/>
          <p:nvPr/>
        </p:nvSpPr>
        <p:spPr>
          <a:xfrm>
            <a:off x="4102101" y="4518333"/>
            <a:ext cx="68960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Inicialmente não existem sintomas e só se consegue verificar a depleção vitamínica por análises laboratoriais. </a:t>
            </a:r>
            <a:r>
              <a:rPr lang="pt-PT" b="1" dirty="0"/>
              <a:t>Com a evolução da situação vão aparecendo os primeiros sintomas físicos: falta de energia, falta de apetite, dificuldade em dormir…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B06EE-0AC0-4D9A-8110-83BA750F2D13}"/>
              </a:ext>
            </a:extLst>
          </p:cNvPr>
          <p:cNvSpPr/>
          <p:nvPr/>
        </p:nvSpPr>
        <p:spPr>
          <a:xfrm>
            <a:off x="4070350" y="4518333"/>
            <a:ext cx="6896099" cy="1754326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E3886DC-AE83-453C-AC4E-E1F54F3CDF02}"/>
              </a:ext>
            </a:extLst>
          </p:cNvPr>
          <p:cNvSpPr txBox="1">
            <a:spLocks/>
          </p:cNvSpPr>
          <p:nvPr/>
        </p:nvSpPr>
        <p:spPr>
          <a:xfrm>
            <a:off x="766763" y="133278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17BACB-B307-46B6-8833-3E5BEF381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75" y="3429000"/>
            <a:ext cx="3608837" cy="240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0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E3338ACC-72F5-4508-BA91-047FA8F28F04}"/>
              </a:ext>
            </a:extLst>
          </p:cNvPr>
          <p:cNvSpPr/>
          <p:nvPr/>
        </p:nvSpPr>
        <p:spPr>
          <a:xfrm>
            <a:off x="121751" y="1934888"/>
            <a:ext cx="5426606" cy="4275412"/>
          </a:xfrm>
          <a:prstGeom prst="rect">
            <a:avLst/>
          </a:prstGeom>
          <a:noFill/>
          <a:ln>
            <a:solidFill>
              <a:srgbClr val="FCB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84100608-D823-4C04-B90B-289B115E440B}"/>
              </a:ext>
            </a:extLst>
          </p:cNvPr>
          <p:cNvSpPr txBox="1"/>
          <p:nvPr/>
        </p:nvSpPr>
        <p:spPr>
          <a:xfrm>
            <a:off x="279400" y="1934888"/>
            <a:ext cx="5219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De modo geral, uma dieta equilibrada seria suficiente para cobrir todas as necessidades nutricionais. </a:t>
            </a:r>
            <a:endParaRPr lang="en-US" dirty="0"/>
          </a:p>
        </p:txBody>
      </p:sp>
      <p:sp>
        <p:nvSpPr>
          <p:cNvPr id="15" name="Arrow: Down 1">
            <a:extLst>
              <a:ext uri="{FF2B5EF4-FFF2-40B4-BE49-F238E27FC236}">
                <a16:creationId xmlns:a16="http://schemas.microsoft.com/office/drawing/2014/main" id="{4EF5BA39-019D-4EAB-A152-9864A9C5DD6F}"/>
              </a:ext>
            </a:extLst>
          </p:cNvPr>
          <p:cNvSpPr/>
          <p:nvPr/>
        </p:nvSpPr>
        <p:spPr>
          <a:xfrm rot="16200000">
            <a:off x="5715000" y="3652844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8444FB4-C344-4259-BD67-B1491EF205BE}"/>
              </a:ext>
            </a:extLst>
          </p:cNvPr>
          <p:cNvSpPr txBox="1"/>
          <p:nvPr/>
        </p:nvSpPr>
        <p:spPr>
          <a:xfrm>
            <a:off x="279400" y="4022086"/>
            <a:ext cx="52197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No entanto, infelizmente, mesmo em países considerados mais desenvolvidos, uma grande parte da população não ingere a quantidade adequada de diferentes vitaminas através da dieta.  </a:t>
            </a:r>
            <a:endParaRPr lang="en-US" dirty="0"/>
          </a:p>
        </p:txBody>
      </p:sp>
      <p:sp>
        <p:nvSpPr>
          <p:cNvPr id="18" name="Arrow: Down 12">
            <a:extLst>
              <a:ext uri="{FF2B5EF4-FFF2-40B4-BE49-F238E27FC236}">
                <a16:creationId xmlns:a16="http://schemas.microsoft.com/office/drawing/2014/main" id="{56E1BB83-ADD1-4F79-8AAF-013AC7C7E406}"/>
              </a:ext>
            </a:extLst>
          </p:cNvPr>
          <p:cNvSpPr/>
          <p:nvPr/>
        </p:nvSpPr>
        <p:spPr>
          <a:xfrm>
            <a:off x="2508250" y="3102428"/>
            <a:ext cx="762000" cy="55880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D6D4A9EA-33D8-44D4-AC10-EA4E031891DC}"/>
              </a:ext>
            </a:extLst>
          </p:cNvPr>
          <p:cNvSpPr txBox="1"/>
          <p:nvPr/>
        </p:nvSpPr>
        <p:spPr>
          <a:xfrm>
            <a:off x="6639475" y="1970416"/>
            <a:ext cx="5273125" cy="42043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Isto deve-se a situações como: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Pobreza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Dietas desequilibradas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Distúrbios alimentares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Escolhas alimentares pouco saudáveis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Períodos de exercício físico intenso com maiores necessidades de ingestão de vitaminas que o normal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Stress cognitivo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Doença</a:t>
            </a:r>
          </a:p>
        </p:txBody>
      </p:sp>
    </p:spTree>
    <p:extLst>
      <p:ext uri="{BB962C8B-B14F-4D97-AF65-F5344CB8AC3E}">
        <p14:creationId xmlns:p14="http://schemas.microsoft.com/office/powerpoint/2010/main" val="147076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0CAC90BC-D0A5-4CC0-A1C3-1EECE9AA1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685" y="4684466"/>
            <a:ext cx="2811516" cy="21830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5B75A333-9054-4296-9BA5-87CE7F81D89D}"/>
              </a:ext>
            </a:extLst>
          </p:cNvPr>
          <p:cNvSpPr txBox="1"/>
          <p:nvPr/>
        </p:nvSpPr>
        <p:spPr>
          <a:xfrm>
            <a:off x="1066799" y="2126977"/>
            <a:ext cx="10429875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Mesmo os défices nutricionais leves podem ter </a:t>
            </a:r>
            <a:r>
              <a:rPr lang="pt-PT" b="1" dirty="0">
                <a:solidFill>
                  <a:srgbClr val="EE6D00"/>
                </a:solidFill>
              </a:rPr>
              <a:t>impacto no bem-estar </a:t>
            </a:r>
            <a:r>
              <a:rPr lang="pt-PT" dirty="0"/>
              <a:t>da criança ou do adulto, estando muito relacionados com a fadiga física e mental ou até a diminuição da resistência às infeções.</a:t>
            </a:r>
          </a:p>
          <a:p>
            <a:pPr algn="just">
              <a:lnSpc>
                <a:spcPct val="150000"/>
              </a:lnSpc>
            </a:pPr>
            <a:endParaRPr lang="pt-PT" dirty="0"/>
          </a:p>
          <a:p>
            <a:pPr algn="just">
              <a:lnSpc>
                <a:spcPct val="150000"/>
              </a:lnSpc>
            </a:pPr>
            <a:r>
              <a:rPr lang="pt-PT" dirty="0"/>
              <a:t>Dada a importância dos micronutrientes para o </a:t>
            </a:r>
            <a:r>
              <a:rPr lang="pt-PT" b="1" dirty="0">
                <a:solidFill>
                  <a:srgbClr val="EE6D00"/>
                </a:solidFill>
              </a:rPr>
              <a:t>metabolismo energético </a:t>
            </a:r>
            <a:r>
              <a:rPr lang="pt-PT" dirty="0"/>
              <a:t>e </a:t>
            </a:r>
            <a:r>
              <a:rPr lang="pt-PT" b="1" dirty="0">
                <a:solidFill>
                  <a:srgbClr val="EE6D00"/>
                </a:solidFill>
              </a:rPr>
              <a:t>desempenho</a:t>
            </a:r>
            <a:r>
              <a:rPr lang="pt-PT" dirty="0"/>
              <a:t> </a:t>
            </a:r>
            <a:r>
              <a:rPr lang="pt-PT" b="1" dirty="0">
                <a:solidFill>
                  <a:srgbClr val="EE6D00"/>
                </a:solidFill>
              </a:rPr>
              <a:t>intelectual </a:t>
            </a:r>
            <a:r>
              <a:rPr lang="pt-PT" dirty="0"/>
              <a:t>e dado o </a:t>
            </a:r>
            <a:r>
              <a:rPr lang="pt-PT" u="sng" dirty="0"/>
              <a:t>risco associado aos estados de carência</a:t>
            </a:r>
            <a:r>
              <a:rPr lang="pt-PT" dirty="0"/>
              <a:t>, a suplementação com multivitamínicos pode muitas vezes ser recomendada, nomeadamente para pessoas que sofram de mau aporte alimentar e de queixas que não estejam associadas a qualquer doença subjacente (cansaço, falta de energia, falta de apetite…).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C562E43-D458-4229-A2C7-9DD3E8866987}"/>
              </a:ext>
            </a:extLst>
          </p:cNvPr>
          <p:cNvSpPr txBox="1">
            <a:spLocks/>
          </p:cNvSpPr>
          <p:nvPr/>
        </p:nvSpPr>
        <p:spPr>
          <a:xfrm>
            <a:off x="871538" y="76447"/>
            <a:ext cx="10448924" cy="1858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EE6D00"/>
                </a:solidFill>
              </a:rPr>
              <a:t>VITAMINAS </a:t>
            </a:r>
          </a:p>
          <a:p>
            <a:pPr>
              <a:lnSpc>
                <a:spcPct val="150000"/>
              </a:lnSpc>
            </a:pPr>
            <a:r>
              <a:rPr lang="en-US" baseline="30000" dirty="0" err="1"/>
              <a:t>Obter</a:t>
            </a:r>
            <a:r>
              <a:rPr lang="en-US" baseline="30000" dirty="0"/>
              <a:t> as </a:t>
            </a:r>
            <a:r>
              <a:rPr lang="en-US" baseline="30000" dirty="0" err="1"/>
              <a:t>quantidades</a:t>
            </a:r>
            <a:r>
              <a:rPr lang="en-US" baseline="30000" dirty="0"/>
              <a:t> </a:t>
            </a:r>
            <a:r>
              <a:rPr lang="en-US" baseline="30000" dirty="0" err="1"/>
              <a:t>necessárias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4899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439"/>
    </mc:Choice>
    <mc:Fallback xmlns="">
      <p:transition spd="slow" advTm="85439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785A366C-6E0F-4CD8-88AB-6E2EFF1C7D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8" b="10747"/>
          <a:stretch/>
        </p:blipFill>
        <p:spPr>
          <a:xfrm>
            <a:off x="-344535" y="1334048"/>
            <a:ext cx="5911997" cy="3325499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524" y="1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Black Women&amp;#39;s Congressional Alliance">
            <a:extLst>
              <a:ext uri="{FF2B5EF4-FFF2-40B4-BE49-F238E27FC236}">
                <a16:creationId xmlns:a16="http://schemas.microsoft.com/office/drawing/2014/main" id="{F51E3158-3C5C-435E-BE2A-9F8389A0F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862"/>
          <a:stretch/>
        </p:blipFill>
        <p:spPr bwMode="auto"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1898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3992B192-858E-4AC4-99FB-365EA4A036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3299069" y="339522"/>
            <a:ext cx="4809522" cy="1717635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D3A87610-3A33-4B51-84F8-F8029983F0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470" r="1"/>
          <a:stretch/>
        </p:blipFill>
        <p:spPr>
          <a:xfrm>
            <a:off x="1352146" y="1404247"/>
            <a:ext cx="3126000" cy="585481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D6572F7-6538-45E2-A710-B8F2257EF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399" y="2752929"/>
            <a:ext cx="6622914" cy="261808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70F2C0B-4F6B-4C29-BA84-044953B0253A}"/>
              </a:ext>
            </a:extLst>
          </p:cNvPr>
          <p:cNvSpPr txBox="1"/>
          <p:nvPr/>
        </p:nvSpPr>
        <p:spPr>
          <a:xfrm>
            <a:off x="4402399" y="5784107"/>
            <a:ext cx="67169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 err="1">
                <a:solidFill>
                  <a:schemeClr val="accent2"/>
                </a:solidFill>
              </a:rPr>
              <a:t>Desenhado</a:t>
            </a:r>
            <a:r>
              <a:rPr lang="en-GB" sz="2100" b="1" dirty="0">
                <a:solidFill>
                  <a:schemeClr val="accent2"/>
                </a:solidFill>
              </a:rPr>
              <a:t> a </a:t>
            </a:r>
            <a:r>
              <a:rPr lang="en-GB" sz="2100" b="1" dirty="0" err="1">
                <a:solidFill>
                  <a:schemeClr val="accent2"/>
                </a:solidFill>
              </a:rPr>
              <a:t>pensar</a:t>
            </a:r>
            <a:r>
              <a:rPr lang="en-GB" sz="2100" b="1" dirty="0">
                <a:solidFill>
                  <a:schemeClr val="accent2"/>
                </a:solidFill>
              </a:rPr>
              <a:t> </a:t>
            </a:r>
            <a:r>
              <a:rPr lang="en-GB" sz="2100" b="1" dirty="0" err="1">
                <a:solidFill>
                  <a:schemeClr val="accent2"/>
                </a:solidFill>
              </a:rPr>
              <a:t>nas</a:t>
            </a:r>
            <a:r>
              <a:rPr lang="en-GB" sz="2100" b="1" dirty="0">
                <a:solidFill>
                  <a:schemeClr val="accent2"/>
                </a:solidFill>
              </a:rPr>
              <a:t> </a:t>
            </a:r>
            <a:r>
              <a:rPr lang="en-GB" sz="2100" b="1" dirty="0" err="1">
                <a:solidFill>
                  <a:schemeClr val="accent2"/>
                </a:solidFill>
              </a:rPr>
              <a:t>necessidades</a:t>
            </a:r>
            <a:r>
              <a:rPr lang="en-GB" sz="2100" b="1" dirty="0">
                <a:solidFill>
                  <a:schemeClr val="accent2"/>
                </a:solidFill>
              </a:rPr>
              <a:t> </a:t>
            </a:r>
            <a:r>
              <a:rPr lang="en-GB" sz="2100" b="1" dirty="0" err="1">
                <a:solidFill>
                  <a:schemeClr val="accent2"/>
                </a:solidFill>
              </a:rPr>
              <a:t>especiais</a:t>
            </a:r>
            <a:r>
              <a:rPr lang="en-GB" sz="2100" b="1" dirty="0">
                <a:solidFill>
                  <a:schemeClr val="accent2"/>
                </a:solidFill>
              </a:rPr>
              <a:t> da </a:t>
            </a:r>
            <a:r>
              <a:rPr lang="en-GB" sz="2100" b="1" dirty="0" err="1">
                <a:solidFill>
                  <a:schemeClr val="accent2"/>
                </a:solidFill>
              </a:rPr>
              <a:t>mulher</a:t>
            </a:r>
            <a:r>
              <a:rPr lang="en-GB" sz="21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A920F6-1F45-4A69-B88A-811DDEABE675}"/>
              </a:ext>
            </a:extLst>
          </p:cNvPr>
          <p:cNvSpPr/>
          <p:nvPr/>
        </p:nvSpPr>
        <p:spPr>
          <a:xfrm>
            <a:off x="4213665" y="3121883"/>
            <a:ext cx="7031509" cy="7594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25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CBE7FDC-A346-4C86-9E64-A7EDD857B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20" y="826851"/>
            <a:ext cx="10166957" cy="5874567"/>
          </a:xfrm>
          <a:prstGeom prst="rect">
            <a:avLst/>
          </a:prstGeom>
        </p:spPr>
      </p:pic>
      <p:pic>
        <p:nvPicPr>
          <p:cNvPr id="3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ABE80752-5990-4E5F-9BCF-A33088F37A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1097220" y="0"/>
            <a:ext cx="4100795" cy="146452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BC81B44-79E8-45D4-B043-4CED490E5E36}"/>
              </a:ext>
            </a:extLst>
          </p:cNvPr>
          <p:cNvSpPr/>
          <p:nvPr/>
        </p:nvSpPr>
        <p:spPr>
          <a:xfrm>
            <a:off x="6478621" y="5359940"/>
            <a:ext cx="1060315" cy="379379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0190CE-BB8C-42A2-9133-758532C363A8}"/>
              </a:ext>
            </a:extLst>
          </p:cNvPr>
          <p:cNvSpPr txBox="1"/>
          <p:nvPr/>
        </p:nvSpPr>
        <p:spPr>
          <a:xfrm flipH="1">
            <a:off x="4795211" y="5180297"/>
            <a:ext cx="44271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err="1">
                <a:solidFill>
                  <a:schemeClr val="bg1"/>
                </a:solidFill>
                <a:latin typeface="+mj-lt"/>
              </a:rPr>
              <a:t>Atividade</a:t>
            </a:r>
            <a:r>
              <a:rPr lang="en-GB" sz="1400" b="1" dirty="0">
                <a:solidFill>
                  <a:schemeClr val="bg1"/>
                </a:solidFill>
                <a:latin typeface="+mj-lt"/>
              </a:rPr>
              <a:t> e </a:t>
            </a:r>
          </a:p>
          <a:p>
            <a:pPr algn="ctr"/>
            <a:r>
              <a:rPr lang="en-GB" sz="1400" b="1" dirty="0" err="1">
                <a:solidFill>
                  <a:schemeClr val="bg1"/>
                </a:solidFill>
                <a:latin typeface="+mj-lt"/>
              </a:rPr>
              <a:t>regeneração</a:t>
            </a:r>
            <a:r>
              <a:rPr lang="en-GB" sz="1400" b="1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algn="ctr"/>
            <a:r>
              <a:rPr lang="en-GB" sz="1400" b="1" dirty="0">
                <a:solidFill>
                  <a:schemeClr val="bg1"/>
                </a:solidFill>
                <a:latin typeface="+mj-lt"/>
              </a:rPr>
              <a:t>no SNC</a:t>
            </a:r>
          </a:p>
        </p:txBody>
      </p:sp>
    </p:spTree>
    <p:extLst>
      <p:ext uri="{BB962C8B-B14F-4D97-AF65-F5344CB8AC3E}">
        <p14:creationId xmlns:p14="http://schemas.microsoft.com/office/powerpoint/2010/main" val="5246462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3992B192-858E-4AC4-99FB-365EA4A036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3781412" y="273264"/>
            <a:ext cx="4229105" cy="151034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EF04BBC-BA29-46C4-B6D4-8DBF50F73782}"/>
              </a:ext>
            </a:extLst>
          </p:cNvPr>
          <p:cNvSpPr txBox="1">
            <a:spLocks/>
          </p:cNvSpPr>
          <p:nvPr/>
        </p:nvSpPr>
        <p:spPr>
          <a:xfrm>
            <a:off x="1933999" y="1954861"/>
            <a:ext cx="8924392" cy="9334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sz="3600" b="1" dirty="0">
                <a:solidFill>
                  <a:srgbClr val="002060"/>
                </a:solidFill>
                <a:latin typeface="+mn-lt"/>
              </a:rPr>
              <a:t>CAUSAS PARA A DEFICIÊNCIA DE FERRO:</a:t>
            </a:r>
          </a:p>
        </p:txBody>
      </p:sp>
      <p:pic>
        <p:nvPicPr>
          <p:cNvPr id="9" name="Picture 4" descr="Blood Icon Clipart Png, Transparent Png , Transparent Png Image - PNGitem">
            <a:extLst>
              <a:ext uri="{FF2B5EF4-FFF2-40B4-BE49-F238E27FC236}">
                <a16:creationId xmlns:a16="http://schemas.microsoft.com/office/drawing/2014/main" id="{F533934A-4F62-4060-A1F7-1C07F0C5B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836" y="2621747"/>
            <a:ext cx="2016480" cy="290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F710E81B-9FD6-43B8-AF4F-9394A3F41CCA}"/>
              </a:ext>
            </a:extLst>
          </p:cNvPr>
          <p:cNvSpPr txBox="1"/>
          <p:nvPr/>
        </p:nvSpPr>
        <p:spPr>
          <a:xfrm>
            <a:off x="2029063" y="3337510"/>
            <a:ext cx="1274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PT" b="1" dirty="0">
                <a:solidFill>
                  <a:prstClr val="white"/>
                </a:solidFill>
              </a:rPr>
              <a:t>Perda de sangue</a:t>
            </a:r>
            <a:endParaRPr kumimoji="0" lang="pt-PT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1" name="Picture 4" descr="Blood Icon Clipart Png, Transparent Png , Transparent Png Image - PNGitem">
            <a:extLst>
              <a:ext uri="{FF2B5EF4-FFF2-40B4-BE49-F238E27FC236}">
                <a16:creationId xmlns:a16="http://schemas.microsoft.com/office/drawing/2014/main" id="{2FA41C27-0B74-488F-BA05-778DAC58C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82" y="5982816"/>
            <a:ext cx="476526" cy="68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25">
            <a:extLst>
              <a:ext uri="{FF2B5EF4-FFF2-40B4-BE49-F238E27FC236}">
                <a16:creationId xmlns:a16="http://schemas.microsoft.com/office/drawing/2014/main" id="{954B4B35-217A-4E81-AE2F-9B45A25E88BC}"/>
              </a:ext>
            </a:extLst>
          </p:cNvPr>
          <p:cNvSpPr txBox="1"/>
          <p:nvPr/>
        </p:nvSpPr>
        <p:spPr>
          <a:xfrm>
            <a:off x="2029064" y="6172093"/>
            <a:ext cx="2125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PT" sz="1600" b="1" dirty="0">
                <a:solidFill>
                  <a:srgbClr val="D50000"/>
                </a:solidFill>
              </a:rPr>
              <a:t>Hemorragia (</a:t>
            </a:r>
            <a:r>
              <a:rPr lang="pt-PT" sz="1600" b="1" dirty="0" err="1">
                <a:solidFill>
                  <a:srgbClr val="D50000"/>
                </a:solidFill>
              </a:rPr>
              <a:t>ex</a:t>
            </a:r>
            <a:r>
              <a:rPr lang="pt-PT" sz="1600" b="1" dirty="0">
                <a:solidFill>
                  <a:srgbClr val="D50000"/>
                </a:solidFill>
              </a:rPr>
              <a:t>: parto)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rgbClr val="D50000"/>
              </a:solidFill>
              <a:effectLst/>
              <a:uLnTx/>
              <a:uFillTx/>
            </a:endParaRPr>
          </a:p>
        </p:txBody>
      </p:sp>
      <p:pic>
        <p:nvPicPr>
          <p:cNvPr id="13" name="Picture 4" descr="Blood Icon Clipart Png, Transparent Png , Transparent Png Image - PNGitem">
            <a:extLst>
              <a:ext uri="{FF2B5EF4-FFF2-40B4-BE49-F238E27FC236}">
                <a16:creationId xmlns:a16="http://schemas.microsoft.com/office/drawing/2014/main" id="{BE97D9ED-6616-4D5F-B11A-186DD065E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82" y="5281050"/>
            <a:ext cx="476526" cy="68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Blood Icon Clipart Png, Transparent Png , Transparent Png Image - PNGitem">
            <a:extLst>
              <a:ext uri="{FF2B5EF4-FFF2-40B4-BE49-F238E27FC236}">
                <a16:creationId xmlns:a16="http://schemas.microsoft.com/office/drawing/2014/main" id="{45873FAD-D918-4103-91D4-E317054F5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283" y="2621747"/>
            <a:ext cx="2016480" cy="290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8">
            <a:extLst>
              <a:ext uri="{FF2B5EF4-FFF2-40B4-BE49-F238E27FC236}">
                <a16:creationId xmlns:a16="http://schemas.microsoft.com/office/drawing/2014/main" id="{DA9B3D7B-84B3-4CE6-A516-2996617CFAD1}"/>
              </a:ext>
            </a:extLst>
          </p:cNvPr>
          <p:cNvSpPr txBox="1"/>
          <p:nvPr/>
        </p:nvSpPr>
        <p:spPr>
          <a:xfrm>
            <a:off x="5677803" y="3337510"/>
            <a:ext cx="1443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PT" b="1" dirty="0">
                <a:solidFill>
                  <a:prstClr val="white"/>
                </a:solidFill>
              </a:rPr>
              <a:t>Aumento necessidade</a:t>
            </a:r>
            <a:endParaRPr kumimoji="0" lang="pt-PT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6" name="Picture 4" descr="Blood Icon Clipart Png, Transparent Png , Transparent Png Image - PNGitem">
            <a:extLst>
              <a:ext uri="{FF2B5EF4-FFF2-40B4-BE49-F238E27FC236}">
                <a16:creationId xmlns:a16="http://schemas.microsoft.com/office/drawing/2014/main" id="{086A2B81-4DCB-429D-B32F-AD9CCF848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30" y="2621747"/>
            <a:ext cx="2016480" cy="290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30">
            <a:extLst>
              <a:ext uri="{FF2B5EF4-FFF2-40B4-BE49-F238E27FC236}">
                <a16:creationId xmlns:a16="http://schemas.microsoft.com/office/drawing/2014/main" id="{BB1C9D0C-35B1-4F51-A0D7-E3F81B21CB22}"/>
              </a:ext>
            </a:extLst>
          </p:cNvPr>
          <p:cNvSpPr txBox="1"/>
          <p:nvPr/>
        </p:nvSpPr>
        <p:spPr>
          <a:xfrm>
            <a:off x="9433548" y="3199010"/>
            <a:ext cx="1424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PT" b="1" dirty="0">
                <a:solidFill>
                  <a:prstClr val="white"/>
                </a:solidFill>
              </a:rPr>
              <a:t>Baixo consumo ou má absorção</a:t>
            </a:r>
          </a:p>
        </p:txBody>
      </p:sp>
      <p:sp>
        <p:nvSpPr>
          <p:cNvPr id="18" name="TextBox 31">
            <a:extLst>
              <a:ext uri="{FF2B5EF4-FFF2-40B4-BE49-F238E27FC236}">
                <a16:creationId xmlns:a16="http://schemas.microsoft.com/office/drawing/2014/main" id="{EDC5E5B5-935A-4C06-914F-C9FB59772EEF}"/>
              </a:ext>
            </a:extLst>
          </p:cNvPr>
          <p:cNvSpPr txBox="1"/>
          <p:nvPr/>
        </p:nvSpPr>
        <p:spPr>
          <a:xfrm>
            <a:off x="2029063" y="5477153"/>
            <a:ext cx="2125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PT" sz="1600" b="1" dirty="0">
                <a:solidFill>
                  <a:srgbClr val="D50000"/>
                </a:solidFill>
              </a:rPr>
              <a:t>Menstruação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rgbClr val="D50000"/>
              </a:solidFill>
              <a:effectLst/>
              <a:uLnTx/>
              <a:uFillTx/>
            </a:endParaRPr>
          </a:p>
        </p:txBody>
      </p:sp>
      <p:pic>
        <p:nvPicPr>
          <p:cNvPr id="19" name="Picture 4" descr="Blood Icon Clipart Png, Transparent Png , Transparent Png Image - PNGitem">
            <a:extLst>
              <a:ext uri="{FF2B5EF4-FFF2-40B4-BE49-F238E27FC236}">
                <a16:creationId xmlns:a16="http://schemas.microsoft.com/office/drawing/2014/main" id="{035B8863-041C-4B4B-8A11-9FDD79AC1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331" y="5986542"/>
            <a:ext cx="476526" cy="68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33">
            <a:extLst>
              <a:ext uri="{FF2B5EF4-FFF2-40B4-BE49-F238E27FC236}">
                <a16:creationId xmlns:a16="http://schemas.microsoft.com/office/drawing/2014/main" id="{97009709-4210-460A-B0AD-261ADDEB3435}"/>
              </a:ext>
            </a:extLst>
          </p:cNvPr>
          <p:cNvSpPr txBox="1"/>
          <p:nvPr/>
        </p:nvSpPr>
        <p:spPr>
          <a:xfrm>
            <a:off x="5791313" y="6175819"/>
            <a:ext cx="2360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PT" sz="1600" b="1" dirty="0">
                <a:solidFill>
                  <a:srgbClr val="D50000"/>
                </a:solidFill>
              </a:rPr>
              <a:t>Gravidez e amamentação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rgbClr val="D50000"/>
              </a:solidFill>
              <a:effectLst/>
              <a:uLnTx/>
              <a:uFillTx/>
            </a:endParaRPr>
          </a:p>
        </p:txBody>
      </p:sp>
      <p:pic>
        <p:nvPicPr>
          <p:cNvPr id="21" name="Picture 4" descr="Blood Icon Clipart Png, Transparent Png , Transparent Png Image - PNGitem">
            <a:extLst>
              <a:ext uri="{FF2B5EF4-FFF2-40B4-BE49-F238E27FC236}">
                <a16:creationId xmlns:a16="http://schemas.microsoft.com/office/drawing/2014/main" id="{4BF7B837-3C6E-404F-9573-E779712F6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331" y="5284776"/>
            <a:ext cx="476526" cy="68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35">
            <a:extLst>
              <a:ext uri="{FF2B5EF4-FFF2-40B4-BE49-F238E27FC236}">
                <a16:creationId xmlns:a16="http://schemas.microsoft.com/office/drawing/2014/main" id="{20001F81-4CE1-4503-8A4F-4028F756F728}"/>
              </a:ext>
            </a:extLst>
          </p:cNvPr>
          <p:cNvSpPr txBox="1"/>
          <p:nvPr/>
        </p:nvSpPr>
        <p:spPr>
          <a:xfrm>
            <a:off x="5791312" y="5480879"/>
            <a:ext cx="2125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PT" sz="1600" b="1" dirty="0">
                <a:solidFill>
                  <a:srgbClr val="D50000"/>
                </a:solidFill>
              </a:rPr>
              <a:t>Jovens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rgbClr val="D5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15729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5123985-73FD-402E-992B-B3633199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8" y="476047"/>
            <a:ext cx="9105900" cy="13144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5DB8411-ADA0-492B-B3D0-93AFD84AF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28" y="1790497"/>
            <a:ext cx="7181850" cy="488632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02FEFCC-F514-49C8-9DE3-B3A8E5950288}"/>
              </a:ext>
            </a:extLst>
          </p:cNvPr>
          <p:cNvSpPr/>
          <p:nvPr/>
        </p:nvSpPr>
        <p:spPr>
          <a:xfrm>
            <a:off x="2908773" y="4543425"/>
            <a:ext cx="4435813" cy="2814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Don&amp;#39;t touch my hair&amp;#39; — black women&amp;#39;s hairstyles are misunderstood at work |  Financial Times">
            <a:extLst>
              <a:ext uri="{FF2B5EF4-FFF2-40B4-BE49-F238E27FC236}">
                <a16:creationId xmlns:a16="http://schemas.microsoft.com/office/drawing/2014/main" id="{ABF9332A-269E-4AD0-ABFA-F1FEB1D238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0" r="23858"/>
          <a:stretch/>
        </p:blipFill>
        <p:spPr bwMode="auto">
          <a:xfrm>
            <a:off x="8365939" y="1633537"/>
            <a:ext cx="3449368" cy="359092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AD112DCD-5AC8-4AFE-8A58-923094EEBEE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8647319" y="5429250"/>
            <a:ext cx="2933217" cy="10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1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050" name="Picture 2" descr="Imagem relacionada">
            <a:extLst>
              <a:ext uri="{FF2B5EF4-FFF2-40B4-BE49-F238E27FC236}">
                <a16:creationId xmlns:a16="http://schemas.microsoft.com/office/drawing/2014/main" id="{BD9B4E5C-C148-4459-9954-CB9B504C2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7" r="22353"/>
          <a:stretch/>
        </p:blipFill>
        <p:spPr bwMode="auto">
          <a:xfrm>
            <a:off x="2578580" y="2569905"/>
            <a:ext cx="2650645" cy="3456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8352C-9613-4CAA-81CF-EE2D5B5F48C7}"/>
              </a:ext>
            </a:extLst>
          </p:cNvPr>
          <p:cNvSpPr/>
          <p:nvPr/>
        </p:nvSpPr>
        <p:spPr>
          <a:xfrm>
            <a:off x="-433499" y="2003398"/>
            <a:ext cx="8029575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386C0-E162-424F-BD0E-B689D95E63B2}"/>
              </a:ext>
            </a:extLst>
          </p:cNvPr>
          <p:cNvSpPr/>
          <p:nvPr/>
        </p:nvSpPr>
        <p:spPr>
          <a:xfrm>
            <a:off x="5592189" y="1753494"/>
            <a:ext cx="5357667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Redução do cansaço e fadiga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Saúde cardiovascular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Pele e mucosas saudáveis 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Visão normal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Manutenção/formação de glóbulos vermelhos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Metabolismo do ferro</a:t>
            </a:r>
          </a:p>
          <a:p>
            <a:pPr>
              <a:lnSpc>
                <a:spcPct val="150000"/>
              </a:lnSpc>
              <a:buBlip>
                <a:blip r:embed="rId4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A7F657-54AD-4B05-BB1B-F1902836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EE597CF0-16BE-4D38-8B4F-F938649B69E1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C0CFC1-BCFD-4183-87E4-9FDB84E48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533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4062F5A-3241-465F-B005-95D1C9D71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361" y="0"/>
            <a:ext cx="2053639" cy="3648364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074" name="Picture 2" descr="Imagem relacionada">
            <a:extLst>
              <a:ext uri="{FF2B5EF4-FFF2-40B4-BE49-F238E27FC236}">
                <a16:creationId xmlns:a16="http://schemas.microsoft.com/office/drawing/2014/main" id="{3D9006C0-B572-4463-AAF6-470CA2BF9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9" r="29273"/>
          <a:stretch/>
        </p:blipFill>
        <p:spPr bwMode="auto">
          <a:xfrm>
            <a:off x="1724349" y="2687854"/>
            <a:ext cx="2551218" cy="2647189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477FFA-E3C0-42B3-8038-9AEFA7C5235F}"/>
              </a:ext>
            </a:extLst>
          </p:cNvPr>
          <p:cNvSpPr/>
          <p:nvPr/>
        </p:nvSpPr>
        <p:spPr>
          <a:xfrm>
            <a:off x="-1020079" y="1961684"/>
            <a:ext cx="8040073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3200" b="1" dirty="0">
                <a:solidFill>
                  <a:srgbClr val="F0883A"/>
                </a:solidFill>
              </a:rPr>
              <a:t>Vitamina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DB685E-6958-4608-99EB-1C8A9EB8BBB9}"/>
              </a:ext>
            </a:extLst>
          </p:cNvPr>
          <p:cNvSpPr/>
          <p:nvPr/>
        </p:nvSpPr>
        <p:spPr>
          <a:xfrm>
            <a:off x="4710276" y="1961684"/>
            <a:ext cx="8270394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e regeneração do SNC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Função psicológica 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 sistema imunitário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Cansaço e fadiga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Ossos, cartilagens, gengivas, pele e dentes (pela formação de colagénio)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Funcionamento dos vasos sanguíneos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Produção de energia</a:t>
            </a:r>
          </a:p>
          <a:p>
            <a:pPr>
              <a:lnSpc>
                <a:spcPct val="150000"/>
              </a:lnSpc>
              <a:buBlip>
                <a:blip r:embed="rId5"/>
              </a:buBlip>
            </a:pPr>
            <a:r>
              <a:rPr lang="pt-PT" dirty="0">
                <a:solidFill>
                  <a:schemeClr val="tx2">
                    <a:lumMod val="50000"/>
                  </a:schemeClr>
                </a:solidFill>
                <a:latin typeface="MyriadPro-Regular"/>
              </a:rPr>
              <a:t>  Absorção do ferro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FFD3AD-4716-46E9-A876-CCAD4414A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" y="366713"/>
            <a:ext cx="3124200" cy="84772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78C98C24-9D9E-4630-902E-599D7B5FD7DC}"/>
              </a:ext>
            </a:extLst>
          </p:cNvPr>
          <p:cNvSpPr txBox="1">
            <a:spLocks/>
          </p:cNvSpPr>
          <p:nvPr/>
        </p:nvSpPr>
        <p:spPr>
          <a:xfrm>
            <a:off x="527685" y="214988"/>
            <a:ext cx="58759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500" b="1" dirty="0">
                <a:solidFill>
                  <a:schemeClr val="tx2">
                    <a:lumMod val="50000"/>
                  </a:schemeClr>
                </a:solidFill>
              </a:rPr>
              <a:t>Importância das vitaminas</a:t>
            </a:r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669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BAAE9C-E9B4-4854-94B5-40692630053C}"/>
              </a:ext>
            </a:extLst>
          </p:cNvPr>
          <p:cNvGrpSpPr/>
          <p:nvPr/>
        </p:nvGrpSpPr>
        <p:grpSpPr>
          <a:xfrm>
            <a:off x="1369138" y="2126969"/>
            <a:ext cx="6501496" cy="4231275"/>
            <a:chOff x="428624" y="2729050"/>
            <a:chExt cx="7936247" cy="226897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2671FBA-C398-49E1-BA33-FB0880A9A967}"/>
                </a:ext>
              </a:extLst>
            </p:cNvPr>
            <p:cNvSpPr/>
            <p:nvPr/>
          </p:nvSpPr>
          <p:spPr>
            <a:xfrm>
              <a:off x="428624" y="2888673"/>
              <a:ext cx="6690044" cy="2109354"/>
            </a:xfrm>
            <a:prstGeom prst="roundRect">
              <a:avLst/>
            </a:prstGeom>
            <a:noFill/>
            <a:ln>
              <a:solidFill>
                <a:srgbClr val="EE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2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94B725-FA41-4C34-A637-CD10AA51C44A}"/>
                </a:ext>
              </a:extLst>
            </p:cNvPr>
            <p:cNvSpPr txBox="1"/>
            <p:nvPr/>
          </p:nvSpPr>
          <p:spPr>
            <a:xfrm>
              <a:off x="1064275" y="2729050"/>
              <a:ext cx="3858441" cy="280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2800" b="1" dirty="0">
                  <a:solidFill>
                    <a:srgbClr val="EE6D00"/>
                  </a:solidFill>
                </a:rPr>
                <a:t> QUANDO UTILIZAR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19EA8EC-3D72-4332-AEA6-A62C2D951CA4}"/>
                </a:ext>
              </a:extLst>
            </p:cNvPr>
            <p:cNvSpPr/>
            <p:nvPr/>
          </p:nvSpPr>
          <p:spPr>
            <a:xfrm>
              <a:off x="740784" y="3103022"/>
              <a:ext cx="7624087" cy="1613114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Manutenção de uma normal função de: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Hematopoiese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dirty="0">
                  <a:solidFill>
                    <a:schemeClr val="tx2">
                      <a:lumMod val="50000"/>
                    </a:schemeClr>
                  </a:solidFill>
                </a:rPr>
                <a:t>Produção de hormonas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Produção de energia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dirty="0">
                  <a:solidFill>
                    <a:schemeClr val="tx2">
                      <a:lumMod val="50000"/>
                    </a:schemeClr>
                  </a:solidFill>
                </a:rPr>
                <a:t>Sistema imunitário</a:t>
              </a: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pt-PT" sz="2400" b="1" dirty="0">
                  <a:solidFill>
                    <a:schemeClr val="tx2">
                      <a:lumMod val="50000"/>
                    </a:schemeClr>
                  </a:solidFill>
                </a:rPr>
                <a:t>Sistema nervoso central</a:t>
              </a:r>
            </a:p>
          </p:txBody>
        </p:sp>
      </p:grpSp>
      <p:pic>
        <p:nvPicPr>
          <p:cNvPr id="9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14B345B0-E22C-42D9-BBAA-B36ADDAFE9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1889873" y="319152"/>
            <a:ext cx="4487645" cy="1602682"/>
          </a:xfrm>
          <a:prstGeom prst="rect">
            <a:avLst/>
          </a:prstGeom>
        </p:spPr>
      </p:pic>
      <p:pic>
        <p:nvPicPr>
          <p:cNvPr id="3074" name="Picture 2" descr="500+ Black Female Pictures | Download Free Images on Unsplash">
            <a:extLst>
              <a:ext uri="{FF2B5EF4-FFF2-40B4-BE49-F238E27FC236}">
                <a16:creationId xmlns:a16="http://schemas.microsoft.com/office/drawing/2014/main" id="{1E4E543F-7B08-4D68-AECD-82711F181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634" y="43538"/>
            <a:ext cx="4340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5972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">
            <a:extLst>
              <a:ext uri="{FF2B5EF4-FFF2-40B4-BE49-F238E27FC236}">
                <a16:creationId xmlns:a16="http://schemas.microsoft.com/office/drawing/2014/main" id="{C7FB5472-8654-450F-8BD8-56FA291D0757}"/>
              </a:ext>
            </a:extLst>
          </p:cNvPr>
          <p:cNvSpPr txBox="1">
            <a:spLocks/>
          </p:cNvSpPr>
          <p:nvPr/>
        </p:nvSpPr>
        <p:spPr>
          <a:xfrm>
            <a:off x="1952625" y="43538"/>
            <a:ext cx="5799799" cy="1478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500" b="1" baseline="30000"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BAAE9C-E9B4-4854-94B5-40692630053C}"/>
              </a:ext>
            </a:extLst>
          </p:cNvPr>
          <p:cNvGrpSpPr/>
          <p:nvPr/>
        </p:nvGrpSpPr>
        <p:grpSpPr>
          <a:xfrm>
            <a:off x="1369138" y="2151304"/>
            <a:ext cx="5480587" cy="2830271"/>
            <a:chOff x="428624" y="2730525"/>
            <a:chExt cx="6690044" cy="226750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2671FBA-C398-49E1-BA33-FB0880A9A967}"/>
                </a:ext>
              </a:extLst>
            </p:cNvPr>
            <p:cNvSpPr/>
            <p:nvPr/>
          </p:nvSpPr>
          <p:spPr>
            <a:xfrm>
              <a:off x="428624" y="2888673"/>
              <a:ext cx="6690044" cy="2109354"/>
            </a:xfrm>
            <a:prstGeom prst="roundRect">
              <a:avLst/>
            </a:prstGeom>
            <a:noFill/>
            <a:ln>
              <a:solidFill>
                <a:srgbClr val="EE6D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2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94B725-FA41-4C34-A637-CD10AA51C44A}"/>
                </a:ext>
              </a:extLst>
            </p:cNvPr>
            <p:cNvSpPr txBox="1"/>
            <p:nvPr/>
          </p:nvSpPr>
          <p:spPr>
            <a:xfrm>
              <a:off x="1564235" y="2730525"/>
              <a:ext cx="3858441" cy="2805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800" b="1" dirty="0">
                  <a:solidFill>
                    <a:srgbClr val="EE6D00"/>
                  </a:solidFill>
                </a:rPr>
                <a:t> COMO UTILIZAR</a:t>
              </a:r>
            </a:p>
          </p:txBody>
        </p:sp>
      </p:grpSp>
      <p:pic>
        <p:nvPicPr>
          <p:cNvPr id="9" name="Picture 22" descr="Logo, company name&#10;&#10;Description automatically generated">
            <a:extLst>
              <a:ext uri="{FF2B5EF4-FFF2-40B4-BE49-F238E27FC236}">
                <a16:creationId xmlns:a16="http://schemas.microsoft.com/office/drawing/2014/main" id="{53043399-2FF9-403D-AE30-C5AF406865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t="30637" r="11456" b="30394"/>
          <a:stretch/>
        </p:blipFill>
        <p:spPr>
          <a:xfrm>
            <a:off x="1727948" y="370692"/>
            <a:ext cx="4487645" cy="160268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7473437-AC48-417E-AEDC-F2D2FD6C6D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117"/>
          <a:stretch/>
        </p:blipFill>
        <p:spPr>
          <a:xfrm>
            <a:off x="1583646" y="3184943"/>
            <a:ext cx="5189879" cy="960391"/>
          </a:xfrm>
          <a:prstGeom prst="rect">
            <a:avLst/>
          </a:prstGeom>
        </p:spPr>
      </p:pic>
      <p:pic>
        <p:nvPicPr>
          <p:cNvPr id="4098" name="Picture 2" descr="Overcoming The Angry Black Woman Stereotype">
            <a:extLst>
              <a:ext uri="{FF2B5EF4-FFF2-40B4-BE49-F238E27FC236}">
                <a16:creationId xmlns:a16="http://schemas.microsoft.com/office/drawing/2014/main" id="{01DE6222-8006-4A64-8208-F4343C4FA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033" y="1740693"/>
            <a:ext cx="5067562" cy="337661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1300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8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DFBD9E-97D9-4B17-BFB3-B08C94D7B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2921"/>
            <a:ext cx="12192000" cy="44829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B340034-F6D8-4D09-A5FB-5154D9D88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69480"/>
            <a:ext cx="7710487" cy="342688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2BD70E8-D5CE-4B6E-BFF2-64CE8966D100}"/>
              </a:ext>
            </a:extLst>
          </p:cNvPr>
          <p:cNvSpPr txBox="1"/>
          <p:nvPr/>
        </p:nvSpPr>
        <p:spPr>
          <a:xfrm>
            <a:off x="9191625" y="5709805"/>
            <a:ext cx="22694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err="1">
                <a:solidFill>
                  <a:srgbClr val="EE3E34"/>
                </a:solidFill>
              </a:rPr>
              <a:t>Obrigada</a:t>
            </a:r>
            <a:r>
              <a:rPr lang="en-GB" sz="4000" dirty="0">
                <a:solidFill>
                  <a:srgbClr val="EE3E3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777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48"/>
    </mc:Choice>
    <mc:Fallback xmlns="">
      <p:transition spd="slow" advTm="7004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9ea4605-a98c-4f8f-b4f4-c542867de630" xsi:nil="true"/>
    <lcf76f155ced4ddcb4097134ff3c332f xmlns="02969a41-4749-41bd-9c7b-d9741e2c579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7D792E8C4DA247BA13D3097A5B3651" ma:contentTypeVersion="19" ma:contentTypeDescription="Criar um novo documento." ma:contentTypeScope="" ma:versionID="feca8c51351b7dd2ebe379f83568fbca">
  <xsd:schema xmlns:xsd="http://www.w3.org/2001/XMLSchema" xmlns:xs="http://www.w3.org/2001/XMLSchema" xmlns:p="http://schemas.microsoft.com/office/2006/metadata/properties" xmlns:ns2="02969a41-4749-41bd-9c7b-d9741e2c579a" xmlns:ns3="89ea4605-a98c-4f8f-b4f4-c542867de630" targetNamespace="http://schemas.microsoft.com/office/2006/metadata/properties" ma:root="true" ma:fieldsID="df4199eb2ac8845ed51d786ca0c01ee1" ns2:_="" ns3:_="">
    <xsd:import namespace="02969a41-4749-41bd-9c7b-d9741e2c579a"/>
    <xsd:import namespace="89ea4605-a98c-4f8f-b4f4-c542867de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969a41-4749-41bd-9c7b-d9741e2c57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m" ma:readOnly="false" ma:fieldId="{5cf76f15-5ced-4ddc-b409-7134ff3c332f}" ma:taxonomyMulti="true" ma:sspId="f0e915e2-2c61-4469-adf1-0bc69b39a5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ea4605-a98c-4f8f-b4f4-c542867de630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6ae7d10-be01-4fdc-8ba2-d77ac22d0290}" ma:internalName="TaxCatchAll" ma:showField="CatchAllData" ma:web="89ea4605-a98c-4f8f-b4f4-c542867de6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DD6793-30B9-43CA-8A9E-03CB35199813}">
  <ds:schemaRefs>
    <ds:schemaRef ds:uri="http://purl.org/dc/dcmitype/"/>
    <ds:schemaRef ds:uri="http://purl.org/dc/elements/1.1/"/>
    <ds:schemaRef ds:uri="631599cf-849f-4e05-9f80-eea64b4afed0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dd7edb94-7032-4d39-a83e-15c8d19a7c1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B326C0D-D844-4FC6-9454-D1A3E92A95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54B3CD-152A-4303-BB91-0873BE13723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2002</Words>
  <Application>Microsoft Office PowerPoint</Application>
  <PresentationFormat>Ecrã Panorâmico</PresentationFormat>
  <Paragraphs>338</Paragraphs>
  <Slides>53</Slides>
  <Notes>39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53</vt:i4>
      </vt:variant>
    </vt:vector>
  </HeadingPairs>
  <TitlesOfParts>
    <vt:vector size="60" baseType="lpstr">
      <vt:lpstr>Arial</vt:lpstr>
      <vt:lpstr>Calibri</vt:lpstr>
      <vt:lpstr>Calibri Light</vt:lpstr>
      <vt:lpstr>MyriadPro-Regular</vt:lpstr>
      <vt:lpstr>Wingdings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Marinho</dc:creator>
  <cp:lastModifiedBy>Denise Marques</cp:lastModifiedBy>
  <cp:revision>102</cp:revision>
  <cp:lastPrinted>2019-12-13T09:24:07Z</cp:lastPrinted>
  <dcterms:created xsi:type="dcterms:W3CDTF">2018-05-22T16:03:21Z</dcterms:created>
  <dcterms:modified xsi:type="dcterms:W3CDTF">2021-09-20T14:57:57Z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0x010100DF7D792E8C4DA247BA13D3097A5B3651</vt:lpwstr>
  </property>
  <property fmtid="{D5CDD505-2E9C-101B-9397-08002B2CF9AE}" pid="3" name="MediaServiceImageTags">
    <vt:lpwstr/>
  </property>
</Properties>
</file>