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 id="2147483720" r:id="rId2"/>
  </p:sldMasterIdLst>
  <p:notesMasterIdLst>
    <p:notesMasterId r:id="rId32"/>
  </p:notesMasterIdLst>
  <p:handoutMasterIdLst>
    <p:handoutMasterId r:id="rId33"/>
  </p:handoutMasterIdLst>
  <p:sldIdLst>
    <p:sldId id="441" r:id="rId3"/>
    <p:sldId id="429" r:id="rId4"/>
    <p:sldId id="345" r:id="rId5"/>
    <p:sldId id="430" r:id="rId6"/>
    <p:sldId id="435" r:id="rId7"/>
    <p:sldId id="436" r:id="rId8"/>
    <p:sldId id="314" r:id="rId9"/>
    <p:sldId id="348" r:id="rId10"/>
    <p:sldId id="315" r:id="rId11"/>
    <p:sldId id="442" r:id="rId12"/>
    <p:sldId id="437" r:id="rId13"/>
    <p:sldId id="352" r:id="rId14"/>
    <p:sldId id="426" r:id="rId15"/>
    <p:sldId id="325" r:id="rId16"/>
    <p:sldId id="428" r:id="rId17"/>
    <p:sldId id="438" r:id="rId18"/>
    <p:sldId id="356" r:id="rId19"/>
    <p:sldId id="330" r:id="rId20"/>
    <p:sldId id="400" r:id="rId21"/>
    <p:sldId id="427" r:id="rId22"/>
    <p:sldId id="431" r:id="rId23"/>
    <p:sldId id="434" r:id="rId24"/>
    <p:sldId id="433" r:id="rId25"/>
    <p:sldId id="335" r:id="rId26"/>
    <p:sldId id="358" r:id="rId27"/>
    <p:sldId id="439" r:id="rId28"/>
    <p:sldId id="440" r:id="rId29"/>
    <p:sldId id="424" r:id="rId30"/>
    <p:sldId id="443" r:id="rId31"/>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4319">
          <p15:clr>
            <a:srgbClr val="A4A3A4"/>
          </p15:clr>
        </p15:guide>
        <p15:guide id="4" pos="453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5FAA"/>
    <a:srgbClr val="EC6707"/>
    <a:srgbClr val="000000"/>
    <a:srgbClr val="FFCC66"/>
    <a:srgbClr val="FF9933"/>
    <a:srgbClr val="A3BCCE"/>
    <a:srgbClr val="FFD4F6"/>
    <a:srgbClr val="EDCAE0"/>
    <a:srgbClr val="B11B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06" autoAdjust="0"/>
    <p:restoredTop sz="94476" autoAdjust="0"/>
  </p:normalViewPr>
  <p:slideViewPr>
    <p:cSldViewPr>
      <p:cViewPr varScale="1">
        <p:scale>
          <a:sx n="104" d="100"/>
          <a:sy n="104" d="100"/>
        </p:scale>
        <p:origin x="2064" y="90"/>
      </p:cViewPr>
      <p:guideLst>
        <p:guide orient="horz" pos="2160"/>
        <p:guide pos="2880"/>
        <p:guide orient="horz" pos="4319"/>
        <p:guide pos="4534"/>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743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customXml" Target="../customXml/item2.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38" Type="http://schemas.openxmlformats.org/officeDocument/2006/relationships/customXml" Target="../customXml/item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ableStyles" Target="tableStyles.xml"/><Relationship Id="rId40" Type="http://schemas.openxmlformats.org/officeDocument/2006/relationships/customXml" Target="../customXml/item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pt-PT"/>
          </a:p>
        </p:txBody>
      </p:sp>
      <p:sp>
        <p:nvSpPr>
          <p:cNvPr id="3" name="Date Placeholder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8EBD0968-BC7D-4176-9709-0D0C4950C109}" type="datetimeFigureOut">
              <a:rPr lang="pt-PT" smtClean="0"/>
              <a:pPr/>
              <a:t>2022.07.20</a:t>
            </a:fld>
            <a:endParaRPr lang="es-ES"/>
          </a:p>
        </p:txBody>
      </p:sp>
      <p:sp>
        <p:nvSpPr>
          <p:cNvPr id="4" name="Footer Placehold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pt-PT"/>
          </a:p>
        </p:txBody>
      </p:sp>
      <p:sp>
        <p:nvSpPr>
          <p:cNvPr id="5" name="Slide Number Placeholder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01709B4A-EE07-4A0F-A885-E7AF3F68B8DD}" type="slidenum">
              <a:rPr lang="pt-PT" smtClean="0"/>
              <a:pPr/>
              <a:t>‹#›</a:t>
            </a:fld>
            <a:endParaRPr lang="es-ES"/>
          </a:p>
        </p:txBody>
      </p:sp>
    </p:spTree>
    <p:extLst>
      <p:ext uri="{BB962C8B-B14F-4D97-AF65-F5344CB8AC3E}">
        <p14:creationId xmlns:p14="http://schemas.microsoft.com/office/powerpoint/2010/main" val="40325219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09432A21-9378-4F12-9C0E-0BEDF73ECB8D}" type="datetimeFigureOut">
              <a:rPr lang="en-GB" smtClean="0"/>
              <a:pPr/>
              <a:t>20/07/2022</a:t>
            </a:fld>
            <a:endParaRPr lang="es-ES"/>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772CFCAE-90A2-4282-A908-F894652778F5}" type="slidenum">
              <a:rPr lang="en-GB" smtClean="0"/>
              <a:pPr/>
              <a:t>‹#›</a:t>
            </a:fld>
            <a:endParaRPr lang="es-ES"/>
          </a:p>
        </p:txBody>
      </p:sp>
    </p:spTree>
    <p:extLst>
      <p:ext uri="{BB962C8B-B14F-4D97-AF65-F5344CB8AC3E}">
        <p14:creationId xmlns:p14="http://schemas.microsoft.com/office/powerpoint/2010/main" val="2347885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w="9525"/>
        </p:spPr>
        <p:txBody>
          <a:bodyPr/>
          <a:lstStyle/>
          <a:p>
            <a:pPr algn="just" defTabSz="776288"/>
            <a:r>
              <a:rPr dirty="0"/>
              <a:t>El ácido fólico es, químicamente, el ácido pteroilglutámico y pertenece a un amplio grupo de factores de crecimiento y coenzimas denominados, en conjunto, folatos.</a:t>
            </a:r>
          </a:p>
          <a:p>
            <a:pPr defTabSz="776288"/>
            <a:r>
              <a:rPr dirty="0"/>
              <a:t>Las formas activas que participan en varias reacciones metabólicas esenciales para la vida, tales como la síntesis de las purinas, la síntesis de los nucleótidos pirimidínicos y la interconversión de los aminoácidos (serina en glicina, histidina en ácido glutámico, homocisteína en metionina).</a:t>
            </a:r>
            <a:endParaRPr lang="es-ES" dirty="0"/>
          </a:p>
        </p:txBody>
      </p:sp>
    </p:spTree>
    <p:extLst>
      <p:ext uri="{BB962C8B-B14F-4D97-AF65-F5344CB8AC3E}">
        <p14:creationId xmlns:p14="http://schemas.microsoft.com/office/powerpoint/2010/main" val="3627685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w="9525"/>
        </p:spPr>
        <p:txBody>
          <a:bodyPr/>
          <a:lstStyle/>
          <a:p>
            <a:pPr algn="just" defTabSz="776288"/>
            <a:r>
              <a:rPr dirty="0"/>
              <a:t>El ácido fólico es, químicamente, el ácido pteroilglutámico y pertenece a un amplio grupo de factores de crecimiento y coenzimas denominados, en conjunto, folatos.</a:t>
            </a:r>
          </a:p>
          <a:p>
            <a:pPr defTabSz="776288"/>
            <a:r>
              <a:rPr dirty="0"/>
              <a:t>Las formas activas que participan en varias reacciones metabólicas esenciales para la vida, tales como la síntesis de las purinas, la síntesis de los nucleótidos pirimidínicos y la interconversión de los aminoácidos (serina en glicina, histidina en ácido glutámico, homocisteína en metionina).</a:t>
            </a:r>
            <a:endParaRPr lang="es-ES" dirty="0"/>
          </a:p>
        </p:txBody>
      </p:sp>
    </p:spTree>
    <p:extLst>
      <p:ext uri="{BB962C8B-B14F-4D97-AF65-F5344CB8AC3E}">
        <p14:creationId xmlns:p14="http://schemas.microsoft.com/office/powerpoint/2010/main" val="610542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w="9525"/>
        </p:spPr>
        <p:txBody>
          <a:bodyPr/>
          <a:lstStyle/>
          <a:p>
            <a:pPr algn="just" defTabSz="776288"/>
            <a:r>
              <a:rPr dirty="0"/>
              <a:t>El ácido fólico es, químicamente, el ácido pteroilglutámico y pertenece a un amplio grupo de factores de crecimiento y coenzimas denominados, en conjunto, folatos.</a:t>
            </a:r>
          </a:p>
          <a:p>
            <a:pPr defTabSz="776288"/>
            <a:r>
              <a:rPr dirty="0"/>
              <a:t>Las formas activas que participan en varias reacciones metabólicas esenciales para la vida, tales como la síntesis de las purinas, la síntesis de los nucleótidos pirimidínicos y la interconversión de los aminoácidos (serina en glicina, histidina en ácido glutámico, homocisteína en metionina).</a:t>
            </a:r>
            <a:endParaRPr lang="es-ES" dirty="0"/>
          </a:p>
        </p:txBody>
      </p:sp>
    </p:spTree>
    <p:extLst>
      <p:ext uri="{BB962C8B-B14F-4D97-AF65-F5344CB8AC3E}">
        <p14:creationId xmlns:p14="http://schemas.microsoft.com/office/powerpoint/2010/main" val="671645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w="9525"/>
        </p:spPr>
        <p:txBody>
          <a:bodyPr/>
          <a:lstStyle/>
          <a:p>
            <a:pPr algn="just" defTabSz="776288"/>
            <a:endParaRPr lang="en-US" dirty="0"/>
          </a:p>
        </p:txBody>
      </p:sp>
    </p:spTree>
    <p:extLst>
      <p:ext uri="{BB962C8B-B14F-4D97-AF65-F5344CB8AC3E}">
        <p14:creationId xmlns:p14="http://schemas.microsoft.com/office/powerpoint/2010/main" val="2969877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w="9525"/>
        </p:spPr>
        <p:txBody>
          <a:bodyPr/>
          <a:lstStyle/>
          <a:p>
            <a:pPr algn="just" defTabSz="776288"/>
            <a:endParaRPr lang="en-US" dirty="0"/>
          </a:p>
        </p:txBody>
      </p:sp>
    </p:spTree>
    <p:extLst>
      <p:ext uri="{BB962C8B-B14F-4D97-AF65-F5344CB8AC3E}">
        <p14:creationId xmlns:p14="http://schemas.microsoft.com/office/powerpoint/2010/main" val="32801264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w="9525"/>
        </p:spPr>
        <p:txBody>
          <a:bodyPr/>
          <a:lstStyle/>
          <a:p>
            <a:endParaRPr lang="en-US"/>
          </a:p>
        </p:txBody>
      </p:sp>
    </p:spTree>
    <p:extLst>
      <p:ext uri="{BB962C8B-B14F-4D97-AF65-F5344CB8AC3E}">
        <p14:creationId xmlns:p14="http://schemas.microsoft.com/office/powerpoint/2010/main" val="3477397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w="9525"/>
        </p:spPr>
        <p:txBody>
          <a:bodyPr/>
          <a:lstStyle/>
          <a:p>
            <a:endParaRPr lang="en-US"/>
          </a:p>
        </p:txBody>
      </p:sp>
    </p:spTree>
    <p:extLst>
      <p:ext uri="{BB962C8B-B14F-4D97-AF65-F5344CB8AC3E}">
        <p14:creationId xmlns:p14="http://schemas.microsoft.com/office/powerpoint/2010/main" val="18275782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w="9525"/>
        </p:spPr>
        <p:txBody>
          <a:bodyPr/>
          <a:lstStyle/>
          <a:p>
            <a:endParaRPr lang="en-US"/>
          </a:p>
        </p:txBody>
      </p:sp>
    </p:spTree>
    <p:extLst>
      <p:ext uri="{BB962C8B-B14F-4D97-AF65-F5344CB8AC3E}">
        <p14:creationId xmlns:p14="http://schemas.microsoft.com/office/powerpoint/2010/main" val="28945281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w="9525"/>
        </p:spPr>
        <p:txBody>
          <a:bodyPr/>
          <a:lstStyle/>
          <a:p>
            <a:pPr algn="just" defTabSz="776288"/>
            <a:endParaRPr lang="en-US" dirty="0"/>
          </a:p>
        </p:txBody>
      </p:sp>
    </p:spTree>
    <p:extLst>
      <p:ext uri="{BB962C8B-B14F-4D97-AF65-F5344CB8AC3E}">
        <p14:creationId xmlns:p14="http://schemas.microsoft.com/office/powerpoint/2010/main" val="977243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a:ln w="9525"/>
        </p:spPr>
        <p:txBody>
          <a:bodyPr/>
          <a:lstStyle/>
          <a:p>
            <a:pPr eaLnBrk="1" hangingPunct="1"/>
            <a:endParaRPr lang="en-US"/>
          </a:p>
        </p:txBody>
      </p:sp>
    </p:spTree>
    <p:extLst>
      <p:ext uri="{BB962C8B-B14F-4D97-AF65-F5344CB8AC3E}">
        <p14:creationId xmlns:p14="http://schemas.microsoft.com/office/powerpoint/2010/main" val="32572200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w="9525"/>
        </p:spPr>
        <p:txBody>
          <a:bodyPr/>
          <a:lstStyle/>
          <a:p>
            <a:pPr algn="just" defTabSz="776288"/>
            <a:endParaRPr lang="en-US" dirty="0"/>
          </a:p>
        </p:txBody>
      </p:sp>
    </p:spTree>
    <p:extLst>
      <p:ext uri="{BB962C8B-B14F-4D97-AF65-F5344CB8AC3E}">
        <p14:creationId xmlns:p14="http://schemas.microsoft.com/office/powerpoint/2010/main" val="941376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7" name="Slide Number Placeholder 26"/>
          <p:cNvSpPr>
            <a:spLocks noGrp="1"/>
          </p:cNvSpPr>
          <p:nvPr>
            <p:ph type="sldNum" sz="quarter" idx="12"/>
          </p:nvPr>
        </p:nvSpPr>
        <p:spPr/>
        <p:txBody>
          <a:bodyPr/>
          <a:lstStyle/>
          <a:p>
            <a:fld id="{03667C4B-6D06-491C-A04A-E41D55AFBBED}" type="slidenum">
              <a:rPr lang="en-GB" smtClean="0"/>
              <a:pPr/>
              <a:t>‹#›</a:t>
            </a:fld>
            <a:endParaRPr lang="en-GB"/>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6" name="Slide Number Placeholder 5"/>
          <p:cNvSpPr>
            <a:spLocks noGrp="1"/>
          </p:cNvSpPr>
          <p:nvPr>
            <p:ph type="sldNum" sz="quarter" idx="12"/>
          </p:nvPr>
        </p:nvSpPr>
        <p:spPr/>
        <p:txBody>
          <a:bodyPr/>
          <a:lstStyle/>
          <a:p>
            <a:fld id="{03667C4B-6D06-491C-A04A-E41D55AFBBED}" type="slidenum">
              <a:rPr lang="en-GB" smtClean="0"/>
              <a:pPr/>
              <a:t>‹#›</a:t>
            </a:fld>
            <a:endParaRPr lang="en-GB"/>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6" name="Slide Number Placeholder 5"/>
          <p:cNvSpPr>
            <a:spLocks noGrp="1"/>
          </p:cNvSpPr>
          <p:nvPr>
            <p:ph type="sldNum" sz="quarter" idx="12"/>
          </p:nvPr>
        </p:nvSpPr>
        <p:spPr/>
        <p:txBody>
          <a:bodyPr/>
          <a:lstStyle/>
          <a:p>
            <a:fld id="{03667C4B-6D06-491C-A04A-E41D55AFBBED}" type="slidenum">
              <a:rPr lang="en-GB" smtClean="0"/>
              <a:pPr/>
              <a:t>‹#›</a:t>
            </a:fld>
            <a:endParaRPr lang="en-GB"/>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Slide Number Placeholder 6"/>
          <p:cNvSpPr>
            <a:spLocks noGrp="1"/>
          </p:cNvSpPr>
          <p:nvPr>
            <p:ph type="sldNum" sz="quarter" idx="12"/>
          </p:nvPr>
        </p:nvSpPr>
        <p:spPr/>
        <p:txBody>
          <a:bodyPr/>
          <a:lstStyle/>
          <a:p>
            <a:fld id="{03667C4B-6D06-491C-A04A-E41D55AFBBED}" type="slidenum">
              <a:rPr lang="en-GB" smtClean="0"/>
              <a:pPr/>
              <a:t>‹#›</a:t>
            </a:fld>
            <a:endParaRPr lang="en-GB"/>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9" name="Slide Number Placeholder 8"/>
          <p:cNvSpPr>
            <a:spLocks noGrp="1"/>
          </p:cNvSpPr>
          <p:nvPr>
            <p:ph type="sldNum" sz="quarter" idx="12"/>
          </p:nvPr>
        </p:nvSpPr>
        <p:spPr/>
        <p:txBody>
          <a:bodyPr/>
          <a:lstStyle/>
          <a:p>
            <a:fld id="{03667C4B-6D06-491C-A04A-E41D55AFBBED}" type="slidenum">
              <a:rPr lang="en-GB" smtClean="0"/>
              <a:pPr/>
              <a:t>‹#›</a:t>
            </a:fld>
            <a:endParaRPr lang="en-GB"/>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5" name="Slide Number Placeholder 4"/>
          <p:cNvSpPr>
            <a:spLocks noGrp="1"/>
          </p:cNvSpPr>
          <p:nvPr>
            <p:ph type="sldNum" sz="quarter" idx="12"/>
          </p:nvPr>
        </p:nvSpPr>
        <p:spPr/>
        <p:txBody>
          <a:bodyPr/>
          <a:lstStyle/>
          <a:p>
            <a:fld id="{03667C4B-6D06-491C-A04A-E41D55AFBBED}" type="slidenum">
              <a:rPr lang="en-GB" smtClean="0"/>
              <a:pPr/>
              <a:t>‹#›</a:t>
            </a:fld>
            <a:endParaRPr lang="en-GB"/>
          </a:p>
        </p:txBody>
      </p:sp>
      <p:sp>
        <p:nvSpPr>
          <p:cNvPr id="6" name="Text Placeholder 29"/>
          <p:cNvSpPr>
            <a:spLocks noGrp="1"/>
          </p:cNvSpPr>
          <p:nvPr>
            <p:ph idx="1"/>
          </p:nvPr>
        </p:nvSpPr>
        <p:spPr>
          <a:xfrm>
            <a:off x="457200" y="2003183"/>
            <a:ext cx="8229600" cy="4389120"/>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3667C4B-6D06-491C-A04A-E41D55AFBBED}" type="slidenum">
              <a:rPr lang="en-GB" smtClean="0"/>
              <a:pPr/>
              <a:t>‹#›</a:t>
            </a:fld>
            <a:endParaRPr lang="en-GB"/>
          </a:p>
        </p:txBody>
      </p:sp>
      <p:sp>
        <p:nvSpPr>
          <p:cNvPr id="5" name="Text Placeholder 29"/>
          <p:cNvSpPr>
            <a:spLocks noGrp="1"/>
          </p:cNvSpPr>
          <p:nvPr>
            <p:ph idx="1"/>
          </p:nvPr>
        </p:nvSpPr>
        <p:spPr>
          <a:xfrm>
            <a:off x="457200" y="1234440"/>
            <a:ext cx="8229600" cy="4389120"/>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Slide Number Placeholder 6"/>
          <p:cNvSpPr>
            <a:spLocks noGrp="1"/>
          </p:cNvSpPr>
          <p:nvPr>
            <p:ph type="sldNum" sz="quarter" idx="12"/>
          </p:nvPr>
        </p:nvSpPr>
        <p:spPr/>
        <p:txBody>
          <a:bodyPr/>
          <a:lstStyle/>
          <a:p>
            <a:fld id="{03667C4B-6D06-491C-A04A-E41D55AFBBED}" type="slidenum">
              <a:rPr lang="en-GB" smtClean="0"/>
              <a:pPr/>
              <a:t>‹#›</a:t>
            </a:fld>
            <a:endParaRPr lang="en-GB"/>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7" name="Slide Number Placeholder 6"/>
          <p:cNvSpPr>
            <a:spLocks noGrp="1"/>
          </p:cNvSpPr>
          <p:nvPr>
            <p:ph type="sldNum" sz="quarter" idx="12"/>
          </p:nvPr>
        </p:nvSpPr>
        <p:spPr>
          <a:xfrm>
            <a:off x="8077200" y="6356350"/>
            <a:ext cx="609600" cy="365125"/>
          </a:xfrm>
        </p:spPr>
        <p:txBody>
          <a:bodyPr/>
          <a:lstStyle/>
          <a:p>
            <a:fld id="{03667C4B-6D06-491C-A04A-E41D55AFBBED}" type="slidenum">
              <a:rPr lang="en-GB" smtClean="0"/>
              <a:pPr/>
              <a:t>‹#›</a:t>
            </a:fld>
            <a:endParaRPr lang="en-GB"/>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p:txBody>
          <a:bodyPr/>
          <a:lstStyle/>
          <a:p>
            <a:fld id="{03667C4B-6D06-491C-A04A-E41D55AFBBED}" type="slidenum">
              <a:rPr lang="en-GB" smtClean="0"/>
              <a:pPr/>
              <a:t>‹#›</a:t>
            </a:fld>
            <a:endParaRPr lang="en-GB"/>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p:txBody>
          <a:bodyPr/>
          <a:lstStyle/>
          <a:p>
            <a:fld id="{03667C4B-6D06-491C-A04A-E41D55AFBBED}" type="slidenum">
              <a:rPr lang="en-GB" smtClean="0"/>
              <a:pPr/>
              <a:t>‹#›</a:t>
            </a:fld>
            <a:endParaRPr lang="en-GB"/>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pt-PT"/>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t-PT"/>
          </a:p>
        </p:txBody>
      </p:sp>
      <p:sp>
        <p:nvSpPr>
          <p:cNvPr id="4" name="Date Placeholder 3"/>
          <p:cNvSpPr>
            <a:spLocks noGrp="1"/>
          </p:cNvSpPr>
          <p:nvPr>
            <p:ph type="dt" sz="half" idx="10"/>
          </p:nvPr>
        </p:nvSpPr>
        <p:spPr/>
        <p:txBody>
          <a:bodyPr/>
          <a:lstStyle/>
          <a:p>
            <a:fld id="{C477AB0A-193E-4F1D-B236-733F03B19CAD}" type="datetimeFigureOut">
              <a:rPr lang="pt-PT" smtClean="0"/>
              <a:t>2022.07.20</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ECB4B724-ABE4-4C90-B5AD-3AE4F791D49F}" type="slidenum">
              <a:rPr lang="pt-PT" smtClean="0"/>
              <a:t>‹#›</a:t>
            </a:fld>
            <a:endParaRPr lang="pt-PT"/>
          </a:p>
        </p:txBody>
      </p:sp>
    </p:spTree>
    <p:extLst>
      <p:ext uri="{BB962C8B-B14F-4D97-AF65-F5344CB8AC3E}">
        <p14:creationId xmlns:p14="http://schemas.microsoft.com/office/powerpoint/2010/main" val="88537772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PT"/>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Date Placeholder 3"/>
          <p:cNvSpPr>
            <a:spLocks noGrp="1"/>
          </p:cNvSpPr>
          <p:nvPr>
            <p:ph type="dt" sz="half" idx="10"/>
          </p:nvPr>
        </p:nvSpPr>
        <p:spPr/>
        <p:txBody>
          <a:bodyPr/>
          <a:lstStyle/>
          <a:p>
            <a:fld id="{C477AB0A-193E-4F1D-B236-733F03B19CAD}" type="datetimeFigureOut">
              <a:rPr lang="pt-PT" smtClean="0"/>
              <a:t>2022.07.20</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ECB4B724-ABE4-4C90-B5AD-3AE4F791D49F}" type="slidenum">
              <a:rPr lang="pt-PT" smtClean="0"/>
              <a:t>‹#›</a:t>
            </a:fld>
            <a:endParaRPr lang="pt-PT"/>
          </a:p>
        </p:txBody>
      </p:sp>
    </p:spTree>
    <p:extLst>
      <p:ext uri="{BB962C8B-B14F-4D97-AF65-F5344CB8AC3E}">
        <p14:creationId xmlns:p14="http://schemas.microsoft.com/office/powerpoint/2010/main" val="510405781"/>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pt-PT"/>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77AB0A-193E-4F1D-B236-733F03B19CAD}" type="datetimeFigureOut">
              <a:rPr lang="pt-PT" smtClean="0"/>
              <a:t>2022.07.20</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ECB4B724-ABE4-4C90-B5AD-3AE4F791D49F}" type="slidenum">
              <a:rPr lang="pt-PT" smtClean="0"/>
              <a:t>‹#›</a:t>
            </a:fld>
            <a:endParaRPr lang="pt-PT"/>
          </a:p>
        </p:txBody>
      </p:sp>
    </p:spTree>
    <p:extLst>
      <p:ext uri="{BB962C8B-B14F-4D97-AF65-F5344CB8AC3E}">
        <p14:creationId xmlns:p14="http://schemas.microsoft.com/office/powerpoint/2010/main" val="349825129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PT"/>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5" name="Date Placeholder 4"/>
          <p:cNvSpPr>
            <a:spLocks noGrp="1"/>
          </p:cNvSpPr>
          <p:nvPr>
            <p:ph type="dt" sz="half" idx="10"/>
          </p:nvPr>
        </p:nvSpPr>
        <p:spPr/>
        <p:txBody>
          <a:bodyPr/>
          <a:lstStyle/>
          <a:p>
            <a:fld id="{C477AB0A-193E-4F1D-B236-733F03B19CAD}" type="datetimeFigureOut">
              <a:rPr lang="pt-PT" smtClean="0"/>
              <a:t>2022.07.20</a:t>
            </a:fld>
            <a:endParaRPr lang="pt-PT"/>
          </a:p>
        </p:txBody>
      </p:sp>
      <p:sp>
        <p:nvSpPr>
          <p:cNvPr id="6" name="Footer Placeholder 5"/>
          <p:cNvSpPr>
            <a:spLocks noGrp="1"/>
          </p:cNvSpPr>
          <p:nvPr>
            <p:ph type="ftr" sz="quarter" idx="11"/>
          </p:nvPr>
        </p:nvSpPr>
        <p:spPr/>
        <p:txBody>
          <a:bodyPr/>
          <a:lstStyle/>
          <a:p>
            <a:endParaRPr lang="pt-PT"/>
          </a:p>
        </p:txBody>
      </p:sp>
      <p:sp>
        <p:nvSpPr>
          <p:cNvPr id="7" name="Slide Number Placeholder 6"/>
          <p:cNvSpPr>
            <a:spLocks noGrp="1"/>
          </p:cNvSpPr>
          <p:nvPr>
            <p:ph type="sldNum" sz="quarter" idx="12"/>
          </p:nvPr>
        </p:nvSpPr>
        <p:spPr/>
        <p:txBody>
          <a:bodyPr/>
          <a:lstStyle/>
          <a:p>
            <a:fld id="{ECB4B724-ABE4-4C90-B5AD-3AE4F791D49F}" type="slidenum">
              <a:rPr lang="pt-PT" smtClean="0"/>
              <a:t>‹#›</a:t>
            </a:fld>
            <a:endParaRPr lang="pt-PT"/>
          </a:p>
        </p:txBody>
      </p:sp>
    </p:spTree>
    <p:extLst>
      <p:ext uri="{BB962C8B-B14F-4D97-AF65-F5344CB8AC3E}">
        <p14:creationId xmlns:p14="http://schemas.microsoft.com/office/powerpoint/2010/main" val="389598093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pt-PT"/>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7" name="Date Placeholder 6"/>
          <p:cNvSpPr>
            <a:spLocks noGrp="1"/>
          </p:cNvSpPr>
          <p:nvPr>
            <p:ph type="dt" sz="half" idx="10"/>
          </p:nvPr>
        </p:nvSpPr>
        <p:spPr/>
        <p:txBody>
          <a:bodyPr/>
          <a:lstStyle/>
          <a:p>
            <a:fld id="{C477AB0A-193E-4F1D-B236-733F03B19CAD}" type="datetimeFigureOut">
              <a:rPr lang="pt-PT" smtClean="0"/>
              <a:t>2022.07.20</a:t>
            </a:fld>
            <a:endParaRPr lang="pt-PT"/>
          </a:p>
        </p:txBody>
      </p:sp>
      <p:sp>
        <p:nvSpPr>
          <p:cNvPr id="8" name="Footer Placeholder 7"/>
          <p:cNvSpPr>
            <a:spLocks noGrp="1"/>
          </p:cNvSpPr>
          <p:nvPr>
            <p:ph type="ftr" sz="quarter" idx="11"/>
          </p:nvPr>
        </p:nvSpPr>
        <p:spPr/>
        <p:txBody>
          <a:bodyPr/>
          <a:lstStyle/>
          <a:p>
            <a:endParaRPr lang="pt-PT"/>
          </a:p>
        </p:txBody>
      </p:sp>
      <p:sp>
        <p:nvSpPr>
          <p:cNvPr id="9" name="Slide Number Placeholder 8"/>
          <p:cNvSpPr>
            <a:spLocks noGrp="1"/>
          </p:cNvSpPr>
          <p:nvPr>
            <p:ph type="sldNum" sz="quarter" idx="12"/>
          </p:nvPr>
        </p:nvSpPr>
        <p:spPr/>
        <p:txBody>
          <a:bodyPr/>
          <a:lstStyle/>
          <a:p>
            <a:fld id="{ECB4B724-ABE4-4C90-B5AD-3AE4F791D49F}" type="slidenum">
              <a:rPr lang="pt-PT" smtClean="0"/>
              <a:t>‹#›</a:t>
            </a:fld>
            <a:endParaRPr lang="pt-PT"/>
          </a:p>
        </p:txBody>
      </p:sp>
    </p:spTree>
    <p:extLst>
      <p:ext uri="{BB962C8B-B14F-4D97-AF65-F5344CB8AC3E}">
        <p14:creationId xmlns:p14="http://schemas.microsoft.com/office/powerpoint/2010/main" val="4262413388"/>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PT"/>
          </a:p>
        </p:txBody>
      </p:sp>
      <p:sp>
        <p:nvSpPr>
          <p:cNvPr id="3" name="Date Placeholder 2"/>
          <p:cNvSpPr>
            <a:spLocks noGrp="1"/>
          </p:cNvSpPr>
          <p:nvPr>
            <p:ph type="dt" sz="half" idx="10"/>
          </p:nvPr>
        </p:nvSpPr>
        <p:spPr/>
        <p:txBody>
          <a:bodyPr/>
          <a:lstStyle/>
          <a:p>
            <a:fld id="{C477AB0A-193E-4F1D-B236-733F03B19CAD}" type="datetimeFigureOut">
              <a:rPr lang="pt-PT" smtClean="0"/>
              <a:t>2022.07.20</a:t>
            </a:fld>
            <a:endParaRPr lang="pt-PT"/>
          </a:p>
        </p:txBody>
      </p:sp>
      <p:sp>
        <p:nvSpPr>
          <p:cNvPr id="4" name="Footer Placeholder 3"/>
          <p:cNvSpPr>
            <a:spLocks noGrp="1"/>
          </p:cNvSpPr>
          <p:nvPr>
            <p:ph type="ftr" sz="quarter" idx="11"/>
          </p:nvPr>
        </p:nvSpPr>
        <p:spPr/>
        <p:txBody>
          <a:bodyPr/>
          <a:lstStyle/>
          <a:p>
            <a:endParaRPr lang="pt-PT"/>
          </a:p>
        </p:txBody>
      </p:sp>
      <p:sp>
        <p:nvSpPr>
          <p:cNvPr id="5" name="Slide Number Placeholder 4"/>
          <p:cNvSpPr>
            <a:spLocks noGrp="1"/>
          </p:cNvSpPr>
          <p:nvPr>
            <p:ph type="sldNum" sz="quarter" idx="12"/>
          </p:nvPr>
        </p:nvSpPr>
        <p:spPr/>
        <p:txBody>
          <a:bodyPr/>
          <a:lstStyle/>
          <a:p>
            <a:fld id="{ECB4B724-ABE4-4C90-B5AD-3AE4F791D49F}" type="slidenum">
              <a:rPr lang="pt-PT" smtClean="0"/>
              <a:t>‹#›</a:t>
            </a:fld>
            <a:endParaRPr lang="pt-PT"/>
          </a:p>
        </p:txBody>
      </p:sp>
    </p:spTree>
    <p:extLst>
      <p:ext uri="{BB962C8B-B14F-4D97-AF65-F5344CB8AC3E}">
        <p14:creationId xmlns:p14="http://schemas.microsoft.com/office/powerpoint/2010/main" val="1128854570"/>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77AB0A-193E-4F1D-B236-733F03B19CAD}" type="datetimeFigureOut">
              <a:rPr lang="pt-PT" smtClean="0"/>
              <a:t>2022.07.20</a:t>
            </a:fld>
            <a:endParaRPr lang="pt-PT"/>
          </a:p>
        </p:txBody>
      </p:sp>
      <p:sp>
        <p:nvSpPr>
          <p:cNvPr id="3" name="Footer Placeholder 2"/>
          <p:cNvSpPr>
            <a:spLocks noGrp="1"/>
          </p:cNvSpPr>
          <p:nvPr>
            <p:ph type="ftr" sz="quarter" idx="11"/>
          </p:nvPr>
        </p:nvSpPr>
        <p:spPr/>
        <p:txBody>
          <a:bodyPr/>
          <a:lstStyle/>
          <a:p>
            <a:endParaRPr lang="pt-PT"/>
          </a:p>
        </p:txBody>
      </p:sp>
      <p:sp>
        <p:nvSpPr>
          <p:cNvPr id="4" name="Slide Number Placeholder 3"/>
          <p:cNvSpPr>
            <a:spLocks noGrp="1"/>
          </p:cNvSpPr>
          <p:nvPr>
            <p:ph type="sldNum" sz="quarter" idx="12"/>
          </p:nvPr>
        </p:nvSpPr>
        <p:spPr/>
        <p:txBody>
          <a:bodyPr/>
          <a:lstStyle/>
          <a:p>
            <a:fld id="{ECB4B724-ABE4-4C90-B5AD-3AE4F791D49F}" type="slidenum">
              <a:rPr lang="pt-PT" smtClean="0"/>
              <a:t>‹#›</a:t>
            </a:fld>
            <a:endParaRPr lang="pt-PT"/>
          </a:p>
        </p:txBody>
      </p:sp>
    </p:spTree>
    <p:extLst>
      <p:ext uri="{BB962C8B-B14F-4D97-AF65-F5344CB8AC3E}">
        <p14:creationId xmlns:p14="http://schemas.microsoft.com/office/powerpoint/2010/main" val="285443136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pt-PT"/>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77AB0A-193E-4F1D-B236-733F03B19CAD}" type="datetimeFigureOut">
              <a:rPr lang="pt-PT" smtClean="0"/>
              <a:t>2022.07.20</a:t>
            </a:fld>
            <a:endParaRPr lang="pt-PT"/>
          </a:p>
        </p:txBody>
      </p:sp>
      <p:sp>
        <p:nvSpPr>
          <p:cNvPr id="6" name="Footer Placeholder 5"/>
          <p:cNvSpPr>
            <a:spLocks noGrp="1"/>
          </p:cNvSpPr>
          <p:nvPr>
            <p:ph type="ftr" sz="quarter" idx="11"/>
          </p:nvPr>
        </p:nvSpPr>
        <p:spPr/>
        <p:txBody>
          <a:bodyPr/>
          <a:lstStyle/>
          <a:p>
            <a:endParaRPr lang="pt-PT"/>
          </a:p>
        </p:txBody>
      </p:sp>
      <p:sp>
        <p:nvSpPr>
          <p:cNvPr id="7" name="Slide Number Placeholder 6"/>
          <p:cNvSpPr>
            <a:spLocks noGrp="1"/>
          </p:cNvSpPr>
          <p:nvPr>
            <p:ph type="sldNum" sz="quarter" idx="12"/>
          </p:nvPr>
        </p:nvSpPr>
        <p:spPr/>
        <p:txBody>
          <a:bodyPr/>
          <a:lstStyle/>
          <a:p>
            <a:fld id="{ECB4B724-ABE4-4C90-B5AD-3AE4F791D49F}" type="slidenum">
              <a:rPr lang="pt-PT" smtClean="0"/>
              <a:t>‹#›</a:t>
            </a:fld>
            <a:endParaRPr lang="pt-PT"/>
          </a:p>
        </p:txBody>
      </p:sp>
    </p:spTree>
    <p:extLst>
      <p:ext uri="{BB962C8B-B14F-4D97-AF65-F5344CB8AC3E}">
        <p14:creationId xmlns:p14="http://schemas.microsoft.com/office/powerpoint/2010/main" val="971461449"/>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pt-PT"/>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PT"/>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77AB0A-193E-4F1D-B236-733F03B19CAD}" type="datetimeFigureOut">
              <a:rPr lang="pt-PT" smtClean="0"/>
              <a:t>2022.07.20</a:t>
            </a:fld>
            <a:endParaRPr lang="pt-PT"/>
          </a:p>
        </p:txBody>
      </p:sp>
      <p:sp>
        <p:nvSpPr>
          <p:cNvPr id="6" name="Footer Placeholder 5"/>
          <p:cNvSpPr>
            <a:spLocks noGrp="1"/>
          </p:cNvSpPr>
          <p:nvPr>
            <p:ph type="ftr" sz="quarter" idx="11"/>
          </p:nvPr>
        </p:nvSpPr>
        <p:spPr/>
        <p:txBody>
          <a:bodyPr/>
          <a:lstStyle/>
          <a:p>
            <a:endParaRPr lang="pt-PT"/>
          </a:p>
        </p:txBody>
      </p:sp>
      <p:sp>
        <p:nvSpPr>
          <p:cNvPr id="7" name="Slide Number Placeholder 6"/>
          <p:cNvSpPr>
            <a:spLocks noGrp="1"/>
          </p:cNvSpPr>
          <p:nvPr>
            <p:ph type="sldNum" sz="quarter" idx="12"/>
          </p:nvPr>
        </p:nvSpPr>
        <p:spPr/>
        <p:txBody>
          <a:bodyPr/>
          <a:lstStyle/>
          <a:p>
            <a:fld id="{ECB4B724-ABE4-4C90-B5AD-3AE4F791D49F}" type="slidenum">
              <a:rPr lang="pt-PT" smtClean="0"/>
              <a:t>‹#›</a:t>
            </a:fld>
            <a:endParaRPr lang="pt-PT"/>
          </a:p>
        </p:txBody>
      </p:sp>
    </p:spTree>
    <p:extLst>
      <p:ext uri="{BB962C8B-B14F-4D97-AF65-F5344CB8AC3E}">
        <p14:creationId xmlns:p14="http://schemas.microsoft.com/office/powerpoint/2010/main" val="419631719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PT"/>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Date Placeholder 3"/>
          <p:cNvSpPr>
            <a:spLocks noGrp="1"/>
          </p:cNvSpPr>
          <p:nvPr>
            <p:ph type="dt" sz="half" idx="10"/>
          </p:nvPr>
        </p:nvSpPr>
        <p:spPr/>
        <p:txBody>
          <a:bodyPr/>
          <a:lstStyle/>
          <a:p>
            <a:fld id="{C477AB0A-193E-4F1D-B236-733F03B19CAD}" type="datetimeFigureOut">
              <a:rPr lang="pt-PT" smtClean="0"/>
              <a:t>2022.07.20</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ECB4B724-ABE4-4C90-B5AD-3AE4F791D49F}" type="slidenum">
              <a:rPr lang="pt-PT" smtClean="0"/>
              <a:t>‹#›</a:t>
            </a:fld>
            <a:endParaRPr lang="pt-PT"/>
          </a:p>
        </p:txBody>
      </p:sp>
    </p:spTree>
    <p:extLst>
      <p:ext uri="{BB962C8B-B14F-4D97-AF65-F5344CB8AC3E}">
        <p14:creationId xmlns:p14="http://schemas.microsoft.com/office/powerpoint/2010/main" val="2953903929"/>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pt-PT"/>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Date Placeholder 3"/>
          <p:cNvSpPr>
            <a:spLocks noGrp="1"/>
          </p:cNvSpPr>
          <p:nvPr>
            <p:ph type="dt" sz="half" idx="10"/>
          </p:nvPr>
        </p:nvSpPr>
        <p:spPr/>
        <p:txBody>
          <a:bodyPr/>
          <a:lstStyle/>
          <a:p>
            <a:fld id="{C477AB0A-193E-4F1D-B236-733F03B19CAD}" type="datetimeFigureOut">
              <a:rPr lang="pt-PT" smtClean="0"/>
              <a:t>2022.07.20</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ECB4B724-ABE4-4C90-B5AD-3AE4F791D49F}" type="slidenum">
              <a:rPr lang="pt-PT" smtClean="0"/>
              <a:t>‹#›</a:t>
            </a:fld>
            <a:endParaRPr lang="pt-PT"/>
          </a:p>
        </p:txBody>
      </p:sp>
    </p:spTree>
    <p:extLst>
      <p:ext uri="{BB962C8B-B14F-4D97-AF65-F5344CB8AC3E}">
        <p14:creationId xmlns:p14="http://schemas.microsoft.com/office/powerpoint/2010/main" val="209377372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8"/>
          <p:cNvSpPr>
            <a:spLocks noGrp="1"/>
          </p:cNvSpPr>
          <p:nvPr>
            <p:ph type="title"/>
          </p:nvPr>
        </p:nvSpPr>
        <p:spPr>
          <a:xfrm>
            <a:off x="457200" y="404664"/>
            <a:ext cx="7139136" cy="432048"/>
          </a:xfrm>
          <a:prstGeom prst="rect">
            <a:avLst/>
          </a:prstGeom>
        </p:spPr>
        <p:txBody>
          <a:bodyPr vert="horz" lIns="0" rIns="0" bIns="0" anchor="b">
            <a:noAutofit/>
          </a:bodyPr>
          <a:lstStyle/>
          <a:p>
            <a:r>
              <a:rPr kumimoji="0" lang="en-US" dirty="0"/>
              <a:t>Click to edit Master title style</a:t>
            </a:r>
          </a:p>
        </p:txBody>
      </p:sp>
      <p:sp>
        <p:nvSpPr>
          <p:cNvPr id="30" name="Text Placeholder 29"/>
          <p:cNvSpPr>
            <a:spLocks noGrp="1"/>
          </p:cNvSpPr>
          <p:nvPr>
            <p:ph type="body" idx="1"/>
          </p:nvPr>
        </p:nvSpPr>
        <p:spPr>
          <a:xfrm>
            <a:off x="457200" y="1234440"/>
            <a:ext cx="8229600" cy="4389120"/>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03667C4B-6D06-491C-A04A-E41D55AFBBED}" type="slidenum">
              <a:rPr lang="en-GB" smtClean="0"/>
              <a:pPr/>
              <a:t>‹#›</a:t>
            </a:fld>
            <a:endParaRPr lang="en-GB"/>
          </a:p>
        </p:txBody>
      </p:sp>
      <p:pic>
        <p:nvPicPr>
          <p:cNvPr id="2" name="Picture 1"/>
          <p:cNvPicPr>
            <a:picLocks noChangeAspect="1"/>
          </p:cNvPicPr>
          <p:nvPr userDrawn="1"/>
        </p:nvPicPr>
        <p:blipFill rotWithShape="1">
          <a:blip r:embed="rId13" cstate="print">
            <a:extLst>
              <a:ext uri="{28A0092B-C50C-407E-A947-70E740481C1C}">
                <a14:useLocalDpi xmlns:a14="http://schemas.microsoft.com/office/drawing/2010/main" val="0"/>
              </a:ext>
            </a:extLst>
          </a:blip>
          <a:srcRect l="14962" t="27391" r="10226" b="24724"/>
          <a:stretch/>
        </p:blipFill>
        <p:spPr>
          <a:xfrm>
            <a:off x="7764895" y="92550"/>
            <a:ext cx="1379105" cy="624227"/>
          </a:xfrm>
          <a:prstGeom prst="rect">
            <a:avLst/>
          </a:prstGeom>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p:fade/>
  </p:transition>
  <p:hf hdr="0" dt="0"/>
  <p:txStyles>
    <p:titleStyle>
      <a:lvl1pPr algn="l" rtl="0" eaLnBrk="1" latinLnBrk="0" hangingPunct="1">
        <a:spcBef>
          <a:spcPct val="0"/>
        </a:spcBef>
        <a:buNone/>
        <a:defRPr kumimoji="0" sz="3600" b="0" kern="1200">
          <a:ln>
            <a:noFill/>
          </a:ln>
          <a:solidFill>
            <a:srgbClr val="B11B7E"/>
          </a:solidFill>
          <a:effectLst/>
          <a:latin typeface="+mj-lt"/>
          <a:ea typeface="+mj-ea"/>
          <a:cs typeface="+mj-cs"/>
        </a:defRPr>
      </a:lvl1pPr>
    </p:titleStyle>
    <p:bodyStyle>
      <a:lvl1pPr marL="274320" indent="-274320" algn="l" rtl="0" eaLnBrk="1" latinLnBrk="0" hangingPunct="1">
        <a:spcBef>
          <a:spcPct val="20000"/>
        </a:spcBef>
        <a:buClr>
          <a:srgbClr val="B11B7E"/>
        </a:buClr>
        <a:buSzPct val="95000"/>
        <a:buFont typeface="Wingdings 2" charset="2"/>
        <a:buChar char=""/>
        <a:defRPr kumimoji="0" sz="2000" kern="1200">
          <a:solidFill>
            <a:schemeClr val="tx1">
              <a:lumMod val="75000"/>
              <a:lumOff val="25000"/>
            </a:schemeClr>
          </a:solidFill>
          <a:latin typeface="Arial"/>
          <a:ea typeface="+mn-ea"/>
          <a:cs typeface="Arial"/>
        </a:defRPr>
      </a:lvl1pPr>
      <a:lvl2pPr marL="640080" indent="-246888" algn="l" rtl="0" eaLnBrk="1" latinLnBrk="0" hangingPunct="1">
        <a:spcBef>
          <a:spcPct val="20000"/>
        </a:spcBef>
        <a:buClr>
          <a:srgbClr val="B11B7E"/>
        </a:buClr>
        <a:buSzPct val="85000"/>
        <a:buFont typeface="Wingdings 2" charset="2"/>
        <a:buChar char=""/>
        <a:defRPr kumimoji="0" sz="1800" kern="1200">
          <a:solidFill>
            <a:schemeClr val="tx1">
              <a:lumMod val="75000"/>
              <a:lumOff val="25000"/>
            </a:schemeClr>
          </a:solidFill>
          <a:latin typeface="Arial"/>
          <a:ea typeface="+mn-ea"/>
          <a:cs typeface="Arial"/>
        </a:defRPr>
      </a:lvl2pPr>
      <a:lvl3pPr marL="914400" indent="-246888" algn="l" rtl="0" eaLnBrk="1" latinLnBrk="0" hangingPunct="1">
        <a:spcBef>
          <a:spcPct val="20000"/>
        </a:spcBef>
        <a:buClr>
          <a:srgbClr val="B11B7E"/>
        </a:buClr>
        <a:buSzPct val="70000"/>
        <a:buFont typeface="Wingdings 2" charset="2"/>
        <a:buChar char=""/>
        <a:defRPr kumimoji="0" sz="1800" kern="1200">
          <a:solidFill>
            <a:schemeClr val="tx1">
              <a:lumMod val="75000"/>
              <a:lumOff val="25000"/>
            </a:schemeClr>
          </a:solidFill>
          <a:latin typeface="Arial"/>
          <a:ea typeface="+mn-ea"/>
          <a:cs typeface="Arial"/>
        </a:defRPr>
      </a:lvl3pPr>
      <a:lvl4pPr marL="1188720" indent="-210312" algn="l" rtl="0" eaLnBrk="1" latinLnBrk="0" hangingPunct="1">
        <a:spcBef>
          <a:spcPct val="20000"/>
        </a:spcBef>
        <a:buClr>
          <a:srgbClr val="B11B7E"/>
        </a:buClr>
        <a:buSzPct val="65000"/>
        <a:buFont typeface="Wingdings 2" charset="2"/>
        <a:buChar char=""/>
        <a:defRPr kumimoji="0" sz="1600" kern="1200">
          <a:solidFill>
            <a:schemeClr val="tx1">
              <a:lumMod val="75000"/>
              <a:lumOff val="25000"/>
            </a:schemeClr>
          </a:solidFill>
          <a:latin typeface="Arial"/>
          <a:ea typeface="+mn-ea"/>
          <a:cs typeface="Arial"/>
        </a:defRPr>
      </a:lvl4pPr>
      <a:lvl5pPr marL="1463040" indent="-210312" algn="l" rtl="0" eaLnBrk="1" latinLnBrk="0" hangingPunct="1">
        <a:spcBef>
          <a:spcPct val="20000"/>
        </a:spcBef>
        <a:buClr>
          <a:srgbClr val="B11B7E"/>
        </a:buClr>
        <a:buSzPct val="65000"/>
        <a:buFont typeface="Wingdings 2" charset="2"/>
        <a:buChar char=""/>
        <a:defRPr kumimoji="0" sz="1600" kern="1200">
          <a:solidFill>
            <a:schemeClr val="tx1">
              <a:lumMod val="75000"/>
              <a:lumOff val="25000"/>
            </a:schemeClr>
          </a:solidFill>
          <a:latin typeface="Arial"/>
          <a:ea typeface="+mn-ea"/>
          <a:cs typeface="Arial"/>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pt-PT"/>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77AB0A-193E-4F1D-B236-733F03B19CAD}" type="datetimeFigureOut">
              <a:rPr lang="pt-PT" smtClean="0"/>
              <a:t>2022.07.20</a:t>
            </a:fld>
            <a:endParaRPr lang="pt-PT"/>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PT"/>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B4B724-ABE4-4C90-B5AD-3AE4F791D49F}" type="slidenum">
              <a:rPr lang="pt-PT" smtClean="0"/>
              <a:t>‹#›</a:t>
            </a:fld>
            <a:endParaRPr lang="pt-PT"/>
          </a:p>
        </p:txBody>
      </p:sp>
    </p:spTree>
    <p:extLst>
      <p:ext uri="{BB962C8B-B14F-4D97-AF65-F5344CB8AC3E}">
        <p14:creationId xmlns:p14="http://schemas.microsoft.com/office/powerpoint/2010/main" val="34455461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p:fad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8.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jpeg"/><Relationship Id="rId4" Type="http://schemas.openxmlformats.org/officeDocument/2006/relationships/image" Target="../media/image5.png"/><Relationship Id="rId9" Type="http://schemas.openxmlformats.org/officeDocument/2006/relationships/image" Target="../media/image10.jpe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8.jpeg"/><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rotWithShape="1">
          <a:blip r:embed="rId2" cstate="print">
            <a:extLst>
              <a:ext uri="{28A0092B-C50C-407E-A947-70E740481C1C}">
                <a14:useLocalDpi xmlns:a14="http://schemas.microsoft.com/office/drawing/2010/main" val="0"/>
              </a:ext>
            </a:extLst>
          </a:blip>
          <a:srcRect l="21823" t="11793" r="24262" b="8381"/>
          <a:stretch/>
        </p:blipFill>
        <p:spPr>
          <a:xfrm>
            <a:off x="7524328" y="3946771"/>
            <a:ext cx="1368152" cy="2866605"/>
          </a:xfrm>
          <a:prstGeom prst="rect">
            <a:avLst/>
          </a:prstGeom>
        </p:spPr>
      </p:pic>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t="31764" b="26307"/>
          <a:stretch/>
        </p:blipFill>
        <p:spPr>
          <a:xfrm>
            <a:off x="1835696" y="5499779"/>
            <a:ext cx="8020050" cy="2376265"/>
          </a:xfrm>
          <a:prstGeom prst="rect">
            <a:avLst/>
          </a:prstGeom>
        </p:spPr>
      </p:pic>
      <p:sp>
        <p:nvSpPr>
          <p:cNvPr id="3" name="Rectangle 6"/>
          <p:cNvSpPr>
            <a:spLocks noChangeArrowheads="1"/>
          </p:cNvSpPr>
          <p:nvPr/>
        </p:nvSpPr>
        <p:spPr bwMode="auto">
          <a:xfrm>
            <a:off x="2925437" y="6452319"/>
            <a:ext cx="6255075" cy="577081"/>
          </a:xfrm>
          <a:prstGeom prst="rect">
            <a:avLst/>
          </a:prstGeom>
          <a:noFill/>
          <a:ln w="12700">
            <a:noFill/>
            <a:miter lim="800000"/>
            <a:headEnd/>
            <a:tailEnd/>
          </a:ln>
        </p:spPr>
        <p:txBody>
          <a:bodyPr wrap="square" anchor="ctr">
            <a:spAutoFit/>
          </a:bodyPr>
          <a:lstStyle/>
          <a:p>
            <a:r>
              <a:rPr lang="en-US" sz="1050" dirty="0">
                <a:solidFill>
                  <a:schemeClr val="bg1"/>
                </a:solidFill>
                <a:latin typeface="Arial"/>
              </a:rPr>
              <a:t>Estrictamente confidencial | Bial Portela &amp; C</a:t>
            </a:r>
            <a:r>
              <a:rPr lang="en-US" sz="1050" baseline="30000" dirty="0">
                <a:solidFill>
                  <a:schemeClr val="bg1"/>
                </a:solidFill>
                <a:latin typeface="Arial"/>
              </a:rPr>
              <a:t>a</a:t>
            </a:r>
            <a:r>
              <a:rPr lang="en-US" sz="1050" dirty="0">
                <a:solidFill>
                  <a:schemeClr val="bg1"/>
                </a:solidFill>
                <a:latin typeface="Arial"/>
              </a:rPr>
              <a:t> | Todos los derechos reservados, también con respecto a cualquier disposición, explotación, reproducción, edición, distribución, así como en el caso de solicitudes de derechos de propiedad intelectual o industrial. </a:t>
            </a:r>
            <a:r>
              <a:rPr lang="en-US" sz="1050" b="1" dirty="0">
                <a:solidFill>
                  <a:schemeClr val="bg1"/>
                </a:solidFill>
                <a:latin typeface="Arial"/>
              </a:rPr>
              <a:t>FO/JUL22/EM/032</a:t>
            </a:r>
            <a:endParaRPr lang="es-ES" sz="1050" b="1" dirty="0">
              <a:solidFill>
                <a:schemeClr val="bg1"/>
              </a:solidFill>
              <a:latin typeface="Arial"/>
              <a:ea typeface="Calibri" pitchFamily="34" charset="0"/>
              <a:cs typeface="Arial"/>
            </a:endParaRPr>
          </a:p>
        </p:txBody>
      </p:sp>
      <p:pic>
        <p:nvPicPr>
          <p:cNvPr id="4" name="Picture 3"/>
          <p:cNvPicPr>
            <a:picLocks noChangeAspect="1"/>
          </p:cNvPicPr>
          <p:nvPr/>
        </p:nvPicPr>
        <p:blipFill rotWithShape="1">
          <a:blip r:embed="rId4" cstate="print">
            <a:extLst>
              <a:ext uri="{28A0092B-C50C-407E-A947-70E740481C1C}">
                <a14:useLocalDpi xmlns:a14="http://schemas.microsoft.com/office/drawing/2010/main" val="0"/>
              </a:ext>
            </a:extLst>
          </a:blip>
          <a:srcRect l="13775" t="28842" r="11413" b="24387"/>
          <a:stretch/>
        </p:blipFill>
        <p:spPr>
          <a:xfrm>
            <a:off x="6278179" y="104752"/>
            <a:ext cx="2686309" cy="1187632"/>
          </a:xfrm>
          <a:prstGeom prst="rect">
            <a:avLst/>
          </a:prstGeom>
        </p:spPr>
      </p:pic>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21823" t="11793" r="24262" b="8381"/>
          <a:stretch/>
        </p:blipFill>
        <p:spPr>
          <a:xfrm>
            <a:off x="-540568" y="-27384"/>
            <a:ext cx="3456384" cy="7241945"/>
          </a:xfrm>
          <a:prstGeom prst="rect">
            <a:avLst/>
          </a:prstGeom>
        </p:spPr>
      </p:pic>
      <p:pic>
        <p:nvPicPr>
          <p:cNvPr id="6" name="Picture 5"/>
          <p:cNvPicPr>
            <a:picLocks noChangeAspect="1"/>
          </p:cNvPicPr>
          <p:nvPr/>
        </p:nvPicPr>
        <p:blipFill rotWithShape="1">
          <a:blip r:embed="rId5">
            <a:extLst>
              <a:ext uri="{28A0092B-C50C-407E-A947-70E740481C1C}">
                <a14:useLocalDpi xmlns:a14="http://schemas.microsoft.com/office/drawing/2010/main" val="0"/>
              </a:ext>
            </a:extLst>
          </a:blip>
          <a:srcRect t="24150" b="28600"/>
          <a:stretch/>
        </p:blipFill>
        <p:spPr>
          <a:xfrm>
            <a:off x="-972616" y="5138025"/>
            <a:ext cx="4281642" cy="2862868"/>
          </a:xfrm>
          <a:prstGeom prst="rect">
            <a:avLst/>
          </a:prstGeom>
        </p:spPr>
      </p:pic>
      <p:pic>
        <p:nvPicPr>
          <p:cNvPr id="7" name="Picture 6"/>
          <p:cNvPicPr>
            <a:picLocks noChangeAspect="1"/>
          </p:cNvPicPr>
          <p:nvPr/>
        </p:nvPicPr>
        <p:blipFill rotWithShape="1">
          <a:blip r:embed="rId6" cstate="print">
            <a:lum bright="70000" contrast="-70000"/>
            <a:extLst>
              <a:ext uri="{28A0092B-C50C-407E-A947-70E740481C1C}">
                <a14:useLocalDpi xmlns:a14="http://schemas.microsoft.com/office/drawing/2010/main" val="0"/>
              </a:ext>
            </a:extLst>
          </a:blip>
          <a:srcRect t="37742" b="28827"/>
          <a:stretch/>
        </p:blipFill>
        <p:spPr>
          <a:xfrm>
            <a:off x="39315" y="6263522"/>
            <a:ext cx="1796381" cy="424389"/>
          </a:xfrm>
          <a:prstGeom prst="rect">
            <a:avLst/>
          </a:prstGeom>
        </p:spPr>
      </p:pic>
      <p:pic>
        <p:nvPicPr>
          <p:cNvPr id="8" name="Picture 7"/>
          <p:cNvPicPr>
            <a:picLocks noChangeAspect="1"/>
          </p:cNvPicPr>
          <p:nvPr/>
        </p:nvPicPr>
        <p:blipFill rotWithShape="1">
          <a:blip r:embed="rId7">
            <a:extLst>
              <a:ext uri="{28A0092B-C50C-407E-A947-70E740481C1C}">
                <a14:useLocalDpi xmlns:a14="http://schemas.microsoft.com/office/drawing/2010/main" val="0"/>
              </a:ext>
            </a:extLst>
          </a:blip>
          <a:srcRect l="25341" t="12600" r="25626" b="14951"/>
          <a:stretch/>
        </p:blipFill>
        <p:spPr>
          <a:xfrm>
            <a:off x="2343569" y="2175009"/>
            <a:ext cx="2080595" cy="4350335"/>
          </a:xfrm>
          <a:prstGeom prst="rect">
            <a:avLst/>
          </a:prstGeom>
        </p:spPr>
      </p:pic>
      <p:pic>
        <p:nvPicPr>
          <p:cNvPr id="9" name="Picture 8"/>
          <p:cNvPicPr>
            <a:picLocks noChangeAspect="1"/>
          </p:cNvPicPr>
          <p:nvPr/>
        </p:nvPicPr>
        <p:blipFill>
          <a:blip r:embed="rId8"/>
          <a:stretch>
            <a:fillRect/>
          </a:stretch>
        </p:blipFill>
        <p:spPr>
          <a:xfrm>
            <a:off x="5059057" y="4647470"/>
            <a:ext cx="2196691" cy="979605"/>
          </a:xfrm>
          <a:prstGeom prst="rect">
            <a:avLst/>
          </a:prstGeom>
        </p:spPr>
      </p:pic>
      <p:pic>
        <p:nvPicPr>
          <p:cNvPr id="11" name="Picture 10" descr="A picture containing clipart&#10;&#10;Description automatically generated">
            <a:extLst>
              <a:ext uri="{FF2B5EF4-FFF2-40B4-BE49-F238E27FC236}">
                <a16:creationId xmlns:a16="http://schemas.microsoft.com/office/drawing/2014/main" id="{5A3AB228-BF3C-439C-B66B-FB9A40861C3B}"/>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25949" t="5100" r="21728" b="5759"/>
          <a:stretch/>
        </p:blipFill>
        <p:spPr>
          <a:xfrm>
            <a:off x="1512104" y="3540191"/>
            <a:ext cx="939922" cy="2265073"/>
          </a:xfrm>
          <a:prstGeom prst="rect">
            <a:avLst/>
          </a:prstGeom>
        </p:spPr>
      </p:pic>
      <p:pic>
        <p:nvPicPr>
          <p:cNvPr id="12" name="Picture 11" descr="A picture containing text, clipart&#10;&#10;Description automatically generated">
            <a:extLst>
              <a:ext uri="{FF2B5EF4-FFF2-40B4-BE49-F238E27FC236}">
                <a16:creationId xmlns:a16="http://schemas.microsoft.com/office/drawing/2014/main" id="{D8287730-951B-4FF1-826B-59E76DF9DF7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444045" y="2070549"/>
            <a:ext cx="1108145" cy="2413238"/>
          </a:xfrm>
          <a:prstGeom prst="rect">
            <a:avLst/>
          </a:prstGeom>
        </p:spPr>
      </p:pic>
      <p:sp>
        <p:nvSpPr>
          <p:cNvPr id="14" name="TextBox 13">
            <a:extLst>
              <a:ext uri="{FF2B5EF4-FFF2-40B4-BE49-F238E27FC236}">
                <a16:creationId xmlns:a16="http://schemas.microsoft.com/office/drawing/2014/main" id="{5F0EF3DC-217E-41F9-BAD0-E1ABF8D79D80}"/>
              </a:ext>
            </a:extLst>
          </p:cNvPr>
          <p:cNvSpPr txBox="1"/>
          <p:nvPr/>
        </p:nvSpPr>
        <p:spPr>
          <a:xfrm>
            <a:off x="5799953" y="1539950"/>
            <a:ext cx="2724172" cy="1569660"/>
          </a:xfrm>
          <a:prstGeom prst="rect">
            <a:avLst/>
          </a:prstGeom>
          <a:noFill/>
        </p:spPr>
        <p:txBody>
          <a:bodyPr wrap="square" rtlCol="0">
            <a:spAutoFit/>
          </a:bodyPr>
          <a:lstStyle/>
          <a:p>
            <a:pPr algn="ctr" defTabSz="685800"/>
            <a:r>
              <a:rPr lang="en-GB" sz="2400" dirty="0">
                <a:solidFill>
                  <a:srgbClr val="F35C13"/>
                </a:solidFill>
                <a:latin typeface="Gotham Rounded Bold" pitchFamily="50" charset="0"/>
                <a:sym typeface="Wingdings" panose="05000000000000000000" pitchFamily="2" charset="2"/>
              </a:rPr>
              <a:t>Un </a:t>
            </a:r>
            <a:r>
              <a:rPr lang="en-GB" sz="2400" dirty="0" err="1">
                <a:solidFill>
                  <a:srgbClr val="F35C13"/>
                </a:solidFill>
                <a:latin typeface="Gotham Rounded Bold" pitchFamily="50" charset="0"/>
                <a:sym typeface="Wingdings" panose="05000000000000000000" pitchFamily="2" charset="2"/>
              </a:rPr>
              <a:t>embarazo</a:t>
            </a:r>
            <a:r>
              <a:rPr lang="en-GB" sz="2400" dirty="0">
                <a:solidFill>
                  <a:srgbClr val="F35C13"/>
                </a:solidFill>
                <a:latin typeface="Gotham Rounded Bold" pitchFamily="50" charset="0"/>
                <a:sym typeface="Wingdings" panose="05000000000000000000" pitchFamily="2" charset="2"/>
              </a:rPr>
              <a:t> </a:t>
            </a:r>
            <a:r>
              <a:rPr lang="en-GB" sz="2400" dirty="0" err="1">
                <a:solidFill>
                  <a:srgbClr val="F35C13"/>
                </a:solidFill>
                <a:latin typeface="Gotham Rounded Bold" pitchFamily="50" charset="0"/>
                <a:sym typeface="Wingdings" panose="05000000000000000000" pitchFamily="2" charset="2"/>
              </a:rPr>
              <a:t>saludable</a:t>
            </a:r>
            <a:r>
              <a:rPr lang="en-GB" sz="2400" dirty="0">
                <a:solidFill>
                  <a:srgbClr val="F35C13"/>
                </a:solidFill>
                <a:latin typeface="Gotham Rounded Bold" pitchFamily="50" charset="0"/>
                <a:sym typeface="Wingdings" panose="05000000000000000000" pitchFamily="2" charset="2"/>
              </a:rPr>
              <a:t> </a:t>
            </a:r>
            <a:r>
              <a:rPr lang="en-GB" sz="2400" dirty="0" err="1">
                <a:solidFill>
                  <a:srgbClr val="F35C13"/>
                </a:solidFill>
                <a:latin typeface="Gotham Rounded Bold" pitchFamily="50" charset="0"/>
                <a:sym typeface="Wingdings" panose="05000000000000000000" pitchFamily="2" charset="2"/>
              </a:rPr>
              <a:t>ofrece</a:t>
            </a:r>
            <a:r>
              <a:rPr lang="en-GB" sz="2400" dirty="0">
                <a:solidFill>
                  <a:srgbClr val="F35C13"/>
                </a:solidFill>
                <a:latin typeface="Gotham Rounded Bold" pitchFamily="50" charset="0"/>
                <a:sym typeface="Wingdings" panose="05000000000000000000" pitchFamily="2" charset="2"/>
              </a:rPr>
              <a:t> </a:t>
            </a:r>
            <a:r>
              <a:rPr lang="en-GB" sz="2400" dirty="0" err="1">
                <a:solidFill>
                  <a:srgbClr val="F35C13"/>
                </a:solidFill>
                <a:latin typeface="Gotham Rounded Bold" pitchFamily="50" charset="0"/>
                <a:sym typeface="Wingdings" panose="05000000000000000000" pitchFamily="2" charset="2"/>
              </a:rPr>
              <a:t>snrisas</a:t>
            </a:r>
            <a:r>
              <a:rPr lang="en-GB" sz="2400" dirty="0">
                <a:solidFill>
                  <a:srgbClr val="F35C13"/>
                </a:solidFill>
                <a:latin typeface="Gotham Rounded Bold" pitchFamily="50" charset="0"/>
                <a:sym typeface="Wingdings" panose="05000000000000000000" pitchFamily="2" charset="2"/>
              </a:rPr>
              <a:t> </a:t>
            </a:r>
            <a:r>
              <a:rPr lang="en-GB" sz="2400" dirty="0" err="1">
                <a:solidFill>
                  <a:srgbClr val="F35C13"/>
                </a:solidFill>
                <a:latin typeface="Gotham Rounded Bold" pitchFamily="50" charset="0"/>
                <a:sym typeface="Wingdings" panose="05000000000000000000" pitchFamily="2" charset="2"/>
              </a:rPr>
              <a:t>felices</a:t>
            </a:r>
            <a:endParaRPr lang="en-GB" sz="2400" dirty="0">
              <a:solidFill>
                <a:srgbClr val="F35C13"/>
              </a:solidFill>
              <a:latin typeface="Gotham Rounded Bold" pitchFamily="50" charset="0"/>
              <a:sym typeface="Wingdings" panose="05000000000000000000" pitchFamily="2" charset="2"/>
            </a:endParaRPr>
          </a:p>
        </p:txBody>
      </p:sp>
      <p:sp>
        <p:nvSpPr>
          <p:cNvPr id="15" name="TextBox 14">
            <a:extLst>
              <a:ext uri="{FF2B5EF4-FFF2-40B4-BE49-F238E27FC236}">
                <a16:creationId xmlns:a16="http://schemas.microsoft.com/office/drawing/2014/main" id="{8E330621-42CD-4A3D-A33F-514D8BBE35BC}"/>
              </a:ext>
            </a:extLst>
          </p:cNvPr>
          <p:cNvSpPr txBox="1"/>
          <p:nvPr/>
        </p:nvSpPr>
        <p:spPr>
          <a:xfrm>
            <a:off x="6274753" y="3212976"/>
            <a:ext cx="2573138" cy="738664"/>
          </a:xfrm>
          <a:prstGeom prst="rect">
            <a:avLst/>
          </a:prstGeom>
          <a:noFill/>
        </p:spPr>
        <p:txBody>
          <a:bodyPr wrap="square" rtlCol="0">
            <a:spAutoFit/>
          </a:bodyPr>
          <a:lstStyle/>
          <a:p>
            <a:pPr algn="r"/>
            <a:r>
              <a:rPr lang="pt-PT" sz="1400" dirty="0">
                <a:solidFill>
                  <a:srgbClr val="F35C13"/>
                </a:solidFill>
              </a:rPr>
              <a:t>Evento</a:t>
            </a:r>
          </a:p>
          <a:p>
            <a:pPr algn="r"/>
            <a:r>
              <a:rPr lang="pt-PT" sz="1400" dirty="0">
                <a:solidFill>
                  <a:srgbClr val="F35C13"/>
                </a:solidFill>
              </a:rPr>
              <a:t>Local y fecha</a:t>
            </a:r>
          </a:p>
          <a:p>
            <a:pPr algn="r"/>
            <a:r>
              <a:rPr lang="pt-PT" sz="1400" dirty="0" err="1">
                <a:solidFill>
                  <a:srgbClr val="F35C13"/>
                </a:solidFill>
              </a:rPr>
              <a:t>Nombre</a:t>
            </a:r>
            <a:r>
              <a:rPr lang="pt-PT" sz="1400" dirty="0">
                <a:solidFill>
                  <a:srgbClr val="F35C13"/>
                </a:solidFill>
              </a:rPr>
              <a:t> del </a:t>
            </a:r>
            <a:r>
              <a:rPr lang="pt-PT" sz="1400" dirty="0" err="1">
                <a:solidFill>
                  <a:srgbClr val="F35C13"/>
                </a:solidFill>
              </a:rPr>
              <a:t>presentador</a:t>
            </a:r>
            <a:endParaRPr lang="pt-PT" sz="1400" dirty="0">
              <a:solidFill>
                <a:srgbClr val="F35C13"/>
              </a:solidFill>
            </a:endParaRPr>
          </a:p>
        </p:txBody>
      </p:sp>
    </p:spTree>
    <p:extLst>
      <p:ext uri="{BB962C8B-B14F-4D97-AF65-F5344CB8AC3E}">
        <p14:creationId xmlns:p14="http://schemas.microsoft.com/office/powerpoint/2010/main" val="36916885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750" fill="hold"/>
                                        <p:tgtEl>
                                          <p:spTgt spid="2"/>
                                        </p:tgtEl>
                                        <p:attrNameLst>
                                          <p:attrName>ppt_x</p:attrName>
                                        </p:attrNameLst>
                                      </p:cBhvr>
                                      <p:tavLst>
                                        <p:tav tm="0">
                                          <p:val>
                                            <p:strVal val="#ppt_x"/>
                                          </p:val>
                                        </p:tav>
                                        <p:tav tm="100000">
                                          <p:val>
                                            <p:strVal val="#ppt_x"/>
                                          </p:val>
                                        </p:tav>
                                      </p:tavLst>
                                    </p:anim>
                                    <p:anim calcmode="lin" valueType="num">
                                      <p:cBhvr additive="base">
                                        <p:cTn id="12" dur="75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750" fill="hold"/>
                                        <p:tgtEl>
                                          <p:spTgt spid="6"/>
                                        </p:tgtEl>
                                        <p:attrNameLst>
                                          <p:attrName>ppt_x</p:attrName>
                                        </p:attrNameLst>
                                      </p:cBhvr>
                                      <p:tavLst>
                                        <p:tav tm="0">
                                          <p:val>
                                            <p:strVal val="#ppt_x"/>
                                          </p:val>
                                        </p:tav>
                                        <p:tav tm="100000">
                                          <p:val>
                                            <p:strVal val="#ppt_x"/>
                                          </p:val>
                                        </p:tav>
                                      </p:tavLst>
                                    </p:anim>
                                    <p:anim calcmode="lin" valueType="num">
                                      <p:cBhvr additive="base">
                                        <p:cTn id="16" dur="750" fill="hold"/>
                                        <p:tgtEl>
                                          <p:spTgt spid="6"/>
                                        </p:tgtEl>
                                        <p:attrNameLst>
                                          <p:attrName>ppt_y</p:attrName>
                                        </p:attrNameLst>
                                      </p:cBhvr>
                                      <p:tavLst>
                                        <p:tav tm="0">
                                          <p:val>
                                            <p:strVal val="1+#ppt_h/2"/>
                                          </p:val>
                                        </p:tav>
                                        <p:tav tm="100000">
                                          <p:val>
                                            <p:strVal val="#ppt_y"/>
                                          </p:val>
                                        </p:tav>
                                      </p:tavLst>
                                    </p:anim>
                                  </p:childTnLst>
                                </p:cTn>
                              </p:par>
                            </p:childTnLst>
                          </p:cTn>
                        </p:par>
                        <p:par>
                          <p:cTn id="17" fill="hold">
                            <p:stCondLst>
                              <p:cond delay="1250"/>
                            </p:stCondLst>
                            <p:childTnLst>
                              <p:par>
                                <p:cTn id="18" presetID="2" presetClass="entr" presetSubtype="4"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1000" fill="hold"/>
                                        <p:tgtEl>
                                          <p:spTgt spid="5"/>
                                        </p:tgtEl>
                                        <p:attrNameLst>
                                          <p:attrName>ppt_x</p:attrName>
                                        </p:attrNameLst>
                                      </p:cBhvr>
                                      <p:tavLst>
                                        <p:tav tm="0">
                                          <p:val>
                                            <p:strVal val="#ppt_x"/>
                                          </p:val>
                                        </p:tav>
                                        <p:tav tm="100000">
                                          <p:val>
                                            <p:strVal val="#ppt_x"/>
                                          </p:val>
                                        </p:tav>
                                      </p:tavLst>
                                    </p:anim>
                                    <p:anim calcmode="lin" valueType="num">
                                      <p:cBhvr additive="base">
                                        <p:cTn id="21" dur="1000" fill="hold"/>
                                        <p:tgtEl>
                                          <p:spTgt spid="5"/>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additive="base">
                                        <p:cTn id="24" dur="1000" fill="hold"/>
                                        <p:tgtEl>
                                          <p:spTgt spid="13"/>
                                        </p:tgtEl>
                                        <p:attrNameLst>
                                          <p:attrName>ppt_x</p:attrName>
                                        </p:attrNameLst>
                                      </p:cBhvr>
                                      <p:tavLst>
                                        <p:tav tm="0">
                                          <p:val>
                                            <p:strVal val="#ppt_x"/>
                                          </p:val>
                                        </p:tav>
                                        <p:tav tm="100000">
                                          <p:val>
                                            <p:strVal val="#ppt_x"/>
                                          </p:val>
                                        </p:tav>
                                      </p:tavLst>
                                    </p:anim>
                                    <p:anim calcmode="lin" valueType="num">
                                      <p:cBhvr additive="base">
                                        <p:cTn id="25" dur="1000" fill="hold"/>
                                        <p:tgtEl>
                                          <p:spTgt spid="13"/>
                                        </p:tgtEl>
                                        <p:attrNameLst>
                                          <p:attrName>ppt_y</p:attrName>
                                        </p:attrNameLst>
                                      </p:cBhvr>
                                      <p:tavLst>
                                        <p:tav tm="0">
                                          <p:val>
                                            <p:strVal val="1+#ppt_h/2"/>
                                          </p:val>
                                        </p:tav>
                                        <p:tav tm="100000">
                                          <p:val>
                                            <p:strVal val="#ppt_y"/>
                                          </p:val>
                                        </p:tav>
                                      </p:tavLst>
                                    </p:anim>
                                  </p:childTnLst>
                                </p:cTn>
                              </p:par>
                            </p:childTnLst>
                          </p:cTn>
                        </p:par>
                        <p:par>
                          <p:cTn id="26" fill="hold">
                            <p:stCondLst>
                              <p:cond delay="2250"/>
                            </p:stCondLst>
                            <p:childTnLst>
                              <p:par>
                                <p:cTn id="27" presetID="10"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750"/>
                                        <p:tgtEl>
                                          <p:spTgt spid="9"/>
                                        </p:tgtEl>
                                      </p:cBhvr>
                                    </p:animEffect>
                                  </p:childTnLst>
                                </p:cTn>
                              </p:par>
                            </p:childTnLst>
                          </p:cTn>
                        </p:par>
                        <p:par>
                          <p:cTn id="30" fill="hold">
                            <p:stCondLst>
                              <p:cond delay="3000"/>
                            </p:stCondLst>
                            <p:childTnLst>
                              <p:par>
                                <p:cTn id="31" presetID="10" presetClass="entr" presetSubtype="0" fill="hold"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1000"/>
                                        <p:tgtEl>
                                          <p:spTgt spid="8"/>
                                        </p:tgtEl>
                                      </p:cBhvr>
                                    </p:animEffect>
                                  </p:childTnLst>
                                </p:cTn>
                              </p:par>
                              <p:par>
                                <p:cTn id="34" presetID="10" presetClass="entr" presetSubtype="0" fill="hold"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fade">
                                      <p:cBhvr>
                                        <p:cTn id="3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E98676.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6790" cy="6858000"/>
          </a:xfrm>
          <a:prstGeom prst="rect">
            <a:avLst/>
          </a:prstGeom>
        </p:spPr>
      </p:pic>
    </p:spTree>
    <p:extLst>
      <p:ext uri="{BB962C8B-B14F-4D97-AF65-F5344CB8AC3E}">
        <p14:creationId xmlns:p14="http://schemas.microsoft.com/office/powerpoint/2010/main" val="151995998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ING_33849_08751.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4134" y="2276872"/>
            <a:ext cx="5878506" cy="5112568"/>
          </a:xfrm>
          <a:prstGeom prst="ellipse">
            <a:avLst/>
          </a:prstGeom>
        </p:spPr>
      </p:pic>
      <p:sp>
        <p:nvSpPr>
          <p:cNvPr id="6147" name="TextBox 2"/>
          <p:cNvSpPr txBox="1">
            <a:spLocks noChangeArrowheads="1"/>
          </p:cNvSpPr>
          <p:nvPr/>
        </p:nvSpPr>
        <p:spPr bwMode="auto">
          <a:xfrm>
            <a:off x="451763" y="6597352"/>
            <a:ext cx="4624293" cy="230832"/>
          </a:xfrm>
          <a:prstGeom prst="rect">
            <a:avLst/>
          </a:prstGeom>
          <a:noFill/>
          <a:ln w="9525">
            <a:noFill/>
            <a:miter lim="800000"/>
            <a:headEnd/>
            <a:tailEnd/>
          </a:ln>
        </p:spPr>
        <p:txBody>
          <a:bodyPr wrap="square">
            <a:spAutoFit/>
          </a:bodyPr>
          <a:lstStyle/>
          <a:p>
            <a:r>
              <a:rPr lang="pt-PT" sz="900" dirty="0" err="1">
                <a:solidFill>
                  <a:schemeClr val="bg1">
                    <a:lumMod val="50000"/>
                  </a:schemeClr>
                </a:solidFill>
                <a:latin typeface="Arial" panose="020B0604020202020204" pitchFamily="34" charset="0"/>
                <a:cs typeface="Arial" panose="020B0604020202020204" pitchFamily="34" charset="0"/>
              </a:rPr>
              <a:t>Fuente</a:t>
            </a:r>
            <a:r>
              <a:rPr lang="pt-PT" sz="900" dirty="0">
                <a:solidFill>
                  <a:schemeClr val="bg1">
                    <a:lumMod val="50000"/>
                  </a:schemeClr>
                </a:solidFill>
                <a:latin typeface="Arial" panose="020B0604020202020204" pitchFamily="34" charset="0"/>
                <a:cs typeface="Arial" panose="020B0604020202020204" pitchFamily="34" charset="0"/>
              </a:rPr>
              <a:t>: </a:t>
            </a:r>
            <a:r>
              <a:rPr lang="pt-PT" sz="900" dirty="0" err="1">
                <a:solidFill>
                  <a:schemeClr val="bg1">
                    <a:lumMod val="50000"/>
                  </a:schemeClr>
                </a:solidFill>
                <a:latin typeface="Arial" panose="020B0604020202020204" pitchFamily="34" charset="0"/>
                <a:cs typeface="Arial" panose="020B0604020202020204" pitchFamily="34" charset="0"/>
              </a:rPr>
              <a:t>Coffey</a:t>
            </a:r>
            <a:r>
              <a:rPr lang="pt-PT" sz="900" dirty="0">
                <a:solidFill>
                  <a:schemeClr val="bg1">
                    <a:lumMod val="50000"/>
                  </a:schemeClr>
                </a:solidFill>
                <a:latin typeface="Arial" panose="020B0604020202020204" pitchFamily="34" charset="0"/>
                <a:cs typeface="Arial" panose="020B0604020202020204" pitchFamily="34" charset="0"/>
              </a:rPr>
              <a:t>-Vega K; Besa E. </a:t>
            </a:r>
            <a:r>
              <a:rPr lang="pt-PT" sz="900" dirty="0" err="1">
                <a:solidFill>
                  <a:schemeClr val="bg1">
                    <a:lumMod val="50000"/>
                  </a:schemeClr>
                </a:solidFill>
                <a:latin typeface="Arial" panose="020B0604020202020204" pitchFamily="34" charset="0"/>
                <a:cs typeface="Arial" panose="020B0604020202020204" pitchFamily="34" charset="0"/>
              </a:rPr>
              <a:t>Folic</a:t>
            </a:r>
            <a:r>
              <a:rPr lang="pt-PT" sz="900" dirty="0">
                <a:solidFill>
                  <a:schemeClr val="bg1">
                    <a:lumMod val="50000"/>
                  </a:schemeClr>
                </a:solidFill>
                <a:latin typeface="Arial" panose="020B0604020202020204" pitchFamily="34" charset="0"/>
                <a:cs typeface="Arial" panose="020B0604020202020204" pitchFamily="34" charset="0"/>
              </a:rPr>
              <a:t> </a:t>
            </a:r>
            <a:r>
              <a:rPr lang="pt-PT" sz="900" dirty="0" err="1">
                <a:solidFill>
                  <a:schemeClr val="bg1">
                    <a:lumMod val="50000"/>
                  </a:schemeClr>
                </a:solidFill>
                <a:latin typeface="Arial" panose="020B0604020202020204" pitchFamily="34" charset="0"/>
                <a:cs typeface="Arial" panose="020B0604020202020204" pitchFamily="34" charset="0"/>
              </a:rPr>
              <a:t>Acid</a:t>
            </a:r>
            <a:r>
              <a:rPr lang="pt-PT" sz="900" dirty="0">
                <a:solidFill>
                  <a:schemeClr val="bg1">
                    <a:lumMod val="50000"/>
                  </a:schemeClr>
                </a:solidFill>
                <a:latin typeface="Arial" panose="020B0604020202020204" pitchFamily="34" charset="0"/>
                <a:cs typeface="Arial" panose="020B0604020202020204" pitchFamily="34" charset="0"/>
              </a:rPr>
              <a:t> </a:t>
            </a:r>
            <a:r>
              <a:rPr lang="pt-PT" sz="900" dirty="0" err="1">
                <a:solidFill>
                  <a:schemeClr val="bg1">
                    <a:lumMod val="50000"/>
                  </a:schemeClr>
                </a:solidFill>
                <a:latin typeface="Arial" panose="020B0604020202020204" pitchFamily="34" charset="0"/>
                <a:cs typeface="Arial" panose="020B0604020202020204" pitchFamily="34" charset="0"/>
              </a:rPr>
              <a:t>Deficiency</a:t>
            </a:r>
            <a:r>
              <a:rPr lang="pt-PT" sz="900" dirty="0">
                <a:solidFill>
                  <a:schemeClr val="bg1">
                    <a:lumMod val="50000"/>
                  </a:schemeClr>
                </a:solidFill>
                <a:latin typeface="Arial" panose="020B0604020202020204" pitchFamily="34" charset="0"/>
                <a:cs typeface="Arial" panose="020B0604020202020204" pitchFamily="34" charset="0"/>
              </a:rPr>
              <a:t>. </a:t>
            </a:r>
            <a:r>
              <a:rPr lang="pt-PT" sz="900" dirty="0" err="1">
                <a:solidFill>
                  <a:schemeClr val="bg1">
                    <a:lumMod val="50000"/>
                  </a:schemeClr>
                </a:solidFill>
                <a:latin typeface="Arial" panose="020B0604020202020204" pitchFamily="34" charset="0"/>
                <a:cs typeface="Arial" panose="020B0604020202020204" pitchFamily="34" charset="0"/>
              </a:rPr>
              <a:t>Medscape</a:t>
            </a:r>
            <a:r>
              <a:rPr lang="pt-PT" sz="900" dirty="0">
                <a:solidFill>
                  <a:schemeClr val="bg1">
                    <a:lumMod val="50000"/>
                  </a:schemeClr>
                </a:solidFill>
                <a:latin typeface="Arial" panose="020B0604020202020204" pitchFamily="34" charset="0"/>
                <a:cs typeface="Arial" panose="020B0604020202020204" pitchFamily="34" charset="0"/>
              </a:rPr>
              <a:t>. </a:t>
            </a:r>
            <a:r>
              <a:rPr lang="pt-PT" sz="900" dirty="0" err="1">
                <a:solidFill>
                  <a:schemeClr val="bg1">
                    <a:lumMod val="50000"/>
                  </a:schemeClr>
                </a:solidFill>
                <a:latin typeface="Arial" panose="020B0604020202020204" pitchFamily="34" charset="0"/>
                <a:cs typeface="Arial" panose="020B0604020202020204" pitchFamily="34" charset="0"/>
              </a:rPr>
              <a:t>July</a:t>
            </a:r>
            <a:r>
              <a:rPr lang="pt-PT" sz="900" dirty="0">
                <a:solidFill>
                  <a:schemeClr val="bg1">
                    <a:lumMod val="50000"/>
                  </a:schemeClr>
                </a:solidFill>
                <a:latin typeface="Arial" panose="020B0604020202020204" pitchFamily="34" charset="0"/>
                <a:cs typeface="Arial" panose="020B0604020202020204" pitchFamily="34" charset="0"/>
              </a:rPr>
              <a:t> 2017.</a:t>
            </a:r>
            <a:endParaRPr lang="es-ES" sz="900" dirty="0">
              <a:solidFill>
                <a:schemeClr val="bg1">
                  <a:lumMod val="50000"/>
                </a:schemeClr>
              </a:solidFill>
              <a:latin typeface="Arial" panose="020B0604020202020204" pitchFamily="34" charset="0"/>
              <a:cs typeface="Arial" panose="020B0604020202020204" pitchFamily="34" charset="0"/>
            </a:endParaRPr>
          </a:p>
        </p:txBody>
      </p:sp>
      <p:sp>
        <p:nvSpPr>
          <p:cNvPr id="3" name="Title 2"/>
          <p:cNvSpPr>
            <a:spLocks noGrp="1"/>
          </p:cNvSpPr>
          <p:nvPr>
            <p:ph type="title"/>
          </p:nvPr>
        </p:nvSpPr>
        <p:spPr>
          <a:xfrm>
            <a:off x="451763" y="786983"/>
            <a:ext cx="7139136" cy="648072"/>
          </a:xfrm>
        </p:spPr>
        <p:txBody>
          <a:bodyPr/>
          <a:lstStyle/>
          <a:p>
            <a:r>
              <a:rPr sz="3400" b="1" dirty="0">
                <a:solidFill>
                  <a:srgbClr val="EC6707"/>
                </a:solidFill>
                <a:latin typeface="Arial" panose="020B0604020202020204" pitchFamily="34" charset="0"/>
                <a:cs typeface="Arial" panose="020B0604020202020204" pitchFamily="34" charset="0"/>
              </a:rPr>
              <a:t>QUÍMICA DEL ÁCIDO FÓLICO</a:t>
            </a:r>
            <a:endParaRPr lang="es-ES" sz="3400" b="1" dirty="0">
              <a:solidFill>
                <a:srgbClr val="EC6707"/>
              </a:solidFill>
              <a:latin typeface="Arial" panose="020B0604020202020204" pitchFamily="34" charset="0"/>
              <a:cs typeface="Arial" panose="020B0604020202020204" pitchFamily="34" charset="0"/>
            </a:endParaRPr>
          </a:p>
        </p:txBody>
      </p:sp>
      <p:sp>
        <p:nvSpPr>
          <p:cNvPr id="4" name="Content Placeholder 3"/>
          <p:cNvSpPr>
            <a:spLocks noGrp="1"/>
          </p:cNvSpPr>
          <p:nvPr>
            <p:ph idx="1"/>
          </p:nvPr>
        </p:nvSpPr>
        <p:spPr>
          <a:xfrm>
            <a:off x="457200" y="1747023"/>
            <a:ext cx="6851104" cy="792088"/>
          </a:xfrm>
        </p:spPr>
        <p:txBody>
          <a:bodyPr>
            <a:normAutofit/>
          </a:bodyPr>
          <a:lstStyle/>
          <a:p>
            <a:pPr algn="just" eaLnBrk="0" hangingPunct="0">
              <a:buClr>
                <a:srgbClr val="EC6707"/>
              </a:buClr>
              <a:defRPr/>
            </a:pPr>
            <a:r>
              <a:rPr lang="en-US" sz="1800" dirty="0"/>
              <a:t>El ácido fólico, también conocido como ácido pteroilglutámico,</a:t>
            </a:r>
            <a:r>
              <a:rPr sz="1800" dirty="0"/>
              <a:t> </a:t>
            </a:r>
            <a:r>
              <a:rPr lang="pt-PT" sz="1800" kern="0" dirty="0"/>
              <a:t>vitamina B9 o</a:t>
            </a:r>
            <a:r>
              <a:rPr sz="1800" dirty="0"/>
              <a:t> </a:t>
            </a:r>
            <a:r>
              <a:rPr lang="pt-PT" sz="1800" kern="0" dirty="0"/>
              <a:t>M,</a:t>
            </a:r>
            <a:r>
              <a:rPr sz="1800" dirty="0"/>
              <a:t> </a:t>
            </a:r>
            <a:r>
              <a:rPr lang="en-US" sz="1800" kern="0" dirty="0"/>
              <a:t>es una </a:t>
            </a:r>
            <a:r>
              <a:rPr lang="en-US" sz="1800" b="1" kern="0" dirty="0"/>
              <a:t>vitamina hidrosoluble.</a:t>
            </a:r>
            <a:endParaRPr lang="es-ES" sz="1800" kern="0" dirty="0"/>
          </a:p>
          <a:p>
            <a:pPr marL="0" indent="0" algn="just">
              <a:buClr>
                <a:srgbClr val="EC6707"/>
              </a:buClr>
              <a:buNone/>
            </a:pPr>
            <a:endParaRPr lang="es-ES" sz="1800" dirty="0"/>
          </a:p>
        </p:txBody>
      </p:sp>
      <p:sp>
        <p:nvSpPr>
          <p:cNvPr id="10" name="Content Placeholder 3"/>
          <p:cNvSpPr txBox="1">
            <a:spLocks/>
          </p:cNvSpPr>
          <p:nvPr/>
        </p:nvSpPr>
        <p:spPr>
          <a:xfrm>
            <a:off x="457201" y="2586684"/>
            <a:ext cx="4474840" cy="1222777"/>
          </a:xfrm>
          <a:prstGeom prst="rect">
            <a:avLst/>
          </a:prstGeom>
        </p:spPr>
        <p:txBody>
          <a:bodyPr vert="horz">
            <a:noAutofit/>
          </a:bodyPr>
          <a:lstStyle>
            <a:lvl1pPr marL="274320" indent="-274320" algn="l" rtl="0" eaLnBrk="1" latinLnBrk="0" hangingPunct="1">
              <a:spcBef>
                <a:spcPct val="20000"/>
              </a:spcBef>
              <a:buClr>
                <a:srgbClr val="B11B7E"/>
              </a:buClr>
              <a:buSzPct val="95000"/>
              <a:buFont typeface="Wingdings 2" charset="2"/>
              <a:buChar char=""/>
              <a:defRPr kumimoji="0" sz="2000" kern="1200">
                <a:solidFill>
                  <a:schemeClr val="tx1">
                    <a:lumMod val="75000"/>
                    <a:lumOff val="25000"/>
                  </a:schemeClr>
                </a:solidFill>
                <a:latin typeface="Arial"/>
                <a:ea typeface="+mn-ea"/>
                <a:cs typeface="Arial"/>
              </a:defRPr>
            </a:lvl1pPr>
            <a:lvl2pPr marL="640080" indent="-246888" algn="l" rtl="0" eaLnBrk="1" latinLnBrk="0" hangingPunct="1">
              <a:spcBef>
                <a:spcPct val="20000"/>
              </a:spcBef>
              <a:buClr>
                <a:srgbClr val="B11B7E"/>
              </a:buClr>
              <a:buSzPct val="85000"/>
              <a:buFont typeface="Wingdings 2" charset="2"/>
              <a:buChar char=""/>
              <a:defRPr kumimoji="0" sz="1800" kern="1200">
                <a:solidFill>
                  <a:schemeClr val="tx1">
                    <a:lumMod val="75000"/>
                    <a:lumOff val="25000"/>
                  </a:schemeClr>
                </a:solidFill>
                <a:latin typeface="Arial"/>
                <a:ea typeface="+mn-ea"/>
                <a:cs typeface="Arial"/>
              </a:defRPr>
            </a:lvl2pPr>
            <a:lvl3pPr marL="914400" indent="-246888" algn="l" rtl="0" eaLnBrk="1" latinLnBrk="0" hangingPunct="1">
              <a:spcBef>
                <a:spcPct val="20000"/>
              </a:spcBef>
              <a:buClr>
                <a:srgbClr val="B11B7E"/>
              </a:buClr>
              <a:buSzPct val="70000"/>
              <a:buFont typeface="Wingdings 2" charset="2"/>
              <a:buChar char=""/>
              <a:defRPr kumimoji="0" sz="1800" kern="1200">
                <a:solidFill>
                  <a:schemeClr val="tx1">
                    <a:lumMod val="75000"/>
                    <a:lumOff val="25000"/>
                  </a:schemeClr>
                </a:solidFill>
                <a:latin typeface="Arial"/>
                <a:ea typeface="+mn-ea"/>
                <a:cs typeface="Arial"/>
              </a:defRPr>
            </a:lvl3pPr>
            <a:lvl4pPr marL="1188720" indent="-210312" algn="l" rtl="0" eaLnBrk="1" latinLnBrk="0" hangingPunct="1">
              <a:spcBef>
                <a:spcPct val="20000"/>
              </a:spcBef>
              <a:buClr>
                <a:srgbClr val="B11B7E"/>
              </a:buClr>
              <a:buSzPct val="65000"/>
              <a:buFont typeface="Wingdings 2" charset="2"/>
              <a:buChar char=""/>
              <a:defRPr kumimoji="0" sz="1600" kern="1200">
                <a:solidFill>
                  <a:schemeClr val="tx1">
                    <a:lumMod val="75000"/>
                    <a:lumOff val="25000"/>
                  </a:schemeClr>
                </a:solidFill>
                <a:latin typeface="Arial"/>
                <a:ea typeface="+mn-ea"/>
                <a:cs typeface="Arial"/>
              </a:defRPr>
            </a:lvl4pPr>
            <a:lvl5pPr marL="1463040" indent="-210312" algn="l" rtl="0" eaLnBrk="1" latinLnBrk="0" hangingPunct="1">
              <a:spcBef>
                <a:spcPct val="20000"/>
              </a:spcBef>
              <a:buClr>
                <a:srgbClr val="B11B7E"/>
              </a:buClr>
              <a:buSzPct val="65000"/>
              <a:buFont typeface="Wingdings 2" charset="2"/>
              <a:buChar char=""/>
              <a:defRPr kumimoji="0" sz="1600" kern="1200">
                <a:solidFill>
                  <a:schemeClr val="tx1">
                    <a:lumMod val="75000"/>
                    <a:lumOff val="25000"/>
                  </a:schemeClr>
                </a:solidFill>
                <a:latin typeface="Arial"/>
                <a:ea typeface="+mn-ea"/>
                <a:cs typeface="Arial"/>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eaLnBrk="0" hangingPunct="0">
              <a:buClr>
                <a:srgbClr val="EC6707"/>
              </a:buClr>
              <a:defRPr/>
            </a:pPr>
            <a:r>
              <a:rPr lang="en-US" sz="1800" b="1" kern="0" dirty="0"/>
              <a:t>La</a:t>
            </a:r>
            <a:r>
              <a:rPr sz="1800" dirty="0"/>
              <a:t> </a:t>
            </a:r>
            <a:r>
              <a:rPr lang="en-US" sz="1800" b="1" dirty="0"/>
              <a:t>forma natural en la que se da </a:t>
            </a:r>
            <a:r>
              <a:rPr lang="en-US" sz="1800" kern="0" dirty="0"/>
              <a:t>el ácido fólico se conoce como </a:t>
            </a:r>
            <a:r>
              <a:rPr lang="en-US" sz="1800" b="1" dirty="0"/>
              <a:t>folato</a:t>
            </a:r>
            <a:r>
              <a:rPr lang="en-US" sz="1800" dirty="0"/>
              <a:t>, que consiste en una mezcla de poliglutamato de folato.</a:t>
            </a:r>
            <a:endParaRPr lang="es-ES" sz="1800" dirty="0"/>
          </a:p>
        </p:txBody>
      </p:sp>
      <p:sp>
        <p:nvSpPr>
          <p:cNvPr id="11" name="Content Placeholder 3"/>
          <p:cNvSpPr txBox="1">
            <a:spLocks/>
          </p:cNvSpPr>
          <p:nvPr/>
        </p:nvSpPr>
        <p:spPr>
          <a:xfrm>
            <a:off x="451763" y="3958849"/>
            <a:ext cx="2968110" cy="1296144"/>
          </a:xfrm>
          <a:prstGeom prst="rect">
            <a:avLst/>
          </a:prstGeom>
        </p:spPr>
        <p:txBody>
          <a:bodyPr vert="horz">
            <a:noAutofit/>
          </a:bodyPr>
          <a:lstStyle>
            <a:lvl1pPr marL="274320" indent="-274320" algn="l" rtl="0" eaLnBrk="1" latinLnBrk="0" hangingPunct="1">
              <a:spcBef>
                <a:spcPct val="20000"/>
              </a:spcBef>
              <a:buClr>
                <a:srgbClr val="B11B7E"/>
              </a:buClr>
              <a:buSzPct val="95000"/>
              <a:buFont typeface="Wingdings 2" charset="2"/>
              <a:buChar char=""/>
              <a:defRPr kumimoji="0" sz="2000" kern="1200">
                <a:solidFill>
                  <a:schemeClr val="tx1">
                    <a:lumMod val="75000"/>
                    <a:lumOff val="25000"/>
                  </a:schemeClr>
                </a:solidFill>
                <a:latin typeface="Arial"/>
                <a:ea typeface="+mn-ea"/>
                <a:cs typeface="Arial"/>
              </a:defRPr>
            </a:lvl1pPr>
            <a:lvl2pPr marL="640080" indent="-246888" algn="l" rtl="0" eaLnBrk="1" latinLnBrk="0" hangingPunct="1">
              <a:spcBef>
                <a:spcPct val="20000"/>
              </a:spcBef>
              <a:buClr>
                <a:srgbClr val="B11B7E"/>
              </a:buClr>
              <a:buSzPct val="85000"/>
              <a:buFont typeface="Wingdings 2" charset="2"/>
              <a:buChar char=""/>
              <a:defRPr kumimoji="0" sz="1800" kern="1200">
                <a:solidFill>
                  <a:schemeClr val="tx1">
                    <a:lumMod val="75000"/>
                    <a:lumOff val="25000"/>
                  </a:schemeClr>
                </a:solidFill>
                <a:latin typeface="Arial"/>
                <a:ea typeface="+mn-ea"/>
                <a:cs typeface="Arial"/>
              </a:defRPr>
            </a:lvl2pPr>
            <a:lvl3pPr marL="914400" indent="-246888" algn="l" rtl="0" eaLnBrk="1" latinLnBrk="0" hangingPunct="1">
              <a:spcBef>
                <a:spcPct val="20000"/>
              </a:spcBef>
              <a:buClr>
                <a:srgbClr val="B11B7E"/>
              </a:buClr>
              <a:buSzPct val="70000"/>
              <a:buFont typeface="Wingdings 2" charset="2"/>
              <a:buChar char=""/>
              <a:defRPr kumimoji="0" sz="1800" kern="1200">
                <a:solidFill>
                  <a:schemeClr val="tx1">
                    <a:lumMod val="75000"/>
                    <a:lumOff val="25000"/>
                  </a:schemeClr>
                </a:solidFill>
                <a:latin typeface="Arial"/>
                <a:ea typeface="+mn-ea"/>
                <a:cs typeface="Arial"/>
              </a:defRPr>
            </a:lvl3pPr>
            <a:lvl4pPr marL="1188720" indent="-210312" algn="l" rtl="0" eaLnBrk="1" latinLnBrk="0" hangingPunct="1">
              <a:spcBef>
                <a:spcPct val="20000"/>
              </a:spcBef>
              <a:buClr>
                <a:srgbClr val="B11B7E"/>
              </a:buClr>
              <a:buSzPct val="65000"/>
              <a:buFont typeface="Wingdings 2" charset="2"/>
              <a:buChar char=""/>
              <a:defRPr kumimoji="0" sz="1600" kern="1200">
                <a:solidFill>
                  <a:schemeClr val="tx1">
                    <a:lumMod val="75000"/>
                    <a:lumOff val="25000"/>
                  </a:schemeClr>
                </a:solidFill>
                <a:latin typeface="Arial"/>
                <a:ea typeface="+mn-ea"/>
                <a:cs typeface="Arial"/>
              </a:defRPr>
            </a:lvl4pPr>
            <a:lvl5pPr marL="1463040" indent="-210312" algn="l" rtl="0" eaLnBrk="1" latinLnBrk="0" hangingPunct="1">
              <a:spcBef>
                <a:spcPct val="20000"/>
              </a:spcBef>
              <a:buClr>
                <a:srgbClr val="B11B7E"/>
              </a:buClr>
              <a:buSzPct val="65000"/>
              <a:buFont typeface="Wingdings 2" charset="2"/>
              <a:buChar char=""/>
              <a:defRPr kumimoji="0" sz="1600" kern="1200">
                <a:solidFill>
                  <a:schemeClr val="tx1">
                    <a:lumMod val="75000"/>
                    <a:lumOff val="25000"/>
                  </a:schemeClr>
                </a:solidFill>
                <a:latin typeface="Arial"/>
                <a:ea typeface="+mn-ea"/>
                <a:cs typeface="Arial"/>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eaLnBrk="0" hangingPunct="0">
              <a:buClr>
                <a:srgbClr val="EC6707"/>
              </a:buClr>
              <a:defRPr/>
            </a:pPr>
            <a:r>
              <a:rPr lang="en-US" sz="1800" dirty="0"/>
              <a:t>El ácido fólico no es metabólicamente activo. Es un precursor del </a:t>
            </a:r>
            <a:r>
              <a:rPr lang="en-US" sz="1800" b="1" dirty="0" err="1"/>
              <a:t>ácido</a:t>
            </a:r>
            <a:r>
              <a:rPr lang="en-US" sz="1800" b="1" dirty="0"/>
              <a:t> tetrahidrofólico.</a:t>
            </a:r>
            <a:endParaRPr lang="es-ES" sz="1800" b="1" kern="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1+#ppt_w/2"/>
                                          </p:val>
                                        </p:tav>
                                        <p:tav tm="100000">
                                          <p:val>
                                            <p:strVal val="#ppt_x"/>
                                          </p:val>
                                        </p:tav>
                                      </p:tavLst>
                                    </p:anim>
                                    <p:anim calcmode="lin" valueType="num">
                                      <p:cBhvr additive="base">
                                        <p:cTn id="8" dur="75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txBox="1">
            <a:spLocks/>
          </p:cNvSpPr>
          <p:nvPr/>
        </p:nvSpPr>
        <p:spPr>
          <a:xfrm>
            <a:off x="843001" y="908720"/>
            <a:ext cx="7457999" cy="648072"/>
          </a:xfrm>
          <a:prstGeom prst="rect">
            <a:avLst/>
          </a:prstGeom>
        </p:spPr>
        <p:txBody>
          <a:bodyPr/>
          <a:lstStyle>
            <a:lvl1pPr algn="l" rtl="0" eaLnBrk="1" latinLnBrk="0" hangingPunct="1">
              <a:spcBef>
                <a:spcPct val="0"/>
              </a:spcBef>
              <a:buNone/>
              <a:defRPr kumimoji="0" sz="3600" b="0" kern="1200">
                <a:ln>
                  <a:noFill/>
                </a:ln>
                <a:solidFill>
                  <a:srgbClr val="B11B7E"/>
                </a:solidFill>
                <a:effectLst/>
                <a:latin typeface="+mj-lt"/>
                <a:ea typeface="+mj-ea"/>
                <a:cs typeface="+mj-cs"/>
              </a:defRPr>
            </a:lvl1pPr>
          </a:lstStyle>
          <a:p>
            <a:pPr algn="ctr"/>
            <a:r>
              <a:rPr sz="3400" b="1" dirty="0">
                <a:solidFill>
                  <a:srgbClr val="EC6707"/>
                </a:solidFill>
                <a:latin typeface="Arial" panose="020B0604020202020204" pitchFamily="34" charset="0"/>
                <a:cs typeface="Arial" panose="020B0604020202020204" pitchFamily="34" charset="0"/>
              </a:rPr>
              <a:t>12 ALIMENTOS RICOS EN FOLATO</a:t>
            </a:r>
            <a:endParaRPr lang="es-ES" sz="3400" b="1" dirty="0">
              <a:solidFill>
                <a:srgbClr val="EC6707"/>
              </a:solidFill>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stretch>
            <a:fillRect/>
          </a:stretch>
        </p:blipFill>
        <p:spPr>
          <a:xfrm>
            <a:off x="1277368" y="1556792"/>
            <a:ext cx="6589263" cy="4383385"/>
          </a:xfrm>
          <a:prstGeom prst="rect">
            <a:avLst/>
          </a:prstGeom>
        </p:spPr>
      </p:pic>
      <p:sp>
        <p:nvSpPr>
          <p:cNvPr id="5" name="TextBox 2">
            <a:extLst>
              <a:ext uri="{FF2B5EF4-FFF2-40B4-BE49-F238E27FC236}">
                <a16:creationId xmlns:a16="http://schemas.microsoft.com/office/drawing/2014/main" id="{1E99DDE2-FC94-47F1-96BB-1D8844DE0238}"/>
              </a:ext>
            </a:extLst>
          </p:cNvPr>
          <p:cNvSpPr txBox="1">
            <a:spLocks noChangeArrowheads="1"/>
          </p:cNvSpPr>
          <p:nvPr/>
        </p:nvSpPr>
        <p:spPr bwMode="auto">
          <a:xfrm>
            <a:off x="451763" y="6597352"/>
            <a:ext cx="4624293" cy="230832"/>
          </a:xfrm>
          <a:prstGeom prst="rect">
            <a:avLst/>
          </a:prstGeom>
          <a:noFill/>
          <a:ln w="9525">
            <a:noFill/>
            <a:miter lim="800000"/>
            <a:headEnd/>
            <a:tailEnd/>
          </a:ln>
        </p:spPr>
        <p:txBody>
          <a:bodyPr wrap="square">
            <a:spAutoFit/>
          </a:bodyPr>
          <a:lstStyle>
            <a:defPPr>
              <a:defRPr lang="en-US"/>
            </a:defPPr>
            <a:lvl1pPr>
              <a:defRPr sz="900">
                <a:solidFill>
                  <a:schemeClr val="bg1">
                    <a:lumMod val="50000"/>
                  </a:schemeClr>
                </a:solidFill>
                <a:latin typeface="Arial" panose="020B0604020202020204" pitchFamily="34" charset="0"/>
                <a:cs typeface="Arial" panose="020B0604020202020204" pitchFamily="34" charset="0"/>
              </a:defRPr>
            </a:lvl1pPr>
          </a:lstStyle>
          <a:p>
            <a:r>
              <a:rPr lang="pt-PT" dirty="0" err="1"/>
              <a:t>Fuente</a:t>
            </a:r>
            <a:r>
              <a:rPr lang="pt-PT" dirty="0"/>
              <a:t>: https://www.globalhealingcenter.com/natural-health/folic-acid-foods/</a:t>
            </a:r>
            <a:endParaRPr lang="es-ES" dirty="0"/>
          </a:p>
        </p:txBody>
      </p:sp>
    </p:spTree>
    <p:extLst>
      <p:ext uri="{BB962C8B-B14F-4D97-AF65-F5344CB8AC3E}">
        <p14:creationId xmlns:p14="http://schemas.microsoft.com/office/powerpoint/2010/main" val="87780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7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ISS_5520_01433.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27984" y="3717032"/>
            <a:ext cx="4711452" cy="3140968"/>
          </a:xfrm>
          <a:prstGeom prst="rect">
            <a:avLst/>
          </a:prstGeom>
        </p:spPr>
      </p:pic>
      <p:sp>
        <p:nvSpPr>
          <p:cNvPr id="3" name="Content Placeholder 2"/>
          <p:cNvSpPr>
            <a:spLocks noGrp="1"/>
          </p:cNvSpPr>
          <p:nvPr>
            <p:ph idx="1"/>
          </p:nvPr>
        </p:nvSpPr>
        <p:spPr>
          <a:xfrm>
            <a:off x="395536" y="1484784"/>
            <a:ext cx="8229600" cy="3972810"/>
          </a:xfrm>
        </p:spPr>
        <p:txBody>
          <a:bodyPr>
            <a:normAutofit/>
          </a:bodyPr>
          <a:lstStyle/>
          <a:p>
            <a:pPr algn="just" eaLnBrk="0" hangingPunct="0">
              <a:lnSpc>
                <a:spcPct val="150000"/>
              </a:lnSpc>
              <a:buClr>
                <a:srgbClr val="EC6707"/>
              </a:buClr>
              <a:defRPr/>
            </a:pPr>
            <a:r>
              <a:rPr lang="es-ES" sz="1800" dirty="0">
                <a:solidFill>
                  <a:srgbClr val="404040"/>
                </a:solidFill>
              </a:rPr>
              <a:t> Los humanos no producen folato de manera endógena.</a:t>
            </a:r>
            <a:r>
              <a:rPr lang="es-ES" sz="1800" baseline="30000" dirty="0">
                <a:solidFill>
                  <a:srgbClr val="404040"/>
                </a:solidFill>
              </a:rPr>
              <a:t>1</a:t>
            </a:r>
            <a:r>
              <a:rPr lang="es-ES" sz="1800" dirty="0"/>
              <a:t> </a:t>
            </a:r>
            <a:endParaRPr lang="es-ES" sz="1800" dirty="0">
              <a:solidFill>
                <a:srgbClr val="404040"/>
              </a:solidFill>
            </a:endParaRPr>
          </a:p>
          <a:p>
            <a:pPr algn="just" eaLnBrk="0" hangingPunct="0">
              <a:lnSpc>
                <a:spcPct val="150000"/>
              </a:lnSpc>
              <a:buClr>
                <a:srgbClr val="EC6707"/>
              </a:buClr>
              <a:defRPr/>
            </a:pPr>
            <a:r>
              <a:rPr lang="es-ES" sz="1800" dirty="0">
                <a:solidFill>
                  <a:srgbClr val="404040"/>
                </a:solidFill>
              </a:rPr>
              <a:t> Se encuentra en una </a:t>
            </a:r>
            <a:r>
              <a:rPr lang="es-ES" sz="1800" b="1" dirty="0">
                <a:solidFill>
                  <a:srgbClr val="404040"/>
                </a:solidFill>
              </a:rPr>
              <a:t>amplia variedad de alimentos</a:t>
            </a:r>
            <a:r>
              <a:rPr lang="es-ES" sz="1800" dirty="0">
                <a:solidFill>
                  <a:srgbClr val="404040"/>
                </a:solidFill>
              </a:rPr>
              <a:t>.</a:t>
            </a:r>
            <a:r>
              <a:rPr lang="es-ES" sz="1800" baseline="30000" dirty="0">
                <a:solidFill>
                  <a:srgbClr val="404040"/>
                </a:solidFill>
              </a:rPr>
              <a:t>2</a:t>
            </a:r>
            <a:r>
              <a:rPr lang="es-ES" sz="1800" dirty="0"/>
              <a:t> </a:t>
            </a:r>
          </a:p>
          <a:p>
            <a:pPr algn="just" eaLnBrk="0" hangingPunct="0">
              <a:lnSpc>
                <a:spcPct val="150000"/>
              </a:lnSpc>
              <a:buClr>
                <a:srgbClr val="EC6707"/>
              </a:buClr>
              <a:defRPr/>
            </a:pPr>
            <a:r>
              <a:rPr lang="es-ES" sz="1800" dirty="0">
                <a:solidFill>
                  <a:srgbClr val="404040"/>
                </a:solidFill>
              </a:rPr>
              <a:t> Sin embargo, la mayoría de las formas del folato en la dieta son lábiles y </a:t>
            </a:r>
            <a:r>
              <a:rPr lang="es-ES" sz="1800" b="1" dirty="0">
                <a:solidFill>
                  <a:srgbClr val="404040"/>
                </a:solidFill>
              </a:rPr>
              <a:t>pueden destruirse </a:t>
            </a:r>
            <a:r>
              <a:rPr lang="es-ES" sz="1800" dirty="0">
                <a:solidFill>
                  <a:srgbClr val="404040"/>
                </a:solidFill>
              </a:rPr>
              <a:t>en la cocción (casi 3/4 partes).</a:t>
            </a:r>
            <a:r>
              <a:rPr lang="es-ES" sz="1800" baseline="30000" dirty="0">
                <a:solidFill>
                  <a:srgbClr val="404040"/>
                </a:solidFill>
              </a:rPr>
              <a:t>2</a:t>
            </a:r>
          </a:p>
          <a:p>
            <a:pPr algn="just" eaLnBrk="0" hangingPunct="0">
              <a:lnSpc>
                <a:spcPct val="150000"/>
              </a:lnSpc>
              <a:buClr>
                <a:srgbClr val="EC6707"/>
              </a:buClr>
              <a:defRPr/>
            </a:pPr>
            <a:r>
              <a:rPr lang="es-ES" sz="1800" b="1" dirty="0">
                <a:solidFill>
                  <a:srgbClr val="404040"/>
                </a:solidFill>
              </a:rPr>
              <a:t> Buenas fuentes de folato: </a:t>
            </a:r>
            <a:r>
              <a:rPr lang="es-ES" sz="1800" dirty="0">
                <a:solidFill>
                  <a:srgbClr val="404040"/>
                </a:solidFill>
              </a:rPr>
              <a:t>son las verduras verdes, las frutas y también el hígado.</a:t>
            </a:r>
            <a:r>
              <a:rPr lang="es-ES" sz="1800" baseline="30000" dirty="0">
                <a:solidFill>
                  <a:srgbClr val="404040"/>
                </a:solidFill>
              </a:rPr>
              <a:t>2</a:t>
            </a:r>
            <a:endParaRPr lang="pt-PT" sz="1800" dirty="0"/>
          </a:p>
        </p:txBody>
      </p:sp>
      <p:sp>
        <p:nvSpPr>
          <p:cNvPr id="5" name="Slide Number Placeholder 4"/>
          <p:cNvSpPr>
            <a:spLocks noGrp="1"/>
          </p:cNvSpPr>
          <p:nvPr>
            <p:ph type="sldNum" sz="quarter" idx="12"/>
          </p:nvPr>
        </p:nvSpPr>
        <p:spPr/>
        <p:txBody>
          <a:bodyPr/>
          <a:lstStyle/>
          <a:p>
            <a:fld id="{03667C4B-6D06-491C-A04A-E41D55AFBBED}" type="slidenum">
              <a:rPr lang="en-GB" smtClean="0"/>
              <a:pPr/>
              <a:t>5</a:t>
            </a:fld>
            <a:endParaRPr lang="en-GB"/>
          </a:p>
        </p:txBody>
      </p:sp>
      <p:sp>
        <p:nvSpPr>
          <p:cNvPr id="6" name="Title 2"/>
          <p:cNvSpPr txBox="1">
            <a:spLocks/>
          </p:cNvSpPr>
          <p:nvPr/>
        </p:nvSpPr>
        <p:spPr>
          <a:xfrm>
            <a:off x="395536" y="614217"/>
            <a:ext cx="7139136" cy="648072"/>
          </a:xfrm>
          <a:prstGeom prst="rect">
            <a:avLst/>
          </a:prstGeom>
        </p:spPr>
        <p:txBody>
          <a:bodyPr/>
          <a:lstStyle>
            <a:lvl1pPr algn="l" rtl="0" eaLnBrk="1" latinLnBrk="0" hangingPunct="1">
              <a:spcBef>
                <a:spcPct val="0"/>
              </a:spcBef>
              <a:buNone/>
              <a:defRPr kumimoji="0" sz="3600" b="0" kern="1200">
                <a:ln>
                  <a:noFill/>
                </a:ln>
                <a:solidFill>
                  <a:srgbClr val="B11B7E"/>
                </a:solidFill>
                <a:effectLst/>
                <a:latin typeface="+mj-lt"/>
                <a:ea typeface="+mj-ea"/>
                <a:cs typeface="+mj-cs"/>
              </a:defRPr>
            </a:lvl1pPr>
          </a:lstStyle>
          <a:p>
            <a:r>
              <a:rPr sz="3400" b="1" dirty="0">
                <a:solidFill>
                  <a:srgbClr val="EC6707"/>
                </a:solidFill>
                <a:latin typeface="Arial" panose="020B0604020202020204" pitchFamily="34" charset="0"/>
                <a:cs typeface="Arial" panose="020B0604020202020204" pitchFamily="34" charset="0"/>
              </a:rPr>
              <a:t>FUENTES DE FOLATO</a:t>
            </a:r>
            <a:endParaRPr lang="es-ES" sz="3400" b="1" dirty="0">
              <a:solidFill>
                <a:srgbClr val="EC6707"/>
              </a:solidFill>
              <a:latin typeface="Arial" panose="020B0604020202020204" pitchFamily="34" charset="0"/>
              <a:cs typeface="Arial" panose="020B0604020202020204" pitchFamily="34" charset="0"/>
            </a:endParaRPr>
          </a:p>
        </p:txBody>
      </p:sp>
      <p:sp>
        <p:nvSpPr>
          <p:cNvPr id="7" name="TextBox 2"/>
          <p:cNvSpPr txBox="1">
            <a:spLocks noChangeArrowheads="1"/>
          </p:cNvSpPr>
          <p:nvPr/>
        </p:nvSpPr>
        <p:spPr bwMode="auto">
          <a:xfrm>
            <a:off x="399130" y="6356350"/>
            <a:ext cx="6084888" cy="338554"/>
          </a:xfrm>
          <a:prstGeom prst="rect">
            <a:avLst/>
          </a:prstGeom>
          <a:noFill/>
          <a:ln w="9525">
            <a:noFill/>
            <a:miter lim="800000"/>
            <a:headEnd/>
            <a:tailEnd/>
          </a:ln>
        </p:spPr>
        <p:txBody>
          <a:bodyPr wrap="square">
            <a:spAutoFit/>
          </a:bodyPr>
          <a:lstStyle/>
          <a:p>
            <a:pPr>
              <a:defRPr/>
            </a:pPr>
            <a:r>
              <a:rPr lang="pt-PT" sz="800" dirty="0">
                <a:solidFill>
                  <a:schemeClr val="bg1">
                    <a:lumMod val="50000"/>
                  </a:schemeClr>
                </a:solidFill>
                <a:latin typeface="Arial"/>
                <a:cs typeface="Arial"/>
              </a:rPr>
              <a:t>1) </a:t>
            </a:r>
            <a:r>
              <a:rPr lang="pt-PT" sz="800" dirty="0" err="1">
                <a:solidFill>
                  <a:schemeClr val="bg1">
                    <a:lumMod val="50000"/>
                  </a:schemeClr>
                </a:solidFill>
                <a:latin typeface="Arial"/>
                <a:cs typeface="Arial"/>
              </a:rPr>
              <a:t>Coffey</a:t>
            </a:r>
            <a:r>
              <a:rPr lang="pt-PT" sz="800" dirty="0">
                <a:solidFill>
                  <a:schemeClr val="bg1">
                    <a:lumMod val="50000"/>
                  </a:schemeClr>
                </a:solidFill>
                <a:latin typeface="Arial"/>
                <a:cs typeface="Arial"/>
              </a:rPr>
              <a:t>-Vega K; Besa E. </a:t>
            </a:r>
            <a:r>
              <a:rPr lang="pt-PT" sz="800" dirty="0" err="1">
                <a:solidFill>
                  <a:schemeClr val="bg1">
                    <a:lumMod val="50000"/>
                  </a:schemeClr>
                </a:solidFill>
                <a:latin typeface="Arial"/>
                <a:cs typeface="Arial"/>
              </a:rPr>
              <a:t>Folic</a:t>
            </a:r>
            <a:r>
              <a:rPr lang="pt-PT" sz="800" dirty="0">
                <a:solidFill>
                  <a:schemeClr val="bg1">
                    <a:lumMod val="50000"/>
                  </a:schemeClr>
                </a:solidFill>
                <a:latin typeface="Arial"/>
                <a:cs typeface="Arial"/>
              </a:rPr>
              <a:t> </a:t>
            </a:r>
            <a:r>
              <a:rPr lang="pt-PT" sz="800" dirty="0" err="1">
                <a:solidFill>
                  <a:schemeClr val="bg1">
                    <a:lumMod val="50000"/>
                  </a:schemeClr>
                </a:solidFill>
                <a:latin typeface="Arial"/>
                <a:cs typeface="Arial"/>
              </a:rPr>
              <a:t>Acid</a:t>
            </a:r>
            <a:r>
              <a:rPr lang="pt-PT" sz="800" dirty="0">
                <a:solidFill>
                  <a:schemeClr val="bg1">
                    <a:lumMod val="50000"/>
                  </a:schemeClr>
                </a:solidFill>
                <a:latin typeface="Arial"/>
                <a:cs typeface="Arial"/>
              </a:rPr>
              <a:t> </a:t>
            </a:r>
            <a:r>
              <a:rPr lang="pt-PT" sz="800" dirty="0" err="1">
                <a:solidFill>
                  <a:schemeClr val="bg1">
                    <a:lumMod val="50000"/>
                  </a:schemeClr>
                </a:solidFill>
                <a:latin typeface="Arial"/>
                <a:cs typeface="Arial"/>
              </a:rPr>
              <a:t>Deficiency</a:t>
            </a:r>
            <a:r>
              <a:rPr lang="pt-PT" sz="800" dirty="0">
                <a:solidFill>
                  <a:schemeClr val="bg1">
                    <a:lumMod val="50000"/>
                  </a:schemeClr>
                </a:solidFill>
                <a:latin typeface="Arial"/>
                <a:cs typeface="Arial"/>
              </a:rPr>
              <a:t>. </a:t>
            </a:r>
            <a:r>
              <a:rPr lang="pt-PT" sz="800" dirty="0" err="1">
                <a:solidFill>
                  <a:schemeClr val="bg1">
                    <a:lumMod val="50000"/>
                  </a:schemeClr>
                </a:solidFill>
                <a:latin typeface="Arial"/>
                <a:cs typeface="Arial"/>
              </a:rPr>
              <a:t>Medscape</a:t>
            </a:r>
            <a:r>
              <a:rPr lang="pt-PT" sz="800" dirty="0">
                <a:solidFill>
                  <a:schemeClr val="bg1">
                    <a:lumMod val="50000"/>
                  </a:schemeClr>
                </a:solidFill>
                <a:latin typeface="Arial"/>
                <a:cs typeface="Arial"/>
              </a:rPr>
              <a:t>. </a:t>
            </a:r>
            <a:r>
              <a:rPr lang="pt-PT" sz="800" dirty="0" err="1">
                <a:solidFill>
                  <a:schemeClr val="bg1">
                    <a:lumMod val="50000"/>
                  </a:schemeClr>
                </a:solidFill>
                <a:latin typeface="Arial"/>
                <a:cs typeface="Arial"/>
              </a:rPr>
              <a:t>July</a:t>
            </a:r>
            <a:r>
              <a:rPr lang="pt-PT" sz="800" dirty="0">
                <a:solidFill>
                  <a:schemeClr val="bg1">
                    <a:lumMod val="50000"/>
                  </a:schemeClr>
                </a:solidFill>
                <a:latin typeface="Arial"/>
                <a:cs typeface="Arial"/>
              </a:rPr>
              <a:t> 2017</a:t>
            </a:r>
            <a:br>
              <a:rPr lang="es-ES" sz="800" dirty="0">
                <a:solidFill>
                  <a:schemeClr val="bg1">
                    <a:lumMod val="50000"/>
                  </a:schemeClr>
                </a:solidFill>
                <a:latin typeface="Arial"/>
                <a:cs typeface="Arial"/>
              </a:rPr>
            </a:br>
            <a:r>
              <a:rPr lang="pt-PT" sz="800" dirty="0">
                <a:solidFill>
                  <a:schemeClr val="bg1">
                    <a:lumMod val="50000"/>
                  </a:schemeClr>
                </a:solidFill>
                <a:latin typeface="Arial"/>
                <a:cs typeface="Arial"/>
              </a:rPr>
              <a:t>2) </a:t>
            </a:r>
            <a:r>
              <a:rPr lang="en-US" sz="800" dirty="0">
                <a:solidFill>
                  <a:schemeClr val="bg1">
                    <a:lumMod val="50000"/>
                  </a:schemeClr>
                </a:solidFill>
                <a:latin typeface="Arial"/>
                <a:cs typeface="Arial"/>
              </a:rPr>
              <a:t>Joint FAO/WHO Expert Consultation on Human Vitamin and Mineral Requirements. WHO 2004</a:t>
            </a:r>
            <a:r>
              <a:rPr lang="pt-PT" sz="800" dirty="0">
                <a:solidFill>
                  <a:schemeClr val="bg1">
                    <a:lumMod val="50000"/>
                  </a:schemeClr>
                </a:solidFill>
                <a:latin typeface="Arial"/>
                <a:cs typeface="Arial"/>
              </a:rPr>
              <a:t>. </a:t>
            </a:r>
            <a:endParaRPr lang="es-ES" sz="800" dirty="0">
              <a:solidFill>
                <a:schemeClr val="bg1">
                  <a:lumMod val="50000"/>
                </a:schemeClr>
              </a:solidFill>
              <a:latin typeface="Arial"/>
              <a:cs typeface="Arial"/>
            </a:endParaRPr>
          </a:p>
        </p:txBody>
      </p:sp>
    </p:spTree>
    <p:extLst>
      <p:ext uri="{BB962C8B-B14F-4D97-AF65-F5344CB8AC3E}">
        <p14:creationId xmlns:p14="http://schemas.microsoft.com/office/powerpoint/2010/main" val="23887506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38045"/>
            <a:ext cx="5915000" cy="5256584"/>
          </a:xfrm>
        </p:spPr>
        <p:txBody>
          <a:bodyPr>
            <a:normAutofit/>
          </a:bodyPr>
          <a:lstStyle/>
          <a:p>
            <a:pPr algn="just" eaLnBrk="0" hangingPunct="0">
              <a:lnSpc>
                <a:spcPct val="90000"/>
              </a:lnSpc>
              <a:buClr>
                <a:srgbClr val="EC6707"/>
              </a:buClr>
              <a:defRPr/>
            </a:pPr>
            <a:r>
              <a:rPr lang="es-ES" sz="1800" b="1" dirty="0">
                <a:solidFill>
                  <a:srgbClr val="404040"/>
                </a:solidFill>
              </a:rPr>
              <a:t>Absorción</a:t>
            </a:r>
            <a:r>
              <a:rPr lang="es-ES" sz="1800" dirty="0">
                <a:solidFill>
                  <a:srgbClr val="404040"/>
                </a:solidFill>
              </a:rPr>
              <a:t>: en el intestino delgado las enzimas</a:t>
            </a:r>
            <a:r>
              <a:rPr lang="es-ES" sz="1800" dirty="0"/>
              <a:t> </a:t>
            </a:r>
            <a:r>
              <a:rPr lang="es-ES" sz="1800" dirty="0">
                <a:solidFill>
                  <a:srgbClr val="404040"/>
                </a:solidFill>
              </a:rPr>
              <a:t>convierten el folato de la forma de </a:t>
            </a:r>
            <a:r>
              <a:rPr lang="es-ES" sz="1800" dirty="0" err="1">
                <a:solidFill>
                  <a:srgbClr val="404040"/>
                </a:solidFill>
              </a:rPr>
              <a:t>poliglutamato</a:t>
            </a:r>
            <a:r>
              <a:rPr lang="es-ES" sz="1800" dirty="0">
                <a:solidFill>
                  <a:srgbClr val="404040"/>
                </a:solidFill>
              </a:rPr>
              <a:t> en la forma de </a:t>
            </a:r>
            <a:r>
              <a:rPr lang="es-ES" sz="1800" dirty="0" err="1">
                <a:solidFill>
                  <a:srgbClr val="404040"/>
                </a:solidFill>
              </a:rPr>
              <a:t>monoglutamato</a:t>
            </a:r>
            <a:r>
              <a:rPr lang="es-ES" sz="1800" dirty="0">
                <a:solidFill>
                  <a:srgbClr val="404040"/>
                </a:solidFill>
              </a:rPr>
              <a:t>, a continuación </a:t>
            </a:r>
            <a:r>
              <a:rPr lang="es-ES" sz="1800" b="1" dirty="0">
                <a:solidFill>
                  <a:srgbClr val="404040"/>
                </a:solidFill>
              </a:rPr>
              <a:t>se absorbe en el yeyuno proximal </a:t>
            </a:r>
            <a:r>
              <a:rPr lang="es-ES" sz="1800" dirty="0">
                <a:solidFill>
                  <a:srgbClr val="404040"/>
                </a:solidFill>
              </a:rPr>
              <a:t>a través tanto de transporte activo como pasivo. </a:t>
            </a:r>
          </a:p>
          <a:p>
            <a:pPr lvl="1" algn="just" eaLnBrk="0" hangingPunct="0">
              <a:lnSpc>
                <a:spcPct val="90000"/>
              </a:lnSpc>
              <a:buClr>
                <a:srgbClr val="EC6707"/>
              </a:buClr>
              <a:defRPr/>
            </a:pPr>
            <a:r>
              <a:rPr lang="es-ES" sz="1400" dirty="0">
                <a:solidFill>
                  <a:srgbClr val="404040"/>
                </a:solidFill>
              </a:rPr>
              <a:t>La absorción ocurre de 30 a 60 minutos.</a:t>
            </a:r>
          </a:p>
          <a:p>
            <a:pPr marL="393192" lvl="1" indent="0" algn="just" eaLnBrk="0" hangingPunct="0">
              <a:lnSpc>
                <a:spcPct val="90000"/>
              </a:lnSpc>
              <a:buClr>
                <a:srgbClr val="EC6707"/>
              </a:buClr>
              <a:buNone/>
              <a:defRPr/>
            </a:pPr>
            <a:endParaRPr lang="es-ES" sz="1800" dirty="0">
              <a:solidFill>
                <a:srgbClr val="404040"/>
              </a:solidFill>
            </a:endParaRPr>
          </a:p>
          <a:p>
            <a:pPr algn="just" eaLnBrk="0" hangingPunct="0">
              <a:lnSpc>
                <a:spcPct val="90000"/>
              </a:lnSpc>
              <a:buClr>
                <a:srgbClr val="EC6707"/>
              </a:buClr>
              <a:defRPr/>
            </a:pPr>
            <a:endParaRPr lang="es-ES" sz="1000" dirty="0">
              <a:solidFill>
                <a:srgbClr val="404040"/>
              </a:solidFill>
            </a:endParaRPr>
          </a:p>
          <a:p>
            <a:pPr algn="just" eaLnBrk="0" hangingPunct="0">
              <a:lnSpc>
                <a:spcPct val="90000"/>
              </a:lnSpc>
              <a:buClr>
                <a:srgbClr val="EC6707"/>
              </a:buClr>
              <a:defRPr/>
            </a:pPr>
            <a:r>
              <a:rPr lang="es-ES" sz="1800" b="1" dirty="0">
                <a:solidFill>
                  <a:srgbClr val="404040"/>
                </a:solidFill>
              </a:rPr>
              <a:t>Distribución</a:t>
            </a:r>
            <a:r>
              <a:rPr lang="es-ES" sz="1800" dirty="0">
                <a:solidFill>
                  <a:srgbClr val="404040"/>
                </a:solidFill>
              </a:rPr>
              <a:t>: se distribuye en </a:t>
            </a:r>
            <a:r>
              <a:rPr lang="es-ES" sz="1800" b="1" dirty="0">
                <a:solidFill>
                  <a:srgbClr val="404040"/>
                </a:solidFill>
              </a:rPr>
              <a:t>todos los tejidos del organismo</a:t>
            </a:r>
            <a:r>
              <a:rPr lang="es-ES" sz="1800" dirty="0">
                <a:solidFill>
                  <a:srgbClr val="404040"/>
                </a:solidFill>
              </a:rPr>
              <a:t>. El </a:t>
            </a:r>
            <a:r>
              <a:rPr lang="es-ES" sz="1800" b="1" dirty="0">
                <a:solidFill>
                  <a:srgbClr val="404040"/>
                </a:solidFill>
              </a:rPr>
              <a:t>hígado</a:t>
            </a:r>
            <a:r>
              <a:rPr lang="es-ES" sz="1800" dirty="0">
                <a:solidFill>
                  <a:srgbClr val="404040"/>
                </a:solidFill>
              </a:rPr>
              <a:t> contiene alrededor de la mitad de los depósitos totales de folato en el organismo.</a:t>
            </a:r>
          </a:p>
          <a:p>
            <a:pPr algn="just" eaLnBrk="0" hangingPunct="0">
              <a:lnSpc>
                <a:spcPct val="90000"/>
              </a:lnSpc>
              <a:buClr>
                <a:srgbClr val="EC6707"/>
              </a:buClr>
              <a:defRPr/>
            </a:pPr>
            <a:endParaRPr lang="es-ES" sz="1800" dirty="0">
              <a:solidFill>
                <a:srgbClr val="404040"/>
              </a:solidFill>
            </a:endParaRPr>
          </a:p>
          <a:p>
            <a:pPr algn="just" eaLnBrk="0" hangingPunct="0">
              <a:lnSpc>
                <a:spcPct val="90000"/>
              </a:lnSpc>
              <a:buClr>
                <a:srgbClr val="EC6707"/>
              </a:buClr>
              <a:defRPr/>
            </a:pPr>
            <a:endParaRPr lang="es-ES" sz="1800" dirty="0">
              <a:solidFill>
                <a:srgbClr val="404040"/>
              </a:solidFill>
            </a:endParaRPr>
          </a:p>
          <a:p>
            <a:pPr algn="just" eaLnBrk="0" hangingPunct="0">
              <a:lnSpc>
                <a:spcPct val="90000"/>
              </a:lnSpc>
              <a:buClr>
                <a:srgbClr val="EC6707"/>
              </a:buClr>
              <a:defRPr/>
            </a:pPr>
            <a:endParaRPr lang="es-ES" sz="1800" dirty="0">
              <a:solidFill>
                <a:srgbClr val="404040"/>
              </a:solidFill>
            </a:endParaRPr>
          </a:p>
          <a:p>
            <a:pPr algn="just" eaLnBrk="0" hangingPunct="0">
              <a:lnSpc>
                <a:spcPct val="90000"/>
              </a:lnSpc>
              <a:buClr>
                <a:srgbClr val="EC6707"/>
              </a:buClr>
              <a:defRPr/>
            </a:pPr>
            <a:r>
              <a:rPr lang="es-ES" sz="1800" b="1" dirty="0">
                <a:solidFill>
                  <a:srgbClr val="404040"/>
                </a:solidFill>
              </a:rPr>
              <a:t>Eliminación</a:t>
            </a:r>
            <a:r>
              <a:rPr lang="es-ES" sz="1800" dirty="0">
                <a:solidFill>
                  <a:srgbClr val="404040"/>
                </a:solidFill>
              </a:rPr>
              <a:t>: renal (casi en su totalidad como metabolitos). El exceso sobre las necesidades diarias </a:t>
            </a:r>
            <a:r>
              <a:rPr lang="es-ES" sz="1800" b="1" dirty="0">
                <a:solidFill>
                  <a:srgbClr val="404040"/>
                </a:solidFill>
              </a:rPr>
              <a:t>se excreta inalterado en la orina.</a:t>
            </a:r>
          </a:p>
          <a:p>
            <a:pPr>
              <a:buClr>
                <a:srgbClr val="EC6707"/>
              </a:buClr>
            </a:pPr>
            <a:endParaRPr lang="pt-PT" dirty="0"/>
          </a:p>
        </p:txBody>
      </p:sp>
      <p:sp>
        <p:nvSpPr>
          <p:cNvPr id="4" name="Slide Number Placeholder 3"/>
          <p:cNvSpPr>
            <a:spLocks noGrp="1"/>
          </p:cNvSpPr>
          <p:nvPr>
            <p:ph type="sldNum" sz="quarter" idx="12"/>
          </p:nvPr>
        </p:nvSpPr>
        <p:spPr/>
        <p:txBody>
          <a:bodyPr/>
          <a:lstStyle/>
          <a:p>
            <a:fld id="{03667C4B-6D06-491C-A04A-E41D55AFBBED}" type="slidenum">
              <a:rPr lang="en-GB" smtClean="0"/>
              <a:pPr/>
              <a:t>6</a:t>
            </a:fld>
            <a:endParaRPr lang="en-GB"/>
          </a:p>
        </p:txBody>
      </p:sp>
      <p:sp>
        <p:nvSpPr>
          <p:cNvPr id="5" name="Title 2"/>
          <p:cNvSpPr txBox="1">
            <a:spLocks/>
          </p:cNvSpPr>
          <p:nvPr/>
        </p:nvSpPr>
        <p:spPr>
          <a:xfrm>
            <a:off x="457200" y="495436"/>
            <a:ext cx="7139136" cy="648072"/>
          </a:xfrm>
          <a:prstGeom prst="rect">
            <a:avLst/>
          </a:prstGeom>
        </p:spPr>
        <p:txBody>
          <a:bodyPr/>
          <a:lstStyle>
            <a:lvl1pPr algn="l" rtl="0" eaLnBrk="1" latinLnBrk="0" hangingPunct="1">
              <a:spcBef>
                <a:spcPct val="0"/>
              </a:spcBef>
              <a:buNone/>
              <a:defRPr kumimoji="0" sz="3600" b="0" kern="1200">
                <a:ln>
                  <a:noFill/>
                </a:ln>
                <a:solidFill>
                  <a:srgbClr val="B11B7E"/>
                </a:solidFill>
                <a:effectLst/>
                <a:latin typeface="+mj-lt"/>
                <a:ea typeface="+mj-ea"/>
                <a:cs typeface="+mj-cs"/>
              </a:defRPr>
            </a:lvl1pPr>
          </a:lstStyle>
          <a:p>
            <a:r>
              <a:rPr sz="3400" b="1" dirty="0">
                <a:solidFill>
                  <a:srgbClr val="EC6707"/>
                </a:solidFill>
                <a:latin typeface="Arial" panose="020B0604020202020204" pitchFamily="34" charset="0"/>
                <a:cs typeface="Arial" panose="020B0604020202020204" pitchFamily="34" charset="0"/>
              </a:rPr>
              <a:t>FARMACOCINÉTICA</a:t>
            </a:r>
            <a:endParaRPr lang="es-ES" sz="3400" b="1" dirty="0">
              <a:solidFill>
                <a:srgbClr val="EC6707"/>
              </a:solidFill>
              <a:latin typeface="Arial" panose="020B0604020202020204" pitchFamily="34" charset="0"/>
              <a:cs typeface="Arial" panose="020B0604020202020204" pitchFamily="34" charset="0"/>
            </a:endParaRPr>
          </a:p>
        </p:txBody>
      </p:sp>
      <p:pic>
        <p:nvPicPr>
          <p:cNvPr id="6" name="Picture 5" descr="ORGAOS.png"/>
          <p:cNvPicPr>
            <a:picLocks noChangeAspect="1"/>
          </p:cNvPicPr>
          <p:nvPr/>
        </p:nvPicPr>
        <p:blipFill>
          <a:blip r:embed="rId2" cstate="print">
            <a:duotone>
              <a:prstClr val="black"/>
              <a:srgbClr val="FF9933">
                <a:tint val="45000"/>
                <a:satMod val="400000"/>
              </a:srgbClr>
            </a:duotone>
            <a:extLst>
              <a:ext uri="{28A0092B-C50C-407E-A947-70E740481C1C}">
                <a14:useLocalDpi xmlns:a14="http://schemas.microsoft.com/office/drawing/2010/main" val="0"/>
              </a:ext>
            </a:extLst>
          </a:blip>
          <a:stretch>
            <a:fillRect/>
          </a:stretch>
        </p:blipFill>
        <p:spPr>
          <a:xfrm>
            <a:off x="6660232" y="819472"/>
            <a:ext cx="1520954" cy="5993904"/>
          </a:xfrm>
          <a:prstGeom prst="rect">
            <a:avLst/>
          </a:prstGeom>
        </p:spPr>
      </p:pic>
      <p:sp>
        <p:nvSpPr>
          <p:cNvPr id="7" name="TextBox 2"/>
          <p:cNvSpPr txBox="1">
            <a:spLocks noChangeArrowheads="1"/>
          </p:cNvSpPr>
          <p:nvPr/>
        </p:nvSpPr>
        <p:spPr bwMode="auto">
          <a:xfrm>
            <a:off x="461379" y="6382921"/>
            <a:ext cx="3636616" cy="338554"/>
          </a:xfrm>
          <a:prstGeom prst="rect">
            <a:avLst/>
          </a:prstGeom>
          <a:noFill/>
          <a:ln w="9525">
            <a:noFill/>
            <a:miter lim="800000"/>
            <a:headEnd/>
            <a:tailEnd/>
          </a:ln>
        </p:spPr>
        <p:txBody>
          <a:bodyPr wrap="square">
            <a:spAutoFit/>
          </a:bodyPr>
          <a:lstStyle/>
          <a:p>
            <a:pPr marL="228600" indent="-228600">
              <a:buAutoNum type="arabicParenR"/>
              <a:defRPr/>
            </a:pPr>
            <a:r>
              <a:rPr lang="pt-PT" sz="800" dirty="0" err="1">
                <a:solidFill>
                  <a:schemeClr val="bg1">
                    <a:lumMod val="50000"/>
                  </a:schemeClr>
                </a:solidFill>
                <a:latin typeface="Arial"/>
                <a:cs typeface="Arial"/>
              </a:rPr>
              <a:t>Coffey</a:t>
            </a:r>
            <a:r>
              <a:rPr lang="pt-PT" sz="800" dirty="0">
                <a:solidFill>
                  <a:schemeClr val="bg1">
                    <a:lumMod val="50000"/>
                  </a:schemeClr>
                </a:solidFill>
                <a:latin typeface="Arial"/>
                <a:cs typeface="Arial"/>
              </a:rPr>
              <a:t>-Vega K; Besa E. </a:t>
            </a:r>
            <a:r>
              <a:rPr lang="pt-PT" sz="800" dirty="0" err="1">
                <a:solidFill>
                  <a:schemeClr val="bg1">
                    <a:lumMod val="50000"/>
                  </a:schemeClr>
                </a:solidFill>
                <a:latin typeface="Arial"/>
                <a:cs typeface="Arial"/>
              </a:rPr>
              <a:t>Folic</a:t>
            </a:r>
            <a:r>
              <a:rPr lang="pt-PT" sz="800" dirty="0">
                <a:solidFill>
                  <a:schemeClr val="bg1">
                    <a:lumMod val="50000"/>
                  </a:schemeClr>
                </a:solidFill>
                <a:latin typeface="Arial"/>
                <a:cs typeface="Arial"/>
              </a:rPr>
              <a:t> </a:t>
            </a:r>
            <a:r>
              <a:rPr lang="pt-PT" sz="800" dirty="0" err="1">
                <a:solidFill>
                  <a:schemeClr val="bg1">
                    <a:lumMod val="50000"/>
                  </a:schemeClr>
                </a:solidFill>
                <a:latin typeface="Arial"/>
                <a:cs typeface="Arial"/>
              </a:rPr>
              <a:t>Acid</a:t>
            </a:r>
            <a:r>
              <a:rPr lang="pt-PT" sz="800" dirty="0">
                <a:solidFill>
                  <a:schemeClr val="bg1">
                    <a:lumMod val="50000"/>
                  </a:schemeClr>
                </a:solidFill>
                <a:latin typeface="Arial"/>
                <a:cs typeface="Arial"/>
              </a:rPr>
              <a:t> </a:t>
            </a:r>
            <a:r>
              <a:rPr lang="pt-PT" sz="800" dirty="0" err="1">
                <a:solidFill>
                  <a:schemeClr val="bg1">
                    <a:lumMod val="50000"/>
                  </a:schemeClr>
                </a:solidFill>
                <a:latin typeface="Arial"/>
                <a:cs typeface="Arial"/>
              </a:rPr>
              <a:t>Deficiency</a:t>
            </a:r>
            <a:r>
              <a:rPr lang="pt-PT" sz="800" dirty="0">
                <a:solidFill>
                  <a:schemeClr val="bg1">
                    <a:lumMod val="50000"/>
                  </a:schemeClr>
                </a:solidFill>
                <a:latin typeface="Arial"/>
                <a:cs typeface="Arial"/>
              </a:rPr>
              <a:t>. </a:t>
            </a:r>
            <a:r>
              <a:rPr lang="pt-PT" sz="800" dirty="0" err="1">
                <a:solidFill>
                  <a:schemeClr val="bg1">
                    <a:lumMod val="50000"/>
                  </a:schemeClr>
                </a:solidFill>
                <a:latin typeface="Arial"/>
                <a:cs typeface="Arial"/>
              </a:rPr>
              <a:t>Medscape</a:t>
            </a:r>
            <a:r>
              <a:rPr lang="pt-PT" sz="800" dirty="0">
                <a:solidFill>
                  <a:schemeClr val="bg1">
                    <a:lumMod val="50000"/>
                  </a:schemeClr>
                </a:solidFill>
                <a:latin typeface="Arial"/>
                <a:cs typeface="Arial"/>
              </a:rPr>
              <a:t>. </a:t>
            </a:r>
            <a:r>
              <a:rPr lang="pt-PT" sz="800" dirty="0" err="1">
                <a:solidFill>
                  <a:schemeClr val="bg1">
                    <a:lumMod val="50000"/>
                  </a:schemeClr>
                </a:solidFill>
                <a:latin typeface="Arial"/>
                <a:cs typeface="Arial"/>
              </a:rPr>
              <a:t>July</a:t>
            </a:r>
            <a:r>
              <a:rPr lang="pt-PT" sz="800" dirty="0">
                <a:solidFill>
                  <a:schemeClr val="bg1">
                    <a:lumMod val="50000"/>
                  </a:schemeClr>
                </a:solidFill>
                <a:latin typeface="Arial"/>
                <a:cs typeface="Arial"/>
              </a:rPr>
              <a:t> 2017 </a:t>
            </a:r>
          </a:p>
          <a:p>
            <a:pPr marL="228600" indent="-228600">
              <a:buAutoNum type="arabicParenR"/>
              <a:defRPr/>
            </a:pPr>
            <a:r>
              <a:rPr lang="pt-PT" sz="800" dirty="0">
                <a:solidFill>
                  <a:schemeClr val="bg1">
                    <a:lumMod val="50000"/>
                  </a:schemeClr>
                </a:solidFill>
                <a:latin typeface="Arial"/>
                <a:cs typeface="Arial"/>
              </a:rPr>
              <a:t>RCM Folicil.</a:t>
            </a:r>
            <a:endParaRPr lang="es-ES" sz="800" dirty="0">
              <a:solidFill>
                <a:schemeClr val="bg1">
                  <a:lumMod val="50000"/>
                </a:schemeClr>
              </a:solidFill>
              <a:latin typeface="Arial"/>
              <a:cs typeface="Arial"/>
            </a:endParaRPr>
          </a:p>
        </p:txBody>
      </p:sp>
    </p:spTree>
    <p:extLst>
      <p:ext uri="{BB962C8B-B14F-4D97-AF65-F5344CB8AC3E}">
        <p14:creationId xmlns:p14="http://schemas.microsoft.com/office/powerpoint/2010/main" val="23853005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2"/>
          <p:cNvSpPr txBox="1">
            <a:spLocks/>
          </p:cNvSpPr>
          <p:nvPr/>
        </p:nvSpPr>
        <p:spPr>
          <a:xfrm>
            <a:off x="251520" y="560332"/>
            <a:ext cx="6628503" cy="930350"/>
          </a:xfrm>
          <a:prstGeom prst="rect">
            <a:avLst/>
          </a:prstGeom>
        </p:spPr>
        <p:txBody>
          <a:bodyPr/>
          <a:lstStyle>
            <a:lvl1pPr algn="l" rtl="0" eaLnBrk="1" latinLnBrk="0" hangingPunct="1">
              <a:spcBef>
                <a:spcPct val="0"/>
              </a:spcBef>
              <a:buNone/>
              <a:defRPr kumimoji="0" sz="3600" b="0" kern="1200">
                <a:ln>
                  <a:noFill/>
                </a:ln>
                <a:solidFill>
                  <a:srgbClr val="B11B7E"/>
                </a:solidFill>
                <a:effectLst/>
                <a:latin typeface="+mj-lt"/>
                <a:ea typeface="+mj-ea"/>
                <a:cs typeface="+mj-cs"/>
              </a:defRPr>
            </a:lvl1pPr>
          </a:lstStyle>
          <a:p>
            <a:r>
              <a:rPr lang="en-US" sz="2800" b="1" dirty="0">
                <a:solidFill>
                  <a:srgbClr val="EC6707"/>
                </a:solidFill>
                <a:latin typeface="Arial" panose="020B0604020202020204" pitchFamily="34" charset="0"/>
                <a:cs typeface="Arial" panose="020B0604020202020204" pitchFamily="34" charset="0"/>
              </a:rPr>
              <a:t>FARMACODINÁMICA- IMPORTANCIA DEL ÁCIDO TETRAHIDROFÓLICO</a:t>
            </a:r>
            <a:endParaRPr lang="es-ES" sz="2800" b="1" dirty="0">
              <a:solidFill>
                <a:srgbClr val="EC6707"/>
              </a:solidFill>
              <a:latin typeface="Arial" panose="020B0604020202020204" pitchFamily="34" charset="0"/>
              <a:cs typeface="Arial" panose="020B0604020202020204" pitchFamily="34" charset="0"/>
            </a:endParaRPr>
          </a:p>
        </p:txBody>
      </p:sp>
      <p:sp>
        <p:nvSpPr>
          <p:cNvPr id="2" name="Rectangle 1"/>
          <p:cNvSpPr/>
          <p:nvPr/>
        </p:nvSpPr>
        <p:spPr>
          <a:xfrm>
            <a:off x="1115616" y="1988840"/>
            <a:ext cx="1800200" cy="13629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pic>
        <p:nvPicPr>
          <p:cNvPr id="4" name="Picture 3"/>
          <p:cNvPicPr>
            <a:picLocks noChangeAspect="1"/>
          </p:cNvPicPr>
          <p:nvPr/>
        </p:nvPicPr>
        <p:blipFill>
          <a:blip r:embed="rId2"/>
          <a:stretch>
            <a:fillRect/>
          </a:stretch>
        </p:blipFill>
        <p:spPr>
          <a:xfrm>
            <a:off x="394918" y="1844824"/>
            <a:ext cx="8353546" cy="5062517"/>
          </a:xfrm>
          <a:prstGeom prst="rect">
            <a:avLst/>
          </a:prstGeom>
        </p:spPr>
      </p:pic>
      <p:sp>
        <p:nvSpPr>
          <p:cNvPr id="11" name="TextBox 2"/>
          <p:cNvSpPr txBox="1">
            <a:spLocks noChangeArrowheads="1"/>
          </p:cNvSpPr>
          <p:nvPr/>
        </p:nvSpPr>
        <p:spPr bwMode="auto">
          <a:xfrm>
            <a:off x="72009" y="6505599"/>
            <a:ext cx="5796135" cy="200055"/>
          </a:xfrm>
          <a:prstGeom prst="rect">
            <a:avLst/>
          </a:prstGeom>
          <a:noFill/>
          <a:ln w="9525">
            <a:noFill/>
            <a:miter lim="800000"/>
            <a:headEnd/>
            <a:tailEnd/>
          </a:ln>
        </p:spPr>
        <p:txBody>
          <a:bodyPr wrap="square">
            <a:spAutoFit/>
          </a:bodyPr>
          <a:lstStyle/>
          <a:p>
            <a:pPr>
              <a:defRPr/>
            </a:pPr>
            <a:r>
              <a:rPr lang="pt-PT" sz="700" dirty="0">
                <a:highlight>
                  <a:srgbClr val="FFFF00"/>
                </a:highlight>
                <a:latin typeface="Arial" panose="020B0604020202020204" pitchFamily="34" charset="0"/>
                <a:cs typeface="Arial" panose="020B0604020202020204" pitchFamily="34" charset="0"/>
              </a:rPr>
              <a:t>1) ADAM</a:t>
            </a:r>
            <a:endParaRPr lang="es-ES" sz="700" dirty="0">
              <a:highlight>
                <a:srgbClr val="FFFF00"/>
              </a:highlight>
              <a:latin typeface="Arial" panose="020B0604020202020204" pitchFamily="34" charset="0"/>
              <a:cs typeface="Arial" panose="020B0604020202020204"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ppt_x"/>
                                          </p:val>
                                        </p:tav>
                                        <p:tav tm="100000">
                                          <p:val>
                                            <p:strVal val="#ppt_x"/>
                                          </p:val>
                                        </p:tav>
                                      </p:tavLst>
                                    </p:anim>
                                    <p:anim calcmode="lin" valueType="num">
                                      <p:cBhvr additive="base">
                                        <p:cTn id="8" dur="75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21823" t="11793" r="24262" b="8381"/>
          <a:stretch/>
        </p:blipFill>
        <p:spPr>
          <a:xfrm>
            <a:off x="1115616" y="3933056"/>
            <a:ext cx="1512168" cy="3168350"/>
          </a:xfrm>
          <a:prstGeom prst="rect">
            <a:avLst/>
          </a:prstGeom>
        </p:spPr>
      </p:pic>
      <p:pic>
        <p:nvPicPr>
          <p:cNvPr id="3" name="Picture 2" descr="03A47641.jpg"/>
          <p:cNvPicPr>
            <a:picLocks noChangeAspect="1"/>
          </p:cNvPicPr>
          <p:nvPr/>
        </p:nvPicPr>
        <p:blipFill rotWithShape="1">
          <a:blip r:embed="rId4" cstate="print">
            <a:extLst>
              <a:ext uri="{28A0092B-C50C-407E-A947-70E740481C1C}">
                <a14:useLocalDpi xmlns:a14="http://schemas.microsoft.com/office/drawing/2010/main" val="0"/>
              </a:ext>
            </a:extLst>
          </a:blip>
          <a:srcRect b="33696"/>
          <a:stretch/>
        </p:blipFill>
        <p:spPr>
          <a:xfrm>
            <a:off x="4102659" y="1844824"/>
            <a:ext cx="5040560" cy="5013176"/>
          </a:xfrm>
          <a:prstGeom prst="rect">
            <a:avLst/>
          </a:prstGeom>
        </p:spPr>
      </p:pic>
      <p:sp>
        <p:nvSpPr>
          <p:cNvPr id="6" name="Title 2"/>
          <p:cNvSpPr txBox="1">
            <a:spLocks/>
          </p:cNvSpPr>
          <p:nvPr/>
        </p:nvSpPr>
        <p:spPr>
          <a:xfrm>
            <a:off x="250231" y="947924"/>
            <a:ext cx="7704856" cy="3672408"/>
          </a:xfrm>
          <a:prstGeom prst="rect">
            <a:avLst/>
          </a:prstGeom>
        </p:spPr>
        <p:txBody>
          <a:bodyPr/>
          <a:lstStyle>
            <a:lvl1pPr algn="l" rtl="0" eaLnBrk="1" latinLnBrk="0" hangingPunct="1">
              <a:spcBef>
                <a:spcPct val="0"/>
              </a:spcBef>
              <a:buNone/>
              <a:defRPr kumimoji="0" sz="3600" b="0" kern="1200">
                <a:ln>
                  <a:noFill/>
                </a:ln>
                <a:solidFill>
                  <a:srgbClr val="B11B7E"/>
                </a:solidFill>
                <a:effectLst/>
                <a:latin typeface="+mj-lt"/>
                <a:ea typeface="+mj-ea"/>
                <a:cs typeface="+mj-cs"/>
              </a:defRPr>
            </a:lvl1pPr>
          </a:lstStyle>
          <a:p>
            <a:r>
              <a:rPr lang="en-US" sz="5400" b="1" dirty="0">
                <a:solidFill>
                  <a:srgbClr val="2D5FAA"/>
                </a:solidFill>
              </a:rPr>
              <a:t>¿CUALES SON LAS CAUSAS DE LA DEFICIENCIA</a:t>
            </a:r>
          </a:p>
          <a:p>
            <a:r>
              <a:rPr lang="en-US" sz="5400" b="1" dirty="0">
                <a:solidFill>
                  <a:srgbClr val="2D5FAA"/>
                </a:solidFill>
              </a:rPr>
              <a:t>DE ÁCIDO FÓLICO?</a:t>
            </a:r>
            <a:endParaRPr lang="es-ES" sz="5400" b="1" dirty="0">
              <a:solidFill>
                <a:srgbClr val="2D5FAA"/>
              </a:solidFill>
            </a:endParaRPr>
          </a:p>
        </p:txBody>
      </p:sp>
      <p:pic>
        <p:nvPicPr>
          <p:cNvPr id="5" name="Picture 4"/>
          <p:cNvPicPr>
            <a:picLocks noChangeAspect="1"/>
          </p:cNvPicPr>
          <p:nvPr/>
        </p:nvPicPr>
        <p:blipFill rotWithShape="1">
          <a:blip r:embed="rId5">
            <a:extLst>
              <a:ext uri="{28A0092B-C50C-407E-A947-70E740481C1C}">
                <a14:useLocalDpi xmlns:a14="http://schemas.microsoft.com/office/drawing/2010/main" val="0"/>
              </a:ext>
            </a:extLst>
          </a:blip>
          <a:srcRect t="24150" b="28600"/>
          <a:stretch/>
        </p:blipFill>
        <p:spPr>
          <a:xfrm>
            <a:off x="-972616" y="5013175"/>
            <a:ext cx="4464496" cy="2985131"/>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750" fill="hold"/>
                                        <p:tgtEl>
                                          <p:spTgt spid="3"/>
                                        </p:tgtEl>
                                        <p:attrNameLst>
                                          <p:attrName>ppt_x</p:attrName>
                                        </p:attrNameLst>
                                      </p:cBhvr>
                                      <p:tavLst>
                                        <p:tav tm="0">
                                          <p:val>
                                            <p:strVal val="1+#ppt_w/2"/>
                                          </p:val>
                                        </p:tav>
                                        <p:tav tm="100000">
                                          <p:val>
                                            <p:strVal val="#ppt_x"/>
                                          </p:val>
                                        </p:tav>
                                      </p:tavLst>
                                    </p:anim>
                                    <p:anim calcmode="lin" valueType="num">
                                      <p:cBhvr additive="base">
                                        <p:cTn id="18" dur="75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2"/>
          <p:cNvSpPr txBox="1">
            <a:spLocks noChangeArrowheads="1"/>
          </p:cNvSpPr>
          <p:nvPr/>
        </p:nvSpPr>
        <p:spPr bwMode="auto">
          <a:xfrm>
            <a:off x="323528" y="6453336"/>
            <a:ext cx="8530208" cy="338554"/>
          </a:xfrm>
          <a:prstGeom prst="rect">
            <a:avLst/>
          </a:prstGeom>
          <a:noFill/>
          <a:ln w="9525">
            <a:noFill/>
            <a:miter lim="800000"/>
            <a:headEnd/>
            <a:tailEnd/>
          </a:ln>
        </p:spPr>
        <p:txBody>
          <a:bodyPr wrap="square">
            <a:spAutoFit/>
          </a:bodyPr>
          <a:lstStyle/>
          <a:p>
            <a:pPr>
              <a:defRPr/>
            </a:pPr>
            <a:r>
              <a:rPr lang="en-US" sz="800" dirty="0">
                <a:solidFill>
                  <a:schemeClr val="bg1">
                    <a:lumMod val="50000"/>
                  </a:schemeClr>
                </a:solidFill>
                <a:latin typeface="Arial"/>
              </a:rPr>
              <a:t>1</a:t>
            </a:r>
            <a:r>
              <a:rPr lang="en-US" sz="800" dirty="0">
                <a:solidFill>
                  <a:schemeClr val="bg1">
                    <a:lumMod val="50000"/>
                  </a:schemeClr>
                </a:solidFill>
                <a:latin typeface="Arial"/>
                <a:cs typeface="Arial"/>
              </a:rPr>
              <a:t>) </a:t>
            </a:r>
            <a:r>
              <a:rPr lang="pt-BR" sz="800" dirty="0">
                <a:solidFill>
                  <a:schemeClr val="bg1">
                    <a:lumMod val="50000"/>
                  </a:schemeClr>
                </a:solidFill>
                <a:latin typeface="Arial"/>
                <a:cs typeface="Arial"/>
              </a:rPr>
              <a:t>VANNUCCHI, H., MONTEIRO, T. H. Funções Plenamente Reconhecidas de Nutrientes Ácido Fólico. Ilsi Brasil. 2010. http://emedicine.medscape.com/article/200184-overview</a:t>
            </a:r>
          </a:p>
          <a:p>
            <a:pPr>
              <a:defRPr/>
            </a:pPr>
            <a:r>
              <a:rPr lang="pt-PT" sz="800" dirty="0">
                <a:solidFill>
                  <a:schemeClr val="bg1">
                    <a:lumMod val="50000"/>
                  </a:schemeClr>
                </a:solidFill>
                <a:latin typeface="Arial"/>
                <a:cs typeface="Arial"/>
              </a:rPr>
              <a:t>2) </a:t>
            </a:r>
            <a:r>
              <a:rPr lang="en-US" sz="800" dirty="0">
                <a:solidFill>
                  <a:schemeClr val="bg1">
                    <a:lumMod val="50000"/>
                  </a:schemeClr>
                </a:solidFill>
                <a:latin typeface="Arial"/>
                <a:cs typeface="Arial"/>
              </a:rPr>
              <a:t>Joint FAO/WHO Expert Consultation on Human Vitamin and Mineral Requirements. WHO 2004</a:t>
            </a:r>
            <a:r>
              <a:rPr lang="pt-PT" sz="800" dirty="0">
                <a:solidFill>
                  <a:schemeClr val="bg1">
                    <a:lumMod val="50000"/>
                  </a:schemeClr>
                </a:solidFill>
                <a:latin typeface="Arial"/>
                <a:cs typeface="Arial"/>
              </a:rPr>
              <a:t>. </a:t>
            </a:r>
            <a:endParaRPr lang="es-ES" sz="800" dirty="0">
              <a:solidFill>
                <a:schemeClr val="bg1">
                  <a:lumMod val="50000"/>
                </a:schemeClr>
              </a:solidFill>
              <a:latin typeface="Arial"/>
              <a:cs typeface="Arial"/>
            </a:endParaRPr>
          </a:p>
        </p:txBody>
      </p:sp>
      <p:sp>
        <p:nvSpPr>
          <p:cNvPr id="12292" name="Rectangle 16"/>
          <p:cNvSpPr>
            <a:spLocks noChangeArrowheads="1"/>
          </p:cNvSpPr>
          <p:nvPr/>
        </p:nvSpPr>
        <p:spPr bwMode="auto">
          <a:xfrm>
            <a:off x="327708" y="4875446"/>
            <a:ext cx="8526028" cy="830997"/>
          </a:xfrm>
          <a:prstGeom prst="rect">
            <a:avLst/>
          </a:prstGeom>
          <a:noFill/>
          <a:ln w="9525">
            <a:noFill/>
            <a:miter lim="800000"/>
            <a:headEnd/>
            <a:tailEnd/>
          </a:ln>
        </p:spPr>
        <p:txBody>
          <a:bodyPr wrap="square">
            <a:spAutoFit/>
          </a:bodyPr>
          <a:lstStyle/>
          <a:p>
            <a:pPr indent="-361950" algn="just"/>
            <a:r>
              <a:rPr lang="es-CO" sz="1600" dirty="0">
                <a:solidFill>
                  <a:srgbClr val="404040"/>
                </a:solidFill>
                <a:latin typeface="Arial" panose="020B0604020202020204" pitchFamily="34" charset="0"/>
                <a:cs typeface="Arial" panose="020B0604020202020204" pitchFamily="34" charset="0"/>
              </a:rPr>
              <a:t>Las reservas</a:t>
            </a:r>
            <a:r>
              <a:rPr sz="1600" dirty="0">
                <a:latin typeface="Arial" panose="020B0604020202020204" pitchFamily="34" charset="0"/>
                <a:cs typeface="Arial" panose="020B0604020202020204" pitchFamily="34" charset="0"/>
              </a:rPr>
              <a:t> </a:t>
            </a:r>
            <a:r>
              <a:rPr lang="es-EC" sz="1600" dirty="0">
                <a:solidFill>
                  <a:srgbClr val="404040"/>
                </a:solidFill>
                <a:latin typeface="Arial" panose="020B0604020202020204" pitchFamily="34" charset="0"/>
                <a:cs typeface="Arial" panose="020B0604020202020204" pitchFamily="34" charset="0"/>
              </a:rPr>
              <a:t>humanas son escasas. Se necesitan absorber aproximadamente 50-100 </a:t>
            </a:r>
            <a:r>
              <a:rPr lang="es-EC" sz="1600" dirty="0" err="1">
                <a:solidFill>
                  <a:srgbClr val="404040"/>
                </a:solidFill>
                <a:latin typeface="Arial" panose="020B0604020202020204" pitchFamily="34" charset="0"/>
                <a:cs typeface="Arial" panose="020B0604020202020204" pitchFamily="34" charset="0"/>
              </a:rPr>
              <a:t>μg</a:t>
            </a:r>
            <a:r>
              <a:rPr lang="es-EC" sz="1600" dirty="0">
                <a:solidFill>
                  <a:srgbClr val="404040"/>
                </a:solidFill>
                <a:latin typeface="Arial" panose="020B0604020202020204" pitchFamily="34" charset="0"/>
                <a:cs typeface="Arial" panose="020B0604020202020204" pitchFamily="34" charset="0"/>
              </a:rPr>
              <a:t>/día de folato para reponer la degradación y pérdida diarias. </a:t>
            </a:r>
            <a:r>
              <a:rPr lang="es-BO" sz="1600" dirty="0">
                <a:solidFill>
                  <a:srgbClr val="404040"/>
                </a:solidFill>
                <a:latin typeface="Arial" panose="020B0604020202020204" pitchFamily="34" charset="0"/>
                <a:cs typeface="Arial" panose="020B0604020202020204" pitchFamily="34" charset="0"/>
              </a:rPr>
              <a:t>De otra manera, pueden manifestarse signos y síntomas de deficiencia</a:t>
            </a:r>
            <a:r>
              <a:rPr lang="pt-PT" sz="1600" dirty="0">
                <a:solidFill>
                  <a:srgbClr val="404040"/>
                </a:solidFill>
                <a:latin typeface="Arial" panose="020B0604020202020204" pitchFamily="34" charset="0"/>
                <a:cs typeface="Arial" panose="020B0604020202020204" pitchFamily="34" charset="0"/>
              </a:rPr>
              <a:t> </a:t>
            </a:r>
            <a:r>
              <a:rPr lang="es-CL" sz="1600" b="1" dirty="0">
                <a:solidFill>
                  <a:srgbClr val="404040"/>
                </a:solidFill>
                <a:latin typeface="Arial" panose="020B0604020202020204" pitchFamily="34" charset="0"/>
                <a:cs typeface="Arial" panose="020B0604020202020204" pitchFamily="34" charset="0"/>
              </a:rPr>
              <a:t>tras 4 meses.²</a:t>
            </a:r>
          </a:p>
        </p:txBody>
      </p:sp>
      <p:sp>
        <p:nvSpPr>
          <p:cNvPr id="5" name="Title 2"/>
          <p:cNvSpPr txBox="1">
            <a:spLocks/>
          </p:cNvSpPr>
          <p:nvPr/>
        </p:nvSpPr>
        <p:spPr>
          <a:xfrm>
            <a:off x="323528" y="304007"/>
            <a:ext cx="6419056" cy="1128267"/>
          </a:xfrm>
          <a:prstGeom prst="rect">
            <a:avLst/>
          </a:prstGeom>
        </p:spPr>
        <p:txBody>
          <a:bodyPr/>
          <a:lstStyle>
            <a:lvl1pPr algn="l" rtl="0" eaLnBrk="1" latinLnBrk="0" hangingPunct="1">
              <a:spcBef>
                <a:spcPct val="0"/>
              </a:spcBef>
              <a:buNone/>
              <a:defRPr kumimoji="0" sz="3600" b="0" kern="1200">
                <a:ln>
                  <a:noFill/>
                </a:ln>
                <a:solidFill>
                  <a:srgbClr val="B11B7E"/>
                </a:solidFill>
                <a:effectLst/>
                <a:latin typeface="+mj-lt"/>
                <a:ea typeface="+mj-ea"/>
                <a:cs typeface="+mj-cs"/>
              </a:defRPr>
            </a:lvl1pPr>
          </a:lstStyle>
          <a:p>
            <a:r>
              <a:rPr sz="3200" b="1" dirty="0">
                <a:solidFill>
                  <a:srgbClr val="EC6707"/>
                </a:solidFill>
                <a:latin typeface="Arial" panose="020B0604020202020204" pitchFamily="34" charset="0"/>
                <a:cs typeface="Arial" panose="020B0604020202020204" pitchFamily="34" charset="0"/>
              </a:rPr>
              <a:t>CAUSAS DE LA DEFICIENCIA DE ÁCIDO FÓLICO</a:t>
            </a:r>
            <a:endParaRPr lang="es-ES" sz="3200" b="1" dirty="0">
              <a:solidFill>
                <a:srgbClr val="EC6707"/>
              </a:solidFill>
              <a:latin typeface="Arial" panose="020B0604020202020204" pitchFamily="34" charset="0"/>
              <a:cs typeface="Arial" panose="020B0604020202020204" pitchFamily="34" charset="0"/>
            </a:endParaRPr>
          </a:p>
        </p:txBody>
      </p:sp>
      <p:sp>
        <p:nvSpPr>
          <p:cNvPr id="9" name="TextBox 8"/>
          <p:cNvSpPr txBox="1"/>
          <p:nvPr/>
        </p:nvSpPr>
        <p:spPr>
          <a:xfrm>
            <a:off x="323528" y="1715658"/>
            <a:ext cx="6120680" cy="2446824"/>
          </a:xfrm>
          <a:prstGeom prst="rect">
            <a:avLst/>
          </a:prstGeom>
          <a:noFill/>
        </p:spPr>
        <p:txBody>
          <a:bodyPr wrap="square" rtlCol="0">
            <a:spAutoFit/>
          </a:bodyPr>
          <a:lstStyle/>
          <a:p>
            <a:r>
              <a:rPr lang="es-EC" b="1" dirty="0">
                <a:solidFill>
                  <a:srgbClr val="EC6707"/>
                </a:solidFill>
                <a:latin typeface="Arial" panose="020B0604020202020204" pitchFamily="34" charset="0"/>
                <a:cs typeface="Arial" panose="020B0604020202020204" pitchFamily="34" charset="0"/>
              </a:rPr>
              <a:t>ENEMIGOS DEL ÁCIDO FÓLICO</a:t>
            </a:r>
            <a:r>
              <a:rPr lang="es-EC" b="1" baseline="30000" dirty="0">
                <a:solidFill>
                  <a:srgbClr val="EC6707"/>
                </a:solidFill>
                <a:latin typeface="Arial" panose="020B0604020202020204" pitchFamily="34" charset="0"/>
                <a:cs typeface="Arial" panose="020B0604020202020204" pitchFamily="34" charset="0"/>
              </a:rPr>
              <a:t>1</a:t>
            </a:r>
          </a:p>
          <a:p>
            <a:pPr marL="639763" lvl="1" indent="-182563">
              <a:buClr>
                <a:srgbClr val="EC6707"/>
              </a:buClr>
              <a:buFont typeface="Arial" pitchFamily="34" charset="0"/>
              <a:buChar char="•"/>
            </a:pPr>
            <a:r>
              <a:rPr lang="es-EC" sz="1500" dirty="0">
                <a:latin typeface="Arial" panose="020B0604020202020204" pitchFamily="34" charset="0"/>
                <a:cs typeface="Arial" panose="020B0604020202020204" pitchFamily="34" charset="0"/>
              </a:rPr>
              <a:t>Alcoholismo   </a:t>
            </a:r>
          </a:p>
          <a:p>
            <a:pPr marL="639763" lvl="1" indent="-182563">
              <a:buClr>
                <a:srgbClr val="EC6707"/>
              </a:buClr>
              <a:buFont typeface="Arial" pitchFamily="34" charset="0"/>
              <a:buChar char="•"/>
            </a:pPr>
            <a:r>
              <a:rPr lang="es-EC" sz="1500" dirty="0">
                <a:latin typeface="Arial" panose="020B0604020202020204" pitchFamily="34" charset="0"/>
                <a:cs typeface="Arial" panose="020B0604020202020204" pitchFamily="34" charset="0"/>
              </a:rPr>
              <a:t>Antagonistas del ácido fólico (p. ej.: metotrexato, trimetoprim)   </a:t>
            </a:r>
          </a:p>
          <a:p>
            <a:pPr marL="639763" lvl="1" indent="-182563">
              <a:buClr>
                <a:srgbClr val="EC6707"/>
              </a:buClr>
              <a:buFont typeface="Arial" pitchFamily="34" charset="0"/>
              <a:buChar char="•"/>
            </a:pPr>
            <a:r>
              <a:rPr lang="es-EC" sz="1500" dirty="0">
                <a:latin typeface="Arial" panose="020B0604020202020204" pitchFamily="34" charset="0"/>
                <a:cs typeface="Arial" panose="020B0604020202020204" pitchFamily="34" charset="0"/>
              </a:rPr>
              <a:t>Anticonceptivos orales   </a:t>
            </a:r>
          </a:p>
          <a:p>
            <a:pPr marL="639763" lvl="1" indent="-182563">
              <a:buClr>
                <a:srgbClr val="EC6707"/>
              </a:buClr>
              <a:buFont typeface="Arial" pitchFamily="34" charset="0"/>
              <a:buChar char="•"/>
            </a:pPr>
            <a:r>
              <a:rPr lang="es-EC" sz="1500" dirty="0">
                <a:latin typeface="Arial" panose="020B0604020202020204" pitchFamily="34" charset="0"/>
                <a:cs typeface="Arial" panose="020B0604020202020204" pitchFamily="34" charset="0"/>
              </a:rPr>
              <a:t>Baja ingesta en la dieta (p. ej.: leche de cabra en exceso)   </a:t>
            </a:r>
          </a:p>
          <a:p>
            <a:pPr marL="639763" lvl="1" indent="-182563">
              <a:buClr>
                <a:srgbClr val="EC6707"/>
              </a:buClr>
              <a:buFont typeface="Arial" pitchFamily="34" charset="0"/>
              <a:buChar char="•"/>
            </a:pPr>
            <a:r>
              <a:rPr lang="es-EC" sz="1500" dirty="0">
                <a:latin typeface="Arial" panose="020B0604020202020204" pitchFamily="34" charset="0"/>
                <a:cs typeface="Arial" panose="020B0604020202020204" pitchFamily="34" charset="0"/>
              </a:rPr>
              <a:t>Infección por Giardia   </a:t>
            </a:r>
          </a:p>
          <a:p>
            <a:pPr marL="639763" lvl="1" indent="-182563">
              <a:buClr>
                <a:srgbClr val="EC6707"/>
              </a:buClr>
              <a:buFont typeface="Arial" pitchFamily="34" charset="0"/>
              <a:buChar char="•"/>
            </a:pPr>
            <a:r>
              <a:rPr lang="es-EC" sz="1500" dirty="0">
                <a:latin typeface="Arial" panose="020B0604020202020204" pitchFamily="34" charset="0"/>
                <a:cs typeface="Arial" panose="020B0604020202020204" pitchFamily="34" charset="0"/>
              </a:rPr>
              <a:t>Celiaquía   </a:t>
            </a:r>
            <a:endParaRPr lang="es-EC" sz="800" dirty="0">
              <a:latin typeface="Arial" panose="020B0604020202020204" pitchFamily="34" charset="0"/>
              <a:cs typeface="Arial" panose="020B0604020202020204" pitchFamily="34" charset="0"/>
            </a:endParaRPr>
          </a:p>
          <a:p>
            <a:pPr marL="639763" lvl="1" indent="-182563">
              <a:buClr>
                <a:srgbClr val="EC6707"/>
              </a:buClr>
              <a:buFont typeface="Arial" pitchFamily="34" charset="0"/>
              <a:buChar char="•"/>
            </a:pPr>
            <a:r>
              <a:rPr lang="es-EC" sz="1500" dirty="0">
                <a:latin typeface="Arial" panose="020B0604020202020204" pitchFamily="34" charset="0"/>
                <a:cs typeface="Arial" panose="020B0604020202020204" pitchFamily="34" charset="0"/>
              </a:rPr>
              <a:t>Embarazo/ psoriasis   </a:t>
            </a:r>
          </a:p>
          <a:p>
            <a:pPr marL="639763" lvl="1" indent="-182563">
              <a:buClr>
                <a:srgbClr val="EC6707"/>
              </a:buClr>
              <a:buFont typeface="Arial" pitchFamily="34" charset="0"/>
              <a:buChar char="•"/>
            </a:pPr>
            <a:r>
              <a:rPr lang="es-EC" sz="1500" dirty="0">
                <a:latin typeface="Arial" panose="020B0604020202020204" pitchFamily="34" charset="0"/>
                <a:cs typeface="Arial" panose="020B0604020202020204" pitchFamily="34" charset="0"/>
              </a:rPr>
              <a:t>Vejez   </a:t>
            </a:r>
          </a:p>
          <a:p>
            <a:pPr marL="639763" lvl="1" indent="-182563">
              <a:buClr>
                <a:srgbClr val="EC6707"/>
              </a:buClr>
              <a:buFont typeface="Arial" pitchFamily="34" charset="0"/>
              <a:buChar char="•"/>
            </a:pPr>
            <a:r>
              <a:rPr lang="es-EC" sz="1500" dirty="0">
                <a:latin typeface="Arial" panose="020B0604020202020204" pitchFamily="34" charset="0"/>
                <a:cs typeface="Arial" panose="020B0604020202020204" pitchFamily="34" charset="0"/>
              </a:rPr>
              <a:t>Dilantin (fenitoína)  </a:t>
            </a:r>
            <a:r>
              <a:rPr lang="es-EC" sz="1500" dirty="0">
                <a:solidFill>
                  <a:srgbClr val="EC6707"/>
                </a:solidFill>
                <a:latin typeface="Arial" panose="020B0604020202020204" pitchFamily="34" charset="0"/>
                <a:cs typeface="Arial" panose="020B0604020202020204" pitchFamily="34" charset="0"/>
              </a:rPr>
              <a:t> </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rotWithShape="1">
          <a:blip r:embed="rId2" cstate="print">
            <a:extLst>
              <a:ext uri="{28A0092B-C50C-407E-A947-70E740481C1C}">
                <a14:useLocalDpi xmlns:a14="http://schemas.microsoft.com/office/drawing/2010/main" val="0"/>
              </a:ext>
            </a:extLst>
          </a:blip>
          <a:srcRect l="21823" t="11793" r="24262" b="8381"/>
          <a:stretch/>
        </p:blipFill>
        <p:spPr>
          <a:xfrm>
            <a:off x="7956376" y="4182271"/>
            <a:ext cx="946448" cy="1983033"/>
          </a:xfrm>
          <a:prstGeom prst="rect">
            <a:avLst/>
          </a:prstGeom>
        </p:spPr>
      </p:pic>
      <p:sp>
        <p:nvSpPr>
          <p:cNvPr id="2" name="Slide Number Placeholder 1"/>
          <p:cNvSpPr>
            <a:spLocks noGrp="1"/>
          </p:cNvSpPr>
          <p:nvPr>
            <p:ph type="sldNum" sz="quarter" idx="12"/>
          </p:nvPr>
        </p:nvSpPr>
        <p:spPr/>
        <p:txBody>
          <a:bodyPr/>
          <a:lstStyle/>
          <a:p>
            <a:fld id="{03667C4B-6D06-491C-A04A-E41D55AFBBED}" type="slidenum">
              <a:rPr lang="en-GB" smtClean="0"/>
              <a:pPr/>
              <a:t>10</a:t>
            </a:fld>
            <a:endParaRPr lang="en-GB"/>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3228780"/>
            <a:ext cx="6660232" cy="3953256"/>
          </a:xfrm>
          <a:prstGeom prst="rect">
            <a:avLst/>
          </a:prstGeom>
        </p:spPr>
      </p:pic>
      <p:sp>
        <p:nvSpPr>
          <p:cNvPr id="6" name="Title 2"/>
          <p:cNvSpPr txBox="1">
            <a:spLocks/>
          </p:cNvSpPr>
          <p:nvPr/>
        </p:nvSpPr>
        <p:spPr>
          <a:xfrm>
            <a:off x="-36512" y="692696"/>
            <a:ext cx="9144000" cy="5112568"/>
          </a:xfrm>
          <a:prstGeom prst="rect">
            <a:avLst/>
          </a:prstGeom>
        </p:spPr>
        <p:txBody>
          <a:bodyPr/>
          <a:lstStyle>
            <a:lvl1pPr algn="l" rtl="0" eaLnBrk="1" latinLnBrk="0" hangingPunct="1">
              <a:spcBef>
                <a:spcPct val="0"/>
              </a:spcBef>
              <a:buNone/>
              <a:defRPr kumimoji="0" sz="3600" b="0" kern="1200">
                <a:ln>
                  <a:noFill/>
                </a:ln>
                <a:solidFill>
                  <a:srgbClr val="B11B7E"/>
                </a:solidFill>
                <a:effectLst/>
                <a:latin typeface="+mj-lt"/>
                <a:ea typeface="+mj-ea"/>
                <a:cs typeface="+mj-cs"/>
              </a:defRPr>
            </a:lvl1pPr>
          </a:lstStyle>
          <a:p>
            <a:pPr algn="r"/>
            <a:r>
              <a:rPr lang="es-DO" sz="5300" b="1" dirty="0">
                <a:solidFill>
                  <a:srgbClr val="2D5FAA"/>
                </a:solidFill>
              </a:rPr>
              <a:t>¿CUÁLES SON LOS SIGNOS Y SÍNTOMAS DE LA ANEMIA POR DEFICIENCIA DE ÁCIDO FÓLICO?</a:t>
            </a:r>
          </a:p>
        </p:txBody>
      </p:sp>
      <p:pic>
        <p:nvPicPr>
          <p:cNvPr id="12" name="Picture 11"/>
          <p:cNvPicPr>
            <a:picLocks noChangeAspect="1"/>
          </p:cNvPicPr>
          <p:nvPr/>
        </p:nvPicPr>
        <p:blipFill rotWithShape="1">
          <a:blip r:embed="rId4">
            <a:extLst>
              <a:ext uri="{28A0092B-C50C-407E-A947-70E740481C1C}">
                <a14:useLocalDpi xmlns:a14="http://schemas.microsoft.com/office/drawing/2010/main" val="0"/>
              </a:ext>
            </a:extLst>
          </a:blip>
          <a:srcRect t="24150" b="28600"/>
          <a:stretch/>
        </p:blipFill>
        <p:spPr>
          <a:xfrm rot="18900000">
            <a:off x="6590075" y="5117190"/>
            <a:ext cx="3787097" cy="2532197"/>
          </a:xfrm>
          <a:prstGeom prst="rect">
            <a:avLst/>
          </a:prstGeom>
        </p:spPr>
      </p:pic>
    </p:spTree>
    <p:extLst>
      <p:ext uri="{BB962C8B-B14F-4D97-AF65-F5344CB8AC3E}">
        <p14:creationId xmlns:p14="http://schemas.microsoft.com/office/powerpoint/2010/main" val="42520548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ppt_x"/>
                                          </p:val>
                                        </p:tav>
                                        <p:tav tm="100000">
                                          <p:val>
                                            <p:strVal val="#ppt_x"/>
                                          </p:val>
                                        </p:tav>
                                      </p:tavLst>
                                    </p:anim>
                                    <p:anim calcmode="lin" valueType="num">
                                      <p:cBhvr additive="base">
                                        <p:cTn id="13" dur="500" fill="hold"/>
                                        <p:tgtEl>
                                          <p:spTgt spid="1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1000" fill="hold"/>
                                        <p:tgtEl>
                                          <p:spTgt spid="10"/>
                                        </p:tgtEl>
                                        <p:attrNameLst>
                                          <p:attrName>ppt_x</p:attrName>
                                        </p:attrNameLst>
                                      </p:cBhvr>
                                      <p:tavLst>
                                        <p:tav tm="0">
                                          <p:val>
                                            <p:strVal val="0-#ppt_w/2"/>
                                          </p:val>
                                        </p:tav>
                                        <p:tav tm="100000">
                                          <p:val>
                                            <p:strVal val="#ppt_x"/>
                                          </p:val>
                                        </p:tav>
                                      </p:tavLst>
                                    </p:anim>
                                    <p:anim calcmode="lin" valueType="num">
                                      <p:cBhvr additive="base">
                                        <p:cTn id="18" dur="10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3667C4B-6D06-491C-A04A-E41D55AFBBED}" type="slidenum">
              <a:rPr lang="en-GB" smtClean="0"/>
              <a:pPr/>
              <a:t>11</a:t>
            </a:fld>
            <a:endParaRPr lang="en-GB"/>
          </a:p>
        </p:txBody>
      </p:sp>
      <p:sp>
        <p:nvSpPr>
          <p:cNvPr id="5" name="Title 2"/>
          <p:cNvSpPr txBox="1">
            <a:spLocks/>
          </p:cNvSpPr>
          <p:nvPr/>
        </p:nvSpPr>
        <p:spPr>
          <a:xfrm>
            <a:off x="457114" y="908720"/>
            <a:ext cx="7139136" cy="648072"/>
          </a:xfrm>
          <a:prstGeom prst="rect">
            <a:avLst/>
          </a:prstGeom>
        </p:spPr>
        <p:txBody>
          <a:bodyPr/>
          <a:lstStyle>
            <a:lvl1pPr algn="l" rtl="0" eaLnBrk="1" latinLnBrk="0" hangingPunct="1">
              <a:spcBef>
                <a:spcPct val="0"/>
              </a:spcBef>
              <a:buNone/>
              <a:defRPr kumimoji="0" sz="3600" b="0" kern="1200">
                <a:ln>
                  <a:noFill/>
                </a:ln>
                <a:solidFill>
                  <a:srgbClr val="B11B7E"/>
                </a:solidFill>
                <a:effectLst/>
                <a:latin typeface="+mj-lt"/>
                <a:ea typeface="+mj-ea"/>
                <a:cs typeface="+mj-cs"/>
              </a:defRPr>
            </a:lvl1pPr>
          </a:lstStyle>
          <a:p>
            <a:r>
              <a:rPr b="1" dirty="0">
                <a:solidFill>
                  <a:srgbClr val="EC6707"/>
                </a:solidFill>
                <a:latin typeface="Arial" panose="020B0604020202020204" pitchFamily="34" charset="0"/>
                <a:cs typeface="Arial" panose="020B0604020202020204" pitchFamily="34" charset="0"/>
              </a:rPr>
              <a:t>SIGNOS Y SÍNTOMAS</a:t>
            </a:r>
            <a:endParaRPr lang="es-ES" b="1" dirty="0">
              <a:solidFill>
                <a:srgbClr val="EC6707"/>
              </a:solidFill>
              <a:latin typeface="Arial" panose="020B0604020202020204" pitchFamily="34" charset="0"/>
              <a:cs typeface="Arial" panose="020B0604020202020204" pitchFamily="34" charset="0"/>
            </a:endParaRPr>
          </a:p>
        </p:txBody>
      </p:sp>
      <p:pic>
        <p:nvPicPr>
          <p:cNvPr id="6" name="Picture 5" descr="02H81376.jpg"/>
          <p:cNvPicPr>
            <a:picLocks noChangeAspect="1"/>
          </p:cNvPicPr>
          <p:nvPr/>
        </p:nvPicPr>
        <p:blipFill rotWithShape="1">
          <a:blip r:embed="rId2" cstate="print">
            <a:extLst>
              <a:ext uri="{28A0092B-C50C-407E-A947-70E740481C1C}">
                <a14:useLocalDpi xmlns:a14="http://schemas.microsoft.com/office/drawing/2010/main" val="0"/>
              </a:ext>
            </a:extLst>
          </a:blip>
          <a:srcRect l="-4793" r="30585"/>
          <a:stretch/>
        </p:blipFill>
        <p:spPr>
          <a:xfrm>
            <a:off x="5872958" y="980728"/>
            <a:ext cx="3271042" cy="5877272"/>
          </a:xfrm>
          <a:prstGeom prst="rect">
            <a:avLst/>
          </a:prstGeom>
        </p:spPr>
      </p:pic>
      <p:sp>
        <p:nvSpPr>
          <p:cNvPr id="7" name="TextBox 2"/>
          <p:cNvSpPr txBox="1">
            <a:spLocks noChangeArrowheads="1"/>
          </p:cNvSpPr>
          <p:nvPr/>
        </p:nvSpPr>
        <p:spPr bwMode="auto">
          <a:xfrm>
            <a:off x="457114" y="6538912"/>
            <a:ext cx="4330910" cy="215444"/>
          </a:xfrm>
          <a:prstGeom prst="rect">
            <a:avLst/>
          </a:prstGeom>
          <a:noFill/>
          <a:ln w="9525">
            <a:noFill/>
            <a:miter lim="800000"/>
            <a:headEnd/>
            <a:tailEnd/>
          </a:ln>
        </p:spPr>
        <p:txBody>
          <a:bodyPr wrap="square">
            <a:spAutoFit/>
          </a:bodyPr>
          <a:lstStyle/>
          <a:p>
            <a:pPr marL="228600" indent="-228600"/>
            <a:r>
              <a:rPr lang="en-US" sz="800" dirty="0">
                <a:solidFill>
                  <a:schemeClr val="bg1">
                    <a:lumMod val="50000"/>
                  </a:schemeClr>
                </a:solidFill>
                <a:latin typeface="Arial"/>
              </a:rPr>
              <a:t>Fuente: </a:t>
            </a:r>
            <a:r>
              <a:rPr lang="pt-PT" sz="800" dirty="0" err="1">
                <a:solidFill>
                  <a:schemeClr val="bg1">
                    <a:lumMod val="50000"/>
                  </a:schemeClr>
                </a:solidFill>
                <a:latin typeface="Arial"/>
                <a:cs typeface="Arial"/>
              </a:rPr>
              <a:t>Coffey</a:t>
            </a:r>
            <a:r>
              <a:rPr lang="pt-PT" sz="800" dirty="0">
                <a:solidFill>
                  <a:schemeClr val="bg1">
                    <a:lumMod val="50000"/>
                  </a:schemeClr>
                </a:solidFill>
                <a:latin typeface="Arial"/>
                <a:cs typeface="Arial"/>
              </a:rPr>
              <a:t>-Vega K; Besa E. </a:t>
            </a:r>
            <a:r>
              <a:rPr lang="pt-PT" sz="800" dirty="0" err="1">
                <a:solidFill>
                  <a:schemeClr val="bg1">
                    <a:lumMod val="50000"/>
                  </a:schemeClr>
                </a:solidFill>
                <a:latin typeface="Arial"/>
                <a:cs typeface="Arial"/>
              </a:rPr>
              <a:t>Folic</a:t>
            </a:r>
            <a:r>
              <a:rPr lang="pt-PT" sz="800" dirty="0">
                <a:solidFill>
                  <a:schemeClr val="bg1">
                    <a:lumMod val="50000"/>
                  </a:schemeClr>
                </a:solidFill>
                <a:latin typeface="Arial"/>
                <a:cs typeface="Arial"/>
              </a:rPr>
              <a:t> </a:t>
            </a:r>
            <a:r>
              <a:rPr lang="pt-PT" sz="800" dirty="0" err="1">
                <a:solidFill>
                  <a:schemeClr val="bg1">
                    <a:lumMod val="50000"/>
                  </a:schemeClr>
                </a:solidFill>
                <a:latin typeface="Arial"/>
                <a:cs typeface="Arial"/>
              </a:rPr>
              <a:t>Acid</a:t>
            </a:r>
            <a:r>
              <a:rPr lang="pt-PT" sz="800" dirty="0">
                <a:solidFill>
                  <a:schemeClr val="bg1">
                    <a:lumMod val="50000"/>
                  </a:schemeClr>
                </a:solidFill>
                <a:latin typeface="Arial"/>
                <a:cs typeface="Arial"/>
              </a:rPr>
              <a:t> </a:t>
            </a:r>
            <a:r>
              <a:rPr lang="pt-PT" sz="800" dirty="0" err="1">
                <a:solidFill>
                  <a:schemeClr val="bg1">
                    <a:lumMod val="50000"/>
                  </a:schemeClr>
                </a:solidFill>
                <a:latin typeface="Arial"/>
                <a:cs typeface="Arial"/>
              </a:rPr>
              <a:t>Deficiency</a:t>
            </a:r>
            <a:r>
              <a:rPr lang="pt-PT" sz="800" dirty="0">
                <a:solidFill>
                  <a:schemeClr val="bg1">
                    <a:lumMod val="50000"/>
                  </a:schemeClr>
                </a:solidFill>
                <a:latin typeface="Arial"/>
                <a:cs typeface="Arial"/>
              </a:rPr>
              <a:t>. </a:t>
            </a:r>
            <a:r>
              <a:rPr lang="pt-PT" sz="800" dirty="0" err="1">
                <a:solidFill>
                  <a:schemeClr val="bg1">
                    <a:lumMod val="50000"/>
                  </a:schemeClr>
                </a:solidFill>
                <a:latin typeface="Arial"/>
                <a:cs typeface="Arial"/>
              </a:rPr>
              <a:t>Medscape</a:t>
            </a:r>
            <a:r>
              <a:rPr lang="pt-PT" sz="800" dirty="0">
                <a:solidFill>
                  <a:schemeClr val="bg1">
                    <a:lumMod val="50000"/>
                  </a:schemeClr>
                </a:solidFill>
                <a:latin typeface="Arial"/>
                <a:cs typeface="Arial"/>
              </a:rPr>
              <a:t>. </a:t>
            </a:r>
            <a:r>
              <a:rPr lang="pt-PT" sz="800" dirty="0" err="1">
                <a:solidFill>
                  <a:schemeClr val="bg1">
                    <a:lumMod val="50000"/>
                  </a:schemeClr>
                </a:solidFill>
                <a:latin typeface="Arial"/>
                <a:cs typeface="Arial"/>
              </a:rPr>
              <a:t>July</a:t>
            </a:r>
            <a:r>
              <a:rPr lang="pt-PT" sz="800" dirty="0">
                <a:solidFill>
                  <a:schemeClr val="bg1">
                    <a:lumMod val="50000"/>
                  </a:schemeClr>
                </a:solidFill>
                <a:latin typeface="Arial"/>
                <a:cs typeface="Arial"/>
              </a:rPr>
              <a:t> 2017</a:t>
            </a:r>
            <a:endParaRPr lang="es-ES" sz="800" dirty="0">
              <a:solidFill>
                <a:schemeClr val="bg1">
                  <a:lumMod val="50000"/>
                </a:schemeClr>
              </a:solidFill>
              <a:latin typeface="Arial"/>
              <a:cs typeface="Arial"/>
            </a:endParaRPr>
          </a:p>
        </p:txBody>
      </p:sp>
      <p:sp>
        <p:nvSpPr>
          <p:cNvPr id="3" name="Content Placeholder 2"/>
          <p:cNvSpPr>
            <a:spLocks noGrp="1"/>
          </p:cNvSpPr>
          <p:nvPr>
            <p:ph idx="1"/>
          </p:nvPr>
        </p:nvSpPr>
        <p:spPr>
          <a:xfrm>
            <a:off x="457114" y="1916832"/>
            <a:ext cx="6059102" cy="3542084"/>
          </a:xfrm>
        </p:spPr>
        <p:txBody>
          <a:bodyPr>
            <a:noAutofit/>
          </a:bodyPr>
          <a:lstStyle/>
          <a:p>
            <a:pPr marL="0" lvl="1" algn="just" eaLnBrk="0" hangingPunct="0">
              <a:lnSpc>
                <a:spcPct val="90000"/>
              </a:lnSpc>
              <a:buClr>
                <a:srgbClr val="EC6707"/>
              </a:buClr>
              <a:buSzPct val="95000"/>
              <a:defRPr/>
            </a:pPr>
            <a:r>
              <a:rPr lang="en-US" b="1" noProof="1">
                <a:solidFill>
                  <a:srgbClr val="404040"/>
                </a:solidFill>
              </a:rPr>
              <a:t>Síntomas habituales de la anemia </a:t>
            </a:r>
            <a:r>
              <a:rPr lang="en-US" noProof="1">
                <a:solidFill>
                  <a:srgbClr val="404040"/>
                </a:solidFill>
              </a:rPr>
              <a:t>(fatiga, pérdida de cabello, debilidad);</a:t>
            </a:r>
          </a:p>
          <a:p>
            <a:pPr marL="0" lvl="1" algn="just" eaLnBrk="0" hangingPunct="0">
              <a:lnSpc>
                <a:spcPct val="90000"/>
              </a:lnSpc>
              <a:buClr>
                <a:srgbClr val="EC6707"/>
              </a:buClr>
              <a:buSzPct val="95000"/>
              <a:defRPr/>
            </a:pPr>
            <a:endParaRPr lang="es-ES" dirty="0">
              <a:solidFill>
                <a:srgbClr val="404040"/>
              </a:solidFill>
            </a:endParaRPr>
          </a:p>
          <a:p>
            <a:pPr marL="0" lvl="1" algn="just" eaLnBrk="0" hangingPunct="0">
              <a:lnSpc>
                <a:spcPct val="90000"/>
              </a:lnSpc>
              <a:buClr>
                <a:srgbClr val="EC6707"/>
              </a:buClr>
              <a:buSzPct val="95000"/>
              <a:defRPr/>
            </a:pPr>
            <a:r>
              <a:rPr lang="en-US" b="1" noProof="1">
                <a:solidFill>
                  <a:srgbClr val="404040"/>
                </a:solidFill>
              </a:rPr>
              <a:t>Llagas/sensibilidad en la lengua </a:t>
            </a:r>
            <a:r>
              <a:rPr lang="en-US" noProof="1">
                <a:solidFill>
                  <a:srgbClr val="404040"/>
                </a:solidFill>
              </a:rPr>
              <a:t>(glositis);</a:t>
            </a:r>
          </a:p>
          <a:p>
            <a:pPr marL="0" lvl="1" algn="just" eaLnBrk="0" hangingPunct="0">
              <a:lnSpc>
                <a:spcPct val="90000"/>
              </a:lnSpc>
              <a:buClr>
                <a:srgbClr val="EC6707"/>
              </a:buClr>
              <a:buSzPct val="95000"/>
              <a:defRPr/>
            </a:pPr>
            <a:endParaRPr lang="es-ES" dirty="0">
              <a:solidFill>
                <a:srgbClr val="404040"/>
              </a:solidFill>
            </a:endParaRPr>
          </a:p>
          <a:p>
            <a:pPr marL="0" lvl="1" algn="just" eaLnBrk="0" hangingPunct="0">
              <a:lnSpc>
                <a:spcPct val="90000"/>
              </a:lnSpc>
              <a:buClr>
                <a:srgbClr val="EC6707"/>
              </a:buClr>
              <a:buSzPct val="95000"/>
              <a:defRPr/>
            </a:pPr>
            <a:r>
              <a:rPr lang="en-US" b="1" dirty="0">
                <a:solidFill>
                  <a:srgbClr val="404040"/>
                </a:solidFill>
              </a:rPr>
              <a:t>Estomatitis angular;</a:t>
            </a:r>
            <a:endParaRPr lang="es-ES" b="1" dirty="0">
              <a:solidFill>
                <a:srgbClr val="404040"/>
              </a:solidFill>
            </a:endParaRPr>
          </a:p>
          <a:p>
            <a:pPr marL="0" lvl="1" algn="just" eaLnBrk="0" hangingPunct="0">
              <a:lnSpc>
                <a:spcPct val="90000"/>
              </a:lnSpc>
              <a:buClr>
                <a:srgbClr val="EC6707"/>
              </a:buClr>
              <a:buSzPct val="95000"/>
              <a:defRPr/>
            </a:pPr>
            <a:endParaRPr lang="es-ES" dirty="0">
              <a:solidFill>
                <a:srgbClr val="404040"/>
              </a:solidFill>
            </a:endParaRPr>
          </a:p>
          <a:p>
            <a:pPr marL="0" lvl="1" algn="just" eaLnBrk="0" hangingPunct="0">
              <a:lnSpc>
                <a:spcPct val="90000"/>
              </a:lnSpc>
              <a:buClr>
                <a:srgbClr val="EC6707"/>
              </a:buClr>
              <a:buSzPct val="95000"/>
              <a:defRPr/>
            </a:pPr>
            <a:r>
              <a:rPr lang="en-US" b="1" dirty="0">
                <a:solidFill>
                  <a:srgbClr val="404040"/>
                </a:solidFill>
              </a:rPr>
              <a:t>Síntomas gastrointestinales</a:t>
            </a:r>
            <a:r>
              <a:rPr lang="en-US" dirty="0">
                <a:solidFill>
                  <a:srgbClr val="404040"/>
                </a:solidFill>
              </a:rPr>
              <a:t>: nauseas, vómitos, dolor abdominal y diarrea, anorexia, pérdida de peso…;</a:t>
            </a:r>
          </a:p>
          <a:p>
            <a:pPr marL="0" lvl="1" algn="just" eaLnBrk="0" hangingPunct="0">
              <a:lnSpc>
                <a:spcPct val="90000"/>
              </a:lnSpc>
              <a:buClr>
                <a:srgbClr val="EC6707"/>
              </a:buClr>
              <a:buSzPct val="95000"/>
              <a:defRPr/>
            </a:pPr>
            <a:endParaRPr lang="es-ES" dirty="0">
              <a:solidFill>
                <a:srgbClr val="404040"/>
              </a:solidFill>
            </a:endParaRPr>
          </a:p>
          <a:p>
            <a:pPr marL="0" lvl="1" algn="just" eaLnBrk="0" hangingPunct="0">
              <a:lnSpc>
                <a:spcPct val="90000"/>
              </a:lnSpc>
              <a:buClr>
                <a:srgbClr val="EC6707"/>
              </a:buClr>
              <a:buSzPct val="95000"/>
              <a:defRPr/>
            </a:pPr>
            <a:r>
              <a:rPr lang="es-CR" b="1" dirty="0">
                <a:solidFill>
                  <a:srgbClr val="404040"/>
                </a:solidFill>
              </a:rPr>
              <a:t>Signos dérmicos</a:t>
            </a:r>
            <a:r>
              <a:rPr lang="es-CR" dirty="0">
                <a:solidFill>
                  <a:srgbClr val="404040"/>
                </a:solidFill>
              </a:rPr>
              <a:t>: oscurecimiento de la piel y las membranas mucosas de los dedos, pliegues de las palmas.</a:t>
            </a:r>
          </a:p>
        </p:txBody>
      </p:sp>
    </p:spTree>
    <p:extLst>
      <p:ext uri="{BB962C8B-B14F-4D97-AF65-F5344CB8AC3E}">
        <p14:creationId xmlns:p14="http://schemas.microsoft.com/office/powerpoint/2010/main" val="40909894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02J85697.jpg"/>
          <p:cNvPicPr>
            <a:picLocks noChangeAspect="1"/>
          </p:cNvPicPr>
          <p:nvPr/>
        </p:nvPicPr>
        <p:blipFill rotWithShape="1">
          <a:blip r:embed="rId3" cstate="print">
            <a:extLst>
              <a:ext uri="{28A0092B-C50C-407E-A947-70E740481C1C}">
                <a14:useLocalDpi xmlns:a14="http://schemas.microsoft.com/office/drawing/2010/main" val="0"/>
              </a:ext>
            </a:extLst>
          </a:blip>
          <a:srcRect r="7674"/>
          <a:stretch/>
        </p:blipFill>
        <p:spPr>
          <a:xfrm>
            <a:off x="1619672" y="1375070"/>
            <a:ext cx="7524328" cy="5510314"/>
          </a:xfrm>
          <a:prstGeom prst="rect">
            <a:avLst/>
          </a:prstGeom>
        </p:spPr>
      </p:pic>
      <p:sp>
        <p:nvSpPr>
          <p:cNvPr id="5" name="Title 2"/>
          <p:cNvSpPr txBox="1">
            <a:spLocks/>
          </p:cNvSpPr>
          <p:nvPr/>
        </p:nvSpPr>
        <p:spPr>
          <a:xfrm>
            <a:off x="0" y="764704"/>
            <a:ext cx="8892480" cy="3816424"/>
          </a:xfrm>
          <a:prstGeom prst="rect">
            <a:avLst/>
          </a:prstGeom>
        </p:spPr>
        <p:txBody>
          <a:bodyPr/>
          <a:lstStyle>
            <a:lvl1pPr algn="l" rtl="0" eaLnBrk="1" latinLnBrk="0" hangingPunct="1">
              <a:spcBef>
                <a:spcPct val="0"/>
              </a:spcBef>
              <a:buNone/>
              <a:defRPr kumimoji="0" sz="3600" b="0" kern="1200">
                <a:ln>
                  <a:noFill/>
                </a:ln>
                <a:solidFill>
                  <a:srgbClr val="B11B7E"/>
                </a:solidFill>
                <a:effectLst/>
                <a:latin typeface="+mj-lt"/>
                <a:ea typeface="+mj-ea"/>
                <a:cs typeface="+mj-cs"/>
              </a:defRPr>
            </a:lvl1pPr>
          </a:lstStyle>
          <a:p>
            <a:r>
              <a:rPr lang="en-US" sz="4700" b="1" spc="-150" dirty="0">
                <a:solidFill>
                  <a:srgbClr val="2D5FAA"/>
                </a:solidFill>
              </a:rPr>
              <a:t>¿</a:t>
            </a:r>
            <a:r>
              <a:rPr lang="es-CL" sz="4700" b="1" spc="-150" dirty="0">
                <a:solidFill>
                  <a:srgbClr val="2D5FAA"/>
                </a:solidFill>
              </a:rPr>
              <a:t>CUÁLES SON LAS PRINCIPALES </a:t>
            </a:r>
          </a:p>
          <a:p>
            <a:r>
              <a:rPr lang="es-CL" sz="4700" b="1" spc="-150" dirty="0">
                <a:solidFill>
                  <a:srgbClr val="2D5FAA"/>
                </a:solidFill>
              </a:rPr>
              <a:t>COMPLICACIONES DE LA </a:t>
            </a:r>
          </a:p>
          <a:p>
            <a:r>
              <a:rPr lang="es-CL" sz="4700" b="1" spc="-150" dirty="0">
                <a:solidFill>
                  <a:srgbClr val="2D5FAA"/>
                </a:solidFill>
              </a:rPr>
              <a:t>DEFICIENCIA</a:t>
            </a:r>
          </a:p>
          <a:p>
            <a:r>
              <a:rPr lang="es-CL" sz="4700" b="1" spc="-150" dirty="0">
                <a:solidFill>
                  <a:srgbClr val="2D5FAA"/>
                </a:solidFill>
              </a:rPr>
              <a:t>DE ÁCIDO </a:t>
            </a:r>
            <a:br>
              <a:rPr lang="es-CL" sz="4700" b="1" spc="-150" dirty="0">
                <a:solidFill>
                  <a:srgbClr val="2D5FAA"/>
                </a:solidFill>
              </a:rPr>
            </a:br>
            <a:r>
              <a:rPr lang="es-CL" sz="4700" b="1" spc="-150" dirty="0">
                <a:solidFill>
                  <a:srgbClr val="2D5FAA"/>
                </a:solidFill>
              </a:rPr>
              <a:t>FÓLICO?</a:t>
            </a:r>
          </a:p>
        </p:txBody>
      </p:sp>
      <p:sp>
        <p:nvSpPr>
          <p:cNvPr id="2" name="Rectangle 1"/>
          <p:cNvSpPr/>
          <p:nvPr/>
        </p:nvSpPr>
        <p:spPr>
          <a:xfrm>
            <a:off x="35496" y="159023"/>
            <a:ext cx="7128792" cy="461665"/>
          </a:xfrm>
          <a:prstGeom prst="rect">
            <a:avLst/>
          </a:prstGeom>
        </p:spPr>
        <p:txBody>
          <a:bodyPr wrap="square">
            <a:spAutoFit/>
          </a:bodyPr>
          <a:lstStyle/>
          <a:p>
            <a:r>
              <a:rPr lang="en-US" sz="2400" b="1" dirty="0">
                <a:solidFill>
                  <a:srgbClr val="EC6707"/>
                </a:solidFill>
                <a:latin typeface="+mj-lt"/>
              </a:rPr>
              <a:t>INGESTA DE ÁCIDO FÓLICO DURANTE EL EMBARAZO</a:t>
            </a:r>
          </a:p>
        </p:txBody>
      </p:sp>
      <p:pic>
        <p:nvPicPr>
          <p:cNvPr id="7" name="Picture 6"/>
          <p:cNvPicPr>
            <a:picLocks noChangeAspect="1"/>
          </p:cNvPicPr>
          <p:nvPr/>
        </p:nvPicPr>
        <p:blipFill rotWithShape="1">
          <a:blip r:embed="rId4" cstate="print">
            <a:extLst>
              <a:ext uri="{28A0092B-C50C-407E-A947-70E740481C1C}">
                <a14:useLocalDpi xmlns:a14="http://schemas.microsoft.com/office/drawing/2010/main" val="0"/>
              </a:ext>
            </a:extLst>
          </a:blip>
          <a:srcRect l="21823" t="11793" r="24262" b="8381"/>
          <a:stretch/>
        </p:blipFill>
        <p:spPr>
          <a:xfrm>
            <a:off x="755576" y="4797152"/>
            <a:ext cx="946448" cy="1983033"/>
          </a:xfrm>
          <a:prstGeom prst="rect">
            <a:avLst/>
          </a:prstGeom>
        </p:spPr>
      </p:pic>
      <p:pic>
        <p:nvPicPr>
          <p:cNvPr id="8" name="Picture 7"/>
          <p:cNvPicPr>
            <a:picLocks noChangeAspect="1"/>
          </p:cNvPicPr>
          <p:nvPr/>
        </p:nvPicPr>
        <p:blipFill rotWithShape="1">
          <a:blip r:embed="rId5">
            <a:extLst>
              <a:ext uri="{28A0092B-C50C-407E-A947-70E740481C1C}">
                <a14:useLocalDpi xmlns:a14="http://schemas.microsoft.com/office/drawing/2010/main" val="0"/>
              </a:ext>
            </a:extLst>
          </a:blip>
          <a:srcRect t="24150" b="28600"/>
          <a:stretch/>
        </p:blipFill>
        <p:spPr>
          <a:xfrm>
            <a:off x="-818366" y="5517231"/>
            <a:ext cx="3284495" cy="2196138"/>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750" fill="hold"/>
                                        <p:tgtEl>
                                          <p:spTgt spid="8"/>
                                        </p:tgtEl>
                                        <p:attrNameLst>
                                          <p:attrName>ppt_x</p:attrName>
                                        </p:attrNameLst>
                                      </p:cBhvr>
                                      <p:tavLst>
                                        <p:tav tm="0">
                                          <p:val>
                                            <p:strVal val="#ppt_x"/>
                                          </p:val>
                                        </p:tav>
                                        <p:tav tm="100000">
                                          <p:val>
                                            <p:strVal val="#ppt_x"/>
                                          </p:val>
                                        </p:tav>
                                      </p:tavLst>
                                    </p:anim>
                                    <p:anim calcmode="lin" valueType="num">
                                      <p:cBhvr additive="base">
                                        <p:cTn id="8" dur="750" fill="hold"/>
                                        <p:tgtEl>
                                          <p:spTgt spid="8"/>
                                        </p:tgtEl>
                                        <p:attrNameLst>
                                          <p:attrName>ppt_y</p:attrName>
                                        </p:attrNameLst>
                                      </p:cBhvr>
                                      <p:tavLst>
                                        <p:tav tm="0">
                                          <p:val>
                                            <p:strVal val="1+#ppt_h/2"/>
                                          </p:val>
                                        </p:tav>
                                        <p:tav tm="100000">
                                          <p:val>
                                            <p:strVal val="#ppt_y"/>
                                          </p:val>
                                        </p:tav>
                                      </p:tavLst>
                                    </p:anim>
                                  </p:childTnLst>
                                </p:cTn>
                              </p:par>
                            </p:childTnLst>
                          </p:cTn>
                        </p:par>
                        <p:par>
                          <p:cTn id="9" fill="hold">
                            <p:stCondLst>
                              <p:cond delay="750"/>
                            </p:stCondLst>
                            <p:childTnLst>
                              <p:par>
                                <p:cTn id="10" presetID="2" presetClass="entr" presetSubtype="4"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750" fill="hold"/>
                                        <p:tgtEl>
                                          <p:spTgt spid="7"/>
                                        </p:tgtEl>
                                        <p:attrNameLst>
                                          <p:attrName>ppt_x</p:attrName>
                                        </p:attrNameLst>
                                      </p:cBhvr>
                                      <p:tavLst>
                                        <p:tav tm="0">
                                          <p:val>
                                            <p:strVal val="#ppt_x"/>
                                          </p:val>
                                        </p:tav>
                                        <p:tav tm="100000">
                                          <p:val>
                                            <p:strVal val="#ppt_x"/>
                                          </p:val>
                                        </p:tav>
                                      </p:tavLst>
                                    </p:anim>
                                    <p:anim calcmode="lin" valueType="num">
                                      <p:cBhvr additive="base">
                                        <p:cTn id="13" dur="750" fill="hold"/>
                                        <p:tgtEl>
                                          <p:spTgt spid="7"/>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2" presetClass="entr" presetSubtype="2"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1000" fill="hold"/>
                                        <p:tgtEl>
                                          <p:spTgt spid="6"/>
                                        </p:tgtEl>
                                        <p:attrNameLst>
                                          <p:attrName>ppt_x</p:attrName>
                                        </p:attrNameLst>
                                      </p:cBhvr>
                                      <p:tavLst>
                                        <p:tav tm="0">
                                          <p:val>
                                            <p:strVal val="1+#ppt_w/2"/>
                                          </p:val>
                                        </p:tav>
                                        <p:tav tm="100000">
                                          <p:val>
                                            <p:strVal val="#ppt_x"/>
                                          </p:val>
                                        </p:tav>
                                      </p:tavLst>
                                    </p:anim>
                                    <p:anim calcmode="lin" valueType="num">
                                      <p:cBhvr additive="base">
                                        <p:cTn id="18"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755576" y="2060848"/>
            <a:ext cx="8280920" cy="3816424"/>
          </a:xfrm>
          <a:prstGeom prst="rect">
            <a:avLst/>
          </a:prstGeom>
        </p:spPr>
        <p:txBody>
          <a:bodyPr/>
          <a:lstStyle/>
          <a:p>
            <a:pPr marL="457200" indent="-457200">
              <a:lnSpc>
                <a:spcPct val="200000"/>
              </a:lnSpc>
              <a:buClr>
                <a:srgbClr val="EC6707"/>
              </a:buClr>
              <a:buFont typeface="+mj-lt"/>
              <a:buAutoNum type="arabicPeriod"/>
              <a:defRPr/>
            </a:pPr>
            <a:r>
              <a:rPr lang="en-US" sz="2300" dirty="0">
                <a:solidFill>
                  <a:srgbClr val="404040"/>
                </a:solidFill>
                <a:latin typeface="Arial" panose="020B0604020202020204" pitchFamily="34" charset="0"/>
                <a:cs typeface="Arial" panose="020B0604020202020204" pitchFamily="34" charset="0"/>
              </a:rPr>
              <a:t>Aborto espontaneo</a:t>
            </a:r>
            <a:r>
              <a:rPr lang="en-US" sz="2300" baseline="30000" dirty="0">
                <a:solidFill>
                  <a:srgbClr val="404040"/>
                </a:solidFill>
                <a:latin typeface="Arial" panose="020B0604020202020204" pitchFamily="34" charset="0"/>
                <a:cs typeface="Arial" panose="020B0604020202020204" pitchFamily="34" charset="0"/>
              </a:rPr>
              <a:t>1</a:t>
            </a:r>
            <a:r>
              <a:rPr lang="en-US" sz="2300" dirty="0">
                <a:solidFill>
                  <a:srgbClr val="404040"/>
                </a:solidFill>
                <a:latin typeface="Arial" panose="020B0604020202020204" pitchFamily="34" charset="0"/>
                <a:cs typeface="Arial" panose="020B0604020202020204" pitchFamily="34" charset="0"/>
              </a:rPr>
              <a:t>;</a:t>
            </a:r>
          </a:p>
          <a:p>
            <a:pPr marL="457200" indent="-457200">
              <a:lnSpc>
                <a:spcPct val="200000"/>
              </a:lnSpc>
              <a:buClr>
                <a:srgbClr val="EC6707"/>
              </a:buClr>
              <a:buFont typeface="+mj-lt"/>
              <a:buAutoNum type="arabicPeriod"/>
              <a:defRPr/>
            </a:pPr>
            <a:r>
              <a:rPr lang="en-US" sz="2300" dirty="0">
                <a:solidFill>
                  <a:srgbClr val="404040"/>
                </a:solidFill>
                <a:latin typeface="Arial" panose="020B0604020202020204" pitchFamily="34" charset="0"/>
                <a:cs typeface="Arial" panose="020B0604020202020204" pitchFamily="34" charset="0"/>
              </a:rPr>
              <a:t>Desprendimiento de la placenta</a:t>
            </a:r>
            <a:r>
              <a:rPr lang="en-US" sz="2300" baseline="30000" dirty="0">
                <a:solidFill>
                  <a:srgbClr val="404040"/>
                </a:solidFill>
                <a:latin typeface="Arial" panose="020B0604020202020204" pitchFamily="34" charset="0"/>
                <a:cs typeface="Arial" panose="020B0604020202020204" pitchFamily="34" charset="0"/>
              </a:rPr>
              <a:t>1</a:t>
            </a:r>
            <a:r>
              <a:rPr lang="en-US" sz="2300" dirty="0">
                <a:solidFill>
                  <a:srgbClr val="404040"/>
                </a:solidFill>
                <a:latin typeface="Arial" panose="020B0604020202020204" pitchFamily="34" charset="0"/>
                <a:cs typeface="Arial" panose="020B0604020202020204" pitchFamily="34" charset="0"/>
              </a:rPr>
              <a:t>;</a:t>
            </a:r>
          </a:p>
          <a:p>
            <a:pPr marL="457200" indent="-457200">
              <a:lnSpc>
                <a:spcPct val="200000"/>
              </a:lnSpc>
              <a:buClr>
                <a:srgbClr val="EC6707"/>
              </a:buClr>
              <a:buFont typeface="+mj-lt"/>
              <a:buAutoNum type="arabicPeriod"/>
              <a:defRPr/>
            </a:pPr>
            <a:r>
              <a:rPr lang="en-US" sz="2300" dirty="0">
                <a:solidFill>
                  <a:srgbClr val="404040"/>
                </a:solidFill>
                <a:latin typeface="Arial" panose="020B0604020202020204" pitchFamily="34" charset="0"/>
                <a:cs typeface="Arial" panose="020B0604020202020204" pitchFamily="34" charset="0"/>
              </a:rPr>
              <a:t>Malformaciones congénitas: defectos del </a:t>
            </a:r>
            <a:r>
              <a:rPr lang="en-US" sz="2300" dirty="0" err="1">
                <a:solidFill>
                  <a:srgbClr val="404040"/>
                </a:solidFill>
                <a:latin typeface="Arial" panose="020B0604020202020204" pitchFamily="34" charset="0"/>
                <a:cs typeface="Arial" panose="020B0604020202020204" pitchFamily="34" charset="0"/>
              </a:rPr>
              <a:t>tubo</a:t>
            </a:r>
            <a:r>
              <a:rPr lang="en-US" sz="2300" dirty="0">
                <a:solidFill>
                  <a:srgbClr val="404040"/>
                </a:solidFill>
                <a:latin typeface="Arial" panose="020B0604020202020204" pitchFamily="34" charset="0"/>
                <a:cs typeface="Arial" panose="020B0604020202020204" pitchFamily="34" charset="0"/>
              </a:rPr>
              <a:t> neural</a:t>
            </a:r>
            <a:r>
              <a:rPr lang="en-US" sz="2300" baseline="30000" dirty="0">
                <a:solidFill>
                  <a:srgbClr val="404040"/>
                </a:solidFill>
                <a:latin typeface="Arial" panose="020B0604020202020204" pitchFamily="34" charset="0"/>
                <a:cs typeface="Arial" panose="020B0604020202020204" pitchFamily="34" charset="0"/>
              </a:rPr>
              <a:t>1,2</a:t>
            </a:r>
            <a:r>
              <a:rPr lang="en-US" sz="2300" dirty="0">
                <a:solidFill>
                  <a:srgbClr val="404040"/>
                </a:solidFill>
                <a:latin typeface="Arial" panose="020B0604020202020204" pitchFamily="34" charset="0"/>
                <a:cs typeface="Arial" panose="020B0604020202020204" pitchFamily="34" charset="0"/>
              </a:rPr>
              <a:t>;</a:t>
            </a:r>
            <a:endParaRPr lang="es-ES" sz="2300" dirty="0">
              <a:solidFill>
                <a:srgbClr val="404040"/>
              </a:solidFill>
              <a:latin typeface="Arial" panose="020B0604020202020204" pitchFamily="34" charset="0"/>
              <a:cs typeface="Arial" panose="020B0604020202020204" pitchFamily="34" charset="0"/>
            </a:endParaRPr>
          </a:p>
          <a:p>
            <a:pPr marL="457200" indent="-457200">
              <a:lnSpc>
                <a:spcPct val="200000"/>
              </a:lnSpc>
              <a:buClr>
                <a:srgbClr val="EC6707"/>
              </a:buClr>
              <a:buFont typeface="+mj-lt"/>
              <a:buAutoNum type="arabicPeriod"/>
              <a:defRPr/>
            </a:pPr>
            <a:r>
              <a:rPr lang="en-US" sz="2300" dirty="0">
                <a:solidFill>
                  <a:srgbClr val="404040"/>
                </a:solidFill>
                <a:latin typeface="Arial" panose="020B0604020202020204" pitchFamily="34" charset="0"/>
                <a:cs typeface="Arial" panose="020B0604020202020204" pitchFamily="34" charset="0"/>
              </a:rPr>
              <a:t>Peso bajo al nacer;</a:t>
            </a:r>
            <a:endParaRPr lang="es-ES" sz="2300" dirty="0">
              <a:solidFill>
                <a:srgbClr val="404040"/>
              </a:solidFill>
              <a:latin typeface="Arial" panose="020B0604020202020204" pitchFamily="34" charset="0"/>
              <a:cs typeface="Arial" panose="020B0604020202020204" pitchFamily="34" charset="0"/>
            </a:endParaRPr>
          </a:p>
          <a:p>
            <a:pPr marL="457200" indent="-457200">
              <a:lnSpc>
                <a:spcPct val="200000"/>
              </a:lnSpc>
              <a:buClr>
                <a:srgbClr val="EC6707"/>
              </a:buClr>
              <a:buFont typeface="+mj-lt"/>
              <a:buAutoNum type="arabicPeriod"/>
              <a:defRPr/>
            </a:pPr>
            <a:r>
              <a:rPr lang="en-US" sz="2300" dirty="0">
                <a:solidFill>
                  <a:srgbClr val="404040"/>
                </a:solidFill>
                <a:latin typeface="Arial" panose="020B0604020202020204" pitchFamily="34" charset="0"/>
                <a:cs typeface="Arial" panose="020B0604020202020204" pitchFamily="34" charset="0"/>
              </a:rPr>
              <a:t>Parto prematuro</a:t>
            </a:r>
            <a:r>
              <a:rPr lang="en-US" sz="2300" baseline="30000" dirty="0">
                <a:solidFill>
                  <a:srgbClr val="404040"/>
                </a:solidFill>
                <a:latin typeface="Arial" panose="020B0604020202020204" pitchFamily="34" charset="0"/>
                <a:cs typeface="Arial" panose="020B0604020202020204" pitchFamily="34" charset="0"/>
              </a:rPr>
              <a:t>3</a:t>
            </a:r>
            <a:r>
              <a:rPr lang="en-US" sz="2300" dirty="0">
                <a:solidFill>
                  <a:srgbClr val="404040"/>
                </a:solidFill>
                <a:latin typeface="Arial" panose="020B0604020202020204" pitchFamily="34" charset="0"/>
                <a:cs typeface="Arial" panose="020B0604020202020204" pitchFamily="34" charset="0"/>
              </a:rPr>
              <a:t>.</a:t>
            </a:r>
            <a:endParaRPr lang="es-ES" sz="2300" baseline="30000" dirty="0">
              <a:solidFill>
                <a:srgbClr val="404040"/>
              </a:solidFill>
              <a:latin typeface="Arial" panose="020B0604020202020204" pitchFamily="34" charset="0"/>
              <a:cs typeface="Arial" panose="020B0604020202020204" pitchFamily="34" charset="0"/>
            </a:endParaRPr>
          </a:p>
        </p:txBody>
      </p:sp>
      <p:sp>
        <p:nvSpPr>
          <p:cNvPr id="21507" name="TextBox 2"/>
          <p:cNvSpPr txBox="1">
            <a:spLocks noChangeArrowheads="1"/>
          </p:cNvSpPr>
          <p:nvPr/>
        </p:nvSpPr>
        <p:spPr bwMode="auto">
          <a:xfrm>
            <a:off x="757632" y="6165304"/>
            <a:ext cx="4894488" cy="461665"/>
          </a:xfrm>
          <a:prstGeom prst="rect">
            <a:avLst/>
          </a:prstGeom>
          <a:noFill/>
          <a:ln w="9525">
            <a:noFill/>
            <a:miter lim="800000"/>
            <a:headEnd/>
            <a:tailEnd/>
          </a:ln>
        </p:spPr>
        <p:txBody>
          <a:bodyPr wrap="square">
            <a:spAutoFit/>
          </a:bodyPr>
          <a:lstStyle/>
          <a:p>
            <a:pPr marL="228600" indent="-228600">
              <a:buFontTx/>
              <a:buAutoNum type="arabicParenR"/>
            </a:pPr>
            <a:r>
              <a:rPr lang="pt-PT" sz="800" dirty="0" err="1">
                <a:solidFill>
                  <a:schemeClr val="bg1">
                    <a:lumMod val="50000"/>
                  </a:schemeClr>
                </a:solidFill>
                <a:latin typeface="Arial"/>
                <a:cs typeface="Arial"/>
              </a:rPr>
              <a:t>Coffey</a:t>
            </a:r>
            <a:r>
              <a:rPr lang="pt-PT" sz="800" dirty="0">
                <a:solidFill>
                  <a:schemeClr val="bg1">
                    <a:lumMod val="50000"/>
                  </a:schemeClr>
                </a:solidFill>
                <a:latin typeface="Arial"/>
                <a:cs typeface="Arial"/>
              </a:rPr>
              <a:t>-Vega K; Besa E. </a:t>
            </a:r>
            <a:r>
              <a:rPr lang="pt-PT" sz="800" dirty="0" err="1">
                <a:solidFill>
                  <a:schemeClr val="bg1">
                    <a:lumMod val="50000"/>
                  </a:schemeClr>
                </a:solidFill>
                <a:latin typeface="Arial"/>
                <a:cs typeface="Arial"/>
              </a:rPr>
              <a:t>Folic</a:t>
            </a:r>
            <a:r>
              <a:rPr lang="pt-PT" sz="800" dirty="0">
                <a:solidFill>
                  <a:schemeClr val="bg1">
                    <a:lumMod val="50000"/>
                  </a:schemeClr>
                </a:solidFill>
                <a:latin typeface="Arial"/>
                <a:cs typeface="Arial"/>
              </a:rPr>
              <a:t> </a:t>
            </a:r>
            <a:r>
              <a:rPr lang="pt-PT" sz="800" dirty="0" err="1">
                <a:solidFill>
                  <a:schemeClr val="bg1">
                    <a:lumMod val="50000"/>
                  </a:schemeClr>
                </a:solidFill>
                <a:latin typeface="Arial"/>
                <a:cs typeface="Arial"/>
              </a:rPr>
              <a:t>Acid</a:t>
            </a:r>
            <a:r>
              <a:rPr lang="pt-PT" sz="800" dirty="0">
                <a:solidFill>
                  <a:schemeClr val="bg1">
                    <a:lumMod val="50000"/>
                  </a:schemeClr>
                </a:solidFill>
                <a:latin typeface="Arial"/>
                <a:cs typeface="Arial"/>
              </a:rPr>
              <a:t> </a:t>
            </a:r>
            <a:r>
              <a:rPr lang="pt-PT" sz="800" dirty="0" err="1">
                <a:solidFill>
                  <a:schemeClr val="bg1">
                    <a:lumMod val="50000"/>
                  </a:schemeClr>
                </a:solidFill>
                <a:latin typeface="Arial"/>
                <a:cs typeface="Arial"/>
              </a:rPr>
              <a:t>Deficiency</a:t>
            </a:r>
            <a:r>
              <a:rPr lang="pt-PT" sz="800" dirty="0">
                <a:solidFill>
                  <a:schemeClr val="bg1">
                    <a:lumMod val="50000"/>
                  </a:schemeClr>
                </a:solidFill>
                <a:latin typeface="Arial"/>
                <a:cs typeface="Arial"/>
              </a:rPr>
              <a:t>. </a:t>
            </a:r>
            <a:r>
              <a:rPr lang="pt-PT" sz="800" dirty="0" err="1">
                <a:solidFill>
                  <a:schemeClr val="bg1">
                    <a:lumMod val="50000"/>
                  </a:schemeClr>
                </a:solidFill>
                <a:latin typeface="Arial"/>
                <a:cs typeface="Arial"/>
              </a:rPr>
              <a:t>Medscape</a:t>
            </a:r>
            <a:r>
              <a:rPr lang="pt-PT" sz="800" dirty="0">
                <a:solidFill>
                  <a:schemeClr val="bg1">
                    <a:lumMod val="50000"/>
                  </a:schemeClr>
                </a:solidFill>
                <a:latin typeface="Arial"/>
                <a:cs typeface="Arial"/>
              </a:rPr>
              <a:t>. </a:t>
            </a:r>
            <a:r>
              <a:rPr lang="pt-PT" sz="800" dirty="0" err="1">
                <a:solidFill>
                  <a:schemeClr val="bg1">
                    <a:lumMod val="50000"/>
                  </a:schemeClr>
                </a:solidFill>
                <a:latin typeface="Arial"/>
                <a:cs typeface="Arial"/>
              </a:rPr>
              <a:t>July</a:t>
            </a:r>
            <a:r>
              <a:rPr lang="pt-PT" sz="800" dirty="0">
                <a:solidFill>
                  <a:schemeClr val="bg1">
                    <a:lumMod val="50000"/>
                  </a:schemeClr>
                </a:solidFill>
                <a:latin typeface="Arial"/>
                <a:cs typeface="Arial"/>
              </a:rPr>
              <a:t> 2017 </a:t>
            </a:r>
          </a:p>
          <a:p>
            <a:pPr marL="228600" indent="-228600">
              <a:buFontTx/>
              <a:buAutoNum type="arabicParenR"/>
            </a:pPr>
            <a:r>
              <a:rPr lang="en-US" sz="800" i="1" dirty="0">
                <a:solidFill>
                  <a:schemeClr val="bg1">
                    <a:lumMod val="50000"/>
                  </a:schemeClr>
                </a:solidFill>
                <a:latin typeface="Arial"/>
              </a:rPr>
              <a:t>BMC Pregnancy and Childbirth 2009, </a:t>
            </a:r>
            <a:r>
              <a:rPr lang="en-US" sz="800" b="1" i="1" dirty="0">
                <a:solidFill>
                  <a:schemeClr val="bg1">
                    <a:lumMod val="50000"/>
                  </a:schemeClr>
                </a:solidFill>
                <a:latin typeface="Arial"/>
              </a:rPr>
              <a:t>9(Suppl 1):S3.</a:t>
            </a:r>
            <a:endParaRPr lang="es-ES" sz="800" b="1" i="1" dirty="0">
              <a:solidFill>
                <a:schemeClr val="bg1">
                  <a:lumMod val="50000"/>
                </a:schemeClr>
              </a:solidFill>
              <a:latin typeface="Arial"/>
              <a:cs typeface="Arial"/>
            </a:endParaRPr>
          </a:p>
          <a:p>
            <a:pPr marL="228600" indent="-228600">
              <a:buFontTx/>
              <a:buAutoNum type="arabicParenR"/>
            </a:pPr>
            <a:r>
              <a:rPr lang="en-US" sz="800" dirty="0">
                <a:solidFill>
                  <a:schemeClr val="bg1">
                    <a:lumMod val="50000"/>
                  </a:schemeClr>
                </a:solidFill>
                <a:latin typeface="Arial"/>
              </a:rPr>
              <a:t>Bukowski</a:t>
            </a:r>
            <a:r>
              <a:rPr lang="en-US" sz="800" i="1" dirty="0">
                <a:solidFill>
                  <a:schemeClr val="bg1">
                    <a:lumMod val="50000"/>
                  </a:schemeClr>
                </a:solidFill>
                <a:latin typeface="Arial"/>
              </a:rPr>
              <a:t>, et al. </a:t>
            </a:r>
            <a:r>
              <a:rPr lang="en-US" sz="800" dirty="0">
                <a:solidFill>
                  <a:schemeClr val="bg1">
                    <a:lumMod val="50000"/>
                  </a:schemeClr>
                </a:solidFill>
                <a:latin typeface="Arial"/>
              </a:rPr>
              <a:t>PLoS Med 2009;6(5):e1000061.</a:t>
            </a:r>
            <a:endParaRPr lang="es-ES" sz="800" dirty="0">
              <a:solidFill>
                <a:schemeClr val="bg1">
                  <a:lumMod val="50000"/>
                </a:schemeClr>
              </a:solidFill>
              <a:latin typeface="Arial"/>
              <a:cs typeface="Arial"/>
            </a:endParaRPr>
          </a:p>
        </p:txBody>
      </p:sp>
      <p:sp>
        <p:nvSpPr>
          <p:cNvPr id="4" name="Title 2"/>
          <p:cNvSpPr txBox="1">
            <a:spLocks/>
          </p:cNvSpPr>
          <p:nvPr/>
        </p:nvSpPr>
        <p:spPr>
          <a:xfrm>
            <a:off x="539552" y="908720"/>
            <a:ext cx="7560840" cy="1008112"/>
          </a:xfrm>
          <a:prstGeom prst="rect">
            <a:avLst/>
          </a:prstGeom>
        </p:spPr>
        <p:txBody>
          <a:bodyPr/>
          <a:lstStyle>
            <a:lvl1pPr algn="l" rtl="0" eaLnBrk="1" latinLnBrk="0" hangingPunct="1">
              <a:spcBef>
                <a:spcPct val="0"/>
              </a:spcBef>
              <a:buNone/>
              <a:defRPr kumimoji="0" sz="3600" b="0" kern="1200">
                <a:ln>
                  <a:noFill/>
                </a:ln>
                <a:solidFill>
                  <a:srgbClr val="B11B7E"/>
                </a:solidFill>
                <a:effectLst/>
                <a:latin typeface="+mj-lt"/>
                <a:ea typeface="+mj-ea"/>
                <a:cs typeface="+mj-cs"/>
              </a:defRPr>
            </a:lvl1pPr>
          </a:lstStyle>
          <a:p>
            <a:r>
              <a:rPr sz="3200" b="1" dirty="0">
                <a:solidFill>
                  <a:srgbClr val="EC6707"/>
                </a:solidFill>
                <a:latin typeface="Arial" panose="020B0604020202020204" pitchFamily="34" charset="0"/>
                <a:cs typeface="Arial" panose="020B0604020202020204" pitchFamily="34" charset="0"/>
              </a:rPr>
              <a:t>COMPLICACIONES DEL EMBARAZO POR DEFICIENCIA DE ÁCIDO FÓLICO</a:t>
            </a:r>
            <a:endParaRPr lang="es-ES" sz="3200" b="1" dirty="0">
              <a:solidFill>
                <a:srgbClr val="EC6707"/>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4784299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TextBox 2"/>
          <p:cNvSpPr txBox="1">
            <a:spLocks noChangeArrowheads="1"/>
          </p:cNvSpPr>
          <p:nvPr/>
        </p:nvSpPr>
        <p:spPr bwMode="auto">
          <a:xfrm>
            <a:off x="1259632" y="6309320"/>
            <a:ext cx="2880321" cy="338554"/>
          </a:xfrm>
          <a:prstGeom prst="rect">
            <a:avLst/>
          </a:prstGeom>
          <a:noFill/>
          <a:ln w="9525">
            <a:noFill/>
            <a:miter lim="800000"/>
            <a:headEnd/>
            <a:tailEnd/>
          </a:ln>
        </p:spPr>
        <p:txBody>
          <a:bodyPr wrap="square">
            <a:spAutoFit/>
          </a:bodyPr>
          <a:lstStyle/>
          <a:p>
            <a:pPr marL="228600" indent="-228600">
              <a:buFontTx/>
              <a:buAutoNum type="arabicParenR"/>
            </a:pPr>
            <a:r>
              <a:rPr lang="pt-PT" sz="800" dirty="0">
                <a:solidFill>
                  <a:schemeClr val="bg1">
                    <a:lumMod val="50000"/>
                  </a:schemeClr>
                </a:solidFill>
                <a:latin typeface="Arial" panose="020B0604020202020204" pitchFamily="34" charset="0"/>
                <a:cs typeface="Arial" panose="020B0604020202020204" pitchFamily="34" charset="0"/>
              </a:rPr>
              <a:t>Wilson RD</a:t>
            </a:r>
            <a:r>
              <a:rPr lang="pt-PT" sz="800" i="1" dirty="0">
                <a:solidFill>
                  <a:schemeClr val="bg1">
                    <a:lumMod val="50000"/>
                  </a:schemeClr>
                </a:solidFill>
                <a:latin typeface="Arial" panose="020B0604020202020204" pitchFamily="34" charset="0"/>
                <a:cs typeface="Arial" panose="020B0604020202020204" pitchFamily="34" charset="0"/>
              </a:rPr>
              <a:t>, et</a:t>
            </a:r>
            <a:r>
              <a:rPr sz="800" dirty="0">
                <a:solidFill>
                  <a:schemeClr val="bg1">
                    <a:lumMod val="50000"/>
                  </a:schemeClr>
                </a:solidFill>
                <a:latin typeface="Arial" panose="020B0604020202020204" pitchFamily="34" charset="0"/>
                <a:cs typeface="Arial" panose="020B0604020202020204" pitchFamily="34" charset="0"/>
              </a:rPr>
              <a:t> </a:t>
            </a:r>
            <a:r>
              <a:rPr lang="pt-PT" sz="800" i="1" dirty="0">
                <a:solidFill>
                  <a:schemeClr val="bg1">
                    <a:lumMod val="50000"/>
                  </a:schemeClr>
                </a:solidFill>
                <a:latin typeface="Arial" panose="020B0604020202020204" pitchFamily="34" charset="0"/>
                <a:cs typeface="Arial" panose="020B0604020202020204" pitchFamily="34" charset="0"/>
              </a:rPr>
              <a:t>al.</a:t>
            </a:r>
            <a:r>
              <a:rPr sz="800" dirty="0">
                <a:solidFill>
                  <a:schemeClr val="bg1">
                    <a:lumMod val="50000"/>
                  </a:schemeClr>
                </a:solidFill>
                <a:latin typeface="Arial" panose="020B0604020202020204" pitchFamily="34" charset="0"/>
                <a:cs typeface="Arial" panose="020B0604020202020204" pitchFamily="34" charset="0"/>
              </a:rPr>
              <a:t> </a:t>
            </a:r>
            <a:r>
              <a:rPr lang="pt-PT" sz="800" dirty="0">
                <a:solidFill>
                  <a:schemeClr val="bg1">
                    <a:lumMod val="50000"/>
                  </a:schemeClr>
                </a:solidFill>
                <a:latin typeface="Arial" panose="020B0604020202020204" pitchFamily="34" charset="0"/>
                <a:cs typeface="Arial" panose="020B0604020202020204" pitchFamily="34" charset="0"/>
              </a:rPr>
              <a:t>JOGC 2007;29(12):1003-10013.</a:t>
            </a:r>
            <a:endParaRPr lang="es-ES" sz="800" dirty="0">
              <a:solidFill>
                <a:schemeClr val="bg1">
                  <a:lumMod val="50000"/>
                </a:schemeClr>
              </a:solidFill>
              <a:latin typeface="Arial" panose="020B0604020202020204" pitchFamily="34" charset="0"/>
              <a:cs typeface="Arial" panose="020B0604020202020204" pitchFamily="34" charset="0"/>
            </a:endParaRPr>
          </a:p>
          <a:p>
            <a:pPr marL="228600" indent="-228600">
              <a:buFontTx/>
              <a:buAutoNum type="arabicParenR"/>
            </a:pPr>
            <a:r>
              <a:rPr lang="en-US" sz="800" dirty="0">
                <a:solidFill>
                  <a:schemeClr val="bg1">
                    <a:lumMod val="50000"/>
                  </a:schemeClr>
                </a:solidFill>
                <a:latin typeface="Arial" panose="020B0604020202020204" pitchFamily="34" charset="0"/>
                <a:cs typeface="Arial" panose="020B0604020202020204" pitchFamily="34" charset="0"/>
              </a:rPr>
              <a:t>NHANES III 2008.</a:t>
            </a:r>
            <a:endParaRPr lang="es-ES" sz="800" dirty="0">
              <a:solidFill>
                <a:schemeClr val="bg1">
                  <a:lumMod val="50000"/>
                </a:schemeClr>
              </a:solidFill>
              <a:latin typeface="Arial" panose="020B0604020202020204" pitchFamily="34" charset="0"/>
              <a:cs typeface="Arial" panose="020B0604020202020204" pitchFamily="34" charset="0"/>
            </a:endParaRPr>
          </a:p>
        </p:txBody>
      </p:sp>
      <p:sp>
        <p:nvSpPr>
          <p:cNvPr id="5" name="Title 2"/>
          <p:cNvSpPr txBox="1">
            <a:spLocks/>
          </p:cNvSpPr>
          <p:nvPr/>
        </p:nvSpPr>
        <p:spPr>
          <a:xfrm>
            <a:off x="575556" y="833764"/>
            <a:ext cx="7992888" cy="1155076"/>
          </a:xfrm>
          <a:prstGeom prst="rect">
            <a:avLst/>
          </a:prstGeom>
        </p:spPr>
        <p:txBody>
          <a:bodyPr/>
          <a:lstStyle>
            <a:lvl1pPr algn="l" rtl="0" eaLnBrk="1" latinLnBrk="0" hangingPunct="1">
              <a:spcBef>
                <a:spcPct val="0"/>
              </a:spcBef>
              <a:buNone/>
              <a:defRPr kumimoji="0" sz="3600" b="0" kern="1200">
                <a:ln>
                  <a:noFill/>
                </a:ln>
                <a:solidFill>
                  <a:srgbClr val="B11B7E"/>
                </a:solidFill>
                <a:effectLst/>
                <a:latin typeface="+mj-lt"/>
                <a:ea typeface="+mj-ea"/>
                <a:cs typeface="+mj-cs"/>
              </a:defRPr>
            </a:lvl1pPr>
          </a:lstStyle>
          <a:p>
            <a:pPr algn="ctr"/>
            <a:r>
              <a:rPr lang="pt-PT" b="1" dirty="0">
                <a:solidFill>
                  <a:srgbClr val="EC6707"/>
                </a:solidFill>
                <a:latin typeface="Arial" panose="020B0604020202020204" pitchFamily="34" charset="0"/>
                <a:cs typeface="Arial" panose="020B0604020202020204" pitchFamily="34" charset="0"/>
              </a:rPr>
              <a:t>MALFORMACIONES</a:t>
            </a:r>
            <a:r>
              <a:rPr b="1" dirty="0">
                <a:solidFill>
                  <a:srgbClr val="EC6707"/>
                </a:solidFill>
                <a:latin typeface="Arial" panose="020B0604020202020204" pitchFamily="34" charset="0"/>
                <a:cs typeface="Arial" panose="020B0604020202020204" pitchFamily="34" charset="0"/>
              </a:rPr>
              <a:t> DEL TUBO NEURAL (</a:t>
            </a:r>
            <a:r>
              <a:rPr lang="pt-PT" b="1" dirty="0">
                <a:solidFill>
                  <a:srgbClr val="EC6707"/>
                </a:solidFill>
                <a:latin typeface="Arial" panose="020B0604020202020204" pitchFamily="34" charset="0"/>
                <a:cs typeface="Arial" panose="020B0604020202020204" pitchFamily="34" charset="0"/>
              </a:rPr>
              <a:t>MTN</a:t>
            </a:r>
            <a:r>
              <a:rPr b="1" dirty="0">
                <a:solidFill>
                  <a:srgbClr val="EC6707"/>
                </a:solidFill>
                <a:latin typeface="Arial" panose="020B0604020202020204" pitchFamily="34" charset="0"/>
                <a:cs typeface="Arial" panose="020B0604020202020204" pitchFamily="34" charset="0"/>
              </a:rPr>
              <a:t>)</a:t>
            </a:r>
            <a:endParaRPr lang="es-ES" b="1" dirty="0">
              <a:solidFill>
                <a:srgbClr val="EC6707"/>
              </a:solidFill>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stretch>
            <a:fillRect/>
          </a:stretch>
        </p:blipFill>
        <p:spPr>
          <a:xfrm>
            <a:off x="894991" y="1916832"/>
            <a:ext cx="7354019" cy="4170568"/>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
          <p:cNvSpPr txBox="1">
            <a:spLocks noChangeArrowheads="1"/>
          </p:cNvSpPr>
          <p:nvPr/>
        </p:nvSpPr>
        <p:spPr bwMode="auto">
          <a:xfrm>
            <a:off x="611560" y="6478780"/>
            <a:ext cx="3759149" cy="338554"/>
          </a:xfrm>
          <a:prstGeom prst="rect">
            <a:avLst/>
          </a:prstGeom>
          <a:noFill/>
          <a:ln w="9525">
            <a:noFill/>
            <a:miter lim="800000"/>
            <a:headEnd/>
            <a:tailEnd/>
          </a:ln>
        </p:spPr>
        <p:txBody>
          <a:bodyPr>
            <a:spAutoFit/>
          </a:bodyPr>
          <a:lstStyle/>
          <a:p>
            <a:pPr marL="228600" indent="-228600">
              <a:buFontTx/>
              <a:buAutoNum type="arabicParenR"/>
            </a:pPr>
            <a:r>
              <a:rPr lang="pt-PT" sz="800" dirty="0">
                <a:solidFill>
                  <a:schemeClr val="bg1">
                    <a:lumMod val="50000"/>
                  </a:schemeClr>
                </a:solidFill>
                <a:latin typeface="Arial" panose="020B0604020202020204" pitchFamily="34" charset="0"/>
                <a:cs typeface="Arial" panose="020B0604020202020204" pitchFamily="34" charset="0"/>
              </a:rPr>
              <a:t>Wilson RD, </a:t>
            </a:r>
            <a:r>
              <a:rPr lang="pt-PT" sz="800" i="1" dirty="0">
                <a:solidFill>
                  <a:schemeClr val="bg1">
                    <a:lumMod val="50000"/>
                  </a:schemeClr>
                </a:solidFill>
                <a:latin typeface="Arial" panose="020B0604020202020204" pitchFamily="34" charset="0"/>
                <a:cs typeface="Arial" panose="020B0604020202020204" pitchFamily="34" charset="0"/>
              </a:rPr>
              <a:t>et</a:t>
            </a:r>
            <a:r>
              <a:rPr sz="800" dirty="0">
                <a:solidFill>
                  <a:schemeClr val="bg1">
                    <a:lumMod val="50000"/>
                  </a:schemeClr>
                </a:solidFill>
                <a:latin typeface="Arial" panose="020B0604020202020204" pitchFamily="34" charset="0"/>
                <a:cs typeface="Arial" panose="020B0604020202020204" pitchFamily="34" charset="0"/>
              </a:rPr>
              <a:t> </a:t>
            </a:r>
            <a:r>
              <a:rPr lang="pt-PT" sz="800" i="1" dirty="0">
                <a:solidFill>
                  <a:schemeClr val="bg1">
                    <a:lumMod val="50000"/>
                  </a:schemeClr>
                </a:solidFill>
                <a:latin typeface="Arial" panose="020B0604020202020204" pitchFamily="34" charset="0"/>
                <a:cs typeface="Arial" panose="020B0604020202020204" pitchFamily="34" charset="0"/>
              </a:rPr>
              <a:t>al.</a:t>
            </a:r>
            <a:r>
              <a:rPr sz="800" dirty="0">
                <a:solidFill>
                  <a:schemeClr val="bg1">
                    <a:lumMod val="50000"/>
                  </a:schemeClr>
                </a:solidFill>
                <a:latin typeface="Arial" panose="020B0604020202020204" pitchFamily="34" charset="0"/>
                <a:cs typeface="Arial" panose="020B0604020202020204" pitchFamily="34" charset="0"/>
              </a:rPr>
              <a:t> </a:t>
            </a:r>
            <a:r>
              <a:rPr lang="pt-PT" sz="800" dirty="0">
                <a:solidFill>
                  <a:schemeClr val="bg1">
                    <a:lumMod val="50000"/>
                  </a:schemeClr>
                </a:solidFill>
                <a:latin typeface="Arial" panose="020B0604020202020204" pitchFamily="34" charset="0"/>
                <a:cs typeface="Arial" panose="020B0604020202020204" pitchFamily="34" charset="0"/>
              </a:rPr>
              <a:t>JOGC 2007;29(12):1003-10013.</a:t>
            </a:r>
            <a:endParaRPr lang="es-ES" sz="800" dirty="0">
              <a:solidFill>
                <a:schemeClr val="bg1">
                  <a:lumMod val="50000"/>
                </a:schemeClr>
              </a:solidFill>
              <a:latin typeface="Arial" panose="020B0604020202020204" pitchFamily="34" charset="0"/>
              <a:cs typeface="Arial" panose="020B0604020202020204" pitchFamily="34" charset="0"/>
            </a:endParaRPr>
          </a:p>
          <a:p>
            <a:pPr marL="228600" indent="-228600">
              <a:buFontTx/>
              <a:buAutoNum type="arabicParenR"/>
            </a:pPr>
            <a:r>
              <a:rPr lang="en-US" sz="800" dirty="0">
                <a:solidFill>
                  <a:schemeClr val="bg1">
                    <a:lumMod val="50000"/>
                  </a:schemeClr>
                </a:solidFill>
                <a:latin typeface="Arial" panose="020B0604020202020204" pitchFamily="34" charset="0"/>
                <a:cs typeface="Arial" panose="020B0604020202020204" pitchFamily="34" charset="0"/>
              </a:rPr>
              <a:t>NHANES III 2008.</a:t>
            </a:r>
            <a:endParaRPr lang="es-ES" sz="800" dirty="0">
              <a:solidFill>
                <a:schemeClr val="bg1">
                  <a:lumMod val="50000"/>
                </a:schemeClr>
              </a:solidFill>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stretch>
            <a:fillRect/>
          </a:stretch>
        </p:blipFill>
        <p:spPr>
          <a:xfrm>
            <a:off x="539552" y="836712"/>
            <a:ext cx="8174881" cy="5404549"/>
          </a:xfrm>
          <a:prstGeom prst="rect">
            <a:avLst/>
          </a:prstGeom>
        </p:spPr>
      </p:pic>
    </p:spTree>
    <p:extLst>
      <p:ext uri="{BB962C8B-B14F-4D97-AF65-F5344CB8AC3E}">
        <p14:creationId xmlns:p14="http://schemas.microsoft.com/office/powerpoint/2010/main" val="34394273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09936" y="1916832"/>
            <a:ext cx="7776864" cy="3744416"/>
          </a:xfrm>
        </p:spPr>
        <p:txBody>
          <a:bodyPr>
            <a:noAutofit/>
          </a:bodyPr>
          <a:lstStyle/>
          <a:p>
            <a:pPr algn="just">
              <a:buClr>
                <a:srgbClr val="EC6707"/>
              </a:buClr>
              <a:defRPr/>
            </a:pPr>
            <a:r>
              <a:rPr lang="es-CO" sz="2200" b="1" dirty="0">
                <a:solidFill>
                  <a:srgbClr val="404040"/>
                </a:solidFill>
              </a:rPr>
              <a:t> La incidencia de las MTN </a:t>
            </a:r>
            <a:r>
              <a:rPr lang="es-CO" sz="2200" dirty="0">
                <a:solidFill>
                  <a:srgbClr val="404040"/>
                </a:solidFill>
              </a:rPr>
              <a:t>en Norteamérica varia entre 0,5–4,0/1000 nacimientos</a:t>
            </a:r>
            <a:r>
              <a:rPr lang="es-CO" sz="2200" baseline="30000" dirty="0">
                <a:solidFill>
                  <a:srgbClr val="404040"/>
                </a:solidFill>
              </a:rPr>
              <a:t>1</a:t>
            </a:r>
            <a:r>
              <a:rPr lang="en-US" sz="2200" dirty="0">
                <a:solidFill>
                  <a:srgbClr val="404040"/>
                </a:solidFill>
              </a:rPr>
              <a:t>.</a:t>
            </a:r>
            <a:endParaRPr lang="es-ES" sz="2200" baseline="30000" dirty="0">
              <a:solidFill>
                <a:srgbClr val="404040"/>
              </a:solidFill>
            </a:endParaRPr>
          </a:p>
          <a:p>
            <a:pPr marL="0" indent="0" algn="just">
              <a:buClr>
                <a:srgbClr val="EC6707"/>
              </a:buClr>
              <a:buNone/>
              <a:defRPr/>
            </a:pPr>
            <a:endParaRPr lang="es-ES" sz="2200" b="1" dirty="0">
              <a:solidFill>
                <a:srgbClr val="404040"/>
              </a:solidFill>
            </a:endParaRPr>
          </a:p>
          <a:p>
            <a:pPr algn="just">
              <a:buClr>
                <a:srgbClr val="EC6707"/>
              </a:buClr>
              <a:defRPr/>
            </a:pPr>
            <a:r>
              <a:rPr lang="es-BO" sz="2200" b="1" dirty="0">
                <a:solidFill>
                  <a:srgbClr val="404040"/>
                </a:solidFill>
              </a:rPr>
              <a:t> Contribuyen notablemente a la mortalidad y la morbilidad infantil</a:t>
            </a:r>
            <a:r>
              <a:rPr lang="en-US" sz="2200" b="1" dirty="0">
                <a:solidFill>
                  <a:srgbClr val="404040"/>
                </a:solidFill>
              </a:rPr>
              <a:t>. </a:t>
            </a:r>
            <a:endParaRPr lang="es-ES" sz="2200" b="1" dirty="0">
              <a:solidFill>
                <a:srgbClr val="404040"/>
              </a:solidFill>
            </a:endParaRPr>
          </a:p>
          <a:p>
            <a:pPr algn="just">
              <a:buClr>
                <a:srgbClr val="EC6707"/>
              </a:buClr>
              <a:defRPr/>
            </a:pPr>
            <a:endParaRPr lang="es-ES" sz="2200" b="1" dirty="0">
              <a:solidFill>
                <a:srgbClr val="404040"/>
              </a:solidFill>
            </a:endParaRPr>
          </a:p>
          <a:p>
            <a:pPr algn="just">
              <a:buClr>
                <a:srgbClr val="EC6707"/>
              </a:buClr>
              <a:defRPr/>
            </a:pPr>
            <a:r>
              <a:rPr lang="es-CL" sz="2200" dirty="0">
                <a:solidFill>
                  <a:srgbClr val="404040"/>
                </a:solidFill>
              </a:rPr>
              <a:t> </a:t>
            </a:r>
            <a:r>
              <a:rPr lang="es-CL" sz="2200" u="sng" dirty="0">
                <a:solidFill>
                  <a:srgbClr val="404040"/>
                </a:solidFill>
              </a:rPr>
              <a:t>Estimaciones</a:t>
            </a:r>
            <a:r>
              <a:rPr lang="es-CL" sz="2200" dirty="0">
                <a:solidFill>
                  <a:srgbClr val="404040"/>
                </a:solidFill>
              </a:rPr>
              <a:t>: </a:t>
            </a:r>
            <a:r>
              <a:rPr lang="es-CL" sz="2200" b="1" dirty="0">
                <a:solidFill>
                  <a:srgbClr val="404040"/>
                </a:solidFill>
              </a:rPr>
              <a:t>La mitad de todos las malformaciones en el nacimiento pueden prevenirse </a:t>
            </a:r>
            <a:r>
              <a:rPr lang="es-CL" sz="2200" dirty="0">
                <a:solidFill>
                  <a:srgbClr val="404040"/>
                </a:solidFill>
              </a:rPr>
              <a:t>si las mujeres en edad fértil consumen una cantidad de ácido fólico adecuada</a:t>
            </a:r>
            <a:r>
              <a:rPr lang="es-CL" sz="2200" baseline="30000" dirty="0">
                <a:solidFill>
                  <a:srgbClr val="404040"/>
                </a:solidFill>
              </a:rPr>
              <a:t>1</a:t>
            </a:r>
            <a:r>
              <a:rPr lang="en-US" sz="2200" dirty="0">
                <a:solidFill>
                  <a:srgbClr val="404040"/>
                </a:solidFill>
              </a:rPr>
              <a:t>.</a:t>
            </a:r>
            <a:endParaRPr lang="es-ES" sz="2200" b="1" baseline="30000" dirty="0">
              <a:solidFill>
                <a:srgbClr val="404040"/>
              </a:solidFill>
            </a:endParaRPr>
          </a:p>
        </p:txBody>
      </p:sp>
      <p:sp>
        <p:nvSpPr>
          <p:cNvPr id="4" name="Slide Number Placeholder 3"/>
          <p:cNvSpPr>
            <a:spLocks noGrp="1"/>
          </p:cNvSpPr>
          <p:nvPr>
            <p:ph type="sldNum" sz="quarter" idx="12"/>
          </p:nvPr>
        </p:nvSpPr>
        <p:spPr/>
        <p:txBody>
          <a:bodyPr/>
          <a:lstStyle/>
          <a:p>
            <a:fld id="{03667C4B-6D06-491C-A04A-E41D55AFBBED}" type="slidenum">
              <a:rPr lang="en-GB" smtClean="0"/>
              <a:pPr/>
              <a:t>16</a:t>
            </a:fld>
            <a:endParaRPr lang="en-GB"/>
          </a:p>
        </p:txBody>
      </p:sp>
      <p:sp>
        <p:nvSpPr>
          <p:cNvPr id="5" name="Title 2"/>
          <p:cNvSpPr txBox="1">
            <a:spLocks/>
          </p:cNvSpPr>
          <p:nvPr/>
        </p:nvSpPr>
        <p:spPr>
          <a:xfrm>
            <a:off x="467544" y="476672"/>
            <a:ext cx="6102424" cy="1368152"/>
          </a:xfrm>
          <a:prstGeom prst="rect">
            <a:avLst/>
          </a:prstGeom>
        </p:spPr>
        <p:txBody>
          <a:bodyPr/>
          <a:lstStyle>
            <a:lvl1pPr algn="l" rtl="0" eaLnBrk="1" latinLnBrk="0" hangingPunct="1">
              <a:spcBef>
                <a:spcPct val="0"/>
              </a:spcBef>
              <a:buNone/>
              <a:defRPr kumimoji="0" sz="3600" b="0" kern="1200">
                <a:ln>
                  <a:noFill/>
                </a:ln>
                <a:solidFill>
                  <a:srgbClr val="B11B7E"/>
                </a:solidFill>
                <a:effectLst/>
                <a:latin typeface="+mj-lt"/>
                <a:ea typeface="+mj-ea"/>
                <a:cs typeface="+mj-cs"/>
              </a:defRPr>
            </a:lvl1pPr>
          </a:lstStyle>
          <a:p>
            <a:r>
              <a:rPr lang="pt-PT" b="1" dirty="0">
                <a:solidFill>
                  <a:srgbClr val="EC6707"/>
                </a:solidFill>
                <a:latin typeface="Arial" panose="020B0604020202020204" pitchFamily="34" charset="0"/>
                <a:cs typeface="Arial" panose="020B0604020202020204" pitchFamily="34" charset="0"/>
              </a:rPr>
              <a:t>MALFORMACIONES</a:t>
            </a:r>
            <a:r>
              <a:rPr b="1" dirty="0">
                <a:solidFill>
                  <a:srgbClr val="EC6707"/>
                </a:solidFill>
                <a:latin typeface="Arial" panose="020B0604020202020204" pitchFamily="34" charset="0"/>
                <a:cs typeface="Arial" panose="020B0604020202020204" pitchFamily="34" charset="0"/>
              </a:rPr>
              <a:t> DEL TUBO NEURAL (</a:t>
            </a:r>
            <a:r>
              <a:rPr lang="pt-PT" b="1" dirty="0">
                <a:solidFill>
                  <a:srgbClr val="EC6707"/>
                </a:solidFill>
                <a:latin typeface="Arial" panose="020B0604020202020204" pitchFamily="34" charset="0"/>
                <a:cs typeface="Arial" panose="020B0604020202020204" pitchFamily="34" charset="0"/>
              </a:rPr>
              <a:t>MTN</a:t>
            </a:r>
            <a:r>
              <a:rPr b="1" dirty="0">
                <a:solidFill>
                  <a:srgbClr val="EC6707"/>
                </a:solidFill>
                <a:latin typeface="Arial" panose="020B0604020202020204" pitchFamily="34" charset="0"/>
                <a:cs typeface="Arial" panose="020B0604020202020204" pitchFamily="34" charset="0"/>
              </a:rPr>
              <a:t>)</a:t>
            </a:r>
            <a:endParaRPr lang="es-ES" b="1" dirty="0">
              <a:solidFill>
                <a:srgbClr val="EC6707"/>
              </a:solidFill>
              <a:latin typeface="Arial" panose="020B0604020202020204" pitchFamily="34" charset="0"/>
              <a:cs typeface="Arial" panose="020B0604020202020204" pitchFamily="34" charset="0"/>
            </a:endParaRPr>
          </a:p>
        </p:txBody>
      </p:sp>
      <p:sp>
        <p:nvSpPr>
          <p:cNvPr id="7" name="TextBox 2"/>
          <p:cNvSpPr txBox="1">
            <a:spLocks noChangeArrowheads="1"/>
          </p:cNvSpPr>
          <p:nvPr/>
        </p:nvSpPr>
        <p:spPr bwMode="auto">
          <a:xfrm>
            <a:off x="909936" y="6309320"/>
            <a:ext cx="3096344" cy="338554"/>
          </a:xfrm>
          <a:prstGeom prst="rect">
            <a:avLst/>
          </a:prstGeom>
          <a:noFill/>
          <a:ln w="9525">
            <a:noFill/>
            <a:miter lim="800000"/>
            <a:headEnd/>
            <a:tailEnd/>
          </a:ln>
        </p:spPr>
        <p:txBody>
          <a:bodyPr wrap="square">
            <a:spAutoFit/>
          </a:bodyPr>
          <a:lstStyle/>
          <a:p>
            <a:pPr marL="228600" indent="-228600">
              <a:buFontTx/>
              <a:buAutoNum type="arabicParenR"/>
            </a:pPr>
            <a:r>
              <a:rPr lang="pt-PT" sz="800" dirty="0">
                <a:solidFill>
                  <a:schemeClr val="bg1">
                    <a:lumMod val="50000"/>
                  </a:schemeClr>
                </a:solidFill>
                <a:latin typeface="Arial" panose="020B0604020202020204" pitchFamily="34" charset="0"/>
                <a:cs typeface="Arial" panose="020B0604020202020204" pitchFamily="34" charset="0"/>
              </a:rPr>
              <a:t>Wilson RD, </a:t>
            </a:r>
            <a:r>
              <a:rPr lang="pt-PT" sz="800" i="1" dirty="0">
                <a:solidFill>
                  <a:schemeClr val="bg1">
                    <a:lumMod val="50000"/>
                  </a:schemeClr>
                </a:solidFill>
                <a:latin typeface="Arial" panose="020B0604020202020204" pitchFamily="34" charset="0"/>
                <a:cs typeface="Arial" panose="020B0604020202020204" pitchFamily="34" charset="0"/>
              </a:rPr>
              <a:t>et</a:t>
            </a:r>
            <a:r>
              <a:rPr sz="800" dirty="0">
                <a:solidFill>
                  <a:schemeClr val="bg1">
                    <a:lumMod val="50000"/>
                  </a:schemeClr>
                </a:solidFill>
                <a:latin typeface="Arial" panose="020B0604020202020204" pitchFamily="34" charset="0"/>
                <a:cs typeface="Arial" panose="020B0604020202020204" pitchFamily="34" charset="0"/>
              </a:rPr>
              <a:t> </a:t>
            </a:r>
            <a:r>
              <a:rPr lang="pt-PT" sz="800" i="1" dirty="0">
                <a:solidFill>
                  <a:schemeClr val="bg1">
                    <a:lumMod val="50000"/>
                  </a:schemeClr>
                </a:solidFill>
                <a:latin typeface="Arial" panose="020B0604020202020204" pitchFamily="34" charset="0"/>
                <a:cs typeface="Arial" panose="020B0604020202020204" pitchFamily="34" charset="0"/>
              </a:rPr>
              <a:t>al.</a:t>
            </a:r>
            <a:r>
              <a:rPr sz="800" dirty="0">
                <a:solidFill>
                  <a:schemeClr val="bg1">
                    <a:lumMod val="50000"/>
                  </a:schemeClr>
                </a:solidFill>
                <a:latin typeface="Arial" panose="020B0604020202020204" pitchFamily="34" charset="0"/>
                <a:cs typeface="Arial" panose="020B0604020202020204" pitchFamily="34" charset="0"/>
              </a:rPr>
              <a:t> </a:t>
            </a:r>
            <a:r>
              <a:rPr lang="pt-PT" sz="800" dirty="0">
                <a:solidFill>
                  <a:schemeClr val="bg1">
                    <a:lumMod val="50000"/>
                  </a:schemeClr>
                </a:solidFill>
                <a:latin typeface="Arial" panose="020B0604020202020204" pitchFamily="34" charset="0"/>
                <a:cs typeface="Arial" panose="020B0604020202020204" pitchFamily="34" charset="0"/>
              </a:rPr>
              <a:t>JOGC 2007;29(12):1003-10013.</a:t>
            </a:r>
            <a:endParaRPr lang="es-ES" sz="800" dirty="0">
              <a:solidFill>
                <a:schemeClr val="bg1">
                  <a:lumMod val="50000"/>
                </a:schemeClr>
              </a:solidFill>
              <a:latin typeface="Arial" panose="020B0604020202020204" pitchFamily="34" charset="0"/>
              <a:cs typeface="Arial" panose="020B0604020202020204" pitchFamily="34" charset="0"/>
            </a:endParaRPr>
          </a:p>
          <a:p>
            <a:pPr marL="228600" indent="-228600">
              <a:buFontTx/>
              <a:buAutoNum type="arabicParenR"/>
            </a:pPr>
            <a:r>
              <a:rPr lang="en-US" sz="800" dirty="0">
                <a:solidFill>
                  <a:schemeClr val="bg1">
                    <a:lumMod val="50000"/>
                  </a:schemeClr>
                </a:solidFill>
                <a:latin typeface="Arial" panose="020B0604020202020204" pitchFamily="34" charset="0"/>
                <a:cs typeface="Arial" panose="020B0604020202020204" pitchFamily="34" charset="0"/>
              </a:rPr>
              <a:t>Botto LD, </a:t>
            </a:r>
            <a:r>
              <a:rPr lang="en-US" sz="800" i="1" dirty="0">
                <a:solidFill>
                  <a:schemeClr val="bg1">
                    <a:lumMod val="50000"/>
                  </a:schemeClr>
                </a:solidFill>
                <a:latin typeface="Arial" panose="020B0604020202020204" pitchFamily="34" charset="0"/>
                <a:cs typeface="Arial" panose="020B0604020202020204" pitchFamily="34" charset="0"/>
              </a:rPr>
              <a:t>et al</a:t>
            </a:r>
            <a:r>
              <a:rPr lang="en-US" sz="800" dirty="0">
                <a:solidFill>
                  <a:schemeClr val="bg1">
                    <a:lumMod val="50000"/>
                  </a:schemeClr>
                </a:solidFill>
                <a:latin typeface="Arial" panose="020B0604020202020204" pitchFamily="34" charset="0"/>
                <a:cs typeface="Arial" panose="020B0604020202020204" pitchFamily="34" charset="0"/>
              </a:rPr>
              <a:t>. BMJ 2005.</a:t>
            </a:r>
            <a:endParaRPr lang="es-ES" sz="8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157707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24724"/>
          <a:stretch/>
        </p:blipFill>
        <p:spPr>
          <a:xfrm>
            <a:off x="4017496" y="2138242"/>
            <a:ext cx="5492223" cy="4957781"/>
          </a:xfrm>
          <a:prstGeom prst="ellipse">
            <a:avLst/>
          </a:prstGeom>
        </p:spPr>
      </p:pic>
      <p:sp>
        <p:nvSpPr>
          <p:cNvPr id="6" name="Title 2"/>
          <p:cNvSpPr txBox="1">
            <a:spLocks/>
          </p:cNvSpPr>
          <p:nvPr/>
        </p:nvSpPr>
        <p:spPr>
          <a:xfrm>
            <a:off x="207009" y="620688"/>
            <a:ext cx="8936991" cy="3600400"/>
          </a:xfrm>
          <a:prstGeom prst="rect">
            <a:avLst/>
          </a:prstGeom>
        </p:spPr>
        <p:txBody>
          <a:bodyPr/>
          <a:lstStyle>
            <a:lvl1pPr algn="l" rtl="0" eaLnBrk="1" latinLnBrk="0" hangingPunct="1">
              <a:spcBef>
                <a:spcPct val="0"/>
              </a:spcBef>
              <a:buNone/>
              <a:defRPr kumimoji="0" sz="3600" b="0" kern="1200">
                <a:ln>
                  <a:noFill/>
                </a:ln>
                <a:solidFill>
                  <a:srgbClr val="B11B7E"/>
                </a:solidFill>
                <a:effectLst/>
                <a:latin typeface="+mj-lt"/>
                <a:ea typeface="+mj-ea"/>
                <a:cs typeface="+mj-cs"/>
              </a:defRPr>
            </a:lvl1pPr>
          </a:lstStyle>
          <a:p>
            <a:r>
              <a:rPr lang="en-US" sz="5300" b="1" dirty="0">
                <a:solidFill>
                  <a:srgbClr val="2D5FAA"/>
                </a:solidFill>
              </a:rPr>
              <a:t>¿QUÉ DICEN LAS DIRECTRICES SOBRE LA DEFICIENCIA DE ÁCIDO FÓLICO?</a:t>
            </a:r>
          </a:p>
        </p:txBody>
      </p:sp>
      <p:pic>
        <p:nvPicPr>
          <p:cNvPr id="12" name="Picture 11"/>
          <p:cNvPicPr>
            <a:picLocks noChangeAspect="1"/>
          </p:cNvPicPr>
          <p:nvPr/>
        </p:nvPicPr>
        <p:blipFill rotWithShape="1">
          <a:blip r:embed="rId4" cstate="print">
            <a:extLst>
              <a:ext uri="{28A0092B-C50C-407E-A947-70E740481C1C}">
                <a14:useLocalDpi xmlns:a14="http://schemas.microsoft.com/office/drawing/2010/main" val="0"/>
              </a:ext>
            </a:extLst>
          </a:blip>
          <a:srcRect l="21823" t="11793" r="24262" b="8381"/>
          <a:stretch/>
        </p:blipFill>
        <p:spPr>
          <a:xfrm>
            <a:off x="1191108" y="4392976"/>
            <a:ext cx="1292660" cy="2708429"/>
          </a:xfrm>
          <a:prstGeom prst="rect">
            <a:avLst/>
          </a:prstGeom>
        </p:spPr>
      </p:pic>
      <p:pic>
        <p:nvPicPr>
          <p:cNvPr id="13" name="Picture 12"/>
          <p:cNvPicPr>
            <a:picLocks noChangeAspect="1"/>
          </p:cNvPicPr>
          <p:nvPr/>
        </p:nvPicPr>
        <p:blipFill rotWithShape="1">
          <a:blip r:embed="rId5">
            <a:extLst>
              <a:ext uri="{28A0092B-C50C-407E-A947-70E740481C1C}">
                <a14:useLocalDpi xmlns:a14="http://schemas.microsoft.com/office/drawing/2010/main" val="0"/>
              </a:ext>
            </a:extLst>
          </a:blip>
          <a:srcRect t="24150" b="28600"/>
          <a:stretch/>
        </p:blipFill>
        <p:spPr>
          <a:xfrm>
            <a:off x="-828600" y="5301208"/>
            <a:ext cx="3816424" cy="2551806"/>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750" fill="hold"/>
                                        <p:tgtEl>
                                          <p:spTgt spid="13"/>
                                        </p:tgtEl>
                                        <p:attrNameLst>
                                          <p:attrName>ppt_x</p:attrName>
                                        </p:attrNameLst>
                                      </p:cBhvr>
                                      <p:tavLst>
                                        <p:tav tm="0">
                                          <p:val>
                                            <p:strVal val="#ppt_x"/>
                                          </p:val>
                                        </p:tav>
                                        <p:tav tm="100000">
                                          <p:val>
                                            <p:strVal val="#ppt_x"/>
                                          </p:val>
                                        </p:tav>
                                      </p:tavLst>
                                    </p:anim>
                                    <p:anim calcmode="lin" valueType="num">
                                      <p:cBhvr additive="base">
                                        <p:cTn id="8" dur="75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750"/>
                            </p:stCondLst>
                            <p:childTnLst>
                              <p:par>
                                <p:cTn id="10" presetID="2" presetClass="entr" presetSubtype="4"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750" fill="hold"/>
                                        <p:tgtEl>
                                          <p:spTgt spid="12"/>
                                        </p:tgtEl>
                                        <p:attrNameLst>
                                          <p:attrName>ppt_x</p:attrName>
                                        </p:attrNameLst>
                                      </p:cBhvr>
                                      <p:tavLst>
                                        <p:tav tm="0">
                                          <p:val>
                                            <p:strVal val="#ppt_x"/>
                                          </p:val>
                                        </p:tav>
                                        <p:tav tm="100000">
                                          <p:val>
                                            <p:strVal val="#ppt_x"/>
                                          </p:val>
                                        </p:tav>
                                      </p:tavLst>
                                    </p:anim>
                                    <p:anim calcmode="lin" valueType="num">
                                      <p:cBhvr additive="base">
                                        <p:cTn id="13" dur="750" fill="hold"/>
                                        <p:tgtEl>
                                          <p:spTgt spid="12"/>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22" presetClass="entr" presetSubtype="2"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right)">
                                      <p:cBhvr>
                                        <p:cTn id="1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10785" y="4359448"/>
            <a:ext cx="8522431" cy="1231106"/>
          </a:xfrm>
          <a:prstGeom prst="rect">
            <a:avLst/>
          </a:prstGeom>
          <a:ln>
            <a:solidFill>
              <a:srgbClr val="EC6707"/>
            </a:solidFill>
          </a:ln>
        </p:spPr>
        <p:style>
          <a:lnRef idx="2">
            <a:schemeClr val="dk1"/>
          </a:lnRef>
          <a:fillRef idx="1">
            <a:schemeClr val="lt1"/>
          </a:fillRef>
          <a:effectRef idx="0">
            <a:schemeClr val="dk1"/>
          </a:effectRef>
          <a:fontRef idx="minor">
            <a:schemeClr val="dk1"/>
          </a:fontRef>
        </p:style>
        <p:txBody>
          <a:bodyPr wrap="square">
            <a:spAutoFit/>
          </a:bodyPr>
          <a:lstStyle/>
          <a:p>
            <a:pPr algn="just"/>
            <a:r>
              <a:rPr lang="es-CR" sz="1600" u="sng" dirty="0">
                <a:solidFill>
                  <a:srgbClr val="EC6707"/>
                </a:solidFill>
                <a:latin typeface="Arial"/>
              </a:rPr>
              <a:t>CONCLUSIÓN </a:t>
            </a:r>
          </a:p>
          <a:p>
            <a:pPr algn="just"/>
            <a:endParaRPr lang="es-CR" u="sng" dirty="0">
              <a:solidFill>
                <a:srgbClr val="EC6707"/>
              </a:solidFill>
              <a:latin typeface="Arial"/>
            </a:endParaRPr>
          </a:p>
          <a:p>
            <a:pPr algn="just"/>
            <a:r>
              <a:rPr lang="en-US" sz="2000" b="1" dirty="0">
                <a:solidFill>
                  <a:srgbClr val="EC6707"/>
                </a:solidFill>
                <a:latin typeface="Arial"/>
              </a:rPr>
              <a:t>Pruebas del efecto protector de la suplementación de ácido fólico en el periodo periconcepcional frente a las MTN </a:t>
            </a:r>
            <a:r>
              <a:rPr lang="en-US" dirty="0">
                <a:solidFill>
                  <a:srgbClr val="EC6707"/>
                </a:solidFill>
                <a:latin typeface="Arial"/>
              </a:rPr>
              <a:t>(</a:t>
            </a:r>
            <a:r>
              <a:rPr lang="en-US" dirty="0" err="1">
                <a:solidFill>
                  <a:srgbClr val="EC6707"/>
                </a:solidFill>
                <a:latin typeface="Arial"/>
              </a:rPr>
              <a:t>pruebas</a:t>
            </a:r>
            <a:r>
              <a:rPr lang="en-US" dirty="0">
                <a:solidFill>
                  <a:srgbClr val="EC6707"/>
                </a:solidFill>
                <a:latin typeface="Arial"/>
              </a:rPr>
              <a:t> </a:t>
            </a:r>
            <a:r>
              <a:rPr lang="en-US" dirty="0" err="1">
                <a:solidFill>
                  <a:srgbClr val="EC6707"/>
                </a:solidFill>
                <a:latin typeface="Arial"/>
              </a:rPr>
              <a:t>concluyentes</a:t>
            </a:r>
            <a:r>
              <a:rPr lang="en-US" dirty="0">
                <a:solidFill>
                  <a:srgbClr val="EC6707"/>
                </a:solidFill>
                <a:latin typeface="Arial"/>
              </a:rPr>
              <a:t>).</a:t>
            </a:r>
            <a:endParaRPr lang="es-ES" dirty="0">
              <a:solidFill>
                <a:srgbClr val="EC6707"/>
              </a:solidFill>
              <a:latin typeface="Arial"/>
              <a:cs typeface="Arial"/>
            </a:endParaRPr>
          </a:p>
        </p:txBody>
      </p:sp>
      <p:pic>
        <p:nvPicPr>
          <p:cNvPr id="25603" name="Picture 1"/>
          <p:cNvPicPr>
            <a:picLocks noChangeAspect="1" noChangeArrowheads="1"/>
          </p:cNvPicPr>
          <p:nvPr/>
        </p:nvPicPr>
        <p:blipFill>
          <a:blip r:embed="rId2" cstate="print"/>
          <a:srcRect/>
          <a:stretch>
            <a:fillRect/>
          </a:stretch>
        </p:blipFill>
        <p:spPr bwMode="auto">
          <a:xfrm>
            <a:off x="323528" y="1240331"/>
            <a:ext cx="8496944" cy="2316490"/>
          </a:xfrm>
          <a:prstGeom prst="rect">
            <a:avLst/>
          </a:prstGeom>
          <a:noFill/>
          <a:ln w="12700">
            <a:noFill/>
            <a:miter lim="800000"/>
            <a:headEnd/>
            <a:tailEnd/>
          </a:ln>
        </p:spPr>
      </p:pic>
      <p:sp>
        <p:nvSpPr>
          <p:cNvPr id="25604" name="Rectangle 3"/>
          <p:cNvSpPr>
            <a:spLocks noChangeArrowheads="1"/>
          </p:cNvSpPr>
          <p:nvPr/>
        </p:nvSpPr>
        <p:spPr bwMode="auto">
          <a:xfrm>
            <a:off x="395536" y="3675856"/>
            <a:ext cx="5867400" cy="338554"/>
          </a:xfrm>
          <a:prstGeom prst="rect">
            <a:avLst/>
          </a:prstGeom>
          <a:noFill/>
          <a:ln w="9525">
            <a:noFill/>
            <a:miter lim="800000"/>
            <a:headEnd/>
            <a:tailEnd/>
          </a:ln>
        </p:spPr>
        <p:txBody>
          <a:bodyPr>
            <a:spAutoFit/>
          </a:bodyPr>
          <a:lstStyle/>
          <a:p>
            <a:r>
              <a:rPr lang="en-US" sz="1600" i="1" dirty="0">
                <a:solidFill>
                  <a:schemeClr val="tx1">
                    <a:lumMod val="75000"/>
                    <a:lumOff val="25000"/>
                  </a:schemeClr>
                </a:solidFill>
                <a:latin typeface="Arial"/>
              </a:rPr>
              <a:t>BMC Pregnancy and Childbirth 2009, </a:t>
            </a:r>
            <a:r>
              <a:rPr lang="en-US" sz="1600" b="1" i="1" dirty="0">
                <a:solidFill>
                  <a:schemeClr val="tx1">
                    <a:lumMod val="75000"/>
                    <a:lumOff val="25000"/>
                  </a:schemeClr>
                </a:solidFill>
                <a:latin typeface="Arial"/>
              </a:rPr>
              <a:t>9(Suppl</a:t>
            </a:r>
            <a:r>
              <a:rPr dirty="0"/>
              <a:t> </a:t>
            </a:r>
            <a:r>
              <a:rPr lang="en-US" sz="1600" b="1" i="1" dirty="0">
                <a:solidFill>
                  <a:schemeClr val="tx1">
                    <a:lumMod val="75000"/>
                    <a:lumOff val="25000"/>
                  </a:schemeClr>
                </a:solidFill>
                <a:latin typeface="Arial"/>
              </a:rPr>
              <a:t>1):S3</a:t>
            </a:r>
            <a:endParaRPr lang="es-ES" sz="1600" dirty="0">
              <a:solidFill>
                <a:schemeClr val="tx1">
                  <a:lumMod val="75000"/>
                  <a:lumOff val="25000"/>
                </a:schemeClr>
              </a:solidFill>
              <a:latin typeface="Arial"/>
              <a:cs typeface="Arial"/>
            </a:endParaRPr>
          </a:p>
        </p:txBody>
      </p:sp>
      <p:sp>
        <p:nvSpPr>
          <p:cNvPr id="2" name="Rectangle 1"/>
          <p:cNvSpPr/>
          <p:nvPr/>
        </p:nvSpPr>
        <p:spPr>
          <a:xfrm>
            <a:off x="395536" y="1123342"/>
            <a:ext cx="6463660" cy="584775"/>
          </a:xfrm>
          <a:prstGeom prst="rect">
            <a:avLst/>
          </a:prstGeom>
          <a:solidFill>
            <a:schemeClr val="bg1"/>
          </a:solidFill>
        </p:spPr>
        <p:txBody>
          <a:bodyPr wrap="square">
            <a:spAutoFit/>
          </a:bodyPr>
          <a:lstStyle/>
          <a:p>
            <a:pPr>
              <a:spcAft>
                <a:spcPts val="0"/>
              </a:spcAft>
            </a:pPr>
            <a:r>
              <a:rPr lang="es-ES" sz="3200" b="1" spc="50" dirty="0">
                <a:solidFill>
                  <a:srgbClr val="000000"/>
                </a:solidFill>
                <a:latin typeface="Aharoni" panose="02010803020104030203" pitchFamily="2" charset="-79"/>
                <a:ea typeface="Arial Unicode MS"/>
                <a:cs typeface="Aharoni" panose="02010803020104030203" pitchFamily="2" charset="-79"/>
              </a:rPr>
              <a:t>Parto y embarazo BMC</a:t>
            </a:r>
            <a:endParaRPr lang="pt-PT" sz="2800" b="1" dirty="0">
              <a:effectLst/>
              <a:latin typeface="Aharoni" panose="02010803020104030203" pitchFamily="2" charset="-79"/>
              <a:ea typeface="Arial Unicode MS"/>
              <a:cs typeface="Aharoni" panose="02010803020104030203" pitchFamily="2" charset="-79"/>
            </a:endParaRPr>
          </a:p>
        </p:txBody>
      </p:sp>
      <p:sp>
        <p:nvSpPr>
          <p:cNvPr id="3" name="Rectangle 2"/>
          <p:cNvSpPr/>
          <p:nvPr/>
        </p:nvSpPr>
        <p:spPr>
          <a:xfrm>
            <a:off x="323528" y="2042958"/>
            <a:ext cx="2231701" cy="276999"/>
          </a:xfrm>
          <a:prstGeom prst="rect">
            <a:avLst/>
          </a:prstGeom>
          <a:solidFill>
            <a:schemeClr val="bg1"/>
          </a:solidFill>
        </p:spPr>
        <p:txBody>
          <a:bodyPr wrap="none">
            <a:spAutoFit/>
          </a:bodyPr>
          <a:lstStyle/>
          <a:p>
            <a:pPr>
              <a:spcAft>
                <a:spcPts val="0"/>
              </a:spcAft>
            </a:pPr>
            <a:r>
              <a:rPr lang="es-ES" sz="1200" spc="50" dirty="0">
                <a:solidFill>
                  <a:srgbClr val="000000"/>
                </a:solidFill>
                <a:latin typeface="Arial" panose="020B0604020202020204" pitchFamily="34" charset="0"/>
                <a:ea typeface="Arial Unicode MS"/>
                <a:cs typeface="Arial" panose="020B0604020202020204" pitchFamily="34" charset="0"/>
              </a:rPr>
              <a:t>Revisión de intervenciones </a:t>
            </a:r>
            <a:endParaRPr lang="pt-PT" sz="1100" dirty="0">
              <a:effectLst/>
              <a:latin typeface="Arial" panose="020B0604020202020204" pitchFamily="34" charset="0"/>
              <a:ea typeface="Arial Unicode MS"/>
              <a:cs typeface="Arial" panose="020B0604020202020204" pitchFamily="34" charset="0"/>
            </a:endParaRPr>
          </a:p>
        </p:txBody>
      </p:sp>
      <p:sp>
        <p:nvSpPr>
          <p:cNvPr id="4" name="Rectangle 3"/>
          <p:cNvSpPr/>
          <p:nvPr/>
        </p:nvSpPr>
        <p:spPr>
          <a:xfrm>
            <a:off x="331283" y="2314280"/>
            <a:ext cx="8481432" cy="646331"/>
          </a:xfrm>
          <a:prstGeom prst="rect">
            <a:avLst/>
          </a:prstGeom>
          <a:solidFill>
            <a:schemeClr val="bg1"/>
          </a:solidFill>
        </p:spPr>
        <p:txBody>
          <a:bodyPr wrap="square">
            <a:spAutoFit/>
          </a:bodyPr>
          <a:lstStyle/>
          <a:p>
            <a:pPr>
              <a:spcAft>
                <a:spcPts val="0"/>
              </a:spcAft>
            </a:pPr>
            <a:r>
              <a:rPr lang="es-ES" b="1" spc="50" dirty="0">
                <a:solidFill>
                  <a:srgbClr val="000000"/>
                </a:solidFill>
                <a:latin typeface="Arial" panose="020B0604020202020204" pitchFamily="34" charset="0"/>
                <a:ea typeface="Arial Unicode MS"/>
                <a:cs typeface="Arial" panose="020B0604020202020204" pitchFamily="34" charset="0"/>
              </a:rPr>
              <a:t>Reducción de la mortinatalidad: intervenciones sobre las conductas y los hábitos alimentarios antes de y durante el embarazo</a:t>
            </a:r>
            <a:endParaRPr lang="pt-PT" sz="1600" b="1" dirty="0">
              <a:effectLst/>
              <a:latin typeface="Arial" panose="020B0604020202020204" pitchFamily="34" charset="0"/>
              <a:ea typeface="Arial Unicode MS"/>
              <a:cs typeface="Arial" panose="020B0604020202020204" pitchFamily="34" charset="0"/>
            </a:endParaRPr>
          </a:p>
        </p:txBody>
      </p:sp>
      <p:sp>
        <p:nvSpPr>
          <p:cNvPr id="6" name="Rectangle 5"/>
          <p:cNvSpPr/>
          <p:nvPr/>
        </p:nvSpPr>
        <p:spPr>
          <a:xfrm>
            <a:off x="323526" y="2951072"/>
            <a:ext cx="7689344" cy="754053"/>
          </a:xfrm>
          <a:prstGeom prst="rect">
            <a:avLst/>
          </a:prstGeom>
          <a:solidFill>
            <a:schemeClr val="bg1"/>
          </a:solidFill>
        </p:spPr>
        <p:txBody>
          <a:bodyPr wrap="square">
            <a:spAutoFit/>
          </a:bodyPr>
          <a:lstStyle/>
          <a:p>
            <a:pPr>
              <a:spcAft>
                <a:spcPts val="0"/>
              </a:spcAft>
            </a:pPr>
            <a:r>
              <a:rPr lang="es-ES" sz="1400" spc="50" dirty="0" err="1">
                <a:solidFill>
                  <a:srgbClr val="000000"/>
                </a:solidFill>
                <a:latin typeface="Arial" panose="020B0604020202020204" pitchFamily="34" charset="0"/>
                <a:ea typeface="Arial Unicode MS"/>
                <a:cs typeface="Arial" panose="020B0604020202020204" pitchFamily="34" charset="0"/>
              </a:rPr>
              <a:t>Mohammad</a:t>
            </a:r>
            <a:r>
              <a:rPr lang="es-ES" sz="1400" spc="50" dirty="0">
                <a:solidFill>
                  <a:srgbClr val="000000"/>
                </a:solidFill>
                <a:latin typeface="Arial" panose="020B0604020202020204" pitchFamily="34" charset="0"/>
                <a:ea typeface="Arial Unicode MS"/>
                <a:cs typeface="Arial" panose="020B0604020202020204" pitchFamily="34" charset="0"/>
              </a:rPr>
              <a:t> </a:t>
            </a:r>
            <a:r>
              <a:rPr lang="es-ES" sz="1400" spc="50" dirty="0" err="1">
                <a:solidFill>
                  <a:srgbClr val="000000"/>
                </a:solidFill>
                <a:latin typeface="Arial" panose="020B0604020202020204" pitchFamily="34" charset="0"/>
                <a:ea typeface="Arial Unicode MS"/>
                <a:cs typeface="Arial" panose="020B0604020202020204" pitchFamily="34" charset="0"/>
              </a:rPr>
              <a:t>Yawar</a:t>
            </a:r>
            <a:r>
              <a:rPr lang="es-ES" sz="1400" spc="50" dirty="0">
                <a:solidFill>
                  <a:srgbClr val="000000"/>
                </a:solidFill>
                <a:latin typeface="Arial" panose="020B0604020202020204" pitchFamily="34" charset="0"/>
                <a:ea typeface="Arial Unicode MS"/>
                <a:cs typeface="Arial" panose="020B0604020202020204" pitchFamily="34" charset="0"/>
              </a:rPr>
              <a:t> Yakoob</a:t>
            </a:r>
            <a:r>
              <a:rPr lang="es-ES" sz="1400" spc="50" baseline="30000" dirty="0">
                <a:solidFill>
                  <a:srgbClr val="000000"/>
                </a:solidFill>
                <a:latin typeface="Arial" panose="020B0604020202020204" pitchFamily="34" charset="0"/>
                <a:ea typeface="Arial Unicode MS"/>
                <a:cs typeface="Arial" panose="020B0604020202020204" pitchFamily="34" charset="0"/>
              </a:rPr>
              <a:t>1</a:t>
            </a:r>
            <a:r>
              <a:rPr lang="es-ES" sz="1400" spc="50" dirty="0">
                <a:solidFill>
                  <a:srgbClr val="000000"/>
                </a:solidFill>
                <a:latin typeface="Arial" panose="020B0604020202020204" pitchFamily="34" charset="0"/>
                <a:ea typeface="Arial Unicode MS"/>
                <a:cs typeface="Arial" panose="020B0604020202020204" pitchFamily="34" charset="0"/>
              </a:rPr>
              <a:t>, </a:t>
            </a:r>
            <a:r>
              <a:rPr lang="es-ES" sz="1400" spc="50" dirty="0" err="1">
                <a:solidFill>
                  <a:srgbClr val="000000"/>
                </a:solidFill>
                <a:latin typeface="Arial" panose="020B0604020202020204" pitchFamily="34" charset="0"/>
                <a:ea typeface="Arial Unicode MS"/>
                <a:cs typeface="Arial" panose="020B0604020202020204" pitchFamily="34" charset="0"/>
              </a:rPr>
              <a:t>Esme</a:t>
            </a:r>
            <a:r>
              <a:rPr lang="es-ES" sz="1400" spc="50" dirty="0">
                <a:solidFill>
                  <a:srgbClr val="000000"/>
                </a:solidFill>
                <a:latin typeface="Arial" panose="020B0604020202020204" pitchFamily="34" charset="0"/>
                <a:ea typeface="Arial Unicode MS"/>
                <a:cs typeface="Arial" panose="020B0604020202020204" pitchFamily="34" charset="0"/>
              </a:rPr>
              <a:t> V Menezes</a:t>
            </a:r>
            <a:r>
              <a:rPr lang="es-ES" sz="1400" spc="50" baseline="30000" dirty="0">
                <a:solidFill>
                  <a:srgbClr val="000000"/>
                </a:solidFill>
                <a:latin typeface="Arial" panose="020B0604020202020204" pitchFamily="34" charset="0"/>
                <a:ea typeface="Arial Unicode MS"/>
                <a:cs typeface="Arial" panose="020B0604020202020204" pitchFamily="34" charset="0"/>
              </a:rPr>
              <a:t>1</a:t>
            </a:r>
            <a:r>
              <a:rPr lang="es-ES" sz="1400" spc="50" dirty="0">
                <a:solidFill>
                  <a:srgbClr val="000000"/>
                </a:solidFill>
                <a:latin typeface="Arial" panose="020B0604020202020204" pitchFamily="34" charset="0"/>
                <a:ea typeface="Arial Unicode MS"/>
                <a:cs typeface="Arial" panose="020B0604020202020204" pitchFamily="34" charset="0"/>
              </a:rPr>
              <a:t>, </a:t>
            </a:r>
            <a:r>
              <a:rPr lang="es-ES" sz="1400" spc="50" dirty="0" err="1">
                <a:solidFill>
                  <a:srgbClr val="000000"/>
                </a:solidFill>
                <a:latin typeface="Arial" panose="020B0604020202020204" pitchFamily="34" charset="0"/>
                <a:ea typeface="Arial Unicode MS"/>
                <a:cs typeface="Arial" panose="020B0604020202020204" pitchFamily="34" charset="0"/>
              </a:rPr>
              <a:t>Tanya</a:t>
            </a:r>
            <a:r>
              <a:rPr lang="es-ES" sz="1400" spc="50" dirty="0">
                <a:solidFill>
                  <a:srgbClr val="000000"/>
                </a:solidFill>
                <a:latin typeface="Arial" panose="020B0604020202020204" pitchFamily="34" charset="0"/>
                <a:ea typeface="Arial Unicode MS"/>
                <a:cs typeface="Arial" panose="020B0604020202020204" pitchFamily="34" charset="0"/>
              </a:rPr>
              <a:t> Soomro</a:t>
            </a:r>
            <a:r>
              <a:rPr lang="es-ES" sz="1400" spc="50" baseline="30000" dirty="0">
                <a:solidFill>
                  <a:srgbClr val="000000"/>
                </a:solidFill>
                <a:latin typeface="Arial" panose="020B0604020202020204" pitchFamily="34" charset="0"/>
                <a:ea typeface="Arial Unicode MS"/>
                <a:cs typeface="Arial" panose="020B0604020202020204" pitchFamily="34" charset="0"/>
              </a:rPr>
              <a:t>1</a:t>
            </a:r>
            <a:r>
              <a:rPr lang="es-ES" sz="1400" spc="50" dirty="0">
                <a:solidFill>
                  <a:srgbClr val="000000"/>
                </a:solidFill>
                <a:latin typeface="Arial" panose="020B0604020202020204" pitchFamily="34" charset="0"/>
                <a:ea typeface="Arial Unicode MS"/>
                <a:cs typeface="Arial" panose="020B0604020202020204" pitchFamily="34" charset="0"/>
              </a:rPr>
              <a:t>, Rachel A Haws</a:t>
            </a:r>
            <a:r>
              <a:rPr lang="es-ES" sz="1400" spc="50" baseline="30000" dirty="0">
                <a:solidFill>
                  <a:srgbClr val="000000"/>
                </a:solidFill>
                <a:latin typeface="Arial" panose="020B0604020202020204" pitchFamily="34" charset="0"/>
                <a:ea typeface="Arial Unicode MS"/>
                <a:cs typeface="Arial" panose="020B0604020202020204" pitchFamily="34" charset="0"/>
              </a:rPr>
              <a:t>2</a:t>
            </a:r>
            <a:r>
              <a:rPr lang="es-ES" sz="1400" spc="50" dirty="0">
                <a:solidFill>
                  <a:srgbClr val="000000"/>
                </a:solidFill>
                <a:latin typeface="Arial" panose="020B0604020202020204" pitchFamily="34" charset="0"/>
                <a:ea typeface="Arial Unicode MS"/>
                <a:cs typeface="Arial" panose="020B0604020202020204" pitchFamily="34" charset="0"/>
              </a:rPr>
              <a:t>, Gary L Darmstadt</a:t>
            </a:r>
            <a:r>
              <a:rPr lang="es-ES" sz="1400" spc="50" baseline="30000" dirty="0">
                <a:solidFill>
                  <a:srgbClr val="000000"/>
                </a:solidFill>
                <a:latin typeface="Arial" panose="020B0604020202020204" pitchFamily="34" charset="0"/>
                <a:ea typeface="Arial Unicode MS"/>
                <a:cs typeface="Arial" panose="020B0604020202020204" pitchFamily="34" charset="0"/>
              </a:rPr>
              <a:t>2</a:t>
            </a:r>
            <a:r>
              <a:rPr lang="es-ES" sz="1400" spc="50" dirty="0">
                <a:solidFill>
                  <a:srgbClr val="000000"/>
                </a:solidFill>
                <a:latin typeface="Arial" panose="020B0604020202020204" pitchFamily="34" charset="0"/>
                <a:ea typeface="Arial Unicode MS"/>
                <a:cs typeface="Arial" panose="020B0604020202020204" pitchFamily="34" charset="0"/>
              </a:rPr>
              <a:t> y </a:t>
            </a:r>
            <a:r>
              <a:rPr lang="es-ES" sz="1400" spc="50" dirty="0" err="1">
                <a:solidFill>
                  <a:srgbClr val="000000"/>
                </a:solidFill>
                <a:latin typeface="Arial" panose="020B0604020202020204" pitchFamily="34" charset="0"/>
                <a:ea typeface="Arial Unicode MS"/>
                <a:cs typeface="Arial" panose="020B0604020202020204" pitchFamily="34" charset="0"/>
              </a:rPr>
              <a:t>Zulfiqar</a:t>
            </a:r>
            <a:r>
              <a:rPr lang="es-ES" sz="1400" spc="50" dirty="0">
                <a:solidFill>
                  <a:srgbClr val="000000"/>
                </a:solidFill>
                <a:latin typeface="Arial" panose="020B0604020202020204" pitchFamily="34" charset="0"/>
                <a:ea typeface="Arial Unicode MS"/>
                <a:cs typeface="Arial" panose="020B0604020202020204" pitchFamily="34" charset="0"/>
              </a:rPr>
              <a:t> A </a:t>
            </a:r>
            <a:r>
              <a:rPr lang="es-ES" sz="1400" spc="50" dirty="0" err="1">
                <a:solidFill>
                  <a:srgbClr val="000000"/>
                </a:solidFill>
                <a:latin typeface="Arial" panose="020B0604020202020204" pitchFamily="34" charset="0"/>
                <a:ea typeface="Arial Unicode MS"/>
                <a:cs typeface="Arial" panose="020B0604020202020204" pitchFamily="34" charset="0"/>
              </a:rPr>
              <a:t>Bhutta</a:t>
            </a:r>
            <a:r>
              <a:rPr lang="es-ES" sz="1400" spc="50" dirty="0">
                <a:solidFill>
                  <a:srgbClr val="000000"/>
                </a:solidFill>
                <a:latin typeface="Arial" panose="020B0604020202020204" pitchFamily="34" charset="0"/>
                <a:ea typeface="Arial Unicode MS"/>
                <a:cs typeface="Arial" panose="020B0604020202020204" pitchFamily="34" charset="0"/>
              </a:rPr>
              <a:t>*</a:t>
            </a:r>
            <a:r>
              <a:rPr lang="es-ES" sz="1400" spc="50" baseline="30000" dirty="0">
                <a:solidFill>
                  <a:srgbClr val="000000"/>
                </a:solidFill>
                <a:latin typeface="Arial" panose="020B0604020202020204" pitchFamily="34" charset="0"/>
                <a:ea typeface="Arial Unicode MS"/>
                <a:cs typeface="Arial" panose="020B0604020202020204" pitchFamily="34" charset="0"/>
              </a:rPr>
              <a:t>1</a:t>
            </a:r>
          </a:p>
          <a:p>
            <a:pPr>
              <a:spcAft>
                <a:spcPts val="0"/>
              </a:spcAft>
            </a:pPr>
            <a:endParaRPr lang="pt-PT" sz="1500" dirty="0">
              <a:effectLst/>
              <a:latin typeface="Arial" panose="020B0604020202020204" pitchFamily="34" charset="0"/>
              <a:ea typeface="Arial Unicode MS"/>
              <a:cs typeface="Arial" panose="020B0604020202020204" pitchFamily="34" charset="0"/>
            </a:endParaRPr>
          </a:p>
        </p:txBody>
      </p:sp>
      <p:sp>
        <p:nvSpPr>
          <p:cNvPr id="9" name="Rectangle 8"/>
          <p:cNvSpPr/>
          <p:nvPr/>
        </p:nvSpPr>
        <p:spPr>
          <a:xfrm>
            <a:off x="467544" y="3684080"/>
            <a:ext cx="6048672" cy="338554"/>
          </a:xfrm>
          <a:prstGeom prst="rect">
            <a:avLst/>
          </a:prstGeom>
          <a:solidFill>
            <a:schemeClr val="bg1"/>
          </a:solidFill>
        </p:spPr>
        <p:txBody>
          <a:bodyPr wrap="square">
            <a:spAutoFit/>
          </a:bodyPr>
          <a:lstStyle/>
          <a:p>
            <a:pPr>
              <a:spcAft>
                <a:spcPts val="0"/>
              </a:spcAft>
            </a:pPr>
            <a:r>
              <a:rPr lang="es-ES" sz="1600" i="1" spc="50" dirty="0">
                <a:solidFill>
                  <a:srgbClr val="000000"/>
                </a:solidFill>
                <a:latin typeface="Arial" panose="020B0604020202020204" pitchFamily="34" charset="0"/>
                <a:ea typeface="Arial Unicode MS"/>
                <a:cs typeface="Arial" panose="020B0604020202020204" pitchFamily="34" charset="0"/>
              </a:rPr>
              <a:t>Parto y embarazo BMC 2009, </a:t>
            </a:r>
            <a:r>
              <a:rPr lang="es-ES" sz="1600" b="1" i="1" spc="50" dirty="0">
                <a:solidFill>
                  <a:srgbClr val="000000"/>
                </a:solidFill>
                <a:latin typeface="Arial" panose="020B0604020202020204" pitchFamily="34" charset="0"/>
                <a:ea typeface="Arial Unicode MS"/>
                <a:cs typeface="Arial" panose="020B0604020202020204" pitchFamily="34" charset="0"/>
              </a:rPr>
              <a:t>9(</a:t>
            </a:r>
            <a:r>
              <a:rPr lang="es-ES" sz="1600" b="1" i="1" spc="50" dirty="0" err="1">
                <a:solidFill>
                  <a:srgbClr val="000000"/>
                </a:solidFill>
                <a:latin typeface="Arial" panose="020B0604020202020204" pitchFamily="34" charset="0"/>
                <a:ea typeface="Arial Unicode MS"/>
                <a:cs typeface="Arial" panose="020B0604020202020204" pitchFamily="34" charset="0"/>
              </a:rPr>
              <a:t>Suppl</a:t>
            </a:r>
            <a:r>
              <a:rPr lang="es-ES" sz="1600" b="1" i="1" spc="50" dirty="0">
                <a:solidFill>
                  <a:srgbClr val="000000"/>
                </a:solidFill>
                <a:latin typeface="Arial" panose="020B0604020202020204" pitchFamily="34" charset="0"/>
                <a:ea typeface="Arial Unicode MS"/>
                <a:cs typeface="Arial" panose="020B0604020202020204" pitchFamily="34" charset="0"/>
              </a:rPr>
              <a:t> 1): S3</a:t>
            </a:r>
            <a:endParaRPr lang="pt-PT" sz="1400" b="1" i="1" dirty="0">
              <a:effectLst/>
              <a:latin typeface="Arial" panose="020B0604020202020204" pitchFamily="34" charset="0"/>
              <a:ea typeface="Arial Unicode MS"/>
              <a:cs typeface="Arial" panose="020B0604020202020204" pitchFamily="34" charset="0"/>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52"/>
          <p:cNvPicPr>
            <a:picLocks noChangeAspect="1"/>
          </p:cNvPicPr>
          <p:nvPr/>
        </p:nvPicPr>
        <p:blipFill>
          <a:blip r:embed="rId2"/>
          <a:stretch>
            <a:fillRect/>
          </a:stretch>
        </p:blipFill>
        <p:spPr>
          <a:xfrm>
            <a:off x="163623" y="46794"/>
            <a:ext cx="6832116" cy="2867589"/>
          </a:xfrm>
          <a:prstGeom prst="rect">
            <a:avLst/>
          </a:prstGeom>
        </p:spPr>
      </p:pic>
      <p:pic>
        <p:nvPicPr>
          <p:cNvPr id="55" name="Picture 54"/>
          <p:cNvPicPr>
            <a:picLocks noChangeAspect="1"/>
          </p:cNvPicPr>
          <p:nvPr/>
        </p:nvPicPr>
        <p:blipFill>
          <a:blip r:embed="rId3"/>
          <a:stretch>
            <a:fillRect/>
          </a:stretch>
        </p:blipFill>
        <p:spPr>
          <a:xfrm>
            <a:off x="163623" y="3140968"/>
            <a:ext cx="8619936" cy="3456384"/>
          </a:xfrm>
          <a:prstGeom prst="rect">
            <a:avLst/>
          </a:prstGeom>
        </p:spPr>
      </p:pic>
    </p:spTree>
    <p:extLst>
      <p:ext uri="{BB962C8B-B14F-4D97-AF65-F5344CB8AC3E}">
        <p14:creationId xmlns:p14="http://schemas.microsoft.com/office/powerpoint/2010/main" val="25577222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8388084" y="5455384"/>
            <a:ext cx="720420" cy="1862048"/>
          </a:xfrm>
          <a:prstGeom prst="rect">
            <a:avLst/>
          </a:prstGeom>
        </p:spPr>
        <p:txBody>
          <a:bodyPr wrap="none">
            <a:spAutoFit/>
          </a:bodyPr>
          <a:lstStyle/>
          <a:p>
            <a:r>
              <a:rPr lang="en-US" sz="11500" dirty="0">
                <a:solidFill>
                  <a:srgbClr val="EC6707"/>
                </a:solidFill>
              </a:rPr>
              <a:t>”</a:t>
            </a:r>
          </a:p>
        </p:txBody>
      </p:sp>
      <p:sp>
        <p:nvSpPr>
          <p:cNvPr id="9" name="TextBox 8"/>
          <p:cNvSpPr txBox="1"/>
          <p:nvPr/>
        </p:nvSpPr>
        <p:spPr>
          <a:xfrm>
            <a:off x="683568" y="3079120"/>
            <a:ext cx="7704856" cy="1200328"/>
          </a:xfrm>
          <a:prstGeom prst="rect">
            <a:avLst/>
          </a:prstGeom>
          <a:noFill/>
        </p:spPr>
        <p:txBody>
          <a:bodyPr wrap="square" rtlCol="0">
            <a:spAutoFit/>
          </a:bodyPr>
          <a:lstStyle/>
          <a:p>
            <a:r>
              <a:rPr lang="en-US" sz="1600" b="1" dirty="0"/>
              <a:t>Fundamentación</a:t>
            </a:r>
          </a:p>
          <a:p>
            <a:pPr algn="just"/>
            <a:r>
              <a:rPr lang="en-US" sz="1400" dirty="0"/>
              <a:t>A menudo coexisten múltiples deficiencias de micronutrientes en países con rentas bajas y medias. Estas se agravan en el embarazo debido a las necesidades crecientes, lo que ocasiona efectos potencialmente adversos en la madre. No hay </a:t>
            </a:r>
            <a:r>
              <a:rPr lang="en-US" sz="1400" dirty="0" err="1"/>
              <a:t>pruebas</a:t>
            </a:r>
            <a:r>
              <a:rPr lang="en-US" sz="1400" dirty="0"/>
              <a:t> significativas acerca de la efectividad de los suplementos de micronutrientes múltiples (SMM) durante el embarazo.</a:t>
            </a:r>
          </a:p>
        </p:txBody>
      </p:sp>
      <p:sp>
        <p:nvSpPr>
          <p:cNvPr id="10" name="TextBox 9"/>
          <p:cNvSpPr txBox="1"/>
          <p:nvPr/>
        </p:nvSpPr>
        <p:spPr>
          <a:xfrm>
            <a:off x="683568" y="4433337"/>
            <a:ext cx="7776864" cy="2062103"/>
          </a:xfrm>
          <a:prstGeom prst="rect">
            <a:avLst/>
          </a:prstGeom>
          <a:noFill/>
        </p:spPr>
        <p:txBody>
          <a:bodyPr wrap="square" rtlCol="0">
            <a:spAutoFit/>
          </a:bodyPr>
          <a:lstStyle/>
          <a:p>
            <a:pPr algn="just"/>
            <a:r>
              <a:rPr lang="en-US" sz="1600" b="1" dirty="0"/>
              <a:t>Conclusiones de los autores</a:t>
            </a:r>
          </a:p>
          <a:p>
            <a:pPr algn="just"/>
            <a:r>
              <a:rPr lang="en-US" sz="1400" dirty="0"/>
              <a:t>Las </a:t>
            </a:r>
            <a:r>
              <a:rPr lang="en-US" sz="1400" dirty="0" err="1"/>
              <a:t>pruebas</a:t>
            </a:r>
            <a:r>
              <a:rPr lang="en-US" sz="1400" dirty="0"/>
              <a:t> ofrecidas en esta revisión son insuficientes para recomendar el reemplazo de la suplementación de hierro y folato por un suplemento de micronutrientes múltiples</a:t>
            </a:r>
            <a:r>
              <a:rPr lang="en-US" sz="1400" b="1" dirty="0"/>
              <a:t>.</a:t>
            </a:r>
            <a:r>
              <a:rPr lang="en-US" sz="1400" b="1" dirty="0">
                <a:solidFill>
                  <a:srgbClr val="B11B7E"/>
                </a:solidFill>
              </a:rPr>
              <a:t> </a:t>
            </a:r>
            <a:r>
              <a:rPr lang="en-US" sz="1400" b="1" dirty="0">
                <a:solidFill>
                  <a:srgbClr val="EC6707"/>
                </a:solidFill>
              </a:rPr>
              <a:t>Se ha observado una disminución del número de neonatos con bajo peso al nacer o tamaño pequeño para la edad gestacional y anemia materna con un suplemento de micronutrientes múltiples frente a la suplementación con dos o menos micronutrientes o ninguno o un placebo, pero los análisis no han demostrado ningún beneficio añadido de los suplementos de micronutrientes múltiples en comparación con la suplementación de hierro con ácido fólico.</a:t>
            </a:r>
            <a:endParaRPr lang="es-ES" sz="1200" b="1" dirty="0">
              <a:solidFill>
                <a:srgbClr val="EC6707"/>
              </a:solidFill>
            </a:endParaRPr>
          </a:p>
        </p:txBody>
      </p:sp>
      <p:sp>
        <p:nvSpPr>
          <p:cNvPr id="11" name="TextBox 10"/>
          <p:cNvSpPr txBox="1"/>
          <p:nvPr/>
        </p:nvSpPr>
        <p:spPr>
          <a:xfrm>
            <a:off x="107504" y="2719080"/>
            <a:ext cx="720420" cy="1862048"/>
          </a:xfrm>
          <a:prstGeom prst="rect">
            <a:avLst/>
          </a:prstGeom>
          <a:noFill/>
        </p:spPr>
        <p:txBody>
          <a:bodyPr wrap="none" rtlCol="0">
            <a:spAutoFit/>
          </a:bodyPr>
          <a:lstStyle/>
          <a:p>
            <a:r>
              <a:rPr lang="en-US" sz="11500" dirty="0">
                <a:solidFill>
                  <a:srgbClr val="EC6707"/>
                </a:solidFill>
              </a:rPr>
              <a:t>“</a:t>
            </a:r>
          </a:p>
        </p:txBody>
      </p:sp>
      <p:pic>
        <p:nvPicPr>
          <p:cNvPr id="2" name="Picture 1"/>
          <p:cNvPicPr>
            <a:picLocks noChangeAspect="1"/>
          </p:cNvPicPr>
          <p:nvPr/>
        </p:nvPicPr>
        <p:blipFill rotWithShape="1">
          <a:blip r:embed="rId2"/>
          <a:srcRect l="4354" r="3112"/>
          <a:stretch/>
        </p:blipFill>
        <p:spPr>
          <a:xfrm>
            <a:off x="475715" y="1469064"/>
            <a:ext cx="7077023" cy="1512897"/>
          </a:xfrm>
          <a:prstGeom prst="rect">
            <a:avLst/>
          </a:prstGeom>
        </p:spPr>
      </p:pic>
      <p:sp>
        <p:nvSpPr>
          <p:cNvPr id="6" name="Title 2"/>
          <p:cNvSpPr txBox="1">
            <a:spLocks/>
          </p:cNvSpPr>
          <p:nvPr/>
        </p:nvSpPr>
        <p:spPr>
          <a:xfrm>
            <a:off x="467714" y="332656"/>
            <a:ext cx="6318638" cy="1133545"/>
          </a:xfrm>
          <a:prstGeom prst="rect">
            <a:avLst/>
          </a:prstGeom>
        </p:spPr>
        <p:txBody>
          <a:bodyPr/>
          <a:lstStyle>
            <a:lvl1pPr algn="l" rtl="0" eaLnBrk="1" latinLnBrk="0" hangingPunct="1">
              <a:spcBef>
                <a:spcPct val="0"/>
              </a:spcBef>
              <a:buNone/>
              <a:defRPr kumimoji="0" sz="3600" b="0" kern="1200">
                <a:ln>
                  <a:noFill/>
                </a:ln>
                <a:solidFill>
                  <a:srgbClr val="B11B7E"/>
                </a:solidFill>
                <a:effectLst/>
                <a:latin typeface="+mj-lt"/>
                <a:ea typeface="+mj-ea"/>
                <a:cs typeface="+mj-cs"/>
              </a:defRPr>
            </a:lvl1pPr>
          </a:lstStyle>
          <a:p>
            <a:r>
              <a:rPr lang="en-US" sz="2400" b="1" dirty="0">
                <a:solidFill>
                  <a:srgbClr val="EC6707"/>
                </a:solidFill>
                <a:latin typeface="Arial" panose="020B0604020202020204" pitchFamily="34" charset="0"/>
                <a:cs typeface="Arial" panose="020B0604020202020204" pitchFamily="34" charset="0"/>
              </a:rPr>
              <a:t>¿QUÉ OCURRE AL COMPARAR EL ÁCIDO FÓLICO MÁS HIERRO FRENTE A LOS MULTIVITAMÍNICOS?</a:t>
            </a:r>
            <a:endParaRPr lang="es-ES" sz="2400" b="1" dirty="0">
              <a:solidFill>
                <a:srgbClr val="EC6707"/>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437071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6148" t="-11968" r="27342" b="-1"/>
          <a:stretch/>
        </p:blipFill>
        <p:spPr>
          <a:xfrm>
            <a:off x="-1404664" y="-747464"/>
            <a:ext cx="7488832" cy="6747456"/>
          </a:xfrm>
          <a:prstGeom prst="ellipse">
            <a:avLst/>
          </a:prstGeom>
        </p:spPr>
      </p:pic>
      <p:sp>
        <p:nvSpPr>
          <p:cNvPr id="2" name="CaixaDeTexto 1"/>
          <p:cNvSpPr txBox="1"/>
          <p:nvPr/>
        </p:nvSpPr>
        <p:spPr>
          <a:xfrm>
            <a:off x="2781091" y="3434224"/>
            <a:ext cx="6349988" cy="1938992"/>
          </a:xfrm>
          <a:prstGeom prst="rect">
            <a:avLst/>
          </a:prstGeom>
          <a:noFill/>
        </p:spPr>
        <p:txBody>
          <a:bodyPr wrap="square" rtlCol="0">
            <a:spAutoFit/>
          </a:bodyPr>
          <a:lstStyle/>
          <a:p>
            <a:pPr algn="r"/>
            <a:r>
              <a:rPr lang="en-US" sz="6000" b="1" dirty="0">
                <a:solidFill>
                  <a:srgbClr val="2D5FAA"/>
                </a:solidFill>
                <a:latin typeface="+mj-lt"/>
              </a:rPr>
              <a:t>¿CUÁL ES LA DOSIS</a:t>
            </a:r>
          </a:p>
          <a:p>
            <a:pPr algn="r"/>
            <a:r>
              <a:rPr lang="en-US" sz="6000" b="1" dirty="0">
                <a:solidFill>
                  <a:srgbClr val="2D5FAA"/>
                </a:solidFill>
                <a:latin typeface="+mj-lt"/>
              </a:rPr>
              <a:t>RECOMENDADA?</a:t>
            </a:r>
            <a:endParaRPr lang="es-ES" sz="6000" b="1" dirty="0">
              <a:solidFill>
                <a:srgbClr val="2D5FAA"/>
              </a:solidFill>
              <a:latin typeface="+mj-lt"/>
            </a:endParaRPr>
          </a:p>
        </p:txBody>
      </p:sp>
      <p:pic>
        <p:nvPicPr>
          <p:cNvPr id="12" name="Picture 11"/>
          <p:cNvPicPr>
            <a:picLocks noChangeAspect="1"/>
          </p:cNvPicPr>
          <p:nvPr/>
        </p:nvPicPr>
        <p:blipFill rotWithShape="1">
          <a:blip r:embed="rId3">
            <a:extLst>
              <a:ext uri="{28A0092B-C50C-407E-A947-70E740481C1C}">
                <a14:useLocalDpi xmlns:a14="http://schemas.microsoft.com/office/drawing/2010/main" val="0"/>
              </a:ext>
            </a:extLst>
          </a:blip>
          <a:srcRect t="31764" b="26307"/>
          <a:stretch/>
        </p:blipFill>
        <p:spPr>
          <a:xfrm>
            <a:off x="-828600" y="5373216"/>
            <a:ext cx="10873208" cy="3221629"/>
          </a:xfrm>
          <a:prstGeom prst="rect">
            <a:avLst/>
          </a:prstGeom>
        </p:spPr>
      </p:pic>
    </p:spTree>
    <p:extLst>
      <p:ext uri="{BB962C8B-B14F-4D97-AF65-F5344CB8AC3E}">
        <p14:creationId xmlns:p14="http://schemas.microsoft.com/office/powerpoint/2010/main" val="8523038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fill="hold"/>
                                        <p:tgtEl>
                                          <p:spTgt spid="12"/>
                                        </p:tgtEl>
                                        <p:attrNameLst>
                                          <p:attrName>ppt_x</p:attrName>
                                        </p:attrNameLst>
                                      </p:cBhvr>
                                      <p:tavLst>
                                        <p:tav tm="0">
                                          <p:val>
                                            <p:strVal val="#ppt_x"/>
                                          </p:val>
                                        </p:tav>
                                        <p:tav tm="100000">
                                          <p:val>
                                            <p:strVal val="#ppt_x"/>
                                          </p:val>
                                        </p:tav>
                                      </p:tavLst>
                                    </p:anim>
                                    <p:anim calcmode="lin" valueType="num">
                                      <p:cBhvr additive="base">
                                        <p:cTn id="8" dur="750" fill="hold"/>
                                        <p:tgtEl>
                                          <p:spTgt spid="12"/>
                                        </p:tgtEl>
                                        <p:attrNameLst>
                                          <p:attrName>ppt_y</p:attrName>
                                        </p:attrNameLst>
                                      </p:cBhvr>
                                      <p:tavLst>
                                        <p:tav tm="0">
                                          <p:val>
                                            <p:strVal val="1+#ppt_h/2"/>
                                          </p:val>
                                        </p:tav>
                                        <p:tav tm="100000">
                                          <p:val>
                                            <p:strVal val="#ppt_y"/>
                                          </p:val>
                                        </p:tav>
                                      </p:tavLst>
                                    </p:anim>
                                  </p:childTnLst>
                                </p:cTn>
                              </p:par>
                            </p:childTnLst>
                          </p:cTn>
                        </p:par>
                        <p:par>
                          <p:cTn id="9" fill="hold">
                            <p:stCondLst>
                              <p:cond delay="750"/>
                            </p:stCondLst>
                            <p:childTnLst>
                              <p:par>
                                <p:cTn id="10" presetID="22" presetClass="entr" presetSubtype="1"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p:cNvPicPr>
            <a:picLocks noChangeAspect="1"/>
          </p:cNvPicPr>
          <p:nvPr/>
        </p:nvPicPr>
        <p:blipFill>
          <a:blip r:embed="rId2" cstate="print"/>
          <a:stretch>
            <a:fillRect/>
          </a:stretch>
        </p:blipFill>
        <p:spPr>
          <a:xfrm>
            <a:off x="107504" y="1556792"/>
            <a:ext cx="1348617" cy="4194198"/>
          </a:xfrm>
          <a:prstGeom prst="rect">
            <a:avLst/>
          </a:prstGeom>
        </p:spPr>
      </p:pic>
      <p:pic>
        <p:nvPicPr>
          <p:cNvPr id="8" name="Imagem 7"/>
          <p:cNvPicPr>
            <a:picLocks noChangeAspect="1"/>
          </p:cNvPicPr>
          <p:nvPr/>
        </p:nvPicPr>
        <p:blipFill>
          <a:blip r:embed="rId3" cstate="print"/>
          <a:stretch>
            <a:fillRect/>
          </a:stretch>
        </p:blipFill>
        <p:spPr>
          <a:xfrm>
            <a:off x="1583407" y="1556792"/>
            <a:ext cx="7453089" cy="5040973"/>
          </a:xfrm>
          <a:prstGeom prst="rect">
            <a:avLst/>
          </a:prstGeom>
        </p:spPr>
      </p:pic>
      <p:sp>
        <p:nvSpPr>
          <p:cNvPr id="9" name="Rectangle 4"/>
          <p:cNvSpPr>
            <a:spLocks noChangeArrowheads="1"/>
          </p:cNvSpPr>
          <p:nvPr/>
        </p:nvSpPr>
        <p:spPr bwMode="auto">
          <a:xfrm>
            <a:off x="1619672" y="6596787"/>
            <a:ext cx="4572000" cy="215444"/>
          </a:xfrm>
          <a:prstGeom prst="rect">
            <a:avLst/>
          </a:prstGeom>
          <a:noFill/>
          <a:ln w="9525">
            <a:noFill/>
            <a:miter lim="800000"/>
            <a:headEnd/>
            <a:tailEnd/>
          </a:ln>
        </p:spPr>
        <p:txBody>
          <a:bodyPr>
            <a:spAutoFit/>
          </a:bodyPr>
          <a:lstStyle/>
          <a:p>
            <a:r>
              <a:rPr lang="pt-PT" sz="800" dirty="0">
                <a:latin typeface="+mj-lt"/>
              </a:rPr>
              <a:t>JAMA </a:t>
            </a:r>
            <a:r>
              <a:rPr lang="pt-PT" sz="800" dirty="0" err="1">
                <a:latin typeface="+mj-lt"/>
              </a:rPr>
              <a:t>PEDIATRICS</a:t>
            </a:r>
            <a:r>
              <a:rPr lang="pt-PT" sz="800" dirty="0">
                <a:latin typeface="+mj-lt"/>
              </a:rPr>
              <a:t> publicado online  5 de </a:t>
            </a:r>
            <a:r>
              <a:rPr lang="pt-PT" sz="800" dirty="0" err="1">
                <a:latin typeface="+mj-lt"/>
              </a:rPr>
              <a:t>octubre</a:t>
            </a:r>
            <a:r>
              <a:rPr lang="pt-PT" sz="800" dirty="0">
                <a:latin typeface="+mj-lt"/>
              </a:rPr>
              <a:t>, 2015</a:t>
            </a:r>
            <a:endParaRPr lang="es-ES" sz="800" dirty="0">
              <a:latin typeface="+mj-lt"/>
            </a:endParaRPr>
          </a:p>
        </p:txBody>
      </p:sp>
      <p:sp>
        <p:nvSpPr>
          <p:cNvPr id="7" name="TextBox 6"/>
          <p:cNvSpPr txBox="1"/>
          <p:nvPr/>
        </p:nvSpPr>
        <p:spPr>
          <a:xfrm>
            <a:off x="1619672" y="1484784"/>
            <a:ext cx="3672408" cy="5332229"/>
          </a:xfrm>
          <a:prstGeom prst="rect">
            <a:avLst/>
          </a:prstGeom>
          <a:solidFill>
            <a:schemeClr val="bg1"/>
          </a:solidFill>
        </p:spPr>
        <p:txBody>
          <a:bodyPr wrap="square" rtlCol="0">
            <a:spAutoFit/>
          </a:bodyPr>
          <a:lstStyle/>
          <a:p>
            <a:pPr algn="just"/>
            <a:r>
              <a:rPr lang="es-ES" sz="1150" b="1" dirty="0">
                <a:solidFill>
                  <a:srgbClr val="00B0F0"/>
                </a:solidFill>
                <a:latin typeface="+mj-lt"/>
              </a:rPr>
              <a:t>Las Malformaciones del Tubo Neural (MTN) </a:t>
            </a:r>
            <a:r>
              <a:rPr lang="es-ES" sz="1150" dirty="0">
                <a:latin typeface="+mj-lt"/>
              </a:rPr>
              <a:t>son graves defectos congénitos que ocurren en más de 300 000 partos al año en todo el mundo y que causan un aumento de mortalidad, morbilidad, discapacidad y cargas económicas. Alrededor del 50 % al 72 % de las MTN son evitables mediante el suplemento con ácido fólico adecuado en el periodo crítico de la organogénesis.</a:t>
            </a:r>
            <a:r>
              <a:rPr lang="es-ES" sz="1150" baseline="30000" dirty="0">
                <a:latin typeface="+mj-lt"/>
              </a:rPr>
              <a:t>1,2</a:t>
            </a:r>
            <a:r>
              <a:rPr lang="es-ES" sz="1150" dirty="0">
                <a:latin typeface="+mj-lt"/>
              </a:rPr>
              <a:t> Esta posibilidad está muy infrautilizada a pesar de los amplios esfuerzos de salud pública. Las políticas de suplementación con ácido fólico están fracasando y han ocasionado inequidades en la salud.</a:t>
            </a:r>
            <a:r>
              <a:rPr lang="es-ES" sz="1150" baseline="30000" dirty="0">
                <a:latin typeface="+mj-lt"/>
              </a:rPr>
              <a:t>3</a:t>
            </a:r>
            <a:r>
              <a:rPr lang="es-ES" sz="1150" dirty="0">
                <a:latin typeface="+mj-lt"/>
              </a:rPr>
              <a:t> Analizamos el estado actual del uso del ácido fólico antes de la concepción y proponemos la Estrategia de socorro con ácido fólico para aumentar la capacidad de la suplementación de ácido fólico en la prevención de las MTN.</a:t>
            </a:r>
          </a:p>
          <a:p>
            <a:pPr algn="just"/>
            <a:r>
              <a:rPr lang="es-ES" sz="1150" dirty="0">
                <a:latin typeface="+mj-lt"/>
              </a:rPr>
              <a:t> </a:t>
            </a:r>
          </a:p>
          <a:p>
            <a:pPr algn="just"/>
            <a:r>
              <a:rPr lang="es-ES" sz="1150" b="1" dirty="0">
                <a:solidFill>
                  <a:srgbClr val="00B0F0"/>
                </a:solidFill>
                <a:latin typeface="+mj-lt"/>
              </a:rPr>
              <a:t>Fracaso de la estrategia de prevención de las MTN</a:t>
            </a:r>
          </a:p>
          <a:p>
            <a:pPr algn="just"/>
            <a:r>
              <a:rPr lang="es-ES" sz="1150" dirty="0">
                <a:latin typeface="+mj-lt"/>
              </a:rPr>
              <a:t>De acuerdo con la recomendación de ingesta de ácido fólico de la US </a:t>
            </a:r>
            <a:r>
              <a:rPr lang="es-ES" sz="1150" dirty="0" err="1">
                <a:latin typeface="+mj-lt"/>
              </a:rPr>
              <a:t>Food</a:t>
            </a:r>
            <a:r>
              <a:rPr lang="es-ES" sz="1150" dirty="0">
                <a:latin typeface="+mj-lt"/>
              </a:rPr>
              <a:t> and </a:t>
            </a:r>
            <a:r>
              <a:rPr lang="es-ES" sz="1150" dirty="0" err="1">
                <a:latin typeface="+mj-lt"/>
              </a:rPr>
              <a:t>Drug</a:t>
            </a:r>
            <a:r>
              <a:rPr lang="es-ES" sz="1150" dirty="0">
                <a:latin typeface="+mj-lt"/>
              </a:rPr>
              <a:t> </a:t>
            </a:r>
            <a:r>
              <a:rPr lang="es-ES" sz="1150" dirty="0" err="1">
                <a:latin typeface="+mj-lt"/>
              </a:rPr>
              <a:t>Administration</a:t>
            </a:r>
            <a:r>
              <a:rPr lang="es-ES" sz="1150" dirty="0">
                <a:latin typeface="+mj-lt"/>
              </a:rPr>
              <a:t>, 0,4 mg/día, para todas las mujeres en edad fértil mediante la mejora de los hábitos alimentarios, la fortificación de alimentos y los suplementos dietéticos, las tasas de MTN en los EE. UU. han disminuido del 10,7 por 10 000 al 7,0 por 10 000 de 2009 a 2011.</a:t>
            </a:r>
            <a:r>
              <a:rPr lang="es-ES" sz="1150" baseline="30000" dirty="0">
                <a:latin typeface="+mj-lt"/>
              </a:rPr>
              <a:t>4</a:t>
            </a:r>
            <a:r>
              <a:rPr lang="es-ES" sz="1150" dirty="0">
                <a:latin typeface="+mj-lt"/>
              </a:rPr>
              <a:t> Sin embargo, en Europa, donde muchos países no tienen fortificación obligatoria y el uso de la suplementación es baja,</a:t>
            </a:r>
            <a:r>
              <a:rPr lang="es-ES" sz="1150" baseline="30000" dirty="0">
                <a:latin typeface="+mj-lt"/>
              </a:rPr>
              <a:t>3</a:t>
            </a:r>
            <a:r>
              <a:rPr lang="es-ES" sz="1150" dirty="0">
                <a:latin typeface="+mj-lt"/>
              </a:rPr>
              <a:t> las tasas de MTN en 2007 a 2011 fueron más altas (9,32 por 10 000 respectivamente).</a:t>
            </a:r>
          </a:p>
          <a:p>
            <a:pPr algn="just"/>
            <a:endParaRPr lang="es-ES" sz="1150" dirty="0">
              <a:latin typeface="+mj-lt"/>
            </a:endParaRPr>
          </a:p>
          <a:p>
            <a:pPr algn="just"/>
            <a:endParaRPr lang="pt-PT" sz="700" dirty="0">
              <a:latin typeface="+mj-lt"/>
            </a:endParaRPr>
          </a:p>
        </p:txBody>
      </p:sp>
      <p:sp>
        <p:nvSpPr>
          <p:cNvPr id="10" name="TextBox 9"/>
          <p:cNvSpPr txBox="1"/>
          <p:nvPr/>
        </p:nvSpPr>
        <p:spPr>
          <a:xfrm>
            <a:off x="5292080" y="1502193"/>
            <a:ext cx="3816424" cy="5224507"/>
          </a:xfrm>
          <a:prstGeom prst="rect">
            <a:avLst/>
          </a:prstGeom>
          <a:solidFill>
            <a:schemeClr val="bg1"/>
          </a:solidFill>
        </p:spPr>
        <p:txBody>
          <a:bodyPr wrap="square" rtlCol="0">
            <a:spAutoFit/>
          </a:bodyPr>
          <a:lstStyle/>
          <a:p>
            <a:pPr algn="just"/>
            <a:r>
              <a:rPr lang="es-ES" sz="1150" i="1" dirty="0">
                <a:latin typeface="+mj-lt"/>
              </a:rPr>
              <a:t>European Surveillance of Congengions</a:t>
            </a:r>
            <a:r>
              <a:rPr lang="es-ES" sz="1150" dirty="0">
                <a:latin typeface="+mj-lt"/>
              </a:rPr>
              <a:t>. Con el uso periconcepcional de ácido fólico, las tasas de MTN cayeron al 1,0 por 1000 y 0,6 por 1000 en las regiones del norte y el sur, respectivamente. Las tasas de MTN entre 129 923 embarazos indicaron que un «uso tardío» también se asoció con una marcada disminución en las tasas de MTN, en comparación con el «abandono temprano» (1,6 por 1000 frente a 3,3 por 1000 en la región norte y 0,7 por 1000 frente a 1,1 por 1000 en la región sur).</a:t>
            </a:r>
            <a:r>
              <a:rPr lang="es-ES" sz="1150" baseline="30000" dirty="0">
                <a:latin typeface="+mj-lt"/>
              </a:rPr>
              <a:t>1</a:t>
            </a:r>
          </a:p>
          <a:p>
            <a:r>
              <a:rPr lang="es-ES" sz="1150" dirty="0">
                <a:latin typeface="+mj-lt"/>
              </a:rPr>
              <a:t> </a:t>
            </a:r>
          </a:p>
          <a:p>
            <a:pPr algn="just"/>
            <a:r>
              <a:rPr lang="es-ES" sz="1150" b="1" dirty="0">
                <a:solidFill>
                  <a:srgbClr val="00B0F0"/>
                </a:solidFill>
                <a:latin typeface="+mj-lt"/>
              </a:rPr>
              <a:t>Periodo crítico de las MTN </a:t>
            </a:r>
          </a:p>
          <a:p>
            <a:pPr algn="just"/>
            <a:r>
              <a:rPr lang="es-ES" sz="1150" dirty="0">
                <a:latin typeface="+mj-lt"/>
              </a:rPr>
              <a:t>El cerebro y la médula espinal se desarrollan a partir del tubo neural por plegamiento de la placa neural tras el 15º día tras la concepción. La fusión de este plegamiento se completa entre los días 21º y 26º tras la concepción en el polo craneal y entre los días 23º y 28º en el polo caudal, respectivamente. Sin embargo, en la práctica clínica la llamada edad gestacional se calcula desde el primer día del último periodo menstrual. Por ello, en mujeres con un ciclo normal de 28 días, se deben añadir 14 días a la edad postconceptiva para calcular la edad gestacional. </a:t>
            </a:r>
          </a:p>
          <a:p>
            <a:pPr algn="just"/>
            <a:endParaRPr lang="es-ES" sz="1150" dirty="0">
              <a:latin typeface="+mj-lt"/>
            </a:endParaRPr>
          </a:p>
          <a:p>
            <a:pPr algn="just"/>
            <a:endParaRPr lang="pt-PT" sz="1150" dirty="0">
              <a:latin typeface="+mj-lt"/>
            </a:endParaRPr>
          </a:p>
          <a:p>
            <a:endParaRPr lang="pt-PT" sz="1150" dirty="0">
              <a:latin typeface="+mj-lt"/>
            </a:endParaRPr>
          </a:p>
          <a:p>
            <a:endParaRPr lang="pt-PT" sz="1150" dirty="0">
              <a:latin typeface="+mj-lt"/>
            </a:endParaRPr>
          </a:p>
          <a:p>
            <a:endParaRPr lang="pt-PT" sz="1150" dirty="0">
              <a:latin typeface="+mj-lt"/>
            </a:endParaRPr>
          </a:p>
          <a:p>
            <a:endParaRPr lang="pt-PT" sz="1150" dirty="0">
              <a:latin typeface="+mj-lt"/>
            </a:endParaRPr>
          </a:p>
          <a:p>
            <a:endParaRPr lang="pt-PT" sz="1150" dirty="0">
              <a:latin typeface="+mj-lt"/>
            </a:endParaRPr>
          </a:p>
          <a:p>
            <a:endParaRPr lang="pt-PT" sz="1150" dirty="0">
              <a:latin typeface="+mj-lt"/>
            </a:endParaRPr>
          </a:p>
        </p:txBody>
      </p:sp>
      <p:sp>
        <p:nvSpPr>
          <p:cNvPr id="12289" name="Rectangle 1"/>
          <p:cNvSpPr>
            <a:spLocks noChangeArrowheads="1"/>
          </p:cNvSpPr>
          <p:nvPr/>
        </p:nvSpPr>
        <p:spPr bwMode="auto">
          <a:xfrm>
            <a:off x="179512" y="1474912"/>
            <a:ext cx="1331887" cy="4401205"/>
          </a:xfrm>
          <a:prstGeom prst="rect">
            <a:avLst/>
          </a:prstGeom>
          <a:solidFill>
            <a:schemeClr val="bg1"/>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s-ES" sz="1000" b="1" i="0" u="none" strike="noStrike" cap="none" normalizeH="0" baseline="0" dirty="0">
                <a:ln>
                  <a:noFill/>
                </a:ln>
                <a:solidFill>
                  <a:srgbClr val="000000"/>
                </a:solidFill>
                <a:effectLst/>
                <a:latin typeface="+mj-lt"/>
                <a:ea typeface="Arial Unicode MS" pitchFamily="34" charset="-128"/>
                <a:cs typeface="Times New Roman" pitchFamily="18" charset="0"/>
              </a:rPr>
              <a:t>Yona Amitai. </a:t>
            </a:r>
            <a:br>
              <a:rPr kumimoji="0" lang="es-ES" sz="1000" b="1" i="0" u="none" strike="noStrike" cap="none" normalizeH="0" baseline="0" dirty="0">
                <a:ln>
                  <a:noFill/>
                </a:ln>
                <a:solidFill>
                  <a:srgbClr val="000000"/>
                </a:solidFill>
                <a:effectLst/>
                <a:latin typeface="+mj-lt"/>
                <a:ea typeface="Arial Unicode MS" pitchFamily="34" charset="-128"/>
                <a:cs typeface="Times New Roman" pitchFamily="18" charset="0"/>
              </a:rPr>
            </a:br>
            <a:r>
              <a:rPr kumimoji="0" lang="es-ES" sz="1000" b="1" i="0" u="none" strike="noStrike" cap="none" normalizeH="0" baseline="0" dirty="0">
                <a:ln>
                  <a:noFill/>
                </a:ln>
                <a:solidFill>
                  <a:srgbClr val="000000"/>
                </a:solidFill>
                <a:effectLst/>
                <a:latin typeface="+mj-lt"/>
                <a:ea typeface="Arial Unicode MS" pitchFamily="34" charset="-128"/>
                <a:cs typeface="Times New Roman" pitchFamily="18" charset="0"/>
              </a:rPr>
              <a:t>Dr. en Medicina</a:t>
            </a:r>
            <a:endParaRPr kumimoji="0" lang="pt-PT" sz="1000" b="1" i="0" u="none" strike="noStrike" cap="none" normalizeH="0" baseline="0" dirty="0">
              <a:ln>
                <a:noFill/>
              </a:ln>
              <a:solidFill>
                <a:schemeClr val="tx1"/>
              </a:solidFill>
              <a:effectLst/>
              <a:latin typeface="+mj-lt"/>
              <a:cs typeface="Arial"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dirty="0">
                <a:ln>
                  <a:noFill/>
                </a:ln>
                <a:solidFill>
                  <a:srgbClr val="000000"/>
                </a:solidFill>
                <a:effectLst/>
                <a:latin typeface="+mj-lt"/>
                <a:ea typeface="Arial Unicode MS" pitchFamily="34" charset="-128"/>
                <a:cs typeface="Times New Roman" pitchFamily="18" charset="0"/>
              </a:rPr>
              <a:t>Departamento de Gestión, Salud Pública y Gestión de la Salud, Universidad Bar Nan, RamatGan, Israel; y Programa Motherisk, División de Farmacología clínica y Toxicología, Sick Kids Hospital, Universidad de Toronto, Toronto, Ontario, Canadá.</a:t>
            </a:r>
            <a:endParaRPr kumimoji="0" lang="pt-PT" sz="1000" b="0" i="0" u="none" strike="noStrike" cap="none" normalizeH="0" baseline="0" dirty="0">
              <a:ln>
                <a:noFill/>
              </a:ln>
              <a:solidFill>
                <a:schemeClr val="tx1"/>
              </a:solidFill>
              <a:effectLst/>
              <a:latin typeface="+mj-lt"/>
              <a:cs typeface="Arial" pitchFamily="34"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s-ES" sz="1000" b="0" i="0" u="none" strike="noStrike" cap="none" normalizeH="0" baseline="0" dirty="0">
              <a:ln>
                <a:noFill/>
              </a:ln>
              <a:solidFill>
                <a:srgbClr val="000000"/>
              </a:solidFill>
              <a:effectLst/>
              <a:latin typeface="+mj-lt"/>
              <a:ea typeface="Arial Unicode MS" pitchFamily="34" charset="-128"/>
              <a:cs typeface="Times New Roman" pitchFamily="18"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dirty="0">
                <a:ln>
                  <a:noFill/>
                </a:ln>
                <a:solidFill>
                  <a:srgbClr val="000000"/>
                </a:solidFill>
                <a:effectLst/>
                <a:latin typeface="+mj-lt"/>
                <a:ea typeface="Arial Unicode MS" pitchFamily="34" charset="-128"/>
                <a:cs typeface="Times New Roman" pitchFamily="18" charset="0"/>
              </a:rPr>
              <a:t>Gideon Koren, </a:t>
            </a:r>
            <a:br>
              <a:rPr kumimoji="0" lang="es-ES" sz="1000" b="1" i="0" u="none" strike="noStrike" cap="none" normalizeH="0" baseline="0" dirty="0">
                <a:ln>
                  <a:noFill/>
                </a:ln>
                <a:solidFill>
                  <a:srgbClr val="000000"/>
                </a:solidFill>
                <a:effectLst/>
                <a:latin typeface="+mj-lt"/>
                <a:ea typeface="Arial Unicode MS" pitchFamily="34" charset="-128"/>
                <a:cs typeface="Times New Roman" pitchFamily="18" charset="0"/>
              </a:rPr>
            </a:br>
            <a:r>
              <a:rPr kumimoji="0" lang="es-ES" sz="1000" b="1" i="0" u="none" strike="noStrike" cap="none" normalizeH="0" baseline="0" dirty="0">
                <a:ln>
                  <a:noFill/>
                </a:ln>
                <a:solidFill>
                  <a:srgbClr val="000000"/>
                </a:solidFill>
                <a:effectLst/>
                <a:latin typeface="+mj-lt"/>
                <a:ea typeface="Arial Unicode MS" pitchFamily="34" charset="-128"/>
                <a:cs typeface="Times New Roman" pitchFamily="18" charset="0"/>
              </a:rPr>
              <a:t>Dr. en medicina, </a:t>
            </a:r>
          </a:p>
          <a:p>
            <a:pPr marL="0" marR="0" lvl="0" indent="0"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dirty="0">
                <a:ln>
                  <a:noFill/>
                </a:ln>
                <a:solidFill>
                  <a:srgbClr val="000000"/>
                </a:solidFill>
                <a:effectLst/>
                <a:latin typeface="+mj-lt"/>
                <a:ea typeface="Arial Unicode MS" pitchFamily="34" charset="-128"/>
                <a:cs typeface="Times New Roman" pitchFamily="18" charset="0"/>
              </a:rPr>
              <a:t>Socio del Royal College of Physicians and Surgeons of Canada</a:t>
            </a:r>
            <a:endParaRPr kumimoji="0" lang="pt-PT" sz="1000" b="0" i="0" u="none" strike="noStrike" cap="none" normalizeH="0" baseline="0" dirty="0">
              <a:ln>
                <a:noFill/>
              </a:ln>
              <a:solidFill>
                <a:schemeClr val="tx1"/>
              </a:solidFill>
              <a:effectLst/>
              <a:latin typeface="+mj-lt"/>
              <a:cs typeface="Arial"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dirty="0">
                <a:ln>
                  <a:noFill/>
                </a:ln>
                <a:solidFill>
                  <a:srgbClr val="000000"/>
                </a:solidFill>
                <a:effectLst/>
                <a:latin typeface="+mj-lt"/>
                <a:ea typeface="Arial Unicode MS" pitchFamily="34" charset="-128"/>
                <a:cs typeface="Times New Roman" pitchFamily="18" charset="0"/>
              </a:rPr>
              <a:t>Programa Motherisk, División de Farmacología clínica y Toxicología, Sick Kids Hospital, Universidad de Toronto, Toronto, Ontario, Canadá.</a:t>
            </a:r>
            <a:endParaRPr kumimoji="0" lang="es-ES" sz="1000" b="0" i="0" u="none" strike="noStrike" cap="none" normalizeH="0" baseline="0" dirty="0">
              <a:ln>
                <a:noFill/>
              </a:ln>
              <a:solidFill>
                <a:schemeClr val="tx1"/>
              </a:solidFill>
              <a:effectLst/>
              <a:latin typeface="+mj-lt"/>
              <a:cs typeface="Arial" pitchFamily="34" charset="0"/>
            </a:endParaRPr>
          </a:p>
        </p:txBody>
      </p:sp>
      <p:pic>
        <p:nvPicPr>
          <p:cNvPr id="4" name="Picture 3"/>
          <p:cNvPicPr>
            <a:picLocks noChangeAspect="1"/>
          </p:cNvPicPr>
          <p:nvPr/>
        </p:nvPicPr>
        <p:blipFill>
          <a:blip r:embed="rId4"/>
          <a:stretch>
            <a:fillRect/>
          </a:stretch>
        </p:blipFill>
        <p:spPr>
          <a:xfrm>
            <a:off x="101338" y="94165"/>
            <a:ext cx="7515962" cy="1390619"/>
          </a:xfrm>
          <a:prstGeom prst="rect">
            <a:avLst/>
          </a:prstGeom>
        </p:spPr>
      </p:pic>
      <p:sp>
        <p:nvSpPr>
          <p:cNvPr id="2" name="Rectangle 1"/>
          <p:cNvSpPr/>
          <p:nvPr/>
        </p:nvSpPr>
        <p:spPr>
          <a:xfrm>
            <a:off x="5346371" y="5252869"/>
            <a:ext cx="3708222" cy="623248"/>
          </a:xfrm>
          <a:prstGeom prst="rect">
            <a:avLst/>
          </a:prstGeom>
          <a:solidFill>
            <a:srgbClr val="FFFF00"/>
          </a:solidFill>
        </p:spPr>
        <p:txBody>
          <a:bodyPr wrap="square">
            <a:spAutoFit/>
          </a:bodyPr>
          <a:lstStyle/>
          <a:p>
            <a:pPr algn="just"/>
            <a:r>
              <a:rPr lang="es-ES" sz="1150" dirty="0">
                <a:latin typeface="+mj-lt"/>
              </a:rPr>
              <a:t>Así, el periodo crítico para la anencefalia es durante los días 35º a 40º gestacionales y para la espina bífida durante los días 37º a 42º (semana gestacional 6).</a:t>
            </a:r>
          </a:p>
        </p:txBody>
      </p:sp>
    </p:spTree>
    <p:extLst>
      <p:ext uri="{BB962C8B-B14F-4D97-AF65-F5344CB8AC3E}">
        <p14:creationId xmlns:p14="http://schemas.microsoft.com/office/powerpoint/2010/main" val="613859704"/>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a:blip r:embed="rId2" cstate="print"/>
          <a:stretch>
            <a:fillRect/>
          </a:stretch>
        </p:blipFill>
        <p:spPr>
          <a:xfrm>
            <a:off x="107504" y="1556792"/>
            <a:ext cx="8919374" cy="3762861"/>
          </a:xfrm>
          <a:prstGeom prst="rect">
            <a:avLst/>
          </a:prstGeom>
        </p:spPr>
      </p:pic>
      <p:sp>
        <p:nvSpPr>
          <p:cNvPr id="3" name="TextBox 2"/>
          <p:cNvSpPr txBox="1"/>
          <p:nvPr/>
        </p:nvSpPr>
        <p:spPr>
          <a:xfrm>
            <a:off x="35496" y="1238563"/>
            <a:ext cx="4464496" cy="4031873"/>
          </a:xfrm>
          <a:prstGeom prst="rect">
            <a:avLst/>
          </a:prstGeom>
          <a:solidFill>
            <a:schemeClr val="bg1"/>
          </a:solidFill>
        </p:spPr>
        <p:txBody>
          <a:bodyPr wrap="square" rtlCol="0">
            <a:spAutoFit/>
          </a:bodyPr>
          <a:lstStyle/>
          <a:p>
            <a:pPr algn="just"/>
            <a:r>
              <a:rPr lang="es-ES" sz="1400" b="1" dirty="0">
                <a:solidFill>
                  <a:srgbClr val="00B0F0"/>
                </a:solidFill>
                <a:latin typeface="+mj-lt"/>
              </a:rPr>
              <a:t>Recomendaciones para dosis diaria alta:</a:t>
            </a:r>
          </a:p>
          <a:p>
            <a:pPr algn="just"/>
            <a:r>
              <a:rPr lang="es-ES" sz="1400" b="1" dirty="0">
                <a:solidFill>
                  <a:srgbClr val="00B0F0"/>
                </a:solidFill>
                <a:latin typeface="+mj-lt"/>
              </a:rPr>
              <a:t>consideraciones farmacocinéticas</a:t>
            </a:r>
            <a:endParaRPr lang="pt-PT" sz="1400" b="1" dirty="0">
              <a:solidFill>
                <a:srgbClr val="00B0F0"/>
              </a:solidFill>
              <a:latin typeface="+mj-lt"/>
            </a:endParaRPr>
          </a:p>
          <a:p>
            <a:pPr algn="just"/>
            <a:r>
              <a:rPr lang="es-ES" sz="1200" dirty="0">
                <a:latin typeface="+mj-lt"/>
              </a:rPr>
              <a:t> </a:t>
            </a:r>
            <a:endParaRPr lang="pt-PT" sz="1200" dirty="0">
              <a:latin typeface="+mj-lt"/>
            </a:endParaRPr>
          </a:p>
          <a:p>
            <a:pPr algn="just"/>
            <a:r>
              <a:rPr lang="es-ES" sz="1200" dirty="0">
                <a:latin typeface="+mj-lt"/>
              </a:rPr>
              <a:t>Los estudios farmacocinéticos de las dosis únicas y diarias de ácido fólico de 1,1 mg y 5 mg demuestran concentraciones plasmáticas proporcionalmente más altas con la dosis de 5 mg.</a:t>
            </a:r>
            <a:r>
              <a:rPr lang="es-ES" sz="1200" baseline="30000" dirty="0">
                <a:latin typeface="+mj-lt"/>
              </a:rPr>
              <a:t>8</a:t>
            </a:r>
            <a:r>
              <a:rPr lang="es-ES" sz="1200" dirty="0">
                <a:latin typeface="+mj-lt"/>
              </a:rPr>
              <a:t> Se prevé una disminución proporcional constante en el riesgo de MTN con el incremento en folato de los eritrocitos, sin umbral mínimo.</a:t>
            </a:r>
            <a:r>
              <a:rPr lang="es-ES" sz="1200" baseline="30000" dirty="0">
                <a:latin typeface="+mj-lt"/>
              </a:rPr>
              <a:t>9</a:t>
            </a:r>
            <a:r>
              <a:rPr lang="es-ES" sz="1200" dirty="0">
                <a:latin typeface="+mj-lt"/>
              </a:rPr>
              <a:t> El efecto de aumentar la ingesta de ácido fólico sobre las concentraciones de folato plasmático y el riesgo de MTN se han evaluado. </a:t>
            </a:r>
          </a:p>
          <a:p>
            <a:pPr algn="just"/>
            <a:endParaRPr lang="es-ES" sz="1200" dirty="0">
              <a:latin typeface="+mj-lt"/>
            </a:endParaRPr>
          </a:p>
          <a:p>
            <a:pPr algn="just"/>
            <a:endParaRPr lang="es-ES" sz="1200" dirty="0">
              <a:latin typeface="+mj-lt"/>
            </a:endParaRPr>
          </a:p>
          <a:p>
            <a:pPr algn="just"/>
            <a:endParaRPr lang="es-ES" sz="1200" dirty="0">
              <a:latin typeface="+mj-lt"/>
            </a:endParaRPr>
          </a:p>
          <a:p>
            <a:pPr algn="just"/>
            <a:endParaRPr lang="es-ES" sz="1200" dirty="0">
              <a:latin typeface="+mj-lt"/>
            </a:endParaRPr>
          </a:p>
          <a:p>
            <a:pPr algn="just"/>
            <a:r>
              <a:rPr lang="es-ES" sz="1200" dirty="0">
                <a:latin typeface="+mj-lt"/>
              </a:rPr>
              <a:t>Estas consideraciones se refieren a la necesidad de alcanzar concentraciones de ácido fólico protectoras constantes. El caso de la Estrategia de socorro con ácido fólico es diferente, porque asume que se requerirán concentraciones de ácido fólico plasmáticas suficientemente altas alrededor del tubo neural fetal para otorgar prevención inmediata frente a las MTN antes de los días críticos del cierre de la médula espinal. </a:t>
            </a:r>
            <a:endParaRPr lang="pt-PT" sz="1200" dirty="0">
              <a:latin typeface="+mj-lt"/>
            </a:endParaRPr>
          </a:p>
        </p:txBody>
      </p:sp>
      <p:sp>
        <p:nvSpPr>
          <p:cNvPr id="4" name="TextBox 3"/>
          <p:cNvSpPr txBox="1"/>
          <p:nvPr/>
        </p:nvSpPr>
        <p:spPr>
          <a:xfrm>
            <a:off x="4572000" y="1484784"/>
            <a:ext cx="4454878" cy="3970318"/>
          </a:xfrm>
          <a:prstGeom prst="rect">
            <a:avLst/>
          </a:prstGeom>
          <a:solidFill>
            <a:srgbClr val="FFFF00"/>
          </a:solidFill>
        </p:spPr>
        <p:txBody>
          <a:bodyPr wrap="square" rtlCol="0">
            <a:spAutoFit/>
          </a:bodyPr>
          <a:lstStyle/>
          <a:p>
            <a:pPr algn="just">
              <a:spcAft>
                <a:spcPts val="0"/>
              </a:spcAft>
            </a:pPr>
            <a:r>
              <a:rPr lang="es-ES" sz="1200" dirty="0">
                <a:latin typeface="+mj-lt"/>
              </a:rPr>
              <a:t>La </a:t>
            </a:r>
            <a:r>
              <a:rPr lang="es-ES" sz="1200" b="1" dirty="0">
                <a:latin typeface="+mj-lt"/>
              </a:rPr>
              <a:t>Estrategia de socorro </a:t>
            </a:r>
            <a:r>
              <a:rPr lang="es-ES" sz="1200" dirty="0">
                <a:latin typeface="+mj-lt"/>
              </a:rPr>
              <a:t>con ácido fólico se sustenta, por ello, en los siguientes ejes:</a:t>
            </a:r>
          </a:p>
          <a:p>
            <a:pPr algn="just">
              <a:spcAft>
                <a:spcPts val="0"/>
              </a:spcAft>
            </a:pPr>
            <a:endParaRPr lang="pt-PT" sz="1200" dirty="0">
              <a:latin typeface="+mj-lt"/>
            </a:endParaRPr>
          </a:p>
          <a:p>
            <a:pPr algn="just">
              <a:spcAft>
                <a:spcPts val="0"/>
              </a:spcAft>
            </a:pPr>
            <a:r>
              <a:rPr lang="es-ES" sz="1200" dirty="0">
                <a:latin typeface="+mj-lt"/>
              </a:rPr>
              <a:t>1. Mujeres sin concentraciones de ácido fólico protectoras debido a un embarazo no planificado, o con baja adhesión a la ingesta de ácido fólico </a:t>
            </a:r>
            <a:r>
              <a:rPr lang="es-ES" sz="1200" dirty="0" err="1">
                <a:latin typeface="+mj-lt"/>
              </a:rPr>
              <a:t>preconceptivo</a:t>
            </a:r>
            <a:r>
              <a:rPr lang="es-ES" sz="1200" dirty="0">
                <a:latin typeface="+mj-lt"/>
              </a:rPr>
              <a:t>, que puedan tener una limitada oportunidad para elevar las concentraciones de ácido fólico a la detección del embarazo.</a:t>
            </a:r>
            <a:endParaRPr lang="pt-PT" sz="1200" dirty="0">
              <a:latin typeface="+mj-lt"/>
            </a:endParaRPr>
          </a:p>
          <a:p>
            <a:pPr algn="just">
              <a:spcAft>
                <a:spcPts val="0"/>
              </a:spcAft>
            </a:pPr>
            <a:r>
              <a:rPr lang="es-ES" sz="1200" dirty="0">
                <a:latin typeface="+mj-lt"/>
              </a:rPr>
              <a:t>2. Las dosis altas de ácido fólico logran mayores concentraciones plasmáticas en tiempos más cortos.</a:t>
            </a:r>
            <a:endParaRPr lang="pt-PT" sz="1200" dirty="0">
              <a:latin typeface="+mj-lt"/>
            </a:endParaRPr>
          </a:p>
          <a:p>
            <a:pPr algn="just">
              <a:spcAft>
                <a:spcPts val="0"/>
              </a:spcAft>
            </a:pPr>
            <a:r>
              <a:rPr lang="es-ES" sz="1200" dirty="0">
                <a:latin typeface="+mj-lt"/>
              </a:rPr>
              <a:t>3. A medida que cada vez más mujeres utilizan dispositivos caseros para la detección precoz del embarazo, más de ellas pueden beneficiarse de la Estrategia de socorro con ácido fólico.</a:t>
            </a:r>
            <a:endParaRPr lang="pt-PT" sz="1200" dirty="0">
              <a:latin typeface="+mj-lt"/>
            </a:endParaRPr>
          </a:p>
          <a:p>
            <a:pPr algn="just"/>
            <a:r>
              <a:rPr lang="es-ES" sz="1200" dirty="0">
                <a:latin typeface="+mj-lt"/>
              </a:rPr>
              <a:t>La adopción de este concepto requerirá vincular la detección precoz del embarazo con dispositivos caseros con un inicio inmediato de la </a:t>
            </a:r>
            <a:r>
              <a:rPr lang="es-ES" sz="1200" dirty="0" err="1">
                <a:latin typeface="+mj-lt"/>
              </a:rPr>
              <a:t>suplementación</a:t>
            </a:r>
            <a:r>
              <a:rPr lang="es-ES" sz="1200" dirty="0">
                <a:latin typeface="+mj-lt"/>
              </a:rPr>
              <a:t> con dosis altas de ácido fólico (5 mg/día). Este enfoque no debe sustituir a las recomendaciones de fortificación de los alimentos y la suplementación de ácido fólico antes de la concepción, sino que propone medidas adicionales como un «tratamiento de socorro» similar a la idea de la «píldora del día después».</a:t>
            </a:r>
            <a:endParaRPr lang="pt-PT" sz="1200" dirty="0">
              <a:latin typeface="+mj-lt"/>
            </a:endParaRPr>
          </a:p>
        </p:txBody>
      </p:sp>
      <p:sp>
        <p:nvSpPr>
          <p:cNvPr id="5" name="Rectangle 4"/>
          <p:cNvSpPr/>
          <p:nvPr/>
        </p:nvSpPr>
        <p:spPr>
          <a:xfrm>
            <a:off x="107700" y="3214717"/>
            <a:ext cx="4320088" cy="646331"/>
          </a:xfrm>
          <a:prstGeom prst="rect">
            <a:avLst/>
          </a:prstGeom>
          <a:solidFill>
            <a:srgbClr val="FFFF00"/>
          </a:solidFill>
        </p:spPr>
        <p:txBody>
          <a:bodyPr wrap="square">
            <a:spAutoFit/>
          </a:bodyPr>
          <a:lstStyle/>
          <a:p>
            <a:pPr algn="just"/>
            <a:r>
              <a:rPr lang="es-ES" sz="1200" dirty="0">
                <a:latin typeface="+mj-lt"/>
              </a:rPr>
              <a:t>Un incremento de 0,4 mg/día reduciría el riesgo de MTN en alrededor del 36%, mientras que para 0,5 mg/día reduciría el riesgo en aproximadamente un 85%.5</a:t>
            </a:r>
            <a:endParaRPr lang="pt-PT" sz="1200" dirty="0">
              <a:latin typeface="+mj-lt"/>
            </a:endParaRPr>
          </a:p>
        </p:txBody>
      </p:sp>
      <p:sp>
        <p:nvSpPr>
          <p:cNvPr id="6" name="Rectangle 5"/>
          <p:cNvSpPr/>
          <p:nvPr/>
        </p:nvSpPr>
        <p:spPr>
          <a:xfrm>
            <a:off x="107504" y="5230941"/>
            <a:ext cx="4320284" cy="646331"/>
          </a:xfrm>
          <a:prstGeom prst="rect">
            <a:avLst/>
          </a:prstGeom>
          <a:solidFill>
            <a:srgbClr val="FFFF00"/>
          </a:solidFill>
        </p:spPr>
        <p:txBody>
          <a:bodyPr wrap="square">
            <a:spAutoFit/>
          </a:bodyPr>
          <a:lstStyle/>
          <a:p>
            <a:pPr algn="just"/>
            <a:r>
              <a:rPr lang="es-ES" sz="1200" dirty="0">
                <a:latin typeface="+mj-lt"/>
              </a:rPr>
              <a:t>Por lo tanto, es conveniente esforzarse en alcanzar concentraciones de ácido fólico plasmáticas altas en el menor tiempo posible.</a:t>
            </a:r>
            <a:endParaRPr lang="pt-PT" sz="1200" dirty="0">
              <a:latin typeface="+mj-lt"/>
            </a:endParaRPr>
          </a:p>
        </p:txBody>
      </p:sp>
    </p:spTree>
    <p:extLst>
      <p:ext uri="{BB962C8B-B14F-4D97-AF65-F5344CB8AC3E}">
        <p14:creationId xmlns:p14="http://schemas.microsoft.com/office/powerpoint/2010/main" val="14911538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4"/>
          <p:cNvSpPr>
            <a:spLocks noChangeArrowheads="1"/>
          </p:cNvSpPr>
          <p:nvPr/>
        </p:nvSpPr>
        <p:spPr bwMode="auto">
          <a:xfrm>
            <a:off x="35496" y="6010841"/>
            <a:ext cx="4176464" cy="338554"/>
          </a:xfrm>
          <a:prstGeom prst="rect">
            <a:avLst/>
          </a:prstGeom>
          <a:noFill/>
          <a:ln w="9525">
            <a:noFill/>
            <a:miter lim="800000"/>
            <a:headEnd/>
            <a:tailEnd/>
          </a:ln>
        </p:spPr>
        <p:txBody>
          <a:bodyPr wrap="square">
            <a:spAutoFit/>
          </a:bodyPr>
          <a:lstStyle/>
          <a:p>
            <a:r>
              <a:rPr lang="en-US" sz="800" dirty="0">
                <a:solidFill>
                  <a:schemeClr val="bg1">
                    <a:lumMod val="50000"/>
                  </a:schemeClr>
                </a:solidFill>
                <a:latin typeface="Arial"/>
                <a:cs typeface="Arial"/>
              </a:rPr>
              <a:t>Wald NJ, </a:t>
            </a:r>
            <a:r>
              <a:rPr lang="en-US" sz="800" i="1" dirty="0">
                <a:solidFill>
                  <a:schemeClr val="bg1">
                    <a:lumMod val="50000"/>
                  </a:schemeClr>
                </a:solidFill>
                <a:latin typeface="Arial"/>
                <a:cs typeface="Arial"/>
              </a:rPr>
              <a:t>et al.</a:t>
            </a:r>
            <a:r>
              <a:rPr lang="en-US" sz="800" dirty="0">
                <a:solidFill>
                  <a:schemeClr val="bg1">
                    <a:lumMod val="50000"/>
                  </a:schemeClr>
                </a:solidFill>
                <a:latin typeface="Arial"/>
                <a:cs typeface="Arial"/>
              </a:rPr>
              <a:t> Lancet 2001;358:2069-2073.</a:t>
            </a:r>
          </a:p>
          <a:p>
            <a:r>
              <a:rPr lang="pt-PT" sz="800" dirty="0">
                <a:solidFill>
                  <a:schemeClr val="bg1">
                    <a:lumMod val="50000"/>
                  </a:schemeClr>
                </a:solidFill>
                <a:latin typeface="Arial"/>
                <a:cs typeface="Arial"/>
              </a:rPr>
              <a:t>Koren G </a:t>
            </a:r>
            <a:r>
              <a:rPr lang="pt-PT" sz="800" dirty="0" err="1">
                <a:solidFill>
                  <a:schemeClr val="bg1">
                    <a:lumMod val="50000"/>
                  </a:schemeClr>
                </a:solidFill>
                <a:latin typeface="Arial"/>
                <a:cs typeface="Arial"/>
              </a:rPr>
              <a:t>and</a:t>
            </a:r>
            <a:r>
              <a:rPr lang="en-US" sz="800" dirty="0">
                <a:solidFill>
                  <a:schemeClr val="bg1">
                    <a:lumMod val="50000"/>
                  </a:schemeClr>
                </a:solidFill>
                <a:latin typeface="Arial"/>
                <a:cs typeface="Arial"/>
              </a:rPr>
              <a:t> </a:t>
            </a:r>
            <a:r>
              <a:rPr lang="pt-PT" sz="800" dirty="0" err="1">
                <a:solidFill>
                  <a:schemeClr val="bg1">
                    <a:lumMod val="50000"/>
                  </a:schemeClr>
                </a:solidFill>
                <a:latin typeface="Arial"/>
                <a:cs typeface="Arial"/>
              </a:rPr>
              <a:t>Goh</a:t>
            </a:r>
            <a:r>
              <a:rPr lang="pt-PT" sz="800" dirty="0">
                <a:solidFill>
                  <a:schemeClr val="bg1">
                    <a:lumMod val="50000"/>
                  </a:schemeClr>
                </a:solidFill>
                <a:latin typeface="Arial"/>
                <a:cs typeface="Arial"/>
              </a:rPr>
              <a:t> YI. J </a:t>
            </a:r>
            <a:r>
              <a:rPr lang="pt-PT" sz="800" dirty="0" err="1">
                <a:solidFill>
                  <a:schemeClr val="bg1">
                    <a:lumMod val="50000"/>
                  </a:schemeClr>
                </a:solidFill>
                <a:latin typeface="Arial"/>
                <a:cs typeface="Arial"/>
              </a:rPr>
              <a:t>Obstet</a:t>
            </a:r>
            <a:r>
              <a:rPr lang="en-US" sz="800" dirty="0">
                <a:solidFill>
                  <a:schemeClr val="bg1">
                    <a:lumMod val="50000"/>
                  </a:schemeClr>
                </a:solidFill>
                <a:latin typeface="Arial"/>
                <a:cs typeface="Arial"/>
              </a:rPr>
              <a:t> </a:t>
            </a:r>
            <a:r>
              <a:rPr lang="pt-PT" sz="800" dirty="0" err="1">
                <a:solidFill>
                  <a:schemeClr val="bg1">
                    <a:lumMod val="50000"/>
                  </a:schemeClr>
                </a:solidFill>
                <a:latin typeface="Arial"/>
                <a:cs typeface="Arial"/>
              </a:rPr>
              <a:t>Gynaecol</a:t>
            </a:r>
            <a:r>
              <a:rPr lang="pt-PT" sz="800" dirty="0">
                <a:solidFill>
                  <a:schemeClr val="bg1">
                    <a:lumMod val="50000"/>
                  </a:schemeClr>
                </a:solidFill>
                <a:latin typeface="Arial"/>
                <a:cs typeface="Arial"/>
              </a:rPr>
              <a:t> Can 2007;29(12):992–996.</a:t>
            </a:r>
            <a:endParaRPr lang="es-ES" sz="800" dirty="0">
              <a:solidFill>
                <a:schemeClr val="bg1">
                  <a:lumMod val="50000"/>
                </a:schemeClr>
              </a:solidFill>
              <a:latin typeface="Arial"/>
              <a:cs typeface="Arial"/>
            </a:endParaRPr>
          </a:p>
        </p:txBody>
      </p:sp>
      <p:sp>
        <p:nvSpPr>
          <p:cNvPr id="10241"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300" b="0" i="0" u="none" strike="noStrike" cap="none" normalizeH="0" baseline="0">
                <a:ln>
                  <a:noFill/>
                </a:ln>
                <a:solidFill>
                  <a:srgbClr val="FFFFFF"/>
                </a:solidFill>
                <a:effectLst/>
                <a:latin typeface="Times New Roman" pitchFamily="18" charset="0"/>
                <a:ea typeface="Arial Unicode MS" pitchFamily="34" charset="-128"/>
                <a:cs typeface="Times New Roman" pitchFamily="18" charset="0"/>
              </a:rPr>
              <a:t>Disminución de DTN (%) con diferentes dosis de ácido fólico</a:t>
            </a:r>
            <a:endParaRPr kumimoji="0" lang="es-ES" sz="1800" b="0" i="0" u="none" strike="noStrike" cap="none" normalizeH="0" baseline="0">
              <a:ln>
                <a:noFill/>
              </a:ln>
              <a:solidFill>
                <a:schemeClr val="tx1"/>
              </a:solidFill>
              <a:effectLst/>
              <a:latin typeface="Arial" pitchFamily="34" charset="0"/>
              <a:cs typeface="Arial" pitchFamily="34" charset="0"/>
            </a:endParaRPr>
          </a:p>
        </p:txBody>
      </p:sp>
      <p:sp>
        <p:nvSpPr>
          <p:cNvPr id="7" name="TextBox 6"/>
          <p:cNvSpPr txBox="1"/>
          <p:nvPr/>
        </p:nvSpPr>
        <p:spPr>
          <a:xfrm>
            <a:off x="4499992" y="2132856"/>
            <a:ext cx="4443595" cy="4216539"/>
          </a:xfrm>
          <a:prstGeom prst="rect">
            <a:avLst/>
          </a:prstGeom>
          <a:solidFill>
            <a:srgbClr val="FFFF00"/>
          </a:solidFill>
          <a:effectLst>
            <a:outerShdw blurRad="50800" dist="38100" algn="l" rotWithShape="0">
              <a:prstClr val="black">
                <a:alpha val="40000"/>
              </a:prstClr>
            </a:outerShdw>
          </a:effectLst>
        </p:spPr>
        <p:txBody>
          <a:bodyPr wrap="square" rtlCol="0">
            <a:spAutoFit/>
          </a:bodyPr>
          <a:lstStyle/>
          <a:p>
            <a:pPr algn="just"/>
            <a:r>
              <a:rPr lang="es-ES" sz="1400" spc="50" noProof="1">
                <a:solidFill>
                  <a:srgbClr val="000000"/>
                </a:solidFill>
                <a:latin typeface="Calibri"/>
                <a:ea typeface="Arial Unicode MS"/>
                <a:cs typeface="Times New Roman"/>
              </a:rPr>
              <a:t>Durante casi 20 años, la dosis diaria recomendada de suplementación de folato ha sido de 0,4 mg. De hecho, los multivitamínicos prenatales contienen invariablemente 0,8 a 1,1 mg de ácido fólico, lo que ha llevado a la asunción de que la suplementación diaria con esta dosis es suficiente para prevenir las malformaciones del tubo neural. No obstante, en 2001, Wald revisó de manera sistemática todos los informes sobre la correlación entre dosis ingerida de folato y concentraciones séricas.</a:t>
            </a:r>
            <a:r>
              <a:rPr lang="es-ES" sz="1400" spc="50" baseline="30000" noProof="1">
                <a:solidFill>
                  <a:srgbClr val="000000"/>
                </a:solidFill>
                <a:latin typeface="Calibri"/>
                <a:ea typeface="Arial Unicode MS"/>
                <a:cs typeface="Times New Roman"/>
              </a:rPr>
              <a:t>19</a:t>
            </a:r>
            <a:r>
              <a:rPr lang="es-ES" sz="1400" spc="50" noProof="1">
                <a:solidFill>
                  <a:srgbClr val="000000"/>
                </a:solidFill>
                <a:latin typeface="Calibri"/>
                <a:ea typeface="Arial Unicode MS"/>
                <a:cs typeface="Times New Roman"/>
              </a:rPr>
              <a:t> Usando los datos de Daly </a:t>
            </a:r>
            <a:r>
              <a:rPr lang="es-ES" sz="1400" i="1" spc="50" noProof="1">
                <a:solidFill>
                  <a:srgbClr val="000000"/>
                </a:solidFill>
                <a:latin typeface="Calibri"/>
                <a:ea typeface="Arial Unicode MS"/>
                <a:cs typeface="Times New Roman"/>
              </a:rPr>
              <a:t>et al.</a:t>
            </a:r>
            <a:r>
              <a:rPr lang="es-ES" sz="1400" spc="50" noProof="1">
                <a:solidFill>
                  <a:srgbClr val="000000"/>
                </a:solidFill>
                <a:latin typeface="Calibri"/>
                <a:ea typeface="Arial Unicode MS"/>
                <a:cs typeface="Times New Roman"/>
              </a:rPr>
              <a:t>,</a:t>
            </a:r>
            <a:r>
              <a:rPr lang="es-ES" sz="1400" spc="50" baseline="30000" noProof="1">
                <a:solidFill>
                  <a:srgbClr val="000000"/>
                </a:solidFill>
                <a:latin typeface="Calibri"/>
                <a:ea typeface="Arial Unicode MS"/>
                <a:cs typeface="Times New Roman"/>
              </a:rPr>
              <a:t>15</a:t>
            </a:r>
            <a:r>
              <a:rPr lang="es-ES" sz="1400" spc="50" noProof="1">
                <a:solidFill>
                  <a:srgbClr val="000000"/>
                </a:solidFill>
                <a:latin typeface="Calibri"/>
                <a:ea typeface="Arial Unicode MS"/>
                <a:cs typeface="Times New Roman"/>
              </a:rPr>
              <a:t> que correlacionó los niveles de folato sérico materno con el riesgo de malformaciones del tubo neural, Wald concluyó que las dosis actualmente recomendadas de folato solo ofrecerán una protección parcial frente a las malformaciones del tubo neural. Según los análisis de Wald, serían necesarios 5 mg de folato al día para ofrecer un 90 % de protección frente a las MTN en la población prenatal</a:t>
            </a:r>
            <a:r>
              <a:rPr lang="es-ES" sz="1400" noProof="1"/>
              <a:t>.</a:t>
            </a:r>
            <a:r>
              <a:rPr lang="es-ES" sz="1400" baseline="30000" noProof="1"/>
              <a:t>19</a:t>
            </a:r>
            <a:r>
              <a:rPr lang="es-ES" sz="1600" spc="50" noProof="1">
                <a:solidFill>
                  <a:srgbClr val="000000"/>
                </a:solidFill>
                <a:latin typeface="Calibri"/>
                <a:cs typeface="Times New Roman"/>
              </a:rPr>
              <a:t> </a:t>
            </a:r>
            <a:endParaRPr lang="es-ES" sz="1400" noProof="1">
              <a:latin typeface="Arial Unicode MS"/>
            </a:endParaRPr>
          </a:p>
        </p:txBody>
      </p:sp>
      <p:sp>
        <p:nvSpPr>
          <p:cNvPr id="10" name="Rectangle 9"/>
          <p:cNvSpPr/>
          <p:nvPr/>
        </p:nvSpPr>
        <p:spPr>
          <a:xfrm>
            <a:off x="4499993" y="1430920"/>
            <a:ext cx="4443595" cy="584775"/>
          </a:xfrm>
          <a:prstGeom prst="rect">
            <a:avLst/>
          </a:prstGeom>
          <a:solidFill>
            <a:schemeClr val="bg1"/>
          </a:solidFill>
          <a:ln>
            <a:noFill/>
          </a:ln>
          <a:effectLst>
            <a:outerShdw blurRad="50800" dist="38100" algn="l" rotWithShape="0">
              <a:prstClr val="black">
                <a:alpha val="40000"/>
              </a:prstClr>
            </a:outerShdw>
          </a:effectLst>
        </p:spPr>
        <p:txBody>
          <a:bodyPr wrap="square">
            <a:spAutoFit/>
          </a:bodyPr>
          <a:lstStyle/>
          <a:p>
            <a:pPr algn="ctr">
              <a:spcAft>
                <a:spcPts val="0"/>
              </a:spcAft>
            </a:pPr>
            <a:r>
              <a:rPr lang="es-ES" sz="1600" b="1" u="sng" spc="50" dirty="0">
                <a:solidFill>
                  <a:srgbClr val="000000"/>
                </a:solidFill>
                <a:latin typeface="+mj-lt"/>
                <a:ea typeface="Verdana" panose="020B0604030504040204" pitchFamily="34" charset="0"/>
                <a:cs typeface="Verdana" panose="020B0604030504040204" pitchFamily="34" charset="0"/>
              </a:rPr>
              <a:t>LA DOSIS ÓPTIMA DE </a:t>
            </a:r>
            <a:r>
              <a:rPr lang="es-ES" sz="1600" b="1" u="sng" spc="50" noProof="1">
                <a:solidFill>
                  <a:srgbClr val="000000"/>
                </a:solidFill>
                <a:latin typeface="+mj-lt"/>
                <a:ea typeface="Verdana" panose="020B0604030504040204" pitchFamily="34" charset="0"/>
                <a:cs typeface="Verdana" panose="020B0604030504040204" pitchFamily="34" charset="0"/>
              </a:rPr>
              <a:t>SUPLEMENTACIÓN DE ÁCIDO FÓLICO</a:t>
            </a:r>
            <a:endParaRPr lang="es-ES" sz="1600" b="1" noProof="1">
              <a:latin typeface="+mj-lt"/>
              <a:ea typeface="Verdana" panose="020B0604030504040204" pitchFamily="34" charset="0"/>
              <a:cs typeface="Verdana" panose="020B0604030504040204" pitchFamily="34" charset="0"/>
            </a:endParaRPr>
          </a:p>
        </p:txBody>
      </p:sp>
      <p:cxnSp>
        <p:nvCxnSpPr>
          <p:cNvPr id="16" name="Straight Connector 15"/>
          <p:cNvCxnSpPr/>
          <p:nvPr/>
        </p:nvCxnSpPr>
        <p:spPr>
          <a:xfrm>
            <a:off x="4499993" y="2060848"/>
            <a:ext cx="4443595" cy="0"/>
          </a:xfrm>
          <a:prstGeom prst="line">
            <a:avLst/>
          </a:prstGeom>
          <a:ln w="57150">
            <a:solidFill>
              <a:schemeClr val="bg1">
                <a:lumMod val="65000"/>
              </a:schemeClr>
            </a:solidFill>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3"/>
          <a:stretch>
            <a:fillRect/>
          </a:stretch>
        </p:blipFill>
        <p:spPr>
          <a:xfrm>
            <a:off x="155339" y="1430920"/>
            <a:ext cx="4200637" cy="4039344"/>
          </a:xfrm>
          <a:prstGeom prst="rect">
            <a:avLst/>
          </a:prstGeom>
        </p:spPr>
      </p:pic>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3">
            <a:extLst>
              <a:ext uri="{28A0092B-C50C-407E-A947-70E740481C1C}">
                <a14:useLocalDpi xmlns:a14="http://schemas.microsoft.com/office/drawing/2010/main" val="0"/>
              </a:ext>
            </a:extLst>
          </a:blip>
          <a:srcRect l="14532" r="1697"/>
          <a:stretch/>
        </p:blipFill>
        <p:spPr>
          <a:xfrm>
            <a:off x="4355976" y="1236114"/>
            <a:ext cx="6408712" cy="5505254"/>
          </a:xfrm>
          <a:prstGeom prst="ellipse">
            <a:avLst/>
          </a:prstGeom>
        </p:spPr>
      </p:pic>
      <p:sp>
        <p:nvSpPr>
          <p:cNvPr id="6" name="Title 2"/>
          <p:cNvSpPr txBox="1">
            <a:spLocks/>
          </p:cNvSpPr>
          <p:nvPr/>
        </p:nvSpPr>
        <p:spPr>
          <a:xfrm>
            <a:off x="251520" y="260648"/>
            <a:ext cx="6624736" cy="5616624"/>
          </a:xfrm>
          <a:prstGeom prst="rect">
            <a:avLst/>
          </a:prstGeom>
        </p:spPr>
        <p:txBody>
          <a:bodyPr/>
          <a:lstStyle>
            <a:lvl1pPr algn="l" rtl="0" eaLnBrk="1" latinLnBrk="0" hangingPunct="1">
              <a:spcBef>
                <a:spcPct val="0"/>
              </a:spcBef>
              <a:buNone/>
              <a:defRPr kumimoji="0" sz="3600" b="0" kern="1200">
                <a:ln>
                  <a:noFill/>
                </a:ln>
                <a:solidFill>
                  <a:srgbClr val="B11B7E"/>
                </a:solidFill>
                <a:effectLst/>
                <a:latin typeface="+mj-lt"/>
                <a:ea typeface="+mj-ea"/>
                <a:cs typeface="+mj-cs"/>
              </a:defRPr>
            </a:lvl1pPr>
          </a:lstStyle>
          <a:p>
            <a:r>
              <a:rPr lang="en-US" sz="5000" b="1" dirty="0">
                <a:solidFill>
                  <a:srgbClr val="2D5FAA"/>
                </a:solidFill>
              </a:rPr>
              <a:t>¿QUÉ PUEDEN OBTENER </a:t>
            </a:r>
            <a:r>
              <a:rPr lang="en-US" sz="5000" b="1" spc="-150" dirty="0">
                <a:solidFill>
                  <a:srgbClr val="2D5FAA"/>
                </a:solidFill>
              </a:rPr>
              <a:t>LAS EMBARAZADAS </a:t>
            </a:r>
          </a:p>
          <a:p>
            <a:r>
              <a:rPr lang="en-US" sz="5000" b="1" spc="-150" dirty="0">
                <a:solidFill>
                  <a:srgbClr val="2D5FAA"/>
                </a:solidFill>
              </a:rPr>
              <a:t>DE LA </a:t>
            </a:r>
          </a:p>
          <a:p>
            <a:r>
              <a:rPr lang="en-US" sz="5000" b="1" dirty="0">
                <a:solidFill>
                  <a:srgbClr val="2D5FAA"/>
                </a:solidFill>
              </a:rPr>
              <a:t>PREVENCIÓN </a:t>
            </a:r>
          </a:p>
          <a:p>
            <a:r>
              <a:rPr lang="en-US" sz="5000" b="1" dirty="0">
                <a:solidFill>
                  <a:srgbClr val="2D5FAA"/>
                </a:solidFill>
              </a:rPr>
              <a:t>CON ÁCIDO </a:t>
            </a:r>
          </a:p>
          <a:p>
            <a:r>
              <a:rPr lang="en-US" sz="5000" b="1" dirty="0">
                <a:solidFill>
                  <a:srgbClr val="2D5FAA"/>
                </a:solidFill>
              </a:rPr>
              <a:t>FÓLICO?</a:t>
            </a:r>
            <a:endParaRPr lang="es-ES" sz="5000" b="1" dirty="0">
              <a:solidFill>
                <a:srgbClr val="2D5FAA"/>
              </a:solidFill>
            </a:endParaRPr>
          </a:p>
        </p:txBody>
      </p:sp>
      <p:pic>
        <p:nvPicPr>
          <p:cNvPr id="11" name="Picture 10"/>
          <p:cNvPicPr>
            <a:picLocks noChangeAspect="1"/>
          </p:cNvPicPr>
          <p:nvPr/>
        </p:nvPicPr>
        <p:blipFill rotWithShape="1">
          <a:blip r:embed="rId4" cstate="print">
            <a:extLst>
              <a:ext uri="{28A0092B-C50C-407E-A947-70E740481C1C}">
                <a14:useLocalDpi xmlns:a14="http://schemas.microsoft.com/office/drawing/2010/main" val="0"/>
              </a:ext>
            </a:extLst>
          </a:blip>
          <a:srcRect l="21823" t="11793" r="24262" b="8381"/>
          <a:stretch/>
        </p:blipFill>
        <p:spPr>
          <a:xfrm>
            <a:off x="755576" y="4941168"/>
            <a:ext cx="946448" cy="1983033"/>
          </a:xfrm>
          <a:prstGeom prst="rect">
            <a:avLst/>
          </a:prstGeom>
        </p:spPr>
      </p:pic>
      <p:pic>
        <p:nvPicPr>
          <p:cNvPr id="12" name="Picture 11"/>
          <p:cNvPicPr>
            <a:picLocks noChangeAspect="1"/>
          </p:cNvPicPr>
          <p:nvPr/>
        </p:nvPicPr>
        <p:blipFill rotWithShape="1">
          <a:blip r:embed="rId5">
            <a:extLst>
              <a:ext uri="{28A0092B-C50C-407E-A947-70E740481C1C}">
                <a14:useLocalDpi xmlns:a14="http://schemas.microsoft.com/office/drawing/2010/main" val="0"/>
              </a:ext>
            </a:extLst>
          </a:blip>
          <a:srcRect t="24150" b="28600"/>
          <a:stretch/>
        </p:blipFill>
        <p:spPr>
          <a:xfrm>
            <a:off x="-818366" y="5517231"/>
            <a:ext cx="3284495" cy="2196138"/>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fill="hold"/>
                                        <p:tgtEl>
                                          <p:spTgt spid="12"/>
                                        </p:tgtEl>
                                        <p:attrNameLst>
                                          <p:attrName>ppt_x</p:attrName>
                                        </p:attrNameLst>
                                      </p:cBhvr>
                                      <p:tavLst>
                                        <p:tav tm="0">
                                          <p:val>
                                            <p:strVal val="#ppt_x"/>
                                          </p:val>
                                        </p:tav>
                                        <p:tav tm="100000">
                                          <p:val>
                                            <p:strVal val="#ppt_x"/>
                                          </p:val>
                                        </p:tav>
                                      </p:tavLst>
                                    </p:anim>
                                    <p:anim calcmode="lin" valueType="num">
                                      <p:cBhvr additive="base">
                                        <p:cTn id="8" dur="750" fill="hold"/>
                                        <p:tgtEl>
                                          <p:spTgt spid="12"/>
                                        </p:tgtEl>
                                        <p:attrNameLst>
                                          <p:attrName>ppt_y</p:attrName>
                                        </p:attrNameLst>
                                      </p:cBhvr>
                                      <p:tavLst>
                                        <p:tav tm="0">
                                          <p:val>
                                            <p:strVal val="1+#ppt_h/2"/>
                                          </p:val>
                                        </p:tav>
                                        <p:tav tm="100000">
                                          <p:val>
                                            <p:strVal val="#ppt_y"/>
                                          </p:val>
                                        </p:tav>
                                      </p:tavLst>
                                    </p:anim>
                                  </p:childTnLst>
                                </p:cTn>
                              </p:par>
                            </p:childTnLst>
                          </p:cTn>
                        </p:par>
                        <p:par>
                          <p:cTn id="9" fill="hold">
                            <p:stCondLst>
                              <p:cond delay="750"/>
                            </p:stCondLst>
                            <p:childTnLst>
                              <p:par>
                                <p:cTn id="10" presetID="2" presetClass="entr" presetSubtype="4" fill="hold" nodeType="after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750" fill="hold"/>
                                        <p:tgtEl>
                                          <p:spTgt spid="11"/>
                                        </p:tgtEl>
                                        <p:attrNameLst>
                                          <p:attrName>ppt_x</p:attrName>
                                        </p:attrNameLst>
                                      </p:cBhvr>
                                      <p:tavLst>
                                        <p:tav tm="0">
                                          <p:val>
                                            <p:strVal val="#ppt_x"/>
                                          </p:val>
                                        </p:tav>
                                        <p:tav tm="100000">
                                          <p:val>
                                            <p:strVal val="#ppt_x"/>
                                          </p:val>
                                        </p:tav>
                                      </p:tavLst>
                                    </p:anim>
                                    <p:anim calcmode="lin" valueType="num">
                                      <p:cBhvr additive="base">
                                        <p:cTn id="13" dur="750" fill="hold"/>
                                        <p:tgtEl>
                                          <p:spTgt spid="11"/>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22" presetClass="entr" presetSubtype="2" fill="hold"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right)">
                                      <p:cBhvr>
                                        <p:cTn id="1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6712"/>
            <a:ext cx="8147248" cy="5760640"/>
          </a:xfrm>
        </p:spPr>
        <p:txBody>
          <a:bodyPr>
            <a:normAutofit/>
          </a:bodyPr>
          <a:lstStyle/>
          <a:p>
            <a:pPr marL="0" indent="0" algn="just">
              <a:buNone/>
            </a:pPr>
            <a:r>
              <a:rPr lang="es-ES" b="1" u="sng" dirty="0">
                <a:solidFill>
                  <a:srgbClr val="EC6707"/>
                </a:solidFill>
              </a:rPr>
              <a:t>El riesgo de MTN es 10 veces más alto en las personas con un estado deficiente de folato</a:t>
            </a:r>
            <a:r>
              <a:rPr lang="es-ES" dirty="0">
                <a:solidFill>
                  <a:srgbClr val="EC6707"/>
                </a:solidFill>
              </a:rPr>
              <a:t> </a:t>
            </a:r>
            <a:r>
              <a:rPr lang="es-ES" dirty="0"/>
              <a:t>que en los que tienen un estado normal.</a:t>
            </a:r>
            <a:r>
              <a:rPr lang="es-ES" baseline="30000" dirty="0"/>
              <a:t>1</a:t>
            </a:r>
          </a:p>
          <a:p>
            <a:pPr marL="0" indent="0" algn="just">
              <a:buNone/>
            </a:pPr>
            <a:endParaRPr lang="en-US" b="1" noProof="1"/>
          </a:p>
          <a:p>
            <a:pPr marL="0" indent="0" algn="just">
              <a:buNone/>
            </a:pPr>
            <a:r>
              <a:rPr lang="en-US" b="1" noProof="1"/>
              <a:t>El nacimiento prematuro </a:t>
            </a:r>
            <a:r>
              <a:rPr lang="en-US" noProof="1"/>
              <a:t>es la causa principal de mortalidad neonatal.</a:t>
            </a:r>
            <a:r>
              <a:rPr lang="en-US" baseline="30000" noProof="1"/>
              <a:t>2</a:t>
            </a:r>
          </a:p>
          <a:p>
            <a:pPr lvl="1" algn="just">
              <a:buClr>
                <a:srgbClr val="EC6707"/>
              </a:buClr>
            </a:pPr>
            <a:r>
              <a:rPr lang="en-US" dirty="0"/>
              <a:t>1</a:t>
            </a:r>
            <a:r>
              <a:rPr lang="sah-RU" noProof="1"/>
              <a:t>/5 retraso mental;</a:t>
            </a:r>
          </a:p>
          <a:p>
            <a:pPr lvl="1" algn="just">
              <a:buClr>
                <a:srgbClr val="EC6707"/>
              </a:buClr>
            </a:pPr>
            <a:r>
              <a:rPr lang="sah-RU" noProof="1"/>
              <a:t>1/3 defectos de la visión;</a:t>
            </a:r>
          </a:p>
          <a:p>
            <a:pPr lvl="1" algn="just">
              <a:buClr>
                <a:srgbClr val="EC6707"/>
              </a:buClr>
            </a:pPr>
            <a:r>
              <a:rPr lang="sah-RU" noProof="1"/>
              <a:t>1/2 parálisis cerebral.</a:t>
            </a:r>
          </a:p>
          <a:p>
            <a:pPr algn="just"/>
            <a:endParaRPr lang="es-ES" dirty="0"/>
          </a:p>
          <a:p>
            <a:pPr marL="0" indent="0" algn="just">
              <a:buNone/>
            </a:pPr>
            <a:r>
              <a:rPr lang="en-US" b="1" noProof="1"/>
              <a:t>Las mujeres que toman suplementos de ácido fólico </a:t>
            </a:r>
            <a:r>
              <a:rPr lang="en-US" noProof="1"/>
              <a:t>durante al menos un año antes de la concepción </a:t>
            </a:r>
            <a:r>
              <a:rPr lang="en-US" b="1" noProof="1"/>
              <a:t>tenían</a:t>
            </a:r>
            <a:r>
              <a:rPr lang="en-US" b="1" baseline="30000" noProof="1"/>
              <a:t>3</a:t>
            </a:r>
            <a:r>
              <a:rPr lang="en-US" dirty="0"/>
              <a:t>:</a:t>
            </a:r>
          </a:p>
          <a:p>
            <a:pPr lvl="1" algn="just">
              <a:buClr>
                <a:srgbClr val="EC6707"/>
              </a:buClr>
            </a:pPr>
            <a:r>
              <a:rPr lang="en-US" noProof="1"/>
              <a:t>Una disminución de más del 70 % del riesgo de nacimientos prematuros espontáneos antes de las 28 semanas</a:t>
            </a:r>
            <a:r>
              <a:rPr lang="en-US" dirty="0"/>
              <a:t>;</a:t>
            </a:r>
          </a:p>
          <a:p>
            <a:pPr lvl="1" algn="just">
              <a:buClr>
                <a:srgbClr val="EC6707"/>
              </a:buClr>
            </a:pPr>
            <a:r>
              <a:rPr lang="en-US" noProof="1"/>
              <a:t>Una disminución del 50 % del mismo riesgo entre las 28-32 </a:t>
            </a:r>
            <a:r>
              <a:rPr lang="pt-PT" noProof="1"/>
              <a:t>semanas</a:t>
            </a:r>
            <a:r>
              <a:rPr lang="en-US" dirty="0"/>
              <a:t>.</a:t>
            </a:r>
            <a:endParaRPr lang="es-ES" dirty="0"/>
          </a:p>
          <a:p>
            <a:endParaRPr lang="pt-PT" dirty="0"/>
          </a:p>
        </p:txBody>
      </p:sp>
      <p:sp>
        <p:nvSpPr>
          <p:cNvPr id="4" name="Slide Number Placeholder 3"/>
          <p:cNvSpPr>
            <a:spLocks noGrp="1"/>
          </p:cNvSpPr>
          <p:nvPr>
            <p:ph type="sldNum" sz="quarter" idx="12"/>
          </p:nvPr>
        </p:nvSpPr>
        <p:spPr/>
        <p:txBody>
          <a:bodyPr/>
          <a:lstStyle/>
          <a:p>
            <a:fld id="{03667C4B-6D06-491C-A04A-E41D55AFBBED}" type="slidenum">
              <a:rPr lang="en-GB" smtClean="0"/>
              <a:pPr/>
              <a:t>26</a:t>
            </a:fld>
            <a:endParaRPr lang="en-GB"/>
          </a:p>
        </p:txBody>
      </p:sp>
      <p:sp>
        <p:nvSpPr>
          <p:cNvPr id="5" name="Rectangle 5"/>
          <p:cNvSpPr>
            <a:spLocks noChangeArrowheads="1"/>
          </p:cNvSpPr>
          <p:nvPr/>
        </p:nvSpPr>
        <p:spPr bwMode="auto">
          <a:xfrm>
            <a:off x="457200" y="6279703"/>
            <a:ext cx="5915000" cy="461665"/>
          </a:xfrm>
          <a:prstGeom prst="rect">
            <a:avLst/>
          </a:prstGeom>
          <a:noFill/>
          <a:ln w="9525">
            <a:noFill/>
            <a:miter lim="800000"/>
            <a:headEnd/>
            <a:tailEnd/>
          </a:ln>
        </p:spPr>
        <p:txBody>
          <a:bodyPr wrap="square">
            <a:spAutoFit/>
          </a:bodyPr>
          <a:lstStyle/>
          <a:p>
            <a:pPr marL="228600" indent="-228600">
              <a:buFontTx/>
              <a:buAutoNum type="arabicParenR"/>
            </a:pPr>
            <a:r>
              <a:rPr lang="en-US" sz="800" dirty="0">
                <a:solidFill>
                  <a:schemeClr val="bg1">
                    <a:lumMod val="50000"/>
                  </a:schemeClr>
                </a:solidFill>
                <a:latin typeface="Arial"/>
              </a:rPr>
              <a:t>Consulta mixta de expertos FAO/OMS sobre necesidades de vitaminas y minerales en la nutrición humana. OMS 2004.</a:t>
            </a:r>
            <a:endParaRPr lang="es-ES" sz="800" dirty="0">
              <a:solidFill>
                <a:schemeClr val="bg1">
                  <a:lumMod val="50000"/>
                </a:schemeClr>
              </a:solidFill>
              <a:latin typeface="Arial"/>
              <a:cs typeface="Arial"/>
            </a:endParaRPr>
          </a:p>
          <a:p>
            <a:pPr marL="228600" indent="-228600">
              <a:buFontTx/>
              <a:buAutoNum type="arabicParenR"/>
            </a:pPr>
            <a:r>
              <a:rPr lang="en-US" sz="800" dirty="0">
                <a:solidFill>
                  <a:schemeClr val="bg1">
                    <a:lumMod val="50000"/>
                  </a:schemeClr>
                </a:solidFill>
                <a:latin typeface="Arial"/>
              </a:rPr>
              <a:t>Callaway L, </a:t>
            </a:r>
            <a:r>
              <a:rPr lang="en-US" sz="800" i="1" dirty="0">
                <a:solidFill>
                  <a:schemeClr val="bg1">
                    <a:lumMod val="50000"/>
                  </a:schemeClr>
                </a:solidFill>
                <a:latin typeface="Arial"/>
              </a:rPr>
              <a:t>et al. </a:t>
            </a:r>
            <a:r>
              <a:rPr lang="en-US" sz="800" dirty="0">
                <a:solidFill>
                  <a:schemeClr val="bg1">
                    <a:lumMod val="50000"/>
                  </a:schemeClr>
                </a:solidFill>
                <a:latin typeface="Arial"/>
              </a:rPr>
              <a:t>PLoS Medicine. 2009;6(5):e1000061.</a:t>
            </a:r>
          </a:p>
          <a:p>
            <a:pPr marL="228600" indent="-228600">
              <a:buFontTx/>
              <a:buAutoNum type="arabicParenR"/>
            </a:pPr>
            <a:r>
              <a:rPr lang="en-US" sz="800" dirty="0">
                <a:solidFill>
                  <a:schemeClr val="bg1">
                    <a:lumMod val="50000"/>
                  </a:schemeClr>
                </a:solidFill>
                <a:latin typeface="Arial"/>
              </a:rPr>
              <a:t>Bukowski, </a:t>
            </a:r>
            <a:r>
              <a:rPr lang="en-US" sz="800" i="1" dirty="0">
                <a:solidFill>
                  <a:schemeClr val="bg1">
                    <a:lumMod val="50000"/>
                  </a:schemeClr>
                </a:solidFill>
                <a:latin typeface="Arial"/>
              </a:rPr>
              <a:t>et al. </a:t>
            </a:r>
            <a:r>
              <a:rPr lang="en-US" sz="800" dirty="0">
                <a:solidFill>
                  <a:schemeClr val="bg1">
                    <a:lumMod val="50000"/>
                  </a:schemeClr>
                </a:solidFill>
                <a:latin typeface="Arial"/>
              </a:rPr>
              <a:t>PLoS Med 2009;6(5):e1000061.</a:t>
            </a:r>
            <a:endParaRPr lang="es-ES" sz="800" dirty="0">
              <a:solidFill>
                <a:schemeClr val="bg1">
                  <a:lumMod val="50000"/>
                </a:schemeClr>
              </a:solidFill>
              <a:latin typeface="Arial"/>
              <a:cs typeface="Arial"/>
            </a:endParaRPr>
          </a:p>
        </p:txBody>
      </p:sp>
    </p:spTree>
    <p:extLst>
      <p:ext uri="{BB962C8B-B14F-4D97-AF65-F5344CB8AC3E}">
        <p14:creationId xmlns:p14="http://schemas.microsoft.com/office/powerpoint/2010/main" val="217148321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3667C4B-6D06-491C-A04A-E41D55AFBBED}" type="slidenum">
              <a:rPr lang="en-GB" smtClean="0"/>
              <a:pPr/>
              <a:t>27</a:t>
            </a:fld>
            <a:endParaRPr lang="en-GB"/>
          </a:p>
        </p:txBody>
      </p:sp>
      <p:sp>
        <p:nvSpPr>
          <p:cNvPr id="5" name="Rectangle 5"/>
          <p:cNvSpPr>
            <a:spLocks noChangeArrowheads="1"/>
          </p:cNvSpPr>
          <p:nvPr/>
        </p:nvSpPr>
        <p:spPr bwMode="auto">
          <a:xfrm>
            <a:off x="1417384" y="6220586"/>
            <a:ext cx="2668759" cy="584776"/>
          </a:xfrm>
          <a:prstGeom prst="rect">
            <a:avLst/>
          </a:prstGeom>
          <a:noFill/>
          <a:ln w="9525">
            <a:noFill/>
            <a:miter lim="800000"/>
            <a:headEnd/>
            <a:tailEnd/>
          </a:ln>
        </p:spPr>
        <p:txBody>
          <a:bodyPr wrap="square">
            <a:spAutoFit/>
          </a:bodyPr>
          <a:lstStyle/>
          <a:p>
            <a:pPr marL="228600" indent="-228600" algn="just">
              <a:buFontTx/>
              <a:buAutoNum type="arabicParenR"/>
            </a:pPr>
            <a:r>
              <a:rPr lang="en-US" sz="800" dirty="0">
                <a:solidFill>
                  <a:schemeClr val="bg1">
                    <a:lumMod val="50000"/>
                  </a:schemeClr>
                </a:solidFill>
                <a:latin typeface="Arial"/>
              </a:rPr>
              <a:t>Wilson RD, </a:t>
            </a:r>
            <a:r>
              <a:rPr lang="en-US" sz="800" i="1" dirty="0">
                <a:solidFill>
                  <a:schemeClr val="bg1">
                    <a:lumMod val="50000"/>
                  </a:schemeClr>
                </a:solidFill>
                <a:latin typeface="Arial"/>
              </a:rPr>
              <a:t>et al. </a:t>
            </a:r>
            <a:r>
              <a:rPr lang="en-US" sz="800" dirty="0">
                <a:solidFill>
                  <a:schemeClr val="bg1">
                    <a:lumMod val="50000"/>
                  </a:schemeClr>
                </a:solidFill>
                <a:latin typeface="Arial"/>
              </a:rPr>
              <a:t>JOGC 2007;29(12):1003-10013.</a:t>
            </a:r>
          </a:p>
          <a:p>
            <a:pPr marL="228600" indent="-228600" algn="just">
              <a:buFontTx/>
              <a:buAutoNum type="arabicParenR"/>
            </a:pPr>
            <a:r>
              <a:rPr lang="en-US" sz="800" dirty="0">
                <a:solidFill>
                  <a:schemeClr val="bg1">
                    <a:lumMod val="50000"/>
                  </a:schemeClr>
                </a:solidFill>
                <a:latin typeface="Arial"/>
              </a:rPr>
              <a:t>Wald NJ, </a:t>
            </a:r>
            <a:r>
              <a:rPr lang="en-US" sz="800" i="1" dirty="0">
                <a:solidFill>
                  <a:schemeClr val="bg1">
                    <a:lumMod val="50000"/>
                  </a:schemeClr>
                </a:solidFill>
                <a:latin typeface="Arial"/>
              </a:rPr>
              <a:t>et al. </a:t>
            </a:r>
            <a:r>
              <a:rPr lang="en-US" sz="800" dirty="0">
                <a:solidFill>
                  <a:schemeClr val="bg1">
                    <a:lumMod val="50000"/>
                  </a:schemeClr>
                </a:solidFill>
                <a:latin typeface="Arial"/>
              </a:rPr>
              <a:t>Lancet 2001;358:2069-2073.</a:t>
            </a:r>
            <a:endParaRPr lang="es-ES" sz="800" dirty="0">
              <a:solidFill>
                <a:schemeClr val="bg1">
                  <a:lumMod val="50000"/>
                </a:schemeClr>
              </a:solidFill>
              <a:latin typeface="Arial"/>
              <a:cs typeface="Arial"/>
            </a:endParaRPr>
          </a:p>
          <a:p>
            <a:pPr marL="228600" indent="-228600" algn="just">
              <a:buFontTx/>
              <a:buAutoNum type="arabicParenR"/>
            </a:pPr>
            <a:r>
              <a:rPr lang="en-US" sz="800" dirty="0">
                <a:solidFill>
                  <a:schemeClr val="bg1">
                    <a:lumMod val="50000"/>
                  </a:schemeClr>
                </a:solidFill>
                <a:latin typeface="Arial"/>
              </a:rPr>
              <a:t>Bukowski, </a:t>
            </a:r>
            <a:r>
              <a:rPr lang="en-US" sz="800" i="1" dirty="0">
                <a:solidFill>
                  <a:schemeClr val="bg1">
                    <a:lumMod val="50000"/>
                  </a:schemeClr>
                </a:solidFill>
                <a:latin typeface="Arial"/>
              </a:rPr>
              <a:t>et al. </a:t>
            </a:r>
            <a:r>
              <a:rPr lang="en-US" sz="800" dirty="0">
                <a:solidFill>
                  <a:schemeClr val="bg1">
                    <a:lumMod val="50000"/>
                  </a:schemeClr>
                </a:solidFill>
                <a:latin typeface="Arial"/>
              </a:rPr>
              <a:t>PLoS Med 2009;6(5):e1000061. </a:t>
            </a:r>
          </a:p>
          <a:p>
            <a:pPr marL="228600" indent="-228600" algn="just">
              <a:buFontTx/>
              <a:buAutoNum type="arabicParenR"/>
            </a:pPr>
            <a:r>
              <a:rPr lang="en-US" sz="800" dirty="0">
                <a:solidFill>
                  <a:schemeClr val="bg1">
                    <a:lumMod val="50000"/>
                  </a:schemeClr>
                </a:solidFill>
                <a:latin typeface="Arial"/>
              </a:rPr>
              <a:t>RCM Folicil.</a:t>
            </a:r>
            <a:endParaRPr lang="es-ES" sz="800" dirty="0">
              <a:solidFill>
                <a:schemeClr val="bg1">
                  <a:lumMod val="50000"/>
                </a:schemeClr>
              </a:solidFill>
              <a:latin typeface="Arial"/>
              <a:cs typeface="Arial"/>
            </a:endParaRP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3036" t="-17044" r="4413" b="-20055"/>
          <a:stretch/>
        </p:blipFill>
        <p:spPr>
          <a:xfrm>
            <a:off x="4476109" y="3068960"/>
            <a:ext cx="4992435" cy="4464495"/>
          </a:xfrm>
          <a:prstGeom prst="ellipse">
            <a:avLst/>
          </a:prstGeom>
        </p:spPr>
      </p:pic>
      <p:sp>
        <p:nvSpPr>
          <p:cNvPr id="3" name="Content Placeholder 2"/>
          <p:cNvSpPr>
            <a:spLocks noGrp="1"/>
          </p:cNvSpPr>
          <p:nvPr>
            <p:ph idx="1"/>
          </p:nvPr>
        </p:nvSpPr>
        <p:spPr>
          <a:xfrm>
            <a:off x="157275" y="836712"/>
            <a:ext cx="8591189" cy="2011133"/>
          </a:xfrm>
        </p:spPr>
        <p:txBody>
          <a:bodyPr>
            <a:noAutofit/>
          </a:bodyPr>
          <a:lstStyle/>
          <a:p>
            <a:pPr algn="just">
              <a:spcAft>
                <a:spcPts val="1200"/>
              </a:spcAft>
              <a:buClr>
                <a:srgbClr val="EC6707"/>
              </a:buClr>
            </a:pPr>
            <a:r>
              <a:rPr lang="es-ES" b="1" dirty="0">
                <a:solidFill>
                  <a:srgbClr val="B11B7E"/>
                </a:solidFill>
              </a:rPr>
              <a:t> </a:t>
            </a:r>
            <a:r>
              <a:rPr lang="es-ES" b="1" dirty="0" err="1">
                <a:solidFill>
                  <a:srgbClr val="EC6707"/>
                </a:solidFill>
              </a:rPr>
              <a:t>Folicil</a:t>
            </a:r>
            <a:r>
              <a:rPr lang="es-ES" dirty="0"/>
              <a:t> previene los </a:t>
            </a:r>
            <a:r>
              <a:rPr lang="es-ES" b="1" dirty="0"/>
              <a:t>embarazos con resultados desfavorables</a:t>
            </a:r>
            <a:r>
              <a:rPr lang="es-ES" b="1" baseline="30000" dirty="0"/>
              <a:t>1</a:t>
            </a:r>
            <a:r>
              <a:rPr lang="es-ES" b="1" dirty="0"/>
              <a:t>;</a:t>
            </a:r>
            <a:endParaRPr lang="es-ES" b="1" baseline="30000" dirty="0"/>
          </a:p>
          <a:p>
            <a:pPr algn="just">
              <a:spcAft>
                <a:spcPts val="1200"/>
              </a:spcAft>
              <a:buClr>
                <a:srgbClr val="EC6707"/>
              </a:buClr>
            </a:pPr>
            <a:r>
              <a:rPr lang="es-ES" b="1" dirty="0">
                <a:solidFill>
                  <a:srgbClr val="B11B7E"/>
                </a:solidFill>
              </a:rPr>
              <a:t> </a:t>
            </a:r>
            <a:r>
              <a:rPr lang="es-ES" b="1" dirty="0" err="1">
                <a:solidFill>
                  <a:srgbClr val="EC6707"/>
                </a:solidFill>
              </a:rPr>
              <a:t>Folicil</a:t>
            </a:r>
            <a:r>
              <a:rPr lang="es-ES" dirty="0"/>
              <a:t> </a:t>
            </a:r>
            <a:r>
              <a:rPr lang="es-ES" b="1" dirty="0"/>
              <a:t>reduce</a:t>
            </a:r>
            <a:r>
              <a:rPr lang="es-ES" dirty="0"/>
              <a:t> el </a:t>
            </a:r>
            <a:r>
              <a:rPr lang="es-ES" b="1" dirty="0"/>
              <a:t>riesgo de malformaciones del tubo neural</a:t>
            </a:r>
            <a:r>
              <a:rPr lang="es-ES" dirty="0"/>
              <a:t> hasta un 85 %</a:t>
            </a:r>
            <a:r>
              <a:rPr lang="es-ES" baseline="30000" dirty="0"/>
              <a:t>2</a:t>
            </a:r>
            <a:r>
              <a:rPr lang="es-ES" b="1" dirty="0"/>
              <a:t>;</a:t>
            </a:r>
            <a:endParaRPr lang="es-ES" baseline="30000" dirty="0"/>
          </a:p>
          <a:p>
            <a:pPr algn="just">
              <a:spcAft>
                <a:spcPts val="1200"/>
              </a:spcAft>
              <a:buClr>
                <a:srgbClr val="EC6707"/>
              </a:buClr>
            </a:pPr>
            <a:r>
              <a:rPr lang="es-ES" b="1" dirty="0">
                <a:solidFill>
                  <a:srgbClr val="B11B7E"/>
                </a:solidFill>
              </a:rPr>
              <a:t> </a:t>
            </a:r>
            <a:r>
              <a:rPr lang="es-ES" b="1" dirty="0" err="1">
                <a:solidFill>
                  <a:srgbClr val="EC6707"/>
                </a:solidFill>
              </a:rPr>
              <a:t>Folicil</a:t>
            </a:r>
            <a:r>
              <a:rPr lang="es-ES" dirty="0"/>
              <a:t> mediante su suplementación durante el periodo </a:t>
            </a:r>
            <a:r>
              <a:rPr lang="es-ES" dirty="0" err="1"/>
              <a:t>preconceptivo</a:t>
            </a:r>
            <a:r>
              <a:rPr lang="es-ES" dirty="0"/>
              <a:t> </a:t>
            </a:r>
            <a:r>
              <a:rPr lang="es-ES" b="1" dirty="0"/>
              <a:t>reduce los nacimientos espontáneos prematuros</a:t>
            </a:r>
            <a:r>
              <a:rPr lang="es-ES" b="1" baseline="30000" dirty="0"/>
              <a:t>3</a:t>
            </a:r>
            <a:r>
              <a:rPr lang="es-ES" b="1" dirty="0"/>
              <a:t>;</a:t>
            </a:r>
          </a:p>
        </p:txBody>
      </p:sp>
      <p:sp>
        <p:nvSpPr>
          <p:cNvPr id="7" name="Content Placeholder 2"/>
          <p:cNvSpPr txBox="1">
            <a:spLocks/>
          </p:cNvSpPr>
          <p:nvPr/>
        </p:nvSpPr>
        <p:spPr>
          <a:xfrm>
            <a:off x="157275" y="2924944"/>
            <a:ext cx="8591189" cy="757271"/>
          </a:xfrm>
          <a:prstGeom prst="rect">
            <a:avLst/>
          </a:prstGeom>
        </p:spPr>
        <p:txBody>
          <a:bodyPr vert="horz">
            <a:noAutofit/>
          </a:bodyPr>
          <a:lstStyle>
            <a:lvl1pPr marL="274320" indent="-274320" algn="l" rtl="0" eaLnBrk="1" latinLnBrk="0" hangingPunct="1">
              <a:spcBef>
                <a:spcPct val="20000"/>
              </a:spcBef>
              <a:buClr>
                <a:srgbClr val="B11B7E"/>
              </a:buClr>
              <a:buSzPct val="95000"/>
              <a:buFont typeface="Wingdings 2" charset="2"/>
              <a:buChar char=""/>
              <a:defRPr kumimoji="0" sz="2000" kern="1200">
                <a:solidFill>
                  <a:schemeClr val="tx1">
                    <a:lumMod val="75000"/>
                    <a:lumOff val="25000"/>
                  </a:schemeClr>
                </a:solidFill>
                <a:latin typeface="Arial"/>
                <a:ea typeface="+mn-ea"/>
                <a:cs typeface="Arial"/>
              </a:defRPr>
            </a:lvl1pPr>
            <a:lvl2pPr marL="640080" indent="-246888" algn="l" rtl="0" eaLnBrk="1" latinLnBrk="0" hangingPunct="1">
              <a:spcBef>
                <a:spcPct val="20000"/>
              </a:spcBef>
              <a:buClr>
                <a:srgbClr val="B11B7E"/>
              </a:buClr>
              <a:buSzPct val="85000"/>
              <a:buFont typeface="Wingdings 2" charset="2"/>
              <a:buChar char=""/>
              <a:defRPr kumimoji="0" sz="1800" kern="1200">
                <a:solidFill>
                  <a:schemeClr val="tx1">
                    <a:lumMod val="75000"/>
                    <a:lumOff val="25000"/>
                  </a:schemeClr>
                </a:solidFill>
                <a:latin typeface="Arial"/>
                <a:ea typeface="+mn-ea"/>
                <a:cs typeface="Arial"/>
              </a:defRPr>
            </a:lvl2pPr>
            <a:lvl3pPr marL="914400" indent="-246888" algn="l" rtl="0" eaLnBrk="1" latinLnBrk="0" hangingPunct="1">
              <a:spcBef>
                <a:spcPct val="20000"/>
              </a:spcBef>
              <a:buClr>
                <a:srgbClr val="B11B7E"/>
              </a:buClr>
              <a:buSzPct val="70000"/>
              <a:buFont typeface="Wingdings 2" charset="2"/>
              <a:buChar char=""/>
              <a:defRPr kumimoji="0" sz="1800" kern="1200">
                <a:solidFill>
                  <a:schemeClr val="tx1">
                    <a:lumMod val="75000"/>
                    <a:lumOff val="25000"/>
                  </a:schemeClr>
                </a:solidFill>
                <a:latin typeface="Arial"/>
                <a:ea typeface="+mn-ea"/>
                <a:cs typeface="Arial"/>
              </a:defRPr>
            </a:lvl3pPr>
            <a:lvl4pPr marL="1188720" indent="-210312" algn="l" rtl="0" eaLnBrk="1" latinLnBrk="0" hangingPunct="1">
              <a:spcBef>
                <a:spcPct val="20000"/>
              </a:spcBef>
              <a:buClr>
                <a:srgbClr val="B11B7E"/>
              </a:buClr>
              <a:buSzPct val="65000"/>
              <a:buFont typeface="Wingdings 2" charset="2"/>
              <a:buChar char=""/>
              <a:defRPr kumimoji="0" sz="1600" kern="1200">
                <a:solidFill>
                  <a:schemeClr val="tx1">
                    <a:lumMod val="75000"/>
                    <a:lumOff val="25000"/>
                  </a:schemeClr>
                </a:solidFill>
                <a:latin typeface="Arial"/>
                <a:ea typeface="+mn-ea"/>
                <a:cs typeface="Arial"/>
              </a:defRPr>
            </a:lvl4pPr>
            <a:lvl5pPr marL="1463040" indent="-210312" algn="l" rtl="0" eaLnBrk="1" latinLnBrk="0" hangingPunct="1">
              <a:spcBef>
                <a:spcPct val="20000"/>
              </a:spcBef>
              <a:buClr>
                <a:srgbClr val="B11B7E"/>
              </a:buClr>
              <a:buSzPct val="65000"/>
              <a:buFont typeface="Wingdings 2" charset="2"/>
              <a:buChar char=""/>
              <a:defRPr kumimoji="0" sz="1600" kern="1200">
                <a:solidFill>
                  <a:schemeClr val="tx1">
                    <a:lumMod val="75000"/>
                    <a:lumOff val="25000"/>
                  </a:schemeClr>
                </a:solidFill>
                <a:latin typeface="Arial"/>
                <a:ea typeface="+mn-ea"/>
                <a:cs typeface="Arial"/>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gn="just">
              <a:spcAft>
                <a:spcPts val="1200"/>
              </a:spcAft>
              <a:buClr>
                <a:srgbClr val="EC6707"/>
              </a:buClr>
            </a:pPr>
            <a:r>
              <a:rPr lang="es-ES" b="1" dirty="0" err="1">
                <a:solidFill>
                  <a:srgbClr val="EC6707"/>
                </a:solidFill>
              </a:rPr>
              <a:t>Folicil</a:t>
            </a:r>
            <a:r>
              <a:rPr lang="es-ES" dirty="0"/>
              <a:t> está indicado especialmente </a:t>
            </a:r>
            <a:r>
              <a:rPr lang="es-ES" b="1" dirty="0"/>
              <a:t>durante los primeros 3 meses de preconcepción y el primer trimestre de embarazo</a:t>
            </a:r>
            <a:r>
              <a:rPr lang="es-ES" b="1" baseline="30000" dirty="0"/>
              <a:t>1</a:t>
            </a:r>
            <a:r>
              <a:rPr lang="es-ES" b="1" dirty="0"/>
              <a:t>;</a:t>
            </a:r>
            <a:endParaRPr lang="es-ES" b="1" baseline="30000" dirty="0"/>
          </a:p>
        </p:txBody>
      </p:sp>
      <p:sp>
        <p:nvSpPr>
          <p:cNvPr id="8" name="Content Placeholder 2"/>
          <p:cNvSpPr txBox="1">
            <a:spLocks/>
          </p:cNvSpPr>
          <p:nvPr/>
        </p:nvSpPr>
        <p:spPr>
          <a:xfrm>
            <a:off x="157275" y="3759314"/>
            <a:ext cx="4558741" cy="1253862"/>
          </a:xfrm>
          <a:prstGeom prst="rect">
            <a:avLst/>
          </a:prstGeom>
        </p:spPr>
        <p:txBody>
          <a:bodyPr vert="horz">
            <a:noAutofit/>
          </a:bodyPr>
          <a:lstStyle>
            <a:lvl1pPr marL="274320" indent="-274320" algn="l" rtl="0" eaLnBrk="1" latinLnBrk="0" hangingPunct="1">
              <a:spcBef>
                <a:spcPct val="20000"/>
              </a:spcBef>
              <a:buClr>
                <a:srgbClr val="B11B7E"/>
              </a:buClr>
              <a:buSzPct val="95000"/>
              <a:buFont typeface="Wingdings 2" charset="2"/>
              <a:buChar char=""/>
              <a:defRPr kumimoji="0" sz="2000" kern="1200">
                <a:solidFill>
                  <a:schemeClr val="tx1">
                    <a:lumMod val="75000"/>
                    <a:lumOff val="25000"/>
                  </a:schemeClr>
                </a:solidFill>
                <a:latin typeface="Arial"/>
                <a:ea typeface="+mn-ea"/>
                <a:cs typeface="Arial"/>
              </a:defRPr>
            </a:lvl1pPr>
            <a:lvl2pPr marL="640080" indent="-246888" algn="l" rtl="0" eaLnBrk="1" latinLnBrk="0" hangingPunct="1">
              <a:spcBef>
                <a:spcPct val="20000"/>
              </a:spcBef>
              <a:buClr>
                <a:srgbClr val="B11B7E"/>
              </a:buClr>
              <a:buSzPct val="85000"/>
              <a:buFont typeface="Wingdings 2" charset="2"/>
              <a:buChar char=""/>
              <a:defRPr kumimoji="0" sz="1800" kern="1200">
                <a:solidFill>
                  <a:schemeClr val="tx1">
                    <a:lumMod val="75000"/>
                    <a:lumOff val="25000"/>
                  </a:schemeClr>
                </a:solidFill>
                <a:latin typeface="Arial"/>
                <a:ea typeface="+mn-ea"/>
                <a:cs typeface="Arial"/>
              </a:defRPr>
            </a:lvl2pPr>
            <a:lvl3pPr marL="914400" indent="-246888" algn="l" rtl="0" eaLnBrk="1" latinLnBrk="0" hangingPunct="1">
              <a:spcBef>
                <a:spcPct val="20000"/>
              </a:spcBef>
              <a:buClr>
                <a:srgbClr val="B11B7E"/>
              </a:buClr>
              <a:buSzPct val="70000"/>
              <a:buFont typeface="Wingdings 2" charset="2"/>
              <a:buChar char=""/>
              <a:defRPr kumimoji="0" sz="1800" kern="1200">
                <a:solidFill>
                  <a:schemeClr val="tx1">
                    <a:lumMod val="75000"/>
                    <a:lumOff val="25000"/>
                  </a:schemeClr>
                </a:solidFill>
                <a:latin typeface="Arial"/>
                <a:ea typeface="+mn-ea"/>
                <a:cs typeface="Arial"/>
              </a:defRPr>
            </a:lvl3pPr>
            <a:lvl4pPr marL="1188720" indent="-210312" algn="l" rtl="0" eaLnBrk="1" latinLnBrk="0" hangingPunct="1">
              <a:spcBef>
                <a:spcPct val="20000"/>
              </a:spcBef>
              <a:buClr>
                <a:srgbClr val="B11B7E"/>
              </a:buClr>
              <a:buSzPct val="65000"/>
              <a:buFont typeface="Wingdings 2" charset="2"/>
              <a:buChar char=""/>
              <a:defRPr kumimoji="0" sz="1600" kern="1200">
                <a:solidFill>
                  <a:schemeClr val="tx1">
                    <a:lumMod val="75000"/>
                    <a:lumOff val="25000"/>
                  </a:schemeClr>
                </a:solidFill>
                <a:latin typeface="Arial"/>
                <a:ea typeface="+mn-ea"/>
                <a:cs typeface="Arial"/>
              </a:defRPr>
            </a:lvl4pPr>
            <a:lvl5pPr marL="1463040" indent="-210312" algn="l" rtl="0" eaLnBrk="1" latinLnBrk="0" hangingPunct="1">
              <a:spcBef>
                <a:spcPct val="20000"/>
              </a:spcBef>
              <a:buClr>
                <a:srgbClr val="B11B7E"/>
              </a:buClr>
              <a:buSzPct val="65000"/>
              <a:buFont typeface="Wingdings 2" charset="2"/>
              <a:buChar char=""/>
              <a:defRPr kumimoji="0" sz="1600" kern="1200">
                <a:solidFill>
                  <a:schemeClr val="tx1">
                    <a:lumMod val="75000"/>
                    <a:lumOff val="25000"/>
                  </a:schemeClr>
                </a:solidFill>
                <a:latin typeface="Arial"/>
                <a:ea typeface="+mn-ea"/>
                <a:cs typeface="Arial"/>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gn="just">
              <a:spcAft>
                <a:spcPts val="1200"/>
              </a:spcAft>
              <a:buClr>
                <a:srgbClr val="EC6707"/>
              </a:buClr>
            </a:pPr>
            <a:r>
              <a:rPr lang="es-ES" b="1" dirty="0" err="1">
                <a:solidFill>
                  <a:srgbClr val="EC6707"/>
                </a:solidFill>
              </a:rPr>
              <a:t>Folicil</a:t>
            </a:r>
            <a:r>
              <a:rPr lang="es-ES" dirty="0"/>
              <a:t> es una vitamina </a:t>
            </a:r>
            <a:r>
              <a:rPr lang="es-ES" b="1" dirty="0"/>
              <a:t>que no se acumula en el organismo</a:t>
            </a:r>
            <a:r>
              <a:rPr lang="es-ES" dirty="0"/>
              <a:t>, lo que no se usa se excreta</a:t>
            </a:r>
            <a:r>
              <a:rPr lang="es-ES" baseline="30000" dirty="0"/>
              <a:t>4</a:t>
            </a:r>
            <a:r>
              <a:rPr lang="es-ES" dirty="0"/>
              <a:t>.</a:t>
            </a:r>
            <a:endParaRPr lang="es-ES" baseline="30000" dirty="0"/>
          </a:p>
        </p:txBody>
      </p:sp>
      <p:pic>
        <p:nvPicPr>
          <p:cNvPr id="10" name="Picture 9"/>
          <p:cNvPicPr>
            <a:picLocks noChangeAspect="1"/>
          </p:cNvPicPr>
          <p:nvPr/>
        </p:nvPicPr>
        <p:blipFill rotWithShape="1">
          <a:blip r:embed="rId3" cstate="print">
            <a:extLst>
              <a:ext uri="{28A0092B-C50C-407E-A947-70E740481C1C}">
                <a14:useLocalDpi xmlns:a14="http://schemas.microsoft.com/office/drawing/2010/main" val="0"/>
              </a:ext>
            </a:extLst>
          </a:blip>
          <a:srcRect l="21823" t="11793" r="24262" b="8381"/>
          <a:stretch/>
        </p:blipFill>
        <p:spPr>
          <a:xfrm>
            <a:off x="251520" y="4869160"/>
            <a:ext cx="1174365" cy="2460573"/>
          </a:xfrm>
          <a:prstGeom prst="rect">
            <a:avLst/>
          </a:prstGeom>
        </p:spPr>
      </p:pic>
    </p:spTree>
    <p:extLst>
      <p:ext uri="{BB962C8B-B14F-4D97-AF65-F5344CB8AC3E}">
        <p14:creationId xmlns:p14="http://schemas.microsoft.com/office/powerpoint/2010/main" val="39277285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750" fill="hold"/>
                                        <p:tgtEl>
                                          <p:spTgt spid="10"/>
                                        </p:tgtEl>
                                        <p:attrNameLst>
                                          <p:attrName>ppt_x</p:attrName>
                                        </p:attrNameLst>
                                      </p:cBhvr>
                                      <p:tavLst>
                                        <p:tav tm="0">
                                          <p:val>
                                            <p:strVal val="#ppt_x"/>
                                          </p:val>
                                        </p:tav>
                                        <p:tav tm="100000">
                                          <p:val>
                                            <p:strVal val="#ppt_x"/>
                                          </p:val>
                                        </p:tav>
                                      </p:tavLst>
                                    </p:anim>
                                    <p:anim calcmode="lin" valueType="num">
                                      <p:cBhvr additive="base">
                                        <p:cTn id="8" dur="750" fill="hold"/>
                                        <p:tgtEl>
                                          <p:spTgt spid="10"/>
                                        </p:tgtEl>
                                        <p:attrNameLst>
                                          <p:attrName>ppt_y</p:attrName>
                                        </p:attrNameLst>
                                      </p:cBhvr>
                                      <p:tavLst>
                                        <p:tav tm="0">
                                          <p:val>
                                            <p:strVal val="1+#ppt_h/2"/>
                                          </p:val>
                                        </p:tav>
                                        <p:tav tm="100000">
                                          <p:val>
                                            <p:strVal val="#ppt_y"/>
                                          </p:val>
                                        </p:tav>
                                      </p:tavLst>
                                    </p:anim>
                                  </p:childTnLst>
                                </p:cTn>
                              </p:par>
                            </p:childTnLst>
                          </p:cTn>
                        </p:par>
                        <p:par>
                          <p:cTn id="9" fill="hold">
                            <p:stCondLst>
                              <p:cond delay="750"/>
                            </p:stCondLst>
                            <p:childTnLst>
                              <p:par>
                                <p:cTn id="10" presetID="22" presetClass="entr" presetSubtype="4"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r="2787"/>
          <a:stretch/>
        </p:blipFill>
        <p:spPr>
          <a:xfrm>
            <a:off x="323528" y="790452"/>
            <a:ext cx="7938628" cy="5446860"/>
          </a:xfrm>
          <a:prstGeom prst="rect">
            <a:avLst/>
          </a:prstGeom>
        </p:spPr>
      </p:pic>
      <p:pic>
        <p:nvPicPr>
          <p:cNvPr id="10" name="Picture 9"/>
          <p:cNvPicPr>
            <a:picLocks noChangeAspect="1"/>
          </p:cNvPicPr>
          <p:nvPr/>
        </p:nvPicPr>
        <p:blipFill rotWithShape="1">
          <a:blip r:embed="rId3">
            <a:extLst>
              <a:ext uri="{28A0092B-C50C-407E-A947-70E740481C1C}">
                <a14:useLocalDpi xmlns:a14="http://schemas.microsoft.com/office/drawing/2010/main" val="0"/>
              </a:ext>
            </a:extLst>
          </a:blip>
          <a:srcRect t="24150" b="28600"/>
          <a:stretch/>
        </p:blipFill>
        <p:spPr>
          <a:xfrm>
            <a:off x="-972616" y="5138025"/>
            <a:ext cx="4281642" cy="2862868"/>
          </a:xfrm>
          <a:prstGeom prst="rect">
            <a:avLst/>
          </a:prstGeom>
        </p:spPr>
      </p:pic>
      <p:pic>
        <p:nvPicPr>
          <p:cNvPr id="11" name="Picture 10"/>
          <p:cNvPicPr>
            <a:picLocks noChangeAspect="1"/>
          </p:cNvPicPr>
          <p:nvPr/>
        </p:nvPicPr>
        <p:blipFill rotWithShape="1">
          <a:blip r:embed="rId4">
            <a:extLst>
              <a:ext uri="{28A0092B-C50C-407E-A947-70E740481C1C}">
                <a14:useLocalDpi xmlns:a14="http://schemas.microsoft.com/office/drawing/2010/main" val="0"/>
              </a:ext>
            </a:extLst>
          </a:blip>
          <a:srcRect l="21823" t="11793" r="24262" b="8381"/>
          <a:stretch/>
        </p:blipFill>
        <p:spPr>
          <a:xfrm>
            <a:off x="6372200" y="1241329"/>
            <a:ext cx="3312369" cy="6940199"/>
          </a:xfrm>
          <a:prstGeom prst="rect">
            <a:avLst/>
          </a:prstGeom>
        </p:spPr>
      </p:pic>
      <p:sp>
        <p:nvSpPr>
          <p:cNvPr id="5" name="Title 2"/>
          <p:cNvSpPr>
            <a:spLocks noGrp="1"/>
          </p:cNvSpPr>
          <p:nvPr>
            <p:ph type="title"/>
          </p:nvPr>
        </p:nvSpPr>
        <p:spPr>
          <a:xfrm>
            <a:off x="323528" y="790452"/>
            <a:ext cx="3218511" cy="762000"/>
          </a:xfrm>
        </p:spPr>
        <p:txBody>
          <a:bodyPr>
            <a:noAutofit/>
          </a:bodyPr>
          <a:lstStyle/>
          <a:p>
            <a:r>
              <a:rPr lang="pt-PT" sz="5400" dirty="0">
                <a:solidFill>
                  <a:srgbClr val="EC6707"/>
                </a:solidFill>
                <a:latin typeface="Aharoni" panose="02010803020104030203" pitchFamily="2" charset="-79"/>
                <a:cs typeface="Aharoni" panose="02010803020104030203" pitchFamily="2" charset="-79"/>
              </a:rPr>
              <a:t>GRACIAS</a:t>
            </a:r>
            <a:endParaRPr lang="es-ES" sz="4800" dirty="0">
              <a:solidFill>
                <a:srgbClr val="EC6707"/>
              </a:solidFill>
              <a:latin typeface="Aharoni" panose="02010803020104030203" pitchFamily="2" charset="-79"/>
              <a:cs typeface="Aharoni" panose="02010803020104030203" pitchFamily="2" charset="-79"/>
            </a:endParaRPr>
          </a:p>
        </p:txBody>
      </p:sp>
      <p:pic>
        <p:nvPicPr>
          <p:cNvPr id="9" name="Picture 8"/>
          <p:cNvPicPr>
            <a:picLocks noChangeAspect="1"/>
          </p:cNvPicPr>
          <p:nvPr/>
        </p:nvPicPr>
        <p:blipFill rotWithShape="1">
          <a:blip r:embed="rId5">
            <a:extLst>
              <a:ext uri="{28A0092B-C50C-407E-A947-70E740481C1C}">
                <a14:useLocalDpi xmlns:a14="http://schemas.microsoft.com/office/drawing/2010/main" val="0"/>
              </a:ext>
            </a:extLst>
          </a:blip>
          <a:srcRect t="31764" b="26307"/>
          <a:stretch/>
        </p:blipFill>
        <p:spPr>
          <a:xfrm>
            <a:off x="1835696" y="5499779"/>
            <a:ext cx="8020050" cy="2376265"/>
          </a:xfrm>
          <a:prstGeom prst="rect">
            <a:avLst/>
          </a:prstGeom>
        </p:spPr>
      </p:pic>
    </p:spTree>
    <p:extLst>
      <p:ext uri="{BB962C8B-B14F-4D97-AF65-F5344CB8AC3E}">
        <p14:creationId xmlns:p14="http://schemas.microsoft.com/office/powerpoint/2010/main" val="31031816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ppt_x"/>
                                          </p:val>
                                        </p:tav>
                                        <p:tav tm="100000">
                                          <p:val>
                                            <p:strVal val="#ppt_x"/>
                                          </p:val>
                                        </p:tav>
                                      </p:tavLst>
                                    </p:anim>
                                    <p:anim calcmode="lin" valueType="num">
                                      <p:cBhvr additive="base">
                                        <p:cTn id="8" dur="10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1000" fill="hold"/>
                                        <p:tgtEl>
                                          <p:spTgt spid="9"/>
                                        </p:tgtEl>
                                        <p:attrNameLst>
                                          <p:attrName>ppt_x</p:attrName>
                                        </p:attrNameLst>
                                      </p:cBhvr>
                                      <p:tavLst>
                                        <p:tav tm="0">
                                          <p:val>
                                            <p:strVal val="#ppt_x"/>
                                          </p:val>
                                        </p:tav>
                                        <p:tav tm="100000">
                                          <p:val>
                                            <p:strVal val="#ppt_x"/>
                                          </p:val>
                                        </p:tav>
                                      </p:tavLst>
                                    </p:anim>
                                    <p:anim calcmode="lin" valueType="num">
                                      <p:cBhvr additive="base">
                                        <p:cTn id="12" dur="10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1000" fill="hold"/>
                                        <p:tgtEl>
                                          <p:spTgt spid="11"/>
                                        </p:tgtEl>
                                        <p:attrNameLst>
                                          <p:attrName>ppt_x</p:attrName>
                                        </p:attrNameLst>
                                      </p:cBhvr>
                                      <p:tavLst>
                                        <p:tav tm="0">
                                          <p:val>
                                            <p:strVal val="#ppt_x"/>
                                          </p:val>
                                        </p:tav>
                                        <p:tav tm="100000">
                                          <p:val>
                                            <p:strVal val="#ppt_x"/>
                                          </p:val>
                                        </p:tav>
                                      </p:tavLst>
                                    </p:anim>
                                    <p:anim calcmode="lin" valueType="num">
                                      <p:cBhvr additive="base">
                                        <p:cTn id="17" dur="1000" fill="hold"/>
                                        <p:tgtEl>
                                          <p:spTgt spid="11"/>
                                        </p:tgtEl>
                                        <p:attrNameLst>
                                          <p:attrName>ppt_y</p:attrName>
                                        </p:attrNameLst>
                                      </p:cBhvr>
                                      <p:tavLst>
                                        <p:tav tm="0">
                                          <p:val>
                                            <p:strVal val="1+#ppt_h/2"/>
                                          </p:val>
                                        </p:tav>
                                        <p:tav tm="100000">
                                          <p:val>
                                            <p:strVal val="#ppt_y"/>
                                          </p:val>
                                        </p:tav>
                                      </p:tavLst>
                                    </p:anim>
                                  </p:childTnLst>
                                </p:cTn>
                              </p:par>
                            </p:childTnLst>
                          </p:cTn>
                        </p:par>
                        <p:par>
                          <p:cTn id="18" fill="hold">
                            <p:stCondLst>
                              <p:cond delay="2000"/>
                            </p:stCondLst>
                            <p:childTnLst>
                              <p:par>
                                <p:cTn id="19" presetID="2" presetClass="entr" presetSubtype="4"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1250" fill="hold"/>
                                        <p:tgtEl>
                                          <p:spTgt spid="4"/>
                                        </p:tgtEl>
                                        <p:attrNameLst>
                                          <p:attrName>ppt_x</p:attrName>
                                        </p:attrNameLst>
                                      </p:cBhvr>
                                      <p:tavLst>
                                        <p:tav tm="0">
                                          <p:val>
                                            <p:strVal val="#ppt_x"/>
                                          </p:val>
                                        </p:tav>
                                        <p:tav tm="100000">
                                          <p:val>
                                            <p:strVal val="#ppt_x"/>
                                          </p:val>
                                        </p:tav>
                                      </p:tavLst>
                                    </p:anim>
                                    <p:anim calcmode="lin" valueType="num">
                                      <p:cBhvr additive="base">
                                        <p:cTn id="22" dur="1250" fill="hold"/>
                                        <p:tgtEl>
                                          <p:spTgt spid="4"/>
                                        </p:tgtEl>
                                        <p:attrNameLst>
                                          <p:attrName>ppt_y</p:attrName>
                                        </p:attrNameLst>
                                      </p:cBhvr>
                                      <p:tavLst>
                                        <p:tav tm="0">
                                          <p:val>
                                            <p:strVal val="1+#ppt_h/2"/>
                                          </p:val>
                                        </p:tav>
                                        <p:tav tm="100000">
                                          <p:val>
                                            <p:strVal val="#ppt_y"/>
                                          </p:val>
                                        </p:tav>
                                      </p:tavLst>
                                    </p:anim>
                                  </p:childTnLst>
                                </p:cTn>
                              </p:par>
                            </p:childTnLst>
                          </p:cTn>
                        </p:par>
                        <p:par>
                          <p:cTn id="23" fill="hold">
                            <p:stCondLst>
                              <p:cond delay="3250"/>
                            </p:stCondLst>
                            <p:childTnLst>
                              <p:par>
                                <p:cTn id="24" presetID="22" presetClass="entr" presetSubtype="4"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down)">
                                      <p:cBhvr>
                                        <p:cTn id="2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3667C4B-6D06-491C-A04A-E41D55AFBBED}" type="slidenum">
              <a:rPr lang="en-GB" smtClean="0"/>
              <a:pPr/>
              <a:t>29</a:t>
            </a:fld>
            <a:endParaRPr lang="en-GB"/>
          </a:p>
        </p:txBody>
      </p:sp>
      <p:sp>
        <p:nvSpPr>
          <p:cNvPr id="5" name="Rectangle 4"/>
          <p:cNvSpPr/>
          <p:nvPr/>
        </p:nvSpPr>
        <p:spPr>
          <a:xfrm>
            <a:off x="20544" y="847150"/>
            <a:ext cx="8964488" cy="5509200"/>
          </a:xfrm>
          <a:prstGeom prst="rect">
            <a:avLst/>
          </a:prstGeom>
        </p:spPr>
        <p:txBody>
          <a:bodyPr wrap="square">
            <a:spAutoFit/>
          </a:bodyPr>
          <a:lstStyle/>
          <a:p>
            <a:pPr algn="just">
              <a:spcAft>
                <a:spcPts val="0"/>
              </a:spcAft>
            </a:pPr>
            <a:r>
              <a:rPr lang="es-ES" sz="1600" b="1" dirty="0">
                <a:latin typeface="Arial" panose="020B0604020202020204" pitchFamily="34" charset="0"/>
                <a:ea typeface="Calibri" panose="020F0502020204030204" pitchFamily="34" charset="0"/>
                <a:cs typeface="Times New Roman" panose="02020603050405020304" pitchFamily="18" charset="0"/>
              </a:rPr>
              <a:t>FOLICIL,</a:t>
            </a:r>
            <a:r>
              <a:rPr lang="es-ES" sz="1600" dirty="0">
                <a:latin typeface="Arial" panose="020B0604020202020204" pitchFamily="34" charset="0"/>
                <a:ea typeface="Calibri" panose="020F0502020204030204" pitchFamily="34" charset="0"/>
                <a:cs typeface="Times New Roman" panose="02020603050405020304" pitchFamily="18" charset="0"/>
              </a:rPr>
              <a:t> cada comprimido contiene 5 mg de ácido fólico</a:t>
            </a:r>
            <a:r>
              <a:rPr lang="es-ES" sz="1600" dirty="0">
                <a:solidFill>
                  <a:srgbClr val="000000"/>
                </a:solidFill>
                <a:latin typeface="Arial" panose="020B0604020202020204" pitchFamily="34" charset="0"/>
                <a:ea typeface="Calibri" panose="020F0502020204030204" pitchFamily="34" charset="0"/>
                <a:cs typeface="Times New Roman" panose="02020603050405020304" pitchFamily="18" charset="0"/>
              </a:rPr>
              <a:t>. </a:t>
            </a:r>
            <a:r>
              <a:rPr lang="es-ES" sz="1600" b="1" dirty="0">
                <a:solidFill>
                  <a:srgbClr val="000000"/>
                </a:solidFill>
                <a:latin typeface="Arial" panose="020B0604020202020204" pitchFamily="34" charset="0"/>
                <a:ea typeface="Calibri" panose="020F0502020204030204" pitchFamily="34" charset="0"/>
                <a:cs typeface="Times New Roman" panose="02020603050405020304" pitchFamily="18" charset="0"/>
              </a:rPr>
              <a:t>Indicaciones terapéuticas: </a:t>
            </a:r>
            <a:r>
              <a:rPr lang="es-ES" sz="1600" dirty="0">
                <a:solidFill>
                  <a:srgbClr val="000000"/>
                </a:solidFill>
                <a:latin typeface="Arial" panose="020B0604020202020204" pitchFamily="34" charset="0"/>
                <a:ea typeface="Calibri" panose="020F0502020204030204" pitchFamily="34" charset="0"/>
                <a:cs typeface="Times New Roman" panose="02020603050405020304" pitchFamily="18" charset="0"/>
              </a:rPr>
              <a:t>Tratamiento o prevención por carencia de ácido fólico, especialmente durante el embarazo, la lactancia y los períodos de crecimiento rápido. El tratamiento a base de ácido fólico también está indicado para la prevención de las malformaciones en el tubo neural (espina bífida, </a:t>
            </a:r>
            <a:r>
              <a:rPr lang="es-ES" sz="1600" dirty="0" err="1">
                <a:solidFill>
                  <a:srgbClr val="000000"/>
                </a:solidFill>
                <a:latin typeface="Arial" panose="020B0604020202020204" pitchFamily="34" charset="0"/>
                <a:ea typeface="Calibri" panose="020F0502020204030204" pitchFamily="34" charset="0"/>
                <a:cs typeface="Times New Roman" panose="02020603050405020304" pitchFamily="18" charset="0"/>
              </a:rPr>
              <a:t>meningocelo</a:t>
            </a:r>
            <a:r>
              <a:rPr lang="es-ES" sz="1600" dirty="0">
                <a:solidFill>
                  <a:srgbClr val="000000"/>
                </a:solidFill>
                <a:latin typeface="Arial" panose="020B0604020202020204" pitchFamily="34" charset="0"/>
                <a:ea typeface="Calibri" panose="020F0502020204030204" pitchFamily="34" charset="0"/>
                <a:cs typeface="Times New Roman" panose="02020603050405020304" pitchFamily="18" charset="0"/>
              </a:rPr>
              <a:t>, anencefalia), especialmente en el caso de mujeres con un historial previo de hijos (o feto) con estas malformaciones. Teniendo en cuenta que la administración prolongada de barbitúricos, anticonvulsivos, </a:t>
            </a:r>
            <a:r>
              <a:rPr lang="es-ES" sz="1600" dirty="0" err="1">
                <a:solidFill>
                  <a:srgbClr val="000000"/>
                </a:solidFill>
                <a:latin typeface="Arial" panose="020B0604020202020204" pitchFamily="34" charset="0"/>
                <a:ea typeface="Calibri" panose="020F0502020204030204" pitchFamily="34" charset="0"/>
                <a:cs typeface="Times New Roman" panose="02020603050405020304" pitchFamily="18" charset="0"/>
              </a:rPr>
              <a:t>antimaláricos</a:t>
            </a:r>
            <a:r>
              <a:rPr lang="es-ES" sz="1600" dirty="0">
                <a:solidFill>
                  <a:srgbClr val="000000"/>
                </a:solidFill>
                <a:latin typeface="Arial" panose="020B0604020202020204" pitchFamily="34" charset="0"/>
                <a:ea typeface="Calibri" panose="020F0502020204030204" pitchFamily="34" charset="0"/>
                <a:cs typeface="Times New Roman" panose="02020603050405020304" pitchFamily="18" charset="0"/>
              </a:rPr>
              <a:t>, laxantes, contraceptivos orales y algunos agentes </a:t>
            </a:r>
            <a:r>
              <a:rPr lang="es-ES" sz="1600" dirty="0" err="1">
                <a:solidFill>
                  <a:srgbClr val="000000"/>
                </a:solidFill>
                <a:latin typeface="Arial" panose="020B0604020202020204" pitchFamily="34" charset="0"/>
                <a:ea typeface="Calibri" panose="020F0502020204030204" pitchFamily="34" charset="0"/>
                <a:cs typeface="Times New Roman" panose="02020603050405020304" pitchFamily="18" charset="0"/>
              </a:rPr>
              <a:t>quimioterápicos</a:t>
            </a:r>
            <a:r>
              <a:rPr lang="es-ES" sz="1600" dirty="0">
                <a:solidFill>
                  <a:srgbClr val="000000"/>
                </a:solidFill>
                <a:latin typeface="Arial" panose="020B0604020202020204" pitchFamily="34" charset="0"/>
                <a:ea typeface="Calibri" panose="020F0502020204030204" pitchFamily="34" charset="0"/>
                <a:cs typeface="Times New Roman" panose="02020603050405020304" pitchFamily="18" charset="0"/>
              </a:rPr>
              <a:t> pueden ocasionar una deficiencia iatrogénica en folatos, se recomienda administrar FOLICIL en estas situaciones. </a:t>
            </a:r>
            <a:r>
              <a:rPr lang="es-ES" sz="1600" b="1" dirty="0">
                <a:solidFill>
                  <a:srgbClr val="000000"/>
                </a:solidFill>
                <a:latin typeface="Arial" panose="020B0604020202020204" pitchFamily="34" charset="0"/>
                <a:ea typeface="Calibri" panose="020F0502020204030204" pitchFamily="34" charset="0"/>
                <a:cs typeface="Times New Roman" panose="02020603050405020304" pitchFamily="18" charset="0"/>
              </a:rPr>
              <a:t>Posología y modo de administración: </a:t>
            </a:r>
            <a:r>
              <a:rPr lang="es-ES" sz="1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Adultos: </a:t>
            </a:r>
            <a:r>
              <a:rPr lang="es-ES" sz="1600" dirty="0">
                <a:solidFill>
                  <a:srgbClr val="000000"/>
                </a:solidFill>
                <a:latin typeface="Arial" panose="020B0604020202020204" pitchFamily="34" charset="0"/>
                <a:ea typeface="Calibri" panose="020F0502020204030204" pitchFamily="34" charset="0"/>
                <a:cs typeface="Times New Roman" panose="02020603050405020304" pitchFamily="18" charset="0"/>
              </a:rPr>
              <a:t>de ½ a 1 comprimido, una o dos veces al día, en función de la situación clínica. </a:t>
            </a:r>
            <a:r>
              <a:rPr lang="es-ES" sz="1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Prevención de las malformaciones del tubo neural: </a:t>
            </a:r>
            <a:r>
              <a:rPr lang="es-ES" sz="1600" dirty="0">
                <a:solidFill>
                  <a:srgbClr val="000000"/>
                </a:solidFill>
                <a:latin typeface="Arial" panose="020B0604020202020204" pitchFamily="34" charset="0"/>
                <a:ea typeface="Calibri" panose="020F0502020204030204" pitchFamily="34" charset="0"/>
                <a:cs typeface="Times New Roman" panose="02020603050405020304" pitchFamily="18" charset="0"/>
              </a:rPr>
              <a:t>½ comprimido diario, un mes antes de la concepción y durante el primer trimestre del embarazo. Niños: La mitad de la dosis prescrita para un adulto. </a:t>
            </a:r>
            <a:r>
              <a:rPr lang="es-ES" sz="1600" b="1" dirty="0">
                <a:solidFill>
                  <a:srgbClr val="000000"/>
                </a:solidFill>
                <a:latin typeface="Arial" panose="020B0604020202020204" pitchFamily="34" charset="0"/>
                <a:ea typeface="Calibri" panose="020F0502020204030204" pitchFamily="34" charset="0"/>
                <a:cs typeface="Times New Roman" panose="02020603050405020304" pitchFamily="18" charset="0"/>
              </a:rPr>
              <a:t>Contraindicaciones: </a:t>
            </a:r>
            <a:r>
              <a:rPr lang="es-ES" sz="1600" dirty="0">
                <a:solidFill>
                  <a:srgbClr val="000000"/>
                </a:solidFill>
                <a:latin typeface="Arial" panose="020B0604020202020204" pitchFamily="34" charset="0"/>
                <a:ea typeface="Calibri" panose="020F0502020204030204" pitchFamily="34" charset="0"/>
                <a:cs typeface="Times New Roman" panose="02020603050405020304" pitchFamily="18" charset="0"/>
              </a:rPr>
              <a:t>Hipersensibilidad al ácido fólico o a cualquiera de los excipientes. Efectos indeseables: Las reacciones adversas por orden de frecuencia </a:t>
            </a:r>
            <a:r>
              <a:rPr lang="es-ES" sz="1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(muy frecuentes: ≥1/10, frecuentes: ≥1/100 a &lt;1/10, poco frecuentes: de ≥1/1,000 a &lt;1/100, raras: de ≥1/10,000 a &lt;1/1,000, muyo raras: &lt;1/10,000) </a:t>
            </a:r>
            <a:r>
              <a:rPr lang="es-ES" sz="1600" dirty="0">
                <a:solidFill>
                  <a:srgbClr val="000000"/>
                </a:solidFill>
                <a:latin typeface="Arial" panose="020B0604020202020204" pitchFamily="34" charset="0"/>
                <a:ea typeface="Calibri" panose="020F0502020204030204" pitchFamily="34" charset="0"/>
                <a:cs typeface="Times New Roman" panose="02020603050405020304" pitchFamily="18" charset="0"/>
              </a:rPr>
              <a:t>fueron las siguientes</a:t>
            </a:r>
            <a:r>
              <a:rPr lang="es-ES" sz="1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 Enfermedades del sistema inmunitario: Raras </a:t>
            </a:r>
            <a:r>
              <a:rPr lang="es-ES" sz="1600" dirty="0">
                <a:solidFill>
                  <a:srgbClr val="000000"/>
                </a:solidFill>
                <a:latin typeface="Arial" panose="020B0604020202020204" pitchFamily="34" charset="0"/>
                <a:ea typeface="Calibri" panose="020F0502020204030204" pitchFamily="34" charset="0"/>
                <a:cs typeface="Times New Roman" panose="02020603050405020304" pitchFamily="18" charset="0"/>
              </a:rPr>
              <a:t>- Reacciones por hipersensibilidad, que se manifiestan mediante eritemas, fiebre, pruritos o broncoespasmos. Fecha de revisión del texto: 2015. </a:t>
            </a:r>
            <a:r>
              <a:rPr lang="es-ES" sz="1600" b="1" dirty="0">
                <a:solidFill>
                  <a:srgbClr val="000000"/>
                </a:solidFill>
                <a:latin typeface="Arial" panose="020B0604020202020204" pitchFamily="34" charset="0"/>
                <a:ea typeface="Calibri" panose="020F0502020204030204" pitchFamily="34" charset="0"/>
                <a:cs typeface="Times New Roman" panose="02020603050405020304" pitchFamily="18" charset="0"/>
              </a:rPr>
              <a:t>Presentación: </a:t>
            </a:r>
            <a:r>
              <a:rPr lang="es-ES" sz="1600" dirty="0">
                <a:solidFill>
                  <a:srgbClr val="000000"/>
                </a:solidFill>
                <a:latin typeface="Arial" panose="020B0604020202020204" pitchFamily="34" charset="0"/>
                <a:ea typeface="Calibri" panose="020F0502020204030204" pitchFamily="34" charset="0"/>
                <a:cs typeface="Times New Roman" panose="02020603050405020304" pitchFamily="18" charset="0"/>
              </a:rPr>
              <a:t>caja con 60 comprimidos. </a:t>
            </a:r>
            <a:r>
              <a:rPr lang="es-ES" sz="1600" b="1" i="1" dirty="0">
                <a:solidFill>
                  <a:srgbClr val="000000"/>
                </a:solidFill>
                <a:latin typeface="Arial" panose="020B0604020202020204" pitchFamily="34" charset="0"/>
                <a:ea typeface="Calibri" panose="020F0502020204030204" pitchFamily="34" charset="0"/>
                <a:cs typeface="Times New Roman" panose="02020603050405020304" pitchFamily="18" charset="0"/>
              </a:rPr>
              <a:t>Medicamento sujeto a receta médica. </a:t>
            </a:r>
            <a:endParaRPr lang="pt-PT" sz="1600" dirty="0">
              <a:latin typeface="Calibri" panose="020F0502020204030204" pitchFamily="34" charset="0"/>
              <a:ea typeface="Calibri" panose="020F0502020204030204" pitchFamily="34" charset="0"/>
              <a:cs typeface="Times New Roman" panose="02020603050405020304" pitchFamily="18" charset="0"/>
            </a:endParaRPr>
          </a:p>
          <a:p>
            <a:pPr algn="just">
              <a:spcAft>
                <a:spcPts val="0"/>
              </a:spcAft>
              <a:tabLst>
                <a:tab pos="304800" algn="l"/>
              </a:tabLst>
            </a:pPr>
            <a:r>
              <a:rPr lang="es-ES_tradnl" sz="1600" i="1" dirty="0">
                <a:latin typeface="Arial" panose="020B0604020202020204" pitchFamily="34" charset="0"/>
                <a:ea typeface="Times New Roman" panose="02020603050405020304" pitchFamily="18" charset="0"/>
              </a:rPr>
              <a:t>Información complementaria bajo pedido al </a:t>
            </a:r>
            <a:r>
              <a:rPr lang="es-ES" sz="1600" i="1" dirty="0">
                <a:solidFill>
                  <a:srgbClr val="000000"/>
                </a:solidFill>
                <a:latin typeface="Arial" panose="020B0604020202020204" pitchFamily="34" charset="0"/>
                <a:ea typeface="Times New Roman" panose="02020603050405020304" pitchFamily="18" charset="0"/>
              </a:rPr>
              <a:t>titular de la AIM: </a:t>
            </a:r>
            <a:r>
              <a:rPr lang="es-ES" sz="1600" dirty="0" err="1">
                <a:solidFill>
                  <a:srgbClr val="000000"/>
                </a:solidFill>
                <a:latin typeface="Arial" panose="020B0604020202020204" pitchFamily="34" charset="0"/>
                <a:ea typeface="Times New Roman" panose="02020603050405020304" pitchFamily="18" charset="0"/>
              </a:rPr>
              <a:t>Bial</a:t>
            </a:r>
            <a:r>
              <a:rPr lang="es-ES" sz="1600" dirty="0">
                <a:solidFill>
                  <a:srgbClr val="000000"/>
                </a:solidFill>
                <a:latin typeface="Arial" panose="020B0604020202020204" pitchFamily="34" charset="0"/>
                <a:ea typeface="Times New Roman" panose="02020603050405020304" pitchFamily="18" charset="0"/>
              </a:rPr>
              <a:t>- </a:t>
            </a:r>
            <a:r>
              <a:rPr lang="es-ES" sz="1600" dirty="0" err="1">
                <a:solidFill>
                  <a:srgbClr val="000000"/>
                </a:solidFill>
                <a:latin typeface="Arial" panose="020B0604020202020204" pitchFamily="34" charset="0"/>
                <a:ea typeface="Times New Roman" panose="02020603050405020304" pitchFamily="18" charset="0"/>
              </a:rPr>
              <a:t>Portela</a:t>
            </a:r>
            <a:r>
              <a:rPr lang="es-ES" sz="1600" dirty="0">
                <a:solidFill>
                  <a:srgbClr val="000000"/>
                </a:solidFill>
                <a:latin typeface="Arial" panose="020B0604020202020204" pitchFamily="34" charset="0"/>
                <a:ea typeface="Times New Roman" panose="02020603050405020304" pitchFamily="18" charset="0"/>
              </a:rPr>
              <a:t> &amp; Cª S.A.• À Av. da Siderurgia Nacional - 4745-457 S. </a:t>
            </a:r>
            <a:r>
              <a:rPr lang="es-ES" sz="1600" dirty="0" err="1">
                <a:solidFill>
                  <a:srgbClr val="000000"/>
                </a:solidFill>
                <a:latin typeface="Arial" panose="020B0604020202020204" pitchFamily="34" charset="0"/>
                <a:ea typeface="Times New Roman" panose="02020603050405020304" pitchFamily="18" charset="0"/>
              </a:rPr>
              <a:t>Mamede</a:t>
            </a:r>
            <a:r>
              <a:rPr lang="es-ES" sz="1600" dirty="0">
                <a:solidFill>
                  <a:srgbClr val="000000"/>
                </a:solidFill>
                <a:latin typeface="Arial" panose="020B0604020202020204" pitchFamily="34" charset="0"/>
                <a:ea typeface="Times New Roman" panose="02020603050405020304" pitchFamily="18" charset="0"/>
              </a:rPr>
              <a:t> do Coronado • Portugal</a:t>
            </a:r>
            <a:r>
              <a:rPr lang="es-ES" sz="1600" b="1" dirty="0">
                <a:solidFill>
                  <a:srgbClr val="000000"/>
                </a:solidFill>
                <a:latin typeface="Arial" panose="020B0604020202020204" pitchFamily="34" charset="0"/>
                <a:ea typeface="Times New Roman" panose="02020603050405020304" pitchFamily="18" charset="0"/>
              </a:rPr>
              <a:t>.</a:t>
            </a:r>
            <a:endParaRPr lang="pt-PT" sz="1600" dirty="0">
              <a:latin typeface="Times New Roman" panose="02020603050405020304" pitchFamily="18" charset="0"/>
              <a:ea typeface="Times New Roman" panose="02020603050405020304" pitchFamily="18" charset="0"/>
            </a:endParaRPr>
          </a:p>
          <a:p>
            <a:pPr algn="just">
              <a:spcAft>
                <a:spcPts val="0"/>
              </a:spcAft>
            </a:pPr>
            <a:r>
              <a:rPr lang="es-ES" sz="1600" dirty="0">
                <a:solidFill>
                  <a:srgbClr val="1F497D"/>
                </a:solidFill>
                <a:latin typeface="Arial" panose="020B0604020202020204" pitchFamily="34" charset="0"/>
                <a:ea typeface="Calibri" panose="020F0502020204030204" pitchFamily="34" charset="0"/>
                <a:cs typeface="Times New Roman" panose="02020603050405020304" pitchFamily="18" charset="0"/>
              </a:rPr>
              <a:t>DIDSAM161227</a:t>
            </a:r>
            <a:endParaRPr lang="pt-PT"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03477906"/>
      </p:ext>
    </p:extLst>
  </p:cSld>
  <p:clrMapOvr>
    <a:masterClrMapping/>
  </p:clrMapOvr>
  <p:transition>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F7D792E8C4DA247BA13D3097A5B3651" ma:contentTypeVersion="19" ma:contentTypeDescription="Criar um novo documento." ma:contentTypeScope="" ma:versionID="feca8c51351b7dd2ebe379f83568fbca">
  <xsd:schema xmlns:xsd="http://www.w3.org/2001/XMLSchema" xmlns:xs="http://www.w3.org/2001/XMLSchema" xmlns:p="http://schemas.microsoft.com/office/2006/metadata/properties" xmlns:ns2="02969a41-4749-41bd-9c7b-d9741e2c579a" xmlns:ns3="89ea4605-a98c-4f8f-b4f4-c542867de630" targetNamespace="http://schemas.microsoft.com/office/2006/metadata/properties" ma:root="true" ma:fieldsID="df4199eb2ac8845ed51d786ca0c01ee1" ns2:_="" ns3:_="">
    <xsd:import namespace="02969a41-4749-41bd-9c7b-d9741e2c579a"/>
    <xsd:import namespace="89ea4605-a98c-4f8f-b4f4-c542867de63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3:SharedWithUsers" minOccurs="0"/>
                <xsd:element ref="ns3:SharedWithDetail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969a41-4749-41bd-9c7b-d9741e2c57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Etiquetas de Imagem" ma:readOnly="false" ma:fieldId="{5cf76f15-5ced-4ddc-b409-7134ff3c332f}" ma:taxonomyMulti="true" ma:sspId="f0e915e2-2c61-4469-adf1-0bc69b39a59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9ea4605-a98c-4f8f-b4f4-c542867de630"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b6ae7d10-be01-4fdc-8ba2-d77ac22d0290}" ma:internalName="TaxCatchAll" ma:showField="CatchAllData" ma:web="89ea4605-a98c-4f8f-b4f4-c542867de630">
      <xsd:complexType>
        <xsd:complexContent>
          <xsd:extension base="dms:MultiChoiceLookup">
            <xsd:sequence>
              <xsd:element name="Value" type="dms:Lookup" maxOccurs="unbounded" minOccurs="0" nillable="true"/>
            </xsd:sequence>
          </xsd:extension>
        </xsd:complexContent>
      </xsd:complexType>
    </xsd:element>
    <xsd:element name="SharedWithUsers" ma:index="23" nillable="true" ma:displayName="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Detalhes de 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9ea4605-a98c-4f8f-b4f4-c542867de630" xsi:nil="true"/>
    <lcf76f155ced4ddcb4097134ff3c332f xmlns="02969a41-4749-41bd-9c7b-d9741e2c579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DA784BB-15FC-4BF8-B792-DDC1CF460FDB}"/>
</file>

<file path=customXml/itemProps2.xml><?xml version="1.0" encoding="utf-8"?>
<ds:datastoreItem xmlns:ds="http://schemas.openxmlformats.org/officeDocument/2006/customXml" ds:itemID="{220140F3-5E1F-4F5F-AC92-9D088B7089F0}"/>
</file>

<file path=customXml/itemProps3.xml><?xml version="1.0" encoding="utf-8"?>
<ds:datastoreItem xmlns:ds="http://schemas.openxmlformats.org/officeDocument/2006/customXml" ds:itemID="{F36EDBDD-D1FF-4C13-A595-C121CF0D292F}"/>
</file>

<file path=docProps/app.xml><?xml version="1.0" encoding="utf-8"?>
<Properties xmlns="http://schemas.openxmlformats.org/officeDocument/2006/extended-properties" xmlns:vt="http://schemas.openxmlformats.org/officeDocument/2006/docPropsVTypes">
  <Template>Flow</Template>
  <TotalTime>0</TotalTime>
  <Words>3244</Words>
  <Application>Microsoft Office PowerPoint</Application>
  <PresentationFormat>On-screen Show (4:3)</PresentationFormat>
  <Paragraphs>195</Paragraphs>
  <Slides>29</Slides>
  <Notes>11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29</vt:i4>
      </vt:variant>
    </vt:vector>
  </HeadingPairs>
  <TitlesOfParts>
    <vt:vector size="40" baseType="lpstr">
      <vt:lpstr>Aharoni</vt:lpstr>
      <vt:lpstr>Arial</vt:lpstr>
      <vt:lpstr>Arial Unicode MS</vt:lpstr>
      <vt:lpstr>Calibri</vt:lpstr>
      <vt:lpstr>Calibri Light</vt:lpstr>
      <vt:lpstr>Constantia</vt:lpstr>
      <vt:lpstr>Gotham Rounded Bold</vt:lpstr>
      <vt:lpstr>Times New Roman</vt:lpstr>
      <vt:lpstr>Wingdings 2</vt:lpstr>
      <vt:lpstr>Flow</vt:lpstr>
      <vt:lpstr>Custom Design</vt:lpstr>
      <vt:lpstr>PowerPoint Presentation</vt:lpstr>
      <vt:lpstr>PowerPoint Presentation</vt:lpstr>
      <vt:lpstr>QUÍMICA DEL ÁCIDO FÓLICO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GRACIAS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 Soares-da-Silva</dc:creator>
  <cp:lastModifiedBy>Cláudia Meneses</cp:lastModifiedBy>
  <cp:revision>250</cp:revision>
  <dcterms:created xsi:type="dcterms:W3CDTF">2011-05-12T06:47:26Z</dcterms:created>
  <dcterms:modified xsi:type="dcterms:W3CDTF">2022-07-20T15:35:11Z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0x010100DF7D792E8C4DA247BA13D3097A5B3651</vt:lpwstr>
  </property>
  <property fmtid="{D5CDD505-2E9C-101B-9397-08002B2CF9AE}" pid="3" name="MediaServiceImageTags">
    <vt:lpwstr/>
  </property>
</Properties>
</file>